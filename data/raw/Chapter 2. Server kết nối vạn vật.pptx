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0"/>
  </p:notesMasterIdLst>
  <p:sldIdLst>
    <p:sldId id="257" r:id="rId2"/>
    <p:sldId id="258" r:id="rId3"/>
    <p:sldId id="259" r:id="rId4"/>
    <p:sldId id="499" r:id="rId5"/>
    <p:sldId id="500" r:id="rId6"/>
    <p:sldId id="501" r:id="rId7"/>
    <p:sldId id="503" r:id="rId8"/>
    <p:sldId id="504" r:id="rId9"/>
    <p:sldId id="505" r:id="rId10"/>
    <p:sldId id="506" r:id="rId11"/>
    <p:sldId id="507" r:id="rId12"/>
    <p:sldId id="509" r:id="rId13"/>
    <p:sldId id="510" r:id="rId14"/>
    <p:sldId id="511" r:id="rId15"/>
    <p:sldId id="512" r:id="rId16"/>
    <p:sldId id="513" r:id="rId17"/>
    <p:sldId id="514" r:id="rId18"/>
    <p:sldId id="515" r:id="rId19"/>
    <p:sldId id="516" r:id="rId20"/>
    <p:sldId id="522" r:id="rId21"/>
    <p:sldId id="517" r:id="rId22"/>
    <p:sldId id="518" r:id="rId23"/>
    <p:sldId id="519" r:id="rId24"/>
    <p:sldId id="520" r:id="rId25"/>
    <p:sldId id="521" r:id="rId26"/>
    <p:sldId id="523" r:id="rId27"/>
    <p:sldId id="524" r:id="rId28"/>
    <p:sldId id="525" r:id="rId29"/>
    <p:sldId id="526" r:id="rId30"/>
    <p:sldId id="527" r:id="rId31"/>
    <p:sldId id="528" r:id="rId32"/>
    <p:sldId id="529" r:id="rId33"/>
    <p:sldId id="530" r:id="rId34"/>
    <p:sldId id="492" r:id="rId35"/>
    <p:sldId id="533" r:id="rId36"/>
    <p:sldId id="534" r:id="rId37"/>
    <p:sldId id="544" r:id="rId38"/>
    <p:sldId id="538" r:id="rId39"/>
    <p:sldId id="557" r:id="rId40"/>
    <p:sldId id="539" r:id="rId41"/>
    <p:sldId id="545" r:id="rId42"/>
    <p:sldId id="535" r:id="rId43"/>
    <p:sldId id="537" r:id="rId44"/>
    <p:sldId id="540" r:id="rId45"/>
    <p:sldId id="546" r:id="rId46"/>
    <p:sldId id="543" r:id="rId47"/>
    <p:sldId id="547" r:id="rId48"/>
    <p:sldId id="541" r:id="rId49"/>
    <p:sldId id="542" r:id="rId50"/>
    <p:sldId id="493" r:id="rId51"/>
    <p:sldId id="548" r:id="rId52"/>
    <p:sldId id="549" r:id="rId53"/>
    <p:sldId id="550" r:id="rId54"/>
    <p:sldId id="551" r:id="rId55"/>
    <p:sldId id="552" r:id="rId56"/>
    <p:sldId id="553" r:id="rId57"/>
    <p:sldId id="554" r:id="rId58"/>
    <p:sldId id="494" r:id="rId59"/>
    <p:sldId id="555" r:id="rId60"/>
    <p:sldId id="556" r:id="rId61"/>
    <p:sldId id="558" r:id="rId62"/>
    <p:sldId id="559" r:id="rId63"/>
    <p:sldId id="561" r:id="rId64"/>
    <p:sldId id="562" r:id="rId65"/>
    <p:sldId id="563" r:id="rId66"/>
    <p:sldId id="566" r:id="rId67"/>
    <p:sldId id="567" r:id="rId68"/>
    <p:sldId id="568" r:id="rId69"/>
    <p:sldId id="569" r:id="rId70"/>
    <p:sldId id="495" r:id="rId71"/>
    <p:sldId id="570" r:id="rId72"/>
    <p:sldId id="571" r:id="rId73"/>
    <p:sldId id="572" r:id="rId74"/>
    <p:sldId id="573" r:id="rId75"/>
    <p:sldId id="574" r:id="rId76"/>
    <p:sldId id="575" r:id="rId77"/>
    <p:sldId id="576" r:id="rId78"/>
    <p:sldId id="577" r:id="rId79"/>
    <p:sldId id="497" r:id="rId80"/>
    <p:sldId id="580" r:id="rId81"/>
    <p:sldId id="581" r:id="rId82"/>
    <p:sldId id="578" r:id="rId83"/>
    <p:sldId id="579" r:id="rId84"/>
    <p:sldId id="496" r:id="rId85"/>
    <p:sldId id="582" r:id="rId86"/>
    <p:sldId id="583" r:id="rId87"/>
    <p:sldId id="584" r:id="rId88"/>
    <p:sldId id="585" r:id="rId89"/>
  </p:sldIdLst>
  <p:sldSz cx="9902825" cy="6858000"/>
  <p:notesSz cx="7104063" cy="10234613"/>
  <p:embeddedFontLst>
    <p:embeddedFont>
      <p:font typeface="Malgun Gothic" panose="020B0503020000020004" pitchFamily="34" charset="-127"/>
      <p:regular r:id="rId91"/>
      <p:bold r:id="rId9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412">
          <p15:clr>
            <a:srgbClr val="A4A3A4"/>
          </p15:clr>
        </p15:guide>
        <p15:guide id="2" orient="horz" pos="958">
          <p15:clr>
            <a:srgbClr val="A4A3A4"/>
          </p15:clr>
        </p15:guide>
        <p15:guide id="3" pos="443">
          <p15:clr>
            <a:srgbClr val="A4A3A4"/>
          </p15:clr>
        </p15:guide>
        <p15:guide id="4" pos="3210">
          <p15:clr>
            <a:srgbClr val="A4A3A4"/>
          </p15:clr>
        </p15:guide>
        <p15:guide id="5" pos="3119">
          <p15:clr>
            <a:srgbClr val="A4A3A4"/>
          </p15:clr>
        </p15:guide>
        <p15:guide id="6" orient="horz" pos="1638">
          <p15:clr>
            <a:srgbClr val="A4A3A4"/>
          </p15:clr>
        </p15:guide>
        <p15:guide id="7" orient="horz" pos="36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6" roundtripDataSignature="AMtx7miQntsjKBRx4P5VAk3si86o9uYcP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672A58-3C3F-4094-A55C-8326C1CC86CD}">
  <a:tblStyle styleId="{A9672A58-3C3F-4094-A55C-8326C1CC86CD}" styleName="Table_0">
    <a:wholeTbl>
      <a:tcTxStyle b="off" i="off">
        <a:font>
          <a:latin typeface="맑은 고딕"/>
          <a:ea typeface="맑은 고딕"/>
          <a:cs typeface="맑은 고딕"/>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맑은 고딕"/>
          <a:ea typeface="맑은 고딕"/>
          <a:cs typeface="맑은 고딕"/>
        </a:font>
        <a:schemeClr val="lt1"/>
      </a:tcTxStyle>
      <a:tcStyle>
        <a:tcBdr/>
        <a:fill>
          <a:solidFill>
            <a:schemeClr val="accent1"/>
          </a:solidFill>
        </a:fill>
      </a:tcStyle>
    </a:lastCol>
    <a:firstCol>
      <a:tcTxStyle b="on" i="off">
        <a:font>
          <a:latin typeface="맑은 고딕"/>
          <a:ea typeface="맑은 고딕"/>
          <a:cs typeface="맑은 고딕"/>
        </a:font>
        <a:schemeClr val="lt1"/>
      </a:tcTxStyle>
      <a:tcStyle>
        <a:tcBdr/>
        <a:fill>
          <a:solidFill>
            <a:schemeClr val="accent1"/>
          </a:solidFill>
        </a:fill>
      </a:tcStyle>
    </a:firstCol>
    <a:lastRow>
      <a:tcTxStyle b="on" i="off">
        <a:font>
          <a:latin typeface="맑은 고딕"/>
          <a:ea typeface="맑은 고딕"/>
          <a:cs typeface="맑은 고딕"/>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맑은 고딕"/>
          <a:ea typeface="맑은 고딕"/>
          <a:cs typeface="맑은 고딕"/>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A7659242-E1CC-4EDC-8006-197966C0AB99}" styleName="Table_1">
    <a:wholeTbl>
      <a:tcTxStyle b="off" i="off">
        <a:font>
          <a:latin typeface="맑은 고딕"/>
          <a:ea typeface="맑은 고딕"/>
          <a:cs typeface="맑은 고딕"/>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353F50C-8861-43A0-82AE-2E20D93D1326}"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89704"/>
  </p:normalViewPr>
  <p:slideViewPr>
    <p:cSldViewPr snapToGrid="0">
      <p:cViewPr varScale="1">
        <p:scale>
          <a:sx n="59" d="100"/>
          <a:sy n="59" d="100"/>
        </p:scale>
        <p:origin x="5322" y="60"/>
      </p:cViewPr>
      <p:guideLst>
        <p:guide orient="horz" pos="1412"/>
        <p:guide orient="horz" pos="958"/>
        <p:guide pos="443"/>
        <p:guide pos="3210"/>
        <p:guide pos="3119"/>
        <p:guide orient="horz" pos="1638"/>
        <p:guide orient="horz" pos="3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58"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256" Type="http://customschemas.google.com/relationships/presentationmetadata" Target="metadata"/><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259" Type="http://schemas.openxmlformats.org/officeDocument/2006/relationships/theme" Target="theme/theme1.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257"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260"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2.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L="914400" marR="0" lvl="1"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2pPr>
            <a:lvl3pPr marL="1371600" marR="0" lvl="2"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3pPr>
            <a:lvl4pPr marL="1828800" marR="0" lvl="3"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4pPr>
            <a:lvl5pPr marL="2286000" marR="0" lvl="4"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5pPr>
            <a:lvl6pPr marL="2743200" marR="0" lvl="5"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6pPr>
            <a:lvl7pPr marL="3200400" marR="0" lvl="6"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7pPr>
            <a:lvl8pPr marL="3657600" marR="0" lvl="7"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8pPr>
            <a:lvl9pPr marL="4114800" marR="0" lvl="8"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9pPr>
          </a:lstStyle>
          <a:p>
            <a:endParaRPr/>
          </a:p>
        </p:txBody>
      </p:sp>
      <p:sp>
        <p:nvSpPr>
          <p:cNvPr id="5" name="Google Shape;5;n"/>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Malgun Gothic"/>
                <a:ea typeface="Malgun Gothic"/>
                <a:cs typeface="Malgun Gothic"/>
                <a:sym typeface="Malgun Gothic"/>
              </a:rPr>
              <a:t>‹#›</a:t>
            </a:fld>
            <a:endParaRPr sz="1300" b="0" i="0" u="none" strike="noStrike" cap="none">
              <a:solidFill>
                <a:schemeClr val="dk1"/>
              </a:solidFill>
              <a:latin typeface="Malgun Gothic"/>
              <a:ea typeface="Malgun Gothic"/>
              <a:cs typeface="Malgun Gothic"/>
              <a:sym typeface="Malgun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notes"/>
          <p:cNvSpPr txBox="1">
            <a:spLocks noGrp="1"/>
          </p:cNvSpPr>
          <p:nvPr>
            <p:ph type="body" idx="1"/>
          </p:nvPr>
        </p:nvSpPr>
        <p:spPr>
          <a:xfrm>
            <a:off x="710407" y="5287169"/>
            <a:ext cx="5683250" cy="3668117"/>
          </a:xfrm>
          <a:prstGeom prst="rect">
            <a:avLst/>
          </a:prstGeom>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47" name="Google Shape;147;p2: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3:notes"/>
          <p:cNvSpPr>
            <a:spLocks noGrp="1" noRot="1" noChangeAspect="1"/>
          </p:cNvSpPr>
          <p:nvPr>
            <p:ph type="sldImg" idx="2"/>
          </p:nvPr>
        </p:nvSpPr>
        <p:spPr>
          <a:xfrm>
            <a:off x="196850" y="763588"/>
            <a:ext cx="6653213" cy="46085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3:notes"/>
          <p:cNvSpPr txBox="1">
            <a:spLocks noGrp="1"/>
          </p:cNvSpPr>
          <p:nvPr>
            <p:ph type="body" idx="1"/>
          </p:nvPr>
        </p:nvSpPr>
        <p:spPr>
          <a:xfrm>
            <a:off x="679768" y="5542373"/>
            <a:ext cx="5438140" cy="3639767"/>
          </a:xfrm>
          <a:prstGeom prst="rect">
            <a:avLst/>
          </a:prstGeom>
          <a:noFill/>
          <a:ln>
            <a:noFill/>
          </a:ln>
        </p:spPr>
        <p:txBody>
          <a:bodyPr spcFirstLastPara="1" wrap="square" lIns="99075" tIns="49525" rIns="99075" bIns="495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dirty="0"/>
          </a:p>
        </p:txBody>
      </p:sp>
      <p:sp>
        <p:nvSpPr>
          <p:cNvPr id="158" name="Google Shape;158;p3:notes"/>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2</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C920BFAB-6982-36D0-D2EC-26EB1EAEC995}"/>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AFC6D037-059C-72F0-54B2-99E8CA484F69}"/>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8EF4D2F4-E4CA-1E47-A4B3-9ED197DF3CDF}"/>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7C32282B-32AA-8339-F92F-EF3654B23AB0}"/>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947062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EA8005D7-B20C-6C4C-4175-607CD20EAA72}"/>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40E4081A-7DE3-8B42-01E5-5EEF919E8545}"/>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1FBA076-26CD-8A15-25F9-00F5B9A34F93}"/>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81BD4810-3017-F657-B97F-9C18C146554F}"/>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769650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E52C110C-F2BF-8BEE-6B62-AAA19A020E46}"/>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7E3D94BA-4A5F-8550-0B61-72226D7159B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0EBC2671-F7E4-35FA-FA9E-614ABAA20BB0}"/>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B1748D3C-0593-B347-0517-F74195DE7937}"/>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3453059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1D0CBEEC-4516-4383-64F5-33E4A1EC6C78}"/>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AF6E7AC2-EA6E-471B-7A32-695B21D1440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F02A81CD-53E3-5CB7-DB62-00C0DE9923AA}"/>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2C26A59E-76B5-F9F6-1321-9695310BD06A}"/>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7811574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30BC9B2D-4BBE-D938-FF38-6F3CE83D0E9E}"/>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B7A4A70D-250B-B84F-81F7-E123AF0E28BC}"/>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F076140C-D4E1-46A9-5460-9E36767A51AA}"/>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D8B79982-53C7-955A-1818-8E6D4F82287F}"/>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597688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0930BC15-4A91-3E31-5404-6E07060C260F}"/>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3206C348-96B9-EFC8-C30A-DB4F0238EA0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4AAC87CB-D027-070B-1E56-3C101FF3A535}"/>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F305104C-8CE5-5042-B86D-BF7DFB356B10}"/>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7535138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DA8ED395-3359-7B42-E4D1-7D323F8D7634}"/>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1EA3886A-2F26-1F7D-6172-2C86BBF346BB}"/>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B41DEFC-1544-D660-F7DC-66BAF3454F04}"/>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617B92B2-952E-5CDF-6B1C-A345CD08F99D}"/>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41048010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51931F3-7405-EBDB-C01D-29E75C413319}"/>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863C018B-CADE-27F2-3ABE-456FAA6F0B6C}"/>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307716B1-0314-8EA0-F453-4199EA8A0DCF}"/>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E1C4A28D-EBBB-4954-D260-E5F75AB5EDF3}"/>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883516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32BBD412-6378-7688-27A0-BB0F02B5258E}"/>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6638BA7A-136F-BE33-3E83-EEC699096D9D}"/>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CAD97EA1-B101-B97C-23E9-F1DA67C00216}"/>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E481428E-8BF9-78BC-510D-55364B3B85C0}"/>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5964751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62318747-1ABA-839D-8BFE-95788996DECD}"/>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F329F63F-1C72-C842-9735-C0E55301E6CE}"/>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35ACBA77-AF86-469F-FB0F-EBFED0F45AD0}"/>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78631EE7-0478-CA17-DBC0-053E1A3A8AE3}"/>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4215848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5D7ADE20-4425-CC25-3EC4-D7864EDEEA82}"/>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34DA4EED-3BE0-2123-B9FA-017F7258BAAE}"/>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50D9ED8-6A67-E63E-7404-D180145CFE87}"/>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C9CA435A-5D54-F27E-4372-7129D240E6BE}"/>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9873494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08011CD0-F1E8-85CA-3B27-5964016DDCE1}"/>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4B44673B-FF54-41F4-3594-2232030720A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1E1DF48D-1105-33AF-3AF6-8557D0A182E3}"/>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B5FEDB2E-2FF9-FEB1-329D-001F4073CB5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8784651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AACF9924-C791-C3BD-AB3A-837C02E907FC}"/>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8A72C1CA-ABA6-6641-4F54-684428FDDC94}"/>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BD83C523-C3BD-A5A6-1EF4-58351B0C5244}"/>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010DE44A-24C1-CC26-1EFE-CEA86D01C03A}"/>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7170215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BA674282-B50E-AB10-CF2C-914C18D09DB1}"/>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9174318E-552D-C813-A576-96A960B09661}"/>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BE6418CA-EC91-B358-09A5-4D2761DD864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5EB96BE0-2B9C-5BAF-B208-B46D103DC7A7}"/>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7001954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162D4C15-2164-CB27-737D-72522CAB60D0}"/>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17A62FB7-91D6-0434-3904-E00BA50D0306}"/>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0DC7F71-B62E-5EC1-EEE1-2A37316C3E2B}"/>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7076FCA9-4FF6-93BB-B52B-0EB5F2D9EB36}"/>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9543949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DF877F01-EAB8-6F1E-FA12-38158EB7D78B}"/>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4CA0FAB3-F277-E85E-5F21-3CD40913FB7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61E8F145-DBFD-6F95-47C9-C4C0B5E8CE04}"/>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3F1C691F-86F4-A50F-5E7C-A5C45123E85C}"/>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8217042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13C4610C-66A4-0A4C-6E0D-B7150D320D18}"/>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DBACE320-529E-42FB-FCFC-1B9193AA3F55}"/>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C37346AC-A4B0-3AE9-2A84-DF63A3582731}"/>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335B918B-776A-AF74-39E2-E5BD6E2EC330}"/>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5726803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E4F8FE3C-4FA7-F661-15AE-573194CA4D4E}"/>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B96473DF-4643-BCA4-23EE-53CEA0D0FE6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32C566F1-C9DF-C470-D174-D205AE045BAF}"/>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5C614D47-141B-A060-CFE6-16BD49D19501}"/>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5973903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1561A9AB-58D8-6B65-9FEF-0A1900AE1625}"/>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C594B8E3-9E70-C419-6916-5A7116BCFC90}"/>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3C009258-2323-DCAF-9883-666C29454DD7}"/>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3AD56B77-3E5D-AD59-4603-24537A3D28A2}"/>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19167780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FE8D4D8E-13F1-6EDF-AC5D-4C2A7D5BB2E0}"/>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3DAA9331-9D5B-753C-A7ED-77E0DA294C7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F00D810B-F5D0-327F-70B8-39D210C317DD}"/>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17D04A8B-AC52-EDC7-54CF-E6D4720D906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4433204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3F92F093-B998-2F2F-6C60-75C1D3DB5AF0}"/>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0713F7BF-3D5B-61FB-2452-119FF742A01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A679A7B6-B546-2B1F-DC74-3ADD756569D0}"/>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33403749-F79E-9341-25E3-06B0D5AACD35}"/>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26619993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97B68084-D190-562B-2C95-A046F5ABA080}"/>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FFD932F0-6590-C38E-A237-CA49433ED3FA}"/>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66BF1CC9-DB1A-715E-97C8-F3160A30C9D8}"/>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0375E92D-8879-F37C-F0EB-9C4A8E6DFD97}"/>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15973254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F330D14B-A6BB-C38D-490E-4740D2D1125A}"/>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392B999D-C570-4948-1BF5-34FB8F5ECE4E}"/>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4CDE64D5-CA0A-11B5-9B4F-8CD1815938F6}"/>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58141416-D6DB-F9B3-031D-3EB564431CC5}"/>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8514059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0D3C1F5F-B50B-CA18-471C-77347B14C5E0}"/>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E73ED4ED-E69F-72D0-B1DB-A79F1213736B}"/>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AB3F77E2-32D0-3B86-C39B-AF6CA528E527}"/>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BA8C9916-AF3F-8F4F-9C3F-AF33518AA23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18676133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96D818EF-3592-1C4B-5670-112CF36033F2}"/>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590436CC-1877-F017-BD65-1DCA7114412C}"/>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8FDC692-E494-881A-308F-19A669EE3E35}"/>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3CD09D8D-F1CC-DB45-8E04-6DB076B64AB8}"/>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41943606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AEEB59BE-A62C-15F2-9A57-41165876F914}"/>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2F171F42-289C-E419-A832-213B790FBC1A}"/>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A216465B-87C3-3043-DE2F-28B9E7500003}"/>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798A8D5D-A55E-0545-AF52-41186336777D}"/>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38626460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9C1F7A9-A731-D16B-0A67-195EFCE6BDDF}"/>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6984756A-0F12-3A22-BF23-8946F363F55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2B704735-D492-C3FC-B2CC-888E279536F1}"/>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126BB00D-4B51-7734-796B-2200F866DE1C}"/>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11805989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54EDA8A5-1F13-1A02-414D-D8E3A379781A}"/>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CED4A987-5495-C642-DC1D-41B01C6AEF5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1847ED7B-A82E-AEE0-F003-A2BFCB43C83D}"/>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1A41D855-2DF5-3DE1-83A2-2A03D471B76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15818105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54ECAAFF-4650-3FFF-89DC-BD6D85F8B4A7}"/>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3FA6334C-6ACC-AD66-F532-EC2F6EA05848}"/>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9291047A-D81F-EAB2-3199-B88BF9A09A98}"/>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CB7A1AB0-039C-BE74-A347-C4CA21DBC451}"/>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26084641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0429BCB0-70C5-88F8-9010-2D6EFD7FFD4D}"/>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1FB8EC3D-3843-5E3B-6DC7-04CF1EDDE20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6744EA2C-7CF2-C06F-24FD-352B8F8B11D5}"/>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28F41117-BE36-3148-4A75-7796BF50AB2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21657758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373AF91E-AA6D-4E63-2467-3202D6A9CD7D}"/>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A1049BE3-914C-C3DB-4327-8C18F31B621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A9DEA6B8-637E-7C3E-948B-D85B8E16A588}"/>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82C920AD-A0D3-E19E-FEFA-736745DE9DF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33232580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C3387FCF-B0A0-BE34-BF40-38F4433AAB5B}"/>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BECDCD61-65DE-A728-FDC5-AA1DBE55C82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94AB2596-74FE-ED1D-03DA-38775FADB72B}"/>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DD37379E-31D9-CE92-2CB0-05FBD1A13A78}"/>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28306745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F886D499-6DB8-B047-A3A1-1263D3F636F1}"/>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960AF0D8-2F54-AA44-BC88-B8245BD6E9D5}"/>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5CB00BF1-1262-2B07-C985-660AB4B19460}"/>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8748F375-8A60-54C3-3B3D-277F13423DA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4444925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499945FE-2B59-4E76-A78C-C1C6EDF01A15}"/>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78B9A124-544B-A2EA-B7E7-D5D8D2FEDD9B}"/>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DDF4B58A-6FA5-CF64-DEB1-8709106FBB89}"/>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44729BB9-21C4-F11E-23FC-0990ED4194E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13576254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8C2B9F76-766A-2C52-D1F2-58782B050CCB}"/>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9F7FF540-CD8A-42AA-5D11-B7439A657F2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5C1714D7-2503-B962-AD54-A446CE1EAB64}"/>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CBED2E56-208A-5909-76F5-8CB84CA932FD}"/>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38629872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4FEC2844-5FB8-39CE-0608-0ABF17F7BA4D}"/>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84BD17B5-F544-A3E4-CC20-693DB20F14D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51F2B87D-0D12-27C9-C582-CEE73FE4E386}"/>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A88D38E1-F55E-FBBB-58FF-F8B11908D6AA}"/>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11307991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60F64BF9-23CF-EA0E-048B-02BAC7D4B590}"/>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F0792411-4890-D59C-F7BB-F481D8464419}"/>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63A85354-4AA1-884E-DDE4-F0E464381513}"/>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BCB949DD-4109-4558-D158-59F8C3CF1316}"/>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13565243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7EB56F76-5D49-10D8-6D66-05139AED9EDB}"/>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AA724175-0577-285F-28F8-5F71CAF2B37E}"/>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D34D26A1-CBF7-D151-D877-4CE62752019A}"/>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216F5B82-0908-8815-B6D8-FCB720E31260}"/>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25571202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E9DEF2B1-AF3F-E74E-9989-5AB3F1A47839}"/>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AF8601D3-17FE-6091-B1E2-A1D830D7743B}"/>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3DF1B94-1273-2271-DC58-F849709B85B9}"/>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1636FED5-9320-24AE-6BCE-A841B4B3BB11}"/>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13135401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026A2FE9-3A1F-FA6D-A693-FDDB40A61410}"/>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EEC7EFD7-3AEE-0C63-3DEC-AE3C00F878C1}"/>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0FB6BB1-148C-01F7-5945-2D6673D34DB3}"/>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F2486530-51FD-9309-8FEA-A03726F2B9BC}"/>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43</a:t>
            </a:fld>
            <a:endParaRPr/>
          </a:p>
        </p:txBody>
      </p:sp>
    </p:spTree>
    <p:extLst>
      <p:ext uri="{BB962C8B-B14F-4D97-AF65-F5344CB8AC3E}">
        <p14:creationId xmlns:p14="http://schemas.microsoft.com/office/powerpoint/2010/main" val="24378732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64376F01-662F-3CED-CA27-4F9D552E1BF4}"/>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40F512FB-2F39-FAC9-DDBE-A16119631631}"/>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B25F69EF-2258-6548-3232-CF21A2711E46}"/>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647038E6-CE09-12DD-34B2-D36FAF4BDCF1}"/>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44</a:t>
            </a:fld>
            <a:endParaRPr/>
          </a:p>
        </p:txBody>
      </p:sp>
    </p:spTree>
    <p:extLst>
      <p:ext uri="{BB962C8B-B14F-4D97-AF65-F5344CB8AC3E}">
        <p14:creationId xmlns:p14="http://schemas.microsoft.com/office/powerpoint/2010/main" val="7184077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1E9E62EC-3B63-A252-ACCD-0D5EF427DCAA}"/>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6600494F-0611-1F82-C7FD-733933D5B525}"/>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50C7090D-CD77-0B09-0A50-6D7879EAE309}"/>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EF799BFB-D2A0-4586-4869-5E3928BCB93A}"/>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45</a:t>
            </a:fld>
            <a:endParaRPr/>
          </a:p>
        </p:txBody>
      </p:sp>
    </p:spTree>
    <p:extLst>
      <p:ext uri="{BB962C8B-B14F-4D97-AF65-F5344CB8AC3E}">
        <p14:creationId xmlns:p14="http://schemas.microsoft.com/office/powerpoint/2010/main" val="29563145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505D9A91-0561-A783-F79A-B3EE3E7B4EEB}"/>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48B8D8AA-5D5E-E85F-6F6B-E95AEE81A80D}"/>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838B300A-93EB-38D2-81FC-D6ADB8B2599E}"/>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EB8AB636-1E49-B20E-9B4C-61156FFA42AE}"/>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46</a:t>
            </a:fld>
            <a:endParaRPr/>
          </a:p>
        </p:txBody>
      </p:sp>
    </p:spTree>
    <p:extLst>
      <p:ext uri="{BB962C8B-B14F-4D97-AF65-F5344CB8AC3E}">
        <p14:creationId xmlns:p14="http://schemas.microsoft.com/office/powerpoint/2010/main" val="19611830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2369FE13-83AF-17B3-850A-2517D7AA8A51}"/>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310812E0-820B-EB09-5C03-07EE5C0F998E}"/>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A67961DC-F832-D6E7-FE1D-59182ADC082D}"/>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7B4E62B1-9BC0-5002-5FC5-3049E5AA4782}"/>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47</a:t>
            </a:fld>
            <a:endParaRPr/>
          </a:p>
        </p:txBody>
      </p:sp>
    </p:spTree>
    <p:extLst>
      <p:ext uri="{BB962C8B-B14F-4D97-AF65-F5344CB8AC3E}">
        <p14:creationId xmlns:p14="http://schemas.microsoft.com/office/powerpoint/2010/main" val="15810056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55A824C-07DF-F2D6-FD6C-110C17438246}"/>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7CE6B0FA-9EE5-0867-2F3F-0DCF778127DC}"/>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FBEDBA22-14FD-CE27-2B27-47CDDC2F2880}"/>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494D773B-E96B-40A1-43A2-94AEC4218ADD}"/>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48</a:t>
            </a:fld>
            <a:endParaRPr/>
          </a:p>
        </p:txBody>
      </p:sp>
    </p:spTree>
    <p:extLst>
      <p:ext uri="{BB962C8B-B14F-4D97-AF65-F5344CB8AC3E}">
        <p14:creationId xmlns:p14="http://schemas.microsoft.com/office/powerpoint/2010/main" val="4108987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2513BBAB-2472-2978-DB62-985FADC8A0A1}"/>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3773C275-38C0-A97C-4EDA-85DD340B0EE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5EB2F1D6-F4E4-0C0E-5A65-016B69389058}"/>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56639E9D-F27B-FEE0-D787-89D25520CEFD}"/>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49</a:t>
            </a:fld>
            <a:endParaRPr/>
          </a:p>
        </p:txBody>
      </p:sp>
    </p:spTree>
    <p:extLst>
      <p:ext uri="{BB962C8B-B14F-4D97-AF65-F5344CB8AC3E}">
        <p14:creationId xmlns:p14="http://schemas.microsoft.com/office/powerpoint/2010/main" val="14093934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7213D912-1F63-D877-F7A9-EADFE1660214}"/>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5878AA26-4EB0-ED4F-C98D-EA7478A7CBEA}"/>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89584C2E-72C5-5F14-D91E-410089872E7D}"/>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C2571787-CBFA-88A9-5628-BCC7552AF4D7}"/>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50</a:t>
            </a:fld>
            <a:endParaRPr/>
          </a:p>
        </p:txBody>
      </p:sp>
    </p:spTree>
    <p:extLst>
      <p:ext uri="{BB962C8B-B14F-4D97-AF65-F5344CB8AC3E}">
        <p14:creationId xmlns:p14="http://schemas.microsoft.com/office/powerpoint/2010/main" val="20488247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A918121-92F0-BB4D-03AC-1EB62CB00275}"/>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40792CE1-0E44-DBB5-C9D3-BBBDC058BFB4}"/>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1EBAA9A7-80BC-6603-308B-DE19E71C531B}"/>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F0FEC1E7-BC9E-A765-B918-A39F958DABA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51</a:t>
            </a:fld>
            <a:endParaRPr/>
          </a:p>
        </p:txBody>
      </p:sp>
    </p:spTree>
    <p:extLst>
      <p:ext uri="{BB962C8B-B14F-4D97-AF65-F5344CB8AC3E}">
        <p14:creationId xmlns:p14="http://schemas.microsoft.com/office/powerpoint/2010/main" val="38826347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3C7ED7F1-EB59-5874-92D9-E3235AB0B514}"/>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7F569C30-FAB8-F46A-562F-EDF49E6C2031}"/>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377D3000-3C99-8743-7B89-D8D95CBFE6A6}"/>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62AFAE02-CFD5-7FF7-D1F1-8793EB1B47A2}"/>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52</a:t>
            </a:fld>
            <a:endParaRPr/>
          </a:p>
        </p:txBody>
      </p:sp>
    </p:spTree>
    <p:extLst>
      <p:ext uri="{BB962C8B-B14F-4D97-AF65-F5344CB8AC3E}">
        <p14:creationId xmlns:p14="http://schemas.microsoft.com/office/powerpoint/2010/main" val="175910868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9BA26EDF-9DE6-060C-8251-D243508D8EA6}"/>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CC1D0A0A-DF4F-6CF5-FF5D-E5EC3AA9D87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8E50E481-1855-1F09-248E-6769040BADA3}"/>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27123E11-7244-D4A4-B026-9C9028F19C63}"/>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53</a:t>
            </a:fld>
            <a:endParaRPr/>
          </a:p>
        </p:txBody>
      </p:sp>
    </p:spTree>
    <p:extLst>
      <p:ext uri="{BB962C8B-B14F-4D97-AF65-F5344CB8AC3E}">
        <p14:creationId xmlns:p14="http://schemas.microsoft.com/office/powerpoint/2010/main" val="24935962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4648B487-3BC4-224A-E680-40F37C769586}"/>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13BF20F9-C982-FD72-EA3E-048191776E3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06FFCAD-8E62-A761-8BBC-CE7A519D64C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730F223B-FD4C-DA04-DCA2-2EB68776C17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54</a:t>
            </a:fld>
            <a:endParaRPr/>
          </a:p>
        </p:txBody>
      </p:sp>
    </p:spTree>
    <p:extLst>
      <p:ext uri="{BB962C8B-B14F-4D97-AF65-F5344CB8AC3E}">
        <p14:creationId xmlns:p14="http://schemas.microsoft.com/office/powerpoint/2010/main" val="170450197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A58B95C6-39D1-8285-FD68-5046C682D7C8}"/>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E0EAE0F5-BB45-A2F9-4D3D-007A7B7B52F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08F5FD9F-D42C-DDB6-8217-712948D41858}"/>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FA96BABB-9DB3-980A-8762-4D7DF494CC6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55</a:t>
            </a:fld>
            <a:endParaRPr/>
          </a:p>
        </p:txBody>
      </p:sp>
    </p:spTree>
    <p:extLst>
      <p:ext uri="{BB962C8B-B14F-4D97-AF65-F5344CB8AC3E}">
        <p14:creationId xmlns:p14="http://schemas.microsoft.com/office/powerpoint/2010/main" val="11430904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981FD00A-B731-C5F6-FE42-6D71F27CF32D}"/>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5D179172-1368-4DE1-595A-589DB8482A6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28C7C0C3-A095-0417-8472-888DD15C38E4}"/>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8AF720D4-493B-4F7A-CCD8-202B2D13C97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56</a:t>
            </a:fld>
            <a:endParaRPr/>
          </a:p>
        </p:txBody>
      </p:sp>
    </p:spTree>
    <p:extLst>
      <p:ext uri="{BB962C8B-B14F-4D97-AF65-F5344CB8AC3E}">
        <p14:creationId xmlns:p14="http://schemas.microsoft.com/office/powerpoint/2010/main" val="125947777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08C18F64-3077-B07B-1949-6901B206934A}"/>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96781D5E-A311-FDDD-8448-EE2E2521ACAF}"/>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AB6560A-441B-63EE-9752-C041C2AA9B56}"/>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C83F4D64-4ABD-1CCE-2E01-BD33C4A77D7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57</a:t>
            </a:fld>
            <a:endParaRPr/>
          </a:p>
        </p:txBody>
      </p:sp>
    </p:spTree>
    <p:extLst>
      <p:ext uri="{BB962C8B-B14F-4D97-AF65-F5344CB8AC3E}">
        <p14:creationId xmlns:p14="http://schemas.microsoft.com/office/powerpoint/2010/main" val="412920201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52787953-9EA5-EC2D-DF74-AE23FF47B2E8}"/>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D0ED8F8C-4904-A2FA-5DCB-C4789273306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227BF006-368D-AA30-11FA-92D19744B696}"/>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270329C8-66B4-132E-3744-38B304391E93}"/>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58</a:t>
            </a:fld>
            <a:endParaRPr/>
          </a:p>
        </p:txBody>
      </p:sp>
    </p:spTree>
    <p:extLst>
      <p:ext uri="{BB962C8B-B14F-4D97-AF65-F5344CB8AC3E}">
        <p14:creationId xmlns:p14="http://schemas.microsoft.com/office/powerpoint/2010/main" val="172294958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015F55C8-0450-904C-E48A-5D0E8EB3B5D8}"/>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4F72C8EE-FFD7-DB78-1BF6-4989B20ECD6A}"/>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D1BDCC2-3BD3-AD3C-3AF9-644EC9335DBE}"/>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794FE0B5-2BD4-AFC5-6709-3DA2881B0977}"/>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59</a:t>
            </a:fld>
            <a:endParaRPr/>
          </a:p>
        </p:txBody>
      </p:sp>
    </p:spTree>
    <p:extLst>
      <p:ext uri="{BB962C8B-B14F-4D97-AF65-F5344CB8AC3E}">
        <p14:creationId xmlns:p14="http://schemas.microsoft.com/office/powerpoint/2010/main" val="104358300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C833C8B0-0D27-2741-F846-4303C72D043C}"/>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08EE89F4-11F3-EC75-F531-DF8F9364A6BE}"/>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C1F5654-9652-7F18-73FA-0D59BD5382D9}"/>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F74F0D17-12F4-B51D-6CB4-0207B8FF9E5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60</a:t>
            </a:fld>
            <a:endParaRPr/>
          </a:p>
        </p:txBody>
      </p:sp>
    </p:spTree>
    <p:extLst>
      <p:ext uri="{BB962C8B-B14F-4D97-AF65-F5344CB8AC3E}">
        <p14:creationId xmlns:p14="http://schemas.microsoft.com/office/powerpoint/2010/main" val="150753403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B6227A5F-9603-3C48-21FA-79F356711F98}"/>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2E7D93C7-F211-BFF3-52AC-5BF83BF6458B}"/>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C13BD514-1129-9484-0811-B2FD353ECEE4}"/>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E8B46769-286D-4886-802F-55343E98EFA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65</a:t>
            </a:fld>
            <a:endParaRPr/>
          </a:p>
        </p:txBody>
      </p:sp>
    </p:spTree>
    <p:extLst>
      <p:ext uri="{BB962C8B-B14F-4D97-AF65-F5344CB8AC3E}">
        <p14:creationId xmlns:p14="http://schemas.microsoft.com/office/powerpoint/2010/main" val="359797294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521EB92B-4B11-E99C-37CE-FB918C285047}"/>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D54512B8-65D2-9F93-DE7A-CB437D1A4174}"/>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C8512DF4-F561-5BB2-EE70-1FBE2A61F6FC}"/>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54924A08-5825-C1E3-6D88-2BAFAD832378}"/>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66</a:t>
            </a:fld>
            <a:endParaRPr/>
          </a:p>
        </p:txBody>
      </p:sp>
    </p:spTree>
    <p:extLst>
      <p:ext uri="{BB962C8B-B14F-4D97-AF65-F5344CB8AC3E}">
        <p14:creationId xmlns:p14="http://schemas.microsoft.com/office/powerpoint/2010/main" val="199609885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8648DDF3-5D9D-1C10-C015-737BA214C370}"/>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1958405E-9E3E-CA8A-9B0F-56AB08E7F70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6C9C80A-6E7F-997E-3D74-490A06B6006C}"/>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86959427-343D-3B5E-85F1-4FFF5DA36907}"/>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67</a:t>
            </a:fld>
            <a:endParaRPr/>
          </a:p>
        </p:txBody>
      </p:sp>
    </p:spTree>
    <p:extLst>
      <p:ext uri="{BB962C8B-B14F-4D97-AF65-F5344CB8AC3E}">
        <p14:creationId xmlns:p14="http://schemas.microsoft.com/office/powerpoint/2010/main" val="417944203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D25AA442-12A5-303E-BEC5-0AC2F30DE49F}"/>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8F8EC242-0F88-671D-A497-DF0CA0B289C0}"/>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55D15833-1763-F3CA-D9BF-C08F6D5CD531}"/>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F796B381-DC9A-6050-C408-EE79473CC21D}"/>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68</a:t>
            </a:fld>
            <a:endParaRPr/>
          </a:p>
        </p:txBody>
      </p:sp>
    </p:spTree>
    <p:extLst>
      <p:ext uri="{BB962C8B-B14F-4D97-AF65-F5344CB8AC3E}">
        <p14:creationId xmlns:p14="http://schemas.microsoft.com/office/powerpoint/2010/main" val="283522342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39F9219F-F92D-AD86-097C-0D58D880101E}"/>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F9F7D0D6-421C-9F09-92E3-1C418569B945}"/>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1A73045-548C-6615-C38A-332993D5968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81CC6AB7-8020-CCD0-EB76-6CAFE0BC1AC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69</a:t>
            </a:fld>
            <a:endParaRPr/>
          </a:p>
        </p:txBody>
      </p:sp>
    </p:spTree>
    <p:extLst>
      <p:ext uri="{BB962C8B-B14F-4D97-AF65-F5344CB8AC3E}">
        <p14:creationId xmlns:p14="http://schemas.microsoft.com/office/powerpoint/2010/main" val="40707958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AC74DA4A-0BDE-2F69-9FF5-E18EB40D1CF9}"/>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8C9A5E2B-F6DE-73E8-8873-406EBE95903F}"/>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E1D05808-A61E-6438-228A-A67D6277E5E5}"/>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5BB01F55-72F2-CBD5-333A-00CE4A12D139}"/>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70</a:t>
            </a:fld>
            <a:endParaRPr/>
          </a:p>
        </p:txBody>
      </p:sp>
    </p:spTree>
    <p:extLst>
      <p:ext uri="{BB962C8B-B14F-4D97-AF65-F5344CB8AC3E}">
        <p14:creationId xmlns:p14="http://schemas.microsoft.com/office/powerpoint/2010/main" val="407095101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E305E747-5C7D-6067-7D37-B544678966C0}"/>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F50FA150-ACEF-E911-087B-2DCE99EE93C4}"/>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39A41782-C9F5-00B2-6B1F-BCADDC7562AC}"/>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5E7B7D6A-88C8-D17B-6461-0A6A3391AAF7}"/>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71</a:t>
            </a:fld>
            <a:endParaRPr/>
          </a:p>
        </p:txBody>
      </p:sp>
    </p:spTree>
    <p:extLst>
      <p:ext uri="{BB962C8B-B14F-4D97-AF65-F5344CB8AC3E}">
        <p14:creationId xmlns:p14="http://schemas.microsoft.com/office/powerpoint/2010/main" val="315249231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F6B5FEBF-1C6A-FEB2-E62B-CBBD565ACCB7}"/>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D287BC32-E5A8-0B26-543E-73B648053696}"/>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8AF6931F-D91E-AC2E-9ABF-4522D89B9CBC}"/>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52D303F3-FB51-45FE-8578-CDDE3CC5AC1E}"/>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72</a:t>
            </a:fld>
            <a:endParaRPr/>
          </a:p>
        </p:txBody>
      </p:sp>
    </p:spTree>
    <p:extLst>
      <p:ext uri="{BB962C8B-B14F-4D97-AF65-F5344CB8AC3E}">
        <p14:creationId xmlns:p14="http://schemas.microsoft.com/office/powerpoint/2010/main" val="391289338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C1C32566-1205-256E-6F6F-E7348E171CCC}"/>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EDDDE5ED-C278-78E2-E40C-D9114E50DA79}"/>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BB07A46-3AD3-C126-38C8-9FE26808CE99}"/>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75D7CF62-3FC2-1D2C-FBE6-1C4113291FDA}"/>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73</a:t>
            </a:fld>
            <a:endParaRPr/>
          </a:p>
        </p:txBody>
      </p:sp>
    </p:spTree>
    <p:extLst>
      <p:ext uri="{BB962C8B-B14F-4D97-AF65-F5344CB8AC3E}">
        <p14:creationId xmlns:p14="http://schemas.microsoft.com/office/powerpoint/2010/main" val="200464504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6B44401-72AE-5240-C6FC-E34DB42188A3}"/>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81FA22E7-4E60-B0E4-D07F-3EFBD6E9293F}"/>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4C79071-9536-87FF-09BA-4167279FEB45}"/>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41CDD260-C123-FFBA-7552-9BA525B3E976}"/>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74</a:t>
            </a:fld>
            <a:endParaRPr/>
          </a:p>
        </p:txBody>
      </p:sp>
    </p:spTree>
    <p:extLst>
      <p:ext uri="{BB962C8B-B14F-4D97-AF65-F5344CB8AC3E}">
        <p14:creationId xmlns:p14="http://schemas.microsoft.com/office/powerpoint/2010/main" val="149525404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B95E0904-AA66-83F5-307D-18560F7437B6}"/>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82692F48-3BDB-F588-1E21-CD25A43A1065}"/>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F15C8F9E-929D-C6DF-41A8-0977B4B25775}"/>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E13C6F11-F765-937F-6EA8-35A1E5C07C23}"/>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75</a:t>
            </a:fld>
            <a:endParaRPr/>
          </a:p>
        </p:txBody>
      </p:sp>
    </p:spTree>
    <p:extLst>
      <p:ext uri="{BB962C8B-B14F-4D97-AF65-F5344CB8AC3E}">
        <p14:creationId xmlns:p14="http://schemas.microsoft.com/office/powerpoint/2010/main" val="263022538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65A424D9-C837-FBC7-6F12-6B63CCB07F0C}"/>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9241ADD2-13C1-3B7D-59F1-62CC904A6F24}"/>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2E17F55C-CC26-3EA7-8CF5-FEA489538A34}"/>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D2EF6ECF-3913-8C51-6C45-C4F88F0AD94F}"/>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76</a:t>
            </a:fld>
            <a:endParaRPr/>
          </a:p>
        </p:txBody>
      </p:sp>
    </p:spTree>
    <p:extLst>
      <p:ext uri="{BB962C8B-B14F-4D97-AF65-F5344CB8AC3E}">
        <p14:creationId xmlns:p14="http://schemas.microsoft.com/office/powerpoint/2010/main" val="168200528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FDE9B21C-CA86-9D31-087B-7F740409FEB3}"/>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4DC59518-497C-DD63-3D7A-F538D774EBE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5DDCF5A3-8132-939B-0B27-43635CD24497}"/>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0BFEAEAD-0189-1DC6-8498-86F63178C768}"/>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77</a:t>
            </a:fld>
            <a:endParaRPr/>
          </a:p>
        </p:txBody>
      </p:sp>
    </p:spTree>
    <p:extLst>
      <p:ext uri="{BB962C8B-B14F-4D97-AF65-F5344CB8AC3E}">
        <p14:creationId xmlns:p14="http://schemas.microsoft.com/office/powerpoint/2010/main" val="412029058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52C6EB43-4371-6503-31F9-B42360CE3266}"/>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B1BE4680-259F-54C3-AB4B-70C9F6EADD96}"/>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35DBB07-2499-991A-1EBD-C028C2E3FB5B}"/>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927F3DF9-622F-5FB9-278B-41B281DB7CC8}"/>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78</a:t>
            </a:fld>
            <a:endParaRPr/>
          </a:p>
        </p:txBody>
      </p:sp>
    </p:spTree>
    <p:extLst>
      <p:ext uri="{BB962C8B-B14F-4D97-AF65-F5344CB8AC3E}">
        <p14:creationId xmlns:p14="http://schemas.microsoft.com/office/powerpoint/2010/main" val="116727175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34922A1C-64C4-52F4-2FB7-9F0EDAC1EA2F}"/>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33685087-338A-032F-CDA8-BB94D63B060D}"/>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50BB8872-F7D8-DA4F-93D3-4AA40125A8AB}"/>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97B5ACBD-8EB2-5854-FE54-D4731C463BC6}"/>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79</a:t>
            </a:fld>
            <a:endParaRPr/>
          </a:p>
        </p:txBody>
      </p:sp>
    </p:spTree>
    <p:extLst>
      <p:ext uri="{BB962C8B-B14F-4D97-AF65-F5344CB8AC3E}">
        <p14:creationId xmlns:p14="http://schemas.microsoft.com/office/powerpoint/2010/main" val="224589835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4E14F51A-8AA5-AB04-3630-4A202016E849}"/>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5C355831-155D-2B20-E12C-0264C292C96A}"/>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A3982A9-AB51-E575-E150-9B53161966F6}"/>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B6FAC308-DA9D-9A33-93C6-1CA1D432D2F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80</a:t>
            </a:fld>
            <a:endParaRPr/>
          </a:p>
        </p:txBody>
      </p:sp>
    </p:spTree>
    <p:extLst>
      <p:ext uri="{BB962C8B-B14F-4D97-AF65-F5344CB8AC3E}">
        <p14:creationId xmlns:p14="http://schemas.microsoft.com/office/powerpoint/2010/main" val="312745571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DAD1BE86-FE31-DD90-0063-D9A2DE181BC1}"/>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3A76C160-CFDB-4C6E-BBF2-CA7A8E0F4EE6}"/>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FF5841BE-C03B-038A-E027-C96671EA75F4}"/>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502CF2DA-1B65-1F55-E64A-BD908BFE8FC1}"/>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81</a:t>
            </a:fld>
            <a:endParaRPr/>
          </a:p>
        </p:txBody>
      </p:sp>
    </p:spTree>
    <p:extLst>
      <p:ext uri="{BB962C8B-B14F-4D97-AF65-F5344CB8AC3E}">
        <p14:creationId xmlns:p14="http://schemas.microsoft.com/office/powerpoint/2010/main" val="317987120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DA3A8220-1DFE-037A-56BE-69BE482D796A}"/>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2BDE6148-4E48-6BA4-F1AA-38661B14BE4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298DAEB4-82BE-04E7-F622-8D7AB6B5253D}"/>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B7E26292-2597-85CB-2AFF-728588D983B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82</a:t>
            </a:fld>
            <a:endParaRPr/>
          </a:p>
        </p:txBody>
      </p:sp>
    </p:spTree>
    <p:extLst>
      <p:ext uri="{BB962C8B-B14F-4D97-AF65-F5344CB8AC3E}">
        <p14:creationId xmlns:p14="http://schemas.microsoft.com/office/powerpoint/2010/main" val="111501771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621656A7-FBB3-FBC2-2EAC-C225066E3C72}"/>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15AE650B-4D53-540E-2F03-A235F074ECEC}"/>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0E8E7BB8-B463-D7FF-68BE-E828912D663B}"/>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41862DBE-B36C-79E0-F4A2-6D3FDE0125B0}"/>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83</a:t>
            </a:fld>
            <a:endParaRPr/>
          </a:p>
        </p:txBody>
      </p:sp>
    </p:spTree>
    <p:extLst>
      <p:ext uri="{BB962C8B-B14F-4D97-AF65-F5344CB8AC3E}">
        <p14:creationId xmlns:p14="http://schemas.microsoft.com/office/powerpoint/2010/main" val="115116734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9B7CB576-7A50-0643-51D2-BD8DEA365378}"/>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CDB69A2C-848F-D605-5BA3-9C2C43FE756D}"/>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4990E228-4B82-1DAF-A0C5-8FE64FFB2C4B}"/>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2A3DF05E-83E0-5C88-B3FF-DE09924D38F2}"/>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84</a:t>
            </a:fld>
            <a:endParaRPr/>
          </a:p>
        </p:txBody>
      </p:sp>
    </p:spTree>
    <p:extLst>
      <p:ext uri="{BB962C8B-B14F-4D97-AF65-F5344CB8AC3E}">
        <p14:creationId xmlns:p14="http://schemas.microsoft.com/office/powerpoint/2010/main" val="343682774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697FD771-641B-BE56-42E7-007D27B3590C}"/>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5991577A-9D5B-5F19-12A2-F8720E24B5F5}"/>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59B3D7EB-392A-1C9F-7C71-313DD245C900}"/>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B99222B6-CBBB-5ED3-09AA-10DDA0803282}"/>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85</a:t>
            </a:fld>
            <a:endParaRPr/>
          </a:p>
        </p:txBody>
      </p:sp>
    </p:spTree>
    <p:extLst>
      <p:ext uri="{BB962C8B-B14F-4D97-AF65-F5344CB8AC3E}">
        <p14:creationId xmlns:p14="http://schemas.microsoft.com/office/powerpoint/2010/main" val="321458443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9FE3E02F-7A90-F437-B72C-48499F49EBBD}"/>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324A2A74-9D9F-82F4-7E5F-DF8459D5104C}"/>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875EFC00-791C-AC6D-390E-12D3F877F100}"/>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444A3665-038F-F94F-6673-29E95669CFAD}"/>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86</a:t>
            </a:fld>
            <a:endParaRPr/>
          </a:p>
        </p:txBody>
      </p:sp>
    </p:spTree>
    <p:extLst>
      <p:ext uri="{BB962C8B-B14F-4D97-AF65-F5344CB8AC3E}">
        <p14:creationId xmlns:p14="http://schemas.microsoft.com/office/powerpoint/2010/main" val="305544263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05D19C63-CF87-3225-B942-9D73EA52B6F2}"/>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2227DDEA-1515-B204-9742-613EE85D3F79}"/>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DAB8368-0728-FC65-E057-4184A2982F4B}"/>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ED7D174E-8CD4-8AD8-3C81-37EAE4AB3107}"/>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87</a:t>
            </a:fld>
            <a:endParaRPr/>
          </a:p>
        </p:txBody>
      </p:sp>
    </p:spTree>
    <p:extLst>
      <p:ext uri="{BB962C8B-B14F-4D97-AF65-F5344CB8AC3E}">
        <p14:creationId xmlns:p14="http://schemas.microsoft.com/office/powerpoint/2010/main" val="103042965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D7C038C6-D3E1-4E7A-2215-79ED8B69A5F8}"/>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6CB41142-C68A-BBB4-0F9A-77EB70AE8D44}"/>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B3B37BB-3793-69F3-52DA-F6BDF47271E0}"/>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3997ED90-86E1-7283-2CC2-84056E51E9F3}"/>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88</a:t>
            </a:fld>
            <a:endParaRPr/>
          </a:p>
        </p:txBody>
      </p:sp>
    </p:spTree>
    <p:extLst>
      <p:ext uri="{BB962C8B-B14F-4D97-AF65-F5344CB8AC3E}">
        <p14:creationId xmlns:p14="http://schemas.microsoft.com/office/powerpoint/2010/main" val="2930710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및 내용">
  <p:cSld name="제목 및 내용">
    <p:spTree>
      <p:nvGrpSpPr>
        <p:cNvPr id="1" name="Shape 16"/>
        <p:cNvGrpSpPr/>
        <p:nvPr/>
      </p:nvGrpSpPr>
      <p:grpSpPr>
        <a:xfrm>
          <a:off x="0" y="0"/>
          <a:ext cx="0" cy="0"/>
          <a:chOff x="0" y="0"/>
          <a:chExt cx="0" cy="0"/>
        </a:xfrm>
      </p:grpSpPr>
      <p:cxnSp>
        <p:nvCxnSpPr>
          <p:cNvPr id="18" name="Google Shape;18;p238"/>
          <p:cNvCxnSpPr/>
          <p:nvPr/>
        </p:nvCxnSpPr>
        <p:spPr>
          <a:xfrm>
            <a:off x="449612" y="6424935"/>
            <a:ext cx="9003600" cy="0"/>
          </a:xfrm>
          <a:prstGeom prst="straightConnector1">
            <a:avLst/>
          </a:prstGeom>
          <a:noFill/>
          <a:ln w="9525" cap="flat" cmpd="sng">
            <a:solidFill>
              <a:srgbClr val="BFBFBF"/>
            </a:solidFill>
            <a:prstDash val="solid"/>
            <a:miter lim="800000"/>
            <a:headEnd type="none" w="sm" len="sm"/>
            <a:tailEnd type="none" w="sm" len="sm"/>
          </a:ln>
        </p:spPr>
      </p:cxnSp>
      <p:sp>
        <p:nvSpPr>
          <p:cNvPr id="19" name="Google Shape;19;p238"/>
          <p:cNvSpPr txBox="1"/>
          <p:nvPr/>
        </p:nvSpPr>
        <p:spPr>
          <a:xfrm>
            <a:off x="8839176" y="6498000"/>
            <a:ext cx="614036"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b="0" i="0" u="none" strike="noStrike" cap="none">
                <a:solidFill>
                  <a:srgbClr val="7F7F7F"/>
                </a:solidFill>
                <a:latin typeface="Arial"/>
                <a:ea typeface="Arial"/>
                <a:cs typeface="Arial"/>
                <a:sym typeface="Arial"/>
              </a:rPr>
              <a:t>‹#›</a:t>
            </a:fld>
            <a:endParaRPr sz="900" b="0" i="0" u="none" strike="noStrike" cap="none">
              <a:solidFill>
                <a:srgbClr val="7F7F7F"/>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21"/>
        <p:cNvGrpSpPr/>
        <p:nvPr/>
      </p:nvGrpSpPr>
      <p:grpSpPr>
        <a:xfrm>
          <a:off x="0" y="0"/>
          <a:ext cx="0" cy="0"/>
          <a:chOff x="0" y="0"/>
          <a:chExt cx="0" cy="0"/>
        </a:xfrm>
      </p:grpSpPr>
      <p:cxnSp>
        <p:nvCxnSpPr>
          <p:cNvPr id="22" name="Google Shape;22;p239"/>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23" name="Google Shape;23;p239"/>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b="0" i="0" u="none" strike="noStrike" cap="none">
                <a:solidFill>
                  <a:srgbClr val="7F7F7F"/>
                </a:solidFill>
                <a:latin typeface="Arial"/>
                <a:ea typeface="Arial"/>
                <a:cs typeface="Arial"/>
                <a:sym typeface="Arial"/>
              </a:rPr>
              <a:t>‹#›</a:t>
            </a:fld>
            <a:endParaRPr sz="900" b="0" i="0" u="none" strike="noStrike" cap="none">
              <a:solidFill>
                <a:srgbClr val="7F7F7F"/>
              </a:solidFill>
              <a:latin typeface="Arial"/>
              <a:ea typeface="Arial"/>
              <a:cs typeface="Arial"/>
              <a:sym typeface="Arial"/>
            </a:endParaRPr>
          </a:p>
        </p:txBody>
      </p:sp>
      <p:sp>
        <p:nvSpPr>
          <p:cNvPr id="25" name="Google Shape;25;p239"/>
          <p:cNvSpPr txBox="1"/>
          <p:nvPr/>
        </p:nvSpPr>
        <p:spPr>
          <a:xfrm>
            <a:off x="6084277" y="6498000"/>
            <a:ext cx="3115030" cy="138499"/>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u="none" strike="noStrike" cap="none" dirty="0" err="1">
                <a:solidFill>
                  <a:srgbClr val="7F7F7F"/>
                </a:solidFill>
                <a:latin typeface="Arial"/>
                <a:ea typeface="Arial"/>
                <a:cs typeface="Arial"/>
                <a:sym typeface="Arial"/>
              </a:rPr>
              <a:t>Chương</a:t>
            </a:r>
            <a:r>
              <a:rPr lang="en-US" sz="900" b="1" i="0" u="none" strike="noStrike" cap="none" dirty="0">
                <a:solidFill>
                  <a:srgbClr val="7F7F7F"/>
                </a:solidFill>
                <a:latin typeface="Arial"/>
                <a:ea typeface="Arial"/>
                <a:cs typeface="Arial"/>
                <a:sym typeface="Arial"/>
              </a:rPr>
              <a:t> 2. </a:t>
            </a:r>
            <a:r>
              <a:rPr lang="en-US" sz="900" b="1" i="0" u="none" strike="noStrike" cap="none" dirty="0">
                <a:solidFill>
                  <a:schemeClr val="dk1"/>
                </a:solidFill>
                <a:latin typeface="Arial"/>
                <a:ea typeface="Arial"/>
                <a:cs typeface="Arial"/>
                <a:sym typeface="Arial"/>
              </a:rPr>
              <a:t>Server </a:t>
            </a:r>
            <a:r>
              <a:rPr lang="en-US" sz="900" b="1" i="0" u="none" strike="noStrike" cap="none" dirty="0" err="1">
                <a:solidFill>
                  <a:schemeClr val="dk1"/>
                </a:solidFill>
                <a:latin typeface="Arial"/>
                <a:ea typeface="Arial"/>
                <a:cs typeface="Arial"/>
                <a:sym typeface="Arial"/>
              </a:rPr>
              <a:t>kết</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nối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vạn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vật</a:t>
            </a:r>
            <a:r>
              <a:rPr lang="en-US" sz="900" b="1" i="0" u="none" strike="noStrike" cap="none" dirty="0">
                <a:solidFill>
                  <a:schemeClr val="dk1"/>
                </a:solidFill>
                <a:latin typeface="Arial"/>
                <a:ea typeface="Arial"/>
                <a:cs typeface="Arial"/>
                <a:sym typeface="Arial"/>
              </a:rPr>
              <a:t> </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구역 머리글">
  <p:cSld name="구역 머리글">
    <p:spTree>
      <p:nvGrpSpPr>
        <p:cNvPr id="1" name="Shape 26"/>
        <p:cNvGrpSpPr/>
        <p:nvPr/>
      </p:nvGrpSpPr>
      <p:grpSpPr>
        <a:xfrm>
          <a:off x="0" y="0"/>
          <a:ext cx="0" cy="0"/>
          <a:chOff x="0" y="0"/>
          <a:chExt cx="0" cy="0"/>
        </a:xfrm>
      </p:grpSpPr>
      <p:cxnSp>
        <p:nvCxnSpPr>
          <p:cNvPr id="28" name="Google Shape;28;p240"/>
          <p:cNvCxnSpPr/>
          <p:nvPr/>
        </p:nvCxnSpPr>
        <p:spPr>
          <a:xfrm>
            <a:off x="449612" y="6424935"/>
            <a:ext cx="9003600" cy="0"/>
          </a:xfrm>
          <a:prstGeom prst="straightConnector1">
            <a:avLst/>
          </a:prstGeom>
          <a:noFill/>
          <a:ln w="9525" cap="flat" cmpd="sng">
            <a:solidFill>
              <a:srgbClr val="BFBFBF"/>
            </a:solidFill>
            <a:prstDash val="solid"/>
            <a:miter lim="800000"/>
            <a:headEnd type="none" w="sm" len="sm"/>
            <a:tailEnd type="none" w="sm" len="sm"/>
          </a:ln>
        </p:spPr>
      </p:cxnSp>
      <p:sp>
        <p:nvSpPr>
          <p:cNvPr id="29" name="Google Shape;29;p240"/>
          <p:cNvSpPr txBox="1"/>
          <p:nvPr/>
        </p:nvSpPr>
        <p:spPr>
          <a:xfrm>
            <a:off x="8839176" y="6498000"/>
            <a:ext cx="614036"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31" name="Google Shape;31;p240"/>
          <p:cNvSpPr txBox="1"/>
          <p:nvPr/>
        </p:nvSpPr>
        <p:spPr>
          <a:xfrm>
            <a:off x="6849053" y="6459527"/>
            <a:ext cx="2350254" cy="215444"/>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dirty="0" err="1">
                <a:solidFill>
                  <a:srgbClr val="7F7F7F"/>
                </a:solidFill>
                <a:latin typeface="Arial"/>
                <a:ea typeface="Arial"/>
                <a:cs typeface="Arial"/>
                <a:sym typeface="Arial"/>
              </a:rPr>
              <a:t>Chương</a:t>
            </a:r>
            <a:r>
              <a:rPr lang="en-US" sz="900" b="1" i="0" dirty="0">
                <a:solidFill>
                  <a:srgbClr val="7F7F7F"/>
                </a:solidFill>
                <a:latin typeface="Arial"/>
                <a:ea typeface="Arial"/>
                <a:cs typeface="Arial"/>
                <a:sym typeface="Arial"/>
              </a:rPr>
              <a:t> 2. </a:t>
            </a:r>
            <a:r>
              <a:rPr lang="en-US" sz="900" b="1" i="0" u="none" strike="noStrike" cap="none" dirty="0">
                <a:solidFill>
                  <a:schemeClr val="dk1"/>
                </a:solidFill>
                <a:latin typeface="Arial"/>
                <a:ea typeface="Arial"/>
                <a:cs typeface="Arial"/>
                <a:sym typeface="Arial"/>
              </a:rPr>
              <a:t>Server </a:t>
            </a:r>
            <a:r>
              <a:rPr lang="en-US" sz="900" b="1" i="0" u="none" strike="noStrike" cap="none" dirty="0" err="1">
                <a:solidFill>
                  <a:schemeClr val="dk1"/>
                </a:solidFill>
                <a:latin typeface="Arial"/>
                <a:ea typeface="Arial"/>
                <a:cs typeface="Arial"/>
                <a:sym typeface="Arial"/>
              </a:rPr>
              <a:t>kết</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nối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vạn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vật</a:t>
            </a:r>
            <a:r>
              <a:rPr lang="en-US" sz="900" b="1" i="0" u="none" strike="noStrike" cap="none" dirty="0">
                <a:solidFill>
                  <a:schemeClr val="dk1"/>
                </a:solidFill>
                <a:latin typeface="Arial"/>
                <a:ea typeface="Arial"/>
                <a:cs typeface="Arial"/>
                <a:sym typeface="Arial"/>
              </a:rPr>
              <a:t> </a:t>
            </a:r>
            <a:r>
              <a:rPr lang="en-US" dirty="0"/>
              <a:t> </a:t>
            </a:r>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콘텐츠 2개">
  <p:cSld name="콘텐츠 2개">
    <p:spTree>
      <p:nvGrpSpPr>
        <p:cNvPr id="1" name="Shape 32"/>
        <p:cNvGrpSpPr/>
        <p:nvPr/>
      </p:nvGrpSpPr>
      <p:grpSpPr>
        <a:xfrm>
          <a:off x="0" y="0"/>
          <a:ext cx="0" cy="0"/>
          <a:chOff x="0" y="0"/>
          <a:chExt cx="0" cy="0"/>
        </a:xfrm>
      </p:grpSpPr>
      <p:cxnSp>
        <p:nvCxnSpPr>
          <p:cNvPr id="34" name="Google Shape;34;p241"/>
          <p:cNvCxnSpPr/>
          <p:nvPr/>
        </p:nvCxnSpPr>
        <p:spPr>
          <a:xfrm>
            <a:off x="449612" y="6424935"/>
            <a:ext cx="9003600" cy="0"/>
          </a:xfrm>
          <a:prstGeom prst="straightConnector1">
            <a:avLst/>
          </a:prstGeom>
          <a:noFill/>
          <a:ln w="9525" cap="flat" cmpd="sng">
            <a:solidFill>
              <a:srgbClr val="BFBFBF"/>
            </a:solidFill>
            <a:prstDash val="solid"/>
            <a:miter lim="800000"/>
            <a:headEnd type="none" w="sm" len="sm"/>
            <a:tailEnd type="none" w="sm" len="sm"/>
          </a:ln>
        </p:spPr>
      </p:cxnSp>
      <p:sp>
        <p:nvSpPr>
          <p:cNvPr id="35" name="Google Shape;35;p241"/>
          <p:cNvSpPr txBox="1"/>
          <p:nvPr/>
        </p:nvSpPr>
        <p:spPr>
          <a:xfrm>
            <a:off x="8839176" y="6498000"/>
            <a:ext cx="614036"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2" name="Google Shape;31;p240">
            <a:extLst>
              <a:ext uri="{FF2B5EF4-FFF2-40B4-BE49-F238E27FC236}">
                <a16:creationId xmlns:a16="http://schemas.microsoft.com/office/drawing/2014/main" id="{7119FA5C-A6E8-8341-8709-DFC544E2D773}"/>
              </a:ext>
            </a:extLst>
          </p:cNvPr>
          <p:cNvSpPr txBox="1"/>
          <p:nvPr userDrawn="1"/>
        </p:nvSpPr>
        <p:spPr>
          <a:xfrm>
            <a:off x="6849053" y="6459527"/>
            <a:ext cx="2350254" cy="215444"/>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dirty="0" err="1">
                <a:solidFill>
                  <a:srgbClr val="7F7F7F"/>
                </a:solidFill>
                <a:latin typeface="Arial"/>
                <a:ea typeface="Arial"/>
                <a:cs typeface="Arial"/>
                <a:sym typeface="Arial"/>
              </a:rPr>
              <a:t>Chương</a:t>
            </a:r>
            <a:r>
              <a:rPr lang="en-US" sz="900" b="1" i="0" dirty="0">
                <a:solidFill>
                  <a:srgbClr val="7F7F7F"/>
                </a:solidFill>
                <a:latin typeface="Arial"/>
                <a:ea typeface="Arial"/>
                <a:cs typeface="Arial"/>
                <a:sym typeface="Arial"/>
              </a:rPr>
              <a:t> 2. </a:t>
            </a:r>
            <a:r>
              <a:rPr lang="en-US" sz="900" b="1" i="0" u="none" strike="noStrike" cap="none" dirty="0">
                <a:solidFill>
                  <a:schemeClr val="dk1"/>
                </a:solidFill>
                <a:latin typeface="Arial"/>
                <a:ea typeface="Arial"/>
                <a:cs typeface="Arial"/>
                <a:sym typeface="Arial"/>
              </a:rPr>
              <a:t>Server </a:t>
            </a:r>
            <a:r>
              <a:rPr lang="en-US" sz="900" b="1" i="0" u="none" strike="noStrike" cap="none" dirty="0" err="1">
                <a:solidFill>
                  <a:schemeClr val="dk1"/>
                </a:solidFill>
                <a:latin typeface="Arial"/>
                <a:ea typeface="Arial"/>
                <a:cs typeface="Arial"/>
                <a:sym typeface="Arial"/>
              </a:rPr>
              <a:t>kết</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nối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vạn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vật</a:t>
            </a:r>
            <a:r>
              <a:rPr lang="en-US" sz="900" b="1" i="0" u="none" strike="noStrike" cap="none" dirty="0">
                <a:solidFill>
                  <a:schemeClr val="dk1"/>
                </a:solidFill>
                <a:latin typeface="Arial"/>
                <a:ea typeface="Arial"/>
                <a:cs typeface="Arial"/>
                <a:sym typeface="Arial"/>
              </a:rPr>
              <a:t> </a:t>
            </a:r>
            <a:r>
              <a:rPr lang="en-US" dirty="0"/>
              <a:t> </a:t>
            </a:r>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비교">
  <p:cSld name="비교">
    <p:spTree>
      <p:nvGrpSpPr>
        <p:cNvPr id="1" name="Shape 47"/>
        <p:cNvGrpSpPr/>
        <p:nvPr/>
      </p:nvGrpSpPr>
      <p:grpSpPr>
        <a:xfrm>
          <a:off x="0" y="0"/>
          <a:ext cx="0" cy="0"/>
          <a:chOff x="0" y="0"/>
          <a:chExt cx="0" cy="0"/>
        </a:xfrm>
      </p:grpSpPr>
      <p:cxnSp>
        <p:nvCxnSpPr>
          <p:cNvPr id="48" name="Google Shape;48;p244"/>
          <p:cNvCxnSpPr/>
          <p:nvPr/>
        </p:nvCxnSpPr>
        <p:spPr>
          <a:xfrm>
            <a:off x="449612" y="6424935"/>
            <a:ext cx="90036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244"/>
          <p:cNvSpPr txBox="1"/>
          <p:nvPr/>
        </p:nvSpPr>
        <p:spPr>
          <a:xfrm>
            <a:off x="8839176" y="6498000"/>
            <a:ext cx="614036"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grpSp>
        <p:nvGrpSpPr>
          <p:cNvPr id="54" name="Google Shape;54;p244"/>
          <p:cNvGrpSpPr/>
          <p:nvPr/>
        </p:nvGrpSpPr>
        <p:grpSpPr>
          <a:xfrm>
            <a:off x="449999" y="1251375"/>
            <a:ext cx="9018001" cy="4993977"/>
            <a:chOff x="578678" y="1436153"/>
            <a:chExt cx="8748000" cy="4993977"/>
          </a:xfrm>
        </p:grpSpPr>
        <p:sp>
          <p:nvSpPr>
            <p:cNvPr id="55" name="Google Shape;55;p244"/>
            <p:cNvSpPr/>
            <p:nvPr/>
          </p:nvSpPr>
          <p:spPr>
            <a:xfrm>
              <a:off x="578678" y="1436153"/>
              <a:ext cx="8748000" cy="912275"/>
            </a:xfrm>
            <a:prstGeom prst="rect">
              <a:avLst/>
            </a:prstGeom>
            <a:solidFill>
              <a:srgbClr val="ECEF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lgun Gothic"/>
                <a:ea typeface="Malgun Gothic"/>
                <a:cs typeface="Malgun Gothic"/>
                <a:sym typeface="Malgun Gothic"/>
              </a:endParaRPr>
            </a:p>
          </p:txBody>
        </p:sp>
        <p:sp>
          <p:nvSpPr>
            <p:cNvPr id="56" name="Google Shape;56;p244"/>
            <p:cNvSpPr/>
            <p:nvPr/>
          </p:nvSpPr>
          <p:spPr>
            <a:xfrm>
              <a:off x="578678" y="2286000"/>
              <a:ext cx="8748000" cy="4144130"/>
            </a:xfrm>
            <a:prstGeom prst="rect">
              <a:avLst/>
            </a:prstGeom>
            <a:solidFill>
              <a:srgbClr val="ECEF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lgun Gothic"/>
                <a:ea typeface="Malgun Gothic"/>
                <a:cs typeface="Malgun Gothic"/>
                <a:sym typeface="Malgun Gothic"/>
              </a:endParaRPr>
            </a:p>
          </p:txBody>
        </p:sp>
      </p:grpSp>
      <p:sp>
        <p:nvSpPr>
          <p:cNvPr id="2" name="Google Shape;31;p240">
            <a:extLst>
              <a:ext uri="{FF2B5EF4-FFF2-40B4-BE49-F238E27FC236}">
                <a16:creationId xmlns:a16="http://schemas.microsoft.com/office/drawing/2014/main" id="{EA75A2A9-E09A-CA46-ECB0-F2EC2057D2B3}"/>
              </a:ext>
            </a:extLst>
          </p:cNvPr>
          <p:cNvSpPr txBox="1"/>
          <p:nvPr userDrawn="1"/>
        </p:nvSpPr>
        <p:spPr>
          <a:xfrm>
            <a:off x="6849053" y="6459527"/>
            <a:ext cx="2350254" cy="215444"/>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dirty="0" err="1">
                <a:solidFill>
                  <a:srgbClr val="7F7F7F"/>
                </a:solidFill>
                <a:latin typeface="Arial"/>
                <a:ea typeface="Arial"/>
                <a:cs typeface="Arial"/>
                <a:sym typeface="Arial"/>
              </a:rPr>
              <a:t>Chương</a:t>
            </a:r>
            <a:r>
              <a:rPr lang="en-US" sz="900" b="1" i="0" dirty="0">
                <a:solidFill>
                  <a:srgbClr val="7F7F7F"/>
                </a:solidFill>
                <a:latin typeface="Arial"/>
                <a:ea typeface="Arial"/>
                <a:cs typeface="Arial"/>
                <a:sym typeface="Arial"/>
              </a:rPr>
              <a:t> 2. </a:t>
            </a:r>
            <a:r>
              <a:rPr lang="en-US" sz="900" b="1" i="0" u="none" strike="noStrike" cap="none" dirty="0">
                <a:solidFill>
                  <a:schemeClr val="dk1"/>
                </a:solidFill>
                <a:latin typeface="Arial"/>
                <a:ea typeface="Arial"/>
                <a:cs typeface="Arial"/>
                <a:sym typeface="Arial"/>
              </a:rPr>
              <a:t>Server </a:t>
            </a:r>
            <a:r>
              <a:rPr lang="en-US" sz="900" b="1" i="0" u="none" strike="noStrike" cap="none" dirty="0" err="1">
                <a:solidFill>
                  <a:schemeClr val="dk1"/>
                </a:solidFill>
                <a:latin typeface="Arial"/>
                <a:ea typeface="Arial"/>
                <a:cs typeface="Arial"/>
                <a:sym typeface="Arial"/>
              </a:rPr>
              <a:t>kết</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nối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vạn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vật</a:t>
            </a:r>
            <a:r>
              <a:rPr lang="en-US" sz="900" b="1" i="0" u="none" strike="noStrike" cap="none" dirty="0">
                <a:solidFill>
                  <a:schemeClr val="dk1"/>
                </a:solidFill>
                <a:latin typeface="Arial"/>
                <a:ea typeface="Arial"/>
                <a:cs typeface="Arial"/>
                <a:sym typeface="Arial"/>
              </a:rPr>
              <a:t> </a:t>
            </a:r>
            <a:r>
              <a:rPr lang="en-US" dirty="0"/>
              <a:t> </a:t>
            </a:r>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iz">
  <p:cSld name="Quiz">
    <p:spTree>
      <p:nvGrpSpPr>
        <p:cNvPr id="1" name="Shape 115"/>
        <p:cNvGrpSpPr/>
        <p:nvPr/>
      </p:nvGrpSpPr>
      <p:grpSpPr>
        <a:xfrm>
          <a:off x="0" y="0"/>
          <a:ext cx="0" cy="0"/>
          <a:chOff x="0" y="0"/>
          <a:chExt cx="0" cy="0"/>
        </a:xfrm>
      </p:grpSpPr>
      <p:sp>
        <p:nvSpPr>
          <p:cNvPr id="116" name="Google Shape;116;p247"/>
          <p:cNvSpPr/>
          <p:nvPr/>
        </p:nvSpPr>
        <p:spPr>
          <a:xfrm>
            <a:off x="451162" y="1220478"/>
            <a:ext cx="8999020" cy="811746"/>
          </a:xfrm>
          <a:prstGeom prst="rect">
            <a:avLst/>
          </a:prstGeom>
          <a:solidFill>
            <a:srgbClr val="ECEF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Malgun Gothic"/>
              <a:ea typeface="Malgun Gothic"/>
              <a:cs typeface="Malgun Gothic"/>
              <a:sym typeface="Malgun Gothic"/>
            </a:endParaRPr>
          </a:p>
        </p:txBody>
      </p:sp>
      <p:sp>
        <p:nvSpPr>
          <p:cNvPr id="117" name="Google Shape;117;p247"/>
          <p:cNvSpPr/>
          <p:nvPr/>
        </p:nvSpPr>
        <p:spPr>
          <a:xfrm>
            <a:off x="451162" y="2070324"/>
            <a:ext cx="8999020" cy="4231864"/>
          </a:xfrm>
          <a:prstGeom prst="rect">
            <a:avLst/>
          </a:prstGeom>
          <a:solidFill>
            <a:srgbClr val="ECEF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Malgun Gothic"/>
              <a:ea typeface="Malgun Gothic"/>
              <a:cs typeface="Malgun Gothic"/>
              <a:sym typeface="Malgun Gothic"/>
            </a:endParaRPr>
          </a:p>
        </p:txBody>
      </p:sp>
      <p:sp>
        <p:nvSpPr>
          <p:cNvPr id="118" name="Google Shape;118;p247"/>
          <p:cNvSpPr/>
          <p:nvPr/>
        </p:nvSpPr>
        <p:spPr>
          <a:xfrm>
            <a:off x="646276" y="1415780"/>
            <a:ext cx="1059197"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99" b="1" i="0">
                <a:solidFill>
                  <a:srgbClr val="0D0D0D"/>
                </a:solidFill>
                <a:latin typeface="Arial"/>
                <a:ea typeface="Arial"/>
                <a:cs typeface="Arial"/>
                <a:sym typeface="Arial"/>
              </a:rPr>
              <a:t>Q1.</a:t>
            </a:r>
            <a:endParaRPr/>
          </a:p>
        </p:txBody>
      </p:sp>
      <p:pic>
        <p:nvPicPr>
          <p:cNvPr id="119" name="Google Shape;119;p247"/>
          <p:cNvPicPr preferRelativeResize="0"/>
          <p:nvPr/>
        </p:nvPicPr>
        <p:blipFill rotWithShape="1">
          <a:blip r:embed="rId2">
            <a:alphaModFix/>
          </a:blip>
          <a:srcRect/>
          <a:stretch/>
        </p:blipFill>
        <p:spPr>
          <a:xfrm>
            <a:off x="802139" y="5406365"/>
            <a:ext cx="112868" cy="109719"/>
          </a:xfrm>
          <a:prstGeom prst="rect">
            <a:avLst/>
          </a:prstGeom>
          <a:noFill/>
          <a:ln>
            <a:noFill/>
          </a:ln>
        </p:spPr>
      </p:pic>
      <p:cxnSp>
        <p:nvCxnSpPr>
          <p:cNvPr id="120" name="Google Shape;120;p247"/>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121" name="Google Shape;121;p247"/>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2" name="Google Shape;31;p240">
            <a:extLst>
              <a:ext uri="{FF2B5EF4-FFF2-40B4-BE49-F238E27FC236}">
                <a16:creationId xmlns:a16="http://schemas.microsoft.com/office/drawing/2014/main" id="{7923B35D-42E2-5871-872B-1D60E6E954A3}"/>
              </a:ext>
            </a:extLst>
          </p:cNvPr>
          <p:cNvSpPr txBox="1"/>
          <p:nvPr userDrawn="1"/>
        </p:nvSpPr>
        <p:spPr>
          <a:xfrm>
            <a:off x="6849053" y="6459527"/>
            <a:ext cx="2350254" cy="215444"/>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dirty="0" err="1">
                <a:solidFill>
                  <a:srgbClr val="7F7F7F"/>
                </a:solidFill>
                <a:latin typeface="Arial"/>
                <a:ea typeface="Arial"/>
                <a:cs typeface="Arial"/>
                <a:sym typeface="Arial"/>
              </a:rPr>
              <a:t>Chương</a:t>
            </a:r>
            <a:r>
              <a:rPr lang="en-US" sz="900" b="1" i="0" dirty="0">
                <a:solidFill>
                  <a:srgbClr val="7F7F7F"/>
                </a:solidFill>
                <a:latin typeface="Arial"/>
                <a:ea typeface="Arial"/>
                <a:cs typeface="Arial"/>
                <a:sym typeface="Arial"/>
              </a:rPr>
              <a:t> 2. </a:t>
            </a:r>
            <a:r>
              <a:rPr lang="en-US" sz="900" b="1" i="0" u="none" strike="noStrike" cap="none" dirty="0">
                <a:solidFill>
                  <a:schemeClr val="dk1"/>
                </a:solidFill>
                <a:latin typeface="Arial"/>
                <a:ea typeface="Arial"/>
                <a:cs typeface="Arial"/>
                <a:sym typeface="Arial"/>
              </a:rPr>
              <a:t>Server </a:t>
            </a:r>
            <a:r>
              <a:rPr lang="en-US" sz="900" b="1" i="0" u="none" strike="noStrike" cap="none" dirty="0" err="1">
                <a:solidFill>
                  <a:schemeClr val="dk1"/>
                </a:solidFill>
                <a:latin typeface="Arial"/>
                <a:ea typeface="Arial"/>
                <a:cs typeface="Arial"/>
                <a:sym typeface="Arial"/>
              </a:rPr>
              <a:t>kết</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nối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vạn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vật</a:t>
            </a:r>
            <a:r>
              <a:rPr lang="en-US" sz="900" b="1" i="0" u="none" strike="noStrike" cap="none" dirty="0">
                <a:solidFill>
                  <a:schemeClr val="dk1"/>
                </a:solidFill>
                <a:latin typeface="Arial"/>
                <a:ea typeface="Arial"/>
                <a:cs typeface="Arial"/>
                <a:sym typeface="Arial"/>
              </a:rPr>
              <a:t> </a:t>
            </a:r>
            <a:r>
              <a:rPr lang="en-US" dirty="0"/>
              <a:t> </a:t>
            </a:r>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ody">
  <p:cSld name="Body">
    <p:spTree>
      <p:nvGrpSpPr>
        <p:cNvPr id="1" name="Shape 127"/>
        <p:cNvGrpSpPr/>
        <p:nvPr/>
      </p:nvGrpSpPr>
      <p:grpSpPr>
        <a:xfrm>
          <a:off x="0" y="0"/>
          <a:ext cx="0" cy="0"/>
          <a:chOff x="0" y="0"/>
          <a:chExt cx="0" cy="0"/>
        </a:xfrm>
      </p:grpSpPr>
      <p:cxnSp>
        <p:nvCxnSpPr>
          <p:cNvPr id="128" name="Google Shape;128;p248"/>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p248"/>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cxnSp>
        <p:nvCxnSpPr>
          <p:cNvPr id="131" name="Google Shape;131;p248"/>
          <p:cNvCxnSpPr/>
          <p:nvPr/>
        </p:nvCxnSpPr>
        <p:spPr>
          <a:xfrm>
            <a:off x="449468" y="900000"/>
            <a:ext cx="9000714" cy="0"/>
          </a:xfrm>
          <a:prstGeom prst="straightConnector1">
            <a:avLst/>
          </a:prstGeom>
          <a:noFill/>
          <a:ln w="15875" cap="flat" cmpd="sng">
            <a:solidFill>
              <a:srgbClr val="0924A5"/>
            </a:solidFill>
            <a:prstDash val="solid"/>
            <a:miter lim="800000"/>
            <a:headEnd type="none" w="sm" len="sm"/>
            <a:tailEnd type="none" w="sm" len="sm"/>
          </a:ln>
        </p:spPr>
      </p:cxnSp>
      <p:sp>
        <p:nvSpPr>
          <p:cNvPr id="2" name="Google Shape;31;p240">
            <a:extLst>
              <a:ext uri="{FF2B5EF4-FFF2-40B4-BE49-F238E27FC236}">
                <a16:creationId xmlns:a16="http://schemas.microsoft.com/office/drawing/2014/main" id="{2B2C8557-113D-0F19-F31E-EB32050701CD}"/>
              </a:ext>
            </a:extLst>
          </p:cNvPr>
          <p:cNvSpPr txBox="1"/>
          <p:nvPr userDrawn="1"/>
        </p:nvSpPr>
        <p:spPr>
          <a:xfrm>
            <a:off x="6849053" y="6459527"/>
            <a:ext cx="2350254" cy="215444"/>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dirty="0" err="1">
                <a:solidFill>
                  <a:srgbClr val="7F7F7F"/>
                </a:solidFill>
                <a:latin typeface="Arial"/>
                <a:ea typeface="Arial"/>
                <a:cs typeface="Arial"/>
                <a:sym typeface="Arial"/>
              </a:rPr>
              <a:t>Chương</a:t>
            </a:r>
            <a:r>
              <a:rPr lang="en-US" sz="900" b="1" i="0" dirty="0">
                <a:solidFill>
                  <a:srgbClr val="7F7F7F"/>
                </a:solidFill>
                <a:latin typeface="Arial"/>
                <a:ea typeface="Arial"/>
                <a:cs typeface="Arial"/>
                <a:sym typeface="Arial"/>
              </a:rPr>
              <a:t> 2. </a:t>
            </a:r>
            <a:r>
              <a:rPr lang="en-US" sz="900" b="1" i="0" u="none" strike="noStrike" cap="none" dirty="0">
                <a:solidFill>
                  <a:schemeClr val="dk1"/>
                </a:solidFill>
                <a:latin typeface="Arial"/>
                <a:ea typeface="Arial"/>
                <a:cs typeface="Arial"/>
                <a:sym typeface="Arial"/>
              </a:rPr>
              <a:t>Server </a:t>
            </a:r>
            <a:r>
              <a:rPr lang="en-US" sz="900" b="1" i="0" u="none" strike="noStrike" cap="none" dirty="0" err="1">
                <a:solidFill>
                  <a:schemeClr val="dk1"/>
                </a:solidFill>
                <a:latin typeface="Arial"/>
                <a:ea typeface="Arial"/>
                <a:cs typeface="Arial"/>
                <a:sym typeface="Arial"/>
              </a:rPr>
              <a:t>kết</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nối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vạn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vật</a:t>
            </a:r>
            <a:r>
              <a:rPr lang="en-US" sz="900" b="1" i="0" u="none" strike="noStrike" cap="none" dirty="0">
                <a:solidFill>
                  <a:schemeClr val="dk1"/>
                </a:solidFill>
                <a:latin typeface="Arial"/>
                <a:ea typeface="Arial"/>
                <a:cs typeface="Arial"/>
                <a:sym typeface="Arial"/>
              </a:rPr>
              <a:t> </a:t>
            </a:r>
            <a:r>
              <a:rPr lang="en-US" dirty="0"/>
              <a:t> </a:t>
            </a:r>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
        <p:cNvGrpSpPr/>
        <p:nvPr/>
      </p:nvGrpSpPr>
      <p:grpSpPr>
        <a:xfrm>
          <a:off x="0" y="0"/>
          <a:ext cx="0" cy="0"/>
          <a:chOff x="0" y="0"/>
          <a:chExt cx="0" cy="0"/>
        </a:xfrm>
      </p:grpSpPr>
      <p:sp>
        <p:nvSpPr>
          <p:cNvPr id="7" name="Google Shape;7;p236"/>
          <p:cNvSpPr txBox="1">
            <a:spLocks noGrp="1"/>
          </p:cNvSpPr>
          <p:nvPr>
            <p:ph type="title"/>
          </p:nvPr>
        </p:nvSpPr>
        <p:spPr>
          <a:xfrm>
            <a:off x="681038" y="365125"/>
            <a:ext cx="854075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algun Gothic"/>
              <a:buNone/>
              <a:defRPr sz="4400" b="0" i="0" u="none" strike="noStrike" cap="non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236"/>
          <p:cNvSpPr txBox="1">
            <a:spLocks noGrp="1"/>
          </p:cNvSpPr>
          <p:nvPr>
            <p:ph type="body" idx="1"/>
          </p:nvPr>
        </p:nvSpPr>
        <p:spPr>
          <a:xfrm>
            <a:off x="681038" y="1825625"/>
            <a:ext cx="854075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algun Gothic"/>
                <a:ea typeface="Malgun Gothic"/>
                <a:cs typeface="Malgun Gothic"/>
                <a:sym typeface="Malgun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algun Gothic"/>
                <a:ea typeface="Malgun Gothic"/>
                <a:cs typeface="Malgun Gothic"/>
                <a:sym typeface="Malgun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9pPr>
          </a:lstStyle>
          <a:p>
            <a:endParaRPr/>
          </a:p>
        </p:txBody>
      </p:sp>
      <p:sp>
        <p:nvSpPr>
          <p:cNvPr id="9" name="Google Shape;9;p236"/>
          <p:cNvSpPr txBox="1">
            <a:spLocks noGrp="1"/>
          </p:cNvSpPr>
          <p:nvPr>
            <p:ph type="dt" idx="10"/>
          </p:nvPr>
        </p:nvSpPr>
        <p:spPr>
          <a:xfrm>
            <a:off x="681038" y="6356350"/>
            <a:ext cx="222726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0" name="Google Shape;10;p236"/>
          <p:cNvSpPr txBox="1">
            <a:spLocks noGrp="1"/>
          </p:cNvSpPr>
          <p:nvPr>
            <p:ph type="ftr" idx="11"/>
          </p:nvPr>
        </p:nvSpPr>
        <p:spPr>
          <a:xfrm>
            <a:off x="3279775" y="6356350"/>
            <a:ext cx="3343275"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1" name="Google Shape;11;p236"/>
          <p:cNvSpPr txBox="1">
            <a:spLocks noGrp="1"/>
          </p:cNvSpPr>
          <p:nvPr>
            <p:ph type="sldNum" idx="12"/>
          </p:nvPr>
        </p:nvSpPr>
        <p:spPr>
          <a:xfrm>
            <a:off x="6994525" y="6356350"/>
            <a:ext cx="2227263"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Malgun Gothic"/>
                <a:ea typeface="Malgun Gothic"/>
                <a:cs typeface="Malgun Gothic"/>
                <a:sym typeface="Malgun Gothic"/>
              </a:defRPr>
            </a:lvl1pPr>
            <a:lvl2pPr marL="0" marR="0" lvl="1" indent="0" algn="r" rtl="0">
              <a:spcBef>
                <a:spcPts val="0"/>
              </a:spcBef>
              <a:buNone/>
              <a:defRPr sz="1200" b="0" i="0" u="none" strike="noStrike" cap="none">
                <a:solidFill>
                  <a:srgbClr val="888888"/>
                </a:solidFill>
                <a:latin typeface="Malgun Gothic"/>
                <a:ea typeface="Malgun Gothic"/>
                <a:cs typeface="Malgun Gothic"/>
                <a:sym typeface="Malgun Gothic"/>
              </a:defRPr>
            </a:lvl2pPr>
            <a:lvl3pPr marL="0" marR="0" lvl="2" indent="0" algn="r" rtl="0">
              <a:spcBef>
                <a:spcPts val="0"/>
              </a:spcBef>
              <a:buNone/>
              <a:defRPr sz="1200" b="0" i="0" u="none" strike="noStrike" cap="none">
                <a:solidFill>
                  <a:srgbClr val="888888"/>
                </a:solidFill>
                <a:latin typeface="Malgun Gothic"/>
                <a:ea typeface="Malgun Gothic"/>
                <a:cs typeface="Malgun Gothic"/>
                <a:sym typeface="Malgun Gothic"/>
              </a:defRPr>
            </a:lvl3pPr>
            <a:lvl4pPr marL="0" marR="0" lvl="3" indent="0" algn="r" rtl="0">
              <a:spcBef>
                <a:spcPts val="0"/>
              </a:spcBef>
              <a:buNone/>
              <a:defRPr sz="1200" b="0" i="0" u="none" strike="noStrike" cap="none">
                <a:solidFill>
                  <a:srgbClr val="888888"/>
                </a:solidFill>
                <a:latin typeface="Malgun Gothic"/>
                <a:ea typeface="Malgun Gothic"/>
                <a:cs typeface="Malgun Gothic"/>
                <a:sym typeface="Malgun Gothic"/>
              </a:defRPr>
            </a:lvl4pPr>
            <a:lvl5pPr marL="0" marR="0" lvl="4" indent="0" algn="r" rtl="0">
              <a:spcBef>
                <a:spcPts val="0"/>
              </a:spcBef>
              <a:buNone/>
              <a:defRPr sz="1200" b="0" i="0" u="none" strike="noStrike" cap="none">
                <a:solidFill>
                  <a:srgbClr val="888888"/>
                </a:solidFill>
                <a:latin typeface="Malgun Gothic"/>
                <a:ea typeface="Malgun Gothic"/>
                <a:cs typeface="Malgun Gothic"/>
                <a:sym typeface="Malgun Gothic"/>
              </a:defRPr>
            </a:lvl5pPr>
            <a:lvl6pPr marL="0" marR="0" lvl="5" indent="0" algn="r" rtl="0">
              <a:spcBef>
                <a:spcPts val="0"/>
              </a:spcBef>
              <a:buNone/>
              <a:defRPr sz="1200" b="0" i="0" u="none" strike="noStrike" cap="none">
                <a:solidFill>
                  <a:srgbClr val="888888"/>
                </a:solidFill>
                <a:latin typeface="Malgun Gothic"/>
                <a:ea typeface="Malgun Gothic"/>
                <a:cs typeface="Malgun Gothic"/>
                <a:sym typeface="Malgun Gothic"/>
              </a:defRPr>
            </a:lvl6pPr>
            <a:lvl7pPr marL="0" marR="0" lvl="6" indent="0" algn="r" rtl="0">
              <a:spcBef>
                <a:spcPts val="0"/>
              </a:spcBef>
              <a:buNone/>
              <a:defRPr sz="1200" b="0" i="0" u="none" strike="noStrike" cap="none">
                <a:solidFill>
                  <a:srgbClr val="888888"/>
                </a:solidFill>
                <a:latin typeface="Malgun Gothic"/>
                <a:ea typeface="Malgun Gothic"/>
                <a:cs typeface="Malgun Gothic"/>
                <a:sym typeface="Malgun Gothic"/>
              </a:defRPr>
            </a:lvl7pPr>
            <a:lvl8pPr marL="0" marR="0" lvl="7" indent="0" algn="r" rtl="0">
              <a:spcBef>
                <a:spcPts val="0"/>
              </a:spcBef>
              <a:buNone/>
              <a:defRPr sz="1200" b="0" i="0" u="none" strike="noStrike" cap="none">
                <a:solidFill>
                  <a:srgbClr val="888888"/>
                </a:solidFill>
                <a:latin typeface="Malgun Gothic"/>
                <a:ea typeface="Malgun Gothic"/>
                <a:cs typeface="Malgun Gothic"/>
                <a:sym typeface="Malgun Gothic"/>
              </a:defRPr>
            </a:lvl8pPr>
            <a:lvl9pPr marL="0" marR="0" lvl="8" indent="0" algn="r" rtl="0">
              <a:spcBef>
                <a:spcPts val="0"/>
              </a:spcBef>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6" r:id="rId5"/>
    <p:sldLayoutId id="2147483659" r:id="rId6"/>
    <p:sldLayoutId id="2147483660"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hyperlink" Target="https://io.adafruit.com/" TargetMode="External"/><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4.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png"/></Relationships>
</file>

<file path=ppt/slides/_rels/slide5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8.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7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3.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grpSp>
        <p:nvGrpSpPr>
          <p:cNvPr id="149" name="Google Shape;149;p2"/>
          <p:cNvGrpSpPr/>
          <p:nvPr/>
        </p:nvGrpSpPr>
        <p:grpSpPr>
          <a:xfrm>
            <a:off x="732970" y="2724996"/>
            <a:ext cx="8122796" cy="1211464"/>
            <a:chOff x="720000" y="2070000"/>
            <a:chExt cx="6140412" cy="1211464"/>
          </a:xfrm>
        </p:grpSpPr>
        <p:sp>
          <p:nvSpPr>
            <p:cNvPr id="150" name="Google Shape;150;p2"/>
            <p:cNvSpPr/>
            <p:nvPr/>
          </p:nvSpPr>
          <p:spPr>
            <a:xfrm>
              <a:off x="990000" y="2524714"/>
              <a:ext cx="5870412" cy="6771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400" b="1" i="0" u="none" strike="noStrike" cap="none" dirty="0" err="1">
                  <a:solidFill>
                    <a:schemeClr val="dk1"/>
                  </a:solidFill>
                  <a:latin typeface="Arial"/>
                  <a:ea typeface="Arial"/>
                  <a:cs typeface="Arial"/>
                  <a:sym typeface="Arial"/>
                </a:rPr>
                <a:t>Nền</a:t>
              </a:r>
              <a:r>
                <a:rPr lang="en-US" sz="4400" b="1" i="0" u="none" strike="noStrike" cap="none" dirty="0">
                  <a:solidFill>
                    <a:schemeClr val="dk1"/>
                  </a:solidFill>
                  <a:latin typeface="Arial"/>
                  <a:ea typeface="Arial"/>
                  <a:cs typeface="Arial"/>
                  <a:sym typeface="Arial"/>
                </a:rPr>
                <a:t> </a:t>
              </a:r>
              <a:r>
                <a:rPr lang="en-US" sz="4400" b="1" i="0" u="none" strike="noStrike" cap="none">
                  <a:solidFill>
                    <a:schemeClr val="dk1"/>
                  </a:solidFill>
                  <a:latin typeface="Arial"/>
                  <a:ea typeface="Arial"/>
                  <a:cs typeface="Arial"/>
                  <a:sym typeface="Arial"/>
                </a:rPr>
                <a:t>tảng </a:t>
              </a:r>
              <a:r>
                <a:rPr lang="en-US" sz="4400" b="1" i="0" u="none" strike="noStrike" cap="none" dirty="0" err="1">
                  <a:solidFill>
                    <a:schemeClr val="dk1"/>
                  </a:solidFill>
                  <a:latin typeface="Arial"/>
                  <a:ea typeface="Arial"/>
                  <a:cs typeface="Arial"/>
                  <a:sym typeface="Arial"/>
                </a:rPr>
                <a:t>kết</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nối</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vạn</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vật</a:t>
              </a:r>
              <a:r>
                <a:rPr lang="en-US" sz="4400" b="1" i="0" u="none" strike="noStrike" cap="none" dirty="0">
                  <a:solidFill>
                    <a:schemeClr val="dk1"/>
                  </a:solidFill>
                  <a:latin typeface="Arial"/>
                  <a:ea typeface="Arial"/>
                  <a:cs typeface="Arial"/>
                  <a:sym typeface="Arial"/>
                </a:rPr>
                <a:t> </a:t>
              </a:r>
              <a:endParaRPr dirty="0"/>
            </a:p>
          </p:txBody>
        </p:sp>
        <p:sp>
          <p:nvSpPr>
            <p:cNvPr id="152" name="Google Shape;152;p2"/>
            <p:cNvSpPr/>
            <p:nvPr/>
          </p:nvSpPr>
          <p:spPr>
            <a:xfrm>
              <a:off x="990000" y="2070000"/>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i="0" u="none" strike="noStrike" cap="none" dirty="0">
                  <a:solidFill>
                    <a:srgbClr val="7F7F7F"/>
                  </a:solidFill>
                  <a:latin typeface="Arial"/>
                  <a:ea typeface="Arial"/>
                  <a:cs typeface="Arial"/>
                  <a:sym typeface="Arial"/>
                </a:rPr>
                <a:t>CHƯƠNG 2. </a:t>
              </a:r>
              <a:endParaRPr sz="5400" b="1" i="0" u="none" strike="noStrike" cap="none" dirty="0">
                <a:solidFill>
                  <a:srgbClr val="7F7F7F"/>
                </a:solidFill>
                <a:latin typeface="Arial"/>
                <a:ea typeface="Arial"/>
                <a:cs typeface="Arial"/>
                <a:sym typeface="Arial"/>
              </a:endParaRPr>
            </a:p>
          </p:txBody>
        </p:sp>
        <p:sp>
          <p:nvSpPr>
            <p:cNvPr id="153" name="Google Shape;153;p2"/>
            <p:cNvSpPr/>
            <p:nvPr/>
          </p:nvSpPr>
          <p:spPr>
            <a:xfrm>
              <a:off x="720000" y="2095275"/>
              <a:ext cx="60008" cy="1186189"/>
            </a:xfrm>
            <a:prstGeom prst="rect">
              <a:avLst/>
            </a:prstGeom>
            <a:solidFill>
              <a:srgbClr val="1428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grpSp>
        <p:nvGrpSpPr>
          <p:cNvPr id="160" name="Google Shape;160;p3"/>
          <p:cNvGrpSpPr/>
          <p:nvPr/>
        </p:nvGrpSpPr>
        <p:grpSpPr>
          <a:xfrm>
            <a:off x="449856" y="450955"/>
            <a:ext cx="8999458" cy="369214"/>
            <a:chOff x="450000" y="450000"/>
            <a:chExt cx="9002343" cy="369332"/>
          </a:xfrm>
        </p:grpSpPr>
        <p:sp>
          <p:nvSpPr>
            <p:cNvPr id="161" name="Google Shape;161;p3"/>
            <p:cNvSpPr/>
            <p:nvPr/>
          </p:nvSpPr>
          <p:spPr>
            <a:xfrm>
              <a:off x="450000" y="450000"/>
              <a:ext cx="878522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193EB0"/>
                  </a:solidFill>
                  <a:latin typeface="Arial"/>
                  <a:ea typeface="Arial"/>
                  <a:cs typeface="Arial"/>
                  <a:sym typeface="Arial"/>
                </a:rPr>
                <a:t>Mô tả chương</a:t>
              </a:r>
              <a:endParaRPr sz="2400" b="1">
                <a:solidFill>
                  <a:srgbClr val="193EB0"/>
                </a:solidFill>
                <a:latin typeface="Arial"/>
                <a:ea typeface="Arial"/>
                <a:cs typeface="Arial"/>
                <a:sym typeface="Arial"/>
              </a:endParaRPr>
            </a:p>
          </p:txBody>
        </p:sp>
        <p:cxnSp>
          <p:nvCxnSpPr>
            <p:cNvPr id="162" name="Google Shape;162;p3"/>
            <p:cNvCxnSpPr/>
            <p:nvPr/>
          </p:nvCxnSpPr>
          <p:spPr>
            <a:xfrm>
              <a:off x="3593437" y="630000"/>
              <a:ext cx="5858906" cy="0"/>
            </a:xfrm>
            <a:prstGeom prst="straightConnector1">
              <a:avLst/>
            </a:prstGeom>
            <a:noFill/>
            <a:ln w="12700" cap="flat" cmpd="sng">
              <a:solidFill>
                <a:srgbClr val="1428A0"/>
              </a:solidFill>
              <a:prstDash val="solid"/>
              <a:miter lim="800000"/>
              <a:headEnd type="none" w="sm" len="sm"/>
              <a:tailEnd type="none" w="sm" len="sm"/>
            </a:ln>
          </p:spPr>
        </p:cxnSp>
      </p:grpSp>
      <p:sp>
        <p:nvSpPr>
          <p:cNvPr id="163" name="Google Shape;163;p3"/>
          <p:cNvSpPr/>
          <p:nvPr/>
        </p:nvSpPr>
        <p:spPr>
          <a:xfrm>
            <a:off x="710975" y="1619179"/>
            <a:ext cx="8630058" cy="1090931"/>
          </a:xfrm>
          <a:prstGeom prst="rect">
            <a:avLst/>
          </a:prstGeom>
          <a:noFill/>
          <a:ln w="19050" cap="flat" cmpd="sng">
            <a:solidFill>
              <a:srgbClr val="F2F2F2"/>
            </a:solidFill>
            <a:prstDash val="solid"/>
            <a:miter lim="800000"/>
            <a:headEnd type="none" w="sm" len="sm"/>
            <a:tailEnd type="none" w="sm" len="sm"/>
          </a:ln>
        </p:spPr>
        <p:txBody>
          <a:bodyPr spcFirstLastPara="1" wrap="square" lIns="143950" tIns="143950" rIns="143950" bIns="143950" anchor="t" anchorCtr="0">
            <a:spAutoFit/>
          </a:bodyPr>
          <a:lstStyle/>
          <a:p>
            <a:pPr marL="285664" marR="0" lvl="0" indent="-285664" algn="l" rtl="0">
              <a:spcBef>
                <a:spcPts val="0"/>
              </a:spcBef>
              <a:spcAft>
                <a:spcPts val="0"/>
              </a:spcAft>
              <a:buClr>
                <a:srgbClr val="A5A5A5"/>
              </a:buClr>
              <a:buSzPts val="1300"/>
              <a:buFont typeface="Noto Sans Symbols"/>
              <a:buChar char="✔"/>
            </a:pPr>
            <a:r>
              <a:rPr lang="en-US" sz="1300" dirty="0">
                <a:solidFill>
                  <a:srgbClr val="262626"/>
                </a:solidFill>
                <a:latin typeface="Arial"/>
                <a:ea typeface="Arial"/>
                <a:cs typeface="Arial"/>
                <a:sym typeface="Arial"/>
              </a:rPr>
              <a:t>K</a:t>
            </a:r>
            <a:r>
              <a:rPr lang="vi-VN" sz="1300" dirty="0">
                <a:solidFill>
                  <a:srgbClr val="262626"/>
                </a:solidFill>
                <a:latin typeface="Arial"/>
                <a:ea typeface="Arial"/>
                <a:cs typeface="Arial"/>
                <a:sym typeface="Arial"/>
              </a:rPr>
              <a:t>hái niệm và vai trò của server IoT (kết nối vạn vật), hiểu cơ chế trao đổi dữ liệu Publish/Subscribe qua MQTT, biết tạo và quản lý tài khoản, kênh dữ liệu (feed) và dashboard trên Adafruit IO, sử dụng thư viện lập trình MQTT, và hiện thực chương trình gửi – nhận dữ liệu giữa thiết bị và server trong một ứng dụng IoT thực tế</a:t>
            </a:r>
            <a:r>
              <a:rPr lang="en-US" sz="1300" dirty="0">
                <a:solidFill>
                  <a:srgbClr val="262626"/>
                </a:solidFill>
                <a:latin typeface="Arial"/>
                <a:ea typeface="Arial"/>
                <a:cs typeface="Arial"/>
                <a:sym typeface="Arial"/>
              </a:rPr>
              <a:t>.</a:t>
            </a:r>
            <a:endParaRPr dirty="0"/>
          </a:p>
        </p:txBody>
      </p:sp>
      <p:grpSp>
        <p:nvGrpSpPr>
          <p:cNvPr id="164" name="Google Shape;164;p3"/>
          <p:cNvGrpSpPr/>
          <p:nvPr/>
        </p:nvGrpSpPr>
        <p:grpSpPr>
          <a:xfrm>
            <a:off x="441605" y="1288351"/>
            <a:ext cx="8899428" cy="233692"/>
            <a:chOff x="441747" y="1714333"/>
            <a:chExt cx="8902281" cy="233767"/>
          </a:xfrm>
        </p:grpSpPr>
        <p:sp>
          <p:nvSpPr>
            <p:cNvPr id="165" name="Google Shape;165;p3"/>
            <p:cNvSpPr/>
            <p:nvPr/>
          </p:nvSpPr>
          <p:spPr>
            <a:xfrm>
              <a:off x="711203" y="1723495"/>
              <a:ext cx="86328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a:solidFill>
                    <a:srgbClr val="262626"/>
                  </a:solidFill>
                  <a:latin typeface="Arial"/>
                  <a:ea typeface="Arial"/>
                  <a:cs typeface="Arial"/>
                  <a:sym typeface="Arial"/>
                </a:rPr>
                <a:t>Mục tiêu của chương</a:t>
              </a:r>
              <a:endParaRPr sz="1400">
                <a:solidFill>
                  <a:srgbClr val="262626"/>
                </a:solidFill>
                <a:latin typeface="Arial"/>
                <a:ea typeface="Arial"/>
                <a:cs typeface="Arial"/>
                <a:sym typeface="Arial"/>
              </a:endParaRPr>
            </a:p>
          </p:txBody>
        </p:sp>
        <p:sp>
          <p:nvSpPr>
            <p:cNvPr id="166" name="Google Shape;166;p3"/>
            <p:cNvSpPr/>
            <p:nvPr/>
          </p:nvSpPr>
          <p:spPr>
            <a:xfrm>
              <a:off x="441747" y="1714333"/>
              <a:ext cx="216000" cy="233767"/>
            </a:xfrm>
            <a:custGeom>
              <a:avLst/>
              <a:gdLst/>
              <a:ahLst/>
              <a:cxnLst/>
              <a:rect l="l" t="t" r="r" b="b"/>
              <a:pathLst>
                <a:path w="21600" h="21251" extrusionOk="0">
                  <a:moveTo>
                    <a:pt x="0" y="7472"/>
                  </a:moveTo>
                  <a:cubicBezTo>
                    <a:pt x="0" y="6079"/>
                    <a:pt x="1085" y="4368"/>
                    <a:pt x="2412" y="3670"/>
                  </a:cubicBezTo>
                  <a:lnTo>
                    <a:pt x="8389" y="523"/>
                  </a:lnTo>
                  <a:cubicBezTo>
                    <a:pt x="9715" y="-175"/>
                    <a:pt x="11885" y="-175"/>
                    <a:pt x="13211" y="523"/>
                  </a:cubicBezTo>
                  <a:lnTo>
                    <a:pt x="19188" y="3670"/>
                  </a:lnTo>
                  <a:cubicBezTo>
                    <a:pt x="20515" y="4368"/>
                    <a:pt x="21600" y="6079"/>
                    <a:pt x="21600" y="7472"/>
                  </a:cubicBezTo>
                  <a:lnTo>
                    <a:pt x="21600" y="13778"/>
                  </a:lnTo>
                  <a:cubicBezTo>
                    <a:pt x="21600" y="15171"/>
                    <a:pt x="20515" y="16882"/>
                    <a:pt x="19188" y="17580"/>
                  </a:cubicBezTo>
                  <a:lnTo>
                    <a:pt x="13211" y="20727"/>
                  </a:lnTo>
                  <a:cubicBezTo>
                    <a:pt x="11885" y="21425"/>
                    <a:pt x="9715" y="21425"/>
                    <a:pt x="8389" y="20727"/>
                  </a:cubicBezTo>
                  <a:lnTo>
                    <a:pt x="2412" y="17580"/>
                  </a:lnTo>
                  <a:cubicBezTo>
                    <a:pt x="1085" y="16882"/>
                    <a:pt x="0" y="15171"/>
                    <a:pt x="0" y="13778"/>
                  </a:cubicBezTo>
                  <a:lnTo>
                    <a:pt x="0" y="7472"/>
                  </a:lnTo>
                  <a:close/>
                  <a:moveTo>
                    <a:pt x="0" y="7472"/>
                  </a:moveTo>
                </a:path>
              </a:pathLst>
            </a:custGeom>
            <a:solidFill>
              <a:srgbClr val="D8D8D8"/>
            </a:solidFill>
            <a:ln w="76200"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799">
                <a:solidFill>
                  <a:schemeClr val="dk1"/>
                </a:solidFill>
                <a:latin typeface="Malgun Gothic"/>
                <a:ea typeface="Malgun Gothic"/>
                <a:cs typeface="Malgun Gothic"/>
                <a:sym typeface="Malgun Gothic"/>
              </a:endParaRPr>
            </a:p>
          </p:txBody>
        </p:sp>
      </p:grpSp>
      <p:grpSp>
        <p:nvGrpSpPr>
          <p:cNvPr id="167" name="Google Shape;167;p3"/>
          <p:cNvGrpSpPr/>
          <p:nvPr/>
        </p:nvGrpSpPr>
        <p:grpSpPr>
          <a:xfrm>
            <a:off x="449856" y="2973773"/>
            <a:ext cx="8899428" cy="233692"/>
            <a:chOff x="441747" y="1714333"/>
            <a:chExt cx="8902281" cy="233767"/>
          </a:xfrm>
        </p:grpSpPr>
        <p:sp>
          <p:nvSpPr>
            <p:cNvPr id="168" name="Google Shape;168;p3"/>
            <p:cNvSpPr/>
            <p:nvPr/>
          </p:nvSpPr>
          <p:spPr>
            <a:xfrm>
              <a:off x="711203" y="1723495"/>
              <a:ext cx="86328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rgbClr val="262626"/>
                  </a:solidFill>
                  <a:latin typeface="Arial"/>
                  <a:ea typeface="Arial"/>
                  <a:cs typeface="Arial"/>
                  <a:sym typeface="Arial"/>
                </a:rPr>
                <a:t>Nội dung của chương</a:t>
              </a:r>
              <a:endParaRPr sz="1400" b="1">
                <a:solidFill>
                  <a:srgbClr val="262626"/>
                </a:solidFill>
                <a:latin typeface="Arial"/>
                <a:ea typeface="Arial"/>
                <a:cs typeface="Arial"/>
                <a:sym typeface="Arial"/>
              </a:endParaRPr>
            </a:p>
          </p:txBody>
        </p:sp>
        <p:sp>
          <p:nvSpPr>
            <p:cNvPr id="169" name="Google Shape;169;p3"/>
            <p:cNvSpPr/>
            <p:nvPr/>
          </p:nvSpPr>
          <p:spPr>
            <a:xfrm>
              <a:off x="441747" y="1714333"/>
              <a:ext cx="216000" cy="233767"/>
            </a:xfrm>
            <a:custGeom>
              <a:avLst/>
              <a:gdLst/>
              <a:ahLst/>
              <a:cxnLst/>
              <a:rect l="l" t="t" r="r" b="b"/>
              <a:pathLst>
                <a:path w="21600" h="21251" extrusionOk="0">
                  <a:moveTo>
                    <a:pt x="0" y="7472"/>
                  </a:moveTo>
                  <a:cubicBezTo>
                    <a:pt x="0" y="6079"/>
                    <a:pt x="1085" y="4368"/>
                    <a:pt x="2412" y="3670"/>
                  </a:cubicBezTo>
                  <a:lnTo>
                    <a:pt x="8389" y="523"/>
                  </a:lnTo>
                  <a:cubicBezTo>
                    <a:pt x="9715" y="-175"/>
                    <a:pt x="11885" y="-175"/>
                    <a:pt x="13211" y="523"/>
                  </a:cubicBezTo>
                  <a:lnTo>
                    <a:pt x="19188" y="3670"/>
                  </a:lnTo>
                  <a:cubicBezTo>
                    <a:pt x="20515" y="4368"/>
                    <a:pt x="21600" y="6079"/>
                    <a:pt x="21600" y="7472"/>
                  </a:cubicBezTo>
                  <a:lnTo>
                    <a:pt x="21600" y="13778"/>
                  </a:lnTo>
                  <a:cubicBezTo>
                    <a:pt x="21600" y="15171"/>
                    <a:pt x="20515" y="16882"/>
                    <a:pt x="19188" y="17580"/>
                  </a:cubicBezTo>
                  <a:lnTo>
                    <a:pt x="13211" y="20727"/>
                  </a:lnTo>
                  <a:cubicBezTo>
                    <a:pt x="11885" y="21425"/>
                    <a:pt x="9715" y="21425"/>
                    <a:pt x="8389" y="20727"/>
                  </a:cubicBezTo>
                  <a:lnTo>
                    <a:pt x="2412" y="17580"/>
                  </a:lnTo>
                  <a:cubicBezTo>
                    <a:pt x="1085" y="16882"/>
                    <a:pt x="0" y="15171"/>
                    <a:pt x="0" y="13778"/>
                  </a:cubicBezTo>
                  <a:lnTo>
                    <a:pt x="0" y="7472"/>
                  </a:lnTo>
                  <a:close/>
                  <a:moveTo>
                    <a:pt x="0" y="7472"/>
                  </a:moveTo>
                </a:path>
              </a:pathLst>
            </a:custGeom>
            <a:solidFill>
              <a:srgbClr val="D8D8D8"/>
            </a:solidFill>
            <a:ln w="76200"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799">
                <a:solidFill>
                  <a:schemeClr val="dk1"/>
                </a:solidFill>
                <a:latin typeface="Malgun Gothic"/>
                <a:ea typeface="Malgun Gothic"/>
                <a:cs typeface="Malgun Gothic"/>
                <a:sym typeface="Malgun Gothic"/>
              </a:endParaRPr>
            </a:p>
          </p:txBody>
        </p:sp>
      </p:grpSp>
      <p:sp>
        <p:nvSpPr>
          <p:cNvPr id="170" name="Google Shape;170;p3"/>
          <p:cNvSpPr/>
          <p:nvPr/>
        </p:nvSpPr>
        <p:spPr>
          <a:xfrm>
            <a:off x="710974" y="3278558"/>
            <a:ext cx="8630058" cy="1691095"/>
          </a:xfrm>
          <a:prstGeom prst="rect">
            <a:avLst/>
          </a:prstGeom>
          <a:noFill/>
          <a:ln w="19050" cap="flat" cmpd="sng">
            <a:solidFill>
              <a:srgbClr val="F2F2F2"/>
            </a:solidFill>
            <a:prstDash val="solid"/>
            <a:miter lim="800000"/>
            <a:headEnd type="none" w="sm" len="sm"/>
            <a:tailEnd type="none" w="sm" len="sm"/>
          </a:ln>
        </p:spPr>
        <p:txBody>
          <a:bodyPr spcFirstLastPara="1" wrap="square" lIns="143950" tIns="143950" rIns="143950" bIns="143950" anchor="t" anchorCtr="0">
            <a:spAutoFit/>
          </a:bodyPr>
          <a:lstStyle/>
          <a:p>
            <a:pPr marL="285664" lvl="0" indent="-285664">
              <a:buClr>
                <a:srgbClr val="A5A5A5"/>
              </a:buClr>
              <a:buSzPts val="1300"/>
              <a:buFont typeface="Noto Sans Symbols"/>
              <a:buChar char="✔"/>
            </a:pPr>
            <a:r>
              <a:rPr lang="vi-VN" sz="1300" dirty="0">
                <a:solidFill>
                  <a:srgbClr val="262626"/>
                </a:solidFill>
              </a:rPr>
              <a:t>Tổng quan về các </a:t>
            </a:r>
            <a:r>
              <a:rPr lang="en-US" sz="1300" dirty="0" err="1">
                <a:solidFill>
                  <a:srgbClr val="262626"/>
                </a:solidFill>
              </a:rPr>
              <a:t>nền</a:t>
            </a:r>
            <a:r>
              <a:rPr lang="en-US" sz="1300" dirty="0">
                <a:solidFill>
                  <a:srgbClr val="262626"/>
                </a:solidFill>
              </a:rPr>
              <a:t> </a:t>
            </a:r>
            <a:r>
              <a:rPr lang="en-US" sz="1300" dirty="0" err="1">
                <a:solidFill>
                  <a:srgbClr val="262626"/>
                </a:solidFill>
              </a:rPr>
              <a:t>tảng</a:t>
            </a:r>
            <a:r>
              <a:rPr lang="vi-VN" sz="1300" dirty="0">
                <a:solidFill>
                  <a:srgbClr val="262626"/>
                </a:solidFill>
              </a:rPr>
              <a:t> kết nối vạn vật </a:t>
            </a:r>
            <a:endParaRPr lang="en-US" sz="1300" dirty="0">
              <a:solidFill>
                <a:srgbClr val="262626"/>
              </a:solidFill>
            </a:endParaRPr>
          </a:p>
          <a:p>
            <a:pPr marL="285664" lvl="0" indent="-285664">
              <a:buClr>
                <a:srgbClr val="A5A5A5"/>
              </a:buClr>
              <a:buSzPts val="1300"/>
              <a:buFont typeface="Noto Sans Symbols"/>
              <a:buChar char="✔"/>
            </a:pPr>
            <a:r>
              <a:rPr lang="vi-VN" sz="1300" dirty="0">
                <a:solidFill>
                  <a:srgbClr val="262626"/>
                </a:solidFill>
              </a:rPr>
              <a:t>Cơ chế gửi dữ liệu Publish và nhận dữ liệu thông qua Subscribe </a:t>
            </a:r>
            <a:endParaRPr lang="en-US" sz="1300" dirty="0">
              <a:solidFill>
                <a:srgbClr val="262626"/>
              </a:solidFill>
            </a:endParaRPr>
          </a:p>
          <a:p>
            <a:pPr marL="285664" lvl="0" indent="-285664">
              <a:buClr>
                <a:srgbClr val="A5A5A5"/>
              </a:buClr>
              <a:buSzPts val="1300"/>
              <a:buFont typeface="Noto Sans Symbols"/>
              <a:buChar char="✔"/>
            </a:pPr>
            <a:r>
              <a:rPr lang="vi-VN" sz="1300" dirty="0">
                <a:solidFill>
                  <a:srgbClr val="262626"/>
                </a:solidFill>
              </a:rPr>
              <a:t>Tạo tài khoản trên Adafruit-IO </a:t>
            </a:r>
            <a:endParaRPr lang="en-US" sz="1300" dirty="0">
              <a:solidFill>
                <a:srgbClr val="262626"/>
              </a:solidFill>
            </a:endParaRPr>
          </a:p>
          <a:p>
            <a:pPr marL="285664" lvl="0" indent="-285664">
              <a:buClr>
                <a:srgbClr val="A5A5A5"/>
              </a:buClr>
              <a:buSzPts val="1300"/>
              <a:buFont typeface="Noto Sans Symbols"/>
              <a:buChar char="✔"/>
            </a:pPr>
            <a:r>
              <a:rPr lang="vi-VN" sz="1300" dirty="0">
                <a:solidFill>
                  <a:srgbClr val="262626"/>
                </a:solidFill>
              </a:rPr>
              <a:t>Quản lý kênh dữ liệu trên Adafruit-IO </a:t>
            </a:r>
            <a:endParaRPr lang="en-US" sz="1300" dirty="0">
              <a:solidFill>
                <a:srgbClr val="262626"/>
              </a:solidFill>
            </a:endParaRPr>
          </a:p>
          <a:p>
            <a:pPr marL="285664" lvl="0" indent="-285664">
              <a:buClr>
                <a:srgbClr val="A5A5A5"/>
              </a:buClr>
              <a:buSzPts val="1300"/>
              <a:buFont typeface="Noto Sans Symbols"/>
              <a:buChar char="✔"/>
            </a:pPr>
            <a:r>
              <a:rPr lang="vi-VN" sz="1300" dirty="0">
                <a:solidFill>
                  <a:srgbClr val="262626"/>
                </a:solidFill>
              </a:rPr>
              <a:t>Tạo màn hình điều hành trên Adafruit IO </a:t>
            </a:r>
            <a:endParaRPr lang="en-US" sz="1300" dirty="0">
              <a:solidFill>
                <a:srgbClr val="262626"/>
              </a:solidFill>
            </a:endParaRPr>
          </a:p>
          <a:p>
            <a:pPr marL="285664" lvl="0" indent="-285664">
              <a:buClr>
                <a:srgbClr val="A5A5A5"/>
              </a:buClr>
              <a:buSzPts val="1300"/>
              <a:buFont typeface="Noto Sans Symbols"/>
              <a:buChar char="✔"/>
            </a:pPr>
            <a:r>
              <a:rPr lang="vi-VN" sz="1300" dirty="0">
                <a:solidFill>
                  <a:srgbClr val="262626"/>
                </a:solidFill>
              </a:rPr>
              <a:t>Thư viện lập trình cho kết nối MQTT </a:t>
            </a:r>
            <a:endParaRPr lang="en-US" sz="1300" dirty="0">
              <a:solidFill>
                <a:srgbClr val="262626"/>
              </a:solidFill>
            </a:endParaRPr>
          </a:p>
          <a:p>
            <a:pPr marL="285664" lvl="0" indent="-285664">
              <a:buClr>
                <a:srgbClr val="A5A5A5"/>
              </a:buClr>
              <a:buSzPts val="1300"/>
              <a:buFont typeface="Noto Sans Symbols"/>
              <a:buChar char="✔"/>
            </a:pPr>
            <a:r>
              <a:rPr lang="vi-VN" sz="1300" dirty="0">
                <a:solidFill>
                  <a:srgbClr val="262626"/>
                </a:solidFill>
              </a:rPr>
              <a:t>Hiện thực chương trình gửi và nhận dữ liệu với Server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4"/>
          <p:cNvSpPr/>
          <p:nvPr/>
        </p:nvSpPr>
        <p:spPr>
          <a:xfrm>
            <a:off x="918081" y="990736"/>
            <a:ext cx="8819923" cy="110799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chemeClr val="dk1"/>
                </a:solidFill>
              </a:rPr>
              <a:t>Tổng</a:t>
            </a:r>
            <a:r>
              <a:rPr lang="en-US" sz="3600" b="1" dirty="0">
                <a:solidFill>
                  <a:schemeClr val="dk1"/>
                </a:solidFill>
              </a:rPr>
              <a:t> </a:t>
            </a:r>
            <a:r>
              <a:rPr lang="en-US" sz="3600" b="1" dirty="0" err="1">
                <a:solidFill>
                  <a:schemeClr val="dk1"/>
                </a:solidFill>
              </a:rPr>
              <a:t>quan</a:t>
            </a:r>
            <a:r>
              <a:rPr lang="en-US" sz="3600" b="1" dirty="0">
                <a:solidFill>
                  <a:schemeClr val="dk1"/>
                </a:solidFill>
              </a:rPr>
              <a:t> </a:t>
            </a:r>
            <a:r>
              <a:rPr lang="en-US" sz="3600" b="1" dirty="0" err="1">
                <a:solidFill>
                  <a:schemeClr val="dk1"/>
                </a:solidFill>
              </a:rPr>
              <a:t>về</a:t>
            </a:r>
            <a:r>
              <a:rPr lang="en-US" sz="3600" b="1" dirty="0">
                <a:solidFill>
                  <a:schemeClr val="dk1"/>
                </a:solidFill>
              </a:rPr>
              <a:t> </a:t>
            </a:r>
            <a:r>
              <a:rPr lang="en-US" sz="3600" b="1" dirty="0" err="1">
                <a:solidFill>
                  <a:schemeClr val="dk1"/>
                </a:solidFill>
              </a:rPr>
              <a:t>các</a:t>
            </a:r>
            <a:r>
              <a:rPr lang="en-US" sz="3600" b="1" dirty="0">
                <a:solidFill>
                  <a:schemeClr val="dk1"/>
                </a:solidFill>
              </a:rPr>
              <a:t> </a:t>
            </a:r>
            <a:r>
              <a:rPr lang="en-US" sz="3600" b="1" dirty="0" err="1">
                <a:solidFill>
                  <a:schemeClr val="dk1"/>
                </a:solidFill>
              </a:rPr>
              <a:t>nền</a:t>
            </a:r>
            <a:r>
              <a:rPr lang="en-US" sz="3600" b="1" dirty="0">
                <a:solidFill>
                  <a:schemeClr val="dk1"/>
                </a:solidFill>
              </a:rPr>
              <a:t> </a:t>
            </a:r>
            <a:r>
              <a:rPr lang="en-US" sz="3600" b="1" dirty="0" err="1">
                <a:solidFill>
                  <a:schemeClr val="dk1"/>
                </a:solidFill>
              </a:rPr>
              <a:t>tảng</a:t>
            </a:r>
            <a:r>
              <a:rPr lang="en-US" sz="3600" b="1" dirty="0">
                <a:solidFill>
                  <a:schemeClr val="dk1"/>
                </a:solidFill>
              </a:rPr>
              <a:t> </a:t>
            </a:r>
            <a:r>
              <a:rPr lang="en-US" sz="3600" b="1" dirty="0" err="1">
                <a:solidFill>
                  <a:schemeClr val="dk1"/>
                </a:solidFill>
              </a:rPr>
              <a:t>kết</a:t>
            </a:r>
            <a:r>
              <a:rPr lang="en-US" sz="3600" b="1" dirty="0">
                <a:solidFill>
                  <a:schemeClr val="dk1"/>
                </a:solidFill>
              </a:rPr>
              <a:t> </a:t>
            </a:r>
            <a:r>
              <a:rPr lang="en-US" sz="3600" b="1" dirty="0" err="1">
                <a:solidFill>
                  <a:schemeClr val="dk1"/>
                </a:solidFill>
              </a:rPr>
              <a:t>nối</a:t>
            </a:r>
            <a:r>
              <a:rPr lang="en-US" sz="3600" b="1" dirty="0">
                <a:solidFill>
                  <a:schemeClr val="dk1"/>
                </a:solidFill>
              </a:rPr>
              <a:t> </a:t>
            </a:r>
            <a:r>
              <a:rPr lang="en-US" sz="3600" b="1" dirty="0" err="1">
                <a:solidFill>
                  <a:schemeClr val="dk1"/>
                </a:solidFill>
              </a:rPr>
              <a:t>vạn</a:t>
            </a:r>
            <a:r>
              <a:rPr lang="en-US" sz="3600" b="1" dirty="0">
                <a:solidFill>
                  <a:schemeClr val="dk1"/>
                </a:solidFill>
              </a:rPr>
              <a:t> </a:t>
            </a:r>
            <a:r>
              <a:rPr lang="en-US" sz="3600" b="1" dirty="0" err="1">
                <a:solidFill>
                  <a:schemeClr val="dk1"/>
                </a:solidFill>
              </a:rPr>
              <a:t>vật</a:t>
            </a:r>
            <a:r>
              <a:rPr lang="en-US" sz="3600" b="1" dirty="0">
                <a:solidFill>
                  <a:schemeClr val="dk1"/>
                </a:solidFill>
              </a:rPr>
              <a:t> </a:t>
            </a:r>
          </a:p>
        </p:txBody>
      </p:sp>
      <p:sp>
        <p:nvSpPr>
          <p:cNvPr id="177" name="Google Shape;177;p4"/>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1. </a:t>
            </a:r>
            <a:endParaRPr sz="5400" b="1" dirty="0">
              <a:solidFill>
                <a:srgbClr val="7F7F7F"/>
              </a:solidFill>
              <a:latin typeface="Arial"/>
              <a:ea typeface="Arial"/>
              <a:cs typeface="Arial"/>
              <a:sym typeface="Arial"/>
            </a:endParaRPr>
          </a:p>
        </p:txBody>
      </p:sp>
      <p:sp>
        <p:nvSpPr>
          <p:cNvPr id="178" name="Google Shape;178;p4"/>
          <p:cNvSpPr/>
          <p:nvPr/>
        </p:nvSpPr>
        <p:spPr>
          <a:xfrm>
            <a:off x="1000274" y="2318181"/>
            <a:ext cx="7671115" cy="1769715"/>
          </a:xfrm>
          <a:prstGeom prst="rect">
            <a:avLst/>
          </a:prstGeom>
          <a:noFill/>
          <a:ln>
            <a:noFill/>
          </a:ln>
        </p:spPr>
        <p:txBody>
          <a:bodyPr spcFirstLastPara="1" wrap="square" lIns="0" tIns="0" rIns="0" bIns="0" anchor="t" anchorCtr="0">
            <a:spAutoFit/>
          </a:bodyPr>
          <a:lstStyle/>
          <a:p>
            <a:pPr marL="176213" lvl="0" indent="-176213">
              <a:buClr>
                <a:srgbClr val="3F3F3F"/>
              </a:buClr>
              <a:buSzPts val="2160"/>
              <a:buFont typeface="Arial"/>
              <a:buChar char="•"/>
            </a:pPr>
            <a:r>
              <a:rPr lang="en-US" sz="1800" dirty="0">
                <a:solidFill>
                  <a:schemeClr val="tx1"/>
                </a:solidFill>
                <a:latin typeface="Arial"/>
                <a:ea typeface="Arial"/>
                <a:cs typeface="Arial"/>
                <a:sym typeface="Arial"/>
              </a:rPr>
              <a:t>1.1. </a:t>
            </a:r>
            <a:r>
              <a:rPr lang="en-US" sz="1800" dirty="0" err="1">
                <a:solidFill>
                  <a:schemeClr val="tx1"/>
                </a:solidFill>
              </a:rPr>
              <a:t>Thực</a:t>
            </a:r>
            <a:r>
              <a:rPr lang="en-US" sz="1800" dirty="0">
                <a:solidFill>
                  <a:schemeClr val="tx1"/>
                </a:solidFill>
              </a:rPr>
              <a:t> </a:t>
            </a:r>
            <a:r>
              <a:rPr lang="en-US" sz="1800" dirty="0" err="1">
                <a:solidFill>
                  <a:schemeClr val="tx1"/>
                </a:solidFill>
              </a:rPr>
              <a:t>trạng</a:t>
            </a:r>
            <a:r>
              <a:rPr lang="en-US" sz="1800" dirty="0">
                <a:solidFill>
                  <a:schemeClr val="tx1"/>
                </a:solidFill>
              </a:rPr>
              <a:t> </a:t>
            </a:r>
            <a:r>
              <a:rPr lang="en-US" sz="1800" dirty="0" err="1">
                <a:solidFill>
                  <a:schemeClr val="tx1"/>
                </a:solidFill>
              </a:rPr>
              <a:t>và</a:t>
            </a:r>
            <a:r>
              <a:rPr lang="en-US" sz="1800" dirty="0">
                <a:solidFill>
                  <a:schemeClr val="tx1"/>
                </a:solidFill>
              </a:rPr>
              <a:t> </a:t>
            </a:r>
            <a:r>
              <a:rPr lang="en-US" sz="1800" dirty="0" err="1">
                <a:solidFill>
                  <a:schemeClr val="tx1"/>
                </a:solidFill>
              </a:rPr>
              <a:t>hạn</a:t>
            </a:r>
            <a:r>
              <a:rPr lang="en-US" sz="1800" dirty="0">
                <a:solidFill>
                  <a:schemeClr val="tx1"/>
                </a:solidFill>
              </a:rPr>
              <a:t> </a:t>
            </a:r>
            <a:r>
              <a:rPr lang="en-US" sz="1800" dirty="0" err="1">
                <a:solidFill>
                  <a:schemeClr val="tx1"/>
                </a:solidFill>
              </a:rPr>
              <a:t>chế</a:t>
            </a:r>
            <a:r>
              <a:rPr lang="en-US" sz="1800" dirty="0">
                <a:solidFill>
                  <a:schemeClr val="tx1"/>
                </a:solidFill>
              </a:rPr>
              <a:t> </a:t>
            </a:r>
            <a:r>
              <a:rPr lang="en-US" sz="1800" dirty="0" err="1">
                <a:solidFill>
                  <a:schemeClr val="tx1"/>
                </a:solidFill>
              </a:rPr>
              <a:t>của</a:t>
            </a:r>
            <a:r>
              <a:rPr lang="en-US" sz="1800" dirty="0">
                <a:solidFill>
                  <a:schemeClr val="tx1"/>
                </a:solidFill>
              </a:rPr>
              <a:t> </a:t>
            </a:r>
            <a:r>
              <a:rPr lang="en-US" sz="1800" dirty="0" err="1">
                <a:solidFill>
                  <a:schemeClr val="tx1"/>
                </a:solidFill>
              </a:rPr>
              <a:t>hệ</a:t>
            </a:r>
            <a:r>
              <a:rPr lang="en-US" sz="1800" dirty="0">
                <a:solidFill>
                  <a:schemeClr val="tx1"/>
                </a:solidFill>
              </a:rPr>
              <a:t> </a:t>
            </a:r>
            <a:r>
              <a:rPr lang="en-US" sz="1800" dirty="0" err="1">
                <a:solidFill>
                  <a:schemeClr val="tx1"/>
                </a:solidFill>
              </a:rPr>
              <a:t>thống</a:t>
            </a:r>
            <a:r>
              <a:rPr lang="en-US" sz="1800" dirty="0">
                <a:solidFill>
                  <a:schemeClr val="tx1"/>
                </a:solidFill>
              </a:rPr>
              <a:t> </a:t>
            </a:r>
            <a:r>
              <a:rPr lang="en-US" sz="1800" dirty="0" err="1">
                <a:solidFill>
                  <a:schemeClr val="tx1"/>
                </a:solidFill>
              </a:rPr>
              <a:t>giám</a:t>
            </a:r>
            <a:r>
              <a:rPr lang="en-US" sz="1800" dirty="0">
                <a:solidFill>
                  <a:schemeClr val="tx1"/>
                </a:solidFill>
              </a:rPr>
              <a:t> </a:t>
            </a:r>
            <a:r>
              <a:rPr lang="en-US" sz="1800" dirty="0" err="1">
                <a:solidFill>
                  <a:schemeClr val="tx1"/>
                </a:solidFill>
              </a:rPr>
              <a:t>sát</a:t>
            </a:r>
            <a:r>
              <a:rPr lang="en-US" sz="1800" dirty="0">
                <a:solidFill>
                  <a:schemeClr val="tx1"/>
                </a:solidFill>
              </a:rPr>
              <a:t> </a:t>
            </a:r>
            <a:r>
              <a:rPr lang="en-US" sz="1800" dirty="0" err="1">
                <a:solidFill>
                  <a:schemeClr val="tx1"/>
                </a:solidFill>
              </a:rPr>
              <a:t>truyền</a:t>
            </a:r>
            <a:r>
              <a:rPr lang="en-US" sz="1800" dirty="0">
                <a:solidFill>
                  <a:schemeClr val="tx1"/>
                </a:solidFill>
              </a:rPr>
              <a:t> </a:t>
            </a:r>
            <a:r>
              <a:rPr lang="en-US" sz="1800" dirty="0" err="1">
                <a:solidFill>
                  <a:schemeClr val="tx1"/>
                </a:solidFill>
              </a:rPr>
              <a:t>thống</a:t>
            </a:r>
            <a:r>
              <a:rPr lang="en-US" sz="1800" dirty="0">
                <a:solidFill>
                  <a:schemeClr val="tx1"/>
                </a:solidFill>
              </a:rPr>
              <a:t>, </a:t>
            </a:r>
            <a:r>
              <a:rPr lang="en-US" sz="1800" dirty="0" err="1">
                <a:solidFill>
                  <a:schemeClr val="tx1"/>
                </a:solidFill>
              </a:rPr>
              <a:t>nhu</a:t>
            </a:r>
            <a:r>
              <a:rPr lang="en-US" sz="1800" dirty="0">
                <a:solidFill>
                  <a:schemeClr val="tx1"/>
                </a:solidFill>
              </a:rPr>
              <a:t> </a:t>
            </a:r>
            <a:r>
              <a:rPr lang="en-US" sz="1800" dirty="0" err="1">
                <a:solidFill>
                  <a:schemeClr val="tx1"/>
                </a:solidFill>
              </a:rPr>
              <a:t>cầu</a:t>
            </a:r>
            <a:r>
              <a:rPr lang="en-US" sz="1800" dirty="0">
                <a:solidFill>
                  <a:schemeClr val="tx1"/>
                </a:solidFill>
              </a:rPr>
              <a:t> </a:t>
            </a:r>
            <a:r>
              <a:rPr lang="en-US" sz="1800" dirty="0" err="1">
                <a:solidFill>
                  <a:schemeClr val="tx1"/>
                </a:solidFill>
              </a:rPr>
              <a:t>về</a:t>
            </a:r>
            <a:r>
              <a:rPr lang="en-US" sz="1800" dirty="0">
                <a:solidFill>
                  <a:schemeClr val="tx1"/>
                </a:solidFill>
              </a:rPr>
              <a:t> IOT platform </a:t>
            </a:r>
            <a:r>
              <a:rPr lang="en-US" sz="1800" dirty="0" err="1">
                <a:solidFill>
                  <a:schemeClr val="tx1"/>
                </a:solidFill>
              </a:rPr>
              <a:t>tổng</a:t>
            </a:r>
            <a:r>
              <a:rPr lang="en-US" sz="1800" dirty="0">
                <a:solidFill>
                  <a:schemeClr val="tx1"/>
                </a:solidFill>
              </a:rPr>
              <a:t> </a:t>
            </a:r>
            <a:r>
              <a:rPr lang="en-US" sz="1800" dirty="0" err="1">
                <a:solidFill>
                  <a:schemeClr val="tx1"/>
                </a:solidFill>
              </a:rPr>
              <a:t>quát</a:t>
            </a:r>
            <a:r>
              <a:rPr lang="en-US" sz="1800" dirty="0">
                <a:solidFill>
                  <a:schemeClr val="tx1"/>
                </a:solidFill>
              </a:rPr>
              <a:t> </a:t>
            </a:r>
            <a:r>
              <a:rPr lang="en-US" sz="1800" dirty="0" err="1">
                <a:solidFill>
                  <a:schemeClr val="tx1"/>
                </a:solidFill>
              </a:rPr>
              <a:t>và</a:t>
            </a:r>
            <a:r>
              <a:rPr lang="en-US" sz="1800" dirty="0">
                <a:solidFill>
                  <a:schemeClr val="tx1"/>
                </a:solidFill>
              </a:rPr>
              <a:t> </a:t>
            </a:r>
            <a:r>
              <a:rPr lang="en-US" sz="1800" dirty="0" err="1">
                <a:solidFill>
                  <a:schemeClr val="tx1"/>
                </a:solidFill>
              </a:rPr>
              <a:t>linh</a:t>
            </a:r>
            <a:r>
              <a:rPr lang="en-US" sz="1800" dirty="0">
                <a:solidFill>
                  <a:schemeClr val="tx1"/>
                </a:solidFill>
              </a:rPr>
              <a:t> </a:t>
            </a:r>
            <a:r>
              <a:rPr lang="en-US" sz="1800" dirty="0" err="1">
                <a:solidFill>
                  <a:schemeClr val="tx1"/>
                </a:solidFill>
              </a:rPr>
              <a:t>hoạt</a:t>
            </a:r>
            <a:endParaRPr dirty="0">
              <a:solidFill>
                <a:schemeClr val="tx1"/>
              </a:solidFill>
            </a:endParaRPr>
          </a:p>
          <a:p>
            <a:pPr marL="176213" marR="0" lvl="0" indent="-176213" algn="l" rtl="0">
              <a:spcBef>
                <a:spcPts val="1000"/>
              </a:spcBef>
              <a:spcAft>
                <a:spcPts val="0"/>
              </a:spcAft>
              <a:buClr>
                <a:srgbClr val="A6A6A6"/>
              </a:buClr>
              <a:buSzPts val="2160"/>
              <a:buFont typeface="Arial"/>
              <a:buChar char="•"/>
            </a:pPr>
            <a:r>
              <a:rPr lang="en-US" sz="1800" dirty="0">
                <a:solidFill>
                  <a:schemeClr val="bg1">
                    <a:lumMod val="75000"/>
                  </a:schemeClr>
                </a:solidFill>
                <a:latin typeface="Arial"/>
                <a:ea typeface="Arial"/>
                <a:cs typeface="Arial"/>
                <a:sym typeface="Arial"/>
              </a:rPr>
              <a:t>1.2. </a:t>
            </a:r>
            <a:r>
              <a:rPr lang="en-US" sz="1800" dirty="0" err="1">
                <a:solidFill>
                  <a:schemeClr val="bg1">
                    <a:lumMod val="75000"/>
                  </a:schemeClr>
                </a:solidFill>
              </a:rPr>
              <a:t>Kiến</a:t>
            </a:r>
            <a:r>
              <a:rPr lang="en-US" sz="1800" dirty="0">
                <a:solidFill>
                  <a:schemeClr val="bg1">
                    <a:lumMod val="75000"/>
                  </a:schemeClr>
                </a:solidFill>
              </a:rPr>
              <a:t> </a:t>
            </a:r>
            <a:r>
              <a:rPr lang="en-US" sz="1800" dirty="0" err="1">
                <a:solidFill>
                  <a:schemeClr val="bg1">
                    <a:lumMod val="75000"/>
                  </a:schemeClr>
                </a:solidFill>
              </a:rPr>
              <a:t>trúc</a:t>
            </a:r>
            <a:r>
              <a:rPr lang="en-US" sz="1800" dirty="0">
                <a:solidFill>
                  <a:schemeClr val="bg1">
                    <a:lumMod val="75000"/>
                  </a:schemeClr>
                </a:solidFill>
              </a:rPr>
              <a:t> </a:t>
            </a:r>
            <a:r>
              <a:rPr lang="en-US" sz="1800" dirty="0" err="1">
                <a:solidFill>
                  <a:schemeClr val="bg1">
                    <a:lumMod val="75000"/>
                  </a:schemeClr>
                </a:solidFill>
              </a:rPr>
              <a:t>và</a:t>
            </a:r>
            <a:r>
              <a:rPr lang="en-US" sz="1800" dirty="0">
                <a:solidFill>
                  <a:schemeClr val="bg1">
                    <a:lumMod val="75000"/>
                  </a:schemeClr>
                </a:solidFill>
              </a:rPr>
              <a:t> </a:t>
            </a:r>
            <a:r>
              <a:rPr lang="en-US" sz="1800" dirty="0" err="1">
                <a:solidFill>
                  <a:schemeClr val="bg1">
                    <a:lumMod val="75000"/>
                  </a:schemeClr>
                </a:solidFill>
              </a:rPr>
              <a:t>kĩ</a:t>
            </a:r>
            <a:r>
              <a:rPr lang="en-US" sz="1800" dirty="0">
                <a:solidFill>
                  <a:schemeClr val="bg1">
                    <a:lumMod val="75000"/>
                  </a:schemeClr>
                </a:solidFill>
              </a:rPr>
              <a:t> </a:t>
            </a:r>
            <a:r>
              <a:rPr lang="en-US" sz="1800" dirty="0" err="1">
                <a:solidFill>
                  <a:schemeClr val="bg1">
                    <a:lumMod val="75000"/>
                  </a:schemeClr>
                </a:solidFill>
              </a:rPr>
              <a:t>thuật</a:t>
            </a:r>
            <a:r>
              <a:rPr lang="en-US" sz="1800" dirty="0">
                <a:solidFill>
                  <a:schemeClr val="bg1">
                    <a:lumMod val="75000"/>
                  </a:schemeClr>
                </a:solidFill>
              </a:rPr>
              <a:t> </a:t>
            </a:r>
            <a:r>
              <a:rPr lang="en-US" sz="1800" dirty="0" err="1">
                <a:solidFill>
                  <a:schemeClr val="bg1">
                    <a:lumMod val="75000"/>
                  </a:schemeClr>
                </a:solidFill>
              </a:rPr>
              <a:t>các</a:t>
            </a:r>
            <a:r>
              <a:rPr lang="en-US" sz="1800" dirty="0">
                <a:solidFill>
                  <a:schemeClr val="bg1">
                    <a:lumMod val="75000"/>
                  </a:schemeClr>
                </a:solidFill>
              </a:rPr>
              <a:t> </a:t>
            </a:r>
            <a:r>
              <a:rPr lang="en-US" sz="1800" dirty="0" err="1">
                <a:solidFill>
                  <a:schemeClr val="bg1">
                    <a:lumMod val="75000"/>
                  </a:schemeClr>
                </a:solidFill>
              </a:rPr>
              <a:t>nền</a:t>
            </a:r>
            <a:r>
              <a:rPr lang="en-US" sz="1800" dirty="0">
                <a:solidFill>
                  <a:schemeClr val="bg1">
                    <a:lumMod val="75000"/>
                  </a:schemeClr>
                </a:solidFill>
              </a:rPr>
              <a:t> </a:t>
            </a:r>
            <a:r>
              <a:rPr lang="en-US" sz="1800" dirty="0" err="1">
                <a:solidFill>
                  <a:schemeClr val="bg1">
                    <a:lumMod val="75000"/>
                  </a:schemeClr>
                </a:solidFill>
              </a:rPr>
              <a:t>tảng</a:t>
            </a:r>
            <a:r>
              <a:rPr lang="en-US" sz="1800" dirty="0">
                <a:solidFill>
                  <a:schemeClr val="bg1">
                    <a:lumMod val="75000"/>
                  </a:schemeClr>
                </a:solidFill>
              </a:rPr>
              <a:t> IOT</a:t>
            </a:r>
          </a:p>
          <a:p>
            <a:pPr marL="176213" marR="0" lvl="0" indent="-176213" algn="l" rtl="0">
              <a:spcBef>
                <a:spcPts val="1000"/>
              </a:spcBef>
              <a:spcAft>
                <a:spcPts val="0"/>
              </a:spcAft>
              <a:buClr>
                <a:srgbClr val="A6A6A6"/>
              </a:buClr>
              <a:buSzPts val="2160"/>
              <a:buFont typeface="Arial"/>
              <a:buChar char="•"/>
            </a:pPr>
            <a:r>
              <a:rPr lang="en-US" sz="1800" dirty="0">
                <a:solidFill>
                  <a:schemeClr val="bg1">
                    <a:lumMod val="75000"/>
                  </a:schemeClr>
                </a:solidFill>
                <a:latin typeface="Arial"/>
                <a:ea typeface="Arial"/>
                <a:cs typeface="Arial"/>
                <a:sym typeface="Arial"/>
              </a:rPr>
              <a:t>1.3 Các </a:t>
            </a:r>
            <a:r>
              <a:rPr lang="en-US" sz="1800" dirty="0" err="1">
                <a:solidFill>
                  <a:schemeClr val="bg1">
                    <a:lumMod val="75000"/>
                  </a:schemeClr>
                </a:solidFill>
                <a:latin typeface="Arial"/>
                <a:ea typeface="Arial"/>
                <a:cs typeface="Arial"/>
                <a:sym typeface="Arial"/>
              </a:rPr>
              <a:t>nền</a:t>
            </a:r>
            <a:r>
              <a:rPr lang="en-US" sz="1800" dirty="0">
                <a:solidFill>
                  <a:schemeClr val="bg1">
                    <a:lumMod val="75000"/>
                  </a:schemeClr>
                </a:solidFill>
                <a:latin typeface="Arial"/>
                <a:ea typeface="Arial"/>
                <a:cs typeface="Arial"/>
                <a:sym typeface="Arial"/>
              </a:rPr>
              <a:t> </a:t>
            </a:r>
            <a:r>
              <a:rPr lang="en-US" sz="1800" dirty="0" err="1">
                <a:solidFill>
                  <a:schemeClr val="bg1">
                    <a:lumMod val="75000"/>
                  </a:schemeClr>
                </a:solidFill>
                <a:latin typeface="Arial"/>
                <a:ea typeface="Arial"/>
                <a:cs typeface="Arial"/>
                <a:sym typeface="Arial"/>
              </a:rPr>
              <a:t>tảng</a:t>
            </a:r>
            <a:r>
              <a:rPr lang="en-US" sz="1800" dirty="0">
                <a:solidFill>
                  <a:schemeClr val="bg1">
                    <a:lumMod val="75000"/>
                  </a:schemeClr>
                </a:solidFill>
                <a:latin typeface="Arial"/>
                <a:ea typeface="Arial"/>
                <a:cs typeface="Arial"/>
                <a:sym typeface="Arial"/>
              </a:rPr>
              <a:t> IOT</a:t>
            </a:r>
          </a:p>
          <a:p>
            <a:pPr marL="176213" marR="0" lvl="0" indent="-176213" algn="l" rtl="0">
              <a:spcBef>
                <a:spcPts val="1000"/>
              </a:spcBef>
              <a:spcAft>
                <a:spcPts val="0"/>
              </a:spcAft>
              <a:buClr>
                <a:srgbClr val="A6A6A6"/>
              </a:buClr>
              <a:buSzPts val="2160"/>
              <a:buFont typeface="Arial"/>
              <a:buChar char="•"/>
            </a:pPr>
            <a:endParaRPr sz="1800" dirty="0">
              <a:solidFill>
                <a:srgbClr val="A6A6A6"/>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9384B45F-16AE-FC77-A5E3-7143AA6931A9}"/>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63BF7A95-369B-7A94-B2F3-0634E08C0ACD}"/>
              </a:ext>
            </a:extLst>
          </p:cNvPr>
          <p:cNvSpPr/>
          <p:nvPr/>
        </p:nvSpPr>
        <p:spPr>
          <a:xfrm>
            <a:off x="448919" y="346401"/>
            <a:ext cx="9004986" cy="95410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a:t>
            </a:r>
            <a:r>
              <a:rPr lang="en-US" sz="2400" b="1" dirty="0" err="1">
                <a:solidFill>
                  <a:srgbClr val="0C0C0C"/>
                </a:solidFill>
                <a:latin typeface="Arial"/>
                <a:ea typeface="Arial"/>
                <a:cs typeface="Arial"/>
                <a:sym typeface="Arial"/>
              </a:rPr>
              <a:t>Thực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trạng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hạn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chế</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của</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hệ</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giám</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truyền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nhu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cầu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về</a:t>
            </a:r>
            <a:r>
              <a:rPr lang="en-US" sz="2400" b="1" dirty="0">
                <a:solidFill>
                  <a:srgbClr val="0C0C0C"/>
                </a:solidFill>
                <a:latin typeface="Arial"/>
                <a:ea typeface="Arial"/>
                <a:cs typeface="Arial"/>
                <a:sym typeface="Arial"/>
              </a:rPr>
              <a:t> IOT platform </a:t>
            </a:r>
            <a:r>
              <a:rPr lang="en-US" sz="2400" b="1" dirty="0" err="1">
                <a:solidFill>
                  <a:srgbClr val="0C0C0C"/>
                </a:solidFill>
                <a:latin typeface="Arial"/>
                <a:ea typeface="Arial"/>
                <a:cs typeface="Arial"/>
                <a:sym typeface="Arial"/>
              </a:rPr>
              <a:t>tổng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quát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linh</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hoạt</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2B3CD076-8A84-F287-6ED8-74A5257610EE}"/>
              </a:ext>
            </a:extLst>
          </p:cNvPr>
          <p:cNvSpPr/>
          <p:nvPr/>
        </p:nvSpPr>
        <p:spPr>
          <a:xfrm>
            <a:off x="448919" y="1336196"/>
            <a:ext cx="9004986" cy="1615827"/>
          </a:xfrm>
          <a:prstGeom prst="rect">
            <a:avLst/>
          </a:prstGeom>
          <a:noFill/>
          <a:ln>
            <a:noFill/>
          </a:ln>
        </p:spPr>
        <p:txBody>
          <a:bodyPr spcFirstLastPara="1" wrap="square" lIns="0" tIns="0" rIns="0" bIns="0" anchor="t" anchorCtr="0">
            <a:spAutoFit/>
          </a:bodyPr>
          <a:lstStyle/>
          <a:p>
            <a:pPr>
              <a:lnSpc>
                <a:spcPct val="150000"/>
              </a:lnSpc>
            </a:pPr>
            <a:r>
              <a:rPr lang="vi-VN" dirty="0"/>
              <a:t>Trước đây, các tổ chức triển khai nhiều hệ thống giám sát riêng lẻ để phục vụ các nhu cầu khác nhau:</a:t>
            </a:r>
          </a:p>
          <a:p>
            <a:pPr marL="285750" indent="-285750">
              <a:lnSpc>
                <a:spcPct val="150000"/>
              </a:lnSpc>
              <a:buFont typeface="Arial" panose="020B0604020202020204" pitchFamily="34" charset="0"/>
              <a:buChar char="•"/>
            </a:pPr>
            <a:r>
              <a:rPr lang="vi-VN" dirty="0"/>
              <a:t>Hệ thống HVAC (Heating, Ventilation, and Air Conditioning)</a:t>
            </a:r>
            <a:endParaRPr lang="en-US" dirty="0"/>
          </a:p>
          <a:p>
            <a:pPr marL="285750" indent="-285750">
              <a:lnSpc>
                <a:spcPct val="150000"/>
              </a:lnSpc>
              <a:buFont typeface="Arial" panose="020B0604020202020204" pitchFamily="34" charset="0"/>
              <a:buChar char="•"/>
            </a:pPr>
            <a:r>
              <a:rPr lang="vi-VN" dirty="0"/>
              <a:t>Phát hiện rò rỉ (khí, chất lỏng)</a:t>
            </a:r>
            <a:endParaRPr lang="en-US" dirty="0"/>
          </a:p>
          <a:p>
            <a:pPr marL="285750" indent="-285750">
              <a:lnSpc>
                <a:spcPct val="150000"/>
              </a:lnSpc>
              <a:buFont typeface="Arial" panose="020B0604020202020204" pitchFamily="34" charset="0"/>
              <a:buChar char="•"/>
            </a:pPr>
            <a:r>
              <a:rPr lang="vi-VN" dirty="0"/>
              <a:t>Giám sát hiện diện</a:t>
            </a:r>
            <a:endParaRPr lang="en-US" dirty="0"/>
          </a:p>
          <a:p>
            <a:pPr marL="285750" indent="-285750">
              <a:lnSpc>
                <a:spcPct val="150000"/>
              </a:lnSpc>
              <a:buFont typeface="Arial" panose="020B0604020202020204" pitchFamily="34" charset="0"/>
              <a:buChar char="•"/>
            </a:pPr>
            <a:r>
              <a:rPr lang="vi-VN" dirty="0"/>
              <a:t>Đo độ sáng</a:t>
            </a:r>
          </a:p>
        </p:txBody>
      </p:sp>
      <p:pic>
        <p:nvPicPr>
          <p:cNvPr id="6" name="Picture 5">
            <a:extLst>
              <a:ext uri="{FF2B5EF4-FFF2-40B4-BE49-F238E27FC236}">
                <a16:creationId xmlns:a16="http://schemas.microsoft.com/office/drawing/2014/main" id="{8EBC821E-4465-13AC-1CB3-36E17D5833B8}"/>
              </a:ext>
            </a:extLst>
          </p:cNvPr>
          <p:cNvPicPr>
            <a:picLocks noChangeAspect="1"/>
          </p:cNvPicPr>
          <p:nvPr/>
        </p:nvPicPr>
        <p:blipFill>
          <a:blip r:embed="rId3"/>
          <a:stretch>
            <a:fillRect/>
          </a:stretch>
        </p:blipFill>
        <p:spPr>
          <a:xfrm>
            <a:off x="5659780" y="3905978"/>
            <a:ext cx="3794125" cy="1997739"/>
          </a:xfrm>
          <a:prstGeom prst="rect">
            <a:avLst/>
          </a:prstGeom>
        </p:spPr>
      </p:pic>
      <p:pic>
        <p:nvPicPr>
          <p:cNvPr id="1034" name="Picture 10" descr="Hệ thống cảnh báo rò rỉ khí gas giá bao nhiêu? mua ở đâu giá rẻ">
            <a:extLst>
              <a:ext uri="{FF2B5EF4-FFF2-40B4-BE49-F238E27FC236}">
                <a16:creationId xmlns:a16="http://schemas.microsoft.com/office/drawing/2014/main" id="{D8C0AEC0-878B-93C8-929A-AF65071669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3099" y="1778089"/>
            <a:ext cx="3484563" cy="183188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ệ thống Giám sát Điện năng, Quản lý Điện năng từ xa 24/7">
            <a:extLst>
              <a:ext uri="{FF2B5EF4-FFF2-40B4-BE49-F238E27FC236}">
                <a16:creationId xmlns:a16="http://schemas.microsoft.com/office/drawing/2014/main" id="{AB3F3160-0EF2-302B-0539-AAA42882A5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919" y="3203154"/>
            <a:ext cx="4251048" cy="2952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0344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204A2A1-5BCF-5DC1-0266-C96218E33A99}"/>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43C4B54F-83D9-4853-9629-0E9A356F3172}"/>
              </a:ext>
            </a:extLst>
          </p:cNvPr>
          <p:cNvSpPr/>
          <p:nvPr/>
        </p:nvSpPr>
        <p:spPr>
          <a:xfrm>
            <a:off x="449998" y="1375101"/>
            <a:ext cx="9004986" cy="95410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a:t>
            </a:r>
            <a:r>
              <a:rPr lang="en-US" sz="2400" b="1" dirty="0" err="1">
                <a:solidFill>
                  <a:srgbClr val="0C0C0C"/>
                </a:solidFill>
                <a:latin typeface="Arial"/>
                <a:ea typeface="Arial"/>
                <a:cs typeface="Arial"/>
                <a:sym typeface="Arial"/>
              </a:rPr>
              <a:t>Thực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trạng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hạn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chế</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của</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hệ</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giám</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truyền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nhu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cầu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về</a:t>
            </a:r>
            <a:r>
              <a:rPr lang="en-US" sz="2400" b="1" dirty="0">
                <a:solidFill>
                  <a:srgbClr val="0C0C0C"/>
                </a:solidFill>
                <a:latin typeface="Arial"/>
                <a:ea typeface="Arial"/>
                <a:cs typeface="Arial"/>
                <a:sym typeface="Arial"/>
              </a:rPr>
              <a:t> IOT platform </a:t>
            </a:r>
            <a:r>
              <a:rPr lang="en-US" sz="2400" b="1" dirty="0" err="1">
                <a:solidFill>
                  <a:srgbClr val="0C0C0C"/>
                </a:solidFill>
                <a:latin typeface="Arial"/>
                <a:ea typeface="Arial"/>
                <a:cs typeface="Arial"/>
                <a:sym typeface="Arial"/>
              </a:rPr>
              <a:t>tổng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quát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linh</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hoạt</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37056E9B-C9EE-0687-1DD2-4E111CF4EC8B}"/>
              </a:ext>
            </a:extLst>
          </p:cNvPr>
          <p:cNvSpPr/>
          <p:nvPr/>
        </p:nvSpPr>
        <p:spPr>
          <a:xfrm>
            <a:off x="595628" y="2517296"/>
            <a:ext cx="9004986" cy="2262158"/>
          </a:xfrm>
          <a:prstGeom prst="rect">
            <a:avLst/>
          </a:prstGeom>
          <a:noFill/>
          <a:ln>
            <a:noFill/>
          </a:ln>
        </p:spPr>
        <p:txBody>
          <a:bodyPr spcFirstLastPara="1" wrap="square" lIns="0" tIns="0" rIns="0" bIns="0" anchor="t" anchorCtr="0">
            <a:spAutoFit/>
          </a:bodyPr>
          <a:lstStyle/>
          <a:p>
            <a:pPr>
              <a:lnSpc>
                <a:spcPct val="150000"/>
              </a:lnSpc>
            </a:pPr>
            <a:r>
              <a:rPr lang="vi-VN" dirty="0"/>
              <a:t>Các hệ thống này được triển khai theo thời gian, thiếu sự điều phối tổng thể, dẫn đến:</a:t>
            </a:r>
          </a:p>
          <a:p>
            <a:pPr marL="285750" indent="-285750">
              <a:lnSpc>
                <a:spcPct val="150000"/>
              </a:lnSpc>
              <a:buFont typeface="Arial" panose="020B0604020202020204" pitchFamily="34" charset="0"/>
              <a:buChar char="•"/>
            </a:pPr>
            <a:r>
              <a:rPr lang="vi-VN" dirty="0"/>
              <a:t>Phân tán quản lý giữa nhiều bộ phận</a:t>
            </a:r>
            <a:endParaRPr lang="en-US" dirty="0"/>
          </a:p>
          <a:p>
            <a:pPr marL="801688" lvl="1" indent="-174625">
              <a:lnSpc>
                <a:spcPct val="150000"/>
              </a:lnSpc>
              <a:buFont typeface="Arial" panose="020B0604020202020204" pitchFamily="34" charset="0"/>
              <a:buChar char="•"/>
            </a:pPr>
            <a:r>
              <a:rPr lang="en-US" dirty="0"/>
              <a:t>	</a:t>
            </a:r>
            <a:r>
              <a:rPr lang="vi-VN" dirty="0"/>
              <a:t>Phòng an toàn lao động</a:t>
            </a:r>
            <a:endParaRPr lang="en-US" dirty="0"/>
          </a:p>
          <a:p>
            <a:pPr marL="801688" lvl="1" indent="-174625">
              <a:lnSpc>
                <a:spcPct val="150000"/>
              </a:lnSpc>
              <a:buFont typeface="Arial" panose="020B0604020202020204" pitchFamily="34" charset="0"/>
              <a:buChar char="•"/>
            </a:pPr>
            <a:r>
              <a:rPr lang="en-US" dirty="0"/>
              <a:t>	</a:t>
            </a:r>
            <a:r>
              <a:rPr lang="vi-VN" dirty="0"/>
              <a:t>Bộ phận hạ tầng</a:t>
            </a:r>
            <a:endParaRPr lang="en-US" dirty="0"/>
          </a:p>
          <a:p>
            <a:pPr marL="801688" indent="-174625">
              <a:lnSpc>
                <a:spcPct val="150000"/>
              </a:lnSpc>
              <a:buFont typeface="Arial" panose="020B0604020202020204" pitchFamily="34" charset="0"/>
              <a:buChar char="•"/>
            </a:pPr>
            <a:r>
              <a:rPr lang="en-US" dirty="0"/>
              <a:t>	</a:t>
            </a:r>
            <a:r>
              <a:rPr lang="vi-VN" dirty="0"/>
              <a:t>Bộ phận CNTT</a:t>
            </a:r>
            <a:endParaRPr lang="en-US" dirty="0"/>
          </a:p>
          <a:p>
            <a:pPr marL="801688" lvl="1" indent="-174625">
              <a:lnSpc>
                <a:spcPct val="150000"/>
              </a:lnSpc>
              <a:buFont typeface="Arial" panose="020B0604020202020204" pitchFamily="34" charset="0"/>
              <a:buChar char="•"/>
            </a:pPr>
            <a:r>
              <a:rPr lang="en-US" dirty="0"/>
              <a:t>	</a:t>
            </a:r>
            <a:r>
              <a:rPr lang="vi-VN" dirty="0"/>
              <a:t>Bộ phận an ninh</a:t>
            </a:r>
            <a:endParaRPr lang="en-US" dirty="0"/>
          </a:p>
          <a:p>
            <a:pPr marL="801688" lvl="1" indent="-174625">
              <a:lnSpc>
                <a:spcPct val="150000"/>
              </a:lnSpc>
              <a:buFont typeface="Arial" panose="020B0604020202020204" pitchFamily="34" charset="0"/>
              <a:buChar char="•"/>
            </a:pPr>
            <a:endParaRPr lang="vi-VN" dirty="0"/>
          </a:p>
        </p:txBody>
      </p:sp>
      <p:sp>
        <p:nvSpPr>
          <p:cNvPr id="2" name="Google Shape;195;p5">
            <a:extLst>
              <a:ext uri="{FF2B5EF4-FFF2-40B4-BE49-F238E27FC236}">
                <a16:creationId xmlns:a16="http://schemas.microsoft.com/office/drawing/2014/main" id="{4B2F9298-0E75-A81C-1A84-7A396A89045B}"/>
              </a:ext>
            </a:extLst>
          </p:cNvPr>
          <p:cNvSpPr/>
          <p:nvPr/>
        </p:nvSpPr>
        <p:spPr>
          <a:xfrm>
            <a:off x="595628" y="4597556"/>
            <a:ext cx="9004986" cy="969496"/>
          </a:xfrm>
          <a:prstGeom prst="rect">
            <a:avLst/>
          </a:prstGeom>
          <a:noFill/>
          <a:ln>
            <a:noFill/>
          </a:ln>
        </p:spPr>
        <p:txBody>
          <a:bodyPr spcFirstLastPara="1" wrap="square" lIns="0" tIns="0" rIns="0" bIns="0" anchor="t" anchorCtr="0">
            <a:spAutoFit/>
          </a:bodyPr>
          <a:lstStyle/>
          <a:p>
            <a:pPr>
              <a:lnSpc>
                <a:spcPct val="150000"/>
              </a:lnSpc>
            </a:pPr>
            <a:r>
              <a:rPr lang="vi-VN" dirty="0"/>
              <a:t>Khi IoT bùng nổ, mức độ phân mảnh này càng gia tăng, tạo ra nhu cầu:</a:t>
            </a:r>
          </a:p>
          <a:p>
            <a:pPr>
              <a:lnSpc>
                <a:spcPct val="150000"/>
              </a:lnSpc>
            </a:pPr>
            <a:r>
              <a:rPr lang="vi-VN" dirty="0"/>
              <a:t>Một nền tảng trung tâm để điều phối và tích hợp các hệ thống khác nhau</a:t>
            </a:r>
            <a:br>
              <a:rPr lang="vi-VN" dirty="0"/>
            </a:br>
            <a:r>
              <a:rPr lang="vi-VN" dirty="0"/>
              <a:t>Hình thành khái niệm “Smart Environments” (thành phố thông minh, campus thông minh, nhà máy thông minh)</a:t>
            </a:r>
          </a:p>
        </p:txBody>
      </p:sp>
    </p:spTree>
    <p:extLst>
      <p:ext uri="{BB962C8B-B14F-4D97-AF65-F5344CB8AC3E}">
        <p14:creationId xmlns:p14="http://schemas.microsoft.com/office/powerpoint/2010/main" val="158365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78E3C7A7-C9D0-F567-F0A8-2DA8751EB9C3}"/>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E6A0594A-F54F-1775-32EE-77E2BFECE97C}"/>
              </a:ext>
            </a:extLst>
          </p:cNvPr>
          <p:cNvSpPr/>
          <p:nvPr/>
        </p:nvSpPr>
        <p:spPr>
          <a:xfrm>
            <a:off x="448919" y="116746"/>
            <a:ext cx="9004986" cy="95410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a:t>
            </a:r>
            <a:r>
              <a:rPr lang="en-US" sz="2400" b="1" dirty="0" err="1">
                <a:solidFill>
                  <a:srgbClr val="0C0C0C"/>
                </a:solidFill>
                <a:latin typeface="Arial"/>
                <a:ea typeface="Arial"/>
                <a:cs typeface="Arial"/>
                <a:sym typeface="Arial"/>
              </a:rPr>
              <a:t>Thực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trạng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hạn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chế</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của</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hệ</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giám</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truyền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nhu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cầu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về</a:t>
            </a:r>
            <a:r>
              <a:rPr lang="en-US" sz="2400" b="1" dirty="0">
                <a:solidFill>
                  <a:srgbClr val="0C0C0C"/>
                </a:solidFill>
                <a:latin typeface="Arial"/>
                <a:ea typeface="Arial"/>
                <a:cs typeface="Arial"/>
                <a:sym typeface="Arial"/>
              </a:rPr>
              <a:t> IOT platform </a:t>
            </a:r>
            <a:r>
              <a:rPr lang="en-US" sz="2400" b="1" dirty="0" err="1">
                <a:solidFill>
                  <a:srgbClr val="0C0C0C"/>
                </a:solidFill>
                <a:latin typeface="Arial"/>
                <a:ea typeface="Arial"/>
                <a:cs typeface="Arial"/>
                <a:sym typeface="Arial"/>
              </a:rPr>
              <a:t>tổng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quát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linh</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hoạt</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B7CB1DBA-84C1-81E0-4A4D-B2C512C0013E}"/>
              </a:ext>
            </a:extLst>
          </p:cNvPr>
          <p:cNvSpPr/>
          <p:nvPr/>
        </p:nvSpPr>
        <p:spPr>
          <a:xfrm>
            <a:off x="580388" y="896141"/>
            <a:ext cx="9004986" cy="2585323"/>
          </a:xfrm>
          <a:prstGeom prst="rect">
            <a:avLst/>
          </a:prstGeom>
          <a:noFill/>
          <a:ln>
            <a:noFill/>
          </a:ln>
        </p:spPr>
        <p:txBody>
          <a:bodyPr spcFirstLastPara="1" wrap="square" lIns="0" tIns="0" rIns="0" bIns="0" anchor="t" anchorCtr="0">
            <a:spAutoFit/>
          </a:bodyPr>
          <a:lstStyle/>
          <a:p>
            <a:pPr>
              <a:lnSpc>
                <a:spcPct val="150000"/>
              </a:lnSpc>
            </a:pPr>
            <a:r>
              <a:rPr lang="vi-VN" dirty="0"/>
              <a:t>Khái niệm môi trường thông minh thực chất đã tồn tại trong công nghiệp dưới tên:</a:t>
            </a:r>
            <a:r>
              <a:rPr lang="en-US" dirty="0"/>
              <a:t> </a:t>
            </a:r>
            <a:r>
              <a:rPr lang="vi-VN" dirty="0"/>
              <a:t>SCADA</a:t>
            </a:r>
          </a:p>
          <a:p>
            <a:pPr marL="285750" indent="-285750">
              <a:lnSpc>
                <a:spcPct val="150000"/>
              </a:lnSpc>
              <a:buFont typeface="Arial" panose="020B0604020202020204" pitchFamily="34" charset="0"/>
              <a:buChar char="•"/>
            </a:pPr>
            <a:r>
              <a:rPr lang="vi-VN" dirty="0"/>
              <a:t>Tuy nhiên, SCADA không phù hợp hoàn toàn với IoT hiện đại vì:</a:t>
            </a:r>
          </a:p>
          <a:p>
            <a:pPr marL="285750" indent="-285750">
              <a:lnSpc>
                <a:spcPct val="150000"/>
              </a:lnSpc>
              <a:buFont typeface="Arial" panose="020B0604020202020204" pitchFamily="34" charset="0"/>
              <a:buChar char="•"/>
            </a:pPr>
            <a:r>
              <a:rPr lang="vi-VN" dirty="0"/>
              <a:t>Thiết bị theo tiêu chuẩn rất cụ thể</a:t>
            </a:r>
            <a:endParaRPr lang="en-US" dirty="0"/>
          </a:p>
          <a:p>
            <a:pPr marL="285750" indent="-285750">
              <a:lnSpc>
                <a:spcPct val="150000"/>
              </a:lnSpc>
              <a:buFont typeface="Arial" panose="020B0604020202020204" pitchFamily="34" charset="0"/>
              <a:buChar char="•"/>
            </a:pPr>
            <a:r>
              <a:rPr lang="vi-VN" dirty="0"/>
              <a:t>Phạm vi nhà sản xuất hạn chế</a:t>
            </a:r>
            <a:endParaRPr lang="en-US" dirty="0"/>
          </a:p>
          <a:p>
            <a:pPr marL="285750" indent="-285750">
              <a:lnSpc>
                <a:spcPct val="150000"/>
              </a:lnSpc>
              <a:buFont typeface="Arial" panose="020B0604020202020204" pitchFamily="34" charset="0"/>
              <a:buChar char="•"/>
            </a:pPr>
            <a:r>
              <a:rPr lang="vi-VN" dirty="0"/>
              <a:t>Kiến trúc đóng</a:t>
            </a:r>
            <a:endParaRPr lang="en-US" dirty="0"/>
          </a:p>
          <a:p>
            <a:pPr marL="285750" indent="-285750">
              <a:lnSpc>
                <a:spcPct val="150000"/>
              </a:lnSpc>
              <a:buFont typeface="Arial" panose="020B0604020202020204" pitchFamily="34" charset="0"/>
              <a:buChar char="•"/>
            </a:pPr>
            <a:r>
              <a:rPr lang="vi-VN" dirty="0"/>
              <a:t>Thiếu cơ chế bảo mật </a:t>
            </a:r>
            <a:endParaRPr lang="en-US" dirty="0"/>
          </a:p>
          <a:p>
            <a:pPr marL="285750" indent="-285750">
              <a:lnSpc>
                <a:spcPct val="150000"/>
              </a:lnSpc>
              <a:buFont typeface="Arial" panose="020B0604020202020204" pitchFamily="34" charset="0"/>
              <a:buChar char="•"/>
            </a:pPr>
            <a:r>
              <a:rPr lang="en-US" dirty="0" err="1"/>
              <a:t>Thiếu</a:t>
            </a:r>
            <a:r>
              <a:rPr lang="en-US" dirty="0"/>
              <a:t> </a:t>
            </a:r>
            <a:r>
              <a:rPr lang="vi-VN" dirty="0"/>
              <a:t>đảm bảo tính bảo mật dữ liệu</a:t>
            </a:r>
            <a:endParaRPr lang="en-US" dirty="0"/>
          </a:p>
          <a:p>
            <a:pPr marL="285750" indent="-285750">
              <a:lnSpc>
                <a:spcPct val="150000"/>
              </a:lnSpc>
              <a:buFont typeface="Arial" panose="020B0604020202020204" pitchFamily="34" charset="0"/>
              <a:buChar char="•"/>
            </a:pPr>
            <a:endParaRPr lang="vi-VN" dirty="0"/>
          </a:p>
        </p:txBody>
      </p:sp>
      <p:sp>
        <p:nvSpPr>
          <p:cNvPr id="2" name="Google Shape;195;p5">
            <a:extLst>
              <a:ext uri="{FF2B5EF4-FFF2-40B4-BE49-F238E27FC236}">
                <a16:creationId xmlns:a16="http://schemas.microsoft.com/office/drawing/2014/main" id="{1C0E1F5B-6DA5-26B7-763E-40AE2197AA3E}"/>
              </a:ext>
            </a:extLst>
          </p:cNvPr>
          <p:cNvSpPr/>
          <p:nvPr/>
        </p:nvSpPr>
        <p:spPr>
          <a:xfrm>
            <a:off x="666113" y="4086147"/>
            <a:ext cx="9004986" cy="1615827"/>
          </a:xfrm>
          <a:prstGeom prst="rect">
            <a:avLst/>
          </a:prstGeom>
          <a:noFill/>
          <a:ln>
            <a:noFill/>
          </a:ln>
        </p:spPr>
        <p:txBody>
          <a:bodyPr spcFirstLastPara="1" wrap="square" lIns="0" tIns="0" rIns="0" bIns="0" anchor="t" anchorCtr="0">
            <a:spAutoFit/>
          </a:bodyPr>
          <a:lstStyle/>
          <a:p>
            <a:pPr>
              <a:lnSpc>
                <a:spcPct val="150000"/>
              </a:lnSpc>
            </a:pPr>
            <a:r>
              <a:rPr lang="vi-VN" dirty="0"/>
              <a:t>Trong khi đó, hệ sinh thái IoT có đặc điểm:</a:t>
            </a:r>
          </a:p>
          <a:p>
            <a:pPr marL="285750" indent="-285750">
              <a:lnSpc>
                <a:spcPct val="150000"/>
              </a:lnSpc>
              <a:buFont typeface="Arial" panose="020B0604020202020204" pitchFamily="34" charset="0"/>
              <a:buChar char="•"/>
            </a:pPr>
            <a:r>
              <a:rPr lang="vi-VN" dirty="0"/>
              <a:t>Số lượng nhà sản xuất rất lớn</a:t>
            </a:r>
            <a:endParaRPr lang="en-US" dirty="0"/>
          </a:p>
          <a:p>
            <a:pPr marL="285750" indent="-285750">
              <a:lnSpc>
                <a:spcPct val="150000"/>
              </a:lnSpc>
              <a:buFont typeface="Arial" panose="020B0604020202020204" pitchFamily="34" charset="0"/>
              <a:buChar char="•"/>
            </a:pPr>
            <a:r>
              <a:rPr lang="vi-VN" dirty="0"/>
              <a:t>Chuẩn giao thức đa dạng</a:t>
            </a:r>
            <a:endParaRPr lang="en-US" dirty="0"/>
          </a:p>
          <a:p>
            <a:pPr marL="285750" indent="-285750">
              <a:lnSpc>
                <a:spcPct val="150000"/>
              </a:lnSpc>
              <a:buFont typeface="Arial" panose="020B0604020202020204" pitchFamily="34" charset="0"/>
              <a:buChar char="•"/>
            </a:pPr>
            <a:r>
              <a:rPr lang="vi-VN" dirty="0"/>
              <a:t>Phạm vi ứng dụng rộng</a:t>
            </a:r>
            <a:endParaRPr lang="en-US" dirty="0"/>
          </a:p>
          <a:p>
            <a:pPr marL="285750" indent="-285750">
              <a:lnSpc>
                <a:spcPct val="150000"/>
              </a:lnSpc>
              <a:buFont typeface="Arial" panose="020B0604020202020204" pitchFamily="34" charset="0"/>
              <a:buChar char="•"/>
            </a:pPr>
            <a:r>
              <a:rPr lang="vi-VN" dirty="0"/>
              <a:t>Tính dị thể (heterogeneity) cao</a:t>
            </a:r>
          </a:p>
        </p:txBody>
      </p:sp>
      <p:pic>
        <p:nvPicPr>
          <p:cNvPr id="2050" name="Picture 2" descr="Tư vấn thiết kế và tích hợp Hệ thống điều khiển giám sát (SCADA) công nghiệp">
            <a:extLst>
              <a:ext uri="{FF2B5EF4-FFF2-40B4-BE49-F238E27FC236}">
                <a16:creationId xmlns:a16="http://schemas.microsoft.com/office/drawing/2014/main" id="{CDA5A038-E256-43D7-CD2F-4E87CAE7F5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6387" y="2003173"/>
            <a:ext cx="5226050" cy="3353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0965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0D1966B-4080-D833-C4AD-A836D3DB27EC}"/>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751AB6D5-DF39-358C-46EA-1E7C0E3CE376}"/>
              </a:ext>
            </a:extLst>
          </p:cNvPr>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rPr>
              <a:t> </a:t>
            </a:r>
            <a:r>
              <a:rPr lang="en-US" sz="2400" b="1" dirty="0" err="1">
                <a:solidFill>
                  <a:srgbClr val="0C0C0C"/>
                </a:solidFill>
                <a:latin typeface="Arial"/>
                <a:ea typeface="Arial"/>
                <a:cs typeface="Arial"/>
                <a:sym typeface="Arial"/>
              </a:rPr>
              <a:t>Hạn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chế</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của</a:t>
            </a:r>
            <a:r>
              <a:rPr lang="en-US" sz="2400" b="1" dirty="0">
                <a:solidFill>
                  <a:srgbClr val="0C0C0C"/>
                </a:solidFill>
                <a:latin typeface="Arial"/>
                <a:ea typeface="Arial"/>
                <a:cs typeface="Arial"/>
                <a:sym typeface="Arial"/>
              </a:rPr>
              <a:t> SCADA </a:t>
            </a:r>
            <a:r>
              <a:rPr lang="en-US" sz="2400" b="1" dirty="0" err="1">
                <a:solidFill>
                  <a:srgbClr val="0C0C0C"/>
                </a:solidFill>
                <a:latin typeface="Arial"/>
                <a:ea typeface="Arial"/>
                <a:cs typeface="Arial"/>
                <a:sym typeface="Arial"/>
              </a:rPr>
              <a:t>trong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bối</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cảnh</a:t>
            </a:r>
            <a:r>
              <a:rPr lang="en-US" sz="2400" b="1" dirty="0">
                <a:solidFill>
                  <a:srgbClr val="0C0C0C"/>
                </a:solidFill>
                <a:latin typeface="Arial"/>
                <a:ea typeface="Arial"/>
                <a:cs typeface="Arial"/>
                <a:sym typeface="Arial"/>
              </a:rPr>
              <a:t> IoT</a:t>
            </a:r>
            <a:endParaRPr dirty="0"/>
          </a:p>
        </p:txBody>
      </p:sp>
      <p:sp>
        <p:nvSpPr>
          <p:cNvPr id="195" name="Google Shape;195;p5">
            <a:extLst>
              <a:ext uri="{FF2B5EF4-FFF2-40B4-BE49-F238E27FC236}">
                <a16:creationId xmlns:a16="http://schemas.microsoft.com/office/drawing/2014/main" id="{5BA046EB-44C4-0875-8066-8D04568DFA68}"/>
              </a:ext>
            </a:extLst>
          </p:cNvPr>
          <p:cNvSpPr/>
          <p:nvPr/>
        </p:nvSpPr>
        <p:spPr>
          <a:xfrm>
            <a:off x="580388" y="1877216"/>
            <a:ext cx="4115437" cy="1615827"/>
          </a:xfrm>
          <a:prstGeom prst="rect">
            <a:avLst/>
          </a:prstGeom>
          <a:noFill/>
          <a:ln>
            <a:noFill/>
          </a:ln>
        </p:spPr>
        <p:txBody>
          <a:bodyPr spcFirstLastPara="1" wrap="square" lIns="0" tIns="0" rIns="0" bIns="0" anchor="t" anchorCtr="0">
            <a:spAutoFit/>
          </a:bodyPr>
          <a:lstStyle/>
          <a:p>
            <a:pPr>
              <a:lnSpc>
                <a:spcPct val="150000"/>
              </a:lnSpc>
            </a:pPr>
            <a:r>
              <a:rPr lang="vi-VN" dirty="0"/>
              <a:t>Do đó, IoT yêu cầu kiến trúc mở, đảm bảo:</a:t>
            </a:r>
          </a:p>
          <a:p>
            <a:pPr marL="285750" indent="-285750">
              <a:lnSpc>
                <a:spcPct val="150000"/>
              </a:lnSpc>
              <a:buFont typeface="Arial" panose="020B0604020202020204" pitchFamily="34" charset="0"/>
              <a:buChar char="•"/>
            </a:pPr>
            <a:r>
              <a:rPr lang="vi-VN" dirty="0"/>
              <a:t>Interoperability (khả năng tương tác)</a:t>
            </a:r>
            <a:endParaRPr lang="en-US" dirty="0"/>
          </a:p>
          <a:p>
            <a:pPr marL="285750" indent="-285750">
              <a:lnSpc>
                <a:spcPct val="150000"/>
              </a:lnSpc>
              <a:buFont typeface="Arial" panose="020B0604020202020204" pitchFamily="34" charset="0"/>
              <a:buChar char="•"/>
            </a:pPr>
            <a:r>
              <a:rPr lang="vi-VN" dirty="0"/>
              <a:t>Security (bảo mật)</a:t>
            </a:r>
            <a:endParaRPr lang="en-US" dirty="0"/>
          </a:p>
          <a:p>
            <a:pPr marL="285750" indent="-285750">
              <a:lnSpc>
                <a:spcPct val="150000"/>
              </a:lnSpc>
              <a:buFont typeface="Arial" panose="020B0604020202020204" pitchFamily="34" charset="0"/>
              <a:buChar char="•"/>
            </a:pPr>
            <a:r>
              <a:rPr lang="vi-VN" dirty="0"/>
              <a:t>Tránh lặp lại sai lầm của các hệ thống proprietary ban đầu</a:t>
            </a:r>
          </a:p>
        </p:txBody>
      </p:sp>
      <p:pic>
        <p:nvPicPr>
          <p:cNvPr id="3074" name="Picture 2" descr="Bảo mật cho kiến trúc IoT dựa trên điện toán biên">
            <a:extLst>
              <a:ext uri="{FF2B5EF4-FFF2-40B4-BE49-F238E27FC236}">
                <a16:creationId xmlns:a16="http://schemas.microsoft.com/office/drawing/2014/main" id="{946D26BB-5767-0D4A-D12E-E41A780BC0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7300" y="1910510"/>
            <a:ext cx="3570288" cy="3203058"/>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84;p5">
            <a:extLst>
              <a:ext uri="{FF2B5EF4-FFF2-40B4-BE49-F238E27FC236}">
                <a16:creationId xmlns:a16="http://schemas.microsoft.com/office/drawing/2014/main" id="{22FF626C-4579-2622-3010-2453AB2A0109}"/>
              </a:ext>
            </a:extLst>
          </p:cNvPr>
          <p:cNvSpPr/>
          <p:nvPr/>
        </p:nvSpPr>
        <p:spPr>
          <a:xfrm>
            <a:off x="448919" y="116746"/>
            <a:ext cx="9004986" cy="95410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a:t>
            </a:r>
            <a:r>
              <a:rPr lang="en-US" sz="2400" b="1" dirty="0" err="1">
                <a:solidFill>
                  <a:srgbClr val="0C0C0C"/>
                </a:solidFill>
                <a:latin typeface="Arial"/>
                <a:ea typeface="Arial"/>
                <a:cs typeface="Arial"/>
                <a:sym typeface="Arial"/>
              </a:rPr>
              <a:t>Thực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trạng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hạn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chế</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của</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hệ</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giám</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truyền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nhu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cầu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về</a:t>
            </a:r>
            <a:r>
              <a:rPr lang="en-US" sz="2400" b="1" dirty="0">
                <a:solidFill>
                  <a:srgbClr val="0C0C0C"/>
                </a:solidFill>
                <a:latin typeface="Arial"/>
                <a:ea typeface="Arial"/>
                <a:cs typeface="Arial"/>
                <a:sym typeface="Arial"/>
              </a:rPr>
              <a:t> IOT platform </a:t>
            </a:r>
            <a:r>
              <a:rPr lang="en-US" sz="2400" b="1" dirty="0" err="1">
                <a:solidFill>
                  <a:srgbClr val="0C0C0C"/>
                </a:solidFill>
                <a:latin typeface="Arial"/>
                <a:ea typeface="Arial"/>
                <a:cs typeface="Arial"/>
                <a:sym typeface="Arial"/>
              </a:rPr>
              <a:t>tổng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quát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linh</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hoạt</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Tree>
    <p:extLst>
      <p:ext uri="{BB962C8B-B14F-4D97-AF65-F5344CB8AC3E}">
        <p14:creationId xmlns:p14="http://schemas.microsoft.com/office/powerpoint/2010/main" val="2638622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116942F-6222-2A15-C9C1-1DF9A578796E}"/>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474BFC07-16ED-46E8-E6AA-0035BE6C485D}"/>
              </a:ext>
            </a:extLst>
          </p:cNvPr>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Hạn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chế</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của</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các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 SaaS </a:t>
            </a:r>
            <a:r>
              <a:rPr lang="en-US" sz="2400" b="1" dirty="0" err="1">
                <a:solidFill>
                  <a:srgbClr val="0C0C0C"/>
                </a:solidFill>
                <a:latin typeface="Arial"/>
                <a:ea typeface="Arial"/>
                <a:cs typeface="Arial"/>
                <a:sym typeface="Arial"/>
              </a:rPr>
              <a:t>độc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quyền</a:t>
            </a:r>
            <a:endParaRPr dirty="0"/>
          </a:p>
        </p:txBody>
      </p:sp>
      <p:sp>
        <p:nvSpPr>
          <p:cNvPr id="195" name="Google Shape;195;p5">
            <a:extLst>
              <a:ext uri="{FF2B5EF4-FFF2-40B4-BE49-F238E27FC236}">
                <a16:creationId xmlns:a16="http://schemas.microsoft.com/office/drawing/2014/main" id="{EB019817-3F81-7C7D-FB4C-40B9A6866CA5}"/>
              </a:ext>
            </a:extLst>
          </p:cNvPr>
          <p:cNvSpPr/>
          <p:nvPr/>
        </p:nvSpPr>
        <p:spPr>
          <a:xfrm>
            <a:off x="580388" y="1877216"/>
            <a:ext cx="4705987" cy="2908489"/>
          </a:xfrm>
          <a:prstGeom prst="rect">
            <a:avLst/>
          </a:prstGeom>
          <a:noFill/>
          <a:ln>
            <a:noFill/>
          </a:ln>
        </p:spPr>
        <p:txBody>
          <a:bodyPr spcFirstLastPara="1" wrap="square" lIns="0" tIns="0" rIns="0" bIns="0" anchor="t" anchorCtr="0">
            <a:spAutoFit/>
          </a:bodyPr>
          <a:lstStyle/>
          <a:p>
            <a:pPr>
              <a:lnSpc>
                <a:spcPct val="150000"/>
              </a:lnSpc>
            </a:pPr>
            <a:r>
              <a:rPr lang="vi-VN" dirty="0"/>
              <a:t>Gần đây, nhiều nhà sản xuất thiết bị cung cấp IoT platform theo mô hình SaaS:</a:t>
            </a:r>
            <a:endParaRPr lang="en-US" dirty="0"/>
          </a:p>
          <a:p>
            <a:pPr marL="285750" indent="-285750">
              <a:lnSpc>
                <a:spcPct val="150000"/>
              </a:lnSpc>
              <a:buFont typeface="Arial" panose="020B0604020202020204" pitchFamily="34" charset="0"/>
              <a:buChar char="•"/>
            </a:pPr>
            <a:r>
              <a:rPr lang="vi-VN" dirty="0"/>
              <a:t>Thiết bị → kết nối trực tiếp lên cloud riêng của nhà sản xuất</a:t>
            </a:r>
            <a:br>
              <a:rPr lang="vi-VN" dirty="0"/>
            </a:br>
            <a:r>
              <a:rPr lang="vi-VN" dirty="0"/>
              <a:t>Người dùng truy cập dữ liệu qua nền tảng đó</a:t>
            </a:r>
          </a:p>
          <a:p>
            <a:pPr>
              <a:lnSpc>
                <a:spcPct val="150000"/>
              </a:lnSpc>
            </a:pPr>
            <a:r>
              <a:rPr lang="vi-VN" dirty="0"/>
              <a:t>Tuy nhiên, các giải pháp này thường:</a:t>
            </a:r>
            <a:endParaRPr lang="en-US" dirty="0"/>
          </a:p>
          <a:p>
            <a:pPr marL="285750" indent="-285750">
              <a:lnSpc>
                <a:spcPct val="150000"/>
              </a:lnSpc>
              <a:buFont typeface="Arial" panose="020B0604020202020204" pitchFamily="34" charset="0"/>
              <a:buChar char="•"/>
            </a:pPr>
            <a:r>
              <a:rPr lang="vi-VN" dirty="0"/>
              <a:t>Proprietary (độc quyền)</a:t>
            </a:r>
            <a:br>
              <a:rPr lang="vi-VN" dirty="0"/>
            </a:br>
            <a:r>
              <a:rPr lang="vi-VN" dirty="0"/>
              <a:t>Closed architecture (kiến trúc đóng)</a:t>
            </a:r>
            <a:br>
              <a:rPr lang="vi-VN" dirty="0"/>
            </a:br>
            <a:r>
              <a:rPr lang="vi-VN" dirty="0"/>
              <a:t>Tăng mức độ phân tán hệ thống</a:t>
            </a:r>
          </a:p>
        </p:txBody>
      </p:sp>
      <p:pic>
        <p:nvPicPr>
          <p:cNvPr id="2" name="Picture 2" descr="SaaS &amp; IoT: All About This New Business Model">
            <a:extLst>
              <a:ext uri="{FF2B5EF4-FFF2-40B4-BE49-F238E27FC236}">
                <a16:creationId xmlns:a16="http://schemas.microsoft.com/office/drawing/2014/main" id="{7D1A7C72-6B14-CAD3-B2EB-24F8050DF1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9167"/>
          <a:stretch>
            <a:fillRect/>
          </a:stretch>
        </p:blipFill>
        <p:spPr bwMode="auto">
          <a:xfrm>
            <a:off x="5372099" y="1877216"/>
            <a:ext cx="4214813" cy="3439877"/>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184;p5">
            <a:extLst>
              <a:ext uri="{FF2B5EF4-FFF2-40B4-BE49-F238E27FC236}">
                <a16:creationId xmlns:a16="http://schemas.microsoft.com/office/drawing/2014/main" id="{4FE04E32-E380-ABC0-03E0-DCBD2E085A90}"/>
              </a:ext>
            </a:extLst>
          </p:cNvPr>
          <p:cNvSpPr/>
          <p:nvPr/>
        </p:nvSpPr>
        <p:spPr>
          <a:xfrm>
            <a:off x="448919" y="116746"/>
            <a:ext cx="9004986" cy="95410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a:t>
            </a:r>
            <a:r>
              <a:rPr lang="en-US" sz="2400" b="1" dirty="0" err="1">
                <a:solidFill>
                  <a:srgbClr val="0C0C0C"/>
                </a:solidFill>
                <a:latin typeface="Arial"/>
                <a:ea typeface="Arial"/>
                <a:cs typeface="Arial"/>
                <a:sym typeface="Arial"/>
              </a:rPr>
              <a:t>Thực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trạng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hạn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chế</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của</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hệ</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giám</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truyền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nhu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cầu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về</a:t>
            </a:r>
            <a:r>
              <a:rPr lang="en-US" sz="2400" b="1" dirty="0">
                <a:solidFill>
                  <a:srgbClr val="0C0C0C"/>
                </a:solidFill>
                <a:latin typeface="Arial"/>
                <a:ea typeface="Arial"/>
                <a:cs typeface="Arial"/>
                <a:sym typeface="Arial"/>
              </a:rPr>
              <a:t> IOT platform </a:t>
            </a:r>
            <a:r>
              <a:rPr lang="en-US" sz="2400" b="1" dirty="0" err="1">
                <a:solidFill>
                  <a:srgbClr val="0C0C0C"/>
                </a:solidFill>
                <a:latin typeface="Arial"/>
                <a:ea typeface="Arial"/>
                <a:cs typeface="Arial"/>
                <a:sym typeface="Arial"/>
              </a:rPr>
              <a:t>tổng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quát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linh</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hoạt</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Tree>
    <p:extLst>
      <p:ext uri="{BB962C8B-B14F-4D97-AF65-F5344CB8AC3E}">
        <p14:creationId xmlns:p14="http://schemas.microsoft.com/office/powerpoint/2010/main" val="3293257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01978A2F-B05B-822C-89F3-BD38C4689ADF}"/>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637515ED-2FED-2E54-EF8C-B95E6521903A}"/>
              </a:ext>
            </a:extLst>
          </p:cNvPr>
          <p:cNvSpPr/>
          <p:nvPr/>
        </p:nvSpPr>
        <p:spPr>
          <a:xfrm>
            <a:off x="448918" y="1361424"/>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err="1">
                <a:solidFill>
                  <a:srgbClr val="0C0C0C"/>
                </a:solidFill>
                <a:latin typeface="Arial"/>
                <a:ea typeface="Arial"/>
                <a:cs typeface="Arial"/>
                <a:sym typeface="Arial"/>
              </a:rPr>
              <a:t>Hạn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chế</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của</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các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 SaaS </a:t>
            </a:r>
            <a:r>
              <a:rPr lang="en-US" sz="2400" b="1" dirty="0" err="1">
                <a:solidFill>
                  <a:srgbClr val="0C0C0C"/>
                </a:solidFill>
                <a:latin typeface="Arial"/>
                <a:ea typeface="Arial"/>
                <a:cs typeface="Arial"/>
                <a:sym typeface="Arial"/>
              </a:rPr>
              <a:t>độc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quyền</a:t>
            </a:r>
            <a:endParaRPr dirty="0"/>
          </a:p>
        </p:txBody>
      </p:sp>
      <p:sp>
        <p:nvSpPr>
          <p:cNvPr id="195" name="Google Shape;195;p5">
            <a:extLst>
              <a:ext uri="{FF2B5EF4-FFF2-40B4-BE49-F238E27FC236}">
                <a16:creationId xmlns:a16="http://schemas.microsoft.com/office/drawing/2014/main" id="{CFE46A17-0663-A523-947B-4B7BD5F01378}"/>
              </a:ext>
            </a:extLst>
          </p:cNvPr>
          <p:cNvSpPr/>
          <p:nvPr/>
        </p:nvSpPr>
        <p:spPr>
          <a:xfrm>
            <a:off x="570863" y="1972466"/>
            <a:ext cx="4115438" cy="3662541"/>
          </a:xfrm>
          <a:prstGeom prst="rect">
            <a:avLst/>
          </a:prstGeom>
          <a:noFill/>
          <a:ln>
            <a:noFill/>
          </a:ln>
        </p:spPr>
        <p:txBody>
          <a:bodyPr spcFirstLastPara="1" wrap="square" lIns="0" tIns="0" rIns="0" bIns="0" anchor="t" anchorCtr="0">
            <a:spAutoFit/>
          </a:bodyPr>
          <a:lstStyle/>
          <a:p>
            <a:r>
              <a:rPr lang="vi-VN" dirty="0"/>
              <a:t>Các vấn đề phát sinh:</a:t>
            </a:r>
          </a:p>
          <a:p>
            <a:pPr marL="342900" indent="-342900">
              <a:buAutoNum type="arabicPeriod"/>
            </a:pPr>
            <a:r>
              <a:rPr lang="vi-VN" dirty="0"/>
              <a:t>Phụ thuộc nền tảng cloud mới</a:t>
            </a:r>
            <a:endParaRPr lang="en-US" dirty="0"/>
          </a:p>
          <a:p>
            <a:pPr marL="852488" indent="236538">
              <a:buFont typeface="Arial" panose="020B0604020202020204" pitchFamily="34" charset="0"/>
              <a:buChar char="•"/>
            </a:pPr>
            <a:r>
              <a:rPr lang="vi-VN" dirty="0"/>
              <a:t>Quản lý truy cập phức tạp</a:t>
            </a:r>
            <a:endParaRPr lang="en-US" dirty="0"/>
          </a:p>
          <a:p>
            <a:pPr marL="852488" indent="236538">
              <a:buFont typeface="Arial" panose="020B0604020202020204" pitchFamily="34" charset="0"/>
              <a:buChar char="•"/>
            </a:pPr>
            <a:r>
              <a:rPr lang="vi-VN" dirty="0"/>
              <a:t>Rủi ro bảo mật</a:t>
            </a:r>
            <a:endParaRPr lang="en-US" dirty="0"/>
          </a:p>
          <a:p>
            <a:pPr marL="852488" indent="236538">
              <a:buFont typeface="Arial" panose="020B0604020202020204" pitchFamily="34" charset="0"/>
              <a:buChar char="•"/>
            </a:pPr>
            <a:r>
              <a:rPr lang="vi-VN" dirty="0"/>
              <a:t>Lỗ hổng phần mềm/phần cứng</a:t>
            </a:r>
            <a:endParaRPr lang="en-US" dirty="0"/>
          </a:p>
          <a:p>
            <a:pPr marL="852488" indent="236538">
              <a:buFont typeface="Arial" panose="020B0604020202020204" pitchFamily="34" charset="0"/>
              <a:buChar char="•"/>
            </a:pPr>
            <a:r>
              <a:rPr lang="vi-VN" dirty="0"/>
              <a:t>Chi phí license định kỳ</a:t>
            </a:r>
            <a:endParaRPr lang="en-US" dirty="0"/>
          </a:p>
          <a:p>
            <a:r>
              <a:rPr lang="en-US" dirty="0"/>
              <a:t>2. </a:t>
            </a:r>
            <a:r>
              <a:rPr lang="vi-VN" dirty="0"/>
              <a:t>Phụ thuộc nhà sản xuất</a:t>
            </a:r>
            <a:endParaRPr lang="en-US" dirty="0"/>
          </a:p>
          <a:p>
            <a:pPr marL="1089025" lvl="2" indent="-228600">
              <a:buFont typeface="Arial" panose="020B0604020202020204" pitchFamily="34" charset="0"/>
              <a:buChar char="•"/>
            </a:pPr>
            <a:r>
              <a:rPr lang="vi-VN" dirty="0"/>
              <a:t>Thiết bị mới phải tương thích cloud của hãng</a:t>
            </a:r>
            <a:endParaRPr lang="en-US" dirty="0"/>
          </a:p>
          <a:p>
            <a:pPr marL="1089025" indent="-228600">
              <a:buFont typeface="Arial" panose="020B0604020202020204" pitchFamily="34" charset="0"/>
              <a:buChar char="•"/>
            </a:pPr>
            <a:r>
              <a:rPr lang="vi-VN" dirty="0"/>
              <a:t>Không tích hợp linh hoạt đa nhà cung cấp</a:t>
            </a:r>
            <a:endParaRPr lang="en-US" dirty="0"/>
          </a:p>
          <a:p>
            <a:pPr marL="1089025" indent="-228600">
              <a:buFont typeface="Arial" panose="020B0604020202020204" pitchFamily="34" charset="0"/>
              <a:buChar char="•"/>
            </a:pPr>
            <a:r>
              <a:rPr lang="vi-VN" dirty="0"/>
              <a:t>Rơi vào tình trạng vendor lock-in</a:t>
            </a:r>
          </a:p>
          <a:p>
            <a:r>
              <a:rPr lang="en-US" dirty="0"/>
              <a:t>3. </a:t>
            </a:r>
            <a:r>
              <a:rPr lang="vi-VN" dirty="0"/>
              <a:t>Hạn chế truy cập dữ liệu</a:t>
            </a:r>
            <a:endParaRPr lang="en-US" dirty="0"/>
          </a:p>
          <a:p>
            <a:pPr marL="1089025" indent="-228600">
              <a:buFont typeface="Arial" panose="020B0604020202020204" pitchFamily="34" charset="0"/>
              <a:buChar char="•"/>
            </a:pPr>
            <a:r>
              <a:rPr lang="vi-VN" dirty="0"/>
              <a:t>Chức năng bị giới hạn theo thiết kế của hãng</a:t>
            </a:r>
            <a:endParaRPr lang="en-US" dirty="0"/>
          </a:p>
          <a:p>
            <a:pPr marL="1089025" indent="-228600">
              <a:buFont typeface="Arial" panose="020B0604020202020204" pitchFamily="34" charset="0"/>
              <a:buChar char="•"/>
            </a:pPr>
            <a:r>
              <a:rPr lang="vi-VN" dirty="0"/>
              <a:t>Có thể không có API</a:t>
            </a:r>
            <a:r>
              <a:rPr lang="en-US" dirty="0"/>
              <a:t>.</a:t>
            </a:r>
          </a:p>
          <a:p>
            <a:pPr marL="1089025" indent="-228600">
              <a:buFont typeface="Arial" panose="020B0604020202020204" pitchFamily="34" charset="0"/>
              <a:buChar char="•"/>
            </a:pPr>
            <a:r>
              <a:rPr lang="vi-VN" dirty="0"/>
              <a:t>Dữ liệu không theo chuẩn mở</a:t>
            </a:r>
            <a:endParaRPr lang="en-US" dirty="0"/>
          </a:p>
        </p:txBody>
      </p:sp>
      <p:pic>
        <p:nvPicPr>
          <p:cNvPr id="5122" name="Picture 2" descr="What is Software as a Service (SaaS) - Pros and Cons">
            <a:extLst>
              <a:ext uri="{FF2B5EF4-FFF2-40B4-BE49-F238E27FC236}">
                <a16:creationId xmlns:a16="http://schemas.microsoft.com/office/drawing/2014/main" id="{165E6430-9F60-FDD1-56FE-662407B6B53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557" t="31682" r="6021" b="-6366"/>
          <a:stretch>
            <a:fillRect/>
          </a:stretch>
        </p:blipFill>
        <p:spPr bwMode="auto">
          <a:xfrm>
            <a:off x="4857751" y="2552699"/>
            <a:ext cx="4876800" cy="25146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ED544CB-8256-7EF7-2D6C-95F1EA0FF1FB}"/>
              </a:ext>
            </a:extLst>
          </p:cNvPr>
          <p:cNvSpPr txBox="1"/>
          <p:nvPr/>
        </p:nvSpPr>
        <p:spPr>
          <a:xfrm>
            <a:off x="448918" y="5920053"/>
            <a:ext cx="9004985" cy="523220"/>
          </a:xfrm>
          <a:prstGeom prst="rect">
            <a:avLst/>
          </a:prstGeom>
          <a:noFill/>
        </p:spPr>
        <p:txBody>
          <a:bodyPr wrap="square">
            <a:spAutoFit/>
          </a:bodyPr>
          <a:lstStyle/>
          <a:p>
            <a:r>
              <a:rPr lang="vi-VN" dirty="0"/>
              <a:t>Cần một IoT platform mở, trung tâm, độc lập nhà sản xuất, có khả năng tích hợp đa thiết bị và đảm bảo bảo mật.</a:t>
            </a:r>
          </a:p>
        </p:txBody>
      </p:sp>
      <p:sp>
        <p:nvSpPr>
          <p:cNvPr id="4" name="Google Shape;184;p5">
            <a:extLst>
              <a:ext uri="{FF2B5EF4-FFF2-40B4-BE49-F238E27FC236}">
                <a16:creationId xmlns:a16="http://schemas.microsoft.com/office/drawing/2014/main" id="{3D5C6C46-1A73-FD03-9BAE-DCF2748A8601}"/>
              </a:ext>
            </a:extLst>
          </p:cNvPr>
          <p:cNvSpPr/>
          <p:nvPr/>
        </p:nvSpPr>
        <p:spPr>
          <a:xfrm>
            <a:off x="448919" y="116746"/>
            <a:ext cx="9004986" cy="95410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a:t>
            </a:r>
            <a:r>
              <a:rPr lang="en-US" sz="2400" b="1" dirty="0" err="1">
                <a:solidFill>
                  <a:srgbClr val="0C0C0C"/>
                </a:solidFill>
                <a:latin typeface="Arial"/>
                <a:ea typeface="Arial"/>
                <a:cs typeface="Arial"/>
                <a:sym typeface="Arial"/>
              </a:rPr>
              <a:t>Thực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trạng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hạn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chế</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của</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hệ</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giám</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truyền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nhu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cầu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về</a:t>
            </a:r>
            <a:r>
              <a:rPr lang="en-US" sz="2400" b="1" dirty="0">
                <a:solidFill>
                  <a:srgbClr val="0C0C0C"/>
                </a:solidFill>
                <a:latin typeface="Arial"/>
                <a:ea typeface="Arial"/>
                <a:cs typeface="Arial"/>
                <a:sym typeface="Arial"/>
              </a:rPr>
              <a:t> IOT platform </a:t>
            </a:r>
            <a:r>
              <a:rPr lang="en-US" sz="2400" b="1" dirty="0" err="1">
                <a:solidFill>
                  <a:srgbClr val="0C0C0C"/>
                </a:solidFill>
                <a:latin typeface="Arial"/>
                <a:ea typeface="Arial"/>
                <a:cs typeface="Arial"/>
                <a:sym typeface="Arial"/>
              </a:rPr>
              <a:t>tổng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quát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linh</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hoạt</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Tree>
    <p:extLst>
      <p:ext uri="{BB962C8B-B14F-4D97-AF65-F5344CB8AC3E}">
        <p14:creationId xmlns:p14="http://schemas.microsoft.com/office/powerpoint/2010/main" val="1241496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587D3524-0898-AEAA-7423-76A6793787D2}"/>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0E9D8ECF-6D70-E96B-FAE0-91D0D5FFBE50}"/>
              </a:ext>
            </a:extLst>
          </p:cNvPr>
          <p:cNvSpPr/>
          <p:nvPr/>
        </p:nvSpPr>
        <p:spPr>
          <a:xfrm>
            <a:off x="382244" y="1517976"/>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Nhu </a:t>
            </a:r>
            <a:r>
              <a:rPr lang="en-US" sz="2400" b="1" dirty="0" err="1">
                <a:solidFill>
                  <a:srgbClr val="0C0C0C"/>
                </a:solidFill>
                <a:latin typeface="Arial"/>
                <a:ea typeface="Arial"/>
                <a:cs typeface="Arial"/>
                <a:sym typeface="Arial"/>
              </a:rPr>
              <a:t>cầu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về</a:t>
            </a:r>
            <a:r>
              <a:rPr lang="en-US" sz="2400" b="1" dirty="0">
                <a:solidFill>
                  <a:srgbClr val="0C0C0C"/>
                </a:solidFill>
                <a:latin typeface="Arial"/>
                <a:ea typeface="Arial"/>
                <a:cs typeface="Arial"/>
                <a:sym typeface="Arial"/>
              </a:rPr>
              <a:t> IoT Platform </a:t>
            </a:r>
            <a:r>
              <a:rPr lang="en-US" sz="2400" b="1" dirty="0" err="1">
                <a:solidFill>
                  <a:srgbClr val="0C0C0C"/>
                </a:solidFill>
                <a:latin typeface="Arial"/>
                <a:ea typeface="Arial"/>
                <a:cs typeface="Arial"/>
                <a:sym typeface="Arial"/>
              </a:rPr>
              <a:t>tổng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quát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linh</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hoạt</a:t>
            </a:r>
            <a:endParaRPr dirty="0"/>
          </a:p>
        </p:txBody>
      </p:sp>
      <p:sp>
        <p:nvSpPr>
          <p:cNvPr id="195" name="Google Shape;195;p5">
            <a:extLst>
              <a:ext uri="{FF2B5EF4-FFF2-40B4-BE49-F238E27FC236}">
                <a16:creationId xmlns:a16="http://schemas.microsoft.com/office/drawing/2014/main" id="{DCBB0A90-B209-EB61-058A-7A2709D359B0}"/>
              </a:ext>
            </a:extLst>
          </p:cNvPr>
          <p:cNvSpPr/>
          <p:nvPr/>
        </p:nvSpPr>
        <p:spPr>
          <a:xfrm>
            <a:off x="542288" y="2171700"/>
            <a:ext cx="6944362" cy="4201150"/>
          </a:xfrm>
          <a:prstGeom prst="rect">
            <a:avLst/>
          </a:prstGeom>
          <a:noFill/>
          <a:ln>
            <a:noFill/>
          </a:ln>
        </p:spPr>
        <p:txBody>
          <a:bodyPr spcFirstLastPara="1" wrap="square" lIns="0" tIns="0" rIns="0" bIns="0" anchor="t" anchorCtr="0">
            <a:spAutoFit/>
          </a:bodyPr>
          <a:lstStyle/>
          <a:p>
            <a:pPr>
              <a:lnSpc>
                <a:spcPct val="150000"/>
              </a:lnSpc>
            </a:pPr>
            <a:r>
              <a:rPr lang="vi-VN" dirty="0"/>
              <a:t>Một IoT platform tổng quát</a:t>
            </a:r>
            <a:endParaRPr lang="en-US" dirty="0"/>
          </a:p>
          <a:p>
            <a:pPr marL="285750" indent="-285750">
              <a:lnSpc>
                <a:spcPct val="150000"/>
              </a:lnSpc>
              <a:buFont typeface="Arial" panose="020B0604020202020204" pitchFamily="34" charset="0"/>
              <a:buChar char="•"/>
            </a:pPr>
            <a:r>
              <a:rPr lang="vi-VN" dirty="0"/>
              <a:t>Không phụ thuộc vào một nhà sản xuất duy nhất</a:t>
            </a:r>
            <a:endParaRPr lang="en-US" dirty="0"/>
          </a:p>
          <a:p>
            <a:pPr marL="285750" indent="-285750">
              <a:lnSpc>
                <a:spcPct val="150000"/>
              </a:lnSpc>
              <a:buFont typeface="Arial" panose="020B0604020202020204" pitchFamily="34" charset="0"/>
              <a:buChar char="•"/>
            </a:pPr>
            <a:r>
              <a:rPr lang="vi-VN" dirty="0"/>
              <a:t>Có khả năng tích hợp nhiều loại thiết bị khác nhau</a:t>
            </a:r>
          </a:p>
          <a:p>
            <a:pPr>
              <a:lnSpc>
                <a:spcPct val="150000"/>
              </a:lnSpc>
            </a:pPr>
            <a:r>
              <a:rPr lang="vi-VN" dirty="0"/>
              <a:t>Hiện nay có nhiều nền tảng IoT thương mại dạng SaaS:</a:t>
            </a:r>
            <a:endParaRPr lang="en-US" dirty="0"/>
          </a:p>
          <a:p>
            <a:pPr marL="285750" indent="-285750">
              <a:lnSpc>
                <a:spcPct val="150000"/>
              </a:lnSpc>
              <a:buFont typeface="Arial" panose="020B0604020202020204" pitchFamily="34" charset="0"/>
              <a:buChar char="•"/>
            </a:pPr>
            <a:r>
              <a:rPr lang="vi-VN" dirty="0"/>
              <a:t>Cho phép kết nối thiết bị đa dạng</a:t>
            </a:r>
            <a:endParaRPr lang="en-US" dirty="0"/>
          </a:p>
          <a:p>
            <a:pPr marL="285750" indent="-285750">
              <a:lnSpc>
                <a:spcPct val="150000"/>
              </a:lnSpc>
              <a:buFont typeface="Arial" panose="020B0604020202020204" pitchFamily="34" charset="0"/>
              <a:buChar char="•"/>
            </a:pPr>
            <a:r>
              <a:rPr lang="vi-VN" dirty="0"/>
              <a:t>Thu thập, lưu trữ, phân tích dữ liệu</a:t>
            </a:r>
          </a:p>
          <a:p>
            <a:pPr>
              <a:lnSpc>
                <a:spcPct val="150000"/>
              </a:lnSpc>
            </a:pPr>
            <a:r>
              <a:rPr lang="vi-VN" dirty="0"/>
              <a:t>Tuy nhiên, nếu tổ chức đã có:</a:t>
            </a:r>
          </a:p>
          <a:p>
            <a:pPr marL="285750" indent="-285750">
              <a:lnSpc>
                <a:spcPct val="150000"/>
              </a:lnSpc>
              <a:buFont typeface="Arial" panose="020B0604020202020204" pitchFamily="34" charset="0"/>
              <a:buChar char="•"/>
            </a:pPr>
            <a:r>
              <a:rPr lang="vi-VN" dirty="0"/>
              <a:t>Hạ tầng cloud riêng</a:t>
            </a:r>
            <a:endParaRPr lang="en-US" dirty="0"/>
          </a:p>
          <a:p>
            <a:pPr marL="285750" indent="-285750">
              <a:lnSpc>
                <a:spcPct val="150000"/>
              </a:lnSpc>
              <a:buFont typeface="Arial" panose="020B0604020202020204" pitchFamily="34" charset="0"/>
              <a:buChar char="•"/>
            </a:pPr>
            <a:r>
              <a:rPr lang="vi-VN" dirty="0"/>
              <a:t>Hạ tầng mạng riêng</a:t>
            </a:r>
          </a:p>
          <a:p>
            <a:pPr>
              <a:lnSpc>
                <a:spcPct val="150000"/>
              </a:lnSpc>
            </a:pPr>
            <a:r>
              <a:rPr lang="vi-VN" dirty="0"/>
              <a:t>Thì một lựa chọn phù hợp hơn là:</a:t>
            </a:r>
          </a:p>
          <a:p>
            <a:pPr marL="285750" indent="-285750">
              <a:lnSpc>
                <a:spcPct val="150000"/>
              </a:lnSpc>
              <a:buFont typeface="Arial" panose="020B0604020202020204" pitchFamily="34" charset="0"/>
              <a:buChar char="•"/>
            </a:pPr>
            <a:r>
              <a:rPr lang="vi-VN" dirty="0"/>
              <a:t>Triển khai các IoT platform mã nguồn mở</a:t>
            </a:r>
            <a:endParaRPr lang="en-US" dirty="0"/>
          </a:p>
          <a:p>
            <a:pPr marL="285750" indent="-285750">
              <a:lnSpc>
                <a:spcPct val="150000"/>
              </a:lnSpc>
              <a:buFont typeface="Arial" panose="020B0604020202020204" pitchFamily="34" charset="0"/>
              <a:buChar char="•"/>
            </a:pPr>
            <a:r>
              <a:rPr lang="vi-VN" dirty="0"/>
              <a:t>Cài đặt trực tiếp trên hạ tầng nội bộ</a:t>
            </a:r>
            <a:endParaRPr lang="en-US" dirty="0"/>
          </a:p>
          <a:p>
            <a:pPr marL="285750" indent="-285750">
              <a:lnSpc>
                <a:spcPct val="150000"/>
              </a:lnSpc>
              <a:buFont typeface="Arial" panose="020B0604020202020204" pitchFamily="34" charset="0"/>
              <a:buChar char="•"/>
            </a:pPr>
            <a:r>
              <a:rPr lang="vi-VN" dirty="0"/>
              <a:t>Tránh phụ thuộc cloud bên ngoài</a:t>
            </a:r>
          </a:p>
        </p:txBody>
      </p:sp>
      <p:pic>
        <p:nvPicPr>
          <p:cNvPr id="6148" name="Picture 4" descr="Things To Consider When Selecting An IoT Platform - 3Pillar">
            <a:extLst>
              <a:ext uri="{FF2B5EF4-FFF2-40B4-BE49-F238E27FC236}">
                <a16:creationId xmlns:a16="http://schemas.microsoft.com/office/drawing/2014/main" id="{91D7D3EE-7711-51B7-FD32-4283B6D2C9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653" y="3362325"/>
            <a:ext cx="5742172" cy="3106738"/>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84;p5">
            <a:extLst>
              <a:ext uri="{FF2B5EF4-FFF2-40B4-BE49-F238E27FC236}">
                <a16:creationId xmlns:a16="http://schemas.microsoft.com/office/drawing/2014/main" id="{277241C4-5C63-4167-D20D-0CB6E60239A6}"/>
              </a:ext>
            </a:extLst>
          </p:cNvPr>
          <p:cNvSpPr/>
          <p:nvPr/>
        </p:nvSpPr>
        <p:spPr>
          <a:xfrm>
            <a:off x="382244" y="388937"/>
            <a:ext cx="9453906" cy="95410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a:t>
            </a:r>
            <a:r>
              <a:rPr lang="en-US" sz="2400" b="1" dirty="0" err="1">
                <a:solidFill>
                  <a:srgbClr val="0C0C0C"/>
                </a:solidFill>
                <a:latin typeface="Arial"/>
                <a:ea typeface="Arial"/>
                <a:cs typeface="Arial"/>
                <a:sym typeface="Arial"/>
              </a:rPr>
              <a:t>Thực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trạng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hạn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chế</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của</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hệ</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giám</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truyền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nhu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cầu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về</a:t>
            </a:r>
            <a:r>
              <a:rPr lang="en-US" sz="2400" b="1" dirty="0">
                <a:solidFill>
                  <a:srgbClr val="0C0C0C"/>
                </a:solidFill>
                <a:latin typeface="Arial"/>
                <a:ea typeface="Arial"/>
                <a:cs typeface="Arial"/>
                <a:sym typeface="Arial"/>
              </a:rPr>
              <a:t> IOT platform </a:t>
            </a:r>
            <a:r>
              <a:rPr lang="en-US" sz="2400" b="1" dirty="0" err="1">
                <a:solidFill>
                  <a:srgbClr val="0C0C0C"/>
                </a:solidFill>
                <a:latin typeface="Arial"/>
                <a:ea typeface="Arial"/>
                <a:cs typeface="Arial"/>
                <a:sym typeface="Arial"/>
              </a:rPr>
              <a:t>tổng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quát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linh</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hoạt</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Tree>
    <p:extLst>
      <p:ext uri="{BB962C8B-B14F-4D97-AF65-F5344CB8AC3E}">
        <p14:creationId xmlns:p14="http://schemas.microsoft.com/office/powerpoint/2010/main" val="638777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1715B71D-A680-8CCC-1156-5E5313C67E59}"/>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8DA28EF9-87B5-6E91-ECA4-52B5FAABF09D}"/>
              </a:ext>
            </a:extLst>
          </p:cNvPr>
          <p:cNvSpPr/>
          <p:nvPr/>
        </p:nvSpPr>
        <p:spPr>
          <a:xfrm>
            <a:off x="370838" y="1703353"/>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err="1">
                <a:solidFill>
                  <a:srgbClr val="0C0C0C"/>
                </a:solidFill>
                <a:latin typeface="Arial"/>
                <a:ea typeface="Arial"/>
                <a:cs typeface="Arial"/>
                <a:sym typeface="Arial"/>
              </a:rPr>
              <a:t>Tiêu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chí</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lựa</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chọn</a:t>
            </a:r>
            <a:r>
              <a:rPr lang="en-US" sz="2400" b="1" dirty="0">
                <a:solidFill>
                  <a:srgbClr val="0C0C0C"/>
                </a:solidFill>
                <a:latin typeface="Arial"/>
                <a:ea typeface="Arial"/>
                <a:cs typeface="Arial"/>
                <a:sym typeface="Arial"/>
              </a:rPr>
              <a:t> IoT Platform</a:t>
            </a:r>
            <a:endParaRPr dirty="0"/>
          </a:p>
        </p:txBody>
      </p:sp>
      <p:sp>
        <p:nvSpPr>
          <p:cNvPr id="195" name="Google Shape;195;p5">
            <a:extLst>
              <a:ext uri="{FF2B5EF4-FFF2-40B4-BE49-F238E27FC236}">
                <a16:creationId xmlns:a16="http://schemas.microsoft.com/office/drawing/2014/main" id="{DF34888D-9239-7A47-85C6-7E39ADAEEEED}"/>
              </a:ext>
            </a:extLst>
          </p:cNvPr>
          <p:cNvSpPr/>
          <p:nvPr/>
        </p:nvSpPr>
        <p:spPr>
          <a:xfrm>
            <a:off x="370838" y="2389776"/>
            <a:ext cx="6944362" cy="3554819"/>
          </a:xfrm>
          <a:prstGeom prst="rect">
            <a:avLst/>
          </a:prstGeom>
          <a:noFill/>
          <a:ln>
            <a:noFill/>
          </a:ln>
        </p:spPr>
        <p:txBody>
          <a:bodyPr spcFirstLastPara="1" wrap="square" lIns="0" tIns="0" rIns="0" bIns="0" anchor="t" anchorCtr="0">
            <a:spAutoFit/>
          </a:bodyPr>
          <a:lstStyle/>
          <a:p>
            <a:pPr>
              <a:lnSpc>
                <a:spcPct val="150000"/>
              </a:lnSpc>
            </a:pPr>
            <a:r>
              <a:rPr lang="en-US" dirty="0"/>
              <a:t>Các IoT platform </a:t>
            </a:r>
            <a:r>
              <a:rPr lang="en-US" dirty="0" err="1"/>
              <a:t>có</a:t>
            </a:r>
            <a:r>
              <a:rPr lang="en-US" dirty="0"/>
              <a:t> </a:t>
            </a:r>
            <a:r>
              <a:rPr lang="en-US" dirty="0" err="1"/>
              <a:t>thể</a:t>
            </a:r>
            <a:r>
              <a:rPr lang="en-US" dirty="0"/>
              <a:t> </a:t>
            </a:r>
            <a:r>
              <a:rPr lang="en-US" dirty="0" err="1"/>
              <a:t>khác</a:t>
            </a:r>
            <a:r>
              <a:rPr lang="en-US" dirty="0"/>
              <a:t> </a:t>
            </a:r>
            <a:r>
              <a:rPr lang="en-US" dirty="0" err="1"/>
              <a:t>nhau</a:t>
            </a:r>
            <a:r>
              <a:rPr lang="en-US" dirty="0"/>
              <a:t> </a:t>
            </a:r>
            <a:r>
              <a:rPr lang="en-US" dirty="0" err="1"/>
              <a:t>đáng</a:t>
            </a:r>
            <a:r>
              <a:rPr lang="en-US" dirty="0"/>
              <a:t> </a:t>
            </a:r>
            <a:r>
              <a:rPr lang="en-US" dirty="0" err="1"/>
              <a:t>kể</a:t>
            </a:r>
            <a:r>
              <a:rPr lang="en-US" dirty="0"/>
              <a:t> </a:t>
            </a:r>
            <a:r>
              <a:rPr lang="en-US" dirty="0" err="1"/>
              <a:t>về</a:t>
            </a:r>
            <a:r>
              <a:rPr lang="en-US" dirty="0"/>
              <a:t>:</a:t>
            </a:r>
          </a:p>
          <a:p>
            <a:pPr marL="285750" indent="-285750">
              <a:lnSpc>
                <a:spcPct val="150000"/>
              </a:lnSpc>
              <a:buFont typeface="Arial" panose="020B0604020202020204" pitchFamily="34" charset="0"/>
              <a:buChar char="•"/>
            </a:pPr>
            <a:r>
              <a:rPr lang="en-US" dirty="0" err="1"/>
              <a:t>Chức</a:t>
            </a:r>
            <a:r>
              <a:rPr lang="en-US" dirty="0"/>
              <a:t> </a:t>
            </a:r>
            <a:r>
              <a:rPr lang="en-US" dirty="0" err="1"/>
              <a:t>năng</a:t>
            </a:r>
            <a:r>
              <a:rPr lang="en-US" dirty="0"/>
              <a:t> </a:t>
            </a:r>
            <a:r>
              <a:rPr lang="en-US" dirty="0" err="1"/>
              <a:t>cung</a:t>
            </a:r>
            <a:r>
              <a:rPr lang="en-US" dirty="0"/>
              <a:t> </a:t>
            </a:r>
            <a:r>
              <a:rPr lang="en-US" dirty="0" err="1"/>
              <a:t>cấp</a:t>
            </a:r>
            <a:endParaRPr lang="en-US" dirty="0"/>
          </a:p>
          <a:p>
            <a:pPr marL="285750" indent="-285750">
              <a:lnSpc>
                <a:spcPct val="150000"/>
              </a:lnSpc>
              <a:buFont typeface="Arial" panose="020B0604020202020204" pitchFamily="34" charset="0"/>
              <a:buChar char="•"/>
            </a:pPr>
            <a:r>
              <a:rPr lang="en-US" dirty="0"/>
              <a:t>Cách </a:t>
            </a:r>
            <a:r>
              <a:rPr lang="en-US" dirty="0" err="1"/>
              <a:t>triển</a:t>
            </a:r>
            <a:r>
              <a:rPr lang="en-US" dirty="0"/>
              <a:t> </a:t>
            </a:r>
            <a:r>
              <a:rPr lang="en-US" dirty="0" err="1"/>
              <a:t>khai</a:t>
            </a:r>
            <a:endParaRPr lang="en-US" dirty="0"/>
          </a:p>
          <a:p>
            <a:pPr marL="285750" indent="-285750">
              <a:lnSpc>
                <a:spcPct val="150000"/>
              </a:lnSpc>
              <a:buFont typeface="Arial" panose="020B0604020202020204" pitchFamily="34" charset="0"/>
              <a:buChar char="•"/>
            </a:pPr>
            <a:r>
              <a:rPr lang="en-US" dirty="0"/>
              <a:t>Công </a:t>
            </a:r>
            <a:r>
              <a:rPr lang="en-US" dirty="0" err="1"/>
              <a:t>nghệ</a:t>
            </a:r>
            <a:r>
              <a:rPr lang="en-US" dirty="0"/>
              <a:t> </a:t>
            </a:r>
            <a:r>
              <a:rPr lang="en-US" dirty="0" err="1"/>
              <a:t>nền</a:t>
            </a:r>
            <a:r>
              <a:rPr lang="en-US" dirty="0"/>
              <a:t> </a:t>
            </a:r>
            <a:r>
              <a:rPr lang="en-US" dirty="0" err="1"/>
              <a:t>tảng</a:t>
            </a:r>
            <a:r>
              <a:rPr lang="en-US" dirty="0"/>
              <a:t> </a:t>
            </a:r>
            <a:r>
              <a:rPr lang="en-US" dirty="0" err="1"/>
              <a:t>sử</a:t>
            </a:r>
            <a:r>
              <a:rPr lang="en-US" dirty="0"/>
              <a:t> </a:t>
            </a:r>
            <a:r>
              <a:rPr lang="en-US" dirty="0" err="1"/>
              <a:t>dụng</a:t>
            </a:r>
            <a:endParaRPr lang="en-US" dirty="0"/>
          </a:p>
          <a:p>
            <a:pPr>
              <a:lnSpc>
                <a:spcPct val="150000"/>
              </a:lnSpc>
            </a:pPr>
            <a:r>
              <a:rPr lang="en-US" dirty="0"/>
              <a:t>Do </a:t>
            </a:r>
            <a:r>
              <a:rPr lang="en-US" dirty="0" err="1"/>
              <a:t>đó</a:t>
            </a:r>
            <a:r>
              <a:rPr lang="en-US" dirty="0"/>
              <a:t>, </a:t>
            </a:r>
            <a:r>
              <a:rPr lang="en-US" dirty="0" err="1"/>
              <a:t>việc</a:t>
            </a:r>
            <a:r>
              <a:rPr lang="en-US" dirty="0"/>
              <a:t> </a:t>
            </a:r>
            <a:r>
              <a:rPr lang="en-US" dirty="0" err="1"/>
              <a:t>lựa</a:t>
            </a:r>
            <a:r>
              <a:rPr lang="en-US" dirty="0"/>
              <a:t> </a:t>
            </a:r>
            <a:r>
              <a:rPr lang="en-US" dirty="0" err="1"/>
              <a:t>chọn</a:t>
            </a:r>
            <a:r>
              <a:rPr lang="en-US" dirty="0"/>
              <a:t> platform </a:t>
            </a:r>
            <a:r>
              <a:rPr lang="en-US" dirty="0" err="1"/>
              <a:t>cần</a:t>
            </a:r>
            <a:r>
              <a:rPr lang="en-US" dirty="0"/>
              <a:t> </a:t>
            </a:r>
            <a:r>
              <a:rPr lang="en-US" dirty="0" err="1"/>
              <a:t>xét</a:t>
            </a:r>
            <a:r>
              <a:rPr lang="en-US" dirty="0"/>
              <a:t> </a:t>
            </a:r>
            <a:r>
              <a:rPr lang="en-US" dirty="0" err="1"/>
              <a:t>hai</a:t>
            </a:r>
            <a:r>
              <a:rPr lang="en-US" dirty="0"/>
              <a:t> </a:t>
            </a:r>
            <a:r>
              <a:rPr lang="en-US" dirty="0" err="1"/>
              <a:t>nhóm</a:t>
            </a:r>
            <a:r>
              <a:rPr lang="en-US" dirty="0"/>
              <a:t> </a:t>
            </a:r>
            <a:r>
              <a:rPr lang="en-US" dirty="0" err="1"/>
              <a:t>yêu</a:t>
            </a:r>
            <a:r>
              <a:rPr lang="en-US" dirty="0"/>
              <a:t> </a:t>
            </a:r>
            <a:r>
              <a:rPr lang="en-US" dirty="0" err="1"/>
              <a:t>cầu</a:t>
            </a:r>
            <a:r>
              <a:rPr lang="en-US" dirty="0"/>
              <a:t>:</a:t>
            </a:r>
            <a:br>
              <a:rPr lang="en-US" dirty="0"/>
            </a:br>
            <a:r>
              <a:rPr lang="en-US" dirty="0"/>
              <a:t>Các </a:t>
            </a:r>
            <a:r>
              <a:rPr lang="en-US" dirty="0" err="1"/>
              <a:t>chức</a:t>
            </a:r>
            <a:r>
              <a:rPr lang="en-US" dirty="0"/>
              <a:t> </a:t>
            </a:r>
            <a:r>
              <a:rPr lang="en-US" dirty="0" err="1"/>
              <a:t>năng</a:t>
            </a:r>
            <a:r>
              <a:rPr lang="en-US" dirty="0"/>
              <a:t> </a:t>
            </a:r>
            <a:r>
              <a:rPr lang="en-US" dirty="0" err="1"/>
              <a:t>hệ</a:t>
            </a:r>
            <a:r>
              <a:rPr lang="en-US" dirty="0"/>
              <a:t> </a:t>
            </a:r>
            <a:r>
              <a:rPr lang="en-US" dirty="0" err="1"/>
              <a:t>thống</a:t>
            </a:r>
            <a:r>
              <a:rPr lang="en-US" dirty="0"/>
              <a:t> </a:t>
            </a:r>
            <a:r>
              <a:rPr lang="en-US" dirty="0" err="1"/>
              <a:t>cần</a:t>
            </a:r>
            <a:endParaRPr lang="en-US" dirty="0"/>
          </a:p>
          <a:p>
            <a:pPr marL="285750" indent="-285750">
              <a:lnSpc>
                <a:spcPct val="150000"/>
              </a:lnSpc>
              <a:buFont typeface="Arial" panose="020B0604020202020204" pitchFamily="34" charset="0"/>
              <a:buChar char="•"/>
            </a:pPr>
            <a:r>
              <a:rPr lang="en-US" dirty="0"/>
              <a:t>Quản </a:t>
            </a:r>
            <a:r>
              <a:rPr lang="en-US" dirty="0" err="1"/>
              <a:t>lý</a:t>
            </a:r>
            <a:r>
              <a:rPr lang="en-US" dirty="0"/>
              <a:t> </a:t>
            </a:r>
            <a:r>
              <a:rPr lang="en-US" dirty="0" err="1"/>
              <a:t>thiết</a:t>
            </a:r>
            <a:r>
              <a:rPr lang="en-US" dirty="0"/>
              <a:t> </a:t>
            </a:r>
            <a:r>
              <a:rPr lang="en-US" dirty="0" err="1"/>
              <a:t>bị</a:t>
            </a:r>
            <a:r>
              <a:rPr lang="en-US" dirty="0"/>
              <a:t>.</a:t>
            </a:r>
          </a:p>
          <a:p>
            <a:pPr marL="285750" indent="-285750">
              <a:lnSpc>
                <a:spcPct val="150000"/>
              </a:lnSpc>
              <a:buFont typeface="Arial" panose="020B0604020202020204" pitchFamily="34" charset="0"/>
              <a:buChar char="•"/>
            </a:pPr>
            <a:r>
              <a:rPr lang="en-US" dirty="0"/>
              <a:t>Quản </a:t>
            </a:r>
            <a:r>
              <a:rPr lang="en-US" dirty="0" err="1"/>
              <a:t>lý</a:t>
            </a:r>
            <a:r>
              <a:rPr lang="en-US" dirty="0"/>
              <a:t> </a:t>
            </a:r>
            <a:r>
              <a:rPr lang="en-US" dirty="0" err="1"/>
              <a:t>dữ</a:t>
            </a:r>
            <a:r>
              <a:rPr lang="en-US" dirty="0"/>
              <a:t> </a:t>
            </a:r>
            <a:r>
              <a:rPr lang="en-US" dirty="0" err="1"/>
              <a:t>liệu</a:t>
            </a:r>
            <a:endParaRPr lang="en-US" dirty="0"/>
          </a:p>
          <a:p>
            <a:pPr marL="285750" indent="-285750">
              <a:lnSpc>
                <a:spcPct val="150000"/>
              </a:lnSpc>
              <a:buFont typeface="Arial" panose="020B0604020202020204" pitchFamily="34" charset="0"/>
              <a:buChar char="•"/>
            </a:pPr>
            <a:r>
              <a:rPr lang="en-US" dirty="0" err="1"/>
              <a:t>Phân</a:t>
            </a:r>
            <a:r>
              <a:rPr lang="en-US" dirty="0"/>
              <a:t> </a:t>
            </a:r>
            <a:r>
              <a:rPr lang="en-US" dirty="0" err="1"/>
              <a:t>tích</a:t>
            </a:r>
            <a:endParaRPr lang="en-US" dirty="0"/>
          </a:p>
          <a:p>
            <a:pPr marL="285750" indent="-285750">
              <a:lnSpc>
                <a:spcPct val="150000"/>
              </a:lnSpc>
              <a:buFont typeface="Arial" panose="020B0604020202020204" pitchFamily="34" charset="0"/>
              <a:buChar char="•"/>
            </a:pPr>
            <a:r>
              <a:rPr lang="en-US" dirty="0" err="1"/>
              <a:t>Tích</a:t>
            </a:r>
            <a:r>
              <a:rPr lang="en-US" dirty="0"/>
              <a:t> </a:t>
            </a:r>
            <a:r>
              <a:rPr lang="en-US" dirty="0" err="1"/>
              <a:t>hợp</a:t>
            </a:r>
            <a:r>
              <a:rPr lang="en-US" dirty="0"/>
              <a:t> </a:t>
            </a:r>
            <a:r>
              <a:rPr lang="en-US" dirty="0" err="1"/>
              <a:t>hệ</a:t>
            </a:r>
            <a:r>
              <a:rPr lang="en-US" dirty="0"/>
              <a:t> </a:t>
            </a:r>
            <a:r>
              <a:rPr lang="en-US" dirty="0" err="1"/>
              <a:t>thống</a:t>
            </a:r>
            <a:endParaRPr lang="en-US" dirty="0"/>
          </a:p>
          <a:p>
            <a:pPr marL="285750" indent="-285750">
              <a:lnSpc>
                <a:spcPct val="150000"/>
              </a:lnSpc>
              <a:buFont typeface="Arial" panose="020B0604020202020204" pitchFamily="34" charset="0"/>
              <a:buChar char="•"/>
            </a:pPr>
            <a:endParaRPr lang="vi-VN" dirty="0"/>
          </a:p>
        </p:txBody>
      </p:sp>
      <p:pic>
        <p:nvPicPr>
          <p:cNvPr id="7170" name="Picture 2" descr="IoT Platform selection: 3 best practices you should adopt">
            <a:extLst>
              <a:ext uri="{FF2B5EF4-FFF2-40B4-BE49-F238E27FC236}">
                <a16:creationId xmlns:a16="http://schemas.microsoft.com/office/drawing/2014/main" id="{F34F01C8-C11F-7BFA-E67D-6CA8DFBBC5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5212" y="2423111"/>
            <a:ext cx="5115435" cy="3838575"/>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84;p5">
            <a:extLst>
              <a:ext uri="{FF2B5EF4-FFF2-40B4-BE49-F238E27FC236}">
                <a16:creationId xmlns:a16="http://schemas.microsoft.com/office/drawing/2014/main" id="{D4502651-894F-9941-7AF9-4A8974ED5E43}"/>
              </a:ext>
            </a:extLst>
          </p:cNvPr>
          <p:cNvSpPr/>
          <p:nvPr/>
        </p:nvSpPr>
        <p:spPr>
          <a:xfrm>
            <a:off x="382244" y="388937"/>
            <a:ext cx="9453906" cy="95410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a:t>
            </a:r>
            <a:r>
              <a:rPr lang="en-US" sz="2400" b="1" dirty="0" err="1">
                <a:solidFill>
                  <a:srgbClr val="0C0C0C"/>
                </a:solidFill>
                <a:latin typeface="Arial"/>
                <a:ea typeface="Arial"/>
                <a:cs typeface="Arial"/>
                <a:sym typeface="Arial"/>
              </a:rPr>
              <a:t>Thực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trạng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hạn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chế</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của</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hệ</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giám</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truyền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nhu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cầu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về</a:t>
            </a:r>
            <a:r>
              <a:rPr lang="en-US" sz="2400" b="1" dirty="0">
                <a:solidFill>
                  <a:srgbClr val="0C0C0C"/>
                </a:solidFill>
                <a:latin typeface="Arial"/>
                <a:ea typeface="Arial"/>
                <a:cs typeface="Arial"/>
                <a:sym typeface="Arial"/>
              </a:rPr>
              <a:t> IOT platform </a:t>
            </a:r>
            <a:r>
              <a:rPr lang="en-US" sz="2400" b="1" dirty="0" err="1">
                <a:solidFill>
                  <a:srgbClr val="0C0C0C"/>
                </a:solidFill>
                <a:latin typeface="Arial"/>
                <a:ea typeface="Arial"/>
                <a:cs typeface="Arial"/>
                <a:sym typeface="Arial"/>
              </a:rPr>
              <a:t>tổng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quát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linh</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hoạt</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Tree>
    <p:extLst>
      <p:ext uri="{BB962C8B-B14F-4D97-AF65-F5344CB8AC3E}">
        <p14:creationId xmlns:p14="http://schemas.microsoft.com/office/powerpoint/2010/main" val="3732405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6606D52-292E-F0A3-E009-EB5C1A3B1046}"/>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75377DBE-91E8-5505-E875-7CB32E70C0E4}"/>
              </a:ext>
            </a:extLst>
          </p:cNvPr>
          <p:cNvSpPr/>
          <p:nvPr/>
        </p:nvSpPr>
        <p:spPr>
          <a:xfrm>
            <a:off x="370838" y="1703353"/>
            <a:ext cx="90049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err="1">
                <a:solidFill>
                  <a:srgbClr val="0C0C0C"/>
                </a:solidFill>
                <a:latin typeface="Arial"/>
                <a:ea typeface="Arial"/>
                <a:cs typeface="Arial"/>
                <a:sym typeface="Arial"/>
              </a:rPr>
              <a:t>Tiêu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chí</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lựa</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chọn</a:t>
            </a:r>
            <a:r>
              <a:rPr lang="en-US" sz="2400" b="1" dirty="0">
                <a:solidFill>
                  <a:srgbClr val="0C0C0C"/>
                </a:solidFill>
                <a:latin typeface="Arial"/>
                <a:ea typeface="Arial"/>
                <a:cs typeface="Arial"/>
                <a:sym typeface="Arial"/>
              </a:rPr>
              <a:t> IoT Platform</a:t>
            </a:r>
            <a:endParaRPr dirty="0"/>
          </a:p>
        </p:txBody>
      </p:sp>
      <p:sp>
        <p:nvSpPr>
          <p:cNvPr id="195" name="Google Shape;195;p5">
            <a:extLst>
              <a:ext uri="{FF2B5EF4-FFF2-40B4-BE49-F238E27FC236}">
                <a16:creationId xmlns:a16="http://schemas.microsoft.com/office/drawing/2014/main" id="{A7E9D686-79A3-E4FF-EAD9-75247E9D498F}"/>
              </a:ext>
            </a:extLst>
          </p:cNvPr>
          <p:cNvSpPr/>
          <p:nvPr/>
        </p:nvSpPr>
        <p:spPr>
          <a:xfrm>
            <a:off x="370838" y="2389776"/>
            <a:ext cx="3982087" cy="3231654"/>
          </a:xfrm>
          <a:prstGeom prst="rect">
            <a:avLst/>
          </a:prstGeom>
          <a:noFill/>
          <a:ln>
            <a:noFill/>
          </a:ln>
        </p:spPr>
        <p:txBody>
          <a:bodyPr spcFirstLastPara="1" wrap="square" lIns="0" tIns="0" rIns="0" bIns="0" anchor="t" anchorCtr="0">
            <a:spAutoFit/>
          </a:bodyPr>
          <a:lstStyle/>
          <a:p>
            <a:pPr>
              <a:lnSpc>
                <a:spcPct val="150000"/>
              </a:lnSpc>
            </a:pPr>
            <a:r>
              <a:rPr lang="en-US" dirty="0"/>
              <a:t>Các </a:t>
            </a:r>
            <a:r>
              <a:rPr lang="en-US" dirty="0" err="1"/>
              <a:t>yêu</a:t>
            </a:r>
            <a:r>
              <a:rPr lang="en-US" dirty="0"/>
              <a:t> </a:t>
            </a:r>
            <a:r>
              <a:rPr lang="en-US" dirty="0" err="1"/>
              <a:t>cầu</a:t>
            </a:r>
            <a:r>
              <a:rPr lang="en-US" dirty="0"/>
              <a:t> phi </a:t>
            </a:r>
            <a:r>
              <a:rPr lang="en-US" dirty="0" err="1"/>
              <a:t>chức</a:t>
            </a:r>
            <a:r>
              <a:rPr lang="en-US" dirty="0"/>
              <a:t> </a:t>
            </a:r>
            <a:r>
              <a:rPr lang="en-US" dirty="0" err="1"/>
              <a:t>năng</a:t>
            </a:r>
            <a:endParaRPr lang="en-US" dirty="0"/>
          </a:p>
          <a:p>
            <a:pPr marL="285750" indent="-285750">
              <a:lnSpc>
                <a:spcPct val="150000"/>
              </a:lnSpc>
              <a:buFont typeface="Arial" panose="020B0604020202020204" pitchFamily="34" charset="0"/>
              <a:buChar char="•"/>
            </a:pPr>
            <a:r>
              <a:rPr lang="en-US" dirty="0"/>
              <a:t>Hiệu </a:t>
            </a:r>
            <a:r>
              <a:rPr lang="en-US" dirty="0" err="1"/>
              <a:t>năng</a:t>
            </a:r>
            <a:endParaRPr lang="en-US" dirty="0"/>
          </a:p>
          <a:p>
            <a:pPr marL="285750" indent="-285750">
              <a:lnSpc>
                <a:spcPct val="150000"/>
              </a:lnSpc>
              <a:buFont typeface="Arial" panose="020B0604020202020204" pitchFamily="34" charset="0"/>
              <a:buChar char="•"/>
            </a:pPr>
            <a:r>
              <a:rPr lang="en-US" dirty="0"/>
              <a:t>Chi </a:t>
            </a:r>
            <a:r>
              <a:rPr lang="en-US" dirty="0" err="1"/>
              <a:t>phí</a:t>
            </a:r>
            <a:endParaRPr lang="en-US" dirty="0"/>
          </a:p>
          <a:p>
            <a:pPr marL="285750" indent="-285750">
              <a:lnSpc>
                <a:spcPct val="150000"/>
              </a:lnSpc>
              <a:buFont typeface="Arial" panose="020B0604020202020204" pitchFamily="34" charset="0"/>
              <a:buChar char="•"/>
            </a:pPr>
            <a:r>
              <a:rPr lang="en-US" dirty="0" err="1"/>
              <a:t>Mức</a:t>
            </a:r>
            <a:r>
              <a:rPr lang="en-US" dirty="0"/>
              <a:t> </a:t>
            </a:r>
            <a:r>
              <a:rPr lang="en-US" dirty="0" err="1"/>
              <a:t>độ</a:t>
            </a:r>
            <a:r>
              <a:rPr lang="en-US" dirty="0"/>
              <a:t> </a:t>
            </a:r>
            <a:r>
              <a:rPr lang="en-US" dirty="0" err="1"/>
              <a:t>tự</a:t>
            </a:r>
            <a:r>
              <a:rPr lang="en-US" dirty="0"/>
              <a:t> do </a:t>
            </a:r>
            <a:r>
              <a:rPr lang="en-US" dirty="0" err="1"/>
              <a:t>sử</a:t>
            </a:r>
            <a:r>
              <a:rPr lang="en-US" dirty="0"/>
              <a:t> </a:t>
            </a:r>
            <a:r>
              <a:rPr lang="en-US" dirty="0" err="1"/>
              <a:t>dụng</a:t>
            </a:r>
            <a:endParaRPr lang="en-US" dirty="0"/>
          </a:p>
          <a:p>
            <a:pPr marL="285750" indent="-285750">
              <a:lnSpc>
                <a:spcPct val="150000"/>
              </a:lnSpc>
              <a:buFont typeface="Arial" panose="020B0604020202020204" pitchFamily="34" charset="0"/>
              <a:buChar char="•"/>
            </a:pPr>
            <a:r>
              <a:rPr lang="en-US" dirty="0"/>
              <a:t>Công </a:t>
            </a:r>
            <a:r>
              <a:rPr lang="en-US" dirty="0" err="1"/>
              <a:t>sức</a:t>
            </a:r>
            <a:r>
              <a:rPr lang="en-US" dirty="0"/>
              <a:t> </a:t>
            </a:r>
            <a:r>
              <a:rPr lang="en-US" dirty="0" err="1"/>
              <a:t>phát</a:t>
            </a:r>
            <a:r>
              <a:rPr lang="en-US" dirty="0"/>
              <a:t> </a:t>
            </a:r>
            <a:r>
              <a:rPr lang="en-US" dirty="0" err="1"/>
              <a:t>triển</a:t>
            </a:r>
            <a:endParaRPr lang="en-US" dirty="0"/>
          </a:p>
          <a:p>
            <a:pPr marL="285750" indent="-285750">
              <a:lnSpc>
                <a:spcPct val="150000"/>
              </a:lnSpc>
              <a:buFont typeface="Arial" panose="020B0604020202020204" pitchFamily="34" charset="0"/>
              <a:buChar char="•"/>
            </a:pPr>
            <a:r>
              <a:rPr lang="en-US" dirty="0" err="1"/>
              <a:t>Khả</a:t>
            </a:r>
            <a:r>
              <a:rPr lang="en-US" dirty="0"/>
              <a:t> </a:t>
            </a:r>
            <a:r>
              <a:rPr lang="en-US" dirty="0" err="1"/>
              <a:t>năng</a:t>
            </a:r>
            <a:r>
              <a:rPr lang="en-US" dirty="0"/>
              <a:t> </a:t>
            </a:r>
            <a:r>
              <a:rPr lang="en-US" dirty="0" err="1"/>
              <a:t>mở</a:t>
            </a:r>
            <a:r>
              <a:rPr lang="en-US" dirty="0"/>
              <a:t> </a:t>
            </a:r>
            <a:r>
              <a:rPr lang="en-US" dirty="0" err="1"/>
              <a:t>rộng</a:t>
            </a:r>
            <a:endParaRPr lang="en-US" dirty="0"/>
          </a:p>
          <a:p>
            <a:pPr marL="285750" indent="-285750">
              <a:lnSpc>
                <a:spcPct val="150000"/>
              </a:lnSpc>
              <a:buFont typeface="Arial" panose="020B0604020202020204" pitchFamily="34" charset="0"/>
              <a:buChar char="•"/>
            </a:pPr>
            <a:r>
              <a:rPr lang="en-US" dirty="0"/>
              <a:t>Bảo </a:t>
            </a:r>
            <a:r>
              <a:rPr lang="en-US" dirty="0" err="1"/>
              <a:t>mật</a:t>
            </a:r>
            <a:endParaRPr lang="en-US" dirty="0"/>
          </a:p>
          <a:p>
            <a:pPr>
              <a:lnSpc>
                <a:spcPct val="150000"/>
              </a:lnSpc>
            </a:pPr>
            <a:r>
              <a:rPr lang="en-US" dirty="0" err="1"/>
              <a:t>Việc</a:t>
            </a:r>
            <a:r>
              <a:rPr lang="en-US" dirty="0"/>
              <a:t> </a:t>
            </a:r>
            <a:r>
              <a:rPr lang="en-US" dirty="0" err="1"/>
              <a:t>đánh</a:t>
            </a:r>
            <a:r>
              <a:rPr lang="en-US" dirty="0"/>
              <a:t> </a:t>
            </a:r>
            <a:r>
              <a:rPr lang="en-US" dirty="0" err="1"/>
              <a:t>giá</a:t>
            </a:r>
            <a:r>
              <a:rPr lang="en-US" dirty="0"/>
              <a:t> </a:t>
            </a:r>
            <a:r>
              <a:rPr lang="en-US" dirty="0" err="1"/>
              <a:t>toàn</a:t>
            </a:r>
            <a:r>
              <a:rPr lang="en-US" dirty="0"/>
              <a:t> </a:t>
            </a:r>
            <a:r>
              <a:rPr lang="en-US" dirty="0" err="1"/>
              <a:t>diện</a:t>
            </a:r>
            <a:r>
              <a:rPr lang="en-US" dirty="0"/>
              <a:t> </a:t>
            </a:r>
            <a:r>
              <a:rPr lang="en-US" dirty="0" err="1"/>
              <a:t>phải</a:t>
            </a:r>
            <a:r>
              <a:rPr lang="en-US" dirty="0"/>
              <a:t> </a:t>
            </a:r>
            <a:r>
              <a:rPr lang="en-US" dirty="0" err="1"/>
              <a:t>xem</a:t>
            </a:r>
            <a:r>
              <a:rPr lang="en-US" dirty="0"/>
              <a:t> </a:t>
            </a:r>
            <a:r>
              <a:rPr lang="en-US" dirty="0" err="1"/>
              <a:t>xét</a:t>
            </a:r>
            <a:r>
              <a:rPr lang="en-US" dirty="0"/>
              <a:t> </a:t>
            </a:r>
            <a:r>
              <a:rPr lang="en-US" dirty="0" err="1"/>
              <a:t>cả</a:t>
            </a:r>
            <a:r>
              <a:rPr lang="en-US" dirty="0"/>
              <a:t> </a:t>
            </a:r>
            <a:r>
              <a:rPr lang="en-US" dirty="0" err="1"/>
              <a:t>hai</a:t>
            </a:r>
            <a:r>
              <a:rPr lang="en-US" dirty="0"/>
              <a:t> </a:t>
            </a:r>
            <a:r>
              <a:rPr lang="en-US" dirty="0" err="1"/>
              <a:t>nhóm</a:t>
            </a:r>
            <a:r>
              <a:rPr lang="en-US" dirty="0"/>
              <a:t> </a:t>
            </a:r>
            <a:r>
              <a:rPr lang="en-US" dirty="0" err="1"/>
              <a:t>yêu</a:t>
            </a:r>
            <a:r>
              <a:rPr lang="en-US" dirty="0"/>
              <a:t> </a:t>
            </a:r>
            <a:r>
              <a:rPr lang="en-US" dirty="0" err="1"/>
              <a:t>cầu</a:t>
            </a:r>
            <a:r>
              <a:rPr lang="en-US" dirty="0"/>
              <a:t> </a:t>
            </a:r>
            <a:r>
              <a:rPr lang="en-US" dirty="0" err="1"/>
              <a:t>này</a:t>
            </a:r>
            <a:r>
              <a:rPr lang="en-US" dirty="0"/>
              <a:t>.</a:t>
            </a:r>
          </a:p>
          <a:p>
            <a:pPr marL="285750" indent="-285750">
              <a:lnSpc>
                <a:spcPct val="150000"/>
              </a:lnSpc>
              <a:buFont typeface="Arial" panose="020B0604020202020204" pitchFamily="34" charset="0"/>
              <a:buChar char="•"/>
            </a:pPr>
            <a:endParaRPr lang="vi-VN" dirty="0"/>
          </a:p>
        </p:txBody>
      </p:sp>
      <p:pic>
        <p:nvPicPr>
          <p:cNvPr id="7170" name="Picture 2" descr="IoT Platform selection: 3 best practices you should adopt">
            <a:extLst>
              <a:ext uri="{FF2B5EF4-FFF2-40B4-BE49-F238E27FC236}">
                <a16:creationId xmlns:a16="http://schemas.microsoft.com/office/drawing/2014/main" id="{3B7748DE-15B6-6ADE-4CEC-6F2F33E295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5212" y="2423111"/>
            <a:ext cx="5115435" cy="3838575"/>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84;p5">
            <a:extLst>
              <a:ext uri="{FF2B5EF4-FFF2-40B4-BE49-F238E27FC236}">
                <a16:creationId xmlns:a16="http://schemas.microsoft.com/office/drawing/2014/main" id="{74CE8DA2-5B0A-4418-B166-AE129EC1956D}"/>
              </a:ext>
            </a:extLst>
          </p:cNvPr>
          <p:cNvSpPr/>
          <p:nvPr/>
        </p:nvSpPr>
        <p:spPr>
          <a:xfrm>
            <a:off x="382244" y="388937"/>
            <a:ext cx="9453906" cy="95410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a:t>
            </a:r>
            <a:r>
              <a:rPr lang="en-US" sz="2400" b="1" dirty="0" err="1">
                <a:solidFill>
                  <a:srgbClr val="0C0C0C"/>
                </a:solidFill>
                <a:latin typeface="Arial"/>
                <a:ea typeface="Arial"/>
                <a:cs typeface="Arial"/>
                <a:sym typeface="Arial"/>
              </a:rPr>
              <a:t>Thực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trạng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hạn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chế</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của</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hệ</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giám</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truyền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thống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nhu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cầu</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về</a:t>
            </a:r>
            <a:r>
              <a:rPr lang="en-US" sz="2400" b="1" dirty="0">
                <a:solidFill>
                  <a:srgbClr val="0C0C0C"/>
                </a:solidFill>
                <a:latin typeface="Arial"/>
                <a:ea typeface="Arial"/>
                <a:cs typeface="Arial"/>
                <a:sym typeface="Arial"/>
              </a:rPr>
              <a:t> IOT platform </a:t>
            </a:r>
            <a:r>
              <a:rPr lang="en-US" sz="2400" b="1" dirty="0" err="1">
                <a:solidFill>
                  <a:srgbClr val="0C0C0C"/>
                </a:solidFill>
                <a:latin typeface="Arial"/>
                <a:ea typeface="Arial"/>
                <a:cs typeface="Arial"/>
                <a:sym typeface="Arial"/>
              </a:rPr>
              <a:t>tổng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quát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linh</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hoạt</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Tree>
    <p:extLst>
      <p:ext uri="{BB962C8B-B14F-4D97-AF65-F5344CB8AC3E}">
        <p14:creationId xmlns:p14="http://schemas.microsoft.com/office/powerpoint/2010/main" val="1650261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B02872A-9B0B-E104-3511-A52C4A116316}"/>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87E67ED2-9BA5-F022-96CA-86964E31E27D}"/>
              </a:ext>
            </a:extLst>
          </p:cNvPr>
          <p:cNvSpPr/>
          <p:nvPr/>
        </p:nvSpPr>
        <p:spPr>
          <a:xfrm>
            <a:off x="382244" y="932451"/>
            <a:ext cx="9257056" cy="5078313"/>
          </a:xfrm>
          <a:prstGeom prst="rect">
            <a:avLst/>
          </a:prstGeom>
          <a:noFill/>
          <a:ln>
            <a:noFill/>
          </a:ln>
        </p:spPr>
        <p:txBody>
          <a:bodyPr spcFirstLastPara="1" wrap="square" lIns="0" tIns="0" rIns="0" bIns="0" anchor="t" anchorCtr="0">
            <a:spAutoFit/>
          </a:bodyPr>
          <a:lstStyle/>
          <a:p>
            <a:pPr>
              <a:lnSpc>
                <a:spcPct val="150000"/>
              </a:lnSpc>
            </a:pPr>
            <a:r>
              <a:rPr lang="vi-VN" dirty="0"/>
              <a:t>Một hệ thống IoT hoàn chỉnh được tổ chức theo kiến trúc phân lớp nhằm đảm bảo tính mô-đun, khả năng mở rộng và tích hợp đa công nghệ.</a:t>
            </a:r>
            <a:endParaRPr lang="en-US" dirty="0"/>
          </a:p>
          <a:p>
            <a:pPr>
              <a:lnSpc>
                <a:spcPct val="150000"/>
              </a:lnSpc>
            </a:pPr>
            <a:r>
              <a:rPr lang="vi-VN" sz="2400" b="1" dirty="0">
                <a:solidFill>
                  <a:srgbClr val="0C0C0C"/>
                </a:solidFill>
              </a:rPr>
              <a:t> Kiến trúc </a:t>
            </a:r>
            <a:r>
              <a:rPr lang="en-US" sz="2400" b="1" dirty="0">
                <a:solidFill>
                  <a:srgbClr val="0C0C0C"/>
                </a:solidFill>
              </a:rPr>
              <a:t>IOT</a:t>
            </a:r>
            <a:r>
              <a:rPr lang="vi-VN" sz="2400" b="1" dirty="0">
                <a:solidFill>
                  <a:srgbClr val="0C0C0C"/>
                </a:solidFill>
              </a:rPr>
              <a:t>:</a:t>
            </a:r>
          </a:p>
          <a:p>
            <a:pPr>
              <a:lnSpc>
                <a:spcPct val="150000"/>
              </a:lnSpc>
            </a:pPr>
            <a:r>
              <a:rPr lang="en-US" b="1" dirty="0"/>
              <a:t>1 </a:t>
            </a:r>
            <a:r>
              <a:rPr lang="vi-VN" b="1" dirty="0"/>
              <a:t>Tầng thiết bị (Sensors &amp; Actuators)</a:t>
            </a:r>
          </a:p>
          <a:p>
            <a:pPr>
              <a:lnSpc>
                <a:spcPct val="150000"/>
              </a:lnSpc>
            </a:pPr>
            <a:r>
              <a:rPr lang="vi-VN" dirty="0"/>
              <a:t>Đây là lớp vật lý của hệ thống.</a:t>
            </a:r>
          </a:p>
          <a:p>
            <a:pPr>
              <a:lnSpc>
                <a:spcPct val="150000"/>
              </a:lnSpc>
            </a:pPr>
            <a:r>
              <a:rPr lang="vi-VN" dirty="0"/>
              <a:t>Cảm biến (Sensors):</a:t>
            </a:r>
            <a:br>
              <a:rPr lang="vi-VN" dirty="0"/>
            </a:br>
            <a:r>
              <a:rPr lang="vi-VN" dirty="0"/>
              <a:t>Thu thập dữ liệu môi trường như nhiệt độ, độ ẩm, ánh sáng, chuyển động, khí gas, v.v.</a:t>
            </a:r>
            <a:br>
              <a:rPr lang="vi-VN" dirty="0"/>
            </a:br>
            <a:r>
              <a:rPr lang="vi-VN" dirty="0"/>
              <a:t>Có thể thực hiện tiền xử lý dữ liệu đơn giản tại biên (edge filtering, thresholding).</a:t>
            </a:r>
          </a:p>
          <a:p>
            <a:pPr>
              <a:lnSpc>
                <a:spcPct val="150000"/>
              </a:lnSpc>
            </a:pPr>
            <a:r>
              <a:rPr lang="vi-VN" dirty="0"/>
              <a:t>Cơ cấu chấp hành (Actuators):</a:t>
            </a:r>
            <a:br>
              <a:rPr lang="vi-VN" dirty="0"/>
            </a:br>
            <a:r>
              <a:rPr lang="vi-VN" dirty="0"/>
              <a:t>Nhận lệnh điều khiển từ hệ thống và thực hiện hành động vật lý (đóng/mở van, bật/tắt thiết bị, điều chỉnh tốc độ).</a:t>
            </a:r>
          </a:p>
          <a:p>
            <a:pPr>
              <a:lnSpc>
                <a:spcPct val="150000"/>
              </a:lnSpc>
            </a:pPr>
            <a:r>
              <a:rPr lang="vi-VN" dirty="0"/>
              <a:t>Đặc điểm kỹ thuật:</a:t>
            </a:r>
            <a:br>
              <a:rPr lang="vi-VN" dirty="0"/>
            </a:br>
            <a:r>
              <a:rPr lang="vi-VN" dirty="0"/>
              <a:t>Tài nguyên hạn chế (CPU, RAM, năng lượng).</a:t>
            </a:r>
            <a:br>
              <a:rPr lang="vi-VN" dirty="0"/>
            </a:br>
            <a:r>
              <a:rPr lang="vi-VN" dirty="0"/>
              <a:t>Sử dụng hệ điều hành nhúng nhẹ.</a:t>
            </a:r>
            <a:br>
              <a:rPr lang="vi-VN" dirty="0"/>
            </a:br>
            <a:r>
              <a:rPr lang="vi-VN" dirty="0"/>
              <a:t>Có thể giao tiếp trực tiếp hoặc thông qua gateway.</a:t>
            </a:r>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8E4A5BD2-8D6C-D919-8E09-B0EF516B2E80}"/>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1.2 </a:t>
            </a:r>
            <a:r>
              <a:rPr lang="en-US" sz="2400" b="1" dirty="0" err="1">
                <a:solidFill>
                  <a:srgbClr val="0C0C0C"/>
                </a:solidFill>
                <a:latin typeface="Arial"/>
                <a:ea typeface="Arial"/>
                <a:cs typeface="Arial"/>
                <a:sym typeface="Arial"/>
              </a:rPr>
              <a:t>Kiến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trúc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kĩ</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thuật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các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spTree>
    <p:extLst>
      <p:ext uri="{BB962C8B-B14F-4D97-AF65-F5344CB8AC3E}">
        <p14:creationId xmlns:p14="http://schemas.microsoft.com/office/powerpoint/2010/main" val="411363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90661DEF-4349-6C9E-0E74-C4313A02789C}"/>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2BCAC8EF-2D6F-430E-4121-BA5D8DF58073}"/>
              </a:ext>
            </a:extLst>
          </p:cNvPr>
          <p:cNvSpPr/>
          <p:nvPr/>
        </p:nvSpPr>
        <p:spPr>
          <a:xfrm>
            <a:off x="382244" y="932451"/>
            <a:ext cx="9257056" cy="1615827"/>
          </a:xfrm>
          <a:prstGeom prst="rect">
            <a:avLst/>
          </a:prstGeom>
          <a:noFill/>
          <a:ln>
            <a:noFill/>
          </a:ln>
        </p:spPr>
        <p:txBody>
          <a:bodyPr spcFirstLastPara="1" wrap="square" lIns="0" tIns="0" rIns="0" bIns="0" anchor="t" anchorCtr="0">
            <a:spAutoFit/>
          </a:bodyPr>
          <a:lstStyle/>
          <a:p>
            <a:pPr>
              <a:lnSpc>
                <a:spcPct val="150000"/>
              </a:lnSpc>
            </a:pPr>
            <a:r>
              <a:rPr lang="vi-VN" dirty="0"/>
              <a:t>Một hệ thống IoT hoàn chỉnh được tổ chức theo kiến trúc phân lớp nhằm đảm bảo tính mô-đun, khả năng mở rộng và tích hợp đa công nghệ.</a:t>
            </a:r>
            <a:endParaRPr lang="en-US" dirty="0"/>
          </a:p>
          <a:p>
            <a:pPr>
              <a:lnSpc>
                <a:spcPct val="150000"/>
              </a:lnSpc>
            </a:pPr>
            <a:r>
              <a:rPr lang="vi-VN" dirty="0"/>
              <a:t> Kiến trúc này gồm các thành phần chính sau:</a:t>
            </a:r>
          </a:p>
          <a:p>
            <a:pPr>
              <a:lnSpc>
                <a:spcPct val="150000"/>
              </a:lnSpc>
            </a:pPr>
            <a:r>
              <a:rPr lang="en-US" b="1" dirty="0"/>
              <a:t>1 </a:t>
            </a:r>
            <a:r>
              <a:rPr lang="vi-VN" b="1" dirty="0"/>
              <a:t>Tầng thiết bị (Sensors &amp; Actuators)</a:t>
            </a:r>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3C141BD4-992E-739D-44DA-64B63A68C49A}"/>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1.2 </a:t>
            </a:r>
            <a:r>
              <a:rPr lang="en-US" sz="2400" b="1" dirty="0" err="1">
                <a:solidFill>
                  <a:srgbClr val="0C0C0C"/>
                </a:solidFill>
                <a:latin typeface="Arial"/>
                <a:ea typeface="Arial"/>
                <a:cs typeface="Arial"/>
                <a:sym typeface="Arial"/>
              </a:rPr>
              <a:t>Kiến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trúc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kĩ</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thuật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các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pic>
        <p:nvPicPr>
          <p:cNvPr id="8194" name="Picture 2" descr="Hệ thống IoT là gì? Tìm hiểu thành phần, nguyên lý hoạt động">
            <a:extLst>
              <a:ext uri="{FF2B5EF4-FFF2-40B4-BE49-F238E27FC236}">
                <a16:creationId xmlns:a16="http://schemas.microsoft.com/office/drawing/2014/main" id="{DDC740FF-4093-A249-BE50-96694C2A9B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7713" y="2548278"/>
            <a:ext cx="5715000" cy="3448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8231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8C8483B4-488F-1043-9C15-2B79A50EDB7C}"/>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A3DA795D-4A92-3F4C-7799-3DA952B13279}"/>
              </a:ext>
            </a:extLst>
          </p:cNvPr>
          <p:cNvSpPr/>
          <p:nvPr/>
        </p:nvSpPr>
        <p:spPr>
          <a:xfrm>
            <a:off x="382244" y="932451"/>
            <a:ext cx="9257056" cy="5062924"/>
          </a:xfrm>
          <a:prstGeom prst="rect">
            <a:avLst/>
          </a:prstGeom>
          <a:noFill/>
          <a:ln>
            <a:noFill/>
          </a:ln>
        </p:spPr>
        <p:txBody>
          <a:bodyPr spcFirstLastPara="1" wrap="square" lIns="0" tIns="0" rIns="0" bIns="0" anchor="t" anchorCtr="0">
            <a:spAutoFit/>
          </a:bodyPr>
          <a:lstStyle/>
          <a:p>
            <a:r>
              <a:rPr lang="vi-VN" b="1" dirty="0"/>
              <a:t>2 Tầng truyền thông (Communication Network)</a:t>
            </a:r>
          </a:p>
          <a:p>
            <a:pPr>
              <a:lnSpc>
                <a:spcPct val="150000"/>
              </a:lnSpc>
            </a:pPr>
            <a:r>
              <a:rPr lang="vi-VN" dirty="0"/>
              <a:t>Tầng này đảm bảo kết nối giữa thiết bị và nền tảng trung tâm.</a:t>
            </a:r>
          </a:p>
          <a:p>
            <a:pPr>
              <a:lnSpc>
                <a:spcPct val="150000"/>
              </a:lnSpc>
            </a:pPr>
            <a:r>
              <a:rPr lang="vi-VN" dirty="0"/>
              <a:t>Phân loại theo phạm vi:</a:t>
            </a:r>
          </a:p>
          <a:p>
            <a:pPr marL="285750" indent="-285750">
              <a:lnSpc>
                <a:spcPct val="150000"/>
              </a:lnSpc>
              <a:buFont typeface="Arial" panose="020B0604020202020204" pitchFamily="34" charset="0"/>
              <a:buChar char="•"/>
            </a:pPr>
            <a:r>
              <a:rPr lang="vi-VN" dirty="0"/>
              <a:t>Mạng cá nhân (PAN):</a:t>
            </a:r>
            <a:r>
              <a:rPr lang="en-US" dirty="0"/>
              <a:t> </a:t>
            </a:r>
            <a:r>
              <a:rPr lang="vi-VN" dirty="0"/>
              <a:t>Bluetooth, BLE, ZigBee</a:t>
            </a:r>
            <a:br>
              <a:rPr lang="vi-VN" dirty="0"/>
            </a:br>
            <a:r>
              <a:rPr lang="vi-VN" dirty="0"/>
              <a:t>Phù hợp thiết bị tiêu thụ năng lượng thấp.</a:t>
            </a:r>
          </a:p>
          <a:p>
            <a:pPr marL="285750" indent="-285750">
              <a:lnSpc>
                <a:spcPct val="150000"/>
              </a:lnSpc>
              <a:buFont typeface="Arial" panose="020B0604020202020204" pitchFamily="34" charset="0"/>
              <a:buChar char="•"/>
            </a:pPr>
            <a:r>
              <a:rPr lang="vi-VN" dirty="0"/>
              <a:t>Mạng cục bộ (LAN):Wi-Fi</a:t>
            </a:r>
            <a:br>
              <a:rPr lang="vi-VN" dirty="0"/>
            </a:br>
            <a:r>
              <a:rPr lang="vi-VN" dirty="0"/>
              <a:t>Băng thông cao, tiêu thụ năng lượng lớn hơn.</a:t>
            </a:r>
          </a:p>
          <a:p>
            <a:pPr marL="285750" indent="-285750">
              <a:lnSpc>
                <a:spcPct val="150000"/>
              </a:lnSpc>
              <a:buFont typeface="Arial" panose="020B0604020202020204" pitchFamily="34" charset="0"/>
              <a:buChar char="•"/>
            </a:pPr>
            <a:r>
              <a:rPr lang="vi-VN" dirty="0"/>
              <a:t>Mạng diện rộng (WAN/LPWAN):LoRaWAN, NB-IoT, LTE-M</a:t>
            </a:r>
            <a:br>
              <a:rPr lang="vi-VN" dirty="0"/>
            </a:br>
            <a:r>
              <a:rPr lang="vi-VN" dirty="0"/>
              <a:t>Phạm vi xa, công suất thấp, tốc độ dữ liệu hạn chế.</a:t>
            </a:r>
          </a:p>
          <a:p>
            <a:pPr marL="285750" indent="-285750">
              <a:lnSpc>
                <a:spcPct val="150000"/>
              </a:lnSpc>
              <a:buFont typeface="Arial" panose="020B0604020202020204" pitchFamily="34" charset="0"/>
              <a:buChar char="•"/>
            </a:pPr>
            <a:r>
              <a:rPr lang="vi-VN" dirty="0"/>
              <a:t>Các tiêu chí kỹ thuật cần xem xét:</a:t>
            </a:r>
            <a:endParaRPr lang="en-US" dirty="0"/>
          </a:p>
          <a:p>
            <a:pPr marL="971550" indent="-285750">
              <a:lnSpc>
                <a:spcPct val="150000"/>
              </a:lnSpc>
              <a:buFont typeface="Arial" panose="020B0604020202020204" pitchFamily="34" charset="0"/>
              <a:buChar char="•"/>
            </a:pPr>
            <a:r>
              <a:rPr lang="vi-VN" dirty="0"/>
              <a:t>Phạm vi phủ sóng</a:t>
            </a:r>
            <a:endParaRPr lang="en-US" dirty="0"/>
          </a:p>
          <a:p>
            <a:pPr marL="971550" indent="-285750">
              <a:lnSpc>
                <a:spcPct val="150000"/>
              </a:lnSpc>
              <a:buFont typeface="Arial" panose="020B0604020202020204" pitchFamily="34" charset="0"/>
              <a:buChar char="•"/>
            </a:pPr>
            <a:r>
              <a:rPr lang="vi-VN" dirty="0"/>
              <a:t>Tốc độ truyền</a:t>
            </a:r>
            <a:endParaRPr lang="en-US" dirty="0"/>
          </a:p>
          <a:p>
            <a:pPr marL="971550" indent="-285750">
              <a:lnSpc>
                <a:spcPct val="150000"/>
              </a:lnSpc>
              <a:buFont typeface="Arial" panose="020B0604020202020204" pitchFamily="34" charset="0"/>
              <a:buChar char="•"/>
            </a:pPr>
            <a:r>
              <a:rPr lang="vi-VN" dirty="0"/>
              <a:t>Độ trễ</a:t>
            </a:r>
            <a:endParaRPr lang="en-US" dirty="0"/>
          </a:p>
          <a:p>
            <a:pPr marL="971550" indent="-285750">
              <a:lnSpc>
                <a:spcPct val="150000"/>
              </a:lnSpc>
              <a:buFont typeface="Arial" panose="020B0604020202020204" pitchFamily="34" charset="0"/>
              <a:buChar char="•"/>
            </a:pPr>
            <a:r>
              <a:rPr lang="vi-VN" dirty="0"/>
              <a:t>Tiêu thụ năng lượng</a:t>
            </a:r>
            <a:endParaRPr lang="en-US" dirty="0"/>
          </a:p>
          <a:p>
            <a:pPr marL="971550" indent="-285750">
              <a:lnSpc>
                <a:spcPct val="150000"/>
              </a:lnSpc>
              <a:buFont typeface="Arial" panose="020B0604020202020204" pitchFamily="34" charset="0"/>
              <a:buChar char="•"/>
            </a:pPr>
            <a:r>
              <a:rPr lang="vi-VN" dirty="0"/>
              <a:t>Topology mạng</a:t>
            </a:r>
          </a:p>
          <a:p>
            <a:pPr>
              <a:lnSpc>
                <a:spcPct val="150000"/>
              </a:lnSpc>
            </a:pPr>
            <a:endParaRPr lang="vi-VN" dirty="0"/>
          </a:p>
        </p:txBody>
      </p:sp>
      <p:sp>
        <p:nvSpPr>
          <p:cNvPr id="2" name="Google Shape;184;p5">
            <a:extLst>
              <a:ext uri="{FF2B5EF4-FFF2-40B4-BE49-F238E27FC236}">
                <a16:creationId xmlns:a16="http://schemas.microsoft.com/office/drawing/2014/main" id="{FDE67BE4-5862-2FF5-D513-BE92690451E3}"/>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1.2 </a:t>
            </a:r>
            <a:r>
              <a:rPr lang="en-US" sz="2400" b="1" dirty="0" err="1">
                <a:solidFill>
                  <a:srgbClr val="0C0C0C"/>
                </a:solidFill>
                <a:latin typeface="Arial"/>
                <a:ea typeface="Arial"/>
                <a:cs typeface="Arial"/>
                <a:sym typeface="Arial"/>
              </a:rPr>
              <a:t>Kiến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trúc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kĩ</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thuật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các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pic>
        <p:nvPicPr>
          <p:cNvPr id="11266" name="Picture 2" descr="Four stage IoT architecture | Download Scientific Diagram">
            <a:extLst>
              <a:ext uri="{FF2B5EF4-FFF2-40B4-BE49-F238E27FC236}">
                <a16:creationId xmlns:a16="http://schemas.microsoft.com/office/drawing/2014/main" id="{C2C39183-06F1-12EF-689B-473B1138CD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0343" y="1295400"/>
            <a:ext cx="3844469" cy="3867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9751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A6709A2F-442E-52A9-2361-A08E754F617E}"/>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4472BA78-E606-AC52-043A-ADE596CC95CD}"/>
              </a:ext>
            </a:extLst>
          </p:cNvPr>
          <p:cNvSpPr/>
          <p:nvPr/>
        </p:nvSpPr>
        <p:spPr>
          <a:xfrm>
            <a:off x="382244" y="932451"/>
            <a:ext cx="9257056" cy="3770263"/>
          </a:xfrm>
          <a:prstGeom prst="rect">
            <a:avLst/>
          </a:prstGeom>
          <a:noFill/>
          <a:ln>
            <a:noFill/>
          </a:ln>
        </p:spPr>
        <p:txBody>
          <a:bodyPr spcFirstLastPara="1" wrap="square" lIns="0" tIns="0" rIns="0" bIns="0" anchor="t" anchorCtr="0">
            <a:spAutoFit/>
          </a:bodyPr>
          <a:lstStyle/>
          <a:p>
            <a:r>
              <a:rPr lang="vi-VN" b="1" dirty="0"/>
              <a:t>3 IoT Gateway</a:t>
            </a:r>
          </a:p>
          <a:p>
            <a:pPr>
              <a:lnSpc>
                <a:spcPct val="150000"/>
              </a:lnSpc>
            </a:pPr>
            <a:r>
              <a:rPr lang="vi-VN" dirty="0"/>
              <a:t>Gateway là thành phần trung gian giữa thiết bị và nền tảng.</a:t>
            </a:r>
          </a:p>
          <a:p>
            <a:pPr>
              <a:lnSpc>
                <a:spcPct val="150000"/>
              </a:lnSpc>
            </a:pPr>
            <a:r>
              <a:rPr lang="vi-VN" dirty="0"/>
              <a:t>Chức năng chính:</a:t>
            </a:r>
          </a:p>
          <a:p>
            <a:pPr marL="285750" indent="-285750">
              <a:lnSpc>
                <a:spcPct val="150000"/>
              </a:lnSpc>
              <a:buFont typeface="Arial" panose="020B0604020202020204" pitchFamily="34" charset="0"/>
              <a:buChar char="•"/>
            </a:pPr>
            <a:r>
              <a:rPr lang="vi-VN" dirty="0"/>
              <a:t>Chuyển đổi giao thức (protocol translation)</a:t>
            </a:r>
            <a:br>
              <a:rPr lang="vi-VN" dirty="0"/>
            </a:br>
            <a:r>
              <a:rPr lang="vi-VN" dirty="0"/>
              <a:t>Chuẩn hóa định dạng dữ liệu</a:t>
            </a:r>
            <a:br>
              <a:rPr lang="vi-VN" dirty="0"/>
            </a:br>
            <a:r>
              <a:rPr lang="vi-VN" dirty="0"/>
              <a:t>Tổng hợp dữ liệu từ nhiều thiết bị</a:t>
            </a:r>
            <a:br>
              <a:rPr lang="vi-VN" dirty="0"/>
            </a:br>
            <a:r>
              <a:rPr lang="vi-VN" dirty="0"/>
              <a:t>Thực hiện xử lý biên (edge analytics)</a:t>
            </a:r>
          </a:p>
          <a:p>
            <a:pPr>
              <a:lnSpc>
                <a:spcPct val="150000"/>
              </a:lnSpc>
            </a:pPr>
            <a:r>
              <a:rPr lang="vi-VN" dirty="0"/>
              <a:t>Vai trò kỹ thuật:</a:t>
            </a:r>
          </a:p>
          <a:p>
            <a:pPr marL="285750" indent="-285750">
              <a:lnSpc>
                <a:spcPct val="150000"/>
              </a:lnSpc>
              <a:buFont typeface="Arial" panose="020B0604020202020204" pitchFamily="34" charset="0"/>
              <a:buChar char="•"/>
            </a:pPr>
            <a:r>
              <a:rPr lang="vi-VN" dirty="0"/>
              <a:t>Giảm tải cho nền tảng trung tâm</a:t>
            </a:r>
            <a:br>
              <a:rPr lang="vi-VN" dirty="0"/>
            </a:br>
            <a:r>
              <a:rPr lang="vi-VN" dirty="0"/>
              <a:t>Tăng khả năng tương thích đa chuẩn</a:t>
            </a:r>
            <a:br>
              <a:rPr lang="vi-VN" dirty="0"/>
            </a:br>
            <a:r>
              <a:rPr lang="vi-VN" dirty="0"/>
              <a:t>Cải thiện bảo mật bằng cách cô lập mạng thiết bị</a:t>
            </a:r>
          </a:p>
          <a:p>
            <a:pPr>
              <a:lnSpc>
                <a:spcPct val="150000"/>
              </a:lnSpc>
            </a:pPr>
            <a:endParaRPr lang="vi-VN" dirty="0"/>
          </a:p>
        </p:txBody>
      </p:sp>
      <p:sp>
        <p:nvSpPr>
          <p:cNvPr id="2" name="Google Shape;184;p5">
            <a:extLst>
              <a:ext uri="{FF2B5EF4-FFF2-40B4-BE49-F238E27FC236}">
                <a16:creationId xmlns:a16="http://schemas.microsoft.com/office/drawing/2014/main" id="{B04A0A76-A351-3B84-8822-9627FF833A28}"/>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1.2 </a:t>
            </a:r>
            <a:r>
              <a:rPr lang="en-US" sz="2400" b="1" dirty="0" err="1">
                <a:solidFill>
                  <a:srgbClr val="0C0C0C"/>
                </a:solidFill>
                <a:latin typeface="Arial"/>
                <a:ea typeface="Arial"/>
                <a:cs typeface="Arial"/>
                <a:sym typeface="Arial"/>
              </a:rPr>
              <a:t>Kiến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trúc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kĩ</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thuật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các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pic>
        <p:nvPicPr>
          <p:cNvPr id="11266" name="Picture 2" descr="Four stage IoT architecture | Download Scientific Diagram">
            <a:extLst>
              <a:ext uri="{FF2B5EF4-FFF2-40B4-BE49-F238E27FC236}">
                <a16:creationId xmlns:a16="http://schemas.microsoft.com/office/drawing/2014/main" id="{A184F4FC-8BBA-CF31-F989-4205C3C112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0343" y="1295400"/>
            <a:ext cx="3844469" cy="3867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407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A12AEB0C-71A7-3454-BD65-9B0DF18226C5}"/>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D1ED33BB-FB55-8883-2870-543604A3610E}"/>
              </a:ext>
            </a:extLst>
          </p:cNvPr>
          <p:cNvSpPr/>
          <p:nvPr/>
        </p:nvSpPr>
        <p:spPr>
          <a:xfrm>
            <a:off x="382244" y="932451"/>
            <a:ext cx="9257056" cy="4755148"/>
          </a:xfrm>
          <a:prstGeom prst="rect">
            <a:avLst/>
          </a:prstGeom>
          <a:noFill/>
          <a:ln>
            <a:noFill/>
          </a:ln>
        </p:spPr>
        <p:txBody>
          <a:bodyPr spcFirstLastPara="1" wrap="square" lIns="0" tIns="0" rIns="0" bIns="0" anchor="t" anchorCtr="0">
            <a:spAutoFit/>
          </a:bodyPr>
          <a:lstStyle/>
          <a:p>
            <a:pPr>
              <a:lnSpc>
                <a:spcPct val="150000"/>
              </a:lnSpc>
            </a:pPr>
            <a:r>
              <a:rPr lang="vi-VN" dirty="0"/>
              <a:t>Một hệ thống IoT </a:t>
            </a:r>
            <a:r>
              <a:rPr lang="en-US" dirty="0" err="1"/>
              <a:t>để</a:t>
            </a:r>
            <a:r>
              <a:rPr lang="en-US" dirty="0"/>
              <a:t> </a:t>
            </a:r>
            <a:r>
              <a:rPr lang="en-US" dirty="0" err="1"/>
              <a:t>hoạt</a:t>
            </a:r>
            <a:r>
              <a:rPr lang="en-US" dirty="0"/>
              <a:t> </a:t>
            </a:r>
            <a:r>
              <a:rPr lang="en-US" dirty="0" err="1"/>
              <a:t>động</a:t>
            </a:r>
            <a:r>
              <a:rPr lang="en-US" dirty="0"/>
              <a:t> </a:t>
            </a:r>
            <a:r>
              <a:rPr lang="en-US" dirty="0" err="1"/>
              <a:t>được</a:t>
            </a:r>
            <a:r>
              <a:rPr lang="en-US" dirty="0"/>
              <a:t> </a:t>
            </a:r>
            <a:r>
              <a:rPr lang="en-US" dirty="0" err="1"/>
              <a:t>cần</a:t>
            </a:r>
            <a:r>
              <a:rPr lang="en-US" dirty="0"/>
              <a:t> </a:t>
            </a:r>
            <a:r>
              <a:rPr lang="en-US" dirty="0" err="1"/>
              <a:t>có</a:t>
            </a:r>
            <a:r>
              <a:rPr lang="en-US" dirty="0"/>
              <a:t> </a:t>
            </a:r>
            <a:r>
              <a:rPr lang="en-US" dirty="0" err="1"/>
              <a:t>lõi</a:t>
            </a:r>
            <a:r>
              <a:rPr lang="en-US" dirty="0"/>
              <a:t> </a:t>
            </a:r>
            <a:r>
              <a:rPr lang="en-US" dirty="0" err="1"/>
              <a:t>xử</a:t>
            </a:r>
            <a:r>
              <a:rPr lang="en-US" dirty="0"/>
              <a:t> </a:t>
            </a:r>
            <a:r>
              <a:rPr lang="en-US" dirty="0" err="1"/>
              <a:t>lý</a:t>
            </a:r>
            <a:r>
              <a:rPr lang="en-US" dirty="0"/>
              <a:t> </a:t>
            </a:r>
            <a:r>
              <a:rPr lang="en-US" dirty="0" err="1"/>
              <a:t>và</a:t>
            </a:r>
            <a:r>
              <a:rPr lang="en-US" dirty="0"/>
              <a:t> </a:t>
            </a:r>
            <a:r>
              <a:rPr lang="en-US" dirty="0" err="1"/>
              <a:t>điều</a:t>
            </a:r>
            <a:r>
              <a:rPr lang="en-US" dirty="0"/>
              <a:t> </a:t>
            </a:r>
            <a:r>
              <a:rPr lang="en-US" dirty="0" err="1"/>
              <a:t>phối</a:t>
            </a:r>
            <a:r>
              <a:rPr lang="en-US" dirty="0"/>
              <a:t> </a:t>
            </a:r>
            <a:r>
              <a:rPr lang="en-US" dirty="0" err="1"/>
              <a:t>toàn</a:t>
            </a:r>
            <a:r>
              <a:rPr lang="en-US" dirty="0"/>
              <a:t> </a:t>
            </a:r>
            <a:r>
              <a:rPr lang="en-US" dirty="0" err="1"/>
              <a:t>bộ</a:t>
            </a:r>
            <a:r>
              <a:rPr lang="en-US" dirty="0"/>
              <a:t> </a:t>
            </a:r>
            <a:r>
              <a:rPr lang="en-US" dirty="0" err="1"/>
              <a:t>hệ</a:t>
            </a:r>
            <a:r>
              <a:rPr lang="en-US" dirty="0"/>
              <a:t> </a:t>
            </a:r>
            <a:r>
              <a:rPr lang="en-US" dirty="0" err="1"/>
              <a:t>thống</a:t>
            </a:r>
            <a:r>
              <a:rPr lang="en-US" dirty="0"/>
              <a:t>:</a:t>
            </a:r>
          </a:p>
          <a:p>
            <a:pPr>
              <a:lnSpc>
                <a:spcPct val="150000"/>
              </a:lnSpc>
            </a:pPr>
            <a:r>
              <a:rPr lang="en-US" sz="2400" b="1" dirty="0" err="1">
                <a:solidFill>
                  <a:srgbClr val="0C0C0C"/>
                </a:solidFill>
              </a:rPr>
              <a:t>Nền</a:t>
            </a:r>
            <a:r>
              <a:rPr lang="en-US" sz="2400" b="1" dirty="0">
                <a:solidFill>
                  <a:srgbClr val="0C0C0C"/>
                </a:solidFill>
              </a:rPr>
              <a:t> </a:t>
            </a:r>
            <a:r>
              <a:rPr lang="en-US" sz="2400" b="1" dirty="0" err="1">
                <a:solidFill>
                  <a:srgbClr val="0C0C0C"/>
                </a:solidFill>
              </a:rPr>
              <a:t>tảng</a:t>
            </a:r>
            <a:r>
              <a:rPr lang="en-US" sz="2400" b="1" dirty="0">
                <a:solidFill>
                  <a:srgbClr val="0C0C0C"/>
                </a:solidFill>
              </a:rPr>
              <a:t> IOT(IoT Platform)</a:t>
            </a:r>
            <a:r>
              <a:rPr lang="vi-VN" sz="2400" b="1" dirty="0">
                <a:solidFill>
                  <a:srgbClr val="0C0C0C"/>
                </a:solidFill>
              </a:rPr>
              <a:t>:</a:t>
            </a:r>
          </a:p>
          <a:p>
            <a:pPr>
              <a:lnSpc>
                <a:spcPct val="150000"/>
              </a:lnSpc>
            </a:pPr>
            <a:r>
              <a:rPr lang="vi-VN" b="1" dirty="0"/>
              <a:t>1 Device Management</a:t>
            </a:r>
          </a:p>
          <a:p>
            <a:pPr>
              <a:lnSpc>
                <a:spcPct val="150000"/>
              </a:lnSpc>
            </a:pPr>
            <a:r>
              <a:rPr lang="vi-VN" dirty="0"/>
              <a:t>Quản lý vòng đời thiết bị:</a:t>
            </a:r>
          </a:p>
          <a:p>
            <a:pPr marL="285750" indent="-285750">
              <a:lnSpc>
                <a:spcPct val="150000"/>
              </a:lnSpc>
              <a:buFont typeface="Arial" panose="020B0604020202020204" pitchFamily="34" charset="0"/>
              <a:buChar char="•"/>
            </a:pPr>
            <a:r>
              <a:rPr lang="vi-VN" dirty="0"/>
              <a:t>Provisioning</a:t>
            </a:r>
            <a:br>
              <a:rPr lang="vi-VN" dirty="0"/>
            </a:br>
            <a:r>
              <a:rPr lang="vi-VN" dirty="0"/>
              <a:t>Cấu hình</a:t>
            </a:r>
            <a:br>
              <a:rPr lang="vi-VN" dirty="0"/>
            </a:br>
            <a:r>
              <a:rPr lang="vi-VN" dirty="0"/>
              <a:t>Xác thực và phân quyền</a:t>
            </a:r>
            <a:br>
              <a:rPr lang="vi-VN" dirty="0"/>
            </a:br>
            <a:r>
              <a:rPr lang="vi-VN" dirty="0"/>
              <a:t>Giám sát trạng thái</a:t>
            </a:r>
            <a:br>
              <a:rPr lang="vi-VN" dirty="0"/>
            </a:br>
            <a:r>
              <a:rPr lang="vi-VN" dirty="0"/>
              <a:t>Ghi log và kiểm toán</a:t>
            </a:r>
          </a:p>
          <a:p>
            <a:pPr>
              <a:lnSpc>
                <a:spcPct val="150000"/>
              </a:lnSpc>
            </a:pPr>
            <a:r>
              <a:rPr lang="vi-VN" dirty="0"/>
              <a:t>Yêu cầu kỹ thuật:</a:t>
            </a:r>
          </a:p>
          <a:p>
            <a:pPr marL="285750" indent="-285750">
              <a:lnSpc>
                <a:spcPct val="150000"/>
              </a:lnSpc>
              <a:buFont typeface="Arial" panose="020B0604020202020204" pitchFamily="34" charset="0"/>
              <a:buChar char="•"/>
            </a:pPr>
            <a:r>
              <a:rPr lang="vi-VN" dirty="0"/>
              <a:t>Khả năng mở rộng cao</a:t>
            </a:r>
            <a:br>
              <a:rPr lang="vi-VN" dirty="0"/>
            </a:br>
            <a:r>
              <a:rPr lang="vi-VN" dirty="0"/>
              <a:t>Quản lý đồng thời số lượng lớn thiết bị</a:t>
            </a:r>
            <a:br>
              <a:rPr lang="vi-VN" dirty="0"/>
            </a:br>
            <a:r>
              <a:rPr lang="vi-VN" dirty="0"/>
              <a:t>Đảm bảo bảo mật truy cập</a:t>
            </a:r>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EAA6CD16-1226-9EE1-8CB2-C1EF06D3DA16}"/>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1.2 </a:t>
            </a:r>
            <a:r>
              <a:rPr lang="en-US" sz="2400" b="1" dirty="0" err="1">
                <a:solidFill>
                  <a:srgbClr val="0C0C0C"/>
                </a:solidFill>
                <a:latin typeface="Arial"/>
                <a:ea typeface="Arial"/>
                <a:cs typeface="Arial"/>
                <a:sym typeface="Arial"/>
              </a:rPr>
              <a:t>Kiến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trúc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kĩ</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thuật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các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pic>
        <p:nvPicPr>
          <p:cNvPr id="13314" name="Picture 2" descr="What is IoT Device Management? AI, Innovation &amp; Benefits">
            <a:extLst>
              <a:ext uri="{FF2B5EF4-FFF2-40B4-BE49-F238E27FC236}">
                <a16:creationId xmlns:a16="http://schemas.microsoft.com/office/drawing/2014/main" id="{AA88F67B-25D5-DDFD-84E8-ECBD44DE2B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684" t="15417" r="8108" b="15245"/>
          <a:stretch>
            <a:fillRect/>
          </a:stretch>
        </p:blipFill>
        <p:spPr bwMode="auto">
          <a:xfrm>
            <a:off x="4039819" y="2105025"/>
            <a:ext cx="4904156" cy="2993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7641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175120C0-3B35-5AEB-4772-3D236CF2B9FD}"/>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02815AFC-1C20-34C3-931E-7282A61C13EB}"/>
              </a:ext>
            </a:extLst>
          </p:cNvPr>
          <p:cNvSpPr/>
          <p:nvPr/>
        </p:nvSpPr>
        <p:spPr>
          <a:xfrm>
            <a:off x="382244" y="932451"/>
            <a:ext cx="9257056" cy="4647426"/>
          </a:xfrm>
          <a:prstGeom prst="rect">
            <a:avLst/>
          </a:prstGeom>
          <a:noFill/>
          <a:ln>
            <a:noFill/>
          </a:ln>
        </p:spPr>
        <p:txBody>
          <a:bodyPr spcFirstLastPara="1" wrap="square" lIns="0" tIns="0" rIns="0" bIns="0" anchor="t" anchorCtr="0">
            <a:spAutoFit/>
          </a:bodyPr>
          <a:lstStyle/>
          <a:p>
            <a:pPr>
              <a:lnSpc>
                <a:spcPct val="150000"/>
              </a:lnSpc>
            </a:pPr>
            <a:r>
              <a:rPr lang="vi-VN" dirty="0"/>
              <a:t>Một hệ thống IoT </a:t>
            </a:r>
            <a:r>
              <a:rPr lang="en-US" dirty="0" err="1"/>
              <a:t>để</a:t>
            </a:r>
            <a:r>
              <a:rPr lang="en-US" dirty="0"/>
              <a:t> </a:t>
            </a:r>
            <a:r>
              <a:rPr lang="en-US" dirty="0" err="1"/>
              <a:t>hoạt</a:t>
            </a:r>
            <a:r>
              <a:rPr lang="en-US" dirty="0"/>
              <a:t> </a:t>
            </a:r>
            <a:r>
              <a:rPr lang="en-US" dirty="0" err="1"/>
              <a:t>động</a:t>
            </a:r>
            <a:r>
              <a:rPr lang="en-US" dirty="0"/>
              <a:t> </a:t>
            </a:r>
            <a:r>
              <a:rPr lang="en-US" dirty="0" err="1"/>
              <a:t>được</a:t>
            </a:r>
            <a:r>
              <a:rPr lang="en-US" dirty="0"/>
              <a:t> </a:t>
            </a:r>
            <a:r>
              <a:rPr lang="en-US" dirty="0" err="1"/>
              <a:t>cần</a:t>
            </a:r>
            <a:r>
              <a:rPr lang="en-US" dirty="0"/>
              <a:t> </a:t>
            </a:r>
            <a:r>
              <a:rPr lang="en-US" dirty="0" err="1"/>
              <a:t>có</a:t>
            </a:r>
            <a:r>
              <a:rPr lang="en-US" dirty="0"/>
              <a:t> </a:t>
            </a:r>
            <a:r>
              <a:rPr lang="en-US" dirty="0" err="1"/>
              <a:t>lõi</a:t>
            </a:r>
            <a:r>
              <a:rPr lang="en-US" dirty="0"/>
              <a:t> </a:t>
            </a:r>
            <a:r>
              <a:rPr lang="en-US" dirty="0" err="1"/>
              <a:t>xử</a:t>
            </a:r>
            <a:r>
              <a:rPr lang="en-US" dirty="0"/>
              <a:t> </a:t>
            </a:r>
            <a:r>
              <a:rPr lang="en-US" dirty="0" err="1"/>
              <a:t>lý</a:t>
            </a:r>
            <a:r>
              <a:rPr lang="en-US" dirty="0"/>
              <a:t> </a:t>
            </a:r>
            <a:r>
              <a:rPr lang="en-US" dirty="0" err="1"/>
              <a:t>và</a:t>
            </a:r>
            <a:r>
              <a:rPr lang="en-US" dirty="0"/>
              <a:t> </a:t>
            </a:r>
            <a:r>
              <a:rPr lang="en-US" dirty="0" err="1"/>
              <a:t>điều</a:t>
            </a:r>
            <a:r>
              <a:rPr lang="en-US" dirty="0"/>
              <a:t> </a:t>
            </a:r>
            <a:r>
              <a:rPr lang="en-US" dirty="0" err="1"/>
              <a:t>phối</a:t>
            </a:r>
            <a:r>
              <a:rPr lang="en-US" dirty="0"/>
              <a:t> </a:t>
            </a:r>
            <a:r>
              <a:rPr lang="en-US" dirty="0" err="1"/>
              <a:t>toàn</a:t>
            </a:r>
            <a:r>
              <a:rPr lang="en-US" dirty="0"/>
              <a:t> </a:t>
            </a:r>
            <a:r>
              <a:rPr lang="en-US" dirty="0" err="1"/>
              <a:t>bộ</a:t>
            </a:r>
            <a:r>
              <a:rPr lang="en-US" dirty="0"/>
              <a:t> </a:t>
            </a:r>
            <a:r>
              <a:rPr lang="en-US" dirty="0" err="1"/>
              <a:t>hệ</a:t>
            </a:r>
            <a:r>
              <a:rPr lang="en-US" dirty="0"/>
              <a:t> </a:t>
            </a:r>
            <a:r>
              <a:rPr lang="en-US" dirty="0" err="1"/>
              <a:t>thống</a:t>
            </a:r>
            <a:r>
              <a:rPr lang="en-US" dirty="0"/>
              <a:t>:</a:t>
            </a:r>
          </a:p>
          <a:p>
            <a:pPr>
              <a:lnSpc>
                <a:spcPct val="150000"/>
              </a:lnSpc>
            </a:pPr>
            <a:r>
              <a:rPr lang="en-US" sz="2400" b="1" dirty="0" err="1">
                <a:solidFill>
                  <a:srgbClr val="0C0C0C"/>
                </a:solidFill>
              </a:rPr>
              <a:t>Nền</a:t>
            </a:r>
            <a:r>
              <a:rPr lang="en-US" sz="2400" b="1" dirty="0">
                <a:solidFill>
                  <a:srgbClr val="0C0C0C"/>
                </a:solidFill>
              </a:rPr>
              <a:t> </a:t>
            </a:r>
            <a:r>
              <a:rPr lang="en-US" sz="2400" b="1" dirty="0" err="1">
                <a:solidFill>
                  <a:srgbClr val="0C0C0C"/>
                </a:solidFill>
              </a:rPr>
              <a:t>tảng</a:t>
            </a:r>
            <a:r>
              <a:rPr lang="en-US" sz="2400" b="1" dirty="0">
                <a:solidFill>
                  <a:srgbClr val="0C0C0C"/>
                </a:solidFill>
              </a:rPr>
              <a:t> IOT(IoT Platform)</a:t>
            </a:r>
            <a:r>
              <a:rPr lang="vi-VN" sz="2400" b="1" dirty="0">
                <a:solidFill>
                  <a:srgbClr val="0C0C0C"/>
                </a:solidFill>
              </a:rPr>
              <a:t>:</a:t>
            </a:r>
          </a:p>
          <a:p>
            <a:r>
              <a:rPr lang="vi-VN" b="1" dirty="0"/>
              <a:t>2 Data Storage &amp; Analytics</a:t>
            </a:r>
          </a:p>
          <a:p>
            <a:pPr>
              <a:lnSpc>
                <a:spcPct val="150000"/>
              </a:lnSpc>
            </a:pPr>
            <a:r>
              <a:rPr lang="vi-VN" dirty="0"/>
              <a:t>Lưu trữ và xử lý dữ liệu telemetry.</a:t>
            </a:r>
          </a:p>
          <a:p>
            <a:pPr>
              <a:lnSpc>
                <a:spcPct val="150000"/>
              </a:lnSpc>
            </a:pPr>
            <a:r>
              <a:rPr lang="vi-VN" dirty="0"/>
              <a:t>Các loại cơ sở dữ liệu:</a:t>
            </a:r>
          </a:p>
          <a:p>
            <a:pPr marL="285750" indent="-285750">
              <a:lnSpc>
                <a:spcPct val="150000"/>
              </a:lnSpc>
              <a:buFont typeface="Arial" panose="020B0604020202020204" pitchFamily="34" charset="0"/>
              <a:buChar char="•"/>
            </a:pPr>
            <a:r>
              <a:rPr lang="vi-VN" dirty="0"/>
              <a:t>Quan hệ: PostgreSQL</a:t>
            </a:r>
            <a:br>
              <a:rPr lang="vi-VN" dirty="0"/>
            </a:br>
            <a:r>
              <a:rPr lang="vi-VN" dirty="0"/>
              <a:t>NoSQL phân tán: Apache Cassandra</a:t>
            </a:r>
            <a:br>
              <a:rPr lang="vi-VN" dirty="0"/>
            </a:br>
            <a:r>
              <a:rPr lang="vi-VN" dirty="0"/>
              <a:t>Chuỗi thời gian: InfluxDB</a:t>
            </a:r>
          </a:p>
          <a:p>
            <a:pPr>
              <a:lnSpc>
                <a:spcPct val="150000"/>
              </a:lnSpc>
            </a:pPr>
            <a:r>
              <a:rPr lang="vi-VN" dirty="0"/>
              <a:t>Kỹ thuật xử lý dữ liệu:</a:t>
            </a:r>
          </a:p>
          <a:p>
            <a:pPr marL="285750" indent="-285750">
              <a:lnSpc>
                <a:spcPct val="150000"/>
              </a:lnSpc>
              <a:buFont typeface="Arial" panose="020B0604020202020204" pitchFamily="34" charset="0"/>
              <a:buChar char="•"/>
            </a:pPr>
            <a:r>
              <a:rPr lang="vi-VN" dirty="0"/>
              <a:t>Batch processing</a:t>
            </a:r>
            <a:br>
              <a:rPr lang="vi-VN" dirty="0"/>
            </a:br>
            <a:r>
              <a:rPr lang="vi-VN" dirty="0"/>
              <a:t>Stream processing</a:t>
            </a:r>
            <a:br>
              <a:rPr lang="vi-VN" dirty="0"/>
            </a:br>
            <a:r>
              <a:rPr lang="vi-VN" dirty="0"/>
              <a:t>Event-driven processing</a:t>
            </a:r>
          </a:p>
          <a:p>
            <a:pPr>
              <a:lnSpc>
                <a:spcPct val="150000"/>
              </a:lnSpc>
            </a:pPr>
            <a:r>
              <a:rPr lang="vi-VN" dirty="0"/>
              <a:t>Hỗ trợ phân tích thống kê, dự báo và phát hiện bất thường.</a:t>
            </a:r>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1A293D32-945B-5C68-3C7E-E515D8B91AFF}"/>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1.2 </a:t>
            </a:r>
            <a:r>
              <a:rPr lang="en-US" sz="2400" b="1" dirty="0" err="1">
                <a:solidFill>
                  <a:srgbClr val="0C0C0C"/>
                </a:solidFill>
                <a:latin typeface="Arial"/>
                <a:ea typeface="Arial"/>
                <a:cs typeface="Arial"/>
                <a:sym typeface="Arial"/>
              </a:rPr>
              <a:t>Kiến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trúc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kĩ</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thuật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các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pic>
        <p:nvPicPr>
          <p:cNvPr id="3" name="Picture 2" descr="Hệ thống IoT là gì? Tìm hiểu thành phần, nguyên lý hoạt động">
            <a:extLst>
              <a:ext uri="{FF2B5EF4-FFF2-40B4-BE49-F238E27FC236}">
                <a16:creationId xmlns:a16="http://schemas.microsoft.com/office/drawing/2014/main" id="{37B0FDE2-921E-FDDE-540E-035BB1AF1E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4349" y="1762487"/>
            <a:ext cx="4951413" cy="2987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6524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0C124F01-5BAB-61B7-82E9-31CD1A293D54}"/>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E1E22292-D2EC-8346-91D2-D9CDAF9FEF62}"/>
              </a:ext>
            </a:extLst>
          </p:cNvPr>
          <p:cNvSpPr/>
          <p:nvPr/>
        </p:nvSpPr>
        <p:spPr>
          <a:xfrm>
            <a:off x="382243" y="932451"/>
            <a:ext cx="9453905" cy="3462486"/>
          </a:xfrm>
          <a:prstGeom prst="rect">
            <a:avLst/>
          </a:prstGeom>
          <a:noFill/>
          <a:ln>
            <a:noFill/>
          </a:ln>
        </p:spPr>
        <p:txBody>
          <a:bodyPr spcFirstLastPara="1" wrap="square" lIns="0" tIns="0" rIns="0" bIns="0" anchor="t" anchorCtr="0">
            <a:spAutoFit/>
          </a:bodyPr>
          <a:lstStyle/>
          <a:p>
            <a:pPr>
              <a:lnSpc>
                <a:spcPct val="150000"/>
              </a:lnSpc>
            </a:pPr>
            <a:r>
              <a:rPr lang="vi-VN" dirty="0"/>
              <a:t>Một hệ thống IoT </a:t>
            </a:r>
            <a:r>
              <a:rPr lang="en-US" dirty="0" err="1"/>
              <a:t>để</a:t>
            </a:r>
            <a:r>
              <a:rPr lang="en-US" dirty="0"/>
              <a:t> </a:t>
            </a:r>
            <a:r>
              <a:rPr lang="en-US" dirty="0" err="1"/>
              <a:t>hoạt</a:t>
            </a:r>
            <a:r>
              <a:rPr lang="en-US" dirty="0"/>
              <a:t> </a:t>
            </a:r>
            <a:r>
              <a:rPr lang="en-US" dirty="0" err="1"/>
              <a:t>động</a:t>
            </a:r>
            <a:r>
              <a:rPr lang="en-US" dirty="0"/>
              <a:t> </a:t>
            </a:r>
            <a:r>
              <a:rPr lang="en-US" dirty="0" err="1"/>
              <a:t>được</a:t>
            </a:r>
            <a:r>
              <a:rPr lang="en-US" dirty="0"/>
              <a:t> </a:t>
            </a:r>
            <a:r>
              <a:rPr lang="en-US" dirty="0" err="1"/>
              <a:t>cần</a:t>
            </a:r>
            <a:r>
              <a:rPr lang="en-US" dirty="0"/>
              <a:t> </a:t>
            </a:r>
            <a:r>
              <a:rPr lang="en-US" dirty="0" err="1"/>
              <a:t>có</a:t>
            </a:r>
            <a:r>
              <a:rPr lang="en-US" dirty="0"/>
              <a:t> </a:t>
            </a:r>
            <a:r>
              <a:rPr lang="en-US" dirty="0" err="1"/>
              <a:t>lõi</a:t>
            </a:r>
            <a:r>
              <a:rPr lang="en-US" dirty="0"/>
              <a:t> </a:t>
            </a:r>
            <a:r>
              <a:rPr lang="en-US" dirty="0" err="1"/>
              <a:t>xử</a:t>
            </a:r>
            <a:r>
              <a:rPr lang="en-US" dirty="0"/>
              <a:t> </a:t>
            </a:r>
            <a:r>
              <a:rPr lang="en-US" dirty="0" err="1"/>
              <a:t>lý</a:t>
            </a:r>
            <a:r>
              <a:rPr lang="en-US" dirty="0"/>
              <a:t> </a:t>
            </a:r>
            <a:r>
              <a:rPr lang="en-US" dirty="0" err="1"/>
              <a:t>và</a:t>
            </a:r>
            <a:r>
              <a:rPr lang="en-US" dirty="0"/>
              <a:t> </a:t>
            </a:r>
            <a:r>
              <a:rPr lang="en-US" dirty="0" err="1"/>
              <a:t>điều</a:t>
            </a:r>
            <a:r>
              <a:rPr lang="en-US" dirty="0"/>
              <a:t> </a:t>
            </a:r>
            <a:r>
              <a:rPr lang="en-US" dirty="0" err="1"/>
              <a:t>phối</a:t>
            </a:r>
            <a:r>
              <a:rPr lang="en-US" dirty="0"/>
              <a:t> </a:t>
            </a:r>
            <a:r>
              <a:rPr lang="en-US" dirty="0" err="1"/>
              <a:t>toàn</a:t>
            </a:r>
            <a:r>
              <a:rPr lang="en-US" dirty="0"/>
              <a:t> </a:t>
            </a:r>
            <a:r>
              <a:rPr lang="en-US" dirty="0" err="1"/>
              <a:t>bộ</a:t>
            </a:r>
            <a:r>
              <a:rPr lang="en-US" dirty="0"/>
              <a:t> </a:t>
            </a:r>
            <a:r>
              <a:rPr lang="en-US" dirty="0" err="1"/>
              <a:t>hệ</a:t>
            </a:r>
            <a:r>
              <a:rPr lang="en-US" dirty="0"/>
              <a:t> </a:t>
            </a:r>
            <a:r>
              <a:rPr lang="en-US" dirty="0" err="1"/>
              <a:t>thống</a:t>
            </a:r>
            <a:r>
              <a:rPr lang="en-US" dirty="0"/>
              <a:t>:</a:t>
            </a:r>
          </a:p>
          <a:p>
            <a:pPr>
              <a:lnSpc>
                <a:spcPct val="150000"/>
              </a:lnSpc>
            </a:pPr>
            <a:r>
              <a:rPr lang="en-US" sz="2400" b="1" dirty="0" err="1">
                <a:solidFill>
                  <a:srgbClr val="0C0C0C"/>
                </a:solidFill>
              </a:rPr>
              <a:t>Nền</a:t>
            </a:r>
            <a:r>
              <a:rPr lang="en-US" sz="2400" b="1" dirty="0">
                <a:solidFill>
                  <a:srgbClr val="0C0C0C"/>
                </a:solidFill>
              </a:rPr>
              <a:t> </a:t>
            </a:r>
            <a:r>
              <a:rPr lang="en-US" sz="2400" b="1" dirty="0" err="1">
                <a:solidFill>
                  <a:srgbClr val="0C0C0C"/>
                </a:solidFill>
              </a:rPr>
              <a:t>tảng</a:t>
            </a:r>
            <a:r>
              <a:rPr lang="en-US" sz="2400" b="1" dirty="0">
                <a:solidFill>
                  <a:srgbClr val="0C0C0C"/>
                </a:solidFill>
              </a:rPr>
              <a:t> IOT(IoT Platform)</a:t>
            </a:r>
            <a:r>
              <a:rPr lang="vi-VN" sz="2400" b="1" dirty="0">
                <a:solidFill>
                  <a:srgbClr val="0C0C0C"/>
                </a:solidFill>
              </a:rPr>
              <a:t>:</a:t>
            </a:r>
          </a:p>
          <a:p>
            <a:pPr>
              <a:lnSpc>
                <a:spcPct val="150000"/>
              </a:lnSpc>
            </a:pPr>
            <a:r>
              <a:rPr lang="en-US" b="1" dirty="0"/>
              <a:t>3 Application Enablement</a:t>
            </a:r>
          </a:p>
          <a:p>
            <a:pPr>
              <a:lnSpc>
                <a:spcPct val="150000"/>
              </a:lnSpc>
            </a:pPr>
            <a:r>
              <a:rPr lang="en-US" dirty="0" err="1"/>
              <a:t>Lớp</a:t>
            </a:r>
            <a:r>
              <a:rPr lang="en-US" dirty="0"/>
              <a:t> </a:t>
            </a:r>
            <a:r>
              <a:rPr lang="en-US" dirty="0" err="1"/>
              <a:t>cung</a:t>
            </a:r>
            <a:r>
              <a:rPr lang="en-US" dirty="0"/>
              <a:t> </a:t>
            </a:r>
            <a:r>
              <a:rPr lang="en-US" dirty="0" err="1"/>
              <a:t>cấp</a:t>
            </a:r>
            <a:r>
              <a:rPr lang="en-US" dirty="0"/>
              <a:t> </a:t>
            </a:r>
            <a:r>
              <a:rPr lang="en-US" dirty="0" err="1"/>
              <a:t>giao</a:t>
            </a:r>
            <a:r>
              <a:rPr lang="en-US" dirty="0"/>
              <a:t> </a:t>
            </a:r>
            <a:r>
              <a:rPr lang="en-US" dirty="0" err="1"/>
              <a:t>diện</a:t>
            </a:r>
            <a:r>
              <a:rPr lang="en-US" dirty="0"/>
              <a:t> </a:t>
            </a:r>
            <a:r>
              <a:rPr lang="en-US" dirty="0" err="1"/>
              <a:t>và</a:t>
            </a:r>
            <a:r>
              <a:rPr lang="en-US" dirty="0"/>
              <a:t> </a:t>
            </a:r>
            <a:r>
              <a:rPr lang="en-US" dirty="0" err="1"/>
              <a:t>công</a:t>
            </a:r>
            <a:r>
              <a:rPr lang="en-US" dirty="0"/>
              <a:t> </a:t>
            </a:r>
            <a:r>
              <a:rPr lang="en-US" dirty="0" err="1"/>
              <a:t>cụ</a:t>
            </a:r>
            <a:r>
              <a:rPr lang="en-US" dirty="0"/>
              <a:t> </a:t>
            </a:r>
            <a:r>
              <a:rPr lang="en-US" dirty="0" err="1"/>
              <a:t>phát</a:t>
            </a:r>
            <a:r>
              <a:rPr lang="en-US" dirty="0"/>
              <a:t> </a:t>
            </a:r>
            <a:r>
              <a:rPr lang="en-US" dirty="0" err="1"/>
              <a:t>triển</a:t>
            </a:r>
            <a:r>
              <a:rPr lang="en-US" dirty="0"/>
              <a:t>.</a:t>
            </a:r>
          </a:p>
          <a:p>
            <a:pPr>
              <a:lnSpc>
                <a:spcPct val="150000"/>
              </a:lnSpc>
            </a:pPr>
            <a:r>
              <a:rPr lang="en-US" dirty="0"/>
              <a:t>Thành </a:t>
            </a:r>
            <a:r>
              <a:rPr lang="en-US" dirty="0" err="1"/>
              <a:t>phần</a:t>
            </a:r>
            <a:r>
              <a:rPr lang="en-US" dirty="0"/>
              <a:t>:</a:t>
            </a:r>
          </a:p>
          <a:p>
            <a:pPr marL="285750" indent="-285750">
              <a:lnSpc>
                <a:spcPct val="150000"/>
              </a:lnSpc>
              <a:buFont typeface="Arial" panose="020B0604020202020204" pitchFamily="34" charset="0"/>
              <a:buChar char="•"/>
            </a:pPr>
            <a:r>
              <a:rPr lang="en-US" dirty="0"/>
              <a:t>REST API</a:t>
            </a:r>
            <a:br>
              <a:rPr lang="en-US" dirty="0"/>
            </a:br>
            <a:r>
              <a:rPr lang="en-US" dirty="0"/>
              <a:t>SDK</a:t>
            </a:r>
            <a:br>
              <a:rPr lang="en-US" dirty="0"/>
            </a:br>
            <a:r>
              <a:rPr lang="en-US" dirty="0"/>
              <a:t>Dashboard </a:t>
            </a:r>
            <a:r>
              <a:rPr lang="en-US" dirty="0" err="1"/>
              <a:t>trực</a:t>
            </a:r>
            <a:r>
              <a:rPr lang="en-US" dirty="0"/>
              <a:t> </a:t>
            </a:r>
            <a:r>
              <a:rPr lang="en-US" dirty="0" err="1"/>
              <a:t>quan</a:t>
            </a:r>
            <a:br>
              <a:rPr lang="en-US" dirty="0"/>
            </a:br>
            <a:r>
              <a:rPr lang="en-US" dirty="0"/>
              <a:t>Rule engine (Event–Condition–Action)</a:t>
            </a:r>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772842FE-EC37-B3AA-1289-38BA553578FE}"/>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1.2 </a:t>
            </a:r>
            <a:r>
              <a:rPr lang="en-US" sz="2400" b="1" dirty="0" err="1">
                <a:solidFill>
                  <a:srgbClr val="0C0C0C"/>
                </a:solidFill>
                <a:latin typeface="Arial"/>
                <a:ea typeface="Arial"/>
                <a:cs typeface="Arial"/>
                <a:sym typeface="Arial"/>
              </a:rPr>
              <a:t>Kiến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trúc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kĩ</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thuật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các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pic>
        <p:nvPicPr>
          <p:cNvPr id="14338" name="Picture 2" descr="IoT Application Enablement Platform (AEP) benchmarking report reveals the  diversity of the marketplace - Transforma Insights">
            <a:extLst>
              <a:ext uri="{FF2B5EF4-FFF2-40B4-BE49-F238E27FC236}">
                <a16:creationId xmlns:a16="http://schemas.microsoft.com/office/drawing/2014/main" id="{F700B3AF-12A4-4E17-083B-CD29454AF5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2800" y="1394638"/>
            <a:ext cx="5153348" cy="35909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28EFDAD-B487-7985-0B23-366257EB1D86}"/>
              </a:ext>
            </a:extLst>
          </p:cNvPr>
          <p:cNvSpPr txBox="1"/>
          <p:nvPr/>
        </p:nvSpPr>
        <p:spPr>
          <a:xfrm>
            <a:off x="156034" y="4158407"/>
            <a:ext cx="4752976" cy="698717"/>
          </a:xfrm>
          <a:prstGeom prst="rect">
            <a:avLst/>
          </a:prstGeom>
          <a:noFill/>
        </p:spPr>
        <p:txBody>
          <a:bodyPr wrap="square">
            <a:spAutoFit/>
          </a:bodyPr>
          <a:lstStyle/>
          <a:p>
            <a:pPr>
              <a:lnSpc>
                <a:spcPct val="150000"/>
              </a:lnSpc>
            </a:pPr>
            <a:r>
              <a:rPr lang="en-US" dirty="0"/>
              <a:t>Cho </a:t>
            </a:r>
            <a:r>
              <a:rPr lang="en-US" dirty="0" err="1"/>
              <a:t>phép</a:t>
            </a:r>
            <a:r>
              <a:rPr lang="en-US" dirty="0"/>
              <a:t> </a:t>
            </a:r>
            <a:r>
              <a:rPr lang="en-US" dirty="0" err="1"/>
              <a:t>tích</a:t>
            </a:r>
            <a:r>
              <a:rPr lang="en-US" dirty="0"/>
              <a:t> </a:t>
            </a:r>
            <a:r>
              <a:rPr lang="en-US" dirty="0" err="1"/>
              <a:t>hợp</a:t>
            </a:r>
            <a:r>
              <a:rPr lang="en-US" dirty="0"/>
              <a:t> </a:t>
            </a:r>
            <a:r>
              <a:rPr lang="en-US" dirty="0" err="1"/>
              <a:t>hệ</a:t>
            </a:r>
            <a:r>
              <a:rPr lang="en-US" dirty="0"/>
              <a:t> </a:t>
            </a:r>
            <a:r>
              <a:rPr lang="en-US" dirty="0" err="1"/>
              <a:t>thống</a:t>
            </a:r>
            <a:r>
              <a:rPr lang="en-US" dirty="0"/>
              <a:t> </a:t>
            </a:r>
            <a:r>
              <a:rPr lang="en-US" dirty="0" err="1"/>
              <a:t>bên</a:t>
            </a:r>
            <a:r>
              <a:rPr lang="en-US" dirty="0"/>
              <a:t> </a:t>
            </a:r>
            <a:r>
              <a:rPr lang="en-US" dirty="0" err="1"/>
              <a:t>ngoài</a:t>
            </a:r>
            <a:r>
              <a:rPr lang="en-US" dirty="0"/>
              <a:t> </a:t>
            </a:r>
            <a:r>
              <a:rPr lang="en-US" dirty="0" err="1"/>
              <a:t>và</a:t>
            </a:r>
            <a:r>
              <a:rPr lang="en-US" dirty="0"/>
              <a:t> </a:t>
            </a:r>
            <a:r>
              <a:rPr lang="en-US" dirty="0" err="1"/>
              <a:t>triển</a:t>
            </a:r>
            <a:r>
              <a:rPr lang="en-US" dirty="0"/>
              <a:t> </a:t>
            </a:r>
            <a:r>
              <a:rPr lang="en-US" dirty="0" err="1"/>
              <a:t>khai</a:t>
            </a:r>
            <a:r>
              <a:rPr lang="en-US" dirty="0"/>
              <a:t> </a:t>
            </a:r>
            <a:r>
              <a:rPr lang="en-US" dirty="0" err="1"/>
              <a:t>ứng</a:t>
            </a:r>
            <a:r>
              <a:rPr lang="en-US" dirty="0"/>
              <a:t> </a:t>
            </a:r>
            <a:r>
              <a:rPr lang="en-US" dirty="0" err="1"/>
              <a:t>dụng</a:t>
            </a:r>
            <a:r>
              <a:rPr lang="en-US" dirty="0"/>
              <a:t> </a:t>
            </a:r>
            <a:r>
              <a:rPr lang="en-US" dirty="0" err="1"/>
              <a:t>thông</a:t>
            </a:r>
            <a:r>
              <a:rPr lang="en-US" dirty="0"/>
              <a:t> </a:t>
            </a:r>
            <a:r>
              <a:rPr lang="en-US" dirty="0" err="1"/>
              <a:t>minh</a:t>
            </a:r>
            <a:r>
              <a:rPr lang="en-US" dirty="0"/>
              <a:t>.</a:t>
            </a:r>
          </a:p>
        </p:txBody>
      </p:sp>
    </p:spTree>
    <p:extLst>
      <p:ext uri="{BB962C8B-B14F-4D97-AF65-F5344CB8AC3E}">
        <p14:creationId xmlns:p14="http://schemas.microsoft.com/office/powerpoint/2010/main" val="380133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AC221397-68FF-B72B-6F37-1C1DCBDFABCF}"/>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C046D829-B0C1-0CA3-46C7-20CCB261788F}"/>
              </a:ext>
            </a:extLst>
          </p:cNvPr>
          <p:cNvSpPr/>
          <p:nvPr/>
        </p:nvSpPr>
        <p:spPr>
          <a:xfrm>
            <a:off x="918081" y="990736"/>
            <a:ext cx="8819923" cy="110799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chemeClr val="dk1"/>
                </a:solidFill>
              </a:rPr>
              <a:t>Tổng</a:t>
            </a:r>
            <a:r>
              <a:rPr lang="en-US" sz="3600" b="1" dirty="0">
                <a:solidFill>
                  <a:schemeClr val="dk1"/>
                </a:solidFill>
              </a:rPr>
              <a:t> </a:t>
            </a:r>
            <a:r>
              <a:rPr lang="en-US" sz="3600" b="1" dirty="0" err="1">
                <a:solidFill>
                  <a:schemeClr val="dk1"/>
                </a:solidFill>
              </a:rPr>
              <a:t>quan</a:t>
            </a:r>
            <a:r>
              <a:rPr lang="en-US" sz="3600" b="1" dirty="0">
                <a:solidFill>
                  <a:schemeClr val="dk1"/>
                </a:solidFill>
              </a:rPr>
              <a:t> </a:t>
            </a:r>
            <a:r>
              <a:rPr lang="en-US" sz="3600" b="1" dirty="0" err="1">
                <a:solidFill>
                  <a:schemeClr val="dk1"/>
                </a:solidFill>
              </a:rPr>
              <a:t>về</a:t>
            </a:r>
            <a:r>
              <a:rPr lang="en-US" sz="3600" b="1" dirty="0">
                <a:solidFill>
                  <a:schemeClr val="dk1"/>
                </a:solidFill>
              </a:rPr>
              <a:t> </a:t>
            </a:r>
            <a:r>
              <a:rPr lang="en-US" sz="3600" b="1" dirty="0" err="1">
                <a:solidFill>
                  <a:schemeClr val="dk1"/>
                </a:solidFill>
              </a:rPr>
              <a:t>các</a:t>
            </a:r>
            <a:r>
              <a:rPr lang="en-US" sz="3600" b="1" dirty="0">
                <a:solidFill>
                  <a:schemeClr val="dk1"/>
                </a:solidFill>
              </a:rPr>
              <a:t> </a:t>
            </a:r>
            <a:r>
              <a:rPr lang="en-US" sz="3600" b="1" dirty="0" err="1">
                <a:solidFill>
                  <a:schemeClr val="dk1"/>
                </a:solidFill>
              </a:rPr>
              <a:t>nền</a:t>
            </a:r>
            <a:r>
              <a:rPr lang="en-US" sz="3600" b="1" dirty="0">
                <a:solidFill>
                  <a:schemeClr val="dk1"/>
                </a:solidFill>
              </a:rPr>
              <a:t> </a:t>
            </a:r>
            <a:r>
              <a:rPr lang="en-US" sz="3600" b="1" dirty="0" err="1">
                <a:solidFill>
                  <a:schemeClr val="dk1"/>
                </a:solidFill>
              </a:rPr>
              <a:t>tảng</a:t>
            </a:r>
            <a:r>
              <a:rPr lang="en-US" sz="3600" b="1" dirty="0">
                <a:solidFill>
                  <a:schemeClr val="dk1"/>
                </a:solidFill>
              </a:rPr>
              <a:t> </a:t>
            </a:r>
            <a:r>
              <a:rPr lang="en-US" sz="3600" b="1" dirty="0" err="1">
                <a:solidFill>
                  <a:schemeClr val="dk1"/>
                </a:solidFill>
              </a:rPr>
              <a:t>kết</a:t>
            </a:r>
            <a:r>
              <a:rPr lang="en-US" sz="3600" b="1" dirty="0">
                <a:solidFill>
                  <a:schemeClr val="dk1"/>
                </a:solidFill>
              </a:rPr>
              <a:t> </a:t>
            </a:r>
            <a:r>
              <a:rPr lang="en-US" sz="3600" b="1" dirty="0" err="1">
                <a:solidFill>
                  <a:schemeClr val="dk1"/>
                </a:solidFill>
              </a:rPr>
              <a:t>nối</a:t>
            </a:r>
            <a:r>
              <a:rPr lang="en-US" sz="3600" b="1" dirty="0">
                <a:solidFill>
                  <a:schemeClr val="dk1"/>
                </a:solidFill>
              </a:rPr>
              <a:t> </a:t>
            </a:r>
            <a:r>
              <a:rPr lang="en-US" sz="3600" b="1" dirty="0" err="1">
                <a:solidFill>
                  <a:schemeClr val="dk1"/>
                </a:solidFill>
              </a:rPr>
              <a:t>vạn</a:t>
            </a:r>
            <a:r>
              <a:rPr lang="en-US" sz="3600" b="1" dirty="0">
                <a:solidFill>
                  <a:schemeClr val="dk1"/>
                </a:solidFill>
              </a:rPr>
              <a:t> </a:t>
            </a:r>
            <a:r>
              <a:rPr lang="en-US" sz="3600" b="1" dirty="0" err="1">
                <a:solidFill>
                  <a:schemeClr val="dk1"/>
                </a:solidFill>
              </a:rPr>
              <a:t>vật</a:t>
            </a:r>
            <a:r>
              <a:rPr lang="en-US" sz="3600" b="1" dirty="0">
                <a:solidFill>
                  <a:schemeClr val="dk1"/>
                </a:solidFill>
              </a:rPr>
              <a:t> </a:t>
            </a:r>
          </a:p>
        </p:txBody>
      </p:sp>
      <p:sp>
        <p:nvSpPr>
          <p:cNvPr id="177" name="Google Shape;177;p4">
            <a:extLst>
              <a:ext uri="{FF2B5EF4-FFF2-40B4-BE49-F238E27FC236}">
                <a16:creationId xmlns:a16="http://schemas.microsoft.com/office/drawing/2014/main" id="{2FAC4C3D-2779-27D7-A654-607E48F249E6}"/>
              </a:ext>
            </a:extLst>
          </p:cNvPr>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1.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012379F4-7047-BB6C-CA59-6F6EF6D3447C}"/>
              </a:ext>
            </a:extLst>
          </p:cNvPr>
          <p:cNvSpPr/>
          <p:nvPr/>
        </p:nvSpPr>
        <p:spPr>
          <a:xfrm>
            <a:off x="1000274" y="2318181"/>
            <a:ext cx="7671115" cy="1769715"/>
          </a:xfrm>
          <a:prstGeom prst="rect">
            <a:avLst/>
          </a:prstGeom>
          <a:noFill/>
          <a:ln>
            <a:noFill/>
          </a:ln>
        </p:spPr>
        <p:txBody>
          <a:bodyPr spcFirstLastPara="1" wrap="square" lIns="0" tIns="0" rIns="0" bIns="0" anchor="t" anchorCtr="0">
            <a:spAutoFit/>
          </a:bodyPr>
          <a:lstStyle/>
          <a:p>
            <a:pPr marL="176213" lvl="0" indent="-176213">
              <a:buClr>
                <a:srgbClr val="3F3F3F"/>
              </a:buClr>
              <a:buSzPts val="2160"/>
              <a:buFont typeface="Arial"/>
              <a:buChar char="•"/>
            </a:pPr>
            <a:r>
              <a:rPr lang="en-US" sz="1800" dirty="0">
                <a:solidFill>
                  <a:schemeClr val="bg1">
                    <a:lumMod val="75000"/>
                  </a:schemeClr>
                </a:solidFill>
                <a:latin typeface="Arial"/>
                <a:ea typeface="Arial"/>
                <a:cs typeface="Arial"/>
                <a:sym typeface="Arial"/>
              </a:rPr>
              <a:t>1.1. </a:t>
            </a:r>
            <a:r>
              <a:rPr lang="en-US" sz="1800" dirty="0" err="1">
                <a:solidFill>
                  <a:schemeClr val="bg1">
                    <a:lumMod val="75000"/>
                  </a:schemeClr>
                </a:solidFill>
              </a:rPr>
              <a:t>Thực</a:t>
            </a:r>
            <a:r>
              <a:rPr lang="en-US" sz="1800" dirty="0">
                <a:solidFill>
                  <a:schemeClr val="bg1">
                    <a:lumMod val="75000"/>
                  </a:schemeClr>
                </a:solidFill>
              </a:rPr>
              <a:t> </a:t>
            </a:r>
            <a:r>
              <a:rPr lang="en-US" sz="1800" dirty="0" err="1">
                <a:solidFill>
                  <a:schemeClr val="bg1">
                    <a:lumMod val="75000"/>
                  </a:schemeClr>
                </a:solidFill>
              </a:rPr>
              <a:t>trạng</a:t>
            </a:r>
            <a:r>
              <a:rPr lang="en-US" sz="1800" dirty="0">
                <a:solidFill>
                  <a:schemeClr val="bg1">
                    <a:lumMod val="75000"/>
                  </a:schemeClr>
                </a:solidFill>
              </a:rPr>
              <a:t> </a:t>
            </a:r>
            <a:r>
              <a:rPr lang="en-US" sz="1800" dirty="0" err="1">
                <a:solidFill>
                  <a:schemeClr val="bg1">
                    <a:lumMod val="75000"/>
                  </a:schemeClr>
                </a:solidFill>
              </a:rPr>
              <a:t>và</a:t>
            </a:r>
            <a:r>
              <a:rPr lang="en-US" sz="1800" dirty="0">
                <a:solidFill>
                  <a:schemeClr val="bg1">
                    <a:lumMod val="75000"/>
                  </a:schemeClr>
                </a:solidFill>
              </a:rPr>
              <a:t> </a:t>
            </a:r>
            <a:r>
              <a:rPr lang="en-US" sz="1800" dirty="0" err="1">
                <a:solidFill>
                  <a:schemeClr val="bg1">
                    <a:lumMod val="75000"/>
                  </a:schemeClr>
                </a:solidFill>
              </a:rPr>
              <a:t>hạn</a:t>
            </a:r>
            <a:r>
              <a:rPr lang="en-US" sz="1800" dirty="0">
                <a:solidFill>
                  <a:schemeClr val="bg1">
                    <a:lumMod val="75000"/>
                  </a:schemeClr>
                </a:solidFill>
              </a:rPr>
              <a:t> </a:t>
            </a:r>
            <a:r>
              <a:rPr lang="en-US" sz="1800" dirty="0" err="1">
                <a:solidFill>
                  <a:schemeClr val="bg1">
                    <a:lumMod val="75000"/>
                  </a:schemeClr>
                </a:solidFill>
              </a:rPr>
              <a:t>chế</a:t>
            </a:r>
            <a:r>
              <a:rPr lang="en-US" sz="1800" dirty="0">
                <a:solidFill>
                  <a:schemeClr val="bg1">
                    <a:lumMod val="75000"/>
                  </a:schemeClr>
                </a:solidFill>
              </a:rPr>
              <a:t> </a:t>
            </a:r>
            <a:r>
              <a:rPr lang="en-US" sz="1800" dirty="0" err="1">
                <a:solidFill>
                  <a:schemeClr val="bg1">
                    <a:lumMod val="75000"/>
                  </a:schemeClr>
                </a:solidFill>
              </a:rPr>
              <a:t>của</a:t>
            </a:r>
            <a:r>
              <a:rPr lang="en-US" sz="1800" dirty="0">
                <a:solidFill>
                  <a:schemeClr val="bg1">
                    <a:lumMod val="75000"/>
                  </a:schemeClr>
                </a:solidFill>
              </a:rPr>
              <a:t> </a:t>
            </a:r>
            <a:r>
              <a:rPr lang="en-US" sz="1800" dirty="0" err="1">
                <a:solidFill>
                  <a:schemeClr val="bg1">
                    <a:lumMod val="75000"/>
                  </a:schemeClr>
                </a:solidFill>
              </a:rPr>
              <a:t>hệ</a:t>
            </a:r>
            <a:r>
              <a:rPr lang="en-US" sz="1800" dirty="0">
                <a:solidFill>
                  <a:schemeClr val="bg1">
                    <a:lumMod val="75000"/>
                  </a:schemeClr>
                </a:solidFill>
              </a:rPr>
              <a:t> </a:t>
            </a:r>
            <a:r>
              <a:rPr lang="en-US" sz="1800" dirty="0" err="1">
                <a:solidFill>
                  <a:schemeClr val="bg1">
                    <a:lumMod val="75000"/>
                  </a:schemeClr>
                </a:solidFill>
              </a:rPr>
              <a:t>thống</a:t>
            </a:r>
            <a:r>
              <a:rPr lang="en-US" sz="1800" dirty="0">
                <a:solidFill>
                  <a:schemeClr val="bg1">
                    <a:lumMod val="75000"/>
                  </a:schemeClr>
                </a:solidFill>
              </a:rPr>
              <a:t> </a:t>
            </a:r>
            <a:r>
              <a:rPr lang="en-US" sz="1800" dirty="0" err="1">
                <a:solidFill>
                  <a:schemeClr val="bg1">
                    <a:lumMod val="75000"/>
                  </a:schemeClr>
                </a:solidFill>
              </a:rPr>
              <a:t>giám</a:t>
            </a:r>
            <a:r>
              <a:rPr lang="en-US" sz="1800" dirty="0">
                <a:solidFill>
                  <a:schemeClr val="bg1">
                    <a:lumMod val="75000"/>
                  </a:schemeClr>
                </a:solidFill>
              </a:rPr>
              <a:t> </a:t>
            </a:r>
            <a:r>
              <a:rPr lang="en-US" sz="1800" dirty="0" err="1">
                <a:solidFill>
                  <a:schemeClr val="bg1">
                    <a:lumMod val="75000"/>
                  </a:schemeClr>
                </a:solidFill>
              </a:rPr>
              <a:t>sát</a:t>
            </a:r>
            <a:r>
              <a:rPr lang="en-US" sz="1800" dirty="0">
                <a:solidFill>
                  <a:schemeClr val="bg1">
                    <a:lumMod val="75000"/>
                  </a:schemeClr>
                </a:solidFill>
              </a:rPr>
              <a:t> </a:t>
            </a:r>
            <a:r>
              <a:rPr lang="en-US" sz="1800" dirty="0" err="1">
                <a:solidFill>
                  <a:schemeClr val="bg1">
                    <a:lumMod val="75000"/>
                  </a:schemeClr>
                </a:solidFill>
              </a:rPr>
              <a:t>truyền</a:t>
            </a:r>
            <a:r>
              <a:rPr lang="en-US" sz="1800" dirty="0">
                <a:solidFill>
                  <a:schemeClr val="bg1">
                    <a:lumMod val="75000"/>
                  </a:schemeClr>
                </a:solidFill>
              </a:rPr>
              <a:t> </a:t>
            </a:r>
            <a:r>
              <a:rPr lang="en-US" sz="1800" dirty="0" err="1">
                <a:solidFill>
                  <a:schemeClr val="bg1">
                    <a:lumMod val="75000"/>
                  </a:schemeClr>
                </a:solidFill>
              </a:rPr>
              <a:t>thống</a:t>
            </a:r>
            <a:r>
              <a:rPr lang="en-US" sz="1800" dirty="0">
                <a:solidFill>
                  <a:schemeClr val="bg1">
                    <a:lumMod val="75000"/>
                  </a:schemeClr>
                </a:solidFill>
              </a:rPr>
              <a:t>, </a:t>
            </a:r>
            <a:r>
              <a:rPr lang="en-US" sz="1800" dirty="0" err="1">
                <a:solidFill>
                  <a:schemeClr val="bg1">
                    <a:lumMod val="75000"/>
                  </a:schemeClr>
                </a:solidFill>
              </a:rPr>
              <a:t>nhu</a:t>
            </a:r>
            <a:r>
              <a:rPr lang="en-US" sz="1800" dirty="0">
                <a:solidFill>
                  <a:schemeClr val="bg1">
                    <a:lumMod val="75000"/>
                  </a:schemeClr>
                </a:solidFill>
              </a:rPr>
              <a:t> </a:t>
            </a:r>
            <a:r>
              <a:rPr lang="en-US" sz="1800" dirty="0" err="1">
                <a:solidFill>
                  <a:schemeClr val="bg1">
                    <a:lumMod val="75000"/>
                  </a:schemeClr>
                </a:solidFill>
              </a:rPr>
              <a:t>cầu</a:t>
            </a:r>
            <a:r>
              <a:rPr lang="en-US" sz="1800" dirty="0">
                <a:solidFill>
                  <a:schemeClr val="bg1">
                    <a:lumMod val="75000"/>
                  </a:schemeClr>
                </a:solidFill>
              </a:rPr>
              <a:t> </a:t>
            </a:r>
            <a:r>
              <a:rPr lang="en-US" sz="1800" dirty="0" err="1">
                <a:solidFill>
                  <a:schemeClr val="bg1">
                    <a:lumMod val="75000"/>
                  </a:schemeClr>
                </a:solidFill>
              </a:rPr>
              <a:t>về</a:t>
            </a:r>
            <a:r>
              <a:rPr lang="en-US" sz="1800" dirty="0">
                <a:solidFill>
                  <a:schemeClr val="bg1">
                    <a:lumMod val="75000"/>
                  </a:schemeClr>
                </a:solidFill>
              </a:rPr>
              <a:t> IOT platform </a:t>
            </a:r>
            <a:r>
              <a:rPr lang="en-US" sz="1800" dirty="0" err="1">
                <a:solidFill>
                  <a:schemeClr val="bg1">
                    <a:lumMod val="75000"/>
                  </a:schemeClr>
                </a:solidFill>
              </a:rPr>
              <a:t>tổng</a:t>
            </a:r>
            <a:r>
              <a:rPr lang="en-US" sz="1800" dirty="0">
                <a:solidFill>
                  <a:schemeClr val="bg1">
                    <a:lumMod val="75000"/>
                  </a:schemeClr>
                </a:solidFill>
              </a:rPr>
              <a:t> </a:t>
            </a:r>
            <a:r>
              <a:rPr lang="en-US" sz="1800" dirty="0" err="1">
                <a:solidFill>
                  <a:schemeClr val="bg1">
                    <a:lumMod val="75000"/>
                  </a:schemeClr>
                </a:solidFill>
              </a:rPr>
              <a:t>quát</a:t>
            </a:r>
            <a:r>
              <a:rPr lang="en-US" sz="1800" dirty="0">
                <a:solidFill>
                  <a:schemeClr val="bg1">
                    <a:lumMod val="75000"/>
                  </a:schemeClr>
                </a:solidFill>
              </a:rPr>
              <a:t> </a:t>
            </a:r>
            <a:r>
              <a:rPr lang="en-US" sz="1800" dirty="0" err="1">
                <a:solidFill>
                  <a:schemeClr val="bg1">
                    <a:lumMod val="75000"/>
                  </a:schemeClr>
                </a:solidFill>
              </a:rPr>
              <a:t>và</a:t>
            </a:r>
            <a:r>
              <a:rPr lang="en-US" sz="1800" dirty="0">
                <a:solidFill>
                  <a:schemeClr val="bg1">
                    <a:lumMod val="75000"/>
                  </a:schemeClr>
                </a:solidFill>
              </a:rPr>
              <a:t> </a:t>
            </a:r>
            <a:r>
              <a:rPr lang="en-US" sz="1800" dirty="0" err="1">
                <a:solidFill>
                  <a:schemeClr val="bg1">
                    <a:lumMod val="75000"/>
                  </a:schemeClr>
                </a:solidFill>
              </a:rPr>
              <a:t>linh</a:t>
            </a:r>
            <a:r>
              <a:rPr lang="en-US" sz="1800" dirty="0">
                <a:solidFill>
                  <a:schemeClr val="bg1">
                    <a:lumMod val="75000"/>
                  </a:schemeClr>
                </a:solidFill>
              </a:rPr>
              <a:t> </a:t>
            </a:r>
            <a:r>
              <a:rPr lang="en-US" sz="1800" dirty="0" err="1">
                <a:solidFill>
                  <a:schemeClr val="bg1">
                    <a:lumMod val="75000"/>
                  </a:schemeClr>
                </a:solidFill>
              </a:rPr>
              <a:t>hoạt</a:t>
            </a:r>
            <a:endParaRPr dirty="0">
              <a:solidFill>
                <a:schemeClr val="bg1">
                  <a:lumMod val="75000"/>
                </a:schemeClr>
              </a:solidFill>
            </a:endParaRPr>
          </a:p>
          <a:p>
            <a:pPr marL="176213" marR="0" lvl="0" indent="-176213" algn="l" rtl="0">
              <a:spcBef>
                <a:spcPts val="1000"/>
              </a:spcBef>
              <a:spcAft>
                <a:spcPts val="0"/>
              </a:spcAft>
              <a:buClr>
                <a:srgbClr val="A6A6A6"/>
              </a:buClr>
              <a:buSzPts val="2160"/>
              <a:buFont typeface="Arial"/>
              <a:buChar char="•"/>
            </a:pPr>
            <a:r>
              <a:rPr lang="en-US" sz="1800" dirty="0">
                <a:solidFill>
                  <a:schemeClr val="tx1"/>
                </a:solidFill>
                <a:latin typeface="Arial"/>
                <a:ea typeface="Arial"/>
                <a:cs typeface="Arial"/>
                <a:sym typeface="Arial"/>
              </a:rPr>
              <a:t>1.2. </a:t>
            </a:r>
            <a:r>
              <a:rPr lang="en-US" sz="1800" dirty="0" err="1">
                <a:solidFill>
                  <a:schemeClr val="tx1"/>
                </a:solidFill>
              </a:rPr>
              <a:t>Kiến</a:t>
            </a:r>
            <a:r>
              <a:rPr lang="en-US" sz="1800" dirty="0">
                <a:solidFill>
                  <a:schemeClr val="tx1"/>
                </a:solidFill>
              </a:rPr>
              <a:t> </a:t>
            </a:r>
            <a:r>
              <a:rPr lang="en-US" sz="1800" dirty="0" err="1">
                <a:solidFill>
                  <a:schemeClr val="tx1"/>
                </a:solidFill>
              </a:rPr>
              <a:t>trúc</a:t>
            </a:r>
            <a:r>
              <a:rPr lang="en-US" sz="1800" dirty="0">
                <a:solidFill>
                  <a:schemeClr val="tx1"/>
                </a:solidFill>
              </a:rPr>
              <a:t> </a:t>
            </a:r>
            <a:r>
              <a:rPr lang="en-US" sz="1800" dirty="0" err="1">
                <a:solidFill>
                  <a:schemeClr val="tx1"/>
                </a:solidFill>
              </a:rPr>
              <a:t>và</a:t>
            </a:r>
            <a:r>
              <a:rPr lang="en-US" sz="1800" dirty="0">
                <a:solidFill>
                  <a:schemeClr val="tx1"/>
                </a:solidFill>
              </a:rPr>
              <a:t> </a:t>
            </a:r>
            <a:r>
              <a:rPr lang="en-US" sz="1800" dirty="0" err="1">
                <a:solidFill>
                  <a:schemeClr val="tx1"/>
                </a:solidFill>
              </a:rPr>
              <a:t>kĩ</a:t>
            </a:r>
            <a:r>
              <a:rPr lang="en-US" sz="1800" dirty="0">
                <a:solidFill>
                  <a:schemeClr val="tx1"/>
                </a:solidFill>
              </a:rPr>
              <a:t> </a:t>
            </a:r>
            <a:r>
              <a:rPr lang="en-US" sz="1800" dirty="0" err="1">
                <a:solidFill>
                  <a:schemeClr val="tx1"/>
                </a:solidFill>
              </a:rPr>
              <a:t>thuật</a:t>
            </a:r>
            <a:r>
              <a:rPr lang="en-US" sz="1800" dirty="0">
                <a:solidFill>
                  <a:schemeClr val="tx1"/>
                </a:solidFill>
              </a:rPr>
              <a:t> </a:t>
            </a:r>
            <a:r>
              <a:rPr lang="en-US" sz="1800" dirty="0" err="1">
                <a:solidFill>
                  <a:schemeClr val="tx1"/>
                </a:solidFill>
              </a:rPr>
              <a:t>các</a:t>
            </a:r>
            <a:r>
              <a:rPr lang="en-US" sz="1800" dirty="0">
                <a:solidFill>
                  <a:schemeClr val="tx1"/>
                </a:solidFill>
              </a:rPr>
              <a:t> </a:t>
            </a:r>
            <a:r>
              <a:rPr lang="en-US" sz="1800" dirty="0" err="1">
                <a:solidFill>
                  <a:schemeClr val="tx1"/>
                </a:solidFill>
              </a:rPr>
              <a:t>nền</a:t>
            </a:r>
            <a:r>
              <a:rPr lang="en-US" sz="1800" dirty="0">
                <a:solidFill>
                  <a:schemeClr val="tx1"/>
                </a:solidFill>
              </a:rPr>
              <a:t> </a:t>
            </a:r>
            <a:r>
              <a:rPr lang="en-US" sz="1800" dirty="0" err="1">
                <a:solidFill>
                  <a:schemeClr val="tx1"/>
                </a:solidFill>
              </a:rPr>
              <a:t>tảng</a:t>
            </a:r>
            <a:r>
              <a:rPr lang="en-US" sz="1800" dirty="0">
                <a:solidFill>
                  <a:schemeClr val="tx1"/>
                </a:solidFill>
              </a:rPr>
              <a:t> IOT</a:t>
            </a:r>
          </a:p>
          <a:p>
            <a:pPr marL="176213" marR="0" lvl="0" indent="-176213" algn="l" rtl="0">
              <a:spcBef>
                <a:spcPts val="1000"/>
              </a:spcBef>
              <a:spcAft>
                <a:spcPts val="0"/>
              </a:spcAft>
              <a:buClr>
                <a:srgbClr val="A6A6A6"/>
              </a:buClr>
              <a:buSzPts val="2160"/>
              <a:buFont typeface="Arial"/>
              <a:buChar char="•"/>
            </a:pPr>
            <a:r>
              <a:rPr lang="en-US" sz="1800" dirty="0">
                <a:solidFill>
                  <a:schemeClr val="bg1">
                    <a:lumMod val="75000"/>
                  </a:schemeClr>
                </a:solidFill>
                <a:latin typeface="Arial"/>
                <a:ea typeface="Arial"/>
                <a:cs typeface="Arial"/>
                <a:sym typeface="Arial"/>
              </a:rPr>
              <a:t>1.3 Các </a:t>
            </a:r>
            <a:r>
              <a:rPr lang="en-US" sz="1800" dirty="0" err="1">
                <a:solidFill>
                  <a:schemeClr val="bg1">
                    <a:lumMod val="75000"/>
                  </a:schemeClr>
                </a:solidFill>
                <a:latin typeface="Arial"/>
                <a:ea typeface="Arial"/>
                <a:cs typeface="Arial"/>
                <a:sym typeface="Arial"/>
              </a:rPr>
              <a:t>nền</a:t>
            </a:r>
            <a:r>
              <a:rPr lang="en-US" sz="1800" dirty="0">
                <a:solidFill>
                  <a:schemeClr val="bg1">
                    <a:lumMod val="75000"/>
                  </a:schemeClr>
                </a:solidFill>
                <a:latin typeface="Arial"/>
                <a:ea typeface="Arial"/>
                <a:cs typeface="Arial"/>
                <a:sym typeface="Arial"/>
              </a:rPr>
              <a:t> </a:t>
            </a:r>
            <a:r>
              <a:rPr lang="en-US" sz="1800" dirty="0" err="1">
                <a:solidFill>
                  <a:schemeClr val="bg1">
                    <a:lumMod val="75000"/>
                  </a:schemeClr>
                </a:solidFill>
                <a:latin typeface="Arial"/>
                <a:ea typeface="Arial"/>
                <a:cs typeface="Arial"/>
                <a:sym typeface="Arial"/>
              </a:rPr>
              <a:t>tảng</a:t>
            </a:r>
            <a:r>
              <a:rPr lang="en-US" sz="1800" dirty="0">
                <a:solidFill>
                  <a:schemeClr val="bg1">
                    <a:lumMod val="75000"/>
                  </a:schemeClr>
                </a:solidFill>
                <a:latin typeface="Arial"/>
                <a:ea typeface="Arial"/>
                <a:cs typeface="Arial"/>
                <a:sym typeface="Arial"/>
              </a:rPr>
              <a:t> IOT</a:t>
            </a:r>
          </a:p>
          <a:p>
            <a:pPr marL="176213" marR="0" lvl="0" indent="-176213" algn="l" rtl="0">
              <a:spcBef>
                <a:spcPts val="1000"/>
              </a:spcBef>
              <a:spcAft>
                <a:spcPts val="0"/>
              </a:spcAft>
              <a:buClr>
                <a:srgbClr val="A6A6A6"/>
              </a:buClr>
              <a:buSzPts val="2160"/>
              <a:buFont typeface="Arial"/>
              <a:buChar char="•"/>
            </a:pPr>
            <a:endParaRPr sz="1800"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1168272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52A6A284-3605-0419-EC33-73D10621E487}"/>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EE205EE6-5A66-4955-6C6A-C538C14563E9}"/>
              </a:ext>
            </a:extLst>
          </p:cNvPr>
          <p:cNvSpPr/>
          <p:nvPr/>
        </p:nvSpPr>
        <p:spPr>
          <a:xfrm>
            <a:off x="393013" y="875301"/>
            <a:ext cx="9257056" cy="4247317"/>
          </a:xfrm>
          <a:prstGeom prst="rect">
            <a:avLst/>
          </a:prstGeom>
          <a:noFill/>
          <a:ln>
            <a:noFill/>
          </a:ln>
        </p:spPr>
        <p:txBody>
          <a:bodyPr spcFirstLastPara="1" wrap="square" lIns="0" tIns="0" rIns="0" bIns="0" anchor="t" anchorCtr="0">
            <a:spAutoFit/>
          </a:bodyPr>
          <a:lstStyle/>
          <a:p>
            <a:r>
              <a:rPr lang="en-US" sz="2400" b="1" dirty="0">
                <a:solidFill>
                  <a:srgbClr val="0C0C0C"/>
                </a:solidFill>
              </a:rPr>
              <a:t>Bảo </a:t>
            </a:r>
            <a:r>
              <a:rPr lang="en-US" sz="2400" b="1" dirty="0" err="1">
                <a:solidFill>
                  <a:srgbClr val="0C0C0C"/>
                </a:solidFill>
              </a:rPr>
              <a:t>mật</a:t>
            </a:r>
            <a:r>
              <a:rPr lang="en-US" sz="2400" b="1" dirty="0">
                <a:solidFill>
                  <a:srgbClr val="0C0C0C"/>
                </a:solidFill>
              </a:rPr>
              <a:t> </a:t>
            </a:r>
            <a:r>
              <a:rPr lang="en-US" sz="2400" b="1" dirty="0" err="1">
                <a:solidFill>
                  <a:srgbClr val="0C0C0C"/>
                </a:solidFill>
              </a:rPr>
              <a:t>hệ</a:t>
            </a:r>
            <a:r>
              <a:rPr lang="en-US" sz="2400" b="1" dirty="0">
                <a:solidFill>
                  <a:srgbClr val="0C0C0C"/>
                </a:solidFill>
              </a:rPr>
              <a:t> </a:t>
            </a:r>
            <a:r>
              <a:rPr lang="en-US" sz="2400" b="1" dirty="0" err="1">
                <a:solidFill>
                  <a:srgbClr val="0C0C0C"/>
                </a:solidFill>
              </a:rPr>
              <a:t>thống</a:t>
            </a:r>
            <a:r>
              <a:rPr lang="en-US" sz="2400" b="1" dirty="0">
                <a:solidFill>
                  <a:srgbClr val="0C0C0C"/>
                </a:solidFill>
              </a:rPr>
              <a:t> (Security Layer)</a:t>
            </a:r>
          </a:p>
          <a:p>
            <a:pPr>
              <a:lnSpc>
                <a:spcPct val="150000"/>
              </a:lnSpc>
            </a:pPr>
            <a:r>
              <a:rPr lang="en-US" dirty="0"/>
              <a:t>Bảo </a:t>
            </a:r>
            <a:r>
              <a:rPr lang="en-US" dirty="0" err="1"/>
              <a:t>mật</a:t>
            </a:r>
            <a:r>
              <a:rPr lang="en-US" dirty="0"/>
              <a:t> </a:t>
            </a:r>
            <a:r>
              <a:rPr lang="en-US" dirty="0" err="1"/>
              <a:t>là</a:t>
            </a:r>
            <a:r>
              <a:rPr lang="en-US" dirty="0"/>
              <a:t> </a:t>
            </a:r>
            <a:r>
              <a:rPr lang="en-US" dirty="0" err="1"/>
              <a:t>lớp</a:t>
            </a:r>
            <a:r>
              <a:rPr lang="en-US" dirty="0"/>
              <a:t> </a:t>
            </a:r>
            <a:r>
              <a:rPr lang="en-US" dirty="0" err="1"/>
              <a:t>xuyên</a:t>
            </a:r>
            <a:r>
              <a:rPr lang="en-US" dirty="0"/>
              <a:t> </a:t>
            </a:r>
            <a:r>
              <a:rPr lang="en-US" dirty="0" err="1"/>
              <a:t>suốt</a:t>
            </a:r>
            <a:r>
              <a:rPr lang="en-US" dirty="0"/>
              <a:t> </a:t>
            </a:r>
            <a:r>
              <a:rPr lang="en-US" dirty="0" err="1"/>
              <a:t>toàn</a:t>
            </a:r>
            <a:r>
              <a:rPr lang="en-US" dirty="0"/>
              <a:t> </a:t>
            </a:r>
            <a:r>
              <a:rPr lang="en-US" dirty="0" err="1"/>
              <a:t>bộ</a:t>
            </a:r>
            <a:r>
              <a:rPr lang="en-US" dirty="0"/>
              <a:t> </a:t>
            </a:r>
            <a:r>
              <a:rPr lang="en-US" dirty="0" err="1"/>
              <a:t>kiến</a:t>
            </a:r>
            <a:r>
              <a:rPr lang="en-US" dirty="0"/>
              <a:t> </a:t>
            </a:r>
            <a:r>
              <a:rPr lang="en-US" dirty="0" err="1"/>
              <a:t>trúc</a:t>
            </a:r>
            <a:r>
              <a:rPr lang="en-US" dirty="0"/>
              <a:t>.</a:t>
            </a:r>
          </a:p>
          <a:p>
            <a:pPr>
              <a:lnSpc>
                <a:spcPct val="150000"/>
              </a:lnSpc>
            </a:pPr>
            <a:r>
              <a:rPr lang="en-US" dirty="0"/>
              <a:t>Thành </a:t>
            </a:r>
            <a:r>
              <a:rPr lang="en-US" dirty="0" err="1"/>
              <a:t>phần</a:t>
            </a:r>
            <a:r>
              <a:rPr lang="en-US" dirty="0"/>
              <a:t> </a:t>
            </a:r>
            <a:r>
              <a:rPr lang="en-US" dirty="0" err="1"/>
              <a:t>kỹ</a:t>
            </a:r>
            <a:r>
              <a:rPr lang="en-US" dirty="0"/>
              <a:t> </a:t>
            </a:r>
            <a:r>
              <a:rPr lang="en-US" dirty="0" err="1"/>
              <a:t>thuật</a:t>
            </a:r>
            <a:r>
              <a:rPr lang="en-US" dirty="0"/>
              <a:t>:</a:t>
            </a:r>
          </a:p>
          <a:p>
            <a:pPr marL="285750" indent="-285750">
              <a:lnSpc>
                <a:spcPct val="150000"/>
              </a:lnSpc>
              <a:buFont typeface="Arial" panose="020B0604020202020204" pitchFamily="34" charset="0"/>
              <a:buChar char="•"/>
            </a:pPr>
            <a:r>
              <a:rPr lang="en-US" dirty="0"/>
              <a:t>Authentication</a:t>
            </a:r>
            <a:br>
              <a:rPr lang="en-US" dirty="0"/>
            </a:br>
            <a:r>
              <a:rPr lang="en-US" dirty="0"/>
              <a:t>Authorization</a:t>
            </a:r>
            <a:br>
              <a:rPr lang="en-US" dirty="0"/>
            </a:br>
            <a:r>
              <a:rPr lang="en-US" dirty="0"/>
              <a:t>Certificate management</a:t>
            </a:r>
            <a:br>
              <a:rPr lang="en-US" dirty="0"/>
            </a:br>
            <a:r>
              <a:rPr lang="en-US" dirty="0"/>
              <a:t>Key management</a:t>
            </a:r>
            <a:br>
              <a:rPr lang="en-US" dirty="0"/>
            </a:br>
            <a:r>
              <a:rPr lang="en-US" dirty="0"/>
              <a:t>Secure communication (TLS/DTLS)</a:t>
            </a:r>
          </a:p>
          <a:p>
            <a:pPr>
              <a:lnSpc>
                <a:spcPct val="150000"/>
              </a:lnSpc>
            </a:pPr>
            <a:r>
              <a:rPr lang="en-US" dirty="0" err="1"/>
              <a:t>Mục</a:t>
            </a:r>
            <a:r>
              <a:rPr lang="en-US" dirty="0"/>
              <a:t> </a:t>
            </a:r>
            <a:r>
              <a:rPr lang="en-US" dirty="0" err="1"/>
              <a:t>tiêu</a:t>
            </a:r>
            <a:r>
              <a:rPr lang="en-US" dirty="0"/>
              <a:t>:</a:t>
            </a:r>
          </a:p>
          <a:p>
            <a:pPr marL="285750" indent="-285750">
              <a:lnSpc>
                <a:spcPct val="150000"/>
              </a:lnSpc>
              <a:buFont typeface="Arial" panose="020B0604020202020204" pitchFamily="34" charset="0"/>
              <a:buChar char="•"/>
            </a:pPr>
            <a:r>
              <a:rPr lang="en-US" dirty="0" err="1"/>
              <a:t>Đảm</a:t>
            </a:r>
            <a:r>
              <a:rPr lang="en-US" dirty="0"/>
              <a:t> </a:t>
            </a:r>
            <a:r>
              <a:rPr lang="en-US" dirty="0" err="1"/>
              <a:t>bảo</a:t>
            </a:r>
            <a:r>
              <a:rPr lang="en-US" dirty="0"/>
              <a:t> </a:t>
            </a:r>
            <a:r>
              <a:rPr lang="en-US" dirty="0" err="1"/>
              <a:t>tính</a:t>
            </a:r>
            <a:r>
              <a:rPr lang="en-US" dirty="0"/>
              <a:t> </a:t>
            </a:r>
            <a:r>
              <a:rPr lang="en-US" dirty="0" err="1"/>
              <a:t>bảo</a:t>
            </a:r>
            <a:r>
              <a:rPr lang="en-US" dirty="0"/>
              <a:t> </a:t>
            </a:r>
            <a:r>
              <a:rPr lang="en-US" dirty="0" err="1"/>
              <a:t>mật</a:t>
            </a:r>
            <a:r>
              <a:rPr lang="en-US" dirty="0"/>
              <a:t> (Confidentiality)</a:t>
            </a:r>
            <a:br>
              <a:rPr lang="en-US" dirty="0"/>
            </a:br>
            <a:r>
              <a:rPr lang="en-US" dirty="0" err="1"/>
              <a:t>Tính</a:t>
            </a:r>
            <a:r>
              <a:rPr lang="en-US" dirty="0"/>
              <a:t> </a:t>
            </a:r>
            <a:r>
              <a:rPr lang="en-US" dirty="0" err="1"/>
              <a:t>toàn</a:t>
            </a:r>
            <a:r>
              <a:rPr lang="en-US" dirty="0"/>
              <a:t> </a:t>
            </a:r>
            <a:r>
              <a:rPr lang="en-US" dirty="0" err="1"/>
              <a:t>vẹn</a:t>
            </a:r>
            <a:r>
              <a:rPr lang="en-US" dirty="0"/>
              <a:t> (Integrity)</a:t>
            </a:r>
            <a:br>
              <a:rPr lang="en-US" dirty="0"/>
            </a:br>
            <a:r>
              <a:rPr lang="en-US" dirty="0" err="1"/>
              <a:t>Tính</a:t>
            </a:r>
            <a:r>
              <a:rPr lang="en-US" dirty="0"/>
              <a:t> </a:t>
            </a:r>
            <a:r>
              <a:rPr lang="en-US" dirty="0" err="1"/>
              <a:t>sẵn</a:t>
            </a:r>
            <a:r>
              <a:rPr lang="en-US" dirty="0"/>
              <a:t> </a:t>
            </a:r>
            <a:r>
              <a:rPr lang="en-US" dirty="0" err="1"/>
              <a:t>sàng</a:t>
            </a:r>
            <a:r>
              <a:rPr lang="en-US" dirty="0"/>
              <a:t> (Availability)</a:t>
            </a:r>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FBB4C222-98DD-0BD7-A2D1-133647E92E54}"/>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1.2 </a:t>
            </a:r>
            <a:r>
              <a:rPr lang="en-US" sz="2400" b="1" dirty="0" err="1">
                <a:solidFill>
                  <a:srgbClr val="0C0C0C"/>
                </a:solidFill>
                <a:latin typeface="Arial"/>
                <a:ea typeface="Arial"/>
                <a:cs typeface="Arial"/>
                <a:sym typeface="Arial"/>
              </a:rPr>
              <a:t>Kiến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trúc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kĩ</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thuật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các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pic>
        <p:nvPicPr>
          <p:cNvPr id="16388" name="Picture 4" descr="IoT Security Architecture | Springer Nature Link">
            <a:extLst>
              <a:ext uri="{FF2B5EF4-FFF2-40B4-BE49-F238E27FC236}">
                <a16:creationId xmlns:a16="http://schemas.microsoft.com/office/drawing/2014/main" id="{9E487C5B-F08E-C2CD-CC1C-38028F989C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8466" y="1657350"/>
            <a:ext cx="4488234" cy="3138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6973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B95A7583-363D-1B1F-96FC-38CED0FE1B11}"/>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B4B2E03F-5700-2913-AD5D-CFB41D19B26C}"/>
              </a:ext>
            </a:extLst>
          </p:cNvPr>
          <p:cNvSpPr/>
          <p:nvPr/>
        </p:nvSpPr>
        <p:spPr>
          <a:xfrm>
            <a:off x="393013" y="875301"/>
            <a:ext cx="9257056" cy="2492990"/>
          </a:xfrm>
          <a:prstGeom prst="rect">
            <a:avLst/>
          </a:prstGeom>
          <a:noFill/>
          <a:ln>
            <a:noFill/>
          </a:ln>
        </p:spPr>
        <p:txBody>
          <a:bodyPr spcFirstLastPara="1" wrap="square" lIns="0" tIns="0" rIns="0" bIns="0" anchor="t" anchorCtr="0">
            <a:spAutoFit/>
          </a:bodyPr>
          <a:lstStyle/>
          <a:p>
            <a:pPr>
              <a:lnSpc>
                <a:spcPct val="150000"/>
              </a:lnSpc>
            </a:pPr>
            <a:r>
              <a:rPr lang="en-US" sz="2400" b="1" dirty="0">
                <a:solidFill>
                  <a:srgbClr val="0C0C0C"/>
                </a:solidFill>
              </a:rPr>
              <a:t>Quản </a:t>
            </a:r>
            <a:r>
              <a:rPr lang="en-US" sz="2400" b="1" dirty="0" err="1">
                <a:solidFill>
                  <a:srgbClr val="0C0C0C"/>
                </a:solidFill>
              </a:rPr>
              <a:t>lý</a:t>
            </a:r>
            <a:r>
              <a:rPr lang="en-US" sz="2400" b="1" dirty="0">
                <a:solidFill>
                  <a:srgbClr val="0C0C0C"/>
                </a:solidFill>
              </a:rPr>
              <a:t> </a:t>
            </a:r>
            <a:r>
              <a:rPr lang="en-US" sz="2400" b="1" dirty="0" err="1">
                <a:solidFill>
                  <a:srgbClr val="0C0C0C"/>
                </a:solidFill>
              </a:rPr>
              <a:t>và</a:t>
            </a:r>
            <a:r>
              <a:rPr lang="en-US" sz="2400" b="1" dirty="0">
                <a:solidFill>
                  <a:srgbClr val="0C0C0C"/>
                </a:solidFill>
              </a:rPr>
              <a:t> </a:t>
            </a:r>
            <a:r>
              <a:rPr lang="en-US" sz="2400" b="1" dirty="0" err="1">
                <a:solidFill>
                  <a:srgbClr val="0C0C0C"/>
                </a:solidFill>
              </a:rPr>
              <a:t>vận</a:t>
            </a:r>
            <a:r>
              <a:rPr lang="en-US" sz="2400" b="1" dirty="0">
                <a:solidFill>
                  <a:srgbClr val="0C0C0C"/>
                </a:solidFill>
              </a:rPr>
              <a:t> </a:t>
            </a:r>
            <a:r>
              <a:rPr lang="en-US" sz="2400" b="1" dirty="0" err="1">
                <a:solidFill>
                  <a:srgbClr val="0C0C0C"/>
                </a:solidFill>
              </a:rPr>
              <a:t>hành</a:t>
            </a:r>
            <a:r>
              <a:rPr lang="en-US" sz="2400" b="1" dirty="0">
                <a:solidFill>
                  <a:srgbClr val="0C0C0C"/>
                </a:solidFill>
              </a:rPr>
              <a:t> (Management Layer)</a:t>
            </a:r>
          </a:p>
          <a:p>
            <a:pPr>
              <a:lnSpc>
                <a:spcPct val="150000"/>
              </a:lnSpc>
            </a:pPr>
            <a:r>
              <a:rPr lang="en-US" dirty="0"/>
              <a:t>Bao </a:t>
            </a:r>
            <a:r>
              <a:rPr lang="en-US" dirty="0" err="1"/>
              <a:t>gồm</a:t>
            </a:r>
            <a:r>
              <a:rPr lang="en-US" dirty="0"/>
              <a:t> </a:t>
            </a:r>
            <a:r>
              <a:rPr lang="en-US" dirty="0" err="1"/>
              <a:t>các</a:t>
            </a:r>
            <a:r>
              <a:rPr lang="en-US" dirty="0"/>
              <a:t> </a:t>
            </a:r>
            <a:r>
              <a:rPr lang="en-US" dirty="0" err="1"/>
              <a:t>chức</a:t>
            </a:r>
            <a:r>
              <a:rPr lang="en-US" dirty="0"/>
              <a:t> </a:t>
            </a:r>
            <a:r>
              <a:rPr lang="en-US" dirty="0" err="1"/>
              <a:t>năng</a:t>
            </a:r>
            <a:r>
              <a:rPr lang="en-US" dirty="0"/>
              <a:t>:</a:t>
            </a:r>
          </a:p>
          <a:p>
            <a:pPr marL="285750" indent="-285750">
              <a:lnSpc>
                <a:spcPct val="150000"/>
              </a:lnSpc>
              <a:buFont typeface="Arial" panose="020B0604020202020204" pitchFamily="34" charset="0"/>
              <a:buChar char="•"/>
            </a:pPr>
            <a:r>
              <a:rPr lang="en-US" dirty="0" err="1"/>
              <a:t>Giám</a:t>
            </a:r>
            <a:r>
              <a:rPr lang="en-US" dirty="0"/>
              <a:t> </a:t>
            </a:r>
            <a:r>
              <a:rPr lang="en-US" dirty="0" err="1"/>
              <a:t>sát</a:t>
            </a:r>
            <a:r>
              <a:rPr lang="en-US" dirty="0"/>
              <a:t> </a:t>
            </a:r>
            <a:r>
              <a:rPr lang="en-US" dirty="0" err="1"/>
              <a:t>hiệu</a:t>
            </a:r>
            <a:r>
              <a:rPr lang="en-US" dirty="0"/>
              <a:t> </a:t>
            </a:r>
            <a:r>
              <a:rPr lang="en-US" dirty="0" err="1"/>
              <a:t>năng</a:t>
            </a:r>
            <a:br>
              <a:rPr lang="en-US" dirty="0"/>
            </a:br>
            <a:r>
              <a:rPr lang="en-US" dirty="0"/>
              <a:t>Quản </a:t>
            </a:r>
            <a:r>
              <a:rPr lang="en-US" dirty="0" err="1"/>
              <a:t>lý</a:t>
            </a:r>
            <a:r>
              <a:rPr lang="en-US" dirty="0"/>
              <a:t> </a:t>
            </a:r>
            <a:r>
              <a:rPr lang="en-US" dirty="0" err="1"/>
              <a:t>lỗi</a:t>
            </a:r>
            <a:br>
              <a:rPr lang="en-US" dirty="0"/>
            </a:br>
            <a:r>
              <a:rPr lang="en-US" dirty="0" err="1"/>
              <a:t>Cập</a:t>
            </a:r>
            <a:r>
              <a:rPr lang="en-US" dirty="0"/>
              <a:t> </a:t>
            </a:r>
            <a:r>
              <a:rPr lang="en-US" dirty="0" err="1"/>
              <a:t>nhật</a:t>
            </a:r>
            <a:r>
              <a:rPr lang="en-US" dirty="0"/>
              <a:t> firmware </a:t>
            </a:r>
            <a:r>
              <a:rPr lang="en-US" dirty="0" err="1"/>
              <a:t>từ</a:t>
            </a:r>
            <a:r>
              <a:rPr lang="en-US" dirty="0"/>
              <a:t> xa (OTA)</a:t>
            </a:r>
            <a:br>
              <a:rPr lang="en-US" dirty="0"/>
            </a:br>
            <a:r>
              <a:rPr lang="en-US" dirty="0"/>
              <a:t>Quản </a:t>
            </a:r>
            <a:r>
              <a:rPr lang="en-US" dirty="0" err="1"/>
              <a:t>lý</a:t>
            </a:r>
            <a:r>
              <a:rPr lang="en-US" dirty="0"/>
              <a:t> </a:t>
            </a:r>
            <a:r>
              <a:rPr lang="en-US" dirty="0" err="1"/>
              <a:t>cấu</a:t>
            </a:r>
            <a:r>
              <a:rPr lang="en-US" dirty="0"/>
              <a:t> </a:t>
            </a:r>
            <a:r>
              <a:rPr lang="en-US" dirty="0" err="1"/>
              <a:t>hình</a:t>
            </a:r>
            <a:r>
              <a:rPr lang="en-US" dirty="0"/>
              <a:t> </a:t>
            </a:r>
            <a:r>
              <a:rPr lang="en-US" dirty="0" err="1"/>
              <a:t>hệ</a:t>
            </a:r>
            <a:r>
              <a:rPr lang="en-US" dirty="0"/>
              <a:t> </a:t>
            </a:r>
            <a:r>
              <a:rPr lang="en-US" dirty="0" err="1"/>
              <a:t>thống</a:t>
            </a:r>
            <a:endParaRPr lang="en-US" dirty="0"/>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3DEEAA78-8526-2D91-CAD5-15B61E651C97}"/>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1.2 </a:t>
            </a:r>
            <a:r>
              <a:rPr lang="en-US" sz="2400" b="1" dirty="0" err="1">
                <a:solidFill>
                  <a:srgbClr val="0C0C0C"/>
                </a:solidFill>
                <a:latin typeface="Arial"/>
                <a:ea typeface="Arial"/>
                <a:cs typeface="Arial"/>
                <a:sym typeface="Arial"/>
              </a:rPr>
              <a:t>Kiến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trúc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kĩ</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thuật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các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pic>
        <p:nvPicPr>
          <p:cNvPr id="17412" name="Picture 4" descr="Internet of Things (IoT) Architecture: Layers Explained - Dgtl Infra">
            <a:extLst>
              <a:ext uri="{FF2B5EF4-FFF2-40B4-BE49-F238E27FC236}">
                <a16:creationId xmlns:a16="http://schemas.microsoft.com/office/drawing/2014/main" id="{E4F1F7F3-0BB9-FFA5-D7D0-B73F044BBD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5062" y="1704975"/>
            <a:ext cx="5790994" cy="32575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0F1EA93-BA6A-BFFD-AA7A-1630FDCEDE83}"/>
              </a:ext>
            </a:extLst>
          </p:cNvPr>
          <p:cNvSpPr txBox="1"/>
          <p:nvPr/>
        </p:nvSpPr>
        <p:spPr>
          <a:xfrm>
            <a:off x="393013" y="3018932"/>
            <a:ext cx="2847975" cy="698717"/>
          </a:xfrm>
          <a:prstGeom prst="rect">
            <a:avLst/>
          </a:prstGeom>
          <a:noFill/>
        </p:spPr>
        <p:txBody>
          <a:bodyPr wrap="square">
            <a:spAutoFit/>
          </a:bodyPr>
          <a:lstStyle/>
          <a:p>
            <a:pPr>
              <a:lnSpc>
                <a:spcPct val="150000"/>
              </a:lnSpc>
            </a:pPr>
            <a:r>
              <a:rPr lang="en-US" dirty="0" err="1"/>
              <a:t>Đảm</a:t>
            </a:r>
            <a:r>
              <a:rPr lang="en-US" dirty="0"/>
              <a:t> </a:t>
            </a:r>
            <a:r>
              <a:rPr lang="en-US" dirty="0" err="1"/>
              <a:t>bảo</a:t>
            </a:r>
            <a:r>
              <a:rPr lang="en-US" dirty="0"/>
              <a:t> </a:t>
            </a:r>
            <a:r>
              <a:rPr lang="en-US" dirty="0" err="1"/>
              <a:t>hệ</a:t>
            </a:r>
            <a:r>
              <a:rPr lang="en-US" dirty="0"/>
              <a:t> </a:t>
            </a:r>
            <a:r>
              <a:rPr lang="en-US" dirty="0" err="1"/>
              <a:t>thống</a:t>
            </a:r>
            <a:r>
              <a:rPr lang="en-US" dirty="0"/>
              <a:t> </a:t>
            </a:r>
            <a:r>
              <a:rPr lang="en-US" dirty="0" err="1"/>
              <a:t>hoạt</a:t>
            </a:r>
            <a:r>
              <a:rPr lang="en-US" dirty="0"/>
              <a:t> </a:t>
            </a:r>
            <a:r>
              <a:rPr lang="en-US" dirty="0" err="1"/>
              <a:t>động</a:t>
            </a:r>
            <a:r>
              <a:rPr lang="en-US" dirty="0"/>
              <a:t> </a:t>
            </a:r>
            <a:r>
              <a:rPr lang="en-US" dirty="0" err="1"/>
              <a:t>ổn</a:t>
            </a:r>
            <a:r>
              <a:rPr lang="en-US" dirty="0"/>
              <a:t> </a:t>
            </a:r>
            <a:r>
              <a:rPr lang="en-US" dirty="0" err="1"/>
              <a:t>định</a:t>
            </a:r>
            <a:r>
              <a:rPr lang="en-US" dirty="0"/>
              <a:t> </a:t>
            </a:r>
            <a:r>
              <a:rPr lang="en-US" dirty="0" err="1"/>
              <a:t>và</a:t>
            </a:r>
            <a:r>
              <a:rPr lang="en-US" dirty="0"/>
              <a:t> </a:t>
            </a:r>
            <a:r>
              <a:rPr lang="en-US" dirty="0" err="1"/>
              <a:t>có</a:t>
            </a:r>
            <a:r>
              <a:rPr lang="en-US" dirty="0"/>
              <a:t> </a:t>
            </a:r>
            <a:r>
              <a:rPr lang="en-US" dirty="0" err="1"/>
              <a:t>thể</a:t>
            </a:r>
            <a:r>
              <a:rPr lang="en-US" dirty="0"/>
              <a:t> </a:t>
            </a:r>
            <a:r>
              <a:rPr lang="en-US" dirty="0" err="1"/>
              <a:t>bảo</a:t>
            </a:r>
            <a:r>
              <a:rPr lang="en-US" dirty="0"/>
              <a:t> </a:t>
            </a:r>
            <a:r>
              <a:rPr lang="en-US" dirty="0" err="1"/>
              <a:t>trì</a:t>
            </a:r>
            <a:r>
              <a:rPr lang="en-US" dirty="0"/>
              <a:t> </a:t>
            </a:r>
            <a:r>
              <a:rPr lang="en-US" dirty="0" err="1"/>
              <a:t>lâu</a:t>
            </a:r>
            <a:r>
              <a:rPr lang="en-US" dirty="0"/>
              <a:t> </a:t>
            </a:r>
            <a:r>
              <a:rPr lang="en-US" dirty="0" err="1"/>
              <a:t>dài</a:t>
            </a:r>
            <a:r>
              <a:rPr lang="en-US" dirty="0"/>
              <a:t>.</a:t>
            </a:r>
          </a:p>
        </p:txBody>
      </p:sp>
    </p:spTree>
    <p:extLst>
      <p:ext uri="{BB962C8B-B14F-4D97-AF65-F5344CB8AC3E}">
        <p14:creationId xmlns:p14="http://schemas.microsoft.com/office/powerpoint/2010/main" val="624027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933F66DA-60CA-803F-28F5-834E5ABC9AE4}"/>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BF28A9E1-FAFC-2B81-52E6-D05D4C78A0AD}"/>
              </a:ext>
            </a:extLst>
          </p:cNvPr>
          <p:cNvSpPr/>
          <p:nvPr/>
        </p:nvSpPr>
        <p:spPr>
          <a:xfrm>
            <a:off x="393013" y="875301"/>
            <a:ext cx="9257056" cy="3462486"/>
          </a:xfrm>
          <a:prstGeom prst="rect">
            <a:avLst/>
          </a:prstGeom>
          <a:noFill/>
          <a:ln>
            <a:noFill/>
          </a:ln>
        </p:spPr>
        <p:txBody>
          <a:bodyPr spcFirstLastPara="1" wrap="square" lIns="0" tIns="0" rIns="0" bIns="0" anchor="t" anchorCtr="0">
            <a:spAutoFit/>
          </a:bodyPr>
          <a:lstStyle/>
          <a:p>
            <a:pPr>
              <a:lnSpc>
                <a:spcPct val="150000"/>
              </a:lnSpc>
            </a:pPr>
            <a:r>
              <a:rPr lang="vi-VN" sz="2400" b="1" dirty="0">
                <a:solidFill>
                  <a:srgbClr val="0C0C0C"/>
                </a:solidFill>
              </a:rPr>
              <a:t>Các mô hình truyền dữ liệu:</a:t>
            </a:r>
          </a:p>
          <a:p>
            <a:pPr marL="285750" indent="-285750">
              <a:lnSpc>
                <a:spcPct val="150000"/>
              </a:lnSpc>
              <a:buFont typeface="Arial" panose="020B0604020202020204" pitchFamily="34" charset="0"/>
              <a:buChar char="•"/>
            </a:pPr>
            <a:r>
              <a:rPr lang="vi-VN" dirty="0"/>
              <a:t>Request–Response</a:t>
            </a:r>
            <a:br>
              <a:rPr lang="vi-VN" dirty="0"/>
            </a:br>
            <a:r>
              <a:rPr lang="vi-VN" dirty="0"/>
              <a:t>Publish–Subscribe</a:t>
            </a:r>
            <a:br>
              <a:rPr lang="vi-VN" dirty="0"/>
            </a:br>
            <a:r>
              <a:rPr lang="vi-VN" dirty="0"/>
              <a:t>Polling</a:t>
            </a:r>
          </a:p>
          <a:p>
            <a:pPr>
              <a:lnSpc>
                <a:spcPct val="150000"/>
              </a:lnSpc>
            </a:pPr>
            <a:r>
              <a:rPr lang="vi-VN" dirty="0"/>
              <a:t>Các giao thức phổ biến:</a:t>
            </a:r>
          </a:p>
          <a:p>
            <a:pPr marL="285750" indent="-285750">
              <a:lnSpc>
                <a:spcPct val="150000"/>
              </a:lnSpc>
              <a:buFont typeface="Arial" panose="020B0604020202020204" pitchFamily="34" charset="0"/>
              <a:buChar char="•"/>
            </a:pPr>
            <a:r>
              <a:rPr lang="vi-VN" dirty="0"/>
              <a:t>HTTP</a:t>
            </a:r>
            <a:br>
              <a:rPr lang="vi-VN" dirty="0"/>
            </a:br>
            <a:r>
              <a:rPr lang="vi-VN" dirty="0"/>
              <a:t>CoAP</a:t>
            </a:r>
            <a:br>
              <a:rPr lang="vi-VN" dirty="0"/>
            </a:br>
            <a:r>
              <a:rPr lang="vi-VN" dirty="0"/>
              <a:t>MQTT</a:t>
            </a:r>
            <a:br>
              <a:rPr lang="vi-VN" dirty="0"/>
            </a:br>
            <a:r>
              <a:rPr lang="vi-VN" dirty="0"/>
              <a:t>AMQP</a:t>
            </a:r>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DC12CABE-484D-705A-E286-16D3A9518002}"/>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1.2 </a:t>
            </a:r>
            <a:r>
              <a:rPr lang="en-US" sz="2400" b="1" dirty="0" err="1">
                <a:solidFill>
                  <a:srgbClr val="0C0C0C"/>
                </a:solidFill>
                <a:latin typeface="Arial"/>
                <a:ea typeface="Arial"/>
                <a:cs typeface="Arial"/>
                <a:sym typeface="Arial"/>
              </a:rPr>
              <a:t>Kiến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trúc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kĩ</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thuật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các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sp>
        <p:nvSpPr>
          <p:cNvPr id="4" name="TextBox 3">
            <a:extLst>
              <a:ext uri="{FF2B5EF4-FFF2-40B4-BE49-F238E27FC236}">
                <a16:creationId xmlns:a16="http://schemas.microsoft.com/office/drawing/2014/main" id="{43CCDF16-3368-95BA-1BAE-BC8C73190EAC}"/>
              </a:ext>
            </a:extLst>
          </p:cNvPr>
          <p:cNvSpPr txBox="1"/>
          <p:nvPr/>
        </p:nvSpPr>
        <p:spPr>
          <a:xfrm>
            <a:off x="552450" y="4105460"/>
            <a:ext cx="3086100" cy="1021883"/>
          </a:xfrm>
          <a:prstGeom prst="rect">
            <a:avLst/>
          </a:prstGeom>
          <a:noFill/>
        </p:spPr>
        <p:txBody>
          <a:bodyPr wrap="square">
            <a:spAutoFit/>
          </a:bodyPr>
          <a:lstStyle/>
          <a:p>
            <a:pPr>
              <a:lnSpc>
                <a:spcPct val="150000"/>
              </a:lnSpc>
            </a:pPr>
            <a:r>
              <a:rPr lang="vi-VN" dirty="0"/>
              <a:t>MQTT đặc biệt phù hợp với thiết bị tài nguyên hạn chế nhờ cơ chế pub-sub nhẹ.</a:t>
            </a:r>
          </a:p>
        </p:txBody>
      </p:sp>
      <p:pic>
        <p:nvPicPr>
          <p:cNvPr id="6" name="Picture 5">
            <a:extLst>
              <a:ext uri="{FF2B5EF4-FFF2-40B4-BE49-F238E27FC236}">
                <a16:creationId xmlns:a16="http://schemas.microsoft.com/office/drawing/2014/main" id="{9A6C5661-55F2-3B77-1FB2-CD60AFD0FD8A}"/>
              </a:ext>
            </a:extLst>
          </p:cNvPr>
          <p:cNvPicPr>
            <a:picLocks noChangeAspect="1"/>
          </p:cNvPicPr>
          <p:nvPr/>
        </p:nvPicPr>
        <p:blipFill>
          <a:blip r:embed="rId3"/>
          <a:stretch>
            <a:fillRect/>
          </a:stretch>
        </p:blipFill>
        <p:spPr>
          <a:xfrm>
            <a:off x="4369344" y="875301"/>
            <a:ext cx="5466806" cy="5305425"/>
          </a:xfrm>
          <a:prstGeom prst="rect">
            <a:avLst/>
          </a:prstGeom>
        </p:spPr>
      </p:pic>
    </p:spTree>
    <p:extLst>
      <p:ext uri="{BB962C8B-B14F-4D97-AF65-F5344CB8AC3E}">
        <p14:creationId xmlns:p14="http://schemas.microsoft.com/office/powerpoint/2010/main" val="1081108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F6BFE929-CD59-0887-F761-ECF69642ECFB}"/>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A7027E6F-C4F0-FE9A-CAA5-C35B49995E05}"/>
              </a:ext>
            </a:extLst>
          </p:cNvPr>
          <p:cNvSpPr/>
          <p:nvPr/>
        </p:nvSpPr>
        <p:spPr>
          <a:xfrm>
            <a:off x="393013" y="875301"/>
            <a:ext cx="9257056" cy="5078313"/>
          </a:xfrm>
          <a:prstGeom prst="rect">
            <a:avLst/>
          </a:prstGeom>
          <a:noFill/>
          <a:ln>
            <a:noFill/>
          </a:ln>
        </p:spPr>
        <p:txBody>
          <a:bodyPr spcFirstLastPara="1" wrap="square" lIns="0" tIns="0" rIns="0" bIns="0" anchor="t" anchorCtr="0">
            <a:spAutoFit/>
          </a:bodyPr>
          <a:lstStyle/>
          <a:p>
            <a:pPr>
              <a:lnSpc>
                <a:spcPct val="150000"/>
              </a:lnSpc>
            </a:pPr>
            <a:r>
              <a:rPr lang="vi-VN" sz="2400" b="1" dirty="0">
                <a:solidFill>
                  <a:srgbClr val="0C0C0C"/>
                </a:solidFill>
              </a:rPr>
              <a:t>Định dạng dữ liệu (Data Formats)</a:t>
            </a:r>
          </a:p>
          <a:p>
            <a:pPr>
              <a:lnSpc>
                <a:spcPct val="150000"/>
              </a:lnSpc>
            </a:pPr>
            <a:r>
              <a:rPr lang="vi-VN" dirty="0"/>
              <a:t>Định dạng dùng để biểu diễn payload dữ liệu.</a:t>
            </a:r>
          </a:p>
          <a:p>
            <a:pPr>
              <a:lnSpc>
                <a:spcPct val="150000"/>
              </a:lnSpc>
            </a:pPr>
            <a:r>
              <a:rPr lang="vi-VN" dirty="0"/>
              <a:t>Phổ biến:</a:t>
            </a:r>
          </a:p>
          <a:p>
            <a:pPr marL="285750" indent="-285750">
              <a:lnSpc>
                <a:spcPct val="150000"/>
              </a:lnSpc>
              <a:buFont typeface="Arial" panose="020B0604020202020204" pitchFamily="34" charset="0"/>
              <a:buChar char="•"/>
            </a:pPr>
            <a:r>
              <a:rPr lang="vi-VN" dirty="0"/>
              <a:t>JSON</a:t>
            </a:r>
            <a:br>
              <a:rPr lang="vi-VN" dirty="0"/>
            </a:br>
            <a:r>
              <a:rPr lang="vi-VN" dirty="0"/>
              <a:t>XML</a:t>
            </a:r>
            <a:br>
              <a:rPr lang="vi-VN" dirty="0"/>
            </a:br>
            <a:r>
              <a:rPr lang="vi-VN" dirty="0"/>
              <a:t>CBOR</a:t>
            </a:r>
            <a:br>
              <a:rPr lang="vi-VN" dirty="0"/>
            </a:br>
            <a:r>
              <a:rPr lang="vi-VN" dirty="0"/>
              <a:t>Protocol Buffers</a:t>
            </a:r>
          </a:p>
          <a:p>
            <a:pPr>
              <a:lnSpc>
                <a:spcPct val="150000"/>
              </a:lnSpc>
            </a:pPr>
            <a:r>
              <a:rPr lang="vi-VN" dirty="0"/>
              <a:t>Tiêu chí lựa chọn:</a:t>
            </a:r>
          </a:p>
          <a:p>
            <a:pPr marL="285750" indent="-285750">
              <a:lnSpc>
                <a:spcPct val="150000"/>
              </a:lnSpc>
              <a:buFont typeface="Arial" panose="020B0604020202020204" pitchFamily="34" charset="0"/>
              <a:buChar char="•"/>
            </a:pPr>
            <a:r>
              <a:rPr lang="vi-VN" dirty="0"/>
              <a:t>Kích thước payload</a:t>
            </a:r>
            <a:br>
              <a:rPr lang="vi-VN" dirty="0"/>
            </a:br>
            <a:r>
              <a:rPr lang="vi-VN" dirty="0"/>
              <a:t>Tốc độ xử lý</a:t>
            </a:r>
            <a:br>
              <a:rPr lang="vi-VN" dirty="0"/>
            </a:br>
            <a:r>
              <a:rPr lang="vi-VN" dirty="0"/>
              <a:t>Khả năng tương thích</a:t>
            </a:r>
            <a:br>
              <a:rPr lang="vi-VN" dirty="0"/>
            </a:br>
            <a:r>
              <a:rPr lang="vi-VN" dirty="0"/>
              <a:t>Tính dễ đọc</a:t>
            </a:r>
          </a:p>
          <a:p>
            <a:pPr marL="285750" indent="-285750">
              <a:lnSpc>
                <a:spcPct val="150000"/>
              </a:lnSpc>
              <a:buFont typeface="Arial" panose="020B0604020202020204" pitchFamily="34" charset="0"/>
              <a:buChar char="•"/>
            </a:pPr>
            <a:r>
              <a:rPr lang="vi-VN" dirty="0"/>
              <a:t>Tổng thể, kiến trúc và kỹ thuật IoT được xây dựng theo mô hình phân lớp, tách biệt rõ chức năng thiết bị, truyền thông, nền tảng và ứng dụng. Sự kết hợp giữa gateway, nền tảng trung tâm mạnh và cơ chế bảo mật xuyên suốt là yếu tố quyết định để xây dựng hệ thống IoT có khả năng mở rộng, linh hoạt và an toàn.</a:t>
            </a:r>
          </a:p>
        </p:txBody>
      </p:sp>
      <p:sp>
        <p:nvSpPr>
          <p:cNvPr id="2" name="Google Shape;184;p5">
            <a:extLst>
              <a:ext uri="{FF2B5EF4-FFF2-40B4-BE49-F238E27FC236}">
                <a16:creationId xmlns:a16="http://schemas.microsoft.com/office/drawing/2014/main" id="{744928E0-A61D-C78A-04E6-37572D18DC52}"/>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1.2 </a:t>
            </a:r>
            <a:r>
              <a:rPr lang="en-US" sz="2400" b="1" dirty="0" err="1">
                <a:solidFill>
                  <a:srgbClr val="0C0C0C"/>
                </a:solidFill>
                <a:latin typeface="Arial"/>
                <a:ea typeface="Arial"/>
                <a:cs typeface="Arial"/>
                <a:sym typeface="Arial"/>
              </a:rPr>
              <a:t>Kiến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trúc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kĩ</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thuật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các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spTree>
    <p:extLst>
      <p:ext uri="{BB962C8B-B14F-4D97-AF65-F5344CB8AC3E}">
        <p14:creationId xmlns:p14="http://schemas.microsoft.com/office/powerpoint/2010/main" val="83066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260CFEAD-1FE1-49F5-3B53-1F2F99D803F7}"/>
            </a:ext>
          </a:extLst>
        </p:cNvPr>
        <p:cNvGrpSpPr/>
        <p:nvPr/>
      </p:nvGrpSpPr>
      <p:grpSpPr>
        <a:xfrm>
          <a:off x="0" y="0"/>
          <a:ext cx="0" cy="0"/>
          <a:chOff x="0" y="0"/>
          <a:chExt cx="0" cy="0"/>
        </a:xfrm>
      </p:grpSpPr>
      <p:sp>
        <p:nvSpPr>
          <p:cNvPr id="2" name="Google Shape;184;p5">
            <a:extLst>
              <a:ext uri="{FF2B5EF4-FFF2-40B4-BE49-F238E27FC236}">
                <a16:creationId xmlns:a16="http://schemas.microsoft.com/office/drawing/2014/main" id="{05B338F3-9950-064A-C936-629E9983180E}"/>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1.2 </a:t>
            </a:r>
            <a:r>
              <a:rPr lang="en-US" sz="2400" b="1" dirty="0" err="1">
                <a:solidFill>
                  <a:srgbClr val="0C0C0C"/>
                </a:solidFill>
                <a:latin typeface="Arial"/>
                <a:ea typeface="Arial"/>
                <a:cs typeface="Arial"/>
                <a:sym typeface="Arial"/>
              </a:rPr>
              <a:t>Kiến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trúc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kĩ</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thuật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các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pic>
        <p:nvPicPr>
          <p:cNvPr id="4" name="Picture 3">
            <a:extLst>
              <a:ext uri="{FF2B5EF4-FFF2-40B4-BE49-F238E27FC236}">
                <a16:creationId xmlns:a16="http://schemas.microsoft.com/office/drawing/2014/main" id="{6791C7D5-6C56-3FCB-CF8F-391022DDAB83}"/>
              </a:ext>
            </a:extLst>
          </p:cNvPr>
          <p:cNvPicPr>
            <a:picLocks noChangeAspect="1"/>
          </p:cNvPicPr>
          <p:nvPr/>
        </p:nvPicPr>
        <p:blipFill>
          <a:blip r:embed="rId3"/>
          <a:stretch>
            <a:fillRect/>
          </a:stretch>
        </p:blipFill>
        <p:spPr>
          <a:xfrm>
            <a:off x="2250676" y="914046"/>
            <a:ext cx="5401472" cy="5181954"/>
          </a:xfrm>
          <a:prstGeom prst="rect">
            <a:avLst/>
          </a:prstGeom>
        </p:spPr>
      </p:pic>
    </p:spTree>
    <p:extLst>
      <p:ext uri="{BB962C8B-B14F-4D97-AF65-F5344CB8AC3E}">
        <p14:creationId xmlns:p14="http://schemas.microsoft.com/office/powerpoint/2010/main" val="3312437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EB9632D3-A1EA-25FA-E4EA-F5D2BA34B915}"/>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D5D27963-3F55-8C76-02DE-AAF008C390EA}"/>
              </a:ext>
            </a:extLst>
          </p:cNvPr>
          <p:cNvSpPr/>
          <p:nvPr/>
        </p:nvSpPr>
        <p:spPr>
          <a:xfrm>
            <a:off x="918081" y="990736"/>
            <a:ext cx="8819923" cy="110799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chemeClr val="dk1"/>
                </a:solidFill>
              </a:rPr>
              <a:t>Tổng</a:t>
            </a:r>
            <a:r>
              <a:rPr lang="en-US" sz="3600" b="1" dirty="0">
                <a:solidFill>
                  <a:schemeClr val="dk1"/>
                </a:solidFill>
              </a:rPr>
              <a:t> </a:t>
            </a:r>
            <a:r>
              <a:rPr lang="en-US" sz="3600" b="1" dirty="0" err="1">
                <a:solidFill>
                  <a:schemeClr val="dk1"/>
                </a:solidFill>
              </a:rPr>
              <a:t>quan</a:t>
            </a:r>
            <a:r>
              <a:rPr lang="en-US" sz="3600" b="1" dirty="0">
                <a:solidFill>
                  <a:schemeClr val="dk1"/>
                </a:solidFill>
              </a:rPr>
              <a:t> </a:t>
            </a:r>
            <a:r>
              <a:rPr lang="en-US" sz="3600" b="1" dirty="0" err="1">
                <a:solidFill>
                  <a:schemeClr val="dk1"/>
                </a:solidFill>
              </a:rPr>
              <a:t>về</a:t>
            </a:r>
            <a:r>
              <a:rPr lang="en-US" sz="3600" b="1" dirty="0">
                <a:solidFill>
                  <a:schemeClr val="dk1"/>
                </a:solidFill>
              </a:rPr>
              <a:t> </a:t>
            </a:r>
            <a:r>
              <a:rPr lang="en-US" sz="3600" b="1" dirty="0" err="1">
                <a:solidFill>
                  <a:schemeClr val="dk1"/>
                </a:solidFill>
              </a:rPr>
              <a:t>các</a:t>
            </a:r>
            <a:r>
              <a:rPr lang="en-US" sz="3600" b="1" dirty="0">
                <a:solidFill>
                  <a:schemeClr val="dk1"/>
                </a:solidFill>
              </a:rPr>
              <a:t> </a:t>
            </a:r>
            <a:r>
              <a:rPr lang="en-US" sz="3600" b="1" dirty="0" err="1">
                <a:solidFill>
                  <a:schemeClr val="dk1"/>
                </a:solidFill>
              </a:rPr>
              <a:t>nền</a:t>
            </a:r>
            <a:r>
              <a:rPr lang="en-US" sz="3600" b="1" dirty="0">
                <a:solidFill>
                  <a:schemeClr val="dk1"/>
                </a:solidFill>
              </a:rPr>
              <a:t> </a:t>
            </a:r>
            <a:r>
              <a:rPr lang="en-US" sz="3600" b="1" dirty="0" err="1">
                <a:solidFill>
                  <a:schemeClr val="dk1"/>
                </a:solidFill>
              </a:rPr>
              <a:t>tảng</a:t>
            </a:r>
            <a:r>
              <a:rPr lang="en-US" sz="3600" b="1" dirty="0">
                <a:solidFill>
                  <a:schemeClr val="dk1"/>
                </a:solidFill>
              </a:rPr>
              <a:t> </a:t>
            </a:r>
            <a:r>
              <a:rPr lang="en-US" sz="3600" b="1" dirty="0" err="1">
                <a:solidFill>
                  <a:schemeClr val="dk1"/>
                </a:solidFill>
              </a:rPr>
              <a:t>kết</a:t>
            </a:r>
            <a:r>
              <a:rPr lang="en-US" sz="3600" b="1" dirty="0">
                <a:solidFill>
                  <a:schemeClr val="dk1"/>
                </a:solidFill>
              </a:rPr>
              <a:t> </a:t>
            </a:r>
            <a:r>
              <a:rPr lang="en-US" sz="3600" b="1" dirty="0" err="1">
                <a:solidFill>
                  <a:schemeClr val="dk1"/>
                </a:solidFill>
              </a:rPr>
              <a:t>nối</a:t>
            </a:r>
            <a:r>
              <a:rPr lang="en-US" sz="3600" b="1" dirty="0">
                <a:solidFill>
                  <a:schemeClr val="dk1"/>
                </a:solidFill>
              </a:rPr>
              <a:t> </a:t>
            </a:r>
            <a:r>
              <a:rPr lang="en-US" sz="3600" b="1" dirty="0" err="1">
                <a:solidFill>
                  <a:schemeClr val="dk1"/>
                </a:solidFill>
              </a:rPr>
              <a:t>vạn</a:t>
            </a:r>
            <a:r>
              <a:rPr lang="en-US" sz="3600" b="1" dirty="0">
                <a:solidFill>
                  <a:schemeClr val="dk1"/>
                </a:solidFill>
              </a:rPr>
              <a:t> </a:t>
            </a:r>
            <a:r>
              <a:rPr lang="en-US" sz="3600" b="1" dirty="0" err="1">
                <a:solidFill>
                  <a:schemeClr val="dk1"/>
                </a:solidFill>
              </a:rPr>
              <a:t>vật</a:t>
            </a:r>
            <a:r>
              <a:rPr lang="en-US" sz="3600" b="1" dirty="0">
                <a:solidFill>
                  <a:schemeClr val="dk1"/>
                </a:solidFill>
              </a:rPr>
              <a:t> </a:t>
            </a:r>
          </a:p>
        </p:txBody>
      </p:sp>
      <p:sp>
        <p:nvSpPr>
          <p:cNvPr id="177" name="Google Shape;177;p4">
            <a:extLst>
              <a:ext uri="{FF2B5EF4-FFF2-40B4-BE49-F238E27FC236}">
                <a16:creationId xmlns:a16="http://schemas.microsoft.com/office/drawing/2014/main" id="{46DAF92A-7985-DB7B-27A6-A4F58F47BFE8}"/>
              </a:ext>
            </a:extLst>
          </p:cNvPr>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1.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50E48314-971F-E124-9943-B9B71E44304F}"/>
              </a:ext>
            </a:extLst>
          </p:cNvPr>
          <p:cNvSpPr/>
          <p:nvPr/>
        </p:nvSpPr>
        <p:spPr>
          <a:xfrm>
            <a:off x="1000274" y="2318181"/>
            <a:ext cx="7671115" cy="1769715"/>
          </a:xfrm>
          <a:prstGeom prst="rect">
            <a:avLst/>
          </a:prstGeom>
          <a:noFill/>
          <a:ln>
            <a:noFill/>
          </a:ln>
        </p:spPr>
        <p:txBody>
          <a:bodyPr spcFirstLastPara="1" wrap="square" lIns="0" tIns="0" rIns="0" bIns="0" anchor="t" anchorCtr="0">
            <a:spAutoFit/>
          </a:bodyPr>
          <a:lstStyle/>
          <a:p>
            <a:pPr marL="176213" lvl="0" indent="-176213">
              <a:buClr>
                <a:srgbClr val="3F3F3F"/>
              </a:buClr>
              <a:buSzPts val="2160"/>
              <a:buFont typeface="Arial"/>
              <a:buChar char="•"/>
            </a:pPr>
            <a:r>
              <a:rPr lang="en-US" sz="1800" dirty="0">
                <a:solidFill>
                  <a:schemeClr val="bg1">
                    <a:lumMod val="75000"/>
                  </a:schemeClr>
                </a:solidFill>
                <a:latin typeface="Arial"/>
                <a:ea typeface="Arial"/>
                <a:cs typeface="Arial"/>
                <a:sym typeface="Arial"/>
              </a:rPr>
              <a:t>1.1. </a:t>
            </a:r>
            <a:r>
              <a:rPr lang="en-US" sz="1800" dirty="0" err="1">
                <a:solidFill>
                  <a:schemeClr val="bg1">
                    <a:lumMod val="75000"/>
                  </a:schemeClr>
                </a:solidFill>
              </a:rPr>
              <a:t>Thực</a:t>
            </a:r>
            <a:r>
              <a:rPr lang="en-US" sz="1800" dirty="0">
                <a:solidFill>
                  <a:schemeClr val="bg1">
                    <a:lumMod val="75000"/>
                  </a:schemeClr>
                </a:solidFill>
              </a:rPr>
              <a:t> </a:t>
            </a:r>
            <a:r>
              <a:rPr lang="en-US" sz="1800" dirty="0" err="1">
                <a:solidFill>
                  <a:schemeClr val="bg1">
                    <a:lumMod val="75000"/>
                  </a:schemeClr>
                </a:solidFill>
              </a:rPr>
              <a:t>trạng</a:t>
            </a:r>
            <a:r>
              <a:rPr lang="en-US" sz="1800" dirty="0">
                <a:solidFill>
                  <a:schemeClr val="bg1">
                    <a:lumMod val="75000"/>
                  </a:schemeClr>
                </a:solidFill>
              </a:rPr>
              <a:t> </a:t>
            </a:r>
            <a:r>
              <a:rPr lang="en-US" sz="1800" dirty="0" err="1">
                <a:solidFill>
                  <a:schemeClr val="bg1">
                    <a:lumMod val="75000"/>
                  </a:schemeClr>
                </a:solidFill>
              </a:rPr>
              <a:t>và</a:t>
            </a:r>
            <a:r>
              <a:rPr lang="en-US" sz="1800" dirty="0">
                <a:solidFill>
                  <a:schemeClr val="bg1">
                    <a:lumMod val="75000"/>
                  </a:schemeClr>
                </a:solidFill>
              </a:rPr>
              <a:t> </a:t>
            </a:r>
            <a:r>
              <a:rPr lang="en-US" sz="1800" dirty="0" err="1">
                <a:solidFill>
                  <a:schemeClr val="bg1">
                    <a:lumMod val="75000"/>
                  </a:schemeClr>
                </a:solidFill>
              </a:rPr>
              <a:t>hạn</a:t>
            </a:r>
            <a:r>
              <a:rPr lang="en-US" sz="1800" dirty="0">
                <a:solidFill>
                  <a:schemeClr val="bg1">
                    <a:lumMod val="75000"/>
                  </a:schemeClr>
                </a:solidFill>
              </a:rPr>
              <a:t> </a:t>
            </a:r>
            <a:r>
              <a:rPr lang="en-US" sz="1800" dirty="0" err="1">
                <a:solidFill>
                  <a:schemeClr val="bg1">
                    <a:lumMod val="75000"/>
                  </a:schemeClr>
                </a:solidFill>
              </a:rPr>
              <a:t>chế</a:t>
            </a:r>
            <a:r>
              <a:rPr lang="en-US" sz="1800" dirty="0">
                <a:solidFill>
                  <a:schemeClr val="bg1">
                    <a:lumMod val="75000"/>
                  </a:schemeClr>
                </a:solidFill>
              </a:rPr>
              <a:t> </a:t>
            </a:r>
            <a:r>
              <a:rPr lang="en-US" sz="1800" dirty="0" err="1">
                <a:solidFill>
                  <a:schemeClr val="bg1">
                    <a:lumMod val="75000"/>
                  </a:schemeClr>
                </a:solidFill>
              </a:rPr>
              <a:t>của</a:t>
            </a:r>
            <a:r>
              <a:rPr lang="en-US" sz="1800" dirty="0">
                <a:solidFill>
                  <a:schemeClr val="bg1">
                    <a:lumMod val="75000"/>
                  </a:schemeClr>
                </a:solidFill>
              </a:rPr>
              <a:t> </a:t>
            </a:r>
            <a:r>
              <a:rPr lang="en-US" sz="1800" dirty="0" err="1">
                <a:solidFill>
                  <a:schemeClr val="bg1">
                    <a:lumMod val="75000"/>
                  </a:schemeClr>
                </a:solidFill>
              </a:rPr>
              <a:t>hệ</a:t>
            </a:r>
            <a:r>
              <a:rPr lang="en-US" sz="1800" dirty="0">
                <a:solidFill>
                  <a:schemeClr val="bg1">
                    <a:lumMod val="75000"/>
                  </a:schemeClr>
                </a:solidFill>
              </a:rPr>
              <a:t> </a:t>
            </a:r>
            <a:r>
              <a:rPr lang="en-US" sz="1800" dirty="0" err="1">
                <a:solidFill>
                  <a:schemeClr val="bg1">
                    <a:lumMod val="75000"/>
                  </a:schemeClr>
                </a:solidFill>
              </a:rPr>
              <a:t>thống</a:t>
            </a:r>
            <a:r>
              <a:rPr lang="en-US" sz="1800" dirty="0">
                <a:solidFill>
                  <a:schemeClr val="bg1">
                    <a:lumMod val="75000"/>
                  </a:schemeClr>
                </a:solidFill>
              </a:rPr>
              <a:t> </a:t>
            </a:r>
            <a:r>
              <a:rPr lang="en-US" sz="1800" dirty="0" err="1">
                <a:solidFill>
                  <a:schemeClr val="bg1">
                    <a:lumMod val="75000"/>
                  </a:schemeClr>
                </a:solidFill>
              </a:rPr>
              <a:t>giám</a:t>
            </a:r>
            <a:r>
              <a:rPr lang="en-US" sz="1800" dirty="0">
                <a:solidFill>
                  <a:schemeClr val="bg1">
                    <a:lumMod val="75000"/>
                  </a:schemeClr>
                </a:solidFill>
              </a:rPr>
              <a:t> </a:t>
            </a:r>
            <a:r>
              <a:rPr lang="en-US" sz="1800" dirty="0" err="1">
                <a:solidFill>
                  <a:schemeClr val="bg1">
                    <a:lumMod val="75000"/>
                  </a:schemeClr>
                </a:solidFill>
              </a:rPr>
              <a:t>sát</a:t>
            </a:r>
            <a:r>
              <a:rPr lang="en-US" sz="1800" dirty="0">
                <a:solidFill>
                  <a:schemeClr val="bg1">
                    <a:lumMod val="75000"/>
                  </a:schemeClr>
                </a:solidFill>
              </a:rPr>
              <a:t> </a:t>
            </a:r>
            <a:r>
              <a:rPr lang="en-US" sz="1800" dirty="0" err="1">
                <a:solidFill>
                  <a:schemeClr val="bg1">
                    <a:lumMod val="75000"/>
                  </a:schemeClr>
                </a:solidFill>
              </a:rPr>
              <a:t>truyền</a:t>
            </a:r>
            <a:r>
              <a:rPr lang="en-US" sz="1800" dirty="0">
                <a:solidFill>
                  <a:schemeClr val="bg1">
                    <a:lumMod val="75000"/>
                  </a:schemeClr>
                </a:solidFill>
              </a:rPr>
              <a:t> </a:t>
            </a:r>
            <a:r>
              <a:rPr lang="en-US" sz="1800" dirty="0" err="1">
                <a:solidFill>
                  <a:schemeClr val="bg1">
                    <a:lumMod val="75000"/>
                  </a:schemeClr>
                </a:solidFill>
              </a:rPr>
              <a:t>thống</a:t>
            </a:r>
            <a:r>
              <a:rPr lang="en-US" sz="1800" dirty="0">
                <a:solidFill>
                  <a:schemeClr val="bg1">
                    <a:lumMod val="75000"/>
                  </a:schemeClr>
                </a:solidFill>
              </a:rPr>
              <a:t>, </a:t>
            </a:r>
            <a:r>
              <a:rPr lang="en-US" sz="1800" dirty="0" err="1">
                <a:solidFill>
                  <a:schemeClr val="bg1">
                    <a:lumMod val="75000"/>
                  </a:schemeClr>
                </a:solidFill>
              </a:rPr>
              <a:t>nhu</a:t>
            </a:r>
            <a:r>
              <a:rPr lang="en-US" sz="1800" dirty="0">
                <a:solidFill>
                  <a:schemeClr val="bg1">
                    <a:lumMod val="75000"/>
                  </a:schemeClr>
                </a:solidFill>
              </a:rPr>
              <a:t> </a:t>
            </a:r>
            <a:r>
              <a:rPr lang="en-US" sz="1800" dirty="0" err="1">
                <a:solidFill>
                  <a:schemeClr val="bg1">
                    <a:lumMod val="75000"/>
                  </a:schemeClr>
                </a:solidFill>
              </a:rPr>
              <a:t>cầu</a:t>
            </a:r>
            <a:r>
              <a:rPr lang="en-US" sz="1800" dirty="0">
                <a:solidFill>
                  <a:schemeClr val="bg1">
                    <a:lumMod val="75000"/>
                  </a:schemeClr>
                </a:solidFill>
              </a:rPr>
              <a:t> </a:t>
            </a:r>
            <a:r>
              <a:rPr lang="en-US" sz="1800" dirty="0" err="1">
                <a:solidFill>
                  <a:schemeClr val="bg1">
                    <a:lumMod val="75000"/>
                  </a:schemeClr>
                </a:solidFill>
              </a:rPr>
              <a:t>về</a:t>
            </a:r>
            <a:r>
              <a:rPr lang="en-US" sz="1800" dirty="0">
                <a:solidFill>
                  <a:schemeClr val="bg1">
                    <a:lumMod val="75000"/>
                  </a:schemeClr>
                </a:solidFill>
              </a:rPr>
              <a:t> IOT platform </a:t>
            </a:r>
            <a:r>
              <a:rPr lang="en-US" sz="1800" dirty="0" err="1">
                <a:solidFill>
                  <a:schemeClr val="bg1">
                    <a:lumMod val="75000"/>
                  </a:schemeClr>
                </a:solidFill>
              </a:rPr>
              <a:t>tổng</a:t>
            </a:r>
            <a:r>
              <a:rPr lang="en-US" sz="1800" dirty="0">
                <a:solidFill>
                  <a:schemeClr val="bg1">
                    <a:lumMod val="75000"/>
                  </a:schemeClr>
                </a:solidFill>
              </a:rPr>
              <a:t> </a:t>
            </a:r>
            <a:r>
              <a:rPr lang="en-US" sz="1800" dirty="0" err="1">
                <a:solidFill>
                  <a:schemeClr val="bg1">
                    <a:lumMod val="75000"/>
                  </a:schemeClr>
                </a:solidFill>
              </a:rPr>
              <a:t>quát</a:t>
            </a:r>
            <a:r>
              <a:rPr lang="en-US" sz="1800" dirty="0">
                <a:solidFill>
                  <a:schemeClr val="bg1">
                    <a:lumMod val="75000"/>
                  </a:schemeClr>
                </a:solidFill>
              </a:rPr>
              <a:t> </a:t>
            </a:r>
            <a:r>
              <a:rPr lang="en-US" sz="1800" dirty="0" err="1">
                <a:solidFill>
                  <a:schemeClr val="bg1">
                    <a:lumMod val="75000"/>
                  </a:schemeClr>
                </a:solidFill>
              </a:rPr>
              <a:t>và</a:t>
            </a:r>
            <a:r>
              <a:rPr lang="en-US" sz="1800" dirty="0">
                <a:solidFill>
                  <a:schemeClr val="bg1">
                    <a:lumMod val="75000"/>
                  </a:schemeClr>
                </a:solidFill>
              </a:rPr>
              <a:t> </a:t>
            </a:r>
            <a:r>
              <a:rPr lang="en-US" sz="1800" dirty="0" err="1">
                <a:solidFill>
                  <a:schemeClr val="bg1">
                    <a:lumMod val="75000"/>
                  </a:schemeClr>
                </a:solidFill>
              </a:rPr>
              <a:t>linh</a:t>
            </a:r>
            <a:r>
              <a:rPr lang="en-US" sz="1800" dirty="0">
                <a:solidFill>
                  <a:schemeClr val="bg1">
                    <a:lumMod val="75000"/>
                  </a:schemeClr>
                </a:solidFill>
              </a:rPr>
              <a:t> </a:t>
            </a:r>
            <a:r>
              <a:rPr lang="en-US" sz="1800" dirty="0" err="1">
                <a:solidFill>
                  <a:schemeClr val="bg1">
                    <a:lumMod val="75000"/>
                  </a:schemeClr>
                </a:solidFill>
              </a:rPr>
              <a:t>hoạt</a:t>
            </a:r>
            <a:endParaRPr dirty="0">
              <a:solidFill>
                <a:schemeClr val="bg1">
                  <a:lumMod val="75000"/>
                </a:schemeClr>
              </a:solidFill>
            </a:endParaRPr>
          </a:p>
          <a:p>
            <a:pPr marL="176213" marR="0" lvl="0" indent="-176213" algn="l" rtl="0">
              <a:spcBef>
                <a:spcPts val="1000"/>
              </a:spcBef>
              <a:spcAft>
                <a:spcPts val="0"/>
              </a:spcAft>
              <a:buClr>
                <a:srgbClr val="A6A6A6"/>
              </a:buClr>
              <a:buSzPts val="2160"/>
              <a:buFont typeface="Arial"/>
              <a:buChar char="•"/>
            </a:pPr>
            <a:r>
              <a:rPr lang="en-US" sz="1800" dirty="0">
                <a:solidFill>
                  <a:schemeClr val="bg1">
                    <a:lumMod val="75000"/>
                  </a:schemeClr>
                </a:solidFill>
                <a:latin typeface="Arial"/>
                <a:ea typeface="Arial"/>
                <a:cs typeface="Arial"/>
                <a:sym typeface="Arial"/>
              </a:rPr>
              <a:t>1.2. </a:t>
            </a:r>
            <a:r>
              <a:rPr lang="en-US" sz="1800" dirty="0" err="1">
                <a:solidFill>
                  <a:schemeClr val="bg1">
                    <a:lumMod val="75000"/>
                  </a:schemeClr>
                </a:solidFill>
              </a:rPr>
              <a:t>Kiến</a:t>
            </a:r>
            <a:r>
              <a:rPr lang="en-US" sz="1800" dirty="0">
                <a:solidFill>
                  <a:schemeClr val="bg1">
                    <a:lumMod val="75000"/>
                  </a:schemeClr>
                </a:solidFill>
              </a:rPr>
              <a:t> </a:t>
            </a:r>
            <a:r>
              <a:rPr lang="en-US" sz="1800" dirty="0" err="1">
                <a:solidFill>
                  <a:schemeClr val="bg1">
                    <a:lumMod val="75000"/>
                  </a:schemeClr>
                </a:solidFill>
              </a:rPr>
              <a:t>trúc</a:t>
            </a:r>
            <a:r>
              <a:rPr lang="en-US" sz="1800" dirty="0">
                <a:solidFill>
                  <a:schemeClr val="bg1">
                    <a:lumMod val="75000"/>
                  </a:schemeClr>
                </a:solidFill>
              </a:rPr>
              <a:t> </a:t>
            </a:r>
            <a:r>
              <a:rPr lang="en-US" sz="1800" dirty="0" err="1">
                <a:solidFill>
                  <a:schemeClr val="bg1">
                    <a:lumMod val="75000"/>
                  </a:schemeClr>
                </a:solidFill>
              </a:rPr>
              <a:t>và</a:t>
            </a:r>
            <a:r>
              <a:rPr lang="en-US" sz="1800" dirty="0">
                <a:solidFill>
                  <a:schemeClr val="bg1">
                    <a:lumMod val="75000"/>
                  </a:schemeClr>
                </a:solidFill>
              </a:rPr>
              <a:t> </a:t>
            </a:r>
            <a:r>
              <a:rPr lang="en-US" sz="1800" dirty="0" err="1">
                <a:solidFill>
                  <a:schemeClr val="bg1">
                    <a:lumMod val="75000"/>
                  </a:schemeClr>
                </a:solidFill>
              </a:rPr>
              <a:t>kĩ</a:t>
            </a:r>
            <a:r>
              <a:rPr lang="en-US" sz="1800" dirty="0">
                <a:solidFill>
                  <a:schemeClr val="bg1">
                    <a:lumMod val="75000"/>
                  </a:schemeClr>
                </a:solidFill>
              </a:rPr>
              <a:t> </a:t>
            </a:r>
            <a:r>
              <a:rPr lang="en-US" sz="1800" dirty="0" err="1">
                <a:solidFill>
                  <a:schemeClr val="bg1">
                    <a:lumMod val="75000"/>
                  </a:schemeClr>
                </a:solidFill>
              </a:rPr>
              <a:t>thuật</a:t>
            </a:r>
            <a:r>
              <a:rPr lang="en-US" sz="1800" dirty="0">
                <a:solidFill>
                  <a:schemeClr val="bg1">
                    <a:lumMod val="75000"/>
                  </a:schemeClr>
                </a:solidFill>
              </a:rPr>
              <a:t> </a:t>
            </a:r>
            <a:r>
              <a:rPr lang="en-US" sz="1800" dirty="0" err="1">
                <a:solidFill>
                  <a:schemeClr val="bg1">
                    <a:lumMod val="75000"/>
                  </a:schemeClr>
                </a:solidFill>
              </a:rPr>
              <a:t>các</a:t>
            </a:r>
            <a:r>
              <a:rPr lang="en-US" sz="1800" dirty="0">
                <a:solidFill>
                  <a:schemeClr val="bg1">
                    <a:lumMod val="75000"/>
                  </a:schemeClr>
                </a:solidFill>
              </a:rPr>
              <a:t> </a:t>
            </a:r>
            <a:r>
              <a:rPr lang="en-US" sz="1800" dirty="0" err="1">
                <a:solidFill>
                  <a:schemeClr val="bg1">
                    <a:lumMod val="75000"/>
                  </a:schemeClr>
                </a:solidFill>
              </a:rPr>
              <a:t>nền</a:t>
            </a:r>
            <a:r>
              <a:rPr lang="en-US" sz="1800" dirty="0">
                <a:solidFill>
                  <a:schemeClr val="bg1">
                    <a:lumMod val="75000"/>
                  </a:schemeClr>
                </a:solidFill>
              </a:rPr>
              <a:t> </a:t>
            </a:r>
            <a:r>
              <a:rPr lang="en-US" sz="1800" dirty="0" err="1">
                <a:solidFill>
                  <a:schemeClr val="bg1">
                    <a:lumMod val="75000"/>
                  </a:schemeClr>
                </a:solidFill>
              </a:rPr>
              <a:t>tảng</a:t>
            </a:r>
            <a:r>
              <a:rPr lang="en-US" sz="1800" dirty="0">
                <a:solidFill>
                  <a:schemeClr val="bg1">
                    <a:lumMod val="75000"/>
                  </a:schemeClr>
                </a:solidFill>
              </a:rPr>
              <a:t> IOT</a:t>
            </a:r>
          </a:p>
          <a:p>
            <a:pPr marL="176213" marR="0" lvl="0" indent="-176213" algn="l" rtl="0">
              <a:spcBef>
                <a:spcPts val="1000"/>
              </a:spcBef>
              <a:spcAft>
                <a:spcPts val="0"/>
              </a:spcAft>
              <a:buClr>
                <a:srgbClr val="A6A6A6"/>
              </a:buClr>
              <a:buSzPts val="2160"/>
              <a:buFont typeface="Arial"/>
              <a:buChar char="•"/>
            </a:pPr>
            <a:r>
              <a:rPr lang="en-US" sz="1800" dirty="0">
                <a:solidFill>
                  <a:schemeClr val="tx1"/>
                </a:solidFill>
                <a:latin typeface="Arial"/>
                <a:ea typeface="Arial"/>
                <a:cs typeface="Arial"/>
                <a:sym typeface="Arial"/>
              </a:rPr>
              <a:t>1.3 Các </a:t>
            </a:r>
            <a:r>
              <a:rPr lang="en-US" sz="1800" dirty="0" err="1">
                <a:solidFill>
                  <a:schemeClr val="tx1"/>
                </a:solidFill>
                <a:latin typeface="Arial"/>
                <a:ea typeface="Arial"/>
                <a:cs typeface="Arial"/>
                <a:sym typeface="Arial"/>
              </a:rPr>
              <a:t>nền</a:t>
            </a:r>
            <a:r>
              <a:rPr lang="en-US" sz="1800" dirty="0">
                <a:solidFill>
                  <a:schemeClr val="tx1"/>
                </a:solidFill>
                <a:latin typeface="Arial"/>
                <a:ea typeface="Arial"/>
                <a:cs typeface="Arial"/>
                <a:sym typeface="Arial"/>
              </a:rPr>
              <a:t> </a:t>
            </a:r>
            <a:r>
              <a:rPr lang="en-US" sz="1800" dirty="0" err="1">
                <a:solidFill>
                  <a:schemeClr val="tx1"/>
                </a:solidFill>
                <a:latin typeface="Arial"/>
                <a:ea typeface="Arial"/>
                <a:cs typeface="Arial"/>
                <a:sym typeface="Arial"/>
              </a:rPr>
              <a:t>tảng</a:t>
            </a:r>
            <a:r>
              <a:rPr lang="en-US" sz="1800" dirty="0">
                <a:solidFill>
                  <a:schemeClr val="tx1"/>
                </a:solidFill>
                <a:latin typeface="Arial"/>
                <a:ea typeface="Arial"/>
                <a:cs typeface="Arial"/>
                <a:sym typeface="Arial"/>
              </a:rPr>
              <a:t> IOT</a:t>
            </a:r>
            <a:endParaRPr lang="en-US" sz="1800" dirty="0">
              <a:solidFill>
                <a:srgbClr val="A6A6A6"/>
              </a:solidFill>
              <a:latin typeface="Arial"/>
              <a:ea typeface="Arial"/>
              <a:cs typeface="Arial"/>
              <a:sym typeface="Arial"/>
            </a:endParaRPr>
          </a:p>
          <a:p>
            <a:pPr marL="176213" marR="0" lvl="0" indent="-176213" algn="l" rtl="0">
              <a:spcBef>
                <a:spcPts val="1000"/>
              </a:spcBef>
              <a:spcAft>
                <a:spcPts val="0"/>
              </a:spcAft>
              <a:buClr>
                <a:srgbClr val="A6A6A6"/>
              </a:buClr>
              <a:buSzPts val="2160"/>
              <a:buFont typeface="Arial"/>
              <a:buChar char="•"/>
            </a:pPr>
            <a:endParaRPr sz="1800"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4288811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2841F209-8EC4-B8FE-D1B0-CCAB408E678E}"/>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BF995538-6E00-A377-30DD-DD7C0323F1CD}"/>
              </a:ext>
            </a:extLst>
          </p:cNvPr>
          <p:cNvSpPr/>
          <p:nvPr/>
        </p:nvSpPr>
        <p:spPr>
          <a:xfrm>
            <a:off x="393013" y="875301"/>
            <a:ext cx="9257056" cy="3785652"/>
          </a:xfrm>
          <a:prstGeom prst="rect">
            <a:avLst/>
          </a:prstGeom>
          <a:noFill/>
          <a:ln>
            <a:noFill/>
          </a:ln>
        </p:spPr>
        <p:txBody>
          <a:bodyPr spcFirstLastPara="1" wrap="square" lIns="0" tIns="0" rIns="0" bIns="0" anchor="t" anchorCtr="0">
            <a:spAutoFit/>
          </a:bodyPr>
          <a:lstStyle/>
          <a:p>
            <a:pPr>
              <a:lnSpc>
                <a:spcPct val="150000"/>
              </a:lnSpc>
            </a:pPr>
            <a:r>
              <a:rPr lang="vi-VN" sz="2400" b="1" dirty="0">
                <a:solidFill>
                  <a:srgbClr val="0C0C0C"/>
                </a:solidFill>
              </a:rPr>
              <a:t>Khái quát về IoT Platform</a:t>
            </a:r>
          </a:p>
          <a:p>
            <a:pPr>
              <a:lnSpc>
                <a:spcPct val="150000"/>
              </a:lnSpc>
            </a:pPr>
            <a:r>
              <a:rPr lang="vi-VN" dirty="0"/>
              <a:t>IoT platform là lớp trung tâm của hệ thống IoT, chịu trách nhiệm kết nối thiết bị, thu thập dữ liệu, lưu trữ, phân tích và cung cấp dịch vụ cho ứng dụng. Về bản chất, IoT platform là một hệ thống phần mềm tích hợp nhiều thành phần: quản lý thiết bị, quản lý dữ liệu, công cụ phân tích, giao diện trực quan và API tích hợp.</a:t>
            </a:r>
          </a:p>
          <a:p>
            <a:pPr>
              <a:lnSpc>
                <a:spcPct val="150000"/>
              </a:lnSpc>
            </a:pPr>
            <a:r>
              <a:rPr lang="vi-VN" dirty="0"/>
              <a:t>Các nền tảng hiện nay có thể khác biệt đáng kể về:</a:t>
            </a:r>
          </a:p>
          <a:p>
            <a:pPr marL="285750" indent="-285750">
              <a:lnSpc>
                <a:spcPct val="150000"/>
              </a:lnSpc>
              <a:buFont typeface="Arial" panose="020B0604020202020204" pitchFamily="34" charset="0"/>
              <a:buChar char="•"/>
            </a:pPr>
            <a:r>
              <a:rPr lang="vi-VN" dirty="0"/>
              <a:t>M</a:t>
            </a:r>
            <a:r>
              <a:rPr lang="en-US" dirty="0"/>
              <a:t>ô</a:t>
            </a:r>
            <a:r>
              <a:rPr lang="vi-VN" dirty="0"/>
              <a:t> hình triển khai (cloud, on-premise, hybrid)</a:t>
            </a:r>
            <a:br>
              <a:rPr lang="vi-VN" dirty="0"/>
            </a:br>
            <a:r>
              <a:rPr lang="vi-VN" dirty="0"/>
              <a:t>Kiến trúc hệ thống (monolithic hoặc microservices)</a:t>
            </a:r>
            <a:br>
              <a:rPr lang="vi-VN" dirty="0"/>
            </a:br>
            <a:r>
              <a:rPr lang="vi-VN" dirty="0"/>
              <a:t>Ngôn ngữ và công nghệ nền tảng</a:t>
            </a:r>
            <a:br>
              <a:rPr lang="vi-VN" dirty="0"/>
            </a:br>
            <a:r>
              <a:rPr lang="vi-VN" dirty="0"/>
              <a:t>Khả năng mở rộng và xử lý phân tán</a:t>
            </a:r>
            <a:br>
              <a:rPr lang="vi-VN" dirty="0"/>
            </a:br>
            <a:r>
              <a:rPr lang="vi-VN" dirty="0"/>
              <a:t>Mức độ hỗ trợ giao thức</a:t>
            </a:r>
            <a:br>
              <a:rPr lang="vi-VN" dirty="0"/>
            </a:br>
            <a:r>
              <a:rPr lang="vi-VN" dirty="0"/>
              <a:t>Mô hình cấp phép (license)</a:t>
            </a:r>
          </a:p>
        </p:txBody>
      </p:sp>
      <p:sp>
        <p:nvSpPr>
          <p:cNvPr id="2" name="Google Shape;184;p5">
            <a:extLst>
              <a:ext uri="{FF2B5EF4-FFF2-40B4-BE49-F238E27FC236}">
                <a16:creationId xmlns:a16="http://schemas.microsoft.com/office/drawing/2014/main" id="{2325745D-CA7C-7066-A07F-8EFD34D6CC48}"/>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1.3 Các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pic>
        <p:nvPicPr>
          <p:cNvPr id="19460" name="Picture 4" descr="What is the Internet of Things Platform - All About IoT Technology and  Applications">
            <a:extLst>
              <a:ext uri="{FF2B5EF4-FFF2-40B4-BE49-F238E27FC236}">
                <a16:creationId xmlns:a16="http://schemas.microsoft.com/office/drawing/2014/main" id="{CB1240E6-D453-9549-12B4-C122216E13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9909" y="2990850"/>
            <a:ext cx="5062916" cy="3124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70421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2BB67C33-F54C-76C2-0A99-AB05DE0566B6}"/>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2B2FD721-F40B-076D-187D-524F6D97E329}"/>
              </a:ext>
            </a:extLst>
          </p:cNvPr>
          <p:cNvSpPr/>
          <p:nvPr/>
        </p:nvSpPr>
        <p:spPr>
          <a:xfrm>
            <a:off x="382244" y="758269"/>
            <a:ext cx="9257056" cy="6047809"/>
          </a:xfrm>
          <a:prstGeom prst="rect">
            <a:avLst/>
          </a:prstGeom>
          <a:noFill/>
          <a:ln>
            <a:noFill/>
          </a:ln>
        </p:spPr>
        <p:txBody>
          <a:bodyPr spcFirstLastPara="1" wrap="square" lIns="0" tIns="0" rIns="0" bIns="0" anchor="t" anchorCtr="0">
            <a:spAutoFit/>
          </a:bodyPr>
          <a:lstStyle/>
          <a:p>
            <a:pPr>
              <a:lnSpc>
                <a:spcPct val="150000"/>
              </a:lnSpc>
            </a:pPr>
            <a:r>
              <a:rPr lang="vi-VN" sz="2400" b="1" dirty="0">
                <a:solidFill>
                  <a:srgbClr val="0C0C0C"/>
                </a:solidFill>
              </a:rPr>
              <a:t>IoT Platform thương mại (Commercial IoT Platforms)</a:t>
            </a:r>
          </a:p>
          <a:p>
            <a:pPr>
              <a:lnSpc>
                <a:spcPct val="150000"/>
              </a:lnSpc>
            </a:pPr>
            <a:r>
              <a:rPr lang="vi-VN" b="1" dirty="0"/>
              <a:t>1 Đặc điểm chung</a:t>
            </a:r>
          </a:p>
          <a:p>
            <a:pPr>
              <a:lnSpc>
                <a:spcPct val="150000"/>
              </a:lnSpc>
            </a:pPr>
            <a:r>
              <a:rPr lang="vi-VN" dirty="0"/>
              <a:t>Các nền tảng thương mại chủ yếu hoạt động theo mô hình SaaS. Thiết bị kết nối trực tiếp lên hạ tầng cloud của nhà cung cấp. Người dùng quản lý và khai thác dữ liệu thông qua giao diện web hoặc API.</a:t>
            </a:r>
          </a:p>
          <a:p>
            <a:pPr>
              <a:lnSpc>
                <a:spcPct val="150000"/>
              </a:lnSpc>
            </a:pPr>
            <a:r>
              <a:rPr lang="vi-VN" dirty="0"/>
              <a:t>Các nền tảng tiêu biểu gồm:</a:t>
            </a:r>
          </a:p>
          <a:p>
            <a:pPr marL="285750" indent="-285750">
              <a:lnSpc>
                <a:spcPct val="150000"/>
              </a:lnSpc>
              <a:buFont typeface="Arial" panose="020B0604020202020204" pitchFamily="34" charset="0"/>
              <a:buChar char="•"/>
            </a:pPr>
            <a:r>
              <a:rPr lang="vi-VN" dirty="0"/>
              <a:t>AWS IoT</a:t>
            </a:r>
            <a:br>
              <a:rPr lang="vi-VN" dirty="0"/>
            </a:br>
            <a:r>
              <a:rPr lang="vi-VN" dirty="0"/>
              <a:t>Microsoft Azure IoT</a:t>
            </a:r>
            <a:br>
              <a:rPr lang="vi-VN" dirty="0"/>
            </a:br>
            <a:r>
              <a:rPr lang="vi-VN" dirty="0"/>
              <a:t>Google Cloud IoT</a:t>
            </a:r>
            <a:br>
              <a:rPr lang="vi-VN" dirty="0"/>
            </a:br>
            <a:r>
              <a:rPr lang="vi-VN" dirty="0"/>
              <a:t>IBM Cloud</a:t>
            </a:r>
            <a:br>
              <a:rPr lang="vi-VN" dirty="0"/>
            </a:br>
            <a:r>
              <a:rPr lang="vi-VN" dirty="0"/>
              <a:t>ThingWorx</a:t>
            </a:r>
            <a:endParaRPr lang="en-US" dirty="0"/>
          </a:p>
          <a:p>
            <a:pPr>
              <a:lnSpc>
                <a:spcPct val="150000"/>
              </a:lnSpc>
            </a:pPr>
            <a:r>
              <a:rPr lang="vi-VN" b="1" dirty="0"/>
              <a:t>2 Chức năng chính</a:t>
            </a:r>
          </a:p>
          <a:p>
            <a:pPr>
              <a:lnSpc>
                <a:spcPct val="150000"/>
              </a:lnSpc>
            </a:pPr>
            <a:r>
              <a:rPr lang="vi-VN" dirty="0"/>
              <a:t>Quản lý thiết bị quy mô lớn (device provisioning, registry, certificate management).</a:t>
            </a:r>
            <a:br>
              <a:rPr lang="vi-VN" dirty="0"/>
            </a:br>
            <a:r>
              <a:rPr lang="vi-VN" dirty="0"/>
              <a:t>Hỗ trợ đa giao thức như MQTT, HTTP, AMQP.</a:t>
            </a:r>
            <a:br>
              <a:rPr lang="vi-VN" dirty="0"/>
            </a:br>
            <a:r>
              <a:rPr lang="vi-VN" dirty="0"/>
              <a:t>Tích hợp dịch vụ lưu trữ và phân tích dữ liệu cloud-native.</a:t>
            </a:r>
            <a:br>
              <a:rPr lang="vi-VN" dirty="0"/>
            </a:br>
            <a:r>
              <a:rPr lang="vi-VN" dirty="0"/>
              <a:t>Hỗ trợ machine learning, AI và data pipeline.</a:t>
            </a:r>
            <a:br>
              <a:rPr lang="vi-VN" dirty="0"/>
            </a:br>
            <a:r>
              <a:rPr lang="vi-VN" dirty="0"/>
              <a:t>Giám sát và cảnh báo theo thời gian thực.</a:t>
            </a:r>
            <a:br>
              <a:rPr lang="vi-VN" dirty="0"/>
            </a:br>
            <a:r>
              <a:rPr lang="vi-VN" dirty="0"/>
              <a:t>Khả năng tích hợp với hệ sinh thái dịch vụ cloud khác (database, analytics, security).</a:t>
            </a:r>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E00D64EF-8CA1-BA12-AA80-06EE14C2FCB0}"/>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1.3 Các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spTree>
    <p:extLst>
      <p:ext uri="{BB962C8B-B14F-4D97-AF65-F5344CB8AC3E}">
        <p14:creationId xmlns:p14="http://schemas.microsoft.com/office/powerpoint/2010/main" val="3635961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9C676749-2283-BBB2-9AEE-B71F9AD7901A}"/>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C1A3BE6F-871E-AFF8-EDEC-4CD6D45CA8FA}"/>
              </a:ext>
            </a:extLst>
          </p:cNvPr>
          <p:cNvSpPr/>
          <p:nvPr/>
        </p:nvSpPr>
        <p:spPr>
          <a:xfrm>
            <a:off x="382244" y="758269"/>
            <a:ext cx="9257056" cy="4108817"/>
          </a:xfrm>
          <a:prstGeom prst="rect">
            <a:avLst/>
          </a:prstGeom>
          <a:noFill/>
          <a:ln>
            <a:noFill/>
          </a:ln>
        </p:spPr>
        <p:txBody>
          <a:bodyPr spcFirstLastPara="1" wrap="square" lIns="0" tIns="0" rIns="0" bIns="0" anchor="t" anchorCtr="0">
            <a:spAutoFit/>
          </a:bodyPr>
          <a:lstStyle/>
          <a:p>
            <a:pPr>
              <a:lnSpc>
                <a:spcPct val="150000"/>
              </a:lnSpc>
            </a:pPr>
            <a:r>
              <a:rPr lang="vi-VN" sz="2400" b="1" dirty="0">
                <a:solidFill>
                  <a:srgbClr val="0C0C0C"/>
                </a:solidFill>
              </a:rPr>
              <a:t>IoT Platform thương mại (Commercial IoT Platforms)</a:t>
            </a:r>
          </a:p>
          <a:p>
            <a:pPr>
              <a:lnSpc>
                <a:spcPct val="150000"/>
              </a:lnSpc>
            </a:pPr>
            <a:r>
              <a:rPr lang="vi-VN" b="1" dirty="0"/>
              <a:t>3 Ưu điểm kỹ thuật</a:t>
            </a:r>
          </a:p>
          <a:p>
            <a:pPr>
              <a:lnSpc>
                <a:spcPct val="150000"/>
              </a:lnSpc>
            </a:pPr>
            <a:r>
              <a:rPr lang="vi-VN" dirty="0"/>
              <a:t>Khả năng mở rộng gần như không giới hạn nhờ hạ tầng cloud.</a:t>
            </a:r>
            <a:br>
              <a:rPr lang="vi-VN" dirty="0"/>
            </a:br>
            <a:r>
              <a:rPr lang="vi-VN" dirty="0"/>
              <a:t>Triển khai nhanh, không cần đầu tư phần cứng.</a:t>
            </a:r>
            <a:br>
              <a:rPr lang="vi-VN" dirty="0"/>
            </a:br>
            <a:r>
              <a:rPr lang="vi-VN" dirty="0"/>
              <a:t>Độ sẵn sàng cao (high availability) và dự phòng tự động.</a:t>
            </a:r>
            <a:br>
              <a:rPr lang="vi-VN" dirty="0"/>
            </a:br>
            <a:r>
              <a:rPr lang="vi-VN" dirty="0"/>
              <a:t>Cập nhật và bảo trì do nhà cung cấp đảm nhiệm.</a:t>
            </a:r>
          </a:p>
          <a:p>
            <a:pPr>
              <a:lnSpc>
                <a:spcPct val="150000"/>
              </a:lnSpc>
            </a:pPr>
            <a:r>
              <a:rPr lang="vi-VN" b="1" dirty="0"/>
              <a:t>4 Hạn chế</a:t>
            </a:r>
          </a:p>
          <a:p>
            <a:pPr>
              <a:lnSpc>
                <a:spcPct val="150000"/>
              </a:lnSpc>
            </a:pPr>
            <a:r>
              <a:rPr lang="vi-VN" dirty="0"/>
              <a:t>Phụ thuộc hoàn toàn vào nhà cung cấp.</a:t>
            </a:r>
            <a:br>
              <a:rPr lang="vi-VN" dirty="0"/>
            </a:br>
            <a:r>
              <a:rPr lang="vi-VN" dirty="0"/>
              <a:t>Chi phí tăng theo số lượng thiết bị và lưu lượng dữ liệu.</a:t>
            </a:r>
            <a:br>
              <a:rPr lang="vi-VN" dirty="0"/>
            </a:br>
            <a:r>
              <a:rPr lang="vi-VN" dirty="0"/>
              <a:t>Khó kiểm soát vị trí và chủ quyền dữ liệu.</a:t>
            </a:r>
            <a:br>
              <a:rPr lang="vi-VN" dirty="0"/>
            </a:br>
            <a:r>
              <a:rPr lang="vi-VN" dirty="0"/>
              <a:t>Nguy cơ vendor lock-in khi hệ thống phụ thuộc vào dịch vụ độc quyền.</a:t>
            </a:r>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1ED8A1EB-D8B9-F233-A1EA-887B1BA94485}"/>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1.3 Các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spTree>
    <p:extLst>
      <p:ext uri="{BB962C8B-B14F-4D97-AF65-F5344CB8AC3E}">
        <p14:creationId xmlns:p14="http://schemas.microsoft.com/office/powerpoint/2010/main" val="22283586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98D08F9B-BE09-4A45-E9A3-F5A311CDA5E3}"/>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A97BDAF9-B524-E51B-5D87-45F6D6791DED}"/>
              </a:ext>
            </a:extLst>
          </p:cNvPr>
          <p:cNvSpPr/>
          <p:nvPr/>
        </p:nvSpPr>
        <p:spPr>
          <a:xfrm>
            <a:off x="382244" y="758269"/>
            <a:ext cx="9257056" cy="5724644"/>
          </a:xfrm>
          <a:prstGeom prst="rect">
            <a:avLst/>
          </a:prstGeom>
          <a:noFill/>
          <a:ln>
            <a:noFill/>
          </a:ln>
        </p:spPr>
        <p:txBody>
          <a:bodyPr spcFirstLastPara="1" wrap="square" lIns="0" tIns="0" rIns="0" bIns="0" anchor="t" anchorCtr="0">
            <a:spAutoFit/>
          </a:bodyPr>
          <a:lstStyle/>
          <a:p>
            <a:pPr>
              <a:lnSpc>
                <a:spcPct val="150000"/>
              </a:lnSpc>
            </a:pPr>
            <a:r>
              <a:rPr lang="en-US" sz="2400" b="1" dirty="0">
                <a:solidFill>
                  <a:srgbClr val="0C0C0C"/>
                </a:solidFill>
              </a:rPr>
              <a:t>IoT Platform </a:t>
            </a:r>
            <a:r>
              <a:rPr lang="en-US" sz="2400" b="1" dirty="0" err="1">
                <a:solidFill>
                  <a:srgbClr val="0C0C0C"/>
                </a:solidFill>
              </a:rPr>
              <a:t>mã</a:t>
            </a:r>
            <a:r>
              <a:rPr lang="en-US" sz="2400" b="1" dirty="0">
                <a:solidFill>
                  <a:srgbClr val="0C0C0C"/>
                </a:solidFill>
              </a:rPr>
              <a:t> </a:t>
            </a:r>
            <a:r>
              <a:rPr lang="en-US" sz="2400" b="1" dirty="0" err="1">
                <a:solidFill>
                  <a:srgbClr val="0C0C0C"/>
                </a:solidFill>
              </a:rPr>
              <a:t>nguồn</a:t>
            </a:r>
            <a:r>
              <a:rPr lang="en-US" sz="2400" b="1" dirty="0">
                <a:solidFill>
                  <a:srgbClr val="0C0C0C"/>
                </a:solidFill>
              </a:rPr>
              <a:t> </a:t>
            </a:r>
            <a:r>
              <a:rPr lang="en-US" sz="2400" b="1" dirty="0" err="1">
                <a:solidFill>
                  <a:srgbClr val="0C0C0C"/>
                </a:solidFill>
              </a:rPr>
              <a:t>mở</a:t>
            </a:r>
            <a:r>
              <a:rPr lang="en-US" sz="2400" b="1" dirty="0">
                <a:solidFill>
                  <a:srgbClr val="0C0C0C"/>
                </a:solidFill>
              </a:rPr>
              <a:t> (Free and Open-Source Platforms)</a:t>
            </a:r>
          </a:p>
          <a:p>
            <a:pPr>
              <a:lnSpc>
                <a:spcPct val="150000"/>
              </a:lnSpc>
            </a:pPr>
            <a:r>
              <a:rPr lang="vi-VN" b="1" dirty="0"/>
              <a:t>1 Đặc điểm chung</a:t>
            </a:r>
          </a:p>
          <a:p>
            <a:pPr>
              <a:lnSpc>
                <a:spcPct val="150000"/>
              </a:lnSpc>
            </a:pPr>
            <a:r>
              <a:rPr lang="vi-VN" dirty="0"/>
              <a:t>Các nền tảng này cho phép tổ chức tải mã nguồn và triển khai trên hạ tầng riêng (on-premise hoặc private cloud). Người dùng có toàn quyền kiểm soát cấu hình, dữ liệu và kiến trúc hệ thống.</a:t>
            </a:r>
          </a:p>
          <a:p>
            <a:pPr>
              <a:lnSpc>
                <a:spcPct val="150000"/>
              </a:lnSpc>
            </a:pPr>
            <a:r>
              <a:rPr lang="vi-VN" dirty="0"/>
              <a:t>Các nền tảng tiêu biểu:</a:t>
            </a:r>
          </a:p>
          <a:p>
            <a:pPr marL="285750" indent="-285750">
              <a:lnSpc>
                <a:spcPct val="150000"/>
              </a:lnSpc>
              <a:buFont typeface="Arial" panose="020B0604020202020204" pitchFamily="34" charset="0"/>
              <a:buChar char="•"/>
            </a:pPr>
            <a:r>
              <a:rPr lang="vi-VN" dirty="0"/>
              <a:t>ThingsBoard</a:t>
            </a:r>
            <a:br>
              <a:rPr lang="vi-VN" dirty="0"/>
            </a:br>
            <a:r>
              <a:rPr lang="vi-VN" dirty="0"/>
              <a:t>SiteWhere</a:t>
            </a:r>
            <a:br>
              <a:rPr lang="vi-VN" dirty="0"/>
            </a:br>
            <a:r>
              <a:rPr lang="vi-VN" dirty="0"/>
              <a:t>Mainflux</a:t>
            </a:r>
            <a:br>
              <a:rPr lang="vi-VN" dirty="0"/>
            </a:br>
            <a:r>
              <a:rPr lang="vi-VN" dirty="0"/>
              <a:t>Eclipse Kapua</a:t>
            </a:r>
            <a:br>
              <a:rPr lang="vi-VN" dirty="0"/>
            </a:br>
            <a:r>
              <a:rPr lang="vi-VN" dirty="0"/>
              <a:t>OpenRemote</a:t>
            </a:r>
            <a:br>
              <a:rPr lang="vi-VN" dirty="0"/>
            </a:br>
            <a:r>
              <a:rPr lang="vi-VN" dirty="0"/>
              <a:t>Home Assistant</a:t>
            </a:r>
            <a:br>
              <a:rPr lang="vi-VN" dirty="0"/>
            </a:br>
            <a:r>
              <a:rPr lang="vi-VN" dirty="0"/>
              <a:t>openHAB</a:t>
            </a:r>
          </a:p>
          <a:p>
            <a:pPr>
              <a:lnSpc>
                <a:spcPct val="150000"/>
              </a:lnSpc>
            </a:pPr>
            <a:r>
              <a:rPr lang="vi-VN" b="1" dirty="0"/>
              <a:t>2 Kiến trúc triển khai</a:t>
            </a:r>
          </a:p>
          <a:p>
            <a:pPr>
              <a:lnSpc>
                <a:spcPct val="150000"/>
              </a:lnSpc>
            </a:pPr>
            <a:r>
              <a:rPr lang="vi-VN" dirty="0"/>
              <a:t>Nhiều nền tảng sử dụng kiến trúc microservices, triển khai bằng container (Docker/Kubernetes).</a:t>
            </a:r>
            <a:br>
              <a:rPr lang="vi-VN" dirty="0"/>
            </a:br>
            <a:r>
              <a:rPr lang="vi-VN" dirty="0"/>
              <a:t>Hỗ trợ mở rộng ngang (horizontal scaling).</a:t>
            </a:r>
            <a:br>
              <a:rPr lang="vi-VN" dirty="0"/>
            </a:br>
            <a:r>
              <a:rPr lang="vi-VN" dirty="0"/>
              <a:t>Cho phép lựa chọn hệ quản trị cơ sở dữ liệu phù hợp (SQL, NoSQL, time-series).</a:t>
            </a:r>
          </a:p>
          <a:p>
            <a:pPr>
              <a:lnSpc>
                <a:spcPct val="150000"/>
              </a:lnSpc>
            </a:pPr>
            <a:endParaRPr lang="vi-VN" dirty="0"/>
          </a:p>
        </p:txBody>
      </p:sp>
      <p:sp>
        <p:nvSpPr>
          <p:cNvPr id="2" name="Google Shape;184;p5">
            <a:extLst>
              <a:ext uri="{FF2B5EF4-FFF2-40B4-BE49-F238E27FC236}">
                <a16:creationId xmlns:a16="http://schemas.microsoft.com/office/drawing/2014/main" id="{5F921764-B9E6-FA58-330C-F436F03336A9}"/>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1.3 Các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spTree>
    <p:extLst>
      <p:ext uri="{BB962C8B-B14F-4D97-AF65-F5344CB8AC3E}">
        <p14:creationId xmlns:p14="http://schemas.microsoft.com/office/powerpoint/2010/main" val="9604661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5A3CF8C4-CB84-BC9A-EFF1-3B05CF3FF8D5}"/>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7D3B24E1-54A3-AE58-6229-FD42127ED537}"/>
              </a:ext>
            </a:extLst>
          </p:cNvPr>
          <p:cNvSpPr/>
          <p:nvPr/>
        </p:nvSpPr>
        <p:spPr>
          <a:xfrm>
            <a:off x="382244" y="758269"/>
            <a:ext cx="9257056" cy="6047809"/>
          </a:xfrm>
          <a:prstGeom prst="rect">
            <a:avLst/>
          </a:prstGeom>
          <a:noFill/>
          <a:ln>
            <a:noFill/>
          </a:ln>
        </p:spPr>
        <p:txBody>
          <a:bodyPr spcFirstLastPara="1" wrap="square" lIns="0" tIns="0" rIns="0" bIns="0" anchor="t" anchorCtr="0">
            <a:spAutoFit/>
          </a:bodyPr>
          <a:lstStyle/>
          <a:p>
            <a:pPr>
              <a:lnSpc>
                <a:spcPct val="150000"/>
              </a:lnSpc>
            </a:pPr>
            <a:r>
              <a:rPr lang="en-US" sz="2400" b="1" dirty="0">
                <a:solidFill>
                  <a:srgbClr val="0C0C0C"/>
                </a:solidFill>
              </a:rPr>
              <a:t>IoT Platform </a:t>
            </a:r>
            <a:r>
              <a:rPr lang="en-US" sz="2400" b="1" dirty="0" err="1">
                <a:solidFill>
                  <a:srgbClr val="0C0C0C"/>
                </a:solidFill>
              </a:rPr>
              <a:t>mã</a:t>
            </a:r>
            <a:r>
              <a:rPr lang="en-US" sz="2400" b="1" dirty="0">
                <a:solidFill>
                  <a:srgbClr val="0C0C0C"/>
                </a:solidFill>
              </a:rPr>
              <a:t> </a:t>
            </a:r>
            <a:r>
              <a:rPr lang="en-US" sz="2400" b="1" dirty="0" err="1">
                <a:solidFill>
                  <a:srgbClr val="0C0C0C"/>
                </a:solidFill>
              </a:rPr>
              <a:t>nguồn</a:t>
            </a:r>
            <a:r>
              <a:rPr lang="en-US" sz="2400" b="1" dirty="0">
                <a:solidFill>
                  <a:srgbClr val="0C0C0C"/>
                </a:solidFill>
              </a:rPr>
              <a:t> </a:t>
            </a:r>
            <a:r>
              <a:rPr lang="en-US" sz="2400" b="1" dirty="0" err="1">
                <a:solidFill>
                  <a:srgbClr val="0C0C0C"/>
                </a:solidFill>
              </a:rPr>
              <a:t>mở</a:t>
            </a:r>
            <a:r>
              <a:rPr lang="en-US" sz="2400" b="1" dirty="0">
                <a:solidFill>
                  <a:srgbClr val="0C0C0C"/>
                </a:solidFill>
              </a:rPr>
              <a:t> (Free and Open-Source Platforms)</a:t>
            </a:r>
          </a:p>
          <a:p>
            <a:pPr>
              <a:lnSpc>
                <a:spcPct val="150000"/>
              </a:lnSpc>
            </a:pPr>
            <a:r>
              <a:rPr lang="vi-VN" b="1" dirty="0"/>
              <a:t>3 Chức năng chính</a:t>
            </a:r>
          </a:p>
          <a:p>
            <a:pPr>
              <a:lnSpc>
                <a:spcPct val="150000"/>
              </a:lnSpc>
            </a:pPr>
            <a:r>
              <a:rPr lang="vi-VN" dirty="0"/>
              <a:t>Quản lý thiết bị và người dùng.</a:t>
            </a:r>
            <a:br>
              <a:rPr lang="vi-VN" dirty="0"/>
            </a:br>
            <a:r>
              <a:rPr lang="vi-VN" dirty="0"/>
              <a:t>Thu thập và xử lý dữ liệu thời gian thực.</a:t>
            </a:r>
            <a:br>
              <a:rPr lang="vi-VN" dirty="0"/>
            </a:br>
            <a:r>
              <a:rPr lang="vi-VN" dirty="0"/>
              <a:t>Rule engine để tự động hóa theo mô hình Event–Condition–Action.</a:t>
            </a:r>
            <a:br>
              <a:rPr lang="vi-VN" dirty="0"/>
            </a:br>
            <a:r>
              <a:rPr lang="vi-VN" dirty="0"/>
              <a:t>Dashboard và công cụ trực quan hóa.</a:t>
            </a:r>
            <a:br>
              <a:rPr lang="vi-VN" dirty="0"/>
            </a:br>
            <a:r>
              <a:rPr lang="vi-VN" dirty="0"/>
              <a:t>Hỗ trợ MQTT, HTTP và các giao thức chuẩn IoT.</a:t>
            </a:r>
          </a:p>
          <a:p>
            <a:pPr>
              <a:lnSpc>
                <a:spcPct val="150000"/>
              </a:lnSpc>
            </a:pPr>
            <a:r>
              <a:rPr lang="vi-VN" b="1" dirty="0"/>
              <a:t>4 Ưu điểm</a:t>
            </a:r>
          </a:p>
          <a:p>
            <a:pPr>
              <a:lnSpc>
                <a:spcPct val="150000"/>
              </a:lnSpc>
            </a:pPr>
            <a:r>
              <a:rPr lang="vi-VN" dirty="0"/>
              <a:t>Toàn quyền kiểm soát dữ liệu.</a:t>
            </a:r>
            <a:br>
              <a:rPr lang="vi-VN" dirty="0"/>
            </a:br>
            <a:r>
              <a:rPr lang="vi-VN" dirty="0"/>
              <a:t>Không phụ thuộc cloud bên ngoài.</a:t>
            </a:r>
            <a:br>
              <a:rPr lang="vi-VN" dirty="0"/>
            </a:br>
            <a:r>
              <a:rPr lang="vi-VN" dirty="0"/>
              <a:t>Tùy biến kiến trúc và mở rộng chức năng.</a:t>
            </a:r>
            <a:br>
              <a:rPr lang="vi-VN" dirty="0"/>
            </a:br>
            <a:r>
              <a:rPr lang="vi-VN" dirty="0"/>
              <a:t>Chi phí giấy phép thấp hoặc bằng không.</a:t>
            </a:r>
          </a:p>
          <a:p>
            <a:pPr>
              <a:lnSpc>
                <a:spcPct val="150000"/>
              </a:lnSpc>
            </a:pPr>
            <a:r>
              <a:rPr lang="vi-VN" b="1" dirty="0"/>
              <a:t>5 Hạn chế</a:t>
            </a:r>
          </a:p>
          <a:p>
            <a:pPr>
              <a:lnSpc>
                <a:spcPct val="150000"/>
              </a:lnSpc>
            </a:pPr>
            <a:r>
              <a:rPr lang="vi-VN" dirty="0"/>
              <a:t>Cần đội ngũ kỹ thuật triển khai và bảo trì.</a:t>
            </a:r>
            <a:br>
              <a:rPr lang="vi-VN" dirty="0"/>
            </a:br>
            <a:r>
              <a:rPr lang="vi-VN" dirty="0"/>
              <a:t>Yêu cầu năng lực DevOps.</a:t>
            </a:r>
            <a:br>
              <a:rPr lang="vi-VN" dirty="0"/>
            </a:br>
            <a:r>
              <a:rPr lang="vi-VN" dirty="0"/>
              <a:t>Khả năng mở rộng phụ thuộc vào hạ tầng nội bộ.</a:t>
            </a:r>
            <a:br>
              <a:rPr lang="vi-VN" dirty="0"/>
            </a:br>
            <a:r>
              <a:rPr lang="vi-VN" dirty="0"/>
              <a:t>Một số nền tảng có cộng đồng nhỏ hoặc tài liệu hạn chế.</a:t>
            </a:r>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E79F3101-6FEB-898F-FFFD-360C0A27C249}"/>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1.3 Các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spTree>
    <p:extLst>
      <p:ext uri="{BB962C8B-B14F-4D97-AF65-F5344CB8AC3E}">
        <p14:creationId xmlns:p14="http://schemas.microsoft.com/office/powerpoint/2010/main" val="20817959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BA1627AE-E6E2-CD1D-7B04-827BB9E8AAFB}"/>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58C862B3-B96D-F06E-5E4F-BB786789FA37}"/>
              </a:ext>
            </a:extLst>
          </p:cNvPr>
          <p:cNvSpPr/>
          <p:nvPr/>
        </p:nvSpPr>
        <p:spPr>
          <a:xfrm>
            <a:off x="402538" y="758269"/>
            <a:ext cx="9257056" cy="6047809"/>
          </a:xfrm>
          <a:prstGeom prst="rect">
            <a:avLst/>
          </a:prstGeom>
          <a:noFill/>
          <a:ln>
            <a:noFill/>
          </a:ln>
        </p:spPr>
        <p:txBody>
          <a:bodyPr spcFirstLastPara="1" wrap="square" lIns="0" tIns="0" rIns="0" bIns="0" anchor="t" anchorCtr="0">
            <a:spAutoFit/>
          </a:bodyPr>
          <a:lstStyle/>
          <a:p>
            <a:pPr>
              <a:lnSpc>
                <a:spcPct val="150000"/>
              </a:lnSpc>
            </a:pPr>
            <a:r>
              <a:rPr lang="vi-VN" sz="2400" b="1" dirty="0">
                <a:solidFill>
                  <a:srgbClr val="0C0C0C"/>
                </a:solidFill>
              </a:rPr>
              <a:t>Các tiêu chí đánh giá IoT Platform</a:t>
            </a:r>
          </a:p>
          <a:p>
            <a:pPr>
              <a:lnSpc>
                <a:spcPct val="150000"/>
              </a:lnSpc>
            </a:pPr>
            <a:r>
              <a:rPr lang="vi-VN" dirty="0"/>
              <a:t>Việc lựa chọn nền tảng cần dựa trên hệ tiêu chí toàn diện.</a:t>
            </a:r>
          </a:p>
          <a:p>
            <a:pPr>
              <a:lnSpc>
                <a:spcPct val="150000"/>
              </a:lnSpc>
            </a:pPr>
            <a:r>
              <a:rPr lang="vi-VN" b="1" dirty="0"/>
              <a:t>1 Yêu cầu chức năng</a:t>
            </a:r>
          </a:p>
          <a:p>
            <a:pPr>
              <a:lnSpc>
                <a:spcPct val="150000"/>
              </a:lnSpc>
            </a:pPr>
            <a:r>
              <a:rPr lang="vi-VN" dirty="0"/>
              <a:t>Quản lý thiết bị</a:t>
            </a:r>
            <a:br>
              <a:rPr lang="vi-VN" dirty="0"/>
            </a:br>
            <a:r>
              <a:rPr lang="vi-VN" dirty="0"/>
              <a:t>Quản lý giao thức và tích hợp dị thể</a:t>
            </a:r>
            <a:br>
              <a:rPr lang="vi-VN" dirty="0"/>
            </a:br>
            <a:r>
              <a:rPr lang="vi-VN" dirty="0"/>
              <a:t>Quản lý dữ liệu</a:t>
            </a:r>
            <a:br>
              <a:rPr lang="vi-VN" dirty="0"/>
            </a:br>
            <a:r>
              <a:rPr lang="vi-VN" dirty="0"/>
              <a:t>Phân tích dữ liệu và xử lý sự kiện</a:t>
            </a:r>
            <a:br>
              <a:rPr lang="vi-VN" dirty="0"/>
            </a:br>
            <a:r>
              <a:rPr lang="vi-VN" dirty="0"/>
              <a:t>Hỗ trợ API và tích hợp bên thứ ba</a:t>
            </a:r>
            <a:br>
              <a:rPr lang="vi-VN" dirty="0"/>
            </a:br>
            <a:r>
              <a:rPr lang="vi-VN" dirty="0"/>
              <a:t>Công cụ trực quan hóa</a:t>
            </a:r>
          </a:p>
          <a:p>
            <a:pPr>
              <a:lnSpc>
                <a:spcPct val="150000"/>
              </a:lnSpc>
            </a:pPr>
            <a:r>
              <a:rPr lang="vi-VN" b="1" dirty="0"/>
              <a:t>2 Yêu cầu phi chức năng</a:t>
            </a:r>
          </a:p>
          <a:p>
            <a:pPr>
              <a:lnSpc>
                <a:spcPct val="150000"/>
              </a:lnSpc>
            </a:pPr>
            <a:r>
              <a:rPr lang="vi-VN" dirty="0"/>
              <a:t>Khả năng mở rộng</a:t>
            </a:r>
            <a:br>
              <a:rPr lang="vi-VN" dirty="0"/>
            </a:br>
            <a:r>
              <a:rPr lang="vi-VN" dirty="0"/>
              <a:t>Hiệu năng xử lý</a:t>
            </a:r>
            <a:br>
              <a:rPr lang="vi-VN" dirty="0"/>
            </a:br>
            <a:r>
              <a:rPr lang="vi-VN" dirty="0"/>
              <a:t>Độ trễ hệ thống</a:t>
            </a:r>
            <a:br>
              <a:rPr lang="vi-VN" dirty="0"/>
            </a:br>
            <a:r>
              <a:rPr lang="vi-VN" dirty="0"/>
              <a:t>Độ sẵn sàng</a:t>
            </a:r>
            <a:br>
              <a:rPr lang="vi-VN" dirty="0"/>
            </a:br>
            <a:r>
              <a:rPr lang="vi-VN" dirty="0"/>
              <a:t>Bảo mật</a:t>
            </a:r>
            <a:br>
              <a:rPr lang="vi-VN" dirty="0"/>
            </a:br>
            <a:r>
              <a:rPr lang="vi-VN" dirty="0"/>
              <a:t>Chi phí vận hành</a:t>
            </a:r>
            <a:br>
              <a:rPr lang="vi-VN" dirty="0"/>
            </a:br>
            <a:r>
              <a:rPr lang="vi-VN" dirty="0"/>
              <a:t>Tính linh hoạt và tự do sử dụng</a:t>
            </a:r>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1F06D5A0-F01A-864D-DE7A-37C80621B065}"/>
              </a:ext>
            </a:extLst>
          </p:cNvPr>
          <p:cNvSpPr/>
          <p:nvPr/>
        </p:nvSpPr>
        <p:spPr>
          <a:xfrm>
            <a:off x="382244" y="38893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1.3 Các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spTree>
    <p:extLst>
      <p:ext uri="{BB962C8B-B14F-4D97-AF65-F5344CB8AC3E}">
        <p14:creationId xmlns:p14="http://schemas.microsoft.com/office/powerpoint/2010/main" val="8970747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878C7795-1879-B97A-0900-ECA796DC322A}"/>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F5804B71-17EE-924C-C140-B345665EB4C8}"/>
              </a:ext>
            </a:extLst>
          </p:cNvPr>
          <p:cNvSpPr/>
          <p:nvPr/>
        </p:nvSpPr>
        <p:spPr>
          <a:xfrm>
            <a:off x="382244" y="539194"/>
            <a:ext cx="9257056" cy="6601807"/>
          </a:xfrm>
          <a:prstGeom prst="rect">
            <a:avLst/>
          </a:prstGeom>
          <a:noFill/>
          <a:ln>
            <a:noFill/>
          </a:ln>
        </p:spPr>
        <p:txBody>
          <a:bodyPr spcFirstLastPara="1" wrap="square" lIns="0" tIns="0" rIns="0" bIns="0" anchor="t" anchorCtr="0">
            <a:spAutoFit/>
          </a:bodyPr>
          <a:lstStyle/>
          <a:p>
            <a:pPr>
              <a:lnSpc>
                <a:spcPct val="150000"/>
              </a:lnSpc>
            </a:pPr>
            <a:r>
              <a:rPr lang="vi-VN" sz="2400" b="1" dirty="0">
                <a:solidFill>
                  <a:srgbClr val="0C0C0C"/>
                </a:solidFill>
              </a:rPr>
              <a:t>Các tiêu chí đánh giá IoT Platform</a:t>
            </a:r>
          </a:p>
          <a:p>
            <a:pPr>
              <a:lnSpc>
                <a:spcPct val="150000"/>
              </a:lnSpc>
            </a:pPr>
            <a:r>
              <a:rPr lang="vi-VN" b="1" dirty="0"/>
              <a:t>3 Mô hình triển khai</a:t>
            </a:r>
          </a:p>
          <a:p>
            <a:pPr>
              <a:lnSpc>
                <a:spcPct val="150000"/>
              </a:lnSpc>
            </a:pPr>
            <a:r>
              <a:rPr lang="vi-VN" dirty="0"/>
              <a:t>Local-based (on-premise)</a:t>
            </a:r>
            <a:br>
              <a:rPr lang="vi-VN" dirty="0"/>
            </a:br>
            <a:r>
              <a:rPr lang="vi-VN" dirty="0"/>
              <a:t>Cloud-based</a:t>
            </a:r>
            <a:br>
              <a:rPr lang="vi-VN" dirty="0"/>
            </a:br>
            <a:r>
              <a:rPr lang="vi-VN" dirty="0"/>
              <a:t>Hybrid</a:t>
            </a:r>
          </a:p>
          <a:p>
            <a:pPr>
              <a:lnSpc>
                <a:spcPct val="150000"/>
              </a:lnSpc>
            </a:pPr>
            <a:r>
              <a:rPr lang="vi-VN" dirty="0"/>
              <a:t>Mỗi mô hình ảnh hưởng đến bảo mật, chi phí và khả năng mở rộng.</a:t>
            </a:r>
            <a:endParaRPr lang="en-US" dirty="0"/>
          </a:p>
          <a:p>
            <a:pPr>
              <a:lnSpc>
                <a:spcPct val="150000"/>
              </a:lnSpc>
            </a:pPr>
            <a:r>
              <a:rPr lang="en-US" sz="2400" b="1" dirty="0">
                <a:solidFill>
                  <a:srgbClr val="0C0C0C"/>
                </a:solidFill>
              </a:rPr>
              <a:t>Các </a:t>
            </a:r>
            <a:r>
              <a:rPr lang="en-US" sz="2400" b="1" dirty="0" err="1">
                <a:solidFill>
                  <a:srgbClr val="0C0C0C"/>
                </a:solidFill>
              </a:rPr>
              <a:t>dự</a:t>
            </a:r>
            <a:r>
              <a:rPr lang="en-US" sz="2400" b="1" dirty="0">
                <a:solidFill>
                  <a:srgbClr val="0C0C0C"/>
                </a:solidFill>
              </a:rPr>
              <a:t> </a:t>
            </a:r>
            <a:r>
              <a:rPr lang="en-US" sz="2400" b="1" dirty="0" err="1">
                <a:solidFill>
                  <a:srgbClr val="0C0C0C"/>
                </a:solidFill>
              </a:rPr>
              <a:t>án</a:t>
            </a:r>
            <a:r>
              <a:rPr lang="en-US" sz="2400" b="1" dirty="0">
                <a:solidFill>
                  <a:srgbClr val="0C0C0C"/>
                </a:solidFill>
              </a:rPr>
              <a:t> </a:t>
            </a:r>
            <a:r>
              <a:rPr lang="en-US" sz="2400" b="1" dirty="0" err="1">
                <a:solidFill>
                  <a:srgbClr val="0C0C0C"/>
                </a:solidFill>
              </a:rPr>
              <a:t>và</a:t>
            </a:r>
            <a:r>
              <a:rPr lang="en-US" sz="2400" b="1" dirty="0">
                <a:solidFill>
                  <a:srgbClr val="0C0C0C"/>
                </a:solidFill>
              </a:rPr>
              <a:t> framework </a:t>
            </a:r>
            <a:r>
              <a:rPr lang="en-US" sz="2400" b="1" dirty="0" err="1">
                <a:solidFill>
                  <a:srgbClr val="0C0C0C"/>
                </a:solidFill>
              </a:rPr>
              <a:t>hỗ</a:t>
            </a:r>
            <a:r>
              <a:rPr lang="en-US" sz="2400" b="1" dirty="0">
                <a:solidFill>
                  <a:srgbClr val="0C0C0C"/>
                </a:solidFill>
              </a:rPr>
              <a:t> </a:t>
            </a:r>
            <a:r>
              <a:rPr lang="en-US" sz="2400" b="1" dirty="0" err="1">
                <a:solidFill>
                  <a:srgbClr val="0C0C0C"/>
                </a:solidFill>
              </a:rPr>
              <a:t>trợ</a:t>
            </a:r>
            <a:endParaRPr lang="en-US" sz="2400" b="1" dirty="0">
              <a:solidFill>
                <a:srgbClr val="0C0C0C"/>
              </a:solidFill>
            </a:endParaRPr>
          </a:p>
          <a:p>
            <a:pPr>
              <a:lnSpc>
                <a:spcPct val="150000"/>
              </a:lnSpc>
            </a:pPr>
            <a:r>
              <a:rPr lang="en-US" dirty="0" err="1"/>
              <a:t>Ngoài</a:t>
            </a:r>
            <a:r>
              <a:rPr lang="en-US" dirty="0"/>
              <a:t> </a:t>
            </a:r>
            <a:r>
              <a:rPr lang="en-US" dirty="0" err="1"/>
              <a:t>các</a:t>
            </a:r>
            <a:r>
              <a:rPr lang="en-US" dirty="0"/>
              <a:t> platform </a:t>
            </a:r>
            <a:r>
              <a:rPr lang="en-US" dirty="0" err="1"/>
              <a:t>hoàn</a:t>
            </a:r>
            <a:r>
              <a:rPr lang="en-US" dirty="0"/>
              <a:t> </a:t>
            </a:r>
            <a:r>
              <a:rPr lang="en-US" dirty="0" err="1"/>
              <a:t>chỉnh</a:t>
            </a:r>
            <a:r>
              <a:rPr lang="en-US" dirty="0"/>
              <a:t>, </a:t>
            </a:r>
            <a:r>
              <a:rPr lang="en-US" dirty="0" err="1"/>
              <a:t>nhiều</a:t>
            </a:r>
            <a:r>
              <a:rPr lang="en-US" dirty="0"/>
              <a:t> </a:t>
            </a:r>
            <a:r>
              <a:rPr lang="en-US" dirty="0" err="1"/>
              <a:t>dự</a:t>
            </a:r>
            <a:r>
              <a:rPr lang="en-US" dirty="0"/>
              <a:t> </a:t>
            </a:r>
            <a:r>
              <a:rPr lang="en-US" dirty="0" err="1"/>
              <a:t>án</a:t>
            </a:r>
            <a:r>
              <a:rPr lang="en-US" dirty="0"/>
              <a:t> </a:t>
            </a:r>
            <a:r>
              <a:rPr lang="en-US" dirty="0" err="1"/>
              <a:t>cung</a:t>
            </a:r>
            <a:r>
              <a:rPr lang="en-US" dirty="0"/>
              <a:t> </a:t>
            </a:r>
            <a:r>
              <a:rPr lang="en-US" dirty="0" err="1"/>
              <a:t>cấp</a:t>
            </a:r>
            <a:r>
              <a:rPr lang="en-US" dirty="0"/>
              <a:t> </a:t>
            </a:r>
            <a:r>
              <a:rPr lang="en-US" dirty="0" err="1"/>
              <a:t>thành</a:t>
            </a:r>
            <a:r>
              <a:rPr lang="en-US" dirty="0"/>
              <a:t> </a:t>
            </a:r>
            <a:r>
              <a:rPr lang="en-US" dirty="0" err="1"/>
              <a:t>phần</a:t>
            </a:r>
            <a:r>
              <a:rPr lang="en-US" dirty="0"/>
              <a:t> </a:t>
            </a:r>
            <a:r>
              <a:rPr lang="en-US" dirty="0" err="1"/>
              <a:t>chuyên</a:t>
            </a:r>
            <a:r>
              <a:rPr lang="en-US" dirty="0"/>
              <a:t> </a:t>
            </a:r>
            <a:r>
              <a:rPr lang="en-US" dirty="0" err="1"/>
              <a:t>biệt</a:t>
            </a:r>
            <a:r>
              <a:rPr lang="en-US" dirty="0"/>
              <a:t> </a:t>
            </a:r>
            <a:r>
              <a:rPr lang="en-US" dirty="0" err="1"/>
              <a:t>để</a:t>
            </a:r>
            <a:r>
              <a:rPr lang="en-US" dirty="0"/>
              <a:t> </a:t>
            </a:r>
            <a:r>
              <a:rPr lang="en-US" dirty="0" err="1"/>
              <a:t>xây</a:t>
            </a:r>
            <a:r>
              <a:rPr lang="en-US" dirty="0"/>
              <a:t> </a:t>
            </a:r>
            <a:r>
              <a:rPr lang="en-US" dirty="0" err="1"/>
              <a:t>dựng</a:t>
            </a:r>
            <a:r>
              <a:rPr lang="en-US" dirty="0"/>
              <a:t> IoT stack </a:t>
            </a:r>
            <a:r>
              <a:rPr lang="en-US" dirty="0" err="1"/>
              <a:t>tùy</a:t>
            </a:r>
            <a:r>
              <a:rPr lang="en-US" dirty="0"/>
              <a:t> </a:t>
            </a:r>
            <a:r>
              <a:rPr lang="en-US" dirty="0" err="1"/>
              <a:t>chỉnh</a:t>
            </a:r>
            <a:r>
              <a:rPr lang="en-US" dirty="0"/>
              <a:t>.</a:t>
            </a:r>
          </a:p>
          <a:p>
            <a:pPr>
              <a:lnSpc>
                <a:spcPct val="150000"/>
              </a:lnSpc>
            </a:pPr>
            <a:r>
              <a:rPr lang="en-US" dirty="0" err="1"/>
              <a:t>Ví</a:t>
            </a:r>
            <a:r>
              <a:rPr lang="en-US" dirty="0"/>
              <a:t> </a:t>
            </a:r>
            <a:r>
              <a:rPr lang="en-US" dirty="0" err="1"/>
              <a:t>dụ</a:t>
            </a:r>
            <a:r>
              <a:rPr lang="en-US" dirty="0"/>
              <a:t>:</a:t>
            </a:r>
          </a:p>
          <a:p>
            <a:pPr>
              <a:lnSpc>
                <a:spcPct val="150000"/>
              </a:lnSpc>
            </a:pPr>
            <a:r>
              <a:rPr lang="en-US" dirty="0" err="1"/>
              <a:t>EdgeX</a:t>
            </a:r>
            <a:r>
              <a:rPr lang="en-US" dirty="0"/>
              <a:t> Foundry – framework edge computing.</a:t>
            </a:r>
            <a:br>
              <a:rPr lang="en-US" dirty="0"/>
            </a:br>
            <a:r>
              <a:rPr lang="en-US" dirty="0"/>
              <a:t>Eclipse Kura – </a:t>
            </a:r>
            <a:r>
              <a:rPr lang="en-US" dirty="0" err="1"/>
              <a:t>nền</a:t>
            </a:r>
            <a:r>
              <a:rPr lang="en-US" dirty="0"/>
              <a:t> </a:t>
            </a:r>
            <a:r>
              <a:rPr lang="en-US" dirty="0" err="1"/>
              <a:t>tảng</a:t>
            </a:r>
            <a:r>
              <a:rPr lang="en-US" dirty="0"/>
              <a:t> gateway IoT.</a:t>
            </a:r>
            <a:br>
              <a:rPr lang="en-US" dirty="0"/>
            </a:br>
            <a:r>
              <a:rPr lang="en-US" dirty="0"/>
              <a:t>Grafana – </a:t>
            </a:r>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r>
              <a:rPr lang="en-US" dirty="0"/>
              <a:t>.</a:t>
            </a:r>
          </a:p>
          <a:p>
            <a:pPr>
              <a:lnSpc>
                <a:spcPct val="150000"/>
              </a:lnSpc>
            </a:pPr>
            <a:r>
              <a:rPr lang="en-US" dirty="0"/>
              <a:t>Các </a:t>
            </a:r>
            <a:r>
              <a:rPr lang="en-US" dirty="0" err="1"/>
              <a:t>dự</a:t>
            </a:r>
            <a:r>
              <a:rPr lang="en-US" dirty="0"/>
              <a:t> </a:t>
            </a:r>
            <a:r>
              <a:rPr lang="en-US" dirty="0" err="1"/>
              <a:t>án</a:t>
            </a:r>
            <a:r>
              <a:rPr lang="en-US" dirty="0"/>
              <a:t> </a:t>
            </a:r>
            <a:r>
              <a:rPr lang="en-US" dirty="0" err="1"/>
              <a:t>này</a:t>
            </a:r>
            <a:r>
              <a:rPr lang="en-US" dirty="0"/>
              <a:t> </a:t>
            </a:r>
            <a:r>
              <a:rPr lang="en-US" dirty="0" err="1"/>
              <a:t>có</a:t>
            </a:r>
            <a:r>
              <a:rPr lang="en-US" dirty="0"/>
              <a:t> </a:t>
            </a:r>
            <a:r>
              <a:rPr lang="en-US" dirty="0" err="1"/>
              <a:t>thể</a:t>
            </a:r>
            <a:r>
              <a:rPr lang="en-US" dirty="0"/>
              <a:t> </a:t>
            </a:r>
            <a:r>
              <a:rPr lang="en-US" dirty="0" err="1"/>
              <a:t>kết</a:t>
            </a:r>
            <a:r>
              <a:rPr lang="en-US" dirty="0"/>
              <a:t> </a:t>
            </a:r>
            <a:r>
              <a:rPr lang="en-US" dirty="0" err="1"/>
              <a:t>hợp</a:t>
            </a:r>
            <a:r>
              <a:rPr lang="en-US" dirty="0"/>
              <a:t> </a:t>
            </a:r>
            <a:r>
              <a:rPr lang="en-US" dirty="0" err="1"/>
              <a:t>để</a:t>
            </a:r>
            <a:r>
              <a:rPr lang="en-US" dirty="0"/>
              <a:t> </a:t>
            </a:r>
            <a:r>
              <a:rPr lang="en-US" dirty="0" err="1"/>
              <a:t>tạo</a:t>
            </a:r>
            <a:r>
              <a:rPr lang="en-US" dirty="0"/>
              <a:t> </a:t>
            </a:r>
            <a:r>
              <a:rPr lang="en-US" dirty="0" err="1"/>
              <a:t>hệ</a:t>
            </a:r>
            <a:r>
              <a:rPr lang="en-US" dirty="0"/>
              <a:t> </a:t>
            </a:r>
            <a:r>
              <a:rPr lang="en-US" dirty="0" err="1"/>
              <a:t>thống</a:t>
            </a:r>
            <a:r>
              <a:rPr lang="en-US" dirty="0"/>
              <a:t> </a:t>
            </a:r>
            <a:r>
              <a:rPr lang="en-US" dirty="0" err="1"/>
              <a:t>linh</a:t>
            </a:r>
            <a:r>
              <a:rPr lang="en-US" dirty="0"/>
              <a:t> </a:t>
            </a:r>
            <a:r>
              <a:rPr lang="en-US" dirty="0" err="1"/>
              <a:t>hoạt</a:t>
            </a:r>
            <a:r>
              <a:rPr lang="en-US" dirty="0"/>
              <a:t> </a:t>
            </a:r>
            <a:r>
              <a:rPr lang="en-US" dirty="0" err="1"/>
              <a:t>theo</a:t>
            </a:r>
            <a:r>
              <a:rPr lang="en-US" dirty="0"/>
              <a:t> </a:t>
            </a:r>
            <a:r>
              <a:rPr lang="en-US" dirty="0" err="1"/>
              <a:t>nhu</a:t>
            </a:r>
            <a:r>
              <a:rPr lang="en-US" dirty="0"/>
              <a:t> </a:t>
            </a:r>
            <a:r>
              <a:rPr lang="en-US" dirty="0" err="1"/>
              <a:t>cầu</a:t>
            </a:r>
            <a:r>
              <a:rPr lang="en-US" dirty="0"/>
              <a:t> </a:t>
            </a:r>
            <a:r>
              <a:rPr lang="en-US" dirty="0" err="1"/>
              <a:t>cụ</a:t>
            </a:r>
            <a:r>
              <a:rPr lang="en-US" dirty="0"/>
              <a:t> </a:t>
            </a:r>
            <a:r>
              <a:rPr lang="en-US" dirty="0" err="1"/>
              <a:t>thể</a:t>
            </a:r>
            <a:r>
              <a:rPr lang="en-US" dirty="0"/>
              <a:t>.</a:t>
            </a:r>
          </a:p>
          <a:p>
            <a:pPr>
              <a:lnSpc>
                <a:spcPct val="150000"/>
              </a:lnSpc>
            </a:pPr>
            <a:r>
              <a:rPr lang="vi-VN" dirty="0"/>
              <a:t>IoT platform hiện nay phát triển theo hai hướng chính: cloud thương mại và mã nguồn mở tự triển khai. Nền tảng thương mại mạnh về mở rộng và tích hợp dịch vụ cloud; nền tảng mã nguồn mở mạnh về kiểm soát và tùy biến. Không có giải pháp tối ưu tuyệt đối; việc lựa chọn phụ thuộc vào yêu cầu kỹ thuật, chiến lược dữ liệu, ngân sách và năng lực vận hành của tổ chức.</a:t>
            </a:r>
          </a:p>
          <a:p>
            <a:pPr>
              <a:lnSpc>
                <a:spcPct val="150000"/>
              </a:lnSpc>
            </a:pPr>
            <a:endParaRPr lang="vi-VN" dirty="0"/>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6F595751-2791-8F42-CC49-5F75EAA2A347}"/>
              </a:ext>
            </a:extLst>
          </p:cNvPr>
          <p:cNvSpPr/>
          <p:nvPr/>
        </p:nvSpPr>
        <p:spPr>
          <a:xfrm>
            <a:off x="382244" y="169862"/>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1.3 Các </a:t>
            </a:r>
            <a:r>
              <a:rPr lang="en-US" sz="2400" b="1" dirty="0" err="1">
                <a:solidFill>
                  <a:srgbClr val="0C0C0C"/>
                </a:solidFill>
                <a:latin typeface="Arial"/>
                <a:ea typeface="Arial"/>
                <a:cs typeface="Arial"/>
                <a:sym typeface="Arial"/>
              </a:rPr>
              <a:t>nền</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tảng</a:t>
            </a:r>
            <a:r>
              <a:rPr lang="en-US" sz="2400" b="1" dirty="0">
                <a:solidFill>
                  <a:srgbClr val="0C0C0C"/>
                </a:solidFill>
                <a:latin typeface="Arial"/>
                <a:ea typeface="Arial"/>
                <a:cs typeface="Arial"/>
                <a:sym typeface="Arial"/>
              </a:rPr>
              <a:t> IOT</a:t>
            </a:r>
            <a:endParaRPr dirty="0"/>
          </a:p>
        </p:txBody>
      </p:sp>
    </p:spTree>
    <p:extLst>
      <p:ext uri="{BB962C8B-B14F-4D97-AF65-F5344CB8AC3E}">
        <p14:creationId xmlns:p14="http://schemas.microsoft.com/office/powerpoint/2010/main" val="24118645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C1FC11B9-ECD1-BA06-1B52-B964A90BE192}"/>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ACA9CA32-6744-28BF-F434-65C6931665B4}"/>
              </a:ext>
            </a:extLst>
          </p:cNvPr>
          <p:cNvSpPr/>
          <p:nvPr/>
        </p:nvSpPr>
        <p:spPr>
          <a:xfrm>
            <a:off x="809025" y="1275576"/>
            <a:ext cx="8819923" cy="1107996"/>
          </a:xfrm>
          <a:prstGeom prst="rect">
            <a:avLst/>
          </a:prstGeom>
          <a:noFill/>
          <a:ln>
            <a:noFill/>
          </a:ln>
        </p:spPr>
        <p:txBody>
          <a:bodyPr spcFirstLastPara="1" wrap="square" lIns="0" tIns="0" rIns="0" bIns="0" anchor="t" anchorCtr="0">
            <a:spAutoFit/>
          </a:bodyPr>
          <a:lstStyle/>
          <a:p>
            <a:pPr>
              <a:buSzPts val="1300"/>
            </a:pPr>
            <a:r>
              <a:rPr lang="vi-VN" sz="3600" b="1" dirty="0">
                <a:solidFill>
                  <a:schemeClr val="dk1"/>
                </a:solidFill>
              </a:rPr>
              <a:t>Cơ chế gửi dữ liệu Publish và nhận dữ liệu thông qua Subscribe </a:t>
            </a:r>
            <a:endParaRPr lang="en-US" sz="3600" b="1" dirty="0">
              <a:solidFill>
                <a:schemeClr val="dk1"/>
              </a:solidFill>
            </a:endParaRPr>
          </a:p>
        </p:txBody>
      </p:sp>
      <p:sp>
        <p:nvSpPr>
          <p:cNvPr id="177" name="Google Shape;177;p4">
            <a:extLst>
              <a:ext uri="{FF2B5EF4-FFF2-40B4-BE49-F238E27FC236}">
                <a16:creationId xmlns:a16="http://schemas.microsoft.com/office/drawing/2014/main" id="{DAE8FCB8-5961-235F-D973-429EACC10E46}"/>
              </a:ext>
            </a:extLst>
          </p:cNvPr>
          <p:cNvSpPr/>
          <p:nvPr/>
        </p:nvSpPr>
        <p:spPr>
          <a:xfrm>
            <a:off x="809025" y="96779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2.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28F08AB9-7B4F-33B0-A19A-D713C05FBE5E}"/>
              </a:ext>
            </a:extLst>
          </p:cNvPr>
          <p:cNvSpPr/>
          <p:nvPr/>
        </p:nvSpPr>
        <p:spPr>
          <a:xfrm>
            <a:off x="964899" y="2774594"/>
            <a:ext cx="7973025" cy="2708434"/>
          </a:xfrm>
          <a:prstGeom prst="rect">
            <a:avLst/>
          </a:prstGeom>
          <a:noFill/>
          <a:ln>
            <a:noFill/>
          </a:ln>
        </p:spPr>
        <p:txBody>
          <a:bodyPr spcFirstLastPara="1" wrap="square" lIns="0" tIns="0" rIns="0" bIns="0" anchor="t" anchorCtr="0">
            <a:spAutoFit/>
          </a:bodyPr>
          <a:lstStyle/>
          <a:p>
            <a:pPr marL="176213" marR="0" lvl="0" indent="-176213" algn="l" rtl="0">
              <a:spcBef>
                <a:spcPts val="0"/>
              </a:spcBef>
              <a:spcAft>
                <a:spcPts val="0"/>
              </a:spcAft>
              <a:buClr>
                <a:srgbClr val="3F3F3F"/>
              </a:buClr>
              <a:buSzPts val="2160"/>
              <a:buFont typeface="Arial"/>
              <a:buChar char="•"/>
            </a:pPr>
            <a:r>
              <a:rPr lang="en-US" sz="1800" dirty="0">
                <a:solidFill>
                  <a:srgbClr val="3F3F3F"/>
                </a:solidFill>
              </a:rPr>
              <a:t>2</a:t>
            </a:r>
            <a:r>
              <a:rPr lang="en-US" sz="1800" dirty="0">
                <a:solidFill>
                  <a:srgbClr val="3F3F3F"/>
                </a:solidFill>
                <a:latin typeface="Arial"/>
                <a:ea typeface="Arial"/>
                <a:cs typeface="Arial"/>
                <a:sym typeface="Arial"/>
              </a:rPr>
              <a:t>.1  Publish / Subscribe  </a:t>
            </a:r>
            <a:r>
              <a:rPr lang="en-US" sz="1800" dirty="0" err="1">
                <a:solidFill>
                  <a:srgbClr val="3F3F3F"/>
                </a:solidFill>
                <a:latin typeface="Arial"/>
                <a:ea typeface="Arial"/>
                <a:cs typeface="Arial"/>
                <a:sym typeface="Arial"/>
              </a:rPr>
              <a:t>là</a:t>
            </a:r>
            <a:r>
              <a:rPr lang="en-US" sz="1800" dirty="0">
                <a:solidFill>
                  <a:srgbClr val="3F3F3F"/>
                </a:solidFill>
                <a:latin typeface="Arial"/>
                <a:ea typeface="Arial"/>
                <a:cs typeface="Arial"/>
                <a:sym typeface="Arial"/>
              </a:rPr>
              <a:t> </a:t>
            </a:r>
            <a:r>
              <a:rPr lang="en-US" sz="1800" dirty="0" err="1">
                <a:solidFill>
                  <a:srgbClr val="3F3F3F"/>
                </a:solidFill>
                <a:latin typeface="Arial"/>
                <a:ea typeface="Arial"/>
                <a:cs typeface="Arial"/>
                <a:sym typeface="Arial"/>
              </a:rPr>
              <a:t>gì</a:t>
            </a:r>
            <a:r>
              <a:rPr lang="en-US" sz="1800" dirty="0">
                <a:solidFill>
                  <a:srgbClr val="3F3F3F"/>
                </a:solidFill>
                <a:latin typeface="Arial"/>
                <a:ea typeface="Arial"/>
                <a:cs typeface="Arial"/>
                <a:sym typeface="Arial"/>
              </a:rPr>
              <a:t> ? </a:t>
            </a:r>
            <a:endParaRPr dirty="0"/>
          </a:p>
          <a:p>
            <a:pPr marL="176213" lvl="0" indent="-176213">
              <a:spcBef>
                <a:spcPts val="1000"/>
              </a:spcBef>
              <a:buClr>
                <a:srgbClr val="A6A6A6"/>
              </a:buClr>
              <a:buSzPts val="2160"/>
              <a:buFont typeface="Arial"/>
              <a:buChar char="•"/>
            </a:pPr>
            <a:r>
              <a:rPr lang="en-US" sz="1800" dirty="0">
                <a:solidFill>
                  <a:srgbClr val="A6A6A6"/>
                </a:solidFill>
              </a:rPr>
              <a:t>2</a:t>
            </a:r>
            <a:r>
              <a:rPr lang="en-US" sz="1800" dirty="0">
                <a:solidFill>
                  <a:srgbClr val="A6A6A6"/>
                </a:solidFill>
                <a:latin typeface="Arial"/>
                <a:ea typeface="Arial"/>
                <a:cs typeface="Arial"/>
                <a:sym typeface="Arial"/>
              </a:rPr>
              <a:t>.2 </a:t>
            </a:r>
            <a:r>
              <a:rPr lang="vi-VN" sz="1800" dirty="0">
                <a:solidFill>
                  <a:srgbClr val="A6A6A6"/>
                </a:solidFill>
              </a:rPr>
              <a:t>Publish / Subscribe</a:t>
            </a:r>
            <a:r>
              <a:rPr lang="en-US" sz="1800" dirty="0">
                <a:solidFill>
                  <a:srgbClr val="A6A6A6"/>
                </a:solidFill>
              </a:rPr>
              <a:t> </a:t>
            </a:r>
            <a:r>
              <a:rPr lang="en-US" sz="1800" dirty="0" err="1">
                <a:solidFill>
                  <a:srgbClr val="A6A6A6"/>
                </a:solidFill>
              </a:rPr>
              <a:t>hoạt</a:t>
            </a:r>
            <a:r>
              <a:rPr lang="en-US" sz="1800" dirty="0">
                <a:solidFill>
                  <a:srgbClr val="A6A6A6"/>
                </a:solidFill>
              </a:rPr>
              <a:t> </a:t>
            </a:r>
            <a:r>
              <a:rPr lang="en-US" sz="1800" dirty="0" err="1">
                <a:solidFill>
                  <a:srgbClr val="A6A6A6"/>
                </a:solidFill>
              </a:rPr>
              <a:t>động</a:t>
            </a:r>
            <a:r>
              <a:rPr lang="en-US" sz="1800" dirty="0">
                <a:solidFill>
                  <a:srgbClr val="A6A6A6"/>
                </a:solidFill>
              </a:rPr>
              <a:t> </a:t>
            </a:r>
            <a:r>
              <a:rPr lang="en-US" sz="1800" dirty="0" err="1">
                <a:solidFill>
                  <a:srgbClr val="A6A6A6"/>
                </a:solidFill>
              </a:rPr>
              <a:t>như</a:t>
            </a:r>
            <a:r>
              <a:rPr lang="en-US" sz="1800" dirty="0">
                <a:solidFill>
                  <a:srgbClr val="A6A6A6"/>
                </a:solidFill>
              </a:rPr>
              <a:t> </a:t>
            </a:r>
            <a:r>
              <a:rPr lang="en-US" sz="1800" dirty="0" err="1">
                <a:solidFill>
                  <a:srgbClr val="A6A6A6"/>
                </a:solidFill>
              </a:rPr>
              <a:t>thế</a:t>
            </a:r>
            <a:r>
              <a:rPr lang="en-US" sz="1800" dirty="0">
                <a:solidFill>
                  <a:srgbClr val="A6A6A6"/>
                </a:solidFill>
              </a:rPr>
              <a:t> </a:t>
            </a:r>
            <a:r>
              <a:rPr lang="en-US" sz="1800" dirty="0" err="1">
                <a:solidFill>
                  <a:srgbClr val="A6A6A6"/>
                </a:solidFill>
              </a:rPr>
              <a:t>nào</a:t>
            </a:r>
            <a:endParaRPr lang="en-US" sz="1800" dirty="0">
              <a:solidFill>
                <a:srgbClr val="A6A6A6"/>
              </a:solidFill>
              <a:latin typeface="Arial"/>
              <a:ea typeface="Arial"/>
              <a:cs typeface="Arial"/>
              <a:sym typeface="Arial"/>
            </a:endParaRPr>
          </a:p>
          <a:p>
            <a:pPr marL="176213" marR="0" lvl="0" indent="-176213" algn="l" rtl="0">
              <a:spcBef>
                <a:spcPts val="1000"/>
              </a:spcBef>
              <a:spcAft>
                <a:spcPts val="0"/>
              </a:spcAft>
              <a:buClr>
                <a:srgbClr val="A6A6A6"/>
              </a:buClr>
              <a:buSzPts val="2160"/>
              <a:buFont typeface="Arial"/>
              <a:buChar char="•"/>
            </a:pPr>
            <a:r>
              <a:rPr lang="en-US" sz="1800" dirty="0">
                <a:solidFill>
                  <a:srgbClr val="A6A6A6"/>
                </a:solidFill>
              </a:rPr>
              <a:t>2.3</a:t>
            </a:r>
            <a:r>
              <a:rPr lang="en-US" sz="1800" dirty="0">
                <a:solidFill>
                  <a:srgbClr val="A6A6A6"/>
                </a:solidFill>
                <a:latin typeface="Arial"/>
                <a:ea typeface="Arial"/>
                <a:cs typeface="Arial"/>
                <a:sym typeface="Arial"/>
              </a:rPr>
              <a:t> </a:t>
            </a:r>
            <a:r>
              <a:rPr lang="vi-VN" sz="1800" dirty="0">
                <a:solidFill>
                  <a:srgbClr val="A6A6A6"/>
                </a:solidFill>
                <a:latin typeface="Arial"/>
                <a:ea typeface="Arial"/>
                <a:cs typeface="Arial"/>
                <a:sym typeface="Arial"/>
              </a:rPr>
              <a:t>Các trường hợp sử dụng Publish / Subscribe</a:t>
            </a:r>
            <a:endParaRPr dirty="0"/>
          </a:p>
          <a:p>
            <a:pPr marL="176213" lvl="0" indent="-176213">
              <a:spcBef>
                <a:spcPts val="1000"/>
              </a:spcBef>
              <a:buClr>
                <a:srgbClr val="A6A6A6"/>
              </a:buClr>
              <a:buSzPts val="2160"/>
              <a:buFont typeface="Arial"/>
              <a:buChar char="•"/>
            </a:pPr>
            <a:r>
              <a:rPr lang="en-US" sz="1800" dirty="0">
                <a:solidFill>
                  <a:srgbClr val="A6A6A6"/>
                </a:solidFill>
              </a:rPr>
              <a:t>2</a:t>
            </a:r>
            <a:r>
              <a:rPr lang="en-US" sz="1800" dirty="0">
                <a:solidFill>
                  <a:srgbClr val="A6A6A6"/>
                </a:solidFill>
                <a:latin typeface="Arial"/>
                <a:ea typeface="Arial"/>
                <a:cs typeface="Arial"/>
                <a:sym typeface="Arial"/>
              </a:rPr>
              <a:t>.4. </a:t>
            </a:r>
            <a:r>
              <a:rPr lang="en-US" sz="1800" dirty="0" err="1">
                <a:solidFill>
                  <a:srgbClr val="A6A6A6"/>
                </a:solidFill>
              </a:rPr>
              <a:t>Ưu</a:t>
            </a:r>
            <a:r>
              <a:rPr lang="en-US" sz="1800" dirty="0">
                <a:solidFill>
                  <a:srgbClr val="A6A6A6"/>
                </a:solidFill>
              </a:rPr>
              <a:t> </a:t>
            </a:r>
            <a:r>
              <a:rPr lang="en-US" sz="1800" dirty="0" err="1">
                <a:solidFill>
                  <a:srgbClr val="A6A6A6"/>
                </a:solidFill>
              </a:rPr>
              <a:t>điểm</a:t>
            </a:r>
            <a:r>
              <a:rPr lang="en-US" sz="1800" dirty="0">
                <a:solidFill>
                  <a:srgbClr val="A6A6A6"/>
                </a:solidFill>
              </a:rPr>
              <a:t> </a:t>
            </a:r>
            <a:r>
              <a:rPr lang="en-US" sz="1800" dirty="0" err="1">
                <a:solidFill>
                  <a:srgbClr val="A6A6A6"/>
                </a:solidFill>
              </a:rPr>
              <a:t>của</a:t>
            </a:r>
            <a:r>
              <a:rPr lang="en-US" sz="1800" dirty="0">
                <a:solidFill>
                  <a:srgbClr val="A6A6A6"/>
                </a:solidFill>
              </a:rPr>
              <a:t> </a:t>
            </a:r>
            <a:r>
              <a:rPr lang="en-US" sz="1800" dirty="0" err="1">
                <a:solidFill>
                  <a:srgbClr val="A6A6A6"/>
                </a:solidFill>
              </a:rPr>
              <a:t>việc</a:t>
            </a:r>
            <a:r>
              <a:rPr lang="en-US" sz="1800" dirty="0">
                <a:solidFill>
                  <a:srgbClr val="A6A6A6"/>
                </a:solidFill>
              </a:rPr>
              <a:t> </a:t>
            </a:r>
            <a:r>
              <a:rPr lang="en-US" sz="1800" dirty="0" err="1">
                <a:solidFill>
                  <a:srgbClr val="A6A6A6"/>
                </a:solidFill>
              </a:rPr>
              <a:t>sử</a:t>
            </a:r>
            <a:r>
              <a:rPr lang="en-US" sz="1800" dirty="0">
                <a:solidFill>
                  <a:srgbClr val="A6A6A6"/>
                </a:solidFill>
              </a:rPr>
              <a:t> </a:t>
            </a:r>
            <a:r>
              <a:rPr lang="en-US" sz="1800" dirty="0" err="1">
                <a:solidFill>
                  <a:srgbClr val="A6A6A6"/>
                </a:solidFill>
              </a:rPr>
              <a:t>dụng</a:t>
            </a:r>
            <a:r>
              <a:rPr lang="en-US" sz="1800" dirty="0">
                <a:solidFill>
                  <a:srgbClr val="A6A6A6"/>
                </a:solidFill>
              </a:rPr>
              <a:t> </a:t>
            </a:r>
            <a:r>
              <a:rPr lang="vi-VN" sz="1800" dirty="0">
                <a:solidFill>
                  <a:srgbClr val="A6A6A6"/>
                </a:solidFill>
              </a:rPr>
              <a:t>Publish / Subscribe</a:t>
            </a:r>
            <a:endParaRPr lang="en-US" sz="1800" dirty="0">
              <a:solidFill>
                <a:srgbClr val="A6A6A6"/>
              </a:solidFill>
            </a:endParaRPr>
          </a:p>
          <a:p>
            <a:pPr marL="176213" indent="-176213">
              <a:spcBef>
                <a:spcPts val="1000"/>
              </a:spcBef>
              <a:buClr>
                <a:srgbClr val="A6A6A6"/>
              </a:buClr>
              <a:buSzPts val="2160"/>
              <a:buFont typeface="Arial"/>
              <a:buChar char="•"/>
            </a:pPr>
            <a:r>
              <a:rPr lang="en-US" sz="1800" dirty="0">
                <a:solidFill>
                  <a:srgbClr val="A6A6A6"/>
                </a:solidFill>
              </a:rPr>
              <a:t>2.4. </a:t>
            </a:r>
            <a:r>
              <a:rPr lang="en-US" sz="1800" dirty="0" err="1">
                <a:solidFill>
                  <a:srgbClr val="A6A6A6"/>
                </a:solidFill>
              </a:rPr>
              <a:t>Nhược</a:t>
            </a:r>
            <a:r>
              <a:rPr lang="en-US" sz="1800" dirty="0">
                <a:solidFill>
                  <a:srgbClr val="A6A6A6"/>
                </a:solidFill>
              </a:rPr>
              <a:t> </a:t>
            </a:r>
            <a:r>
              <a:rPr lang="en-US" sz="1800" dirty="0" err="1">
                <a:solidFill>
                  <a:srgbClr val="A6A6A6"/>
                </a:solidFill>
              </a:rPr>
              <a:t>điểm</a:t>
            </a:r>
            <a:r>
              <a:rPr lang="en-US" sz="1800" dirty="0">
                <a:solidFill>
                  <a:srgbClr val="A6A6A6"/>
                </a:solidFill>
              </a:rPr>
              <a:t> </a:t>
            </a:r>
            <a:r>
              <a:rPr lang="en-US" sz="1800" dirty="0" err="1">
                <a:solidFill>
                  <a:srgbClr val="A6A6A6"/>
                </a:solidFill>
              </a:rPr>
              <a:t>của</a:t>
            </a:r>
            <a:r>
              <a:rPr lang="en-US" sz="1800" dirty="0">
                <a:solidFill>
                  <a:srgbClr val="A6A6A6"/>
                </a:solidFill>
              </a:rPr>
              <a:t> </a:t>
            </a:r>
            <a:r>
              <a:rPr lang="en-US" sz="1800" dirty="0" err="1">
                <a:solidFill>
                  <a:srgbClr val="A6A6A6"/>
                </a:solidFill>
              </a:rPr>
              <a:t>việc</a:t>
            </a:r>
            <a:r>
              <a:rPr lang="en-US" sz="1800" dirty="0">
                <a:solidFill>
                  <a:srgbClr val="A6A6A6"/>
                </a:solidFill>
              </a:rPr>
              <a:t> </a:t>
            </a:r>
            <a:r>
              <a:rPr lang="en-US" sz="1800" dirty="0" err="1">
                <a:solidFill>
                  <a:srgbClr val="A6A6A6"/>
                </a:solidFill>
              </a:rPr>
              <a:t>sử</a:t>
            </a:r>
            <a:r>
              <a:rPr lang="en-US" sz="1800" dirty="0">
                <a:solidFill>
                  <a:srgbClr val="A6A6A6"/>
                </a:solidFill>
              </a:rPr>
              <a:t> </a:t>
            </a:r>
            <a:r>
              <a:rPr lang="en-US" sz="1800" dirty="0" err="1">
                <a:solidFill>
                  <a:srgbClr val="A6A6A6"/>
                </a:solidFill>
              </a:rPr>
              <a:t>dụng</a:t>
            </a:r>
            <a:r>
              <a:rPr lang="en-US" sz="1800" dirty="0">
                <a:solidFill>
                  <a:srgbClr val="A6A6A6"/>
                </a:solidFill>
              </a:rPr>
              <a:t> </a:t>
            </a:r>
            <a:r>
              <a:rPr lang="vi-VN" sz="1800" dirty="0">
                <a:solidFill>
                  <a:srgbClr val="A6A6A6"/>
                </a:solidFill>
              </a:rPr>
              <a:t>Publish / Subscribe</a:t>
            </a:r>
            <a:endParaRPr lang="en-US" sz="1800" dirty="0">
              <a:solidFill>
                <a:srgbClr val="A6A6A6"/>
              </a:solidFill>
            </a:endParaRPr>
          </a:p>
          <a:p>
            <a:pPr lvl="0">
              <a:spcBef>
                <a:spcPts val="1000"/>
              </a:spcBef>
              <a:buClr>
                <a:srgbClr val="A6A6A6"/>
              </a:buClr>
              <a:buSzPts val="2160"/>
            </a:pPr>
            <a:endParaRPr lang="en-US" sz="1800" dirty="0">
              <a:solidFill>
                <a:srgbClr val="A6A6A6"/>
              </a:solidFill>
              <a:latin typeface="Arial"/>
              <a:ea typeface="Arial"/>
              <a:cs typeface="Arial"/>
              <a:sym typeface="Arial"/>
            </a:endParaRPr>
          </a:p>
          <a:p>
            <a:pPr marL="176213" marR="0" lvl="0" indent="-176213" algn="l" rtl="0">
              <a:spcBef>
                <a:spcPts val="1000"/>
              </a:spcBef>
              <a:spcAft>
                <a:spcPts val="0"/>
              </a:spcAft>
              <a:buClr>
                <a:srgbClr val="A6A6A6"/>
              </a:buClr>
              <a:buSzPts val="2160"/>
              <a:buFont typeface="Arial"/>
              <a:buChar char="•"/>
            </a:pPr>
            <a:endParaRPr sz="1800"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18642209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2EDA61E6-E054-6B6A-1D70-94D858FD451D}"/>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1D95E476-FDB8-D3B0-A265-B1836DC1101B}"/>
              </a:ext>
            </a:extLst>
          </p:cNvPr>
          <p:cNvSpPr/>
          <p:nvPr/>
        </p:nvSpPr>
        <p:spPr>
          <a:xfrm>
            <a:off x="322883" y="1005259"/>
            <a:ext cx="9021141" cy="2262158"/>
          </a:xfrm>
          <a:prstGeom prst="rect">
            <a:avLst/>
          </a:prstGeom>
          <a:noFill/>
          <a:ln>
            <a:noFill/>
          </a:ln>
        </p:spPr>
        <p:txBody>
          <a:bodyPr spcFirstLastPara="1" wrap="square" lIns="0" tIns="0" rIns="0" bIns="0" anchor="t" anchorCtr="0">
            <a:spAutoFit/>
          </a:bodyPr>
          <a:lstStyle/>
          <a:p>
            <a:pPr>
              <a:lnSpc>
                <a:spcPct val="150000"/>
              </a:lnSpc>
            </a:pPr>
            <a:r>
              <a:rPr lang="vi-VN" dirty="0"/>
              <a:t>Pub/Sub là một dịch vụ nhắn tin bất đồng bộ và có khả năng mở rộng, tách biệt các dịch vụ tạo ra tin nhắn khỏi các dịch vụ xử lý tin nhắn đó.</a:t>
            </a:r>
          </a:p>
          <a:p>
            <a:pPr marL="285750" indent="-285750">
              <a:lnSpc>
                <a:spcPct val="150000"/>
              </a:lnSpc>
              <a:buFont typeface="Arial" panose="020B0604020202020204" pitchFamily="34" charset="0"/>
              <a:buChar char="•"/>
            </a:pPr>
            <a:r>
              <a:rPr lang="vi-VN" dirty="0"/>
              <a:t>Mô hình Pub/Sub cho phép các dịch vụ giao tiếp bất đồng bộ, với độ trễ thường vào khoảng 100 mili giây.</a:t>
            </a:r>
          </a:p>
          <a:p>
            <a:pPr marL="285750" indent="-285750">
              <a:lnSpc>
                <a:spcPct val="150000"/>
              </a:lnSpc>
              <a:buFont typeface="Arial" panose="020B0604020202020204" pitchFamily="34" charset="0"/>
              <a:buChar char="•"/>
            </a:pPr>
            <a:r>
              <a:rPr lang="vi-VN" dirty="0"/>
              <a:t>Pub/Sub được sử dụng cho phân tích luồng dữ liệu và các đường dẫn tích hợp dữ liệu để tải và phân phối dữ liệu. Nó cũng hiệu quả như một phần mềm trung gian hướng đến việc nhắn tin để tích hợp dịch vụ hoặc như một hàng đợi để thực hiện song song các tác vụ.</a:t>
            </a:r>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18B8DFF3-F753-2458-A79F-3EBB3AD8E27B}"/>
              </a:ext>
            </a:extLst>
          </p:cNvPr>
          <p:cNvSpPr/>
          <p:nvPr/>
        </p:nvSpPr>
        <p:spPr>
          <a:xfrm>
            <a:off x="322884" y="48418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2.1. Publish / Subscribe  </a:t>
            </a:r>
            <a:r>
              <a:rPr lang="en-US" sz="2400" b="1" dirty="0" err="1">
                <a:solidFill>
                  <a:srgbClr val="0C0C0C"/>
                </a:solidFill>
                <a:latin typeface="Arial"/>
                <a:ea typeface="Arial"/>
                <a:cs typeface="Arial"/>
                <a:sym typeface="Arial"/>
              </a:rPr>
              <a:t>là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gì</a:t>
            </a:r>
            <a:r>
              <a:rPr lang="en-US" sz="2400" b="1" dirty="0">
                <a:solidFill>
                  <a:srgbClr val="0C0C0C"/>
                </a:solidFill>
                <a:latin typeface="Arial"/>
                <a:ea typeface="Arial"/>
                <a:cs typeface="Arial"/>
                <a:sym typeface="Arial"/>
              </a:rPr>
              <a:t> ? </a:t>
            </a:r>
            <a:endParaRPr dirty="0"/>
          </a:p>
        </p:txBody>
      </p:sp>
      <p:pic>
        <p:nvPicPr>
          <p:cNvPr id="22530" name="Picture 2" descr="Sơ đồ tổng quan về mô hình Pub-Sub">
            <a:extLst>
              <a:ext uri="{FF2B5EF4-FFF2-40B4-BE49-F238E27FC236}">
                <a16:creationId xmlns:a16="http://schemas.microsoft.com/office/drawing/2014/main" id="{A948BFD0-4A4F-4389-D99A-027E2721C7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8375" y="3267417"/>
            <a:ext cx="5826124" cy="2708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93877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5085A0C3-0A51-DDC1-9AAE-26C628477CBE}"/>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2998A4AD-5553-6E6D-2801-8202EAA14CF9}"/>
              </a:ext>
            </a:extLst>
          </p:cNvPr>
          <p:cNvSpPr/>
          <p:nvPr/>
        </p:nvSpPr>
        <p:spPr>
          <a:xfrm>
            <a:off x="322884" y="1005259"/>
            <a:ext cx="9011616" cy="3231654"/>
          </a:xfrm>
          <a:prstGeom prst="rect">
            <a:avLst/>
          </a:prstGeom>
          <a:noFill/>
          <a:ln>
            <a:noFill/>
          </a:ln>
        </p:spPr>
        <p:txBody>
          <a:bodyPr spcFirstLastPara="1" wrap="square" lIns="0" tIns="0" rIns="0" bIns="0" anchor="t" anchorCtr="0">
            <a:spAutoFit/>
          </a:bodyPr>
          <a:lstStyle/>
          <a:p>
            <a:pPr>
              <a:lnSpc>
                <a:spcPct val="150000"/>
              </a:lnSpc>
            </a:pPr>
            <a:r>
              <a:rPr lang="vi-VN" dirty="0"/>
              <a:t>Pub/Sub cho phép bạn tạo ra các hệ thống sản xuất và tiêu thụ sự kiện, được gọi là </a:t>
            </a:r>
            <a:r>
              <a:rPr lang="vi-VN" b="1" dirty="0"/>
              <a:t>nhà xuất bản</a:t>
            </a:r>
            <a:r>
              <a:rPr lang="vi-VN" dirty="0"/>
              <a:t> và </a:t>
            </a:r>
            <a:r>
              <a:rPr lang="vi-VN" b="1" dirty="0"/>
              <a:t>người đăng ký</a:t>
            </a:r>
            <a:r>
              <a:rPr lang="vi-VN" dirty="0"/>
              <a:t> . </a:t>
            </a:r>
            <a:endParaRPr lang="en-US" dirty="0"/>
          </a:p>
          <a:p>
            <a:pPr>
              <a:lnSpc>
                <a:spcPct val="150000"/>
              </a:lnSpc>
            </a:pPr>
            <a:r>
              <a:rPr lang="vi-VN" dirty="0"/>
              <a:t>Nhà xuất bản giao tiếp với người đăng ký một cách bất đồng bộ bằng cách phát sóng sự kiện, thay vì bằng các cuộc gọi thủ tục từ xa (RPC) đồng bộ.</a:t>
            </a:r>
          </a:p>
          <a:p>
            <a:pPr>
              <a:lnSpc>
                <a:spcPct val="150000"/>
              </a:lnSpc>
            </a:pPr>
            <a:r>
              <a:rPr lang="vi-VN" dirty="0"/>
              <a:t>Các nhà xuất bản gửi sự kiện đến dịch vụ Pub/Sub mà không cần quan tâm đến cách thức hoặc thời điểm xử lý các sự kiện đó.</a:t>
            </a:r>
            <a:endParaRPr lang="en-US" dirty="0"/>
          </a:p>
          <a:p>
            <a:pPr>
              <a:lnSpc>
                <a:spcPct val="150000"/>
              </a:lnSpc>
            </a:pPr>
            <a:r>
              <a:rPr lang="vi-VN" dirty="0"/>
              <a:t> Sau đó, Pub/Sub sẽ chuyển tiếp các sự kiện đến tất cả các dịch vụ phản hồi lại chúng. </a:t>
            </a:r>
            <a:endParaRPr lang="en-US" dirty="0"/>
          </a:p>
          <a:p>
            <a:pPr>
              <a:lnSpc>
                <a:spcPct val="150000"/>
              </a:lnSpc>
            </a:pPr>
            <a:r>
              <a:rPr lang="vi-VN" dirty="0"/>
              <a:t>Trong các hệ thống giao tiếp thông qua RPC, các nhà xuất bản phải chờ người đăng ký nhận dữ liệu. </a:t>
            </a:r>
            <a:endParaRPr lang="en-US" dirty="0"/>
          </a:p>
          <a:p>
            <a:pPr>
              <a:lnSpc>
                <a:spcPct val="150000"/>
              </a:lnSpc>
            </a:pPr>
            <a:r>
              <a:rPr lang="vi-VN" dirty="0"/>
              <a:t>Tuy nhiên, sự tích hợp bất đồng bộ trong Pub/Sub làm tăng tính linh hoạt và độ mạnh mẽ của toàn bộ hệ thống.</a:t>
            </a:r>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4A861D4D-7491-9F55-C516-C9D014063FEF}"/>
              </a:ext>
            </a:extLst>
          </p:cNvPr>
          <p:cNvSpPr/>
          <p:nvPr/>
        </p:nvSpPr>
        <p:spPr>
          <a:xfrm>
            <a:off x="322884" y="48418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2.1. Publish / Subscribe  </a:t>
            </a:r>
            <a:r>
              <a:rPr lang="en-US" sz="2400" b="1" dirty="0" err="1">
                <a:solidFill>
                  <a:srgbClr val="0C0C0C"/>
                </a:solidFill>
                <a:latin typeface="Arial"/>
                <a:ea typeface="Arial"/>
                <a:cs typeface="Arial"/>
                <a:sym typeface="Arial"/>
              </a:rPr>
              <a:t>là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gì</a:t>
            </a:r>
            <a:r>
              <a:rPr lang="en-US" sz="2400" b="1" dirty="0">
                <a:solidFill>
                  <a:srgbClr val="0C0C0C"/>
                </a:solidFill>
                <a:latin typeface="Arial"/>
                <a:ea typeface="Arial"/>
                <a:cs typeface="Arial"/>
                <a:sym typeface="Arial"/>
              </a:rPr>
              <a:t> ? </a:t>
            </a:r>
            <a:endParaRPr dirty="0"/>
          </a:p>
        </p:txBody>
      </p:sp>
    </p:spTree>
    <p:extLst>
      <p:ext uri="{BB962C8B-B14F-4D97-AF65-F5344CB8AC3E}">
        <p14:creationId xmlns:p14="http://schemas.microsoft.com/office/powerpoint/2010/main" val="36722274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A930908C-4E5A-FB62-0E2B-E670D92B9CDA}"/>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110C989B-475A-9151-C1C6-27F937464044}"/>
              </a:ext>
            </a:extLst>
          </p:cNvPr>
          <p:cNvSpPr/>
          <p:nvPr/>
        </p:nvSpPr>
        <p:spPr>
          <a:xfrm>
            <a:off x="809025" y="1275576"/>
            <a:ext cx="8819923" cy="1107996"/>
          </a:xfrm>
          <a:prstGeom prst="rect">
            <a:avLst/>
          </a:prstGeom>
          <a:noFill/>
          <a:ln>
            <a:noFill/>
          </a:ln>
        </p:spPr>
        <p:txBody>
          <a:bodyPr spcFirstLastPara="1" wrap="square" lIns="0" tIns="0" rIns="0" bIns="0" anchor="t" anchorCtr="0">
            <a:spAutoFit/>
          </a:bodyPr>
          <a:lstStyle/>
          <a:p>
            <a:pPr>
              <a:buSzPts val="1300"/>
            </a:pPr>
            <a:r>
              <a:rPr lang="vi-VN" sz="3600" b="1" dirty="0">
                <a:solidFill>
                  <a:schemeClr val="dk1"/>
                </a:solidFill>
              </a:rPr>
              <a:t>Cơ chế gửi dữ liệu Publish và nhận dữ liệu thông qua Subscribe </a:t>
            </a:r>
            <a:endParaRPr lang="en-US" sz="3600" b="1" dirty="0">
              <a:solidFill>
                <a:schemeClr val="dk1"/>
              </a:solidFill>
            </a:endParaRPr>
          </a:p>
        </p:txBody>
      </p:sp>
      <p:sp>
        <p:nvSpPr>
          <p:cNvPr id="177" name="Google Shape;177;p4">
            <a:extLst>
              <a:ext uri="{FF2B5EF4-FFF2-40B4-BE49-F238E27FC236}">
                <a16:creationId xmlns:a16="http://schemas.microsoft.com/office/drawing/2014/main" id="{872B9517-B7C3-6BFB-D100-BDEB1321A058}"/>
              </a:ext>
            </a:extLst>
          </p:cNvPr>
          <p:cNvSpPr/>
          <p:nvPr/>
        </p:nvSpPr>
        <p:spPr>
          <a:xfrm>
            <a:off x="809025" y="96779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2.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4E269954-AE7F-01B3-7CE9-BE8F4C1EB0CE}"/>
              </a:ext>
            </a:extLst>
          </p:cNvPr>
          <p:cNvSpPr/>
          <p:nvPr/>
        </p:nvSpPr>
        <p:spPr>
          <a:xfrm>
            <a:off x="964899" y="2774594"/>
            <a:ext cx="7973025" cy="2708434"/>
          </a:xfrm>
          <a:prstGeom prst="rect">
            <a:avLst/>
          </a:prstGeom>
          <a:noFill/>
          <a:ln>
            <a:noFill/>
          </a:ln>
        </p:spPr>
        <p:txBody>
          <a:bodyPr spcFirstLastPara="1" wrap="square" lIns="0" tIns="0" rIns="0" bIns="0" anchor="t" anchorCtr="0">
            <a:spAutoFit/>
          </a:bodyPr>
          <a:lstStyle/>
          <a:p>
            <a:pPr marL="176213" marR="0" lvl="0" indent="-176213" algn="l" rtl="0">
              <a:spcBef>
                <a:spcPts val="0"/>
              </a:spcBef>
              <a:spcAft>
                <a:spcPts val="0"/>
              </a:spcAft>
              <a:buClr>
                <a:srgbClr val="3F3F3F"/>
              </a:buClr>
              <a:buSzPts val="2160"/>
              <a:buFont typeface="Arial"/>
              <a:buChar char="•"/>
            </a:pPr>
            <a:r>
              <a:rPr lang="en-US" sz="1800" dirty="0">
                <a:solidFill>
                  <a:schemeClr val="bg1">
                    <a:lumMod val="75000"/>
                  </a:schemeClr>
                </a:solidFill>
              </a:rPr>
              <a:t>2</a:t>
            </a:r>
            <a:r>
              <a:rPr lang="en-US" sz="1800" dirty="0">
                <a:solidFill>
                  <a:schemeClr val="bg1">
                    <a:lumMod val="75000"/>
                  </a:schemeClr>
                </a:solidFill>
                <a:latin typeface="Arial"/>
                <a:ea typeface="Arial"/>
                <a:cs typeface="Arial"/>
                <a:sym typeface="Arial"/>
              </a:rPr>
              <a:t>.1  Publish / Subscribe  </a:t>
            </a:r>
            <a:r>
              <a:rPr lang="en-US" sz="1800" dirty="0" err="1">
                <a:solidFill>
                  <a:schemeClr val="bg1">
                    <a:lumMod val="75000"/>
                  </a:schemeClr>
                </a:solidFill>
                <a:latin typeface="Arial"/>
                <a:ea typeface="Arial"/>
                <a:cs typeface="Arial"/>
                <a:sym typeface="Arial"/>
              </a:rPr>
              <a:t>là</a:t>
            </a:r>
            <a:r>
              <a:rPr lang="en-US" sz="1800" dirty="0">
                <a:solidFill>
                  <a:schemeClr val="bg1">
                    <a:lumMod val="75000"/>
                  </a:schemeClr>
                </a:solidFill>
                <a:latin typeface="Arial"/>
                <a:ea typeface="Arial"/>
                <a:cs typeface="Arial"/>
                <a:sym typeface="Arial"/>
              </a:rPr>
              <a:t> </a:t>
            </a:r>
            <a:r>
              <a:rPr lang="en-US" sz="1800" dirty="0" err="1">
                <a:solidFill>
                  <a:schemeClr val="bg1">
                    <a:lumMod val="75000"/>
                  </a:schemeClr>
                </a:solidFill>
                <a:latin typeface="Arial"/>
                <a:ea typeface="Arial"/>
                <a:cs typeface="Arial"/>
                <a:sym typeface="Arial"/>
              </a:rPr>
              <a:t>gì</a:t>
            </a:r>
            <a:r>
              <a:rPr lang="en-US" sz="1800" dirty="0">
                <a:solidFill>
                  <a:schemeClr val="bg1">
                    <a:lumMod val="75000"/>
                  </a:schemeClr>
                </a:solidFill>
                <a:latin typeface="Arial"/>
                <a:ea typeface="Arial"/>
                <a:cs typeface="Arial"/>
                <a:sym typeface="Arial"/>
              </a:rPr>
              <a:t> ? </a:t>
            </a:r>
            <a:endParaRPr dirty="0">
              <a:solidFill>
                <a:schemeClr val="bg1">
                  <a:lumMod val="75000"/>
                </a:schemeClr>
              </a:solidFill>
            </a:endParaRPr>
          </a:p>
          <a:p>
            <a:pPr marL="176213" lvl="0" indent="-176213">
              <a:spcBef>
                <a:spcPts val="1000"/>
              </a:spcBef>
              <a:buClr>
                <a:srgbClr val="A6A6A6"/>
              </a:buClr>
              <a:buSzPts val="2160"/>
              <a:buFont typeface="Arial"/>
              <a:buChar char="•"/>
            </a:pPr>
            <a:r>
              <a:rPr lang="en-US" sz="1800" dirty="0">
                <a:solidFill>
                  <a:schemeClr val="tx1"/>
                </a:solidFill>
              </a:rPr>
              <a:t>2</a:t>
            </a:r>
            <a:r>
              <a:rPr lang="en-US" sz="1800" dirty="0">
                <a:solidFill>
                  <a:schemeClr val="tx1"/>
                </a:solidFill>
                <a:latin typeface="Arial"/>
                <a:ea typeface="Arial"/>
                <a:cs typeface="Arial"/>
                <a:sym typeface="Arial"/>
              </a:rPr>
              <a:t>.2 </a:t>
            </a:r>
            <a:r>
              <a:rPr lang="vi-VN" sz="1800" dirty="0">
                <a:solidFill>
                  <a:schemeClr val="tx1"/>
                </a:solidFill>
              </a:rPr>
              <a:t>Publish / Subscribe</a:t>
            </a:r>
            <a:r>
              <a:rPr lang="en-US" sz="1800" dirty="0">
                <a:solidFill>
                  <a:schemeClr val="tx1"/>
                </a:solidFill>
              </a:rPr>
              <a:t> </a:t>
            </a:r>
            <a:r>
              <a:rPr lang="en-US" sz="1800" dirty="0" err="1">
                <a:solidFill>
                  <a:schemeClr val="tx1"/>
                </a:solidFill>
              </a:rPr>
              <a:t>hoạt</a:t>
            </a:r>
            <a:r>
              <a:rPr lang="en-US" sz="1800" dirty="0">
                <a:solidFill>
                  <a:schemeClr val="tx1"/>
                </a:solidFill>
              </a:rPr>
              <a:t> </a:t>
            </a:r>
            <a:r>
              <a:rPr lang="en-US" sz="1800" dirty="0" err="1">
                <a:solidFill>
                  <a:schemeClr val="tx1"/>
                </a:solidFill>
              </a:rPr>
              <a:t>động</a:t>
            </a:r>
            <a:r>
              <a:rPr lang="en-US" sz="1800" dirty="0">
                <a:solidFill>
                  <a:schemeClr val="tx1"/>
                </a:solidFill>
              </a:rPr>
              <a:t> </a:t>
            </a:r>
            <a:r>
              <a:rPr lang="en-US" sz="1800" dirty="0" err="1">
                <a:solidFill>
                  <a:schemeClr val="tx1"/>
                </a:solidFill>
              </a:rPr>
              <a:t>như</a:t>
            </a:r>
            <a:r>
              <a:rPr lang="en-US" sz="1800" dirty="0">
                <a:solidFill>
                  <a:schemeClr val="tx1"/>
                </a:solidFill>
              </a:rPr>
              <a:t> </a:t>
            </a:r>
            <a:r>
              <a:rPr lang="en-US" sz="1800" dirty="0" err="1">
                <a:solidFill>
                  <a:schemeClr val="tx1"/>
                </a:solidFill>
              </a:rPr>
              <a:t>thế</a:t>
            </a:r>
            <a:r>
              <a:rPr lang="en-US" sz="1800" dirty="0">
                <a:solidFill>
                  <a:schemeClr val="tx1"/>
                </a:solidFill>
              </a:rPr>
              <a:t> </a:t>
            </a:r>
            <a:r>
              <a:rPr lang="en-US" sz="1800" dirty="0" err="1">
                <a:solidFill>
                  <a:schemeClr val="tx1"/>
                </a:solidFill>
              </a:rPr>
              <a:t>nào</a:t>
            </a:r>
            <a:endParaRPr lang="en-US" sz="1800" dirty="0">
              <a:solidFill>
                <a:schemeClr val="tx1"/>
              </a:solidFill>
              <a:latin typeface="Arial"/>
              <a:ea typeface="Arial"/>
              <a:cs typeface="Arial"/>
              <a:sym typeface="Arial"/>
            </a:endParaRPr>
          </a:p>
          <a:p>
            <a:pPr marL="176213" marR="0" lvl="0" indent="-176213" algn="l" rtl="0">
              <a:spcBef>
                <a:spcPts val="1000"/>
              </a:spcBef>
              <a:spcAft>
                <a:spcPts val="0"/>
              </a:spcAft>
              <a:buClr>
                <a:srgbClr val="A6A6A6"/>
              </a:buClr>
              <a:buSzPts val="2160"/>
              <a:buFont typeface="Arial"/>
              <a:buChar char="•"/>
            </a:pPr>
            <a:r>
              <a:rPr lang="en-US" sz="1800" dirty="0">
                <a:solidFill>
                  <a:srgbClr val="A6A6A6"/>
                </a:solidFill>
              </a:rPr>
              <a:t>2.3</a:t>
            </a:r>
            <a:r>
              <a:rPr lang="en-US" sz="1800" dirty="0">
                <a:solidFill>
                  <a:srgbClr val="A6A6A6"/>
                </a:solidFill>
                <a:latin typeface="Arial"/>
                <a:ea typeface="Arial"/>
                <a:cs typeface="Arial"/>
                <a:sym typeface="Arial"/>
              </a:rPr>
              <a:t> </a:t>
            </a:r>
            <a:r>
              <a:rPr lang="vi-VN" sz="1800" dirty="0">
                <a:solidFill>
                  <a:srgbClr val="A6A6A6"/>
                </a:solidFill>
                <a:latin typeface="Arial"/>
                <a:ea typeface="Arial"/>
                <a:cs typeface="Arial"/>
                <a:sym typeface="Arial"/>
              </a:rPr>
              <a:t>Các trường hợp sử dụng Publish / Subscribe</a:t>
            </a:r>
            <a:endParaRPr dirty="0"/>
          </a:p>
          <a:p>
            <a:pPr marL="176213" lvl="0" indent="-176213">
              <a:spcBef>
                <a:spcPts val="1000"/>
              </a:spcBef>
              <a:buClr>
                <a:srgbClr val="A6A6A6"/>
              </a:buClr>
              <a:buSzPts val="2160"/>
              <a:buFont typeface="Arial"/>
              <a:buChar char="•"/>
            </a:pPr>
            <a:r>
              <a:rPr lang="en-US" sz="1800" dirty="0">
                <a:solidFill>
                  <a:srgbClr val="A6A6A6"/>
                </a:solidFill>
              </a:rPr>
              <a:t>2</a:t>
            </a:r>
            <a:r>
              <a:rPr lang="en-US" sz="1800" dirty="0">
                <a:solidFill>
                  <a:srgbClr val="A6A6A6"/>
                </a:solidFill>
                <a:latin typeface="Arial"/>
                <a:ea typeface="Arial"/>
                <a:cs typeface="Arial"/>
                <a:sym typeface="Arial"/>
              </a:rPr>
              <a:t>.4. </a:t>
            </a:r>
            <a:r>
              <a:rPr lang="en-US" sz="1800" dirty="0" err="1">
                <a:solidFill>
                  <a:srgbClr val="A6A6A6"/>
                </a:solidFill>
              </a:rPr>
              <a:t>Ưu</a:t>
            </a:r>
            <a:r>
              <a:rPr lang="en-US" sz="1800" dirty="0">
                <a:solidFill>
                  <a:srgbClr val="A6A6A6"/>
                </a:solidFill>
              </a:rPr>
              <a:t> </a:t>
            </a:r>
            <a:r>
              <a:rPr lang="en-US" sz="1800" dirty="0" err="1">
                <a:solidFill>
                  <a:srgbClr val="A6A6A6"/>
                </a:solidFill>
              </a:rPr>
              <a:t>điểm</a:t>
            </a:r>
            <a:r>
              <a:rPr lang="en-US" sz="1800" dirty="0">
                <a:solidFill>
                  <a:srgbClr val="A6A6A6"/>
                </a:solidFill>
              </a:rPr>
              <a:t> </a:t>
            </a:r>
            <a:r>
              <a:rPr lang="en-US" sz="1800" dirty="0" err="1">
                <a:solidFill>
                  <a:srgbClr val="A6A6A6"/>
                </a:solidFill>
              </a:rPr>
              <a:t>của</a:t>
            </a:r>
            <a:r>
              <a:rPr lang="en-US" sz="1800" dirty="0">
                <a:solidFill>
                  <a:srgbClr val="A6A6A6"/>
                </a:solidFill>
              </a:rPr>
              <a:t> </a:t>
            </a:r>
            <a:r>
              <a:rPr lang="en-US" sz="1800" dirty="0" err="1">
                <a:solidFill>
                  <a:srgbClr val="A6A6A6"/>
                </a:solidFill>
              </a:rPr>
              <a:t>việc</a:t>
            </a:r>
            <a:r>
              <a:rPr lang="en-US" sz="1800" dirty="0">
                <a:solidFill>
                  <a:srgbClr val="A6A6A6"/>
                </a:solidFill>
              </a:rPr>
              <a:t> </a:t>
            </a:r>
            <a:r>
              <a:rPr lang="en-US" sz="1800" dirty="0" err="1">
                <a:solidFill>
                  <a:srgbClr val="A6A6A6"/>
                </a:solidFill>
              </a:rPr>
              <a:t>sử</a:t>
            </a:r>
            <a:r>
              <a:rPr lang="en-US" sz="1800" dirty="0">
                <a:solidFill>
                  <a:srgbClr val="A6A6A6"/>
                </a:solidFill>
              </a:rPr>
              <a:t> </a:t>
            </a:r>
            <a:r>
              <a:rPr lang="en-US" sz="1800" dirty="0" err="1">
                <a:solidFill>
                  <a:srgbClr val="A6A6A6"/>
                </a:solidFill>
              </a:rPr>
              <a:t>dụng</a:t>
            </a:r>
            <a:r>
              <a:rPr lang="en-US" sz="1800" dirty="0">
                <a:solidFill>
                  <a:srgbClr val="A6A6A6"/>
                </a:solidFill>
              </a:rPr>
              <a:t> </a:t>
            </a:r>
            <a:r>
              <a:rPr lang="vi-VN" sz="1800" dirty="0">
                <a:solidFill>
                  <a:srgbClr val="A6A6A6"/>
                </a:solidFill>
              </a:rPr>
              <a:t>Publish / Subscribe</a:t>
            </a:r>
            <a:endParaRPr lang="en-US" sz="1800" dirty="0">
              <a:solidFill>
                <a:srgbClr val="A6A6A6"/>
              </a:solidFill>
            </a:endParaRPr>
          </a:p>
          <a:p>
            <a:pPr marL="176213" indent="-176213">
              <a:spcBef>
                <a:spcPts val="1000"/>
              </a:spcBef>
              <a:buClr>
                <a:srgbClr val="A6A6A6"/>
              </a:buClr>
              <a:buSzPts val="2160"/>
              <a:buFont typeface="Arial"/>
              <a:buChar char="•"/>
            </a:pPr>
            <a:r>
              <a:rPr lang="en-US" sz="1800" dirty="0">
                <a:solidFill>
                  <a:srgbClr val="A6A6A6"/>
                </a:solidFill>
              </a:rPr>
              <a:t>2.4. </a:t>
            </a:r>
            <a:r>
              <a:rPr lang="en-US" sz="1800" dirty="0" err="1">
                <a:solidFill>
                  <a:srgbClr val="A6A6A6"/>
                </a:solidFill>
              </a:rPr>
              <a:t>Nhược</a:t>
            </a:r>
            <a:r>
              <a:rPr lang="en-US" sz="1800" dirty="0">
                <a:solidFill>
                  <a:srgbClr val="A6A6A6"/>
                </a:solidFill>
              </a:rPr>
              <a:t> </a:t>
            </a:r>
            <a:r>
              <a:rPr lang="en-US" sz="1800" dirty="0" err="1">
                <a:solidFill>
                  <a:srgbClr val="A6A6A6"/>
                </a:solidFill>
              </a:rPr>
              <a:t>điểm</a:t>
            </a:r>
            <a:r>
              <a:rPr lang="en-US" sz="1800" dirty="0">
                <a:solidFill>
                  <a:srgbClr val="A6A6A6"/>
                </a:solidFill>
              </a:rPr>
              <a:t> </a:t>
            </a:r>
            <a:r>
              <a:rPr lang="en-US" sz="1800" dirty="0" err="1">
                <a:solidFill>
                  <a:srgbClr val="A6A6A6"/>
                </a:solidFill>
              </a:rPr>
              <a:t>của</a:t>
            </a:r>
            <a:r>
              <a:rPr lang="en-US" sz="1800" dirty="0">
                <a:solidFill>
                  <a:srgbClr val="A6A6A6"/>
                </a:solidFill>
              </a:rPr>
              <a:t> </a:t>
            </a:r>
            <a:r>
              <a:rPr lang="en-US" sz="1800" dirty="0" err="1">
                <a:solidFill>
                  <a:srgbClr val="A6A6A6"/>
                </a:solidFill>
              </a:rPr>
              <a:t>việc</a:t>
            </a:r>
            <a:r>
              <a:rPr lang="en-US" sz="1800" dirty="0">
                <a:solidFill>
                  <a:srgbClr val="A6A6A6"/>
                </a:solidFill>
              </a:rPr>
              <a:t> </a:t>
            </a:r>
            <a:r>
              <a:rPr lang="en-US" sz="1800" dirty="0" err="1">
                <a:solidFill>
                  <a:srgbClr val="A6A6A6"/>
                </a:solidFill>
              </a:rPr>
              <a:t>sử</a:t>
            </a:r>
            <a:r>
              <a:rPr lang="en-US" sz="1800" dirty="0">
                <a:solidFill>
                  <a:srgbClr val="A6A6A6"/>
                </a:solidFill>
              </a:rPr>
              <a:t> </a:t>
            </a:r>
            <a:r>
              <a:rPr lang="en-US" sz="1800" dirty="0" err="1">
                <a:solidFill>
                  <a:srgbClr val="A6A6A6"/>
                </a:solidFill>
              </a:rPr>
              <a:t>dụng</a:t>
            </a:r>
            <a:r>
              <a:rPr lang="en-US" sz="1800" dirty="0">
                <a:solidFill>
                  <a:srgbClr val="A6A6A6"/>
                </a:solidFill>
              </a:rPr>
              <a:t> </a:t>
            </a:r>
            <a:r>
              <a:rPr lang="vi-VN" sz="1800" dirty="0">
                <a:solidFill>
                  <a:srgbClr val="A6A6A6"/>
                </a:solidFill>
              </a:rPr>
              <a:t>Publish / Subscribe</a:t>
            </a:r>
            <a:endParaRPr lang="en-US" sz="1800" dirty="0">
              <a:solidFill>
                <a:srgbClr val="A6A6A6"/>
              </a:solidFill>
            </a:endParaRPr>
          </a:p>
          <a:p>
            <a:pPr lvl="0">
              <a:spcBef>
                <a:spcPts val="1000"/>
              </a:spcBef>
              <a:buClr>
                <a:srgbClr val="A6A6A6"/>
              </a:buClr>
              <a:buSzPts val="2160"/>
            </a:pPr>
            <a:endParaRPr lang="en-US" sz="1800" dirty="0">
              <a:solidFill>
                <a:srgbClr val="A6A6A6"/>
              </a:solidFill>
              <a:latin typeface="Arial"/>
              <a:ea typeface="Arial"/>
              <a:cs typeface="Arial"/>
              <a:sym typeface="Arial"/>
            </a:endParaRPr>
          </a:p>
          <a:p>
            <a:pPr marL="176213" marR="0" lvl="0" indent="-176213" algn="l" rtl="0">
              <a:spcBef>
                <a:spcPts val="1000"/>
              </a:spcBef>
              <a:spcAft>
                <a:spcPts val="0"/>
              </a:spcAft>
              <a:buClr>
                <a:srgbClr val="A6A6A6"/>
              </a:buClr>
              <a:buSzPts val="2160"/>
              <a:buFont typeface="Arial"/>
              <a:buChar char="•"/>
            </a:pPr>
            <a:endParaRPr sz="1800"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23440125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28877D49-22F8-CE37-51D2-EB58FD7CE77A}"/>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DB0FCAEE-A8AE-A38E-5F86-83978B688A1E}"/>
              </a:ext>
            </a:extLst>
          </p:cNvPr>
          <p:cNvSpPr/>
          <p:nvPr/>
        </p:nvSpPr>
        <p:spPr>
          <a:xfrm>
            <a:off x="322884" y="1005259"/>
            <a:ext cx="9125916" cy="5170646"/>
          </a:xfrm>
          <a:prstGeom prst="rect">
            <a:avLst/>
          </a:prstGeom>
          <a:noFill/>
          <a:ln>
            <a:noFill/>
          </a:ln>
        </p:spPr>
        <p:txBody>
          <a:bodyPr spcFirstLastPara="1" wrap="square" lIns="0" tIns="0" rIns="0" bIns="0" anchor="t" anchorCtr="0">
            <a:spAutoFit/>
          </a:bodyPr>
          <a:lstStyle/>
          <a:p>
            <a:pPr>
              <a:lnSpc>
                <a:spcPct val="150000"/>
              </a:lnSpc>
            </a:pPr>
            <a:r>
              <a:rPr lang="vi-VN" dirty="0"/>
              <a:t>Trong mô hình nhắn tin Pub/Sub, bên gửi dữ liệu (người phát hành) sẽ gửi tin nhắn đến bất kỳ số lượng người đăng ký nào quan tâm. Các thiết bị có thể đăng ký nhiều kênh và chỉ nhận được tin nhắn từ các kênh mà chúng đã đăng ký. Các tin nhắn này không đồng bộ và hoàn toàn tách biệt với nhau. Việc tách rời bên sản xuất dữ liệu và bên tiêu thụ cho phép gửi tin nhắn với khối lượng lớn và dễ dàng mở rộng quy mô.</a:t>
            </a:r>
          </a:p>
          <a:p>
            <a:pPr>
              <a:lnSpc>
                <a:spcPct val="150000"/>
              </a:lnSpc>
            </a:pPr>
            <a:endParaRPr lang="vi-VN" dirty="0"/>
          </a:p>
          <a:p>
            <a:pPr marL="285750" indent="-285750">
              <a:lnSpc>
                <a:spcPct val="150000"/>
              </a:lnSpc>
              <a:buFont typeface="Arial" panose="020B0604020202020204" pitchFamily="34" charset="0"/>
              <a:buChar char="•"/>
            </a:pPr>
            <a:r>
              <a:rPr lang="vi-VN" dirty="0"/>
              <a:t>Nhà xuất bản: Còn được gọi là nhà sản xuất, nhà xuất bản là bất kỳ thành phần nào tạo ra tin nhắn và gửi (xuất bản) chúng đến một dịch vụ nhắn tin trên một chủ đề được chỉ định.</a:t>
            </a:r>
          </a:p>
          <a:p>
            <a:pPr marL="285750" indent="-285750">
              <a:lnSpc>
                <a:spcPct val="150000"/>
              </a:lnSpc>
              <a:buFont typeface="Arial" panose="020B0604020202020204" pitchFamily="34" charset="0"/>
              <a:buChar char="•"/>
            </a:pPr>
            <a:r>
              <a:rPr lang="vi-VN" dirty="0"/>
              <a:t>Người đăng ký: Còn được gọi là người tiêu dùng, người đăng ký là bất kỳ thành phần nào nhận tin nhắn về một chủ đề cụ thể.</a:t>
            </a:r>
          </a:p>
          <a:p>
            <a:pPr marL="285750" indent="-285750">
              <a:lnSpc>
                <a:spcPct val="150000"/>
              </a:lnSpc>
              <a:buFont typeface="Arial" panose="020B0604020202020204" pitchFamily="34" charset="0"/>
              <a:buChar char="•"/>
            </a:pPr>
            <a:r>
              <a:rPr lang="vi-VN" dirty="0"/>
              <a:t>Thông điệp: Thông điệp là dữ liệu được công bố hoặc truyền tải thông qua dịch vụ nhắn tin. Một thông điệp bao gồm phần tiêu đề ( siêu dữ liệu ) và phần nội dung, tức là thông tin dự định truyền tải.</a:t>
            </a:r>
          </a:p>
          <a:p>
            <a:pPr marL="285750" indent="-285750">
              <a:lnSpc>
                <a:spcPct val="150000"/>
              </a:lnSpc>
              <a:buFont typeface="Arial" panose="020B0604020202020204" pitchFamily="34" charset="0"/>
              <a:buChar char="•"/>
            </a:pPr>
            <a:r>
              <a:rPr lang="vi-VN" dirty="0"/>
              <a:t>Chủ đề: Chủ đề là một loại thông tin cụ thể được gửi trong tin nhắn dạng xuất bản/đăng ký. </a:t>
            </a:r>
          </a:p>
          <a:p>
            <a:pPr marL="285750" indent="-285750">
              <a:lnSpc>
                <a:spcPct val="150000"/>
              </a:lnSpc>
              <a:buFont typeface="Arial" panose="020B0604020202020204" pitchFamily="34" charset="0"/>
              <a:buChar char="•"/>
            </a:pPr>
            <a:r>
              <a:rPr lang="vi-VN" dirty="0"/>
              <a:t>Kênh:Thông tin về các chủ đề cụ thể được gửi qua các luồng dữ liệu được gọi là kênh. Một chủ đề có kênh hoạt động nếu có ít nhất một người đăng ký. </a:t>
            </a:r>
          </a:p>
          <a:p>
            <a:pPr>
              <a:lnSpc>
                <a:spcPct val="150000"/>
              </a:lnSpc>
            </a:pPr>
            <a:endParaRPr lang="vi-VN" dirty="0"/>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BF34700E-62CD-287F-F1DB-FFC0B4070BBC}"/>
              </a:ext>
            </a:extLst>
          </p:cNvPr>
          <p:cNvSpPr/>
          <p:nvPr/>
        </p:nvSpPr>
        <p:spPr>
          <a:xfrm>
            <a:off x="322884" y="48418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2.2. Publish / Subscribe  </a:t>
            </a:r>
            <a:r>
              <a:rPr lang="en-US" sz="2400" b="1" dirty="0" err="1">
                <a:solidFill>
                  <a:srgbClr val="0C0C0C"/>
                </a:solidFill>
                <a:latin typeface="Arial"/>
                <a:ea typeface="Arial"/>
                <a:cs typeface="Arial"/>
                <a:sym typeface="Arial"/>
              </a:rPr>
              <a:t>hoạt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động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như</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thế</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nào</a:t>
            </a:r>
            <a:endParaRPr dirty="0"/>
          </a:p>
        </p:txBody>
      </p:sp>
    </p:spTree>
    <p:extLst>
      <p:ext uri="{BB962C8B-B14F-4D97-AF65-F5344CB8AC3E}">
        <p14:creationId xmlns:p14="http://schemas.microsoft.com/office/powerpoint/2010/main" val="6961228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DF719000-C7FF-B251-0197-EEA0D1372484}"/>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AE1C5C53-7BFF-033E-E868-E492E3B30BB2}"/>
              </a:ext>
            </a:extLst>
          </p:cNvPr>
          <p:cNvSpPr/>
          <p:nvPr/>
        </p:nvSpPr>
        <p:spPr>
          <a:xfrm>
            <a:off x="322884" y="1005259"/>
            <a:ext cx="9125916" cy="2262158"/>
          </a:xfrm>
          <a:prstGeom prst="rect">
            <a:avLst/>
          </a:prstGeom>
          <a:noFill/>
          <a:ln>
            <a:noFill/>
          </a:ln>
        </p:spPr>
        <p:txBody>
          <a:bodyPr spcFirstLastPara="1" wrap="square" lIns="0" tIns="0" rIns="0" bIns="0" anchor="t" anchorCtr="0">
            <a:spAutoFit/>
          </a:bodyPr>
          <a:lstStyle/>
          <a:p>
            <a:pPr>
              <a:lnSpc>
                <a:spcPct val="150000"/>
              </a:lnSpc>
            </a:pPr>
            <a:r>
              <a:rPr lang="vi-VN" dirty="0"/>
              <a:t>Trong mô hình nhắn tin Pub/Sub, bên gửi dữ liệu (người phát hành) sẽ gửi tin nhắn đến bất kỳ số lượng người đăng ký nào quan tâm. Các thiết bị có thể đăng ký nhiều kênh và chỉ nhận được tin nhắn từ các kênh mà chúng đã đăng ký. Các tin nhắn này không đồng bộ và hoàn toàn tách biệt với nhau. Việc tách rời bên sản xuất dữ liệu và bên tiêu thụ cho phép gửi tin nhắn với khối lượng lớn và dễ dàng mở rộng quy mô.</a:t>
            </a:r>
          </a:p>
          <a:p>
            <a:pPr>
              <a:lnSpc>
                <a:spcPct val="150000"/>
              </a:lnSpc>
            </a:pPr>
            <a:endParaRPr lang="vi-VN" dirty="0"/>
          </a:p>
          <a:p>
            <a:pPr>
              <a:lnSpc>
                <a:spcPct val="150000"/>
              </a:lnSpc>
            </a:pPr>
            <a:endParaRPr lang="vi-VN" dirty="0"/>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D4A6634F-FBF0-4A03-478B-087B017CCC5F}"/>
              </a:ext>
            </a:extLst>
          </p:cNvPr>
          <p:cNvSpPr/>
          <p:nvPr/>
        </p:nvSpPr>
        <p:spPr>
          <a:xfrm>
            <a:off x="322884" y="48418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2.2. Publish / Subscribe  </a:t>
            </a:r>
            <a:r>
              <a:rPr lang="en-US" sz="2400" b="1" dirty="0" err="1">
                <a:solidFill>
                  <a:srgbClr val="0C0C0C"/>
                </a:solidFill>
                <a:latin typeface="Arial"/>
                <a:ea typeface="Arial"/>
                <a:cs typeface="Arial"/>
                <a:sym typeface="Arial"/>
              </a:rPr>
              <a:t>hoạt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động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như</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thế</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nào</a:t>
            </a:r>
            <a:endParaRPr dirty="0"/>
          </a:p>
        </p:txBody>
      </p:sp>
      <p:pic>
        <p:nvPicPr>
          <p:cNvPr id="28674" name="Picture 2" descr="Cách thức hoạt động trong Pub-Sub&#10;">
            <a:extLst>
              <a:ext uri="{FF2B5EF4-FFF2-40B4-BE49-F238E27FC236}">
                <a16:creationId xmlns:a16="http://schemas.microsoft.com/office/drawing/2014/main" id="{F0588833-0B94-072B-8D77-40662CC8F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387" y="2828925"/>
            <a:ext cx="6496050" cy="3448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68501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742710DB-5313-E210-60B9-5F280347C3AE}"/>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6461403B-9CCA-4A1A-0AF4-97D0BE7A2F47}"/>
              </a:ext>
            </a:extLst>
          </p:cNvPr>
          <p:cNvSpPr/>
          <p:nvPr/>
        </p:nvSpPr>
        <p:spPr>
          <a:xfrm>
            <a:off x="322884" y="1005259"/>
            <a:ext cx="9125916" cy="4524315"/>
          </a:xfrm>
          <a:prstGeom prst="rect">
            <a:avLst/>
          </a:prstGeom>
          <a:noFill/>
          <a:ln>
            <a:noFill/>
          </a:ln>
        </p:spPr>
        <p:txBody>
          <a:bodyPr spcFirstLastPara="1" wrap="square" lIns="0" tIns="0" rIns="0" bIns="0" anchor="t" anchorCtr="0">
            <a:spAutoFit/>
          </a:bodyPr>
          <a:lstStyle/>
          <a:p>
            <a:pPr>
              <a:lnSpc>
                <a:spcPct val="150000"/>
              </a:lnSpc>
            </a:pPr>
            <a:endParaRPr lang="vi-VN" dirty="0"/>
          </a:p>
          <a:p>
            <a:pPr>
              <a:lnSpc>
                <a:spcPct val="150000"/>
              </a:lnSpc>
            </a:pPr>
            <a:r>
              <a:rPr lang="vi-VN" dirty="0"/>
              <a:t>Không giống như kết nối máy chủ-máy khách, nơi dữ liệu được gửi trực tiếp, các nhà xuất bản trong mô hình Pub/Sub không biết người đăng ký của họ. Thay vào đó, các nhà xuất bản gửi thông tin đến các kênh dựa trên chủ đề. Các nhà xuất bản cũng có thể đăng ký các kênh khác, và các luồng dữ liệu có thể được ghép kênh, hỗ trợ giao tiếp một-đến-một, một-đến-nhiều và nhiều-đến-một. Cấu hình này đảm bảo phân bổ khối lượng công việc đồng đều và độ tin cậy.</a:t>
            </a:r>
          </a:p>
          <a:p>
            <a:pPr>
              <a:lnSpc>
                <a:spcPct val="150000"/>
              </a:lnSpc>
            </a:pPr>
            <a:endParaRPr lang="vi-VN" dirty="0"/>
          </a:p>
          <a:p>
            <a:pPr>
              <a:lnSpc>
                <a:spcPct val="150000"/>
              </a:lnSpc>
            </a:pPr>
            <a:r>
              <a:rPr lang="vi-VN" dirty="0"/>
              <a:t>Người đăng ký thường sử dụng một trung gian truyền tin (message broker) để quản lý các đăng ký của họ, đảm bảo dữ liệu được tổ chức và phân phối chính xác. Ví dụ, MQTT , một giao thức truyền thông của ISO , sử dụng mô hình Pub/Sub, và nhiều trung gian truyền tin mã nguồn mở hỗ trợ việc triển khai nó.</a:t>
            </a:r>
          </a:p>
          <a:p>
            <a:pPr>
              <a:lnSpc>
                <a:spcPct val="150000"/>
              </a:lnSpc>
            </a:pPr>
            <a:endParaRPr lang="vi-VN" dirty="0"/>
          </a:p>
          <a:p>
            <a:pPr>
              <a:lnSpc>
                <a:spcPct val="150000"/>
              </a:lnSpc>
            </a:pPr>
            <a:r>
              <a:rPr lang="vi-VN" dirty="0"/>
              <a:t>Mô hình Pub/Sub đảm bảo dữ liệu được gửi đến người đăng ký theo thứ tự người gửi nhận được, lý tưởng cho các ứng dụng thời gian thực như ứng dụng giao dịch chứng khoán hoặc bảng điểm trực tiếp.</a:t>
            </a:r>
          </a:p>
          <a:p>
            <a:pPr marL="285750" indent="-285750">
              <a:lnSpc>
                <a:spcPct val="150000"/>
              </a:lnSpc>
              <a:buFont typeface="Arial" panose="020B0604020202020204" pitchFamily="34" charset="0"/>
              <a:buChar char="•"/>
            </a:pPr>
            <a:endParaRPr lang="vi-VN" dirty="0"/>
          </a:p>
        </p:txBody>
      </p:sp>
      <p:sp>
        <p:nvSpPr>
          <p:cNvPr id="2" name="Google Shape;184;p5">
            <a:extLst>
              <a:ext uri="{FF2B5EF4-FFF2-40B4-BE49-F238E27FC236}">
                <a16:creationId xmlns:a16="http://schemas.microsoft.com/office/drawing/2014/main" id="{907E26C2-834F-25D3-DA0C-AD66F0EF5E07}"/>
              </a:ext>
            </a:extLst>
          </p:cNvPr>
          <p:cNvSpPr/>
          <p:nvPr/>
        </p:nvSpPr>
        <p:spPr>
          <a:xfrm>
            <a:off x="322884" y="484187"/>
            <a:ext cx="945390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2.2. Publish / Subscribe  </a:t>
            </a:r>
            <a:r>
              <a:rPr lang="en-US" sz="2400" b="1" dirty="0" err="1">
                <a:solidFill>
                  <a:srgbClr val="0C0C0C"/>
                </a:solidFill>
                <a:latin typeface="Arial"/>
                <a:ea typeface="Arial"/>
                <a:cs typeface="Arial"/>
                <a:sym typeface="Arial"/>
              </a:rPr>
              <a:t>hoạt</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động</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như</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thế</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nào</a:t>
            </a:r>
            <a:endParaRPr dirty="0"/>
          </a:p>
        </p:txBody>
      </p:sp>
    </p:spTree>
    <p:extLst>
      <p:ext uri="{BB962C8B-B14F-4D97-AF65-F5344CB8AC3E}">
        <p14:creationId xmlns:p14="http://schemas.microsoft.com/office/powerpoint/2010/main" val="15150167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5566A747-73FD-DEEF-3DE1-354B184EA41E}"/>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FC74454A-C823-E4E1-D22D-5B336FF7757C}"/>
              </a:ext>
            </a:extLst>
          </p:cNvPr>
          <p:cNvSpPr/>
          <p:nvPr/>
        </p:nvSpPr>
        <p:spPr>
          <a:xfrm>
            <a:off x="809025" y="1275576"/>
            <a:ext cx="8819923" cy="1107996"/>
          </a:xfrm>
          <a:prstGeom prst="rect">
            <a:avLst/>
          </a:prstGeom>
          <a:noFill/>
          <a:ln>
            <a:noFill/>
          </a:ln>
        </p:spPr>
        <p:txBody>
          <a:bodyPr spcFirstLastPara="1" wrap="square" lIns="0" tIns="0" rIns="0" bIns="0" anchor="t" anchorCtr="0">
            <a:spAutoFit/>
          </a:bodyPr>
          <a:lstStyle/>
          <a:p>
            <a:pPr>
              <a:buSzPts val="1300"/>
            </a:pPr>
            <a:r>
              <a:rPr lang="vi-VN" sz="3600" b="1" dirty="0">
                <a:solidFill>
                  <a:schemeClr val="dk1"/>
                </a:solidFill>
              </a:rPr>
              <a:t>Cơ chế gửi dữ liệu Publish và nhận dữ liệu thông qua Subscribe </a:t>
            </a:r>
            <a:endParaRPr lang="en-US" sz="3600" b="1" dirty="0">
              <a:solidFill>
                <a:schemeClr val="dk1"/>
              </a:solidFill>
            </a:endParaRPr>
          </a:p>
        </p:txBody>
      </p:sp>
      <p:sp>
        <p:nvSpPr>
          <p:cNvPr id="177" name="Google Shape;177;p4">
            <a:extLst>
              <a:ext uri="{FF2B5EF4-FFF2-40B4-BE49-F238E27FC236}">
                <a16:creationId xmlns:a16="http://schemas.microsoft.com/office/drawing/2014/main" id="{3E73B772-991E-2F18-A32C-72E62A37088B}"/>
              </a:ext>
            </a:extLst>
          </p:cNvPr>
          <p:cNvSpPr/>
          <p:nvPr/>
        </p:nvSpPr>
        <p:spPr>
          <a:xfrm>
            <a:off x="809025" y="96779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2.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A076139E-F6C8-C0BD-260D-0F95110BF7EC}"/>
              </a:ext>
            </a:extLst>
          </p:cNvPr>
          <p:cNvSpPr/>
          <p:nvPr/>
        </p:nvSpPr>
        <p:spPr>
          <a:xfrm>
            <a:off x="964899" y="2774594"/>
            <a:ext cx="7973025" cy="2708434"/>
          </a:xfrm>
          <a:prstGeom prst="rect">
            <a:avLst/>
          </a:prstGeom>
          <a:noFill/>
          <a:ln>
            <a:noFill/>
          </a:ln>
        </p:spPr>
        <p:txBody>
          <a:bodyPr spcFirstLastPara="1" wrap="square" lIns="0" tIns="0" rIns="0" bIns="0" anchor="t" anchorCtr="0">
            <a:spAutoFit/>
          </a:bodyPr>
          <a:lstStyle/>
          <a:p>
            <a:pPr marL="176213" marR="0" lvl="0" indent="-176213" algn="l" rtl="0">
              <a:spcBef>
                <a:spcPts val="0"/>
              </a:spcBef>
              <a:spcAft>
                <a:spcPts val="0"/>
              </a:spcAft>
              <a:buClr>
                <a:srgbClr val="3F3F3F"/>
              </a:buClr>
              <a:buSzPts val="2160"/>
              <a:buFont typeface="Arial"/>
              <a:buChar char="•"/>
            </a:pPr>
            <a:r>
              <a:rPr lang="en-US" sz="1800" dirty="0">
                <a:solidFill>
                  <a:schemeClr val="bg1">
                    <a:lumMod val="75000"/>
                  </a:schemeClr>
                </a:solidFill>
              </a:rPr>
              <a:t>2</a:t>
            </a:r>
            <a:r>
              <a:rPr lang="en-US" sz="1800" dirty="0">
                <a:solidFill>
                  <a:schemeClr val="bg1">
                    <a:lumMod val="75000"/>
                  </a:schemeClr>
                </a:solidFill>
                <a:latin typeface="Arial"/>
                <a:ea typeface="Arial"/>
                <a:cs typeface="Arial"/>
                <a:sym typeface="Arial"/>
              </a:rPr>
              <a:t>.1  Publish / Subscribe  </a:t>
            </a:r>
            <a:r>
              <a:rPr lang="en-US" sz="1800" dirty="0" err="1">
                <a:solidFill>
                  <a:schemeClr val="bg1">
                    <a:lumMod val="75000"/>
                  </a:schemeClr>
                </a:solidFill>
                <a:latin typeface="Arial"/>
                <a:ea typeface="Arial"/>
                <a:cs typeface="Arial"/>
                <a:sym typeface="Arial"/>
              </a:rPr>
              <a:t>là</a:t>
            </a:r>
            <a:r>
              <a:rPr lang="en-US" sz="1800" dirty="0">
                <a:solidFill>
                  <a:schemeClr val="bg1">
                    <a:lumMod val="75000"/>
                  </a:schemeClr>
                </a:solidFill>
                <a:latin typeface="Arial"/>
                <a:ea typeface="Arial"/>
                <a:cs typeface="Arial"/>
                <a:sym typeface="Arial"/>
              </a:rPr>
              <a:t> </a:t>
            </a:r>
            <a:r>
              <a:rPr lang="en-US" sz="1800" dirty="0" err="1">
                <a:solidFill>
                  <a:schemeClr val="bg1">
                    <a:lumMod val="75000"/>
                  </a:schemeClr>
                </a:solidFill>
                <a:latin typeface="Arial"/>
                <a:ea typeface="Arial"/>
                <a:cs typeface="Arial"/>
                <a:sym typeface="Arial"/>
              </a:rPr>
              <a:t>gì</a:t>
            </a:r>
            <a:r>
              <a:rPr lang="en-US" sz="1800" dirty="0">
                <a:solidFill>
                  <a:schemeClr val="bg1">
                    <a:lumMod val="75000"/>
                  </a:schemeClr>
                </a:solidFill>
                <a:latin typeface="Arial"/>
                <a:ea typeface="Arial"/>
                <a:cs typeface="Arial"/>
                <a:sym typeface="Arial"/>
              </a:rPr>
              <a:t> ? </a:t>
            </a:r>
            <a:endParaRPr dirty="0">
              <a:solidFill>
                <a:schemeClr val="bg1">
                  <a:lumMod val="75000"/>
                </a:schemeClr>
              </a:solidFill>
            </a:endParaRPr>
          </a:p>
          <a:p>
            <a:pPr marL="176213" lvl="0" indent="-176213">
              <a:spcBef>
                <a:spcPts val="1000"/>
              </a:spcBef>
              <a:buClr>
                <a:srgbClr val="A6A6A6"/>
              </a:buClr>
              <a:buSzPts val="2160"/>
              <a:buFont typeface="Arial"/>
              <a:buChar char="•"/>
            </a:pPr>
            <a:r>
              <a:rPr lang="en-US" sz="1800" dirty="0">
                <a:solidFill>
                  <a:srgbClr val="A6A6A6"/>
                </a:solidFill>
              </a:rPr>
              <a:t>2</a:t>
            </a:r>
            <a:r>
              <a:rPr lang="en-US" sz="1800" dirty="0">
                <a:solidFill>
                  <a:srgbClr val="A6A6A6"/>
                </a:solidFill>
                <a:latin typeface="Arial"/>
                <a:ea typeface="Arial"/>
                <a:cs typeface="Arial"/>
                <a:sym typeface="Arial"/>
              </a:rPr>
              <a:t>.2 </a:t>
            </a:r>
            <a:r>
              <a:rPr lang="vi-VN" sz="1800" dirty="0">
                <a:solidFill>
                  <a:srgbClr val="A6A6A6"/>
                </a:solidFill>
              </a:rPr>
              <a:t>Publish / Subscribe</a:t>
            </a:r>
            <a:r>
              <a:rPr lang="en-US" sz="1800" dirty="0">
                <a:solidFill>
                  <a:srgbClr val="A6A6A6"/>
                </a:solidFill>
              </a:rPr>
              <a:t> </a:t>
            </a:r>
            <a:r>
              <a:rPr lang="en-US" sz="1800" dirty="0" err="1">
                <a:solidFill>
                  <a:srgbClr val="A6A6A6"/>
                </a:solidFill>
              </a:rPr>
              <a:t>hoạt</a:t>
            </a:r>
            <a:r>
              <a:rPr lang="en-US" sz="1800" dirty="0">
                <a:solidFill>
                  <a:srgbClr val="A6A6A6"/>
                </a:solidFill>
              </a:rPr>
              <a:t> </a:t>
            </a:r>
            <a:r>
              <a:rPr lang="en-US" sz="1800" dirty="0" err="1">
                <a:solidFill>
                  <a:srgbClr val="A6A6A6"/>
                </a:solidFill>
              </a:rPr>
              <a:t>động</a:t>
            </a:r>
            <a:r>
              <a:rPr lang="en-US" sz="1800" dirty="0">
                <a:solidFill>
                  <a:srgbClr val="A6A6A6"/>
                </a:solidFill>
              </a:rPr>
              <a:t> </a:t>
            </a:r>
            <a:r>
              <a:rPr lang="en-US" sz="1800" dirty="0" err="1">
                <a:solidFill>
                  <a:srgbClr val="A6A6A6"/>
                </a:solidFill>
              </a:rPr>
              <a:t>như</a:t>
            </a:r>
            <a:r>
              <a:rPr lang="en-US" sz="1800" dirty="0">
                <a:solidFill>
                  <a:srgbClr val="A6A6A6"/>
                </a:solidFill>
              </a:rPr>
              <a:t> </a:t>
            </a:r>
            <a:r>
              <a:rPr lang="en-US" sz="1800" dirty="0" err="1">
                <a:solidFill>
                  <a:srgbClr val="A6A6A6"/>
                </a:solidFill>
              </a:rPr>
              <a:t>thế</a:t>
            </a:r>
            <a:r>
              <a:rPr lang="en-US" sz="1800" dirty="0">
                <a:solidFill>
                  <a:srgbClr val="A6A6A6"/>
                </a:solidFill>
              </a:rPr>
              <a:t> </a:t>
            </a:r>
            <a:r>
              <a:rPr lang="en-US" sz="1800" dirty="0" err="1">
                <a:solidFill>
                  <a:srgbClr val="A6A6A6"/>
                </a:solidFill>
              </a:rPr>
              <a:t>nào</a:t>
            </a:r>
            <a:endParaRPr lang="en-US" sz="1800" dirty="0">
              <a:solidFill>
                <a:srgbClr val="A6A6A6"/>
              </a:solidFill>
              <a:latin typeface="Arial"/>
              <a:ea typeface="Arial"/>
              <a:cs typeface="Arial"/>
              <a:sym typeface="Arial"/>
            </a:endParaRPr>
          </a:p>
          <a:p>
            <a:pPr marL="176213" marR="0" lvl="0" indent="-176213" algn="l" rtl="0">
              <a:spcBef>
                <a:spcPts val="1000"/>
              </a:spcBef>
              <a:spcAft>
                <a:spcPts val="0"/>
              </a:spcAft>
              <a:buClr>
                <a:srgbClr val="A6A6A6"/>
              </a:buClr>
              <a:buSzPts val="2160"/>
              <a:buFont typeface="Arial"/>
              <a:buChar char="•"/>
            </a:pPr>
            <a:r>
              <a:rPr lang="en-US" sz="1800" dirty="0">
                <a:solidFill>
                  <a:schemeClr val="tx1"/>
                </a:solidFill>
              </a:rPr>
              <a:t>2.3</a:t>
            </a:r>
            <a:r>
              <a:rPr lang="en-US" sz="1800" dirty="0">
                <a:solidFill>
                  <a:schemeClr val="tx1"/>
                </a:solidFill>
                <a:latin typeface="Arial"/>
                <a:ea typeface="Arial"/>
                <a:cs typeface="Arial"/>
                <a:sym typeface="Arial"/>
              </a:rPr>
              <a:t> </a:t>
            </a:r>
            <a:r>
              <a:rPr lang="vi-VN" sz="1800" dirty="0">
                <a:solidFill>
                  <a:schemeClr val="tx1"/>
                </a:solidFill>
                <a:latin typeface="Arial"/>
                <a:ea typeface="Arial"/>
                <a:cs typeface="Arial"/>
                <a:sym typeface="Arial"/>
              </a:rPr>
              <a:t>Các trường hợp sử dụng Publish / Subscribe</a:t>
            </a:r>
            <a:endParaRPr dirty="0">
              <a:solidFill>
                <a:schemeClr val="tx1"/>
              </a:solidFill>
            </a:endParaRPr>
          </a:p>
          <a:p>
            <a:pPr marL="176213" lvl="0" indent="-176213">
              <a:spcBef>
                <a:spcPts val="1000"/>
              </a:spcBef>
              <a:buClr>
                <a:srgbClr val="A6A6A6"/>
              </a:buClr>
              <a:buSzPts val="2160"/>
              <a:buFont typeface="Arial"/>
              <a:buChar char="•"/>
            </a:pPr>
            <a:r>
              <a:rPr lang="en-US" sz="1800" dirty="0">
                <a:solidFill>
                  <a:srgbClr val="A6A6A6"/>
                </a:solidFill>
              </a:rPr>
              <a:t>2</a:t>
            </a:r>
            <a:r>
              <a:rPr lang="en-US" sz="1800" dirty="0">
                <a:solidFill>
                  <a:srgbClr val="A6A6A6"/>
                </a:solidFill>
                <a:latin typeface="Arial"/>
                <a:ea typeface="Arial"/>
                <a:cs typeface="Arial"/>
                <a:sym typeface="Arial"/>
              </a:rPr>
              <a:t>.4. </a:t>
            </a:r>
            <a:r>
              <a:rPr lang="en-US" sz="1800" dirty="0" err="1">
                <a:solidFill>
                  <a:srgbClr val="A6A6A6"/>
                </a:solidFill>
              </a:rPr>
              <a:t>Ưu</a:t>
            </a:r>
            <a:r>
              <a:rPr lang="en-US" sz="1800" dirty="0">
                <a:solidFill>
                  <a:srgbClr val="A6A6A6"/>
                </a:solidFill>
              </a:rPr>
              <a:t> </a:t>
            </a:r>
            <a:r>
              <a:rPr lang="en-US" sz="1800" dirty="0" err="1">
                <a:solidFill>
                  <a:srgbClr val="A6A6A6"/>
                </a:solidFill>
              </a:rPr>
              <a:t>điểm</a:t>
            </a:r>
            <a:r>
              <a:rPr lang="en-US" sz="1800" dirty="0">
                <a:solidFill>
                  <a:srgbClr val="A6A6A6"/>
                </a:solidFill>
              </a:rPr>
              <a:t> </a:t>
            </a:r>
            <a:r>
              <a:rPr lang="en-US" sz="1800" dirty="0" err="1">
                <a:solidFill>
                  <a:srgbClr val="A6A6A6"/>
                </a:solidFill>
              </a:rPr>
              <a:t>của</a:t>
            </a:r>
            <a:r>
              <a:rPr lang="en-US" sz="1800" dirty="0">
                <a:solidFill>
                  <a:srgbClr val="A6A6A6"/>
                </a:solidFill>
              </a:rPr>
              <a:t> </a:t>
            </a:r>
            <a:r>
              <a:rPr lang="en-US" sz="1800" dirty="0" err="1">
                <a:solidFill>
                  <a:srgbClr val="A6A6A6"/>
                </a:solidFill>
              </a:rPr>
              <a:t>việc</a:t>
            </a:r>
            <a:r>
              <a:rPr lang="en-US" sz="1800" dirty="0">
                <a:solidFill>
                  <a:srgbClr val="A6A6A6"/>
                </a:solidFill>
              </a:rPr>
              <a:t> </a:t>
            </a:r>
            <a:r>
              <a:rPr lang="en-US" sz="1800" dirty="0" err="1">
                <a:solidFill>
                  <a:srgbClr val="A6A6A6"/>
                </a:solidFill>
              </a:rPr>
              <a:t>sử</a:t>
            </a:r>
            <a:r>
              <a:rPr lang="en-US" sz="1800" dirty="0">
                <a:solidFill>
                  <a:srgbClr val="A6A6A6"/>
                </a:solidFill>
              </a:rPr>
              <a:t> </a:t>
            </a:r>
            <a:r>
              <a:rPr lang="en-US" sz="1800" dirty="0" err="1">
                <a:solidFill>
                  <a:srgbClr val="A6A6A6"/>
                </a:solidFill>
              </a:rPr>
              <a:t>dụng</a:t>
            </a:r>
            <a:r>
              <a:rPr lang="en-US" sz="1800" dirty="0">
                <a:solidFill>
                  <a:srgbClr val="A6A6A6"/>
                </a:solidFill>
              </a:rPr>
              <a:t> </a:t>
            </a:r>
            <a:r>
              <a:rPr lang="vi-VN" sz="1800" dirty="0">
                <a:solidFill>
                  <a:srgbClr val="A6A6A6"/>
                </a:solidFill>
              </a:rPr>
              <a:t>Publish / Subscribe</a:t>
            </a:r>
            <a:endParaRPr lang="en-US" sz="1800" dirty="0">
              <a:solidFill>
                <a:srgbClr val="A6A6A6"/>
              </a:solidFill>
            </a:endParaRPr>
          </a:p>
          <a:p>
            <a:pPr marL="176213" indent="-176213">
              <a:spcBef>
                <a:spcPts val="1000"/>
              </a:spcBef>
              <a:buClr>
                <a:srgbClr val="A6A6A6"/>
              </a:buClr>
              <a:buSzPts val="2160"/>
              <a:buFont typeface="Arial"/>
              <a:buChar char="•"/>
            </a:pPr>
            <a:r>
              <a:rPr lang="en-US" sz="1800" dirty="0">
                <a:solidFill>
                  <a:srgbClr val="A6A6A6"/>
                </a:solidFill>
              </a:rPr>
              <a:t>2.4. </a:t>
            </a:r>
            <a:r>
              <a:rPr lang="en-US" sz="1800" dirty="0" err="1">
                <a:solidFill>
                  <a:srgbClr val="A6A6A6"/>
                </a:solidFill>
              </a:rPr>
              <a:t>Nhược</a:t>
            </a:r>
            <a:r>
              <a:rPr lang="en-US" sz="1800" dirty="0">
                <a:solidFill>
                  <a:srgbClr val="A6A6A6"/>
                </a:solidFill>
              </a:rPr>
              <a:t> </a:t>
            </a:r>
            <a:r>
              <a:rPr lang="en-US" sz="1800" dirty="0" err="1">
                <a:solidFill>
                  <a:srgbClr val="A6A6A6"/>
                </a:solidFill>
              </a:rPr>
              <a:t>điểm</a:t>
            </a:r>
            <a:r>
              <a:rPr lang="en-US" sz="1800" dirty="0">
                <a:solidFill>
                  <a:srgbClr val="A6A6A6"/>
                </a:solidFill>
              </a:rPr>
              <a:t> </a:t>
            </a:r>
            <a:r>
              <a:rPr lang="en-US" sz="1800" dirty="0" err="1">
                <a:solidFill>
                  <a:srgbClr val="A6A6A6"/>
                </a:solidFill>
              </a:rPr>
              <a:t>của</a:t>
            </a:r>
            <a:r>
              <a:rPr lang="en-US" sz="1800" dirty="0">
                <a:solidFill>
                  <a:srgbClr val="A6A6A6"/>
                </a:solidFill>
              </a:rPr>
              <a:t> </a:t>
            </a:r>
            <a:r>
              <a:rPr lang="en-US" sz="1800" dirty="0" err="1">
                <a:solidFill>
                  <a:srgbClr val="A6A6A6"/>
                </a:solidFill>
              </a:rPr>
              <a:t>việc</a:t>
            </a:r>
            <a:r>
              <a:rPr lang="en-US" sz="1800" dirty="0">
                <a:solidFill>
                  <a:srgbClr val="A6A6A6"/>
                </a:solidFill>
              </a:rPr>
              <a:t> </a:t>
            </a:r>
            <a:r>
              <a:rPr lang="en-US" sz="1800" dirty="0" err="1">
                <a:solidFill>
                  <a:srgbClr val="A6A6A6"/>
                </a:solidFill>
              </a:rPr>
              <a:t>sử</a:t>
            </a:r>
            <a:r>
              <a:rPr lang="en-US" sz="1800" dirty="0">
                <a:solidFill>
                  <a:srgbClr val="A6A6A6"/>
                </a:solidFill>
              </a:rPr>
              <a:t> </a:t>
            </a:r>
            <a:r>
              <a:rPr lang="en-US" sz="1800" dirty="0" err="1">
                <a:solidFill>
                  <a:srgbClr val="A6A6A6"/>
                </a:solidFill>
              </a:rPr>
              <a:t>dụng</a:t>
            </a:r>
            <a:r>
              <a:rPr lang="en-US" sz="1800" dirty="0">
                <a:solidFill>
                  <a:srgbClr val="A6A6A6"/>
                </a:solidFill>
              </a:rPr>
              <a:t> </a:t>
            </a:r>
            <a:r>
              <a:rPr lang="vi-VN" sz="1800" dirty="0">
                <a:solidFill>
                  <a:srgbClr val="A6A6A6"/>
                </a:solidFill>
              </a:rPr>
              <a:t>Publish / Subscribe</a:t>
            </a:r>
            <a:endParaRPr lang="en-US" sz="1800" dirty="0">
              <a:solidFill>
                <a:srgbClr val="A6A6A6"/>
              </a:solidFill>
            </a:endParaRPr>
          </a:p>
          <a:p>
            <a:pPr lvl="0">
              <a:spcBef>
                <a:spcPts val="1000"/>
              </a:spcBef>
              <a:buClr>
                <a:srgbClr val="A6A6A6"/>
              </a:buClr>
              <a:buSzPts val="2160"/>
            </a:pPr>
            <a:endParaRPr lang="en-US" sz="1800" dirty="0">
              <a:solidFill>
                <a:srgbClr val="A6A6A6"/>
              </a:solidFill>
              <a:latin typeface="Arial"/>
              <a:ea typeface="Arial"/>
              <a:cs typeface="Arial"/>
              <a:sym typeface="Arial"/>
            </a:endParaRPr>
          </a:p>
          <a:p>
            <a:pPr marL="176213" marR="0" lvl="0" indent="-176213" algn="l" rtl="0">
              <a:spcBef>
                <a:spcPts val="1000"/>
              </a:spcBef>
              <a:spcAft>
                <a:spcPts val="0"/>
              </a:spcAft>
              <a:buClr>
                <a:srgbClr val="A6A6A6"/>
              </a:buClr>
              <a:buSzPts val="2160"/>
              <a:buFont typeface="Arial"/>
              <a:buChar char="•"/>
            </a:pPr>
            <a:endParaRPr sz="1800"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27405481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360F793A-2A9D-43BE-394A-6B36DCD1ACB5}"/>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BCA50134-DFFD-B839-4380-F762823393FE}"/>
              </a:ext>
            </a:extLst>
          </p:cNvPr>
          <p:cNvSpPr/>
          <p:nvPr/>
        </p:nvSpPr>
        <p:spPr>
          <a:xfrm>
            <a:off x="322884" y="1005259"/>
            <a:ext cx="9106866" cy="3877985"/>
          </a:xfrm>
          <a:prstGeom prst="rect">
            <a:avLst/>
          </a:prstGeom>
          <a:noFill/>
          <a:ln>
            <a:noFill/>
          </a:ln>
        </p:spPr>
        <p:txBody>
          <a:bodyPr spcFirstLastPara="1" wrap="square" lIns="0" tIns="0" rIns="0" bIns="0" anchor="t" anchorCtr="0">
            <a:spAutoFit/>
          </a:bodyPr>
          <a:lstStyle/>
          <a:p>
            <a:pPr marL="285750" indent="-285750">
              <a:lnSpc>
                <a:spcPct val="150000"/>
              </a:lnSpc>
              <a:buFont typeface="Arial" panose="020B0604020202020204" pitchFamily="34" charset="0"/>
              <a:buChar char="•"/>
            </a:pPr>
            <a:r>
              <a:rPr lang="vi-VN" b="1" dirty="0"/>
              <a:t>Thu thập tương tác người dùng và sự kiện máy chủ</a:t>
            </a:r>
            <a:r>
              <a:rPr lang="vi-VN" dirty="0"/>
              <a:t>. Để sử dụng các sự kiện tương tác người dùng từ các ứng dụng cuối hoặc sự kiện máy chủ từ hệ thống của bạn, bạn có thể chuyển tiếp chúng đến Pub/Sub. Sau đó, bạn có thể sử dụng một công cụ xử lý luồng dữ liệu, chẳng hạn như Dataflow, để chuyển các sự kiện đến cơ sở dữ liệu. Ví dụ về các cơ sở dữ liệu như vậy là BigQuery, Bigtable và Cloud Storage. Pub/Sub cho phép bạn thu thập các sự kiện từ nhiều máy khách cùng một lúc.</a:t>
            </a:r>
          </a:p>
          <a:p>
            <a:pPr marL="285750" indent="-285750">
              <a:lnSpc>
                <a:spcPct val="150000"/>
              </a:lnSpc>
              <a:buFont typeface="Arial" panose="020B0604020202020204" pitchFamily="34" charset="0"/>
              <a:buChar char="•"/>
            </a:pPr>
            <a:r>
              <a:rPr lang="vi-VN" b="1" dirty="0"/>
              <a:t>Phân phối sự kiện theo thời gian thực</a:t>
            </a:r>
            <a:r>
              <a:rPr lang="vi-VN" dirty="0"/>
              <a:t>. Các sự kiện, dù thô hay đã được xử lý, có thể được cung cấp cho nhiều ứng dụng trong nhóm và tổ chức của bạn để xử lý theo thời gian thực. Pub/Sub hỗ trợ "bus sự kiện doanh nghiệp" và các mẫu thiết kế ứng dụng hướng sự kiện. Pub/Sub cho phép bạn tích hợp với nhiều hệ thống xuất sự kiện sang Pub/Sub.</a:t>
            </a:r>
          </a:p>
          <a:p>
            <a:pPr marL="285750" indent="-285750">
              <a:lnSpc>
                <a:spcPct val="150000"/>
              </a:lnSpc>
              <a:buFont typeface="Arial" panose="020B0604020202020204" pitchFamily="34" charset="0"/>
              <a:buChar char="•"/>
            </a:pPr>
            <a:r>
              <a:rPr lang="vi-VN" b="1" dirty="0"/>
              <a:t>Sao chép dữ liệu giữa các cơ sở dữ liệu</a:t>
            </a:r>
            <a:r>
              <a:rPr lang="vi-VN" dirty="0"/>
              <a:t>. Mô hình Pub/Sub thường được sử dụng để phân phối các sự kiện thay đổi từ cơ sở dữ liệu. Các sự kiện này có thể được sử dụng để xây dựng một cái nhìn tổng quan về trạng thái và lịch sử trạng thái của cơ sở dữ liệu trong BigQuery và các hệ thống lưu trữ dữ liệu khác.</a:t>
            </a:r>
          </a:p>
        </p:txBody>
      </p:sp>
      <p:sp>
        <p:nvSpPr>
          <p:cNvPr id="2" name="Google Shape;184;p5">
            <a:extLst>
              <a:ext uri="{FF2B5EF4-FFF2-40B4-BE49-F238E27FC236}">
                <a16:creationId xmlns:a16="http://schemas.microsoft.com/office/drawing/2014/main" id="{A117013B-70BF-55F7-55EE-AC5EE8C95CAF}"/>
              </a:ext>
            </a:extLst>
          </p:cNvPr>
          <p:cNvSpPr/>
          <p:nvPr/>
        </p:nvSpPr>
        <p:spPr>
          <a:xfrm>
            <a:off x="322884" y="484187"/>
            <a:ext cx="9453906" cy="369332"/>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2.3. </a:t>
            </a:r>
            <a:r>
              <a:rPr lang="vi-VN" sz="2400" b="1" dirty="0">
                <a:solidFill>
                  <a:srgbClr val="0C0C0C"/>
                </a:solidFill>
              </a:rPr>
              <a:t>Các trường hợp sử dụng</a:t>
            </a:r>
            <a:r>
              <a:rPr lang="en-US" sz="2400" b="1" dirty="0">
                <a:solidFill>
                  <a:srgbClr val="0C0C0C"/>
                </a:solidFill>
              </a:rPr>
              <a:t> </a:t>
            </a:r>
            <a:r>
              <a:rPr lang="en-US" sz="2400" b="1" dirty="0">
                <a:solidFill>
                  <a:srgbClr val="0C0C0C"/>
                </a:solidFill>
                <a:latin typeface="Arial"/>
                <a:ea typeface="Arial"/>
                <a:cs typeface="Arial"/>
                <a:sym typeface="Arial"/>
              </a:rPr>
              <a:t>Publish / Subscribe</a:t>
            </a:r>
            <a:endParaRPr dirty="0"/>
          </a:p>
        </p:txBody>
      </p:sp>
    </p:spTree>
    <p:extLst>
      <p:ext uri="{BB962C8B-B14F-4D97-AF65-F5344CB8AC3E}">
        <p14:creationId xmlns:p14="http://schemas.microsoft.com/office/powerpoint/2010/main" val="41802282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143A9C10-5517-15A9-1F31-708BBF83FFDB}"/>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F29A0F64-8D06-A3A6-36D3-19E5BA8E2DA8}"/>
              </a:ext>
            </a:extLst>
          </p:cNvPr>
          <p:cNvSpPr/>
          <p:nvPr/>
        </p:nvSpPr>
        <p:spPr>
          <a:xfrm>
            <a:off x="322884" y="1005259"/>
            <a:ext cx="9106866" cy="4524315"/>
          </a:xfrm>
          <a:prstGeom prst="rect">
            <a:avLst/>
          </a:prstGeom>
          <a:noFill/>
          <a:ln>
            <a:noFill/>
          </a:ln>
        </p:spPr>
        <p:txBody>
          <a:bodyPr spcFirstLastPara="1" wrap="square" lIns="0" tIns="0" rIns="0" bIns="0" anchor="t" anchorCtr="0">
            <a:spAutoFit/>
          </a:bodyPr>
          <a:lstStyle/>
          <a:p>
            <a:pPr marL="285750" indent="-285750">
              <a:lnSpc>
                <a:spcPct val="150000"/>
              </a:lnSpc>
              <a:buFont typeface="Arial" panose="020B0604020202020204" pitchFamily="34" charset="0"/>
              <a:buChar char="•"/>
            </a:pPr>
            <a:r>
              <a:rPr lang="vi-VN" b="1" dirty="0"/>
              <a:t>Xử lý song song và quy trình công việc</a:t>
            </a:r>
            <a:r>
              <a:rPr lang="vi-VN" dirty="0"/>
              <a:t>. Bạn có thể phân phối hiệu quả nhiều tác vụ cho nhiều tiến trình xử lý bằng cách sử dụng tin nhắn Pub/Sub để giao tiếp với các tiến trình này. Ví dụ về các tác vụ như vậy là nén tệp văn bản, gửi thông báo email, đánh giá mô hình AI và định dạng lại hình ảnh.</a:t>
            </a:r>
          </a:p>
          <a:p>
            <a:pPr marL="285750" indent="-285750">
              <a:lnSpc>
                <a:spcPct val="150000"/>
              </a:lnSpc>
              <a:buFont typeface="Arial" panose="020B0604020202020204" pitchFamily="34" charset="0"/>
              <a:buChar char="•"/>
            </a:pPr>
            <a:r>
              <a:rPr lang="vi-VN" b="1" dirty="0"/>
              <a:t>Hệ thống truyền tải sự kiện doanh nghiệp</a:t>
            </a:r>
            <a:r>
              <a:rPr lang="vi-VN" dirty="0"/>
              <a:t>. Bạn có thể tạo một hệ thống truyền tải dữ liệu thời gian thực trên toàn doanh nghiệp, phân phối các sự kiện kinh doanh, cập nhật cơ sở dữ liệu và sự kiện phân tích trên toàn tổ chức.</a:t>
            </a:r>
          </a:p>
          <a:p>
            <a:pPr marL="285750" indent="-285750">
              <a:lnSpc>
                <a:spcPct val="150000"/>
              </a:lnSpc>
              <a:buFont typeface="Arial" panose="020B0604020202020204" pitchFamily="34" charset="0"/>
              <a:buChar char="•"/>
            </a:pPr>
            <a:r>
              <a:rPr lang="vi-VN" b="1" dirty="0"/>
              <a:t>Truyền dữ liệu từ các ứng dụng, dịch vụ hoặc thiết bị IoT</a:t>
            </a:r>
            <a:r>
              <a:rPr lang="vi-VN" dirty="0"/>
              <a:t>. Ví dụ, một ứng dụng SaaS có thể xuất bản nguồn cấp dữ liệu sự kiện theo thời gian thực. Hoặc, một cảm biến tại nhà có thể truyền dữ liệu đến Pub/Sub để sử dụng trong các sản phẩm Google Cloud khác thông qua một quy trình xử lý dữ liệu.</a:t>
            </a:r>
          </a:p>
          <a:p>
            <a:pPr marL="285750" indent="-285750">
              <a:lnSpc>
                <a:spcPct val="150000"/>
              </a:lnSpc>
              <a:buFont typeface="Arial" panose="020B0604020202020204" pitchFamily="34" charset="0"/>
              <a:buChar char="•"/>
            </a:pPr>
            <a:r>
              <a:rPr lang="vi-VN" b="1" dirty="0"/>
              <a:t>Làm mới bộ nhớ đệm phân tán.</a:t>
            </a:r>
            <a:r>
              <a:rPr lang="vi-VN" dirty="0"/>
              <a:t> Ví dụ, một ứng dụng có thể phát hành các sự kiện vô hiệu hóa để cập nhật ID của các đối tượng đã thay đổi.</a:t>
            </a:r>
          </a:p>
          <a:p>
            <a:pPr marL="285750" indent="-285750">
              <a:lnSpc>
                <a:spcPct val="150000"/>
              </a:lnSpc>
              <a:buFont typeface="Arial" panose="020B0604020202020204" pitchFamily="34" charset="0"/>
              <a:buChar char="•"/>
            </a:pPr>
            <a:r>
              <a:rPr lang="vi-VN" b="1" dirty="0"/>
              <a:t>Cân bằng tải để đảm bảo độ tin cậy</a:t>
            </a:r>
            <a:r>
              <a:rPr lang="vi-VN" dirty="0"/>
              <a:t>. Ví dụ, các phiên bản của một dịch vụ có thể được triển khai trên Compute Engine ở nhiều vùng khác nhau nhưng cùng đăng ký một chủ đề chung. Khi dịch vụ gặp sự cố ở bất kỳ vùng nào, các vùng khác có thể tự động đảm nhận tải.</a:t>
            </a:r>
          </a:p>
        </p:txBody>
      </p:sp>
      <p:sp>
        <p:nvSpPr>
          <p:cNvPr id="2" name="Google Shape;184;p5">
            <a:extLst>
              <a:ext uri="{FF2B5EF4-FFF2-40B4-BE49-F238E27FC236}">
                <a16:creationId xmlns:a16="http://schemas.microsoft.com/office/drawing/2014/main" id="{28AC7463-9E72-2262-748F-18C2ED7AC34E}"/>
              </a:ext>
            </a:extLst>
          </p:cNvPr>
          <p:cNvSpPr/>
          <p:nvPr/>
        </p:nvSpPr>
        <p:spPr>
          <a:xfrm>
            <a:off x="322884" y="484187"/>
            <a:ext cx="9453906" cy="369332"/>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2.3. </a:t>
            </a:r>
            <a:r>
              <a:rPr lang="vi-VN" sz="2400" b="1" dirty="0">
                <a:solidFill>
                  <a:srgbClr val="0C0C0C"/>
                </a:solidFill>
              </a:rPr>
              <a:t>Các trường hợp sử dụng</a:t>
            </a:r>
            <a:r>
              <a:rPr lang="en-US" sz="2400" b="1" dirty="0">
                <a:solidFill>
                  <a:srgbClr val="0C0C0C"/>
                </a:solidFill>
              </a:rPr>
              <a:t> </a:t>
            </a:r>
            <a:r>
              <a:rPr lang="en-US" sz="2400" b="1" dirty="0">
                <a:solidFill>
                  <a:srgbClr val="0C0C0C"/>
                </a:solidFill>
                <a:latin typeface="Arial"/>
                <a:ea typeface="Arial"/>
                <a:cs typeface="Arial"/>
                <a:sym typeface="Arial"/>
              </a:rPr>
              <a:t>Publish / Subscribe</a:t>
            </a:r>
            <a:endParaRPr dirty="0"/>
          </a:p>
        </p:txBody>
      </p:sp>
    </p:spTree>
    <p:extLst>
      <p:ext uri="{BB962C8B-B14F-4D97-AF65-F5344CB8AC3E}">
        <p14:creationId xmlns:p14="http://schemas.microsoft.com/office/powerpoint/2010/main" val="33801209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606D93F2-668B-0F89-E8A1-E7B9AEB499FF}"/>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518630E1-0655-17F8-7C00-82DBC631E9D8}"/>
              </a:ext>
            </a:extLst>
          </p:cNvPr>
          <p:cNvSpPr/>
          <p:nvPr/>
        </p:nvSpPr>
        <p:spPr>
          <a:xfrm>
            <a:off x="322884" y="1005259"/>
            <a:ext cx="9106866" cy="3554819"/>
          </a:xfrm>
          <a:prstGeom prst="rect">
            <a:avLst/>
          </a:prstGeom>
          <a:noFill/>
          <a:ln>
            <a:noFill/>
          </a:ln>
        </p:spPr>
        <p:txBody>
          <a:bodyPr spcFirstLastPara="1" wrap="square" lIns="0" tIns="0" rIns="0" bIns="0" anchor="t" anchorCtr="0">
            <a:spAutoFit/>
          </a:bodyPr>
          <a:lstStyle/>
          <a:p>
            <a:pPr>
              <a:lnSpc>
                <a:spcPct val="150000"/>
              </a:lnSpc>
            </a:pPr>
            <a:r>
              <a:rPr lang="vi-VN" b="1" dirty="0"/>
              <a:t>Khả năng mở rộng</a:t>
            </a:r>
          </a:p>
          <a:p>
            <a:pPr>
              <a:lnSpc>
                <a:spcPct val="150000"/>
              </a:lnSpc>
            </a:pPr>
            <a:r>
              <a:rPr lang="vi-VN" dirty="0"/>
              <a:t>Một trong những ưu điểm lớn nhất của Pub/Sub là khả năng mở rộng hệ thống một cách linh hoạt. Pub/Sub tách biệt các nhà xuất bản khỏi người đăng ký, cho phép họ hoạt động độc lập. Nhờ đó, bạn có thể phát triển và mở rộng từng thành phần mà không cần lo lắng về ảnh hưởng dây chuyền đến các lĩnh vực khác. </a:t>
            </a:r>
          </a:p>
          <a:p>
            <a:pPr>
              <a:lnSpc>
                <a:spcPct val="150000"/>
              </a:lnSpc>
            </a:pPr>
            <a:r>
              <a:rPr lang="vi-VN" dirty="0"/>
              <a:t>Quan trọng hơn hết, tính độc lập này có nghĩa là có thể mở rộng quy mô trực tiếp khi cần thiết mà không làm quá tải bất kỳ thành phần chương trình nào. Hệ thống nhắn tin Pub/Sub có thể mở rộng quy mô trên toàn Internet và có phạm vi toàn cầu bằng cách phân phối tài nguyên.</a:t>
            </a:r>
          </a:p>
          <a:p>
            <a:pPr>
              <a:lnSpc>
                <a:spcPct val="150000"/>
              </a:lnSpc>
            </a:pPr>
            <a:r>
              <a:rPr lang="vi-VN" b="1" dirty="0"/>
              <a:t>Độ trễ thấp</a:t>
            </a:r>
          </a:p>
          <a:p>
            <a:pPr>
              <a:lnSpc>
                <a:spcPct val="150000"/>
              </a:lnSpc>
            </a:pPr>
            <a:r>
              <a:rPr lang="vi-VN" dirty="0"/>
              <a:t>Mô hình nhắn tin Pub/Sub được lập trình sao cho mỗi thành phần có thể giảm thiểu thông tin được chia sẻ. Trong phương pháp Publish/Subscribe, giao tiếp dựa trên sự kiện và sử dụng thông báo. Không cần phải liên tục truy vấn máy chủ để lấy thông tin, giúp giảm độ trễ.</a:t>
            </a:r>
          </a:p>
        </p:txBody>
      </p:sp>
      <p:sp>
        <p:nvSpPr>
          <p:cNvPr id="2" name="Google Shape;184;p5">
            <a:extLst>
              <a:ext uri="{FF2B5EF4-FFF2-40B4-BE49-F238E27FC236}">
                <a16:creationId xmlns:a16="http://schemas.microsoft.com/office/drawing/2014/main" id="{94B33CE9-65C3-4453-F150-C1E10322695B}"/>
              </a:ext>
            </a:extLst>
          </p:cNvPr>
          <p:cNvSpPr/>
          <p:nvPr/>
        </p:nvSpPr>
        <p:spPr>
          <a:xfrm>
            <a:off x="322884" y="484187"/>
            <a:ext cx="9453906" cy="369332"/>
          </a:xfrm>
          <a:prstGeom prst="rect">
            <a:avLst/>
          </a:prstGeom>
          <a:noFill/>
          <a:ln>
            <a:noFill/>
          </a:ln>
        </p:spPr>
        <p:txBody>
          <a:bodyPr spcFirstLastPara="1" wrap="square" lIns="0" tIns="0" rIns="0" bIns="0" anchor="t" anchorCtr="0">
            <a:spAutoFit/>
          </a:bodyPr>
          <a:lstStyle/>
          <a:p>
            <a:r>
              <a:rPr lang="en-US" sz="2400" b="1" dirty="0">
                <a:solidFill>
                  <a:srgbClr val="0C0C0C"/>
                </a:solidFill>
              </a:rPr>
              <a:t>2.4. </a:t>
            </a:r>
            <a:r>
              <a:rPr lang="en-US" sz="2400" b="1" dirty="0" err="1">
                <a:solidFill>
                  <a:srgbClr val="0C0C0C"/>
                </a:solidFill>
              </a:rPr>
              <a:t>Ưu</a:t>
            </a:r>
            <a:r>
              <a:rPr lang="en-US" sz="2400" b="1" dirty="0">
                <a:solidFill>
                  <a:srgbClr val="0C0C0C"/>
                </a:solidFill>
              </a:rPr>
              <a:t> </a:t>
            </a:r>
            <a:r>
              <a:rPr lang="en-US" sz="2400" b="1" dirty="0" err="1">
                <a:solidFill>
                  <a:srgbClr val="0C0C0C"/>
                </a:solidFill>
              </a:rPr>
              <a:t>điểm</a:t>
            </a:r>
            <a:r>
              <a:rPr lang="en-US" sz="2400" b="1" dirty="0">
                <a:solidFill>
                  <a:srgbClr val="0C0C0C"/>
                </a:solidFill>
              </a:rPr>
              <a:t> </a:t>
            </a:r>
            <a:r>
              <a:rPr lang="en-US" sz="2400" b="1" dirty="0" err="1">
                <a:solidFill>
                  <a:srgbClr val="0C0C0C"/>
                </a:solidFill>
              </a:rPr>
              <a:t>của</a:t>
            </a:r>
            <a:r>
              <a:rPr lang="en-US" sz="2400" b="1" dirty="0">
                <a:solidFill>
                  <a:srgbClr val="0C0C0C"/>
                </a:solidFill>
              </a:rPr>
              <a:t> </a:t>
            </a:r>
            <a:r>
              <a:rPr lang="en-US" sz="2400" b="1" dirty="0" err="1">
                <a:solidFill>
                  <a:srgbClr val="0C0C0C"/>
                </a:solidFill>
              </a:rPr>
              <a:t>việc</a:t>
            </a:r>
            <a:r>
              <a:rPr lang="en-US" sz="2400" b="1" dirty="0">
                <a:solidFill>
                  <a:srgbClr val="0C0C0C"/>
                </a:solidFill>
              </a:rPr>
              <a:t> </a:t>
            </a:r>
            <a:r>
              <a:rPr lang="vi-VN" sz="2400" b="1" dirty="0">
                <a:solidFill>
                  <a:srgbClr val="0C0C0C"/>
                </a:solidFill>
              </a:rPr>
              <a:t>sử dụng</a:t>
            </a:r>
            <a:r>
              <a:rPr lang="en-US" sz="2400" b="1" dirty="0">
                <a:solidFill>
                  <a:srgbClr val="0C0C0C"/>
                </a:solidFill>
              </a:rPr>
              <a:t> </a:t>
            </a:r>
            <a:r>
              <a:rPr lang="en-US" sz="2400" b="1" dirty="0">
                <a:solidFill>
                  <a:srgbClr val="0C0C0C"/>
                </a:solidFill>
                <a:latin typeface="Arial"/>
                <a:ea typeface="Arial"/>
                <a:cs typeface="Arial"/>
                <a:sym typeface="Arial"/>
              </a:rPr>
              <a:t>Publish / Subscribe</a:t>
            </a:r>
            <a:endParaRPr dirty="0"/>
          </a:p>
        </p:txBody>
      </p:sp>
    </p:spTree>
    <p:extLst>
      <p:ext uri="{BB962C8B-B14F-4D97-AF65-F5344CB8AC3E}">
        <p14:creationId xmlns:p14="http://schemas.microsoft.com/office/powerpoint/2010/main" val="14682219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67135D2D-0A4A-C1D2-A5F7-79287C19976D}"/>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58762258-60BF-EA30-E689-D7C6CFE565D8}"/>
              </a:ext>
            </a:extLst>
          </p:cNvPr>
          <p:cNvSpPr/>
          <p:nvPr/>
        </p:nvSpPr>
        <p:spPr>
          <a:xfrm>
            <a:off x="809025" y="1275576"/>
            <a:ext cx="8819923" cy="1107996"/>
          </a:xfrm>
          <a:prstGeom prst="rect">
            <a:avLst/>
          </a:prstGeom>
          <a:noFill/>
          <a:ln>
            <a:noFill/>
          </a:ln>
        </p:spPr>
        <p:txBody>
          <a:bodyPr spcFirstLastPara="1" wrap="square" lIns="0" tIns="0" rIns="0" bIns="0" anchor="t" anchorCtr="0">
            <a:spAutoFit/>
          </a:bodyPr>
          <a:lstStyle/>
          <a:p>
            <a:pPr>
              <a:buSzPts val="1300"/>
            </a:pPr>
            <a:r>
              <a:rPr lang="vi-VN" sz="3600" b="1" dirty="0">
                <a:solidFill>
                  <a:schemeClr val="dk1"/>
                </a:solidFill>
              </a:rPr>
              <a:t>Cơ chế gửi dữ liệu Publish và nhận dữ liệu thông qua Subscribe </a:t>
            </a:r>
            <a:endParaRPr lang="en-US" sz="3600" b="1" dirty="0">
              <a:solidFill>
                <a:schemeClr val="dk1"/>
              </a:solidFill>
            </a:endParaRPr>
          </a:p>
        </p:txBody>
      </p:sp>
      <p:sp>
        <p:nvSpPr>
          <p:cNvPr id="177" name="Google Shape;177;p4">
            <a:extLst>
              <a:ext uri="{FF2B5EF4-FFF2-40B4-BE49-F238E27FC236}">
                <a16:creationId xmlns:a16="http://schemas.microsoft.com/office/drawing/2014/main" id="{50B6B224-938E-03BC-445C-733C4E526886}"/>
              </a:ext>
            </a:extLst>
          </p:cNvPr>
          <p:cNvSpPr/>
          <p:nvPr/>
        </p:nvSpPr>
        <p:spPr>
          <a:xfrm>
            <a:off x="809025" y="96779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2.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F51006FE-4EBE-6CD4-1327-D21C3FDFB8CD}"/>
              </a:ext>
            </a:extLst>
          </p:cNvPr>
          <p:cNvSpPr/>
          <p:nvPr/>
        </p:nvSpPr>
        <p:spPr>
          <a:xfrm>
            <a:off x="964899" y="2774594"/>
            <a:ext cx="7973025" cy="2708434"/>
          </a:xfrm>
          <a:prstGeom prst="rect">
            <a:avLst/>
          </a:prstGeom>
          <a:noFill/>
          <a:ln>
            <a:noFill/>
          </a:ln>
        </p:spPr>
        <p:txBody>
          <a:bodyPr spcFirstLastPara="1" wrap="square" lIns="0" tIns="0" rIns="0" bIns="0" anchor="t" anchorCtr="0">
            <a:spAutoFit/>
          </a:bodyPr>
          <a:lstStyle/>
          <a:p>
            <a:pPr marL="176213" marR="0" lvl="0" indent="-176213" algn="l" rtl="0">
              <a:spcBef>
                <a:spcPts val="0"/>
              </a:spcBef>
              <a:spcAft>
                <a:spcPts val="0"/>
              </a:spcAft>
              <a:buClr>
                <a:srgbClr val="3F3F3F"/>
              </a:buClr>
              <a:buSzPts val="2160"/>
              <a:buFont typeface="Arial"/>
              <a:buChar char="•"/>
            </a:pPr>
            <a:r>
              <a:rPr lang="en-US" sz="1800" dirty="0">
                <a:solidFill>
                  <a:schemeClr val="bg1">
                    <a:lumMod val="75000"/>
                  </a:schemeClr>
                </a:solidFill>
              </a:rPr>
              <a:t>2</a:t>
            </a:r>
            <a:r>
              <a:rPr lang="en-US" sz="1800" dirty="0">
                <a:solidFill>
                  <a:schemeClr val="bg1">
                    <a:lumMod val="75000"/>
                  </a:schemeClr>
                </a:solidFill>
                <a:latin typeface="Arial"/>
                <a:ea typeface="Arial"/>
                <a:cs typeface="Arial"/>
                <a:sym typeface="Arial"/>
              </a:rPr>
              <a:t>.1  Publish / Subscribe  </a:t>
            </a:r>
            <a:r>
              <a:rPr lang="en-US" sz="1800" dirty="0" err="1">
                <a:solidFill>
                  <a:schemeClr val="bg1">
                    <a:lumMod val="75000"/>
                  </a:schemeClr>
                </a:solidFill>
                <a:latin typeface="Arial"/>
                <a:ea typeface="Arial"/>
                <a:cs typeface="Arial"/>
                <a:sym typeface="Arial"/>
              </a:rPr>
              <a:t>là</a:t>
            </a:r>
            <a:r>
              <a:rPr lang="en-US" sz="1800" dirty="0">
                <a:solidFill>
                  <a:schemeClr val="bg1">
                    <a:lumMod val="75000"/>
                  </a:schemeClr>
                </a:solidFill>
                <a:latin typeface="Arial"/>
                <a:ea typeface="Arial"/>
                <a:cs typeface="Arial"/>
                <a:sym typeface="Arial"/>
              </a:rPr>
              <a:t> </a:t>
            </a:r>
            <a:r>
              <a:rPr lang="en-US" sz="1800" dirty="0" err="1">
                <a:solidFill>
                  <a:schemeClr val="bg1">
                    <a:lumMod val="75000"/>
                  </a:schemeClr>
                </a:solidFill>
                <a:latin typeface="Arial"/>
                <a:ea typeface="Arial"/>
                <a:cs typeface="Arial"/>
                <a:sym typeface="Arial"/>
              </a:rPr>
              <a:t>gì</a:t>
            </a:r>
            <a:r>
              <a:rPr lang="en-US" sz="1800" dirty="0">
                <a:solidFill>
                  <a:schemeClr val="bg1">
                    <a:lumMod val="75000"/>
                  </a:schemeClr>
                </a:solidFill>
                <a:latin typeface="Arial"/>
                <a:ea typeface="Arial"/>
                <a:cs typeface="Arial"/>
                <a:sym typeface="Arial"/>
              </a:rPr>
              <a:t> ? </a:t>
            </a:r>
            <a:endParaRPr dirty="0">
              <a:solidFill>
                <a:schemeClr val="bg1">
                  <a:lumMod val="75000"/>
                </a:schemeClr>
              </a:solidFill>
            </a:endParaRPr>
          </a:p>
          <a:p>
            <a:pPr marL="176213" lvl="0" indent="-176213">
              <a:spcBef>
                <a:spcPts val="1000"/>
              </a:spcBef>
              <a:buClr>
                <a:srgbClr val="A6A6A6"/>
              </a:buClr>
              <a:buSzPts val="2160"/>
              <a:buFont typeface="Arial"/>
              <a:buChar char="•"/>
            </a:pPr>
            <a:r>
              <a:rPr lang="en-US" sz="1800" dirty="0">
                <a:solidFill>
                  <a:srgbClr val="A6A6A6"/>
                </a:solidFill>
              </a:rPr>
              <a:t>2</a:t>
            </a:r>
            <a:r>
              <a:rPr lang="en-US" sz="1800" dirty="0">
                <a:solidFill>
                  <a:srgbClr val="A6A6A6"/>
                </a:solidFill>
                <a:latin typeface="Arial"/>
                <a:ea typeface="Arial"/>
                <a:cs typeface="Arial"/>
                <a:sym typeface="Arial"/>
              </a:rPr>
              <a:t>.2 </a:t>
            </a:r>
            <a:r>
              <a:rPr lang="vi-VN" sz="1800" dirty="0">
                <a:solidFill>
                  <a:srgbClr val="A6A6A6"/>
                </a:solidFill>
              </a:rPr>
              <a:t>Publish / Subscribe</a:t>
            </a:r>
            <a:r>
              <a:rPr lang="en-US" sz="1800" dirty="0">
                <a:solidFill>
                  <a:srgbClr val="A6A6A6"/>
                </a:solidFill>
              </a:rPr>
              <a:t> </a:t>
            </a:r>
            <a:r>
              <a:rPr lang="en-US" sz="1800" dirty="0" err="1">
                <a:solidFill>
                  <a:srgbClr val="A6A6A6"/>
                </a:solidFill>
              </a:rPr>
              <a:t>hoạt</a:t>
            </a:r>
            <a:r>
              <a:rPr lang="en-US" sz="1800" dirty="0">
                <a:solidFill>
                  <a:srgbClr val="A6A6A6"/>
                </a:solidFill>
              </a:rPr>
              <a:t> </a:t>
            </a:r>
            <a:r>
              <a:rPr lang="en-US" sz="1800" dirty="0" err="1">
                <a:solidFill>
                  <a:srgbClr val="A6A6A6"/>
                </a:solidFill>
              </a:rPr>
              <a:t>động</a:t>
            </a:r>
            <a:r>
              <a:rPr lang="en-US" sz="1800" dirty="0">
                <a:solidFill>
                  <a:srgbClr val="A6A6A6"/>
                </a:solidFill>
              </a:rPr>
              <a:t> </a:t>
            </a:r>
            <a:r>
              <a:rPr lang="en-US" sz="1800" dirty="0" err="1">
                <a:solidFill>
                  <a:srgbClr val="A6A6A6"/>
                </a:solidFill>
              </a:rPr>
              <a:t>như</a:t>
            </a:r>
            <a:r>
              <a:rPr lang="en-US" sz="1800" dirty="0">
                <a:solidFill>
                  <a:srgbClr val="A6A6A6"/>
                </a:solidFill>
              </a:rPr>
              <a:t> </a:t>
            </a:r>
            <a:r>
              <a:rPr lang="en-US" sz="1800" dirty="0" err="1">
                <a:solidFill>
                  <a:srgbClr val="A6A6A6"/>
                </a:solidFill>
              </a:rPr>
              <a:t>thế</a:t>
            </a:r>
            <a:r>
              <a:rPr lang="en-US" sz="1800" dirty="0">
                <a:solidFill>
                  <a:srgbClr val="A6A6A6"/>
                </a:solidFill>
              </a:rPr>
              <a:t> </a:t>
            </a:r>
            <a:r>
              <a:rPr lang="en-US" sz="1800" dirty="0" err="1">
                <a:solidFill>
                  <a:srgbClr val="A6A6A6"/>
                </a:solidFill>
              </a:rPr>
              <a:t>nào</a:t>
            </a:r>
            <a:endParaRPr lang="en-US" sz="1800" dirty="0">
              <a:solidFill>
                <a:srgbClr val="A6A6A6"/>
              </a:solidFill>
              <a:latin typeface="Arial"/>
              <a:ea typeface="Arial"/>
              <a:cs typeface="Arial"/>
              <a:sym typeface="Arial"/>
            </a:endParaRPr>
          </a:p>
          <a:p>
            <a:pPr marL="176213" marR="0" lvl="0" indent="-176213" algn="l" rtl="0">
              <a:spcBef>
                <a:spcPts val="1000"/>
              </a:spcBef>
              <a:spcAft>
                <a:spcPts val="0"/>
              </a:spcAft>
              <a:buClr>
                <a:srgbClr val="A6A6A6"/>
              </a:buClr>
              <a:buSzPts val="2160"/>
              <a:buFont typeface="Arial"/>
              <a:buChar char="•"/>
            </a:pPr>
            <a:r>
              <a:rPr lang="en-US" sz="1800" dirty="0">
                <a:solidFill>
                  <a:srgbClr val="A6A6A6"/>
                </a:solidFill>
              </a:rPr>
              <a:t>2.3</a:t>
            </a:r>
            <a:r>
              <a:rPr lang="en-US" sz="1800" dirty="0">
                <a:solidFill>
                  <a:srgbClr val="A6A6A6"/>
                </a:solidFill>
                <a:latin typeface="Arial"/>
                <a:ea typeface="Arial"/>
                <a:cs typeface="Arial"/>
                <a:sym typeface="Arial"/>
              </a:rPr>
              <a:t> </a:t>
            </a:r>
            <a:r>
              <a:rPr lang="vi-VN" sz="1800" dirty="0">
                <a:solidFill>
                  <a:srgbClr val="A6A6A6"/>
                </a:solidFill>
                <a:latin typeface="Arial"/>
                <a:ea typeface="Arial"/>
                <a:cs typeface="Arial"/>
                <a:sym typeface="Arial"/>
              </a:rPr>
              <a:t>Các trường hợp sử dụng Publish / Subscribe</a:t>
            </a:r>
            <a:endParaRPr dirty="0"/>
          </a:p>
          <a:p>
            <a:pPr marL="176213" lvl="0" indent="-176213">
              <a:spcBef>
                <a:spcPts val="1000"/>
              </a:spcBef>
              <a:buClr>
                <a:srgbClr val="A6A6A6"/>
              </a:buClr>
              <a:buSzPts val="2160"/>
              <a:buFont typeface="Arial"/>
              <a:buChar char="•"/>
            </a:pPr>
            <a:r>
              <a:rPr lang="en-US" sz="1800" dirty="0">
                <a:solidFill>
                  <a:schemeClr val="tx1"/>
                </a:solidFill>
              </a:rPr>
              <a:t>2</a:t>
            </a:r>
            <a:r>
              <a:rPr lang="en-US" sz="1800" dirty="0">
                <a:solidFill>
                  <a:schemeClr val="tx1"/>
                </a:solidFill>
                <a:latin typeface="Arial"/>
                <a:ea typeface="Arial"/>
                <a:cs typeface="Arial"/>
                <a:sym typeface="Arial"/>
              </a:rPr>
              <a:t>.4. </a:t>
            </a:r>
            <a:r>
              <a:rPr lang="en-US" sz="1800" dirty="0" err="1">
                <a:solidFill>
                  <a:schemeClr val="tx1"/>
                </a:solidFill>
              </a:rPr>
              <a:t>Ưu</a:t>
            </a:r>
            <a:r>
              <a:rPr lang="en-US" sz="1800" dirty="0">
                <a:solidFill>
                  <a:schemeClr val="tx1"/>
                </a:solidFill>
              </a:rPr>
              <a:t> </a:t>
            </a:r>
            <a:r>
              <a:rPr lang="en-US" sz="1800" dirty="0" err="1">
                <a:solidFill>
                  <a:schemeClr val="tx1"/>
                </a:solidFill>
              </a:rPr>
              <a:t>điểm</a:t>
            </a:r>
            <a:r>
              <a:rPr lang="en-US" sz="1800" dirty="0">
                <a:solidFill>
                  <a:schemeClr val="tx1"/>
                </a:solidFill>
              </a:rPr>
              <a:t> </a:t>
            </a:r>
            <a:r>
              <a:rPr lang="en-US" sz="1800" dirty="0" err="1">
                <a:solidFill>
                  <a:schemeClr val="tx1"/>
                </a:solidFill>
              </a:rPr>
              <a:t>của</a:t>
            </a:r>
            <a:r>
              <a:rPr lang="en-US" sz="1800" dirty="0">
                <a:solidFill>
                  <a:schemeClr val="tx1"/>
                </a:solidFill>
              </a:rPr>
              <a:t> </a:t>
            </a:r>
            <a:r>
              <a:rPr lang="en-US" sz="1800" dirty="0" err="1">
                <a:solidFill>
                  <a:schemeClr val="tx1"/>
                </a:solidFill>
              </a:rPr>
              <a:t>việc</a:t>
            </a:r>
            <a:r>
              <a:rPr lang="en-US" sz="1800" dirty="0">
                <a:solidFill>
                  <a:schemeClr val="tx1"/>
                </a:solidFill>
              </a:rPr>
              <a:t> </a:t>
            </a:r>
            <a:r>
              <a:rPr lang="en-US" sz="1800" dirty="0" err="1">
                <a:solidFill>
                  <a:schemeClr val="tx1"/>
                </a:solidFill>
              </a:rPr>
              <a:t>sử</a:t>
            </a:r>
            <a:r>
              <a:rPr lang="en-US" sz="1800" dirty="0">
                <a:solidFill>
                  <a:schemeClr val="tx1"/>
                </a:solidFill>
              </a:rPr>
              <a:t> </a:t>
            </a:r>
            <a:r>
              <a:rPr lang="en-US" sz="1800" dirty="0" err="1">
                <a:solidFill>
                  <a:schemeClr val="tx1"/>
                </a:solidFill>
              </a:rPr>
              <a:t>dụng</a:t>
            </a:r>
            <a:r>
              <a:rPr lang="en-US" sz="1800" dirty="0">
                <a:solidFill>
                  <a:schemeClr val="tx1"/>
                </a:solidFill>
              </a:rPr>
              <a:t> </a:t>
            </a:r>
            <a:r>
              <a:rPr lang="vi-VN" sz="1800" dirty="0">
                <a:solidFill>
                  <a:schemeClr val="tx1"/>
                </a:solidFill>
              </a:rPr>
              <a:t>Publish / Subscribe</a:t>
            </a:r>
            <a:endParaRPr lang="en-US" sz="1800" dirty="0">
              <a:solidFill>
                <a:schemeClr val="tx1"/>
              </a:solidFill>
            </a:endParaRPr>
          </a:p>
          <a:p>
            <a:pPr marL="176213" indent="-176213">
              <a:spcBef>
                <a:spcPts val="1000"/>
              </a:spcBef>
              <a:buClr>
                <a:srgbClr val="A6A6A6"/>
              </a:buClr>
              <a:buSzPts val="2160"/>
              <a:buFont typeface="Arial"/>
              <a:buChar char="•"/>
            </a:pPr>
            <a:r>
              <a:rPr lang="en-US" sz="1800" dirty="0">
                <a:solidFill>
                  <a:srgbClr val="A6A6A6"/>
                </a:solidFill>
              </a:rPr>
              <a:t>2.4. </a:t>
            </a:r>
            <a:r>
              <a:rPr lang="en-US" sz="1800" dirty="0" err="1">
                <a:solidFill>
                  <a:srgbClr val="A6A6A6"/>
                </a:solidFill>
              </a:rPr>
              <a:t>Nhược</a:t>
            </a:r>
            <a:r>
              <a:rPr lang="en-US" sz="1800" dirty="0">
                <a:solidFill>
                  <a:srgbClr val="A6A6A6"/>
                </a:solidFill>
              </a:rPr>
              <a:t> </a:t>
            </a:r>
            <a:r>
              <a:rPr lang="en-US" sz="1800" dirty="0" err="1">
                <a:solidFill>
                  <a:srgbClr val="A6A6A6"/>
                </a:solidFill>
              </a:rPr>
              <a:t>điểm</a:t>
            </a:r>
            <a:r>
              <a:rPr lang="en-US" sz="1800" dirty="0">
                <a:solidFill>
                  <a:srgbClr val="A6A6A6"/>
                </a:solidFill>
              </a:rPr>
              <a:t> </a:t>
            </a:r>
            <a:r>
              <a:rPr lang="en-US" sz="1800" dirty="0" err="1">
                <a:solidFill>
                  <a:srgbClr val="A6A6A6"/>
                </a:solidFill>
              </a:rPr>
              <a:t>của</a:t>
            </a:r>
            <a:r>
              <a:rPr lang="en-US" sz="1800" dirty="0">
                <a:solidFill>
                  <a:srgbClr val="A6A6A6"/>
                </a:solidFill>
              </a:rPr>
              <a:t> </a:t>
            </a:r>
            <a:r>
              <a:rPr lang="en-US" sz="1800" dirty="0" err="1">
                <a:solidFill>
                  <a:srgbClr val="A6A6A6"/>
                </a:solidFill>
              </a:rPr>
              <a:t>việc</a:t>
            </a:r>
            <a:r>
              <a:rPr lang="en-US" sz="1800" dirty="0">
                <a:solidFill>
                  <a:srgbClr val="A6A6A6"/>
                </a:solidFill>
              </a:rPr>
              <a:t> </a:t>
            </a:r>
            <a:r>
              <a:rPr lang="en-US" sz="1800" dirty="0" err="1">
                <a:solidFill>
                  <a:srgbClr val="A6A6A6"/>
                </a:solidFill>
              </a:rPr>
              <a:t>sử</a:t>
            </a:r>
            <a:r>
              <a:rPr lang="en-US" sz="1800" dirty="0">
                <a:solidFill>
                  <a:srgbClr val="A6A6A6"/>
                </a:solidFill>
              </a:rPr>
              <a:t> </a:t>
            </a:r>
            <a:r>
              <a:rPr lang="en-US" sz="1800" dirty="0" err="1">
                <a:solidFill>
                  <a:srgbClr val="A6A6A6"/>
                </a:solidFill>
              </a:rPr>
              <a:t>dụng</a:t>
            </a:r>
            <a:r>
              <a:rPr lang="en-US" sz="1800" dirty="0">
                <a:solidFill>
                  <a:srgbClr val="A6A6A6"/>
                </a:solidFill>
              </a:rPr>
              <a:t> </a:t>
            </a:r>
            <a:r>
              <a:rPr lang="vi-VN" sz="1800" dirty="0">
                <a:solidFill>
                  <a:srgbClr val="A6A6A6"/>
                </a:solidFill>
              </a:rPr>
              <a:t>Publish / Subscribe</a:t>
            </a:r>
            <a:endParaRPr lang="en-US" sz="1800" dirty="0">
              <a:solidFill>
                <a:srgbClr val="A6A6A6"/>
              </a:solidFill>
            </a:endParaRPr>
          </a:p>
          <a:p>
            <a:pPr lvl="0">
              <a:spcBef>
                <a:spcPts val="1000"/>
              </a:spcBef>
              <a:buClr>
                <a:srgbClr val="A6A6A6"/>
              </a:buClr>
              <a:buSzPts val="2160"/>
            </a:pPr>
            <a:endParaRPr lang="en-US" sz="1800" dirty="0">
              <a:solidFill>
                <a:srgbClr val="A6A6A6"/>
              </a:solidFill>
              <a:latin typeface="Arial"/>
              <a:ea typeface="Arial"/>
              <a:cs typeface="Arial"/>
              <a:sym typeface="Arial"/>
            </a:endParaRPr>
          </a:p>
          <a:p>
            <a:pPr marL="176213" marR="0" lvl="0" indent="-176213" algn="l" rtl="0">
              <a:spcBef>
                <a:spcPts val="1000"/>
              </a:spcBef>
              <a:spcAft>
                <a:spcPts val="0"/>
              </a:spcAft>
              <a:buClr>
                <a:srgbClr val="A6A6A6"/>
              </a:buClr>
              <a:buSzPts val="2160"/>
              <a:buFont typeface="Arial"/>
              <a:buChar char="•"/>
            </a:pPr>
            <a:endParaRPr sz="1800"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35037518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6F2D084E-CAFC-FC3B-B592-F2E3C7EFAB19}"/>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64D004DB-49F2-970D-2CC6-1C66B41A8521}"/>
              </a:ext>
            </a:extLst>
          </p:cNvPr>
          <p:cNvSpPr/>
          <p:nvPr/>
        </p:nvSpPr>
        <p:spPr>
          <a:xfrm>
            <a:off x="322884" y="1005259"/>
            <a:ext cx="9106866" cy="4524315"/>
          </a:xfrm>
          <a:prstGeom prst="rect">
            <a:avLst/>
          </a:prstGeom>
          <a:noFill/>
          <a:ln>
            <a:noFill/>
          </a:ln>
        </p:spPr>
        <p:txBody>
          <a:bodyPr spcFirstLastPara="1" wrap="square" lIns="0" tIns="0" rIns="0" bIns="0" anchor="t" anchorCtr="0">
            <a:spAutoFit/>
          </a:bodyPr>
          <a:lstStyle/>
          <a:p>
            <a:pPr>
              <a:lnSpc>
                <a:spcPct val="150000"/>
              </a:lnSpc>
            </a:pPr>
            <a:r>
              <a:rPr lang="vi-VN" b="1" dirty="0"/>
              <a:t>Sự liên kết lỏng lẻo của các hệ thống</a:t>
            </a:r>
          </a:p>
          <a:p>
            <a:pPr>
              <a:lnSpc>
                <a:spcPct val="150000"/>
              </a:lnSpc>
            </a:pPr>
            <a:r>
              <a:rPr lang="vi-VN" dirty="0"/>
              <a:t>Vì các nhà xuất bản và người đăng ký được tách biệt, nên không cần sự phụ thuộc giữa các dịch vụ để vận chuyển và phân phối dữ liệu. Ví dụ, trong mô hình kết nối truyền thống, như mối quan hệ máy khách-máy chủ, máy khách cần máy chủ phải hoạt động để gửi tin nhắn đến máy chủ. Với mô hình Pub/Sub, các nhà xuất bản và người đăng ký riêng biệt không cần quan tâm đến trạng thái của các hệ thống khác, điều này giúp tăng tính nhất quán trong việc phân phối dữ liệu.</a:t>
            </a:r>
          </a:p>
          <a:p>
            <a:pPr>
              <a:lnSpc>
                <a:spcPct val="150000"/>
              </a:lnSpc>
            </a:pPr>
            <a:r>
              <a:rPr lang="vi-VN" b="1" dirty="0"/>
              <a:t>Quy trình làm việc cân bằng</a:t>
            </a:r>
          </a:p>
          <a:p>
            <a:pPr>
              <a:lnSpc>
                <a:spcPct val="150000"/>
              </a:lnSpc>
            </a:pPr>
            <a:r>
              <a:rPr lang="vi-VN" dirty="0"/>
              <a:t>Pub/Sub rất hữu ích trong việc quản lý quy trình làm việc. Ví dụ, nó cực kỳ hiệu quả trong việc di chuyển dữ liệu giữa các cơ sở dữ liệu và trong bộ nhớ lưu trữ. Một hàng đợi lớn các tác vụ có thể dễ dàng được phân phối giữa nhiều thiết bị để đạt được khối lượng công việc cân bằng nhất.</a:t>
            </a:r>
          </a:p>
          <a:p>
            <a:pPr>
              <a:lnSpc>
                <a:spcPct val="150000"/>
              </a:lnSpc>
            </a:pPr>
            <a:r>
              <a:rPr lang="vi-VN" b="1" dirty="0"/>
              <a:t>Cảnh báo và thông báo hệ thống</a:t>
            </a:r>
          </a:p>
          <a:p>
            <a:pPr>
              <a:lnSpc>
                <a:spcPct val="150000"/>
              </a:lnSpc>
            </a:pPr>
            <a:r>
              <a:rPr lang="vi-VN" dirty="0"/>
              <a:t>Mô hình Pub/Sub đơn giản hóa việc giao tiếp và cho phép các thiết bị gửi thông báo theo thời gian thực . Điều này cho phép truyền tải tức thì các bản cập nhật và cảnh báo quan trọng đến máy chủ và bất kỳ máy khách nào ở phía người dùng. </a:t>
            </a:r>
          </a:p>
        </p:txBody>
      </p:sp>
      <p:sp>
        <p:nvSpPr>
          <p:cNvPr id="2" name="Google Shape;184;p5">
            <a:extLst>
              <a:ext uri="{FF2B5EF4-FFF2-40B4-BE49-F238E27FC236}">
                <a16:creationId xmlns:a16="http://schemas.microsoft.com/office/drawing/2014/main" id="{9E7CC36B-40FF-45AC-DD49-4379CBC5D99C}"/>
              </a:ext>
            </a:extLst>
          </p:cNvPr>
          <p:cNvSpPr/>
          <p:nvPr/>
        </p:nvSpPr>
        <p:spPr>
          <a:xfrm>
            <a:off x="322884" y="484187"/>
            <a:ext cx="9453906" cy="369332"/>
          </a:xfrm>
          <a:prstGeom prst="rect">
            <a:avLst/>
          </a:prstGeom>
          <a:noFill/>
          <a:ln>
            <a:noFill/>
          </a:ln>
        </p:spPr>
        <p:txBody>
          <a:bodyPr spcFirstLastPara="1" wrap="square" lIns="0" tIns="0" rIns="0" bIns="0" anchor="t" anchorCtr="0">
            <a:spAutoFit/>
          </a:bodyPr>
          <a:lstStyle/>
          <a:p>
            <a:r>
              <a:rPr lang="en-US" sz="2400" b="1" dirty="0">
                <a:solidFill>
                  <a:srgbClr val="0C0C0C"/>
                </a:solidFill>
              </a:rPr>
              <a:t>2.4. </a:t>
            </a:r>
            <a:r>
              <a:rPr lang="en-US" sz="2400" b="1" dirty="0" err="1">
                <a:solidFill>
                  <a:srgbClr val="0C0C0C"/>
                </a:solidFill>
              </a:rPr>
              <a:t>Ưu</a:t>
            </a:r>
            <a:r>
              <a:rPr lang="en-US" sz="2400" b="1" dirty="0">
                <a:solidFill>
                  <a:srgbClr val="0C0C0C"/>
                </a:solidFill>
              </a:rPr>
              <a:t> </a:t>
            </a:r>
            <a:r>
              <a:rPr lang="en-US" sz="2400" b="1" dirty="0" err="1">
                <a:solidFill>
                  <a:srgbClr val="0C0C0C"/>
                </a:solidFill>
              </a:rPr>
              <a:t>điểm</a:t>
            </a:r>
            <a:r>
              <a:rPr lang="en-US" sz="2400" b="1" dirty="0">
                <a:solidFill>
                  <a:srgbClr val="0C0C0C"/>
                </a:solidFill>
              </a:rPr>
              <a:t> </a:t>
            </a:r>
            <a:r>
              <a:rPr lang="en-US" sz="2400" b="1" dirty="0" err="1">
                <a:solidFill>
                  <a:srgbClr val="0C0C0C"/>
                </a:solidFill>
              </a:rPr>
              <a:t>của</a:t>
            </a:r>
            <a:r>
              <a:rPr lang="en-US" sz="2400" b="1" dirty="0">
                <a:solidFill>
                  <a:srgbClr val="0C0C0C"/>
                </a:solidFill>
              </a:rPr>
              <a:t> </a:t>
            </a:r>
            <a:r>
              <a:rPr lang="en-US" sz="2400" b="1" dirty="0" err="1">
                <a:solidFill>
                  <a:srgbClr val="0C0C0C"/>
                </a:solidFill>
              </a:rPr>
              <a:t>việc</a:t>
            </a:r>
            <a:r>
              <a:rPr lang="en-US" sz="2400" b="1" dirty="0">
                <a:solidFill>
                  <a:srgbClr val="0C0C0C"/>
                </a:solidFill>
              </a:rPr>
              <a:t> </a:t>
            </a:r>
            <a:r>
              <a:rPr lang="vi-VN" sz="2400" b="1" dirty="0">
                <a:solidFill>
                  <a:srgbClr val="0C0C0C"/>
                </a:solidFill>
              </a:rPr>
              <a:t>sử dụng</a:t>
            </a:r>
            <a:r>
              <a:rPr lang="en-US" sz="2400" b="1" dirty="0">
                <a:solidFill>
                  <a:srgbClr val="0C0C0C"/>
                </a:solidFill>
              </a:rPr>
              <a:t> </a:t>
            </a:r>
            <a:r>
              <a:rPr lang="en-US" sz="2400" b="1" dirty="0">
                <a:solidFill>
                  <a:srgbClr val="0C0C0C"/>
                </a:solidFill>
                <a:latin typeface="Arial"/>
                <a:ea typeface="Arial"/>
                <a:cs typeface="Arial"/>
                <a:sym typeface="Arial"/>
              </a:rPr>
              <a:t>Publish / Subscribe</a:t>
            </a:r>
            <a:endParaRPr dirty="0"/>
          </a:p>
        </p:txBody>
      </p:sp>
    </p:spTree>
    <p:extLst>
      <p:ext uri="{BB962C8B-B14F-4D97-AF65-F5344CB8AC3E}">
        <p14:creationId xmlns:p14="http://schemas.microsoft.com/office/powerpoint/2010/main" val="10777970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9F519546-3A15-A9D8-E0B6-FE93752AFE0E}"/>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87143E66-F49C-C50F-3B2A-6A4ABB3AE0A9}"/>
              </a:ext>
            </a:extLst>
          </p:cNvPr>
          <p:cNvSpPr/>
          <p:nvPr/>
        </p:nvSpPr>
        <p:spPr>
          <a:xfrm>
            <a:off x="809025" y="1275576"/>
            <a:ext cx="8819923" cy="1107996"/>
          </a:xfrm>
          <a:prstGeom prst="rect">
            <a:avLst/>
          </a:prstGeom>
          <a:noFill/>
          <a:ln>
            <a:noFill/>
          </a:ln>
        </p:spPr>
        <p:txBody>
          <a:bodyPr spcFirstLastPara="1" wrap="square" lIns="0" tIns="0" rIns="0" bIns="0" anchor="t" anchorCtr="0">
            <a:spAutoFit/>
          </a:bodyPr>
          <a:lstStyle/>
          <a:p>
            <a:pPr>
              <a:buSzPts val="1300"/>
            </a:pPr>
            <a:r>
              <a:rPr lang="vi-VN" sz="3600" b="1" dirty="0">
                <a:solidFill>
                  <a:schemeClr val="dk1"/>
                </a:solidFill>
              </a:rPr>
              <a:t>Cơ chế gửi dữ liệu Publish và nhận dữ liệu thông qua Subscribe </a:t>
            </a:r>
            <a:endParaRPr lang="en-US" sz="3600" b="1" dirty="0">
              <a:solidFill>
                <a:schemeClr val="dk1"/>
              </a:solidFill>
            </a:endParaRPr>
          </a:p>
        </p:txBody>
      </p:sp>
      <p:sp>
        <p:nvSpPr>
          <p:cNvPr id="177" name="Google Shape;177;p4">
            <a:extLst>
              <a:ext uri="{FF2B5EF4-FFF2-40B4-BE49-F238E27FC236}">
                <a16:creationId xmlns:a16="http://schemas.microsoft.com/office/drawing/2014/main" id="{A126EB1F-E13C-27D5-0600-7C614FCBCA64}"/>
              </a:ext>
            </a:extLst>
          </p:cNvPr>
          <p:cNvSpPr/>
          <p:nvPr/>
        </p:nvSpPr>
        <p:spPr>
          <a:xfrm>
            <a:off x="809025" y="96779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2.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6FD3E7C6-7026-9862-DE04-B197CF09F085}"/>
              </a:ext>
            </a:extLst>
          </p:cNvPr>
          <p:cNvSpPr/>
          <p:nvPr/>
        </p:nvSpPr>
        <p:spPr>
          <a:xfrm>
            <a:off x="964899" y="2774594"/>
            <a:ext cx="7973025" cy="2708434"/>
          </a:xfrm>
          <a:prstGeom prst="rect">
            <a:avLst/>
          </a:prstGeom>
          <a:noFill/>
          <a:ln>
            <a:noFill/>
          </a:ln>
        </p:spPr>
        <p:txBody>
          <a:bodyPr spcFirstLastPara="1" wrap="square" lIns="0" tIns="0" rIns="0" bIns="0" anchor="t" anchorCtr="0">
            <a:spAutoFit/>
          </a:bodyPr>
          <a:lstStyle/>
          <a:p>
            <a:pPr marL="176213" marR="0" lvl="0" indent="-176213" algn="l" rtl="0">
              <a:spcBef>
                <a:spcPts val="0"/>
              </a:spcBef>
              <a:spcAft>
                <a:spcPts val="0"/>
              </a:spcAft>
              <a:buClr>
                <a:srgbClr val="3F3F3F"/>
              </a:buClr>
              <a:buSzPts val="2160"/>
              <a:buFont typeface="Arial"/>
              <a:buChar char="•"/>
            </a:pPr>
            <a:r>
              <a:rPr lang="en-US" sz="1800" dirty="0">
                <a:solidFill>
                  <a:schemeClr val="bg1">
                    <a:lumMod val="65000"/>
                  </a:schemeClr>
                </a:solidFill>
              </a:rPr>
              <a:t>2</a:t>
            </a:r>
            <a:r>
              <a:rPr lang="en-US" sz="1800" dirty="0">
                <a:solidFill>
                  <a:schemeClr val="bg1">
                    <a:lumMod val="65000"/>
                  </a:schemeClr>
                </a:solidFill>
                <a:latin typeface="Arial"/>
                <a:ea typeface="Arial"/>
                <a:cs typeface="Arial"/>
                <a:sym typeface="Arial"/>
              </a:rPr>
              <a:t>.1  Publish / Subscribe  </a:t>
            </a:r>
            <a:r>
              <a:rPr lang="en-US" sz="1800" dirty="0" err="1">
                <a:solidFill>
                  <a:schemeClr val="bg1">
                    <a:lumMod val="65000"/>
                  </a:schemeClr>
                </a:solidFill>
                <a:latin typeface="Arial"/>
                <a:ea typeface="Arial"/>
                <a:cs typeface="Arial"/>
                <a:sym typeface="Arial"/>
              </a:rPr>
              <a:t>là</a:t>
            </a:r>
            <a:r>
              <a:rPr lang="en-US" sz="1800" dirty="0">
                <a:solidFill>
                  <a:schemeClr val="bg1">
                    <a:lumMod val="65000"/>
                  </a:schemeClr>
                </a:solidFill>
                <a:latin typeface="Arial"/>
                <a:ea typeface="Arial"/>
                <a:cs typeface="Arial"/>
                <a:sym typeface="Arial"/>
              </a:rPr>
              <a:t> </a:t>
            </a:r>
            <a:r>
              <a:rPr lang="en-US" sz="1800" dirty="0" err="1">
                <a:solidFill>
                  <a:schemeClr val="bg1">
                    <a:lumMod val="65000"/>
                  </a:schemeClr>
                </a:solidFill>
                <a:latin typeface="Arial"/>
                <a:ea typeface="Arial"/>
                <a:cs typeface="Arial"/>
                <a:sym typeface="Arial"/>
              </a:rPr>
              <a:t>gì</a:t>
            </a:r>
            <a:r>
              <a:rPr lang="en-US" sz="1800" dirty="0">
                <a:solidFill>
                  <a:schemeClr val="bg1">
                    <a:lumMod val="65000"/>
                  </a:schemeClr>
                </a:solidFill>
                <a:latin typeface="Arial"/>
                <a:ea typeface="Arial"/>
                <a:cs typeface="Arial"/>
                <a:sym typeface="Arial"/>
              </a:rPr>
              <a:t> ? </a:t>
            </a:r>
            <a:endParaRPr dirty="0">
              <a:solidFill>
                <a:schemeClr val="bg1">
                  <a:lumMod val="65000"/>
                </a:schemeClr>
              </a:solidFill>
            </a:endParaRPr>
          </a:p>
          <a:p>
            <a:pPr marL="176213" lvl="0" indent="-176213">
              <a:spcBef>
                <a:spcPts val="1000"/>
              </a:spcBef>
              <a:buClr>
                <a:srgbClr val="A6A6A6"/>
              </a:buClr>
              <a:buSzPts val="2160"/>
              <a:buFont typeface="Arial"/>
              <a:buChar char="•"/>
            </a:pPr>
            <a:r>
              <a:rPr lang="en-US" sz="1800" dirty="0">
                <a:solidFill>
                  <a:srgbClr val="A6A6A6"/>
                </a:solidFill>
              </a:rPr>
              <a:t>2</a:t>
            </a:r>
            <a:r>
              <a:rPr lang="en-US" sz="1800" dirty="0">
                <a:solidFill>
                  <a:srgbClr val="A6A6A6"/>
                </a:solidFill>
                <a:latin typeface="Arial"/>
                <a:ea typeface="Arial"/>
                <a:cs typeface="Arial"/>
                <a:sym typeface="Arial"/>
              </a:rPr>
              <a:t>.2 </a:t>
            </a:r>
            <a:r>
              <a:rPr lang="vi-VN" sz="1800" dirty="0">
                <a:solidFill>
                  <a:srgbClr val="A6A6A6"/>
                </a:solidFill>
              </a:rPr>
              <a:t>Publish / Subscribe</a:t>
            </a:r>
            <a:r>
              <a:rPr lang="en-US" sz="1800" dirty="0">
                <a:solidFill>
                  <a:srgbClr val="A6A6A6"/>
                </a:solidFill>
              </a:rPr>
              <a:t> </a:t>
            </a:r>
            <a:r>
              <a:rPr lang="en-US" sz="1800" dirty="0" err="1">
                <a:solidFill>
                  <a:srgbClr val="A6A6A6"/>
                </a:solidFill>
              </a:rPr>
              <a:t>hoạt</a:t>
            </a:r>
            <a:r>
              <a:rPr lang="en-US" sz="1800" dirty="0">
                <a:solidFill>
                  <a:srgbClr val="A6A6A6"/>
                </a:solidFill>
              </a:rPr>
              <a:t> </a:t>
            </a:r>
            <a:r>
              <a:rPr lang="en-US" sz="1800" dirty="0" err="1">
                <a:solidFill>
                  <a:srgbClr val="A6A6A6"/>
                </a:solidFill>
              </a:rPr>
              <a:t>động</a:t>
            </a:r>
            <a:r>
              <a:rPr lang="en-US" sz="1800" dirty="0">
                <a:solidFill>
                  <a:srgbClr val="A6A6A6"/>
                </a:solidFill>
              </a:rPr>
              <a:t> </a:t>
            </a:r>
            <a:r>
              <a:rPr lang="en-US" sz="1800" dirty="0" err="1">
                <a:solidFill>
                  <a:srgbClr val="A6A6A6"/>
                </a:solidFill>
              </a:rPr>
              <a:t>như</a:t>
            </a:r>
            <a:r>
              <a:rPr lang="en-US" sz="1800" dirty="0">
                <a:solidFill>
                  <a:srgbClr val="A6A6A6"/>
                </a:solidFill>
              </a:rPr>
              <a:t> </a:t>
            </a:r>
            <a:r>
              <a:rPr lang="en-US" sz="1800" dirty="0" err="1">
                <a:solidFill>
                  <a:srgbClr val="A6A6A6"/>
                </a:solidFill>
              </a:rPr>
              <a:t>thế</a:t>
            </a:r>
            <a:r>
              <a:rPr lang="en-US" sz="1800" dirty="0">
                <a:solidFill>
                  <a:srgbClr val="A6A6A6"/>
                </a:solidFill>
              </a:rPr>
              <a:t> </a:t>
            </a:r>
            <a:r>
              <a:rPr lang="en-US" sz="1800" dirty="0" err="1">
                <a:solidFill>
                  <a:srgbClr val="A6A6A6"/>
                </a:solidFill>
              </a:rPr>
              <a:t>nào</a:t>
            </a:r>
            <a:endParaRPr lang="en-US" sz="1800" dirty="0">
              <a:solidFill>
                <a:srgbClr val="A6A6A6"/>
              </a:solidFill>
              <a:latin typeface="Arial"/>
              <a:ea typeface="Arial"/>
              <a:cs typeface="Arial"/>
              <a:sym typeface="Arial"/>
            </a:endParaRPr>
          </a:p>
          <a:p>
            <a:pPr marL="176213" marR="0" lvl="0" indent="-176213" algn="l" rtl="0">
              <a:spcBef>
                <a:spcPts val="1000"/>
              </a:spcBef>
              <a:spcAft>
                <a:spcPts val="0"/>
              </a:spcAft>
              <a:buClr>
                <a:srgbClr val="A6A6A6"/>
              </a:buClr>
              <a:buSzPts val="2160"/>
              <a:buFont typeface="Arial"/>
              <a:buChar char="•"/>
            </a:pPr>
            <a:r>
              <a:rPr lang="en-US" sz="1800" dirty="0">
                <a:solidFill>
                  <a:srgbClr val="A6A6A6"/>
                </a:solidFill>
              </a:rPr>
              <a:t>2.3</a:t>
            </a:r>
            <a:r>
              <a:rPr lang="en-US" sz="1800" dirty="0">
                <a:solidFill>
                  <a:srgbClr val="A6A6A6"/>
                </a:solidFill>
                <a:latin typeface="Arial"/>
                <a:ea typeface="Arial"/>
                <a:cs typeface="Arial"/>
                <a:sym typeface="Arial"/>
              </a:rPr>
              <a:t> </a:t>
            </a:r>
            <a:r>
              <a:rPr lang="vi-VN" sz="1800" dirty="0">
                <a:solidFill>
                  <a:srgbClr val="A6A6A6"/>
                </a:solidFill>
                <a:latin typeface="Arial"/>
                <a:ea typeface="Arial"/>
                <a:cs typeface="Arial"/>
                <a:sym typeface="Arial"/>
              </a:rPr>
              <a:t>Các trường hợp sử dụng Publish / Subscribe</a:t>
            </a:r>
            <a:endParaRPr dirty="0"/>
          </a:p>
          <a:p>
            <a:pPr marL="176213" lvl="0" indent="-176213">
              <a:spcBef>
                <a:spcPts val="1000"/>
              </a:spcBef>
              <a:buClr>
                <a:srgbClr val="A6A6A6"/>
              </a:buClr>
              <a:buSzPts val="2160"/>
              <a:buFont typeface="Arial"/>
              <a:buChar char="•"/>
            </a:pPr>
            <a:r>
              <a:rPr lang="en-US" sz="1800" dirty="0">
                <a:solidFill>
                  <a:srgbClr val="A6A6A6"/>
                </a:solidFill>
              </a:rPr>
              <a:t>2</a:t>
            </a:r>
            <a:r>
              <a:rPr lang="en-US" sz="1800" dirty="0">
                <a:solidFill>
                  <a:srgbClr val="A6A6A6"/>
                </a:solidFill>
                <a:latin typeface="Arial"/>
                <a:ea typeface="Arial"/>
                <a:cs typeface="Arial"/>
                <a:sym typeface="Arial"/>
              </a:rPr>
              <a:t>.4. </a:t>
            </a:r>
            <a:r>
              <a:rPr lang="en-US" sz="1800" dirty="0" err="1">
                <a:solidFill>
                  <a:srgbClr val="A6A6A6"/>
                </a:solidFill>
              </a:rPr>
              <a:t>Ưu</a:t>
            </a:r>
            <a:r>
              <a:rPr lang="en-US" sz="1800" dirty="0">
                <a:solidFill>
                  <a:srgbClr val="A6A6A6"/>
                </a:solidFill>
              </a:rPr>
              <a:t> </a:t>
            </a:r>
            <a:r>
              <a:rPr lang="en-US" sz="1800" dirty="0" err="1">
                <a:solidFill>
                  <a:srgbClr val="A6A6A6"/>
                </a:solidFill>
              </a:rPr>
              <a:t>điểm</a:t>
            </a:r>
            <a:r>
              <a:rPr lang="en-US" sz="1800" dirty="0">
                <a:solidFill>
                  <a:srgbClr val="A6A6A6"/>
                </a:solidFill>
              </a:rPr>
              <a:t> </a:t>
            </a:r>
            <a:r>
              <a:rPr lang="en-US" sz="1800" dirty="0" err="1">
                <a:solidFill>
                  <a:srgbClr val="A6A6A6"/>
                </a:solidFill>
              </a:rPr>
              <a:t>của</a:t>
            </a:r>
            <a:r>
              <a:rPr lang="en-US" sz="1800" dirty="0">
                <a:solidFill>
                  <a:srgbClr val="A6A6A6"/>
                </a:solidFill>
              </a:rPr>
              <a:t> </a:t>
            </a:r>
            <a:r>
              <a:rPr lang="en-US" sz="1800" dirty="0" err="1">
                <a:solidFill>
                  <a:srgbClr val="A6A6A6"/>
                </a:solidFill>
              </a:rPr>
              <a:t>việc</a:t>
            </a:r>
            <a:r>
              <a:rPr lang="en-US" sz="1800" dirty="0">
                <a:solidFill>
                  <a:srgbClr val="A6A6A6"/>
                </a:solidFill>
              </a:rPr>
              <a:t> </a:t>
            </a:r>
            <a:r>
              <a:rPr lang="en-US" sz="1800" dirty="0" err="1">
                <a:solidFill>
                  <a:srgbClr val="A6A6A6"/>
                </a:solidFill>
              </a:rPr>
              <a:t>sử</a:t>
            </a:r>
            <a:r>
              <a:rPr lang="en-US" sz="1800" dirty="0">
                <a:solidFill>
                  <a:srgbClr val="A6A6A6"/>
                </a:solidFill>
              </a:rPr>
              <a:t> </a:t>
            </a:r>
            <a:r>
              <a:rPr lang="en-US" sz="1800" dirty="0" err="1">
                <a:solidFill>
                  <a:srgbClr val="A6A6A6"/>
                </a:solidFill>
              </a:rPr>
              <a:t>dụng</a:t>
            </a:r>
            <a:r>
              <a:rPr lang="en-US" sz="1800" dirty="0">
                <a:solidFill>
                  <a:srgbClr val="A6A6A6"/>
                </a:solidFill>
              </a:rPr>
              <a:t> </a:t>
            </a:r>
            <a:r>
              <a:rPr lang="vi-VN" sz="1800" dirty="0">
                <a:solidFill>
                  <a:srgbClr val="A6A6A6"/>
                </a:solidFill>
              </a:rPr>
              <a:t>Publish / Subscribe</a:t>
            </a:r>
            <a:endParaRPr lang="en-US" sz="1800" dirty="0">
              <a:solidFill>
                <a:srgbClr val="A6A6A6"/>
              </a:solidFill>
            </a:endParaRPr>
          </a:p>
          <a:p>
            <a:pPr marL="176213" indent="-176213">
              <a:spcBef>
                <a:spcPts val="1000"/>
              </a:spcBef>
              <a:buClr>
                <a:srgbClr val="A6A6A6"/>
              </a:buClr>
              <a:buSzPts val="2160"/>
              <a:buFont typeface="Arial"/>
              <a:buChar char="•"/>
            </a:pPr>
            <a:r>
              <a:rPr lang="en-US" sz="1800" dirty="0">
                <a:solidFill>
                  <a:schemeClr val="tx1"/>
                </a:solidFill>
              </a:rPr>
              <a:t>2.4. </a:t>
            </a:r>
            <a:r>
              <a:rPr lang="en-US" sz="1800" dirty="0" err="1">
                <a:solidFill>
                  <a:schemeClr val="tx1"/>
                </a:solidFill>
              </a:rPr>
              <a:t>Nhược</a:t>
            </a:r>
            <a:r>
              <a:rPr lang="en-US" sz="1800" dirty="0">
                <a:solidFill>
                  <a:schemeClr val="tx1"/>
                </a:solidFill>
              </a:rPr>
              <a:t> </a:t>
            </a:r>
            <a:r>
              <a:rPr lang="en-US" sz="1800" dirty="0" err="1">
                <a:solidFill>
                  <a:schemeClr val="tx1"/>
                </a:solidFill>
              </a:rPr>
              <a:t>điểm</a:t>
            </a:r>
            <a:r>
              <a:rPr lang="en-US" sz="1800" dirty="0">
                <a:solidFill>
                  <a:schemeClr val="tx1"/>
                </a:solidFill>
              </a:rPr>
              <a:t> </a:t>
            </a:r>
            <a:r>
              <a:rPr lang="en-US" sz="1800" dirty="0" err="1">
                <a:solidFill>
                  <a:schemeClr val="tx1"/>
                </a:solidFill>
              </a:rPr>
              <a:t>của</a:t>
            </a:r>
            <a:r>
              <a:rPr lang="en-US" sz="1800" dirty="0">
                <a:solidFill>
                  <a:schemeClr val="tx1"/>
                </a:solidFill>
              </a:rPr>
              <a:t> </a:t>
            </a:r>
            <a:r>
              <a:rPr lang="en-US" sz="1800" dirty="0" err="1">
                <a:solidFill>
                  <a:schemeClr val="tx1"/>
                </a:solidFill>
              </a:rPr>
              <a:t>việc</a:t>
            </a:r>
            <a:r>
              <a:rPr lang="en-US" sz="1800" dirty="0">
                <a:solidFill>
                  <a:schemeClr val="tx1"/>
                </a:solidFill>
              </a:rPr>
              <a:t> </a:t>
            </a:r>
            <a:r>
              <a:rPr lang="en-US" sz="1800" dirty="0" err="1">
                <a:solidFill>
                  <a:schemeClr val="tx1"/>
                </a:solidFill>
              </a:rPr>
              <a:t>sử</a:t>
            </a:r>
            <a:r>
              <a:rPr lang="en-US" sz="1800" dirty="0">
                <a:solidFill>
                  <a:schemeClr val="tx1"/>
                </a:solidFill>
              </a:rPr>
              <a:t> </a:t>
            </a:r>
            <a:r>
              <a:rPr lang="en-US" sz="1800" dirty="0" err="1">
                <a:solidFill>
                  <a:schemeClr val="tx1"/>
                </a:solidFill>
              </a:rPr>
              <a:t>dụng</a:t>
            </a:r>
            <a:r>
              <a:rPr lang="en-US" sz="1800" dirty="0">
                <a:solidFill>
                  <a:schemeClr val="tx1"/>
                </a:solidFill>
              </a:rPr>
              <a:t> </a:t>
            </a:r>
            <a:r>
              <a:rPr lang="vi-VN" sz="1800" dirty="0">
                <a:solidFill>
                  <a:schemeClr val="tx1"/>
                </a:solidFill>
              </a:rPr>
              <a:t>Publish / Subscribe</a:t>
            </a:r>
            <a:endParaRPr lang="en-US" sz="1800" dirty="0">
              <a:solidFill>
                <a:schemeClr val="tx1"/>
              </a:solidFill>
            </a:endParaRPr>
          </a:p>
          <a:p>
            <a:pPr lvl="0">
              <a:spcBef>
                <a:spcPts val="1000"/>
              </a:spcBef>
              <a:buClr>
                <a:srgbClr val="A6A6A6"/>
              </a:buClr>
              <a:buSzPts val="2160"/>
            </a:pPr>
            <a:endParaRPr lang="en-US" sz="1800" dirty="0">
              <a:solidFill>
                <a:srgbClr val="A6A6A6"/>
              </a:solidFill>
              <a:latin typeface="Arial"/>
              <a:ea typeface="Arial"/>
              <a:cs typeface="Arial"/>
              <a:sym typeface="Arial"/>
            </a:endParaRPr>
          </a:p>
          <a:p>
            <a:pPr marL="176213" marR="0" lvl="0" indent="-176213" algn="l" rtl="0">
              <a:spcBef>
                <a:spcPts val="1000"/>
              </a:spcBef>
              <a:spcAft>
                <a:spcPts val="0"/>
              </a:spcAft>
              <a:buClr>
                <a:srgbClr val="A6A6A6"/>
              </a:buClr>
              <a:buSzPts val="2160"/>
              <a:buFont typeface="Arial"/>
              <a:buChar char="•"/>
            </a:pPr>
            <a:endParaRPr sz="1800"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22926588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015F86B4-756C-325C-3643-0FBA24CF6C88}"/>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E525D9FC-8AB1-92CD-F5CF-73BC41920914}"/>
              </a:ext>
            </a:extLst>
          </p:cNvPr>
          <p:cNvSpPr/>
          <p:nvPr/>
        </p:nvSpPr>
        <p:spPr>
          <a:xfrm>
            <a:off x="350493" y="1014784"/>
            <a:ext cx="9106866" cy="3554819"/>
          </a:xfrm>
          <a:prstGeom prst="rect">
            <a:avLst/>
          </a:prstGeom>
          <a:noFill/>
          <a:ln>
            <a:noFill/>
          </a:ln>
        </p:spPr>
        <p:txBody>
          <a:bodyPr spcFirstLastPara="1" wrap="square" lIns="0" tIns="0" rIns="0" bIns="0" anchor="t" anchorCtr="0">
            <a:spAutoFit/>
          </a:bodyPr>
          <a:lstStyle/>
          <a:p>
            <a:pPr>
              <a:lnSpc>
                <a:spcPct val="150000"/>
              </a:lnSpc>
            </a:pPr>
            <a:r>
              <a:rPr lang="vi-VN" b="1" dirty="0"/>
              <a:t>Gửi tin nhắn thất bại </a:t>
            </a:r>
          </a:p>
          <a:p>
            <a:pPr>
              <a:lnSpc>
                <a:spcPct val="150000"/>
              </a:lnSpc>
            </a:pPr>
            <a:r>
              <a:rPr lang="vi-VN" dirty="0"/>
              <a:t>Vấn đề nổi bật nhất của mô hình giao tiếp Pub/Sub xuất phát từ một trong những ưu điểm lớn nhất của nó, đó là sự tách biệt giữa người sản xuất dữ liệu và người nhận dữ liệu. Việc gửi tin nhắn thất bại có thể là một vấn đề đối với các dịch vụ Pub/Sub vì chúng không có kết nối hoặc liên lạc với nhau. Người gửi cần biết liệu tin nhắn của họ có đến được tất cả người nhận hay không, và người nhận không thể biết liệu họ có nhận được tất cả các thông tin liên lạc từ người gửi hay không. </a:t>
            </a:r>
          </a:p>
          <a:p>
            <a:pPr>
              <a:lnSpc>
                <a:spcPct val="150000"/>
              </a:lnSpc>
            </a:pPr>
            <a:r>
              <a:rPr lang="vi-VN" dirty="0"/>
              <a:t>Người đăng ký phải giả định rằng họ đang nhận được tất cả các tin nhắn đã được xuất bản, điều này có thể gây ra sự cố nếu họ bỏ sót một số thông tin nhất định. Đây là một mối lo ngại đã được biết đến rộng rãi và có thể gây ra hậu quả nghiêm trọng, và các API khác nhau nhằm mục đích khắc phục vấn đề này bằng các tham số bổ sung. Sử dụng một trung gian tin nhắn cũng giúp đảm bảo việc gửi tin nhắn thành công.</a:t>
            </a:r>
          </a:p>
          <a:p>
            <a:pPr>
              <a:lnSpc>
                <a:spcPct val="150000"/>
              </a:lnSpc>
            </a:pPr>
            <a:endParaRPr lang="vi-VN" dirty="0"/>
          </a:p>
        </p:txBody>
      </p:sp>
      <p:sp>
        <p:nvSpPr>
          <p:cNvPr id="2" name="Google Shape;184;p5">
            <a:extLst>
              <a:ext uri="{FF2B5EF4-FFF2-40B4-BE49-F238E27FC236}">
                <a16:creationId xmlns:a16="http://schemas.microsoft.com/office/drawing/2014/main" id="{792BBB4B-BF78-E227-5EEF-850FA0611158}"/>
              </a:ext>
            </a:extLst>
          </p:cNvPr>
          <p:cNvSpPr/>
          <p:nvPr/>
        </p:nvSpPr>
        <p:spPr>
          <a:xfrm>
            <a:off x="322884" y="484187"/>
            <a:ext cx="9453906" cy="369332"/>
          </a:xfrm>
          <a:prstGeom prst="rect">
            <a:avLst/>
          </a:prstGeom>
          <a:noFill/>
          <a:ln>
            <a:noFill/>
          </a:ln>
        </p:spPr>
        <p:txBody>
          <a:bodyPr spcFirstLastPara="1" wrap="square" lIns="0" tIns="0" rIns="0" bIns="0" anchor="t" anchorCtr="0">
            <a:spAutoFit/>
          </a:bodyPr>
          <a:lstStyle/>
          <a:p>
            <a:r>
              <a:rPr lang="en-US" sz="2400" b="1" dirty="0">
                <a:solidFill>
                  <a:srgbClr val="0C0C0C"/>
                </a:solidFill>
              </a:rPr>
              <a:t>2.5. </a:t>
            </a:r>
            <a:r>
              <a:rPr lang="en-US" sz="2400" b="1" dirty="0" err="1">
                <a:solidFill>
                  <a:srgbClr val="0C0C0C"/>
                </a:solidFill>
              </a:rPr>
              <a:t>Nhược</a:t>
            </a:r>
            <a:r>
              <a:rPr lang="en-US" sz="2400" b="1" dirty="0">
                <a:solidFill>
                  <a:srgbClr val="0C0C0C"/>
                </a:solidFill>
              </a:rPr>
              <a:t> </a:t>
            </a:r>
            <a:r>
              <a:rPr lang="en-US" sz="2400" b="1" dirty="0" err="1">
                <a:solidFill>
                  <a:srgbClr val="0C0C0C"/>
                </a:solidFill>
              </a:rPr>
              <a:t>điểm</a:t>
            </a:r>
            <a:r>
              <a:rPr lang="en-US" sz="2400" b="1" dirty="0">
                <a:solidFill>
                  <a:srgbClr val="0C0C0C"/>
                </a:solidFill>
              </a:rPr>
              <a:t> </a:t>
            </a:r>
            <a:r>
              <a:rPr lang="en-US" sz="2400" b="1" dirty="0" err="1">
                <a:solidFill>
                  <a:srgbClr val="0C0C0C"/>
                </a:solidFill>
              </a:rPr>
              <a:t>của</a:t>
            </a:r>
            <a:r>
              <a:rPr lang="en-US" sz="2400" b="1" dirty="0">
                <a:solidFill>
                  <a:srgbClr val="0C0C0C"/>
                </a:solidFill>
              </a:rPr>
              <a:t> </a:t>
            </a:r>
            <a:r>
              <a:rPr lang="en-US" sz="2400" b="1" dirty="0" err="1">
                <a:solidFill>
                  <a:srgbClr val="0C0C0C"/>
                </a:solidFill>
              </a:rPr>
              <a:t>việc</a:t>
            </a:r>
            <a:r>
              <a:rPr lang="en-US" sz="2400" b="1" dirty="0">
                <a:solidFill>
                  <a:srgbClr val="0C0C0C"/>
                </a:solidFill>
              </a:rPr>
              <a:t> </a:t>
            </a:r>
            <a:r>
              <a:rPr lang="vi-VN" sz="2400" b="1" dirty="0">
                <a:solidFill>
                  <a:srgbClr val="0C0C0C"/>
                </a:solidFill>
              </a:rPr>
              <a:t>sử dụng</a:t>
            </a:r>
            <a:r>
              <a:rPr lang="en-US" sz="2400" b="1" dirty="0">
                <a:solidFill>
                  <a:srgbClr val="0C0C0C"/>
                </a:solidFill>
              </a:rPr>
              <a:t> </a:t>
            </a:r>
            <a:r>
              <a:rPr lang="en-US" sz="2400" b="1" dirty="0">
                <a:solidFill>
                  <a:srgbClr val="0C0C0C"/>
                </a:solidFill>
                <a:latin typeface="Arial"/>
                <a:ea typeface="Arial"/>
                <a:cs typeface="Arial"/>
                <a:sym typeface="Arial"/>
              </a:rPr>
              <a:t>Publish / Subscribe</a:t>
            </a:r>
            <a:endParaRPr dirty="0"/>
          </a:p>
        </p:txBody>
      </p:sp>
    </p:spTree>
    <p:extLst>
      <p:ext uri="{BB962C8B-B14F-4D97-AF65-F5344CB8AC3E}">
        <p14:creationId xmlns:p14="http://schemas.microsoft.com/office/powerpoint/2010/main" val="35619602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6BE9832D-EA93-AEAF-FA65-1D78F01D9A4D}"/>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A3A09B05-5D5A-EC72-C166-101D27DA0D3B}"/>
              </a:ext>
            </a:extLst>
          </p:cNvPr>
          <p:cNvSpPr/>
          <p:nvPr/>
        </p:nvSpPr>
        <p:spPr>
          <a:xfrm>
            <a:off x="322884" y="1005259"/>
            <a:ext cx="9106866" cy="2585323"/>
          </a:xfrm>
          <a:prstGeom prst="rect">
            <a:avLst/>
          </a:prstGeom>
          <a:noFill/>
          <a:ln>
            <a:noFill/>
          </a:ln>
        </p:spPr>
        <p:txBody>
          <a:bodyPr spcFirstLastPara="1" wrap="square" lIns="0" tIns="0" rIns="0" bIns="0" anchor="t" anchorCtr="0">
            <a:spAutoFit/>
          </a:bodyPr>
          <a:lstStyle/>
          <a:p>
            <a:pPr>
              <a:lnSpc>
                <a:spcPct val="150000"/>
              </a:lnSpc>
            </a:pPr>
            <a:r>
              <a:rPr lang="vi-VN" b="1" dirty="0"/>
              <a:t>Sự bất ổn khi mở rộng quy mô nhanh chóng</a:t>
            </a:r>
          </a:p>
          <a:p>
            <a:pPr>
              <a:lnSpc>
                <a:spcPct val="150000"/>
              </a:lnSpc>
            </a:pPr>
            <a:r>
              <a:rPr lang="vi-VN" dirty="0"/>
              <a:t>Nếu không có các biện pháp kiểm soát và cân bằng bổ sung, sự bất ổn có thể xảy ra khi chương trình Pub/Sub mở rộng quy mô nhanh chóng. Điều này có thể dẫn đến nguy cơ quá tải khi số lượng yêu cầu của người đăng ký làm bão hòa băng thông mạng trong một thời gian và gây ra hiện tượng chậm mạng.  </a:t>
            </a:r>
          </a:p>
          <a:p>
            <a:pPr>
              <a:lnSpc>
                <a:spcPct val="150000"/>
              </a:lnSpc>
            </a:pPr>
            <a:r>
              <a:rPr lang="vi-VN" b="1" dirty="0"/>
              <a:t>Việc điều chỉnh tỷ lệ động có thể không cần thiết.</a:t>
            </a:r>
          </a:p>
          <a:p>
            <a:pPr>
              <a:lnSpc>
                <a:spcPct val="150000"/>
              </a:lnSpc>
            </a:pPr>
            <a:r>
              <a:rPr lang="vi-VN" dirty="0"/>
              <a:t>Mô hình Pub/Sub có thể quá phức tạp đối với các hoạt động quy mô nhỏ. Nếu một chương trình không có khả năng mở rộng theo cấp số nhân, các phương pháp khác như thăm dò (polling) có thể phù hợp hơn cho trường hợp sử dụng đó.</a:t>
            </a:r>
          </a:p>
        </p:txBody>
      </p:sp>
      <p:sp>
        <p:nvSpPr>
          <p:cNvPr id="2" name="Google Shape;184;p5">
            <a:extLst>
              <a:ext uri="{FF2B5EF4-FFF2-40B4-BE49-F238E27FC236}">
                <a16:creationId xmlns:a16="http://schemas.microsoft.com/office/drawing/2014/main" id="{BFFE07DD-6152-CABC-A859-D4238225750E}"/>
              </a:ext>
            </a:extLst>
          </p:cNvPr>
          <p:cNvSpPr/>
          <p:nvPr/>
        </p:nvSpPr>
        <p:spPr>
          <a:xfrm>
            <a:off x="322884" y="484187"/>
            <a:ext cx="9453906" cy="369332"/>
          </a:xfrm>
          <a:prstGeom prst="rect">
            <a:avLst/>
          </a:prstGeom>
          <a:noFill/>
          <a:ln>
            <a:noFill/>
          </a:ln>
        </p:spPr>
        <p:txBody>
          <a:bodyPr spcFirstLastPara="1" wrap="square" lIns="0" tIns="0" rIns="0" bIns="0" anchor="t" anchorCtr="0">
            <a:spAutoFit/>
          </a:bodyPr>
          <a:lstStyle/>
          <a:p>
            <a:r>
              <a:rPr lang="en-US" sz="2400" b="1" dirty="0">
                <a:solidFill>
                  <a:srgbClr val="0C0C0C"/>
                </a:solidFill>
              </a:rPr>
              <a:t>2.5. </a:t>
            </a:r>
            <a:r>
              <a:rPr lang="en-US" sz="2400" b="1" dirty="0" err="1">
                <a:solidFill>
                  <a:srgbClr val="0C0C0C"/>
                </a:solidFill>
              </a:rPr>
              <a:t>Nhược</a:t>
            </a:r>
            <a:r>
              <a:rPr lang="en-US" sz="2400" b="1" dirty="0">
                <a:solidFill>
                  <a:srgbClr val="0C0C0C"/>
                </a:solidFill>
              </a:rPr>
              <a:t> </a:t>
            </a:r>
            <a:r>
              <a:rPr lang="en-US" sz="2400" b="1" dirty="0" err="1">
                <a:solidFill>
                  <a:srgbClr val="0C0C0C"/>
                </a:solidFill>
              </a:rPr>
              <a:t>điểm</a:t>
            </a:r>
            <a:r>
              <a:rPr lang="en-US" sz="2400" b="1" dirty="0">
                <a:solidFill>
                  <a:srgbClr val="0C0C0C"/>
                </a:solidFill>
              </a:rPr>
              <a:t> </a:t>
            </a:r>
            <a:r>
              <a:rPr lang="en-US" sz="2400" b="1" dirty="0" err="1">
                <a:solidFill>
                  <a:srgbClr val="0C0C0C"/>
                </a:solidFill>
              </a:rPr>
              <a:t>của</a:t>
            </a:r>
            <a:r>
              <a:rPr lang="en-US" sz="2400" b="1" dirty="0">
                <a:solidFill>
                  <a:srgbClr val="0C0C0C"/>
                </a:solidFill>
              </a:rPr>
              <a:t> </a:t>
            </a:r>
            <a:r>
              <a:rPr lang="en-US" sz="2400" b="1" dirty="0" err="1">
                <a:solidFill>
                  <a:srgbClr val="0C0C0C"/>
                </a:solidFill>
              </a:rPr>
              <a:t>việc</a:t>
            </a:r>
            <a:r>
              <a:rPr lang="en-US" sz="2400" b="1" dirty="0">
                <a:solidFill>
                  <a:srgbClr val="0C0C0C"/>
                </a:solidFill>
              </a:rPr>
              <a:t> </a:t>
            </a:r>
            <a:r>
              <a:rPr lang="vi-VN" sz="2400" b="1" dirty="0">
                <a:solidFill>
                  <a:srgbClr val="0C0C0C"/>
                </a:solidFill>
              </a:rPr>
              <a:t>sử dụng</a:t>
            </a:r>
            <a:r>
              <a:rPr lang="en-US" sz="2400" b="1" dirty="0">
                <a:solidFill>
                  <a:srgbClr val="0C0C0C"/>
                </a:solidFill>
              </a:rPr>
              <a:t> </a:t>
            </a:r>
            <a:r>
              <a:rPr lang="en-US" sz="2400" b="1" dirty="0">
                <a:solidFill>
                  <a:srgbClr val="0C0C0C"/>
                </a:solidFill>
                <a:latin typeface="Arial"/>
                <a:ea typeface="Arial"/>
                <a:cs typeface="Arial"/>
                <a:sym typeface="Arial"/>
              </a:rPr>
              <a:t>Publish / Subscribe</a:t>
            </a:r>
            <a:endParaRPr dirty="0"/>
          </a:p>
        </p:txBody>
      </p:sp>
    </p:spTree>
    <p:extLst>
      <p:ext uri="{BB962C8B-B14F-4D97-AF65-F5344CB8AC3E}">
        <p14:creationId xmlns:p14="http://schemas.microsoft.com/office/powerpoint/2010/main" val="26431610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880DA3C0-9724-CA7E-855D-F2A252FEA050}"/>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467E47A5-30C2-9AA7-AC39-D05D51463EA2}"/>
              </a:ext>
            </a:extLst>
          </p:cNvPr>
          <p:cNvSpPr/>
          <p:nvPr/>
        </p:nvSpPr>
        <p:spPr>
          <a:xfrm>
            <a:off x="990000" y="3152001"/>
            <a:ext cx="8819923"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chemeClr val="dk1"/>
                </a:solidFill>
              </a:rPr>
              <a:t>Tạo</a:t>
            </a:r>
            <a:r>
              <a:rPr lang="en-US" sz="3600" b="1" dirty="0">
                <a:solidFill>
                  <a:schemeClr val="dk1"/>
                </a:solidFill>
              </a:rPr>
              <a:t> </a:t>
            </a:r>
            <a:r>
              <a:rPr lang="en-US" sz="3600" b="1" dirty="0" err="1">
                <a:solidFill>
                  <a:schemeClr val="dk1"/>
                </a:solidFill>
              </a:rPr>
              <a:t>tài</a:t>
            </a:r>
            <a:r>
              <a:rPr lang="en-US" sz="3600" b="1" dirty="0">
                <a:solidFill>
                  <a:schemeClr val="dk1"/>
                </a:solidFill>
              </a:rPr>
              <a:t> </a:t>
            </a:r>
            <a:r>
              <a:rPr lang="en-US" sz="3600" b="1" dirty="0" err="1">
                <a:solidFill>
                  <a:schemeClr val="dk1"/>
                </a:solidFill>
              </a:rPr>
              <a:t>khoản</a:t>
            </a:r>
            <a:r>
              <a:rPr lang="en-US" sz="3600" b="1" dirty="0">
                <a:solidFill>
                  <a:schemeClr val="dk1"/>
                </a:solidFill>
              </a:rPr>
              <a:t> </a:t>
            </a:r>
            <a:r>
              <a:rPr lang="en-US" sz="3600" b="1" dirty="0" err="1">
                <a:solidFill>
                  <a:schemeClr val="dk1"/>
                </a:solidFill>
              </a:rPr>
              <a:t>trên</a:t>
            </a:r>
            <a:r>
              <a:rPr lang="en-US" sz="3600" b="1" dirty="0">
                <a:solidFill>
                  <a:schemeClr val="dk1"/>
                </a:solidFill>
              </a:rPr>
              <a:t> Adafruit-IO </a:t>
            </a:r>
          </a:p>
        </p:txBody>
      </p:sp>
      <p:sp>
        <p:nvSpPr>
          <p:cNvPr id="177" name="Google Shape;177;p4">
            <a:extLst>
              <a:ext uri="{FF2B5EF4-FFF2-40B4-BE49-F238E27FC236}">
                <a16:creationId xmlns:a16="http://schemas.microsoft.com/office/drawing/2014/main" id="{A2859883-8F28-9762-12E5-05A25C5D9EFD}"/>
              </a:ext>
            </a:extLst>
          </p:cNvPr>
          <p:cNvSpPr/>
          <p:nvPr/>
        </p:nvSpPr>
        <p:spPr>
          <a:xfrm>
            <a:off x="990000" y="2748477"/>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3. </a:t>
            </a:r>
            <a:endParaRPr sz="5400" b="1" dirty="0">
              <a:solidFill>
                <a:srgbClr val="7F7F7F"/>
              </a:solidFill>
              <a:latin typeface="Arial"/>
              <a:ea typeface="Arial"/>
              <a:cs typeface="Arial"/>
              <a:sym typeface="Arial"/>
            </a:endParaRPr>
          </a:p>
        </p:txBody>
      </p:sp>
    </p:spTree>
    <p:extLst>
      <p:ext uri="{BB962C8B-B14F-4D97-AF65-F5344CB8AC3E}">
        <p14:creationId xmlns:p14="http://schemas.microsoft.com/office/powerpoint/2010/main" val="5411905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F5BD5B5C-68D8-4678-B26D-D8C9AE5EAC52}"/>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118B9031-113D-9A43-2FC2-927AFE98960D}"/>
              </a:ext>
            </a:extLst>
          </p:cNvPr>
          <p:cNvSpPr/>
          <p:nvPr/>
        </p:nvSpPr>
        <p:spPr>
          <a:xfrm>
            <a:off x="322884" y="1005259"/>
            <a:ext cx="9106866" cy="323165"/>
          </a:xfrm>
          <a:prstGeom prst="rect">
            <a:avLst/>
          </a:prstGeom>
          <a:noFill/>
          <a:ln>
            <a:noFill/>
          </a:ln>
        </p:spPr>
        <p:txBody>
          <a:bodyPr spcFirstLastPara="1" wrap="square" lIns="0" tIns="0" rIns="0" bIns="0" anchor="t" anchorCtr="0">
            <a:spAutoFit/>
          </a:bodyPr>
          <a:lstStyle/>
          <a:p>
            <a:pPr>
              <a:lnSpc>
                <a:spcPct val="150000"/>
              </a:lnSpc>
            </a:pPr>
            <a:r>
              <a:rPr lang="vi-VN" b="1" dirty="0"/>
              <a:t>Truy cập </a:t>
            </a:r>
            <a:r>
              <a:rPr lang="en-US" b="1" i="1" dirty="0">
                <a:hlinkClick r:id="rId3"/>
              </a:rPr>
              <a:t>https://io.adafruit.com/</a:t>
            </a:r>
            <a:r>
              <a:rPr lang="en-US" dirty="0"/>
              <a:t> </a:t>
            </a:r>
            <a:endParaRPr lang="en-US" b="1" dirty="0"/>
          </a:p>
        </p:txBody>
      </p:sp>
      <p:pic>
        <p:nvPicPr>
          <p:cNvPr id="6" name="Picture 5">
            <a:extLst>
              <a:ext uri="{FF2B5EF4-FFF2-40B4-BE49-F238E27FC236}">
                <a16:creationId xmlns:a16="http://schemas.microsoft.com/office/drawing/2014/main" id="{0828F119-599E-9516-BEB9-8DC116DEFC6D}"/>
              </a:ext>
            </a:extLst>
          </p:cNvPr>
          <p:cNvPicPr>
            <a:picLocks noChangeAspect="1"/>
          </p:cNvPicPr>
          <p:nvPr/>
        </p:nvPicPr>
        <p:blipFill>
          <a:blip r:embed="rId4"/>
          <a:stretch>
            <a:fillRect/>
          </a:stretch>
        </p:blipFill>
        <p:spPr>
          <a:xfrm>
            <a:off x="1162050" y="1572592"/>
            <a:ext cx="8026400" cy="4280149"/>
          </a:xfrm>
          <a:prstGeom prst="rect">
            <a:avLst/>
          </a:prstGeom>
        </p:spPr>
      </p:pic>
    </p:spTree>
    <p:extLst>
      <p:ext uri="{BB962C8B-B14F-4D97-AF65-F5344CB8AC3E}">
        <p14:creationId xmlns:p14="http://schemas.microsoft.com/office/powerpoint/2010/main" val="7364983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A507625-610B-27B0-5AA7-896F43816B06}"/>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2580E0DE-2D07-7C0F-7DCF-4EAA539655B6}"/>
              </a:ext>
            </a:extLst>
          </p:cNvPr>
          <p:cNvSpPr/>
          <p:nvPr/>
        </p:nvSpPr>
        <p:spPr>
          <a:xfrm>
            <a:off x="322884" y="1005259"/>
            <a:ext cx="9106866" cy="323165"/>
          </a:xfrm>
          <a:prstGeom prst="rect">
            <a:avLst/>
          </a:prstGeom>
          <a:noFill/>
          <a:ln>
            <a:noFill/>
          </a:ln>
        </p:spPr>
        <p:txBody>
          <a:bodyPr spcFirstLastPara="1" wrap="square" lIns="0" tIns="0" rIns="0" bIns="0" anchor="t" anchorCtr="0">
            <a:spAutoFit/>
          </a:bodyPr>
          <a:lstStyle/>
          <a:p>
            <a:pPr>
              <a:lnSpc>
                <a:spcPct val="150000"/>
              </a:lnSpc>
            </a:pPr>
            <a:r>
              <a:rPr lang="en-US" b="1" dirty="0" err="1"/>
              <a:t>Chọn</a:t>
            </a:r>
            <a:r>
              <a:rPr lang="en-US" b="1" dirty="0"/>
              <a:t> Sign in</a:t>
            </a:r>
          </a:p>
        </p:txBody>
      </p:sp>
      <p:pic>
        <p:nvPicPr>
          <p:cNvPr id="3" name="Picture 2">
            <a:extLst>
              <a:ext uri="{FF2B5EF4-FFF2-40B4-BE49-F238E27FC236}">
                <a16:creationId xmlns:a16="http://schemas.microsoft.com/office/drawing/2014/main" id="{AD824AC2-8397-82B0-E197-631DD0E596A7}"/>
              </a:ext>
            </a:extLst>
          </p:cNvPr>
          <p:cNvPicPr>
            <a:picLocks noChangeAspect="1"/>
          </p:cNvPicPr>
          <p:nvPr/>
        </p:nvPicPr>
        <p:blipFill>
          <a:blip r:embed="rId3"/>
          <a:stretch>
            <a:fillRect/>
          </a:stretch>
        </p:blipFill>
        <p:spPr>
          <a:xfrm>
            <a:off x="1314449" y="1685674"/>
            <a:ext cx="8252654" cy="4400801"/>
          </a:xfrm>
          <a:prstGeom prst="rect">
            <a:avLst/>
          </a:prstGeom>
        </p:spPr>
      </p:pic>
    </p:spTree>
    <p:extLst>
      <p:ext uri="{BB962C8B-B14F-4D97-AF65-F5344CB8AC3E}">
        <p14:creationId xmlns:p14="http://schemas.microsoft.com/office/powerpoint/2010/main" val="35788878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17F7E8D7-5E22-9528-5521-3B456E28477E}"/>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18A64633-CEF0-5803-FAB1-8C77E7545B6C}"/>
              </a:ext>
            </a:extLst>
          </p:cNvPr>
          <p:cNvSpPr/>
          <p:nvPr/>
        </p:nvSpPr>
        <p:spPr>
          <a:xfrm>
            <a:off x="322884" y="1005259"/>
            <a:ext cx="9106866" cy="323165"/>
          </a:xfrm>
          <a:prstGeom prst="rect">
            <a:avLst/>
          </a:prstGeom>
          <a:noFill/>
          <a:ln>
            <a:noFill/>
          </a:ln>
        </p:spPr>
        <p:txBody>
          <a:bodyPr spcFirstLastPara="1" wrap="square" lIns="0" tIns="0" rIns="0" bIns="0" anchor="t" anchorCtr="0">
            <a:spAutoFit/>
          </a:bodyPr>
          <a:lstStyle/>
          <a:p>
            <a:pPr>
              <a:lnSpc>
                <a:spcPct val="150000"/>
              </a:lnSpc>
            </a:pPr>
            <a:r>
              <a:rPr lang="en-US" b="1" dirty="0" err="1"/>
              <a:t>Chọn</a:t>
            </a:r>
            <a:r>
              <a:rPr lang="en-US" b="1" dirty="0"/>
              <a:t> Create an Adafruit Account</a:t>
            </a:r>
          </a:p>
        </p:txBody>
      </p:sp>
      <p:pic>
        <p:nvPicPr>
          <p:cNvPr id="4" name="Picture 3">
            <a:extLst>
              <a:ext uri="{FF2B5EF4-FFF2-40B4-BE49-F238E27FC236}">
                <a16:creationId xmlns:a16="http://schemas.microsoft.com/office/drawing/2014/main" id="{7E40C666-6A92-9C70-5741-7938A63546B2}"/>
              </a:ext>
            </a:extLst>
          </p:cNvPr>
          <p:cNvPicPr>
            <a:picLocks noChangeAspect="1"/>
          </p:cNvPicPr>
          <p:nvPr/>
        </p:nvPicPr>
        <p:blipFill>
          <a:blip r:embed="rId3"/>
          <a:stretch>
            <a:fillRect/>
          </a:stretch>
        </p:blipFill>
        <p:spPr>
          <a:xfrm>
            <a:off x="1333499" y="1328424"/>
            <a:ext cx="7685087" cy="5312734"/>
          </a:xfrm>
          <a:prstGeom prst="rect">
            <a:avLst/>
          </a:prstGeom>
        </p:spPr>
      </p:pic>
    </p:spTree>
    <p:extLst>
      <p:ext uri="{BB962C8B-B14F-4D97-AF65-F5344CB8AC3E}">
        <p14:creationId xmlns:p14="http://schemas.microsoft.com/office/powerpoint/2010/main" val="39277345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5F96D95F-2B3F-B05B-88FF-A30130F94FAD}"/>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3B5B90BD-EF4F-D44C-8FF7-BE617BF58FCF}"/>
              </a:ext>
            </a:extLst>
          </p:cNvPr>
          <p:cNvSpPr/>
          <p:nvPr/>
        </p:nvSpPr>
        <p:spPr>
          <a:xfrm>
            <a:off x="322884" y="1005259"/>
            <a:ext cx="9106866" cy="323165"/>
          </a:xfrm>
          <a:prstGeom prst="rect">
            <a:avLst/>
          </a:prstGeom>
          <a:noFill/>
          <a:ln>
            <a:noFill/>
          </a:ln>
        </p:spPr>
        <p:txBody>
          <a:bodyPr spcFirstLastPara="1" wrap="square" lIns="0" tIns="0" rIns="0" bIns="0" anchor="t" anchorCtr="0">
            <a:spAutoFit/>
          </a:bodyPr>
          <a:lstStyle/>
          <a:p>
            <a:pPr>
              <a:lnSpc>
                <a:spcPct val="150000"/>
              </a:lnSpc>
            </a:pPr>
            <a:r>
              <a:rPr lang="en-US" b="1" dirty="0" err="1"/>
              <a:t>Điền</a:t>
            </a:r>
            <a:r>
              <a:rPr lang="en-US" b="1" dirty="0"/>
              <a:t> </a:t>
            </a:r>
            <a:r>
              <a:rPr lang="en-US" b="1" dirty="0" err="1"/>
              <a:t>các</a:t>
            </a:r>
            <a:r>
              <a:rPr lang="en-US" b="1" dirty="0"/>
              <a:t> </a:t>
            </a:r>
            <a:r>
              <a:rPr lang="en-US" b="1" dirty="0" err="1"/>
              <a:t>thông</a:t>
            </a:r>
            <a:r>
              <a:rPr lang="en-US" b="1" dirty="0"/>
              <a:t> tin </a:t>
            </a:r>
            <a:r>
              <a:rPr lang="en-US" b="1" dirty="0" err="1"/>
              <a:t>cần</a:t>
            </a:r>
            <a:r>
              <a:rPr lang="en-US" b="1" dirty="0"/>
              <a:t> </a:t>
            </a:r>
            <a:r>
              <a:rPr lang="en-US" b="1" dirty="0" err="1"/>
              <a:t>thiết</a:t>
            </a:r>
            <a:r>
              <a:rPr lang="en-US" b="1" dirty="0"/>
              <a:t> </a:t>
            </a:r>
            <a:r>
              <a:rPr lang="en-US" b="1" dirty="0" err="1"/>
              <a:t>sau</a:t>
            </a:r>
            <a:r>
              <a:rPr lang="en-US" b="1" dirty="0"/>
              <a:t> </a:t>
            </a:r>
            <a:r>
              <a:rPr lang="en-US" b="1" dirty="0" err="1"/>
              <a:t>đó</a:t>
            </a:r>
            <a:r>
              <a:rPr lang="en-US" b="1" dirty="0"/>
              <a:t> </a:t>
            </a:r>
            <a:r>
              <a:rPr lang="en-US" b="1" dirty="0" err="1"/>
              <a:t>chọn</a:t>
            </a:r>
            <a:r>
              <a:rPr lang="en-US" b="1" dirty="0"/>
              <a:t> Create account</a:t>
            </a:r>
          </a:p>
        </p:txBody>
      </p:sp>
      <p:pic>
        <p:nvPicPr>
          <p:cNvPr id="3" name="Picture 2">
            <a:extLst>
              <a:ext uri="{FF2B5EF4-FFF2-40B4-BE49-F238E27FC236}">
                <a16:creationId xmlns:a16="http://schemas.microsoft.com/office/drawing/2014/main" id="{37C1818D-EF7B-9D4D-5982-E9E2B9D42D83}"/>
              </a:ext>
            </a:extLst>
          </p:cNvPr>
          <p:cNvPicPr>
            <a:picLocks noChangeAspect="1"/>
          </p:cNvPicPr>
          <p:nvPr/>
        </p:nvPicPr>
        <p:blipFill>
          <a:blip r:embed="rId3"/>
          <a:stretch>
            <a:fillRect/>
          </a:stretch>
        </p:blipFill>
        <p:spPr>
          <a:xfrm>
            <a:off x="5219217" y="1547812"/>
            <a:ext cx="4086225" cy="2943225"/>
          </a:xfrm>
          <a:prstGeom prst="rect">
            <a:avLst/>
          </a:prstGeom>
        </p:spPr>
      </p:pic>
      <p:pic>
        <p:nvPicPr>
          <p:cNvPr id="6" name="Picture 5">
            <a:extLst>
              <a:ext uri="{FF2B5EF4-FFF2-40B4-BE49-F238E27FC236}">
                <a16:creationId xmlns:a16="http://schemas.microsoft.com/office/drawing/2014/main" id="{968EFC5D-673E-2208-BE04-E4A0F1199CFC}"/>
              </a:ext>
            </a:extLst>
          </p:cNvPr>
          <p:cNvPicPr>
            <a:picLocks noChangeAspect="1"/>
          </p:cNvPicPr>
          <p:nvPr/>
        </p:nvPicPr>
        <p:blipFill>
          <a:blip r:embed="rId4"/>
          <a:stretch>
            <a:fillRect/>
          </a:stretch>
        </p:blipFill>
        <p:spPr>
          <a:xfrm>
            <a:off x="1952142" y="1547812"/>
            <a:ext cx="2924175" cy="2333625"/>
          </a:xfrm>
          <a:prstGeom prst="rect">
            <a:avLst/>
          </a:prstGeom>
        </p:spPr>
      </p:pic>
      <p:pic>
        <p:nvPicPr>
          <p:cNvPr id="8" name="Picture 7">
            <a:extLst>
              <a:ext uri="{FF2B5EF4-FFF2-40B4-BE49-F238E27FC236}">
                <a16:creationId xmlns:a16="http://schemas.microsoft.com/office/drawing/2014/main" id="{5549E621-A4BB-2578-4DB5-7C9A6801FE1D}"/>
              </a:ext>
            </a:extLst>
          </p:cNvPr>
          <p:cNvPicPr>
            <a:picLocks noChangeAspect="1"/>
          </p:cNvPicPr>
          <p:nvPr/>
        </p:nvPicPr>
        <p:blipFill>
          <a:blip r:embed="rId5"/>
          <a:stretch>
            <a:fillRect/>
          </a:stretch>
        </p:blipFill>
        <p:spPr>
          <a:xfrm>
            <a:off x="5352567" y="4491037"/>
            <a:ext cx="3314700" cy="1752600"/>
          </a:xfrm>
          <a:prstGeom prst="rect">
            <a:avLst/>
          </a:prstGeom>
        </p:spPr>
      </p:pic>
    </p:spTree>
    <p:extLst>
      <p:ext uri="{BB962C8B-B14F-4D97-AF65-F5344CB8AC3E}">
        <p14:creationId xmlns:p14="http://schemas.microsoft.com/office/powerpoint/2010/main" val="4978457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473C93F1-E7C5-226E-7710-6044EFE2FFA1}"/>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864C8D7C-44F7-E059-4A48-088DF036D660}"/>
              </a:ext>
            </a:extLst>
          </p:cNvPr>
          <p:cNvSpPr/>
          <p:nvPr/>
        </p:nvSpPr>
        <p:spPr>
          <a:xfrm>
            <a:off x="322884" y="1005259"/>
            <a:ext cx="9106866" cy="323165"/>
          </a:xfrm>
          <a:prstGeom prst="rect">
            <a:avLst/>
          </a:prstGeom>
          <a:noFill/>
          <a:ln>
            <a:noFill/>
          </a:ln>
        </p:spPr>
        <p:txBody>
          <a:bodyPr spcFirstLastPara="1" wrap="square" lIns="0" tIns="0" rIns="0" bIns="0" anchor="t" anchorCtr="0">
            <a:spAutoFit/>
          </a:bodyPr>
          <a:lstStyle/>
          <a:p>
            <a:pPr>
              <a:lnSpc>
                <a:spcPct val="150000"/>
              </a:lnSpc>
            </a:pPr>
            <a:r>
              <a:rPr lang="en-US" b="1" dirty="0" err="1"/>
              <a:t>Đăng</a:t>
            </a:r>
            <a:r>
              <a:rPr lang="en-US" b="1" dirty="0"/>
              <a:t> </a:t>
            </a:r>
            <a:r>
              <a:rPr lang="en-US" b="1" dirty="0" err="1"/>
              <a:t>nhập</a:t>
            </a:r>
            <a:r>
              <a:rPr lang="en-US" b="1" dirty="0"/>
              <a:t> </a:t>
            </a:r>
            <a:r>
              <a:rPr lang="en-US" b="1" dirty="0" err="1"/>
              <a:t>vào</a:t>
            </a:r>
            <a:endParaRPr lang="en-US" b="1" dirty="0"/>
          </a:p>
        </p:txBody>
      </p:sp>
      <p:pic>
        <p:nvPicPr>
          <p:cNvPr id="4" name="Picture 3">
            <a:extLst>
              <a:ext uri="{FF2B5EF4-FFF2-40B4-BE49-F238E27FC236}">
                <a16:creationId xmlns:a16="http://schemas.microsoft.com/office/drawing/2014/main" id="{DC62700A-773A-2E72-0506-C6D1B9E6DB9E}"/>
              </a:ext>
            </a:extLst>
          </p:cNvPr>
          <p:cNvPicPr>
            <a:picLocks noChangeAspect="1"/>
          </p:cNvPicPr>
          <p:nvPr/>
        </p:nvPicPr>
        <p:blipFill>
          <a:blip r:embed="rId3"/>
          <a:stretch>
            <a:fillRect/>
          </a:stretch>
        </p:blipFill>
        <p:spPr>
          <a:xfrm>
            <a:off x="1162050" y="1614927"/>
            <a:ext cx="8064500" cy="4403286"/>
          </a:xfrm>
          <a:prstGeom prst="rect">
            <a:avLst/>
          </a:prstGeom>
        </p:spPr>
      </p:pic>
    </p:spTree>
    <p:extLst>
      <p:ext uri="{BB962C8B-B14F-4D97-AF65-F5344CB8AC3E}">
        <p14:creationId xmlns:p14="http://schemas.microsoft.com/office/powerpoint/2010/main" val="42102231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F0FA866F-1FE3-07ED-F973-9E2B1B1B9698}"/>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05C8C418-9842-1CCA-9673-257AC85CC103}"/>
              </a:ext>
            </a:extLst>
          </p:cNvPr>
          <p:cNvSpPr/>
          <p:nvPr/>
        </p:nvSpPr>
        <p:spPr>
          <a:xfrm>
            <a:off x="322884" y="1005259"/>
            <a:ext cx="9106866" cy="323165"/>
          </a:xfrm>
          <a:prstGeom prst="rect">
            <a:avLst/>
          </a:prstGeom>
          <a:noFill/>
          <a:ln>
            <a:noFill/>
          </a:ln>
        </p:spPr>
        <p:txBody>
          <a:bodyPr spcFirstLastPara="1" wrap="square" lIns="0" tIns="0" rIns="0" bIns="0" anchor="t" anchorCtr="0">
            <a:spAutoFit/>
          </a:bodyPr>
          <a:lstStyle/>
          <a:p>
            <a:pPr>
              <a:lnSpc>
                <a:spcPct val="150000"/>
              </a:lnSpc>
            </a:pPr>
            <a:r>
              <a:rPr lang="en-US" b="1" dirty="0" err="1"/>
              <a:t>Chọn</a:t>
            </a:r>
            <a:r>
              <a:rPr lang="en-US" b="1" dirty="0"/>
              <a:t> IO, </a:t>
            </a:r>
            <a:r>
              <a:rPr lang="en-US" b="1" dirty="0" err="1"/>
              <a:t>sau</a:t>
            </a:r>
            <a:r>
              <a:rPr lang="en-US" b="1" dirty="0"/>
              <a:t> </a:t>
            </a:r>
            <a:r>
              <a:rPr lang="en-US" b="1" dirty="0" err="1"/>
              <a:t>đó</a:t>
            </a:r>
            <a:r>
              <a:rPr lang="en-US" b="1" dirty="0"/>
              <a:t> </a:t>
            </a:r>
            <a:r>
              <a:rPr lang="en-US" b="1" dirty="0" err="1"/>
              <a:t>chọn</a:t>
            </a:r>
            <a:r>
              <a:rPr lang="en-US" b="1" dirty="0"/>
              <a:t> </a:t>
            </a:r>
            <a:r>
              <a:rPr lang="en-US" b="1" dirty="0" err="1"/>
              <a:t>biểu</a:t>
            </a:r>
            <a:r>
              <a:rPr lang="en-US" b="1" dirty="0"/>
              <a:t> </a:t>
            </a:r>
            <a:r>
              <a:rPr lang="en-US" b="1" dirty="0" err="1"/>
              <a:t>tượng</a:t>
            </a:r>
            <a:r>
              <a:rPr lang="en-US" b="1" dirty="0"/>
              <a:t> </a:t>
            </a:r>
            <a:r>
              <a:rPr lang="en-US" b="1" dirty="0" err="1"/>
              <a:t>chìa</a:t>
            </a:r>
            <a:r>
              <a:rPr lang="en-US" b="1" dirty="0"/>
              <a:t> </a:t>
            </a:r>
            <a:r>
              <a:rPr lang="en-US" b="1" dirty="0" err="1"/>
              <a:t>khóa</a:t>
            </a:r>
            <a:r>
              <a:rPr lang="en-US" b="1" dirty="0"/>
              <a:t> </a:t>
            </a:r>
            <a:r>
              <a:rPr lang="en-US" b="1" dirty="0" err="1"/>
              <a:t>vàng</a:t>
            </a:r>
            <a:endParaRPr lang="en-US" b="1" dirty="0"/>
          </a:p>
        </p:txBody>
      </p:sp>
      <p:pic>
        <p:nvPicPr>
          <p:cNvPr id="3" name="Picture 2">
            <a:extLst>
              <a:ext uri="{FF2B5EF4-FFF2-40B4-BE49-F238E27FC236}">
                <a16:creationId xmlns:a16="http://schemas.microsoft.com/office/drawing/2014/main" id="{4A92A143-7923-A499-1C3A-355991F15047}"/>
              </a:ext>
            </a:extLst>
          </p:cNvPr>
          <p:cNvPicPr>
            <a:picLocks noChangeAspect="1"/>
          </p:cNvPicPr>
          <p:nvPr/>
        </p:nvPicPr>
        <p:blipFill>
          <a:blip r:embed="rId3"/>
          <a:stretch>
            <a:fillRect/>
          </a:stretch>
        </p:blipFill>
        <p:spPr>
          <a:xfrm>
            <a:off x="1045924" y="1533525"/>
            <a:ext cx="8104596" cy="4565969"/>
          </a:xfrm>
          <a:prstGeom prst="rect">
            <a:avLst/>
          </a:prstGeom>
        </p:spPr>
      </p:pic>
    </p:spTree>
    <p:extLst>
      <p:ext uri="{BB962C8B-B14F-4D97-AF65-F5344CB8AC3E}">
        <p14:creationId xmlns:p14="http://schemas.microsoft.com/office/powerpoint/2010/main" val="25895227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04ED05E6-AE8C-67D2-60B0-87E866C62984}"/>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575706F3-4EF0-CB88-4F47-5C8EE8589D6C}"/>
              </a:ext>
            </a:extLst>
          </p:cNvPr>
          <p:cNvSpPr/>
          <p:nvPr/>
        </p:nvSpPr>
        <p:spPr>
          <a:xfrm>
            <a:off x="322884" y="1005259"/>
            <a:ext cx="9106866" cy="323165"/>
          </a:xfrm>
          <a:prstGeom prst="rect">
            <a:avLst/>
          </a:prstGeom>
          <a:noFill/>
          <a:ln>
            <a:noFill/>
          </a:ln>
        </p:spPr>
        <p:txBody>
          <a:bodyPr spcFirstLastPara="1" wrap="square" lIns="0" tIns="0" rIns="0" bIns="0" anchor="t" anchorCtr="0">
            <a:spAutoFit/>
          </a:bodyPr>
          <a:lstStyle/>
          <a:p>
            <a:pPr>
              <a:lnSpc>
                <a:spcPct val="150000"/>
              </a:lnSpc>
            </a:pPr>
            <a:r>
              <a:rPr lang="en-US" b="1" dirty="0"/>
              <a:t>Sao </a:t>
            </a:r>
            <a:r>
              <a:rPr lang="en-US" b="1" dirty="0" err="1"/>
              <a:t>lưu</a:t>
            </a:r>
            <a:r>
              <a:rPr lang="en-US" b="1" dirty="0"/>
              <a:t> </a:t>
            </a:r>
            <a:r>
              <a:rPr lang="en-US" b="1" dirty="0" err="1"/>
              <a:t>các</a:t>
            </a:r>
            <a:r>
              <a:rPr lang="en-US" b="1" dirty="0"/>
              <a:t> </a:t>
            </a:r>
            <a:r>
              <a:rPr lang="en-US" b="1" dirty="0" err="1"/>
              <a:t>thông</a:t>
            </a:r>
            <a:r>
              <a:rPr lang="en-US" b="1" dirty="0"/>
              <a:t> tin </a:t>
            </a:r>
            <a:r>
              <a:rPr lang="en-US" b="1" dirty="0" err="1"/>
              <a:t>tài</a:t>
            </a:r>
            <a:r>
              <a:rPr lang="en-US" b="1" dirty="0"/>
              <a:t> </a:t>
            </a:r>
            <a:r>
              <a:rPr lang="en-US" b="1" dirty="0" err="1"/>
              <a:t>khoản</a:t>
            </a:r>
            <a:endParaRPr lang="en-US" b="1" dirty="0"/>
          </a:p>
        </p:txBody>
      </p:sp>
      <p:pic>
        <p:nvPicPr>
          <p:cNvPr id="4" name="Picture 3">
            <a:extLst>
              <a:ext uri="{FF2B5EF4-FFF2-40B4-BE49-F238E27FC236}">
                <a16:creationId xmlns:a16="http://schemas.microsoft.com/office/drawing/2014/main" id="{55803E34-809F-A1FF-514E-34E24BE4472C}"/>
              </a:ext>
            </a:extLst>
          </p:cNvPr>
          <p:cNvPicPr>
            <a:picLocks noChangeAspect="1"/>
          </p:cNvPicPr>
          <p:nvPr/>
        </p:nvPicPr>
        <p:blipFill>
          <a:blip r:embed="rId3"/>
          <a:stretch>
            <a:fillRect/>
          </a:stretch>
        </p:blipFill>
        <p:spPr>
          <a:xfrm>
            <a:off x="3201740" y="1166841"/>
            <a:ext cx="5021510" cy="5086350"/>
          </a:xfrm>
          <a:prstGeom prst="rect">
            <a:avLst/>
          </a:prstGeom>
        </p:spPr>
      </p:pic>
    </p:spTree>
    <p:extLst>
      <p:ext uri="{BB962C8B-B14F-4D97-AF65-F5344CB8AC3E}">
        <p14:creationId xmlns:p14="http://schemas.microsoft.com/office/powerpoint/2010/main" val="19464288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C368C7FE-B5A3-9864-6F58-438D27882CB1}"/>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070DEEC9-B208-226D-922D-25419952C8DD}"/>
              </a:ext>
            </a:extLst>
          </p:cNvPr>
          <p:cNvSpPr/>
          <p:nvPr/>
        </p:nvSpPr>
        <p:spPr>
          <a:xfrm>
            <a:off x="990000" y="3152001"/>
            <a:ext cx="8819923" cy="553998"/>
          </a:xfrm>
          <a:prstGeom prst="rect">
            <a:avLst/>
          </a:prstGeom>
          <a:noFill/>
          <a:ln>
            <a:noFill/>
          </a:ln>
        </p:spPr>
        <p:txBody>
          <a:bodyPr spcFirstLastPara="1" wrap="square" lIns="0" tIns="0" rIns="0" bIns="0" anchor="t" anchorCtr="0">
            <a:spAutoFit/>
          </a:bodyPr>
          <a:lstStyle/>
          <a:p>
            <a:pPr>
              <a:buSzPts val="1300"/>
            </a:pPr>
            <a:r>
              <a:rPr lang="vi-VN" sz="3600" b="1" dirty="0">
                <a:solidFill>
                  <a:schemeClr val="dk1"/>
                </a:solidFill>
              </a:rPr>
              <a:t>Quản lý kênh dữ liệu trên Adafruit-IO </a:t>
            </a:r>
          </a:p>
        </p:txBody>
      </p:sp>
      <p:sp>
        <p:nvSpPr>
          <p:cNvPr id="177" name="Google Shape;177;p4">
            <a:extLst>
              <a:ext uri="{FF2B5EF4-FFF2-40B4-BE49-F238E27FC236}">
                <a16:creationId xmlns:a16="http://schemas.microsoft.com/office/drawing/2014/main" id="{673B4816-9039-D695-7A46-DC27079A65C8}"/>
              </a:ext>
            </a:extLst>
          </p:cNvPr>
          <p:cNvSpPr/>
          <p:nvPr/>
        </p:nvSpPr>
        <p:spPr>
          <a:xfrm>
            <a:off x="990000" y="2748477"/>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4. </a:t>
            </a:r>
            <a:endParaRPr sz="5400" b="1" dirty="0">
              <a:solidFill>
                <a:srgbClr val="7F7F7F"/>
              </a:solidFill>
              <a:latin typeface="Arial"/>
              <a:ea typeface="Arial"/>
              <a:cs typeface="Arial"/>
              <a:sym typeface="Arial"/>
            </a:endParaRPr>
          </a:p>
        </p:txBody>
      </p:sp>
    </p:spTree>
    <p:extLst>
      <p:ext uri="{BB962C8B-B14F-4D97-AF65-F5344CB8AC3E}">
        <p14:creationId xmlns:p14="http://schemas.microsoft.com/office/powerpoint/2010/main" val="32831043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D8F59D85-5542-A8E1-F144-3F587B354516}"/>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23663094-D488-5F3E-9571-18F95FB94F6E}"/>
              </a:ext>
            </a:extLst>
          </p:cNvPr>
          <p:cNvSpPr/>
          <p:nvPr/>
        </p:nvSpPr>
        <p:spPr>
          <a:xfrm>
            <a:off x="397979" y="1329109"/>
            <a:ext cx="9106866" cy="3877985"/>
          </a:xfrm>
          <a:prstGeom prst="rect">
            <a:avLst/>
          </a:prstGeom>
          <a:noFill/>
          <a:ln>
            <a:noFill/>
          </a:ln>
        </p:spPr>
        <p:txBody>
          <a:bodyPr spcFirstLastPara="1" wrap="square" lIns="0" tIns="0" rIns="0" bIns="0" anchor="t" anchorCtr="0">
            <a:spAutoFit/>
          </a:bodyPr>
          <a:lstStyle/>
          <a:p>
            <a:pPr>
              <a:lnSpc>
                <a:spcPct val="150000"/>
              </a:lnSpc>
            </a:pPr>
            <a:r>
              <a:rPr lang="vi-VN" dirty="0"/>
              <a:t>Trong Adafruit IO, “kênh dữ liệu” được gọi là </a:t>
            </a:r>
            <a:r>
              <a:rPr lang="vi-VN" b="1" dirty="0"/>
              <a:t>Feed</a:t>
            </a:r>
            <a:r>
              <a:rPr lang="vi-VN" dirty="0"/>
              <a:t>. Đây là đơn vị lưu trữ và truyền dữ liệu giữa thiết bị (ví dụ Arduino, ESP8266, ESP32…) và dashboard hoặc ứng dụng khác qua giao thức MQTT/REST.</a:t>
            </a:r>
            <a:endParaRPr lang="en-US" dirty="0"/>
          </a:p>
          <a:p>
            <a:pPr>
              <a:lnSpc>
                <a:spcPct val="150000"/>
              </a:lnSpc>
            </a:pPr>
            <a:r>
              <a:rPr lang="en-US" b="1" dirty="0" err="1"/>
              <a:t>Hướng</a:t>
            </a:r>
            <a:r>
              <a:rPr lang="en-US" b="1" dirty="0"/>
              <a:t> </a:t>
            </a:r>
            <a:r>
              <a:rPr lang="vi-VN" b="1" dirty="0"/>
              <a:t>dẫn quản lý Feed</a:t>
            </a:r>
            <a:r>
              <a:rPr lang="en-US" b="1" dirty="0"/>
              <a:t>:</a:t>
            </a:r>
          </a:p>
          <a:p>
            <a:pPr>
              <a:lnSpc>
                <a:spcPct val="150000"/>
              </a:lnSpc>
            </a:pPr>
            <a:r>
              <a:rPr lang="vi-VN" b="1" dirty="0"/>
              <a:t>Bước tạo Feed</a:t>
            </a:r>
          </a:p>
          <a:p>
            <a:pPr>
              <a:lnSpc>
                <a:spcPct val="150000"/>
              </a:lnSpc>
            </a:pPr>
            <a:r>
              <a:rPr lang="vi-VN" dirty="0"/>
              <a:t>Đăng nhập vào Adafruit IO</a:t>
            </a:r>
          </a:p>
          <a:p>
            <a:pPr marL="342900" indent="-342900">
              <a:lnSpc>
                <a:spcPct val="150000"/>
              </a:lnSpc>
              <a:buFont typeface="+mj-lt"/>
              <a:buAutoNum type="arabicPeriod"/>
            </a:pPr>
            <a:r>
              <a:rPr lang="vi-VN" dirty="0"/>
              <a:t>Vào mục </a:t>
            </a:r>
            <a:r>
              <a:rPr lang="vi-VN" b="1" dirty="0"/>
              <a:t>Feeds</a:t>
            </a:r>
            <a:endParaRPr lang="vi-VN" dirty="0"/>
          </a:p>
          <a:p>
            <a:pPr marL="342900" indent="-342900">
              <a:lnSpc>
                <a:spcPct val="150000"/>
              </a:lnSpc>
              <a:buFont typeface="+mj-lt"/>
              <a:buAutoNum type="arabicPeriod"/>
            </a:pPr>
            <a:r>
              <a:rPr lang="vi-VN" dirty="0"/>
              <a:t>Chọn </a:t>
            </a:r>
            <a:r>
              <a:rPr lang="vi-VN" b="1" dirty="0"/>
              <a:t>Create a New Feed</a:t>
            </a:r>
            <a:endParaRPr lang="vi-VN" dirty="0"/>
          </a:p>
          <a:p>
            <a:pPr marL="342900" indent="-342900">
              <a:lnSpc>
                <a:spcPct val="150000"/>
              </a:lnSpc>
              <a:buFont typeface="+mj-lt"/>
              <a:buAutoNum type="arabicPeriod"/>
            </a:pPr>
            <a:r>
              <a:rPr lang="vi-VN" dirty="0"/>
              <a:t>Nhập:</a:t>
            </a:r>
          </a:p>
          <a:p>
            <a:pPr marL="914400" lvl="1" indent="-114300">
              <a:lnSpc>
                <a:spcPct val="150000"/>
              </a:lnSpc>
              <a:buFont typeface="Arial" panose="020B0604020202020204" pitchFamily="34" charset="0"/>
              <a:buChar char="•"/>
            </a:pPr>
            <a:r>
              <a:rPr lang="vi-VN" dirty="0"/>
              <a:t>Name: tên hiển thị</a:t>
            </a:r>
          </a:p>
          <a:p>
            <a:pPr marL="914400" lvl="1" indent="-114300">
              <a:lnSpc>
                <a:spcPct val="150000"/>
              </a:lnSpc>
              <a:buFont typeface="Arial" panose="020B0604020202020204" pitchFamily="34" charset="0"/>
              <a:buChar char="•"/>
            </a:pPr>
            <a:r>
              <a:rPr lang="vi-VN" dirty="0"/>
              <a:t>Key: định danh kỹ thuật (không dấu, không khoảng trắng)</a:t>
            </a:r>
          </a:p>
          <a:p>
            <a:pPr marL="914400" lvl="1" indent="-114300">
              <a:lnSpc>
                <a:spcPct val="150000"/>
              </a:lnSpc>
              <a:buFont typeface="Arial" panose="020B0604020202020204" pitchFamily="34" charset="0"/>
              <a:buChar char="•"/>
            </a:pPr>
            <a:r>
              <a:rPr lang="vi-VN" dirty="0"/>
              <a:t>Description (tuỳ chọn)</a:t>
            </a:r>
          </a:p>
          <a:p>
            <a:pPr>
              <a:lnSpc>
                <a:spcPct val="150000"/>
              </a:lnSpc>
            </a:pPr>
            <a:endParaRPr lang="vi-VN" dirty="0"/>
          </a:p>
        </p:txBody>
      </p:sp>
    </p:spTree>
    <p:extLst>
      <p:ext uri="{BB962C8B-B14F-4D97-AF65-F5344CB8AC3E}">
        <p14:creationId xmlns:p14="http://schemas.microsoft.com/office/powerpoint/2010/main" val="25729707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D040FAD8-483E-E340-6F9A-020F4AC8C45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DFFB1E3-7160-2664-8065-746C745FE5C3}"/>
              </a:ext>
            </a:extLst>
          </p:cNvPr>
          <p:cNvPicPr>
            <a:picLocks noChangeAspect="1"/>
          </p:cNvPicPr>
          <p:nvPr/>
        </p:nvPicPr>
        <p:blipFill>
          <a:blip r:embed="rId3"/>
          <a:stretch>
            <a:fillRect/>
          </a:stretch>
        </p:blipFill>
        <p:spPr>
          <a:xfrm>
            <a:off x="523874" y="983678"/>
            <a:ext cx="8855075" cy="4890644"/>
          </a:xfrm>
          <a:prstGeom prst="rect">
            <a:avLst/>
          </a:prstGeom>
        </p:spPr>
      </p:pic>
    </p:spTree>
    <p:extLst>
      <p:ext uri="{BB962C8B-B14F-4D97-AF65-F5344CB8AC3E}">
        <p14:creationId xmlns:p14="http://schemas.microsoft.com/office/powerpoint/2010/main" val="3385176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B9C53D-4BF4-222E-0A84-95364ECF366F}"/>
              </a:ext>
            </a:extLst>
          </p:cNvPr>
          <p:cNvPicPr>
            <a:picLocks noChangeAspect="1"/>
          </p:cNvPicPr>
          <p:nvPr/>
        </p:nvPicPr>
        <p:blipFill>
          <a:blip r:embed="rId2"/>
          <a:stretch>
            <a:fillRect/>
          </a:stretch>
        </p:blipFill>
        <p:spPr>
          <a:xfrm>
            <a:off x="361949" y="659105"/>
            <a:ext cx="9178925" cy="5539789"/>
          </a:xfrm>
          <a:prstGeom prst="rect">
            <a:avLst/>
          </a:prstGeom>
        </p:spPr>
      </p:pic>
    </p:spTree>
    <p:extLst>
      <p:ext uri="{BB962C8B-B14F-4D97-AF65-F5344CB8AC3E}">
        <p14:creationId xmlns:p14="http://schemas.microsoft.com/office/powerpoint/2010/main" val="32277200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7DA39-0691-6CBC-1474-FDFEFAA89D9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04B221A-446D-F9F6-7B33-A779394A79F5}"/>
              </a:ext>
            </a:extLst>
          </p:cNvPr>
          <p:cNvPicPr>
            <a:picLocks noChangeAspect="1"/>
          </p:cNvPicPr>
          <p:nvPr/>
        </p:nvPicPr>
        <p:blipFill>
          <a:blip r:embed="rId2"/>
          <a:stretch>
            <a:fillRect/>
          </a:stretch>
        </p:blipFill>
        <p:spPr>
          <a:xfrm>
            <a:off x="390524" y="1282152"/>
            <a:ext cx="9121775" cy="4293696"/>
          </a:xfrm>
          <a:prstGeom prst="rect">
            <a:avLst/>
          </a:prstGeom>
        </p:spPr>
      </p:pic>
    </p:spTree>
    <p:extLst>
      <p:ext uri="{BB962C8B-B14F-4D97-AF65-F5344CB8AC3E}">
        <p14:creationId xmlns:p14="http://schemas.microsoft.com/office/powerpoint/2010/main" val="16902641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9F60D-47C1-BF62-CA49-5410B535BA5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01C860D-7DFB-97F3-D4CC-691E9683DB1F}"/>
              </a:ext>
            </a:extLst>
          </p:cNvPr>
          <p:cNvPicPr>
            <a:picLocks noChangeAspect="1"/>
          </p:cNvPicPr>
          <p:nvPr/>
        </p:nvPicPr>
        <p:blipFill>
          <a:blip r:embed="rId2"/>
          <a:stretch>
            <a:fillRect/>
          </a:stretch>
        </p:blipFill>
        <p:spPr>
          <a:xfrm>
            <a:off x="923925" y="1479841"/>
            <a:ext cx="8474075" cy="3566123"/>
          </a:xfrm>
          <a:prstGeom prst="rect">
            <a:avLst/>
          </a:prstGeom>
        </p:spPr>
      </p:pic>
    </p:spTree>
    <p:extLst>
      <p:ext uri="{BB962C8B-B14F-4D97-AF65-F5344CB8AC3E}">
        <p14:creationId xmlns:p14="http://schemas.microsoft.com/office/powerpoint/2010/main" val="7360381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83B3B-5763-BDC9-5479-A627EAC2A8C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E09AE18-5F0B-6ED8-3D99-9B7F7A21AA42}"/>
              </a:ext>
            </a:extLst>
          </p:cNvPr>
          <p:cNvPicPr>
            <a:picLocks noChangeAspect="1"/>
          </p:cNvPicPr>
          <p:nvPr/>
        </p:nvPicPr>
        <p:blipFill>
          <a:blip r:embed="rId2"/>
          <a:stretch>
            <a:fillRect/>
          </a:stretch>
        </p:blipFill>
        <p:spPr>
          <a:xfrm>
            <a:off x="981075" y="686500"/>
            <a:ext cx="8369300" cy="5484999"/>
          </a:xfrm>
          <a:prstGeom prst="rect">
            <a:avLst/>
          </a:prstGeom>
        </p:spPr>
      </p:pic>
    </p:spTree>
    <p:extLst>
      <p:ext uri="{BB962C8B-B14F-4D97-AF65-F5344CB8AC3E}">
        <p14:creationId xmlns:p14="http://schemas.microsoft.com/office/powerpoint/2010/main" val="759711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D8CE2E9A-9CA0-0374-E719-58436C43C691}"/>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E1687BD7-1855-26A8-F6BC-79D2260F8148}"/>
              </a:ext>
            </a:extLst>
          </p:cNvPr>
          <p:cNvSpPr/>
          <p:nvPr/>
        </p:nvSpPr>
        <p:spPr>
          <a:xfrm>
            <a:off x="531329" y="367084"/>
            <a:ext cx="9106866" cy="3877985"/>
          </a:xfrm>
          <a:prstGeom prst="rect">
            <a:avLst/>
          </a:prstGeom>
          <a:noFill/>
          <a:ln>
            <a:noFill/>
          </a:ln>
        </p:spPr>
        <p:txBody>
          <a:bodyPr spcFirstLastPara="1" wrap="square" lIns="0" tIns="0" rIns="0" bIns="0" anchor="t" anchorCtr="0">
            <a:spAutoFit/>
          </a:bodyPr>
          <a:lstStyle/>
          <a:p>
            <a:pPr>
              <a:lnSpc>
                <a:spcPct val="150000"/>
              </a:lnSpc>
            </a:pPr>
            <a:r>
              <a:rPr lang="vi-VN" b="1" dirty="0"/>
              <a:t>Cấu trúc và cơ chế lưu trữ dữ liệu</a:t>
            </a:r>
          </a:p>
          <a:p>
            <a:pPr>
              <a:lnSpc>
                <a:spcPct val="150000"/>
              </a:lnSpc>
            </a:pPr>
            <a:r>
              <a:rPr lang="vi-VN" dirty="0"/>
              <a:t>Mỗi Feed:</a:t>
            </a:r>
          </a:p>
          <a:p>
            <a:pPr marL="285750" indent="-285750">
              <a:lnSpc>
                <a:spcPct val="150000"/>
              </a:lnSpc>
              <a:buFont typeface="Arial" panose="020B0604020202020204" pitchFamily="34" charset="0"/>
              <a:buChar char="•"/>
            </a:pPr>
            <a:r>
              <a:rPr lang="vi-VN" dirty="0"/>
              <a:t>Lưu dữ liệu theo thời gian (time-series)</a:t>
            </a:r>
          </a:p>
          <a:p>
            <a:pPr>
              <a:lnSpc>
                <a:spcPct val="150000"/>
              </a:lnSpc>
            </a:pPr>
            <a:r>
              <a:rPr lang="vi-VN" dirty="0"/>
              <a:t>Mỗi record gồm:</a:t>
            </a:r>
          </a:p>
          <a:p>
            <a:pPr marL="285750" lvl="1" indent="-285750">
              <a:lnSpc>
                <a:spcPct val="150000"/>
              </a:lnSpc>
              <a:buFont typeface="Arial" panose="020B0604020202020204" pitchFamily="34" charset="0"/>
              <a:buChar char="•"/>
            </a:pPr>
            <a:r>
              <a:rPr lang="vi-VN" dirty="0"/>
              <a:t>value</a:t>
            </a:r>
          </a:p>
          <a:p>
            <a:pPr marL="285750" lvl="1" indent="-285750">
              <a:lnSpc>
                <a:spcPct val="150000"/>
              </a:lnSpc>
              <a:buFont typeface="Arial" panose="020B0604020202020204" pitchFamily="34" charset="0"/>
              <a:buChar char="•"/>
            </a:pPr>
            <a:r>
              <a:rPr lang="vi-VN" dirty="0"/>
              <a:t>created_at</a:t>
            </a:r>
          </a:p>
          <a:p>
            <a:pPr marL="285750" lvl="1" indent="-285750">
              <a:lnSpc>
                <a:spcPct val="150000"/>
              </a:lnSpc>
              <a:buFont typeface="Arial" panose="020B0604020202020204" pitchFamily="34" charset="0"/>
              <a:buChar char="•"/>
            </a:pPr>
            <a:r>
              <a:rPr lang="vi-VN" dirty="0"/>
              <a:t>lat, lon, ele (nếu có)</a:t>
            </a:r>
          </a:p>
          <a:p>
            <a:pPr>
              <a:lnSpc>
                <a:spcPct val="150000"/>
              </a:lnSpc>
            </a:pPr>
            <a:r>
              <a:rPr lang="vi-VN" dirty="0"/>
              <a:t>Adafruit IO Free plan:</a:t>
            </a:r>
          </a:p>
          <a:p>
            <a:pPr marL="285750" indent="-285750">
              <a:lnSpc>
                <a:spcPct val="150000"/>
              </a:lnSpc>
              <a:buFont typeface="Arial" panose="020B0604020202020204" pitchFamily="34" charset="0"/>
              <a:buChar char="•"/>
            </a:pPr>
            <a:r>
              <a:rPr lang="vi-VN" dirty="0"/>
              <a:t>Giới hạn số lượng data point/phút</a:t>
            </a:r>
          </a:p>
          <a:p>
            <a:pPr marL="285750" indent="-285750">
              <a:lnSpc>
                <a:spcPct val="150000"/>
              </a:lnSpc>
              <a:buFont typeface="Arial" panose="020B0604020202020204" pitchFamily="34" charset="0"/>
              <a:buChar char="•"/>
            </a:pPr>
            <a:r>
              <a:rPr lang="vi-VN" dirty="0"/>
              <a:t>Giới hạn tổng số feed</a:t>
            </a:r>
          </a:p>
          <a:p>
            <a:pPr marL="285750" indent="-285750">
              <a:lnSpc>
                <a:spcPct val="150000"/>
              </a:lnSpc>
              <a:buFont typeface="Arial" panose="020B0604020202020204" pitchFamily="34" charset="0"/>
              <a:buChar char="•"/>
            </a:pPr>
            <a:r>
              <a:rPr lang="vi-VN" dirty="0"/>
              <a:t>Giới hạn lưu trữ theo thời gian</a:t>
            </a:r>
          </a:p>
          <a:p>
            <a:pPr>
              <a:lnSpc>
                <a:spcPct val="150000"/>
              </a:lnSpc>
            </a:pPr>
            <a:endParaRPr lang="vi-VN" dirty="0"/>
          </a:p>
        </p:txBody>
      </p:sp>
    </p:spTree>
    <p:extLst>
      <p:ext uri="{BB962C8B-B14F-4D97-AF65-F5344CB8AC3E}">
        <p14:creationId xmlns:p14="http://schemas.microsoft.com/office/powerpoint/2010/main" val="9532072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2A40B06D-8B63-CCB9-B7AA-758A6C4CB458}"/>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2D780439-5B7C-D925-F950-80D5592ED688}"/>
              </a:ext>
            </a:extLst>
          </p:cNvPr>
          <p:cNvSpPr/>
          <p:nvPr/>
        </p:nvSpPr>
        <p:spPr>
          <a:xfrm>
            <a:off x="531329" y="367084"/>
            <a:ext cx="9106866" cy="3877985"/>
          </a:xfrm>
          <a:prstGeom prst="rect">
            <a:avLst/>
          </a:prstGeom>
          <a:noFill/>
          <a:ln>
            <a:noFill/>
          </a:ln>
        </p:spPr>
        <p:txBody>
          <a:bodyPr spcFirstLastPara="1" wrap="square" lIns="0" tIns="0" rIns="0" bIns="0" anchor="t" anchorCtr="0">
            <a:spAutoFit/>
          </a:bodyPr>
          <a:lstStyle/>
          <a:p>
            <a:pPr>
              <a:lnSpc>
                <a:spcPct val="150000"/>
              </a:lnSpc>
            </a:pPr>
            <a:r>
              <a:rPr lang="vi-VN" b="1" dirty="0"/>
              <a:t>Cấu trúc và cơ chế lưu trữ dữ liệu</a:t>
            </a:r>
          </a:p>
          <a:p>
            <a:pPr>
              <a:lnSpc>
                <a:spcPct val="150000"/>
              </a:lnSpc>
            </a:pPr>
            <a:r>
              <a:rPr lang="vi-VN" dirty="0"/>
              <a:t>Mỗi Feed:</a:t>
            </a:r>
          </a:p>
          <a:p>
            <a:pPr marL="285750" indent="-285750">
              <a:lnSpc>
                <a:spcPct val="150000"/>
              </a:lnSpc>
              <a:buFont typeface="Arial" panose="020B0604020202020204" pitchFamily="34" charset="0"/>
              <a:buChar char="•"/>
            </a:pPr>
            <a:r>
              <a:rPr lang="vi-VN" dirty="0"/>
              <a:t>Lưu dữ liệu theo thời gian (time-series)</a:t>
            </a:r>
          </a:p>
          <a:p>
            <a:pPr>
              <a:lnSpc>
                <a:spcPct val="150000"/>
              </a:lnSpc>
            </a:pPr>
            <a:r>
              <a:rPr lang="vi-VN" dirty="0"/>
              <a:t>Mỗi record gồm:</a:t>
            </a:r>
          </a:p>
          <a:p>
            <a:pPr marL="285750" lvl="1" indent="-285750">
              <a:lnSpc>
                <a:spcPct val="150000"/>
              </a:lnSpc>
              <a:buFont typeface="Arial" panose="020B0604020202020204" pitchFamily="34" charset="0"/>
              <a:buChar char="•"/>
            </a:pPr>
            <a:r>
              <a:rPr lang="vi-VN" dirty="0"/>
              <a:t>value</a:t>
            </a:r>
          </a:p>
          <a:p>
            <a:pPr marL="285750" lvl="1" indent="-285750">
              <a:lnSpc>
                <a:spcPct val="150000"/>
              </a:lnSpc>
              <a:buFont typeface="Arial" panose="020B0604020202020204" pitchFamily="34" charset="0"/>
              <a:buChar char="•"/>
            </a:pPr>
            <a:r>
              <a:rPr lang="vi-VN" dirty="0"/>
              <a:t>created_at</a:t>
            </a:r>
          </a:p>
          <a:p>
            <a:pPr marL="285750" lvl="1" indent="-285750">
              <a:lnSpc>
                <a:spcPct val="150000"/>
              </a:lnSpc>
              <a:buFont typeface="Arial" panose="020B0604020202020204" pitchFamily="34" charset="0"/>
              <a:buChar char="•"/>
            </a:pPr>
            <a:r>
              <a:rPr lang="vi-VN" dirty="0"/>
              <a:t>lat, lon, ele (nếu có)</a:t>
            </a:r>
          </a:p>
          <a:p>
            <a:pPr>
              <a:lnSpc>
                <a:spcPct val="150000"/>
              </a:lnSpc>
            </a:pPr>
            <a:r>
              <a:rPr lang="vi-VN" dirty="0"/>
              <a:t>Adafruit IO Free plan:</a:t>
            </a:r>
          </a:p>
          <a:p>
            <a:pPr marL="285750" indent="-285750">
              <a:lnSpc>
                <a:spcPct val="150000"/>
              </a:lnSpc>
              <a:buFont typeface="Arial" panose="020B0604020202020204" pitchFamily="34" charset="0"/>
              <a:buChar char="•"/>
            </a:pPr>
            <a:r>
              <a:rPr lang="vi-VN" dirty="0"/>
              <a:t>Giới hạn số lượng data point/phút</a:t>
            </a:r>
          </a:p>
          <a:p>
            <a:pPr marL="285750" indent="-285750">
              <a:lnSpc>
                <a:spcPct val="150000"/>
              </a:lnSpc>
              <a:buFont typeface="Arial" panose="020B0604020202020204" pitchFamily="34" charset="0"/>
              <a:buChar char="•"/>
            </a:pPr>
            <a:r>
              <a:rPr lang="vi-VN" dirty="0"/>
              <a:t>Giới hạn tổng số feed</a:t>
            </a:r>
          </a:p>
          <a:p>
            <a:pPr marL="285750" indent="-285750">
              <a:lnSpc>
                <a:spcPct val="150000"/>
              </a:lnSpc>
              <a:buFont typeface="Arial" panose="020B0604020202020204" pitchFamily="34" charset="0"/>
              <a:buChar char="•"/>
            </a:pPr>
            <a:r>
              <a:rPr lang="vi-VN" dirty="0"/>
              <a:t>Giới hạn lưu trữ theo thời gian</a:t>
            </a:r>
          </a:p>
          <a:p>
            <a:pPr>
              <a:lnSpc>
                <a:spcPct val="150000"/>
              </a:lnSpc>
            </a:pPr>
            <a:endParaRPr lang="vi-VN" dirty="0"/>
          </a:p>
        </p:txBody>
      </p:sp>
      <p:pic>
        <p:nvPicPr>
          <p:cNvPr id="3" name="Picture 2">
            <a:extLst>
              <a:ext uri="{FF2B5EF4-FFF2-40B4-BE49-F238E27FC236}">
                <a16:creationId xmlns:a16="http://schemas.microsoft.com/office/drawing/2014/main" id="{F8E2B060-1D91-1781-1B8A-F0A3D35F3830}"/>
              </a:ext>
            </a:extLst>
          </p:cNvPr>
          <p:cNvPicPr>
            <a:picLocks noChangeAspect="1"/>
          </p:cNvPicPr>
          <p:nvPr/>
        </p:nvPicPr>
        <p:blipFill>
          <a:blip r:embed="rId3"/>
          <a:stretch>
            <a:fillRect/>
          </a:stretch>
        </p:blipFill>
        <p:spPr>
          <a:xfrm>
            <a:off x="438191" y="733425"/>
            <a:ext cx="8933305" cy="5107230"/>
          </a:xfrm>
          <a:prstGeom prst="rect">
            <a:avLst/>
          </a:prstGeom>
        </p:spPr>
      </p:pic>
    </p:spTree>
    <p:extLst>
      <p:ext uri="{BB962C8B-B14F-4D97-AF65-F5344CB8AC3E}">
        <p14:creationId xmlns:p14="http://schemas.microsoft.com/office/powerpoint/2010/main" val="10916123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CC1445E9-9CA5-D824-9773-248DAE4A263D}"/>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DC14437A-B504-D455-601C-E67EC90CD9FA}"/>
              </a:ext>
            </a:extLst>
          </p:cNvPr>
          <p:cNvSpPr/>
          <p:nvPr/>
        </p:nvSpPr>
        <p:spPr>
          <a:xfrm>
            <a:off x="531329" y="367084"/>
            <a:ext cx="9106866" cy="3877985"/>
          </a:xfrm>
          <a:prstGeom prst="rect">
            <a:avLst/>
          </a:prstGeom>
          <a:noFill/>
          <a:ln>
            <a:noFill/>
          </a:ln>
        </p:spPr>
        <p:txBody>
          <a:bodyPr spcFirstLastPara="1" wrap="square" lIns="0" tIns="0" rIns="0" bIns="0" anchor="t" anchorCtr="0">
            <a:spAutoFit/>
          </a:bodyPr>
          <a:lstStyle/>
          <a:p>
            <a:pPr>
              <a:lnSpc>
                <a:spcPct val="150000"/>
              </a:lnSpc>
            </a:pPr>
            <a:r>
              <a:rPr lang="vi-VN" b="1" dirty="0"/>
              <a:t>Cấu trúc và cơ chế lưu trữ dữ liệu</a:t>
            </a:r>
          </a:p>
          <a:p>
            <a:pPr>
              <a:lnSpc>
                <a:spcPct val="150000"/>
              </a:lnSpc>
            </a:pPr>
            <a:r>
              <a:rPr lang="vi-VN" dirty="0"/>
              <a:t>Mỗi Feed:</a:t>
            </a:r>
          </a:p>
          <a:p>
            <a:pPr marL="285750" indent="-285750">
              <a:lnSpc>
                <a:spcPct val="150000"/>
              </a:lnSpc>
              <a:buFont typeface="Arial" panose="020B0604020202020204" pitchFamily="34" charset="0"/>
              <a:buChar char="•"/>
            </a:pPr>
            <a:r>
              <a:rPr lang="vi-VN" dirty="0"/>
              <a:t>Lưu dữ liệu theo thời gian (time-series)</a:t>
            </a:r>
          </a:p>
          <a:p>
            <a:pPr>
              <a:lnSpc>
                <a:spcPct val="150000"/>
              </a:lnSpc>
            </a:pPr>
            <a:r>
              <a:rPr lang="vi-VN" dirty="0"/>
              <a:t>Mỗi record gồm:</a:t>
            </a:r>
          </a:p>
          <a:p>
            <a:pPr marL="285750" lvl="1" indent="-285750">
              <a:lnSpc>
                <a:spcPct val="150000"/>
              </a:lnSpc>
              <a:buFont typeface="Arial" panose="020B0604020202020204" pitchFamily="34" charset="0"/>
              <a:buChar char="•"/>
            </a:pPr>
            <a:r>
              <a:rPr lang="vi-VN" dirty="0"/>
              <a:t>value</a:t>
            </a:r>
          </a:p>
          <a:p>
            <a:pPr marL="285750" lvl="1" indent="-285750">
              <a:lnSpc>
                <a:spcPct val="150000"/>
              </a:lnSpc>
              <a:buFont typeface="Arial" panose="020B0604020202020204" pitchFamily="34" charset="0"/>
              <a:buChar char="•"/>
            </a:pPr>
            <a:r>
              <a:rPr lang="vi-VN" dirty="0"/>
              <a:t>created_at</a:t>
            </a:r>
          </a:p>
          <a:p>
            <a:pPr marL="285750" lvl="1" indent="-285750">
              <a:lnSpc>
                <a:spcPct val="150000"/>
              </a:lnSpc>
              <a:buFont typeface="Arial" panose="020B0604020202020204" pitchFamily="34" charset="0"/>
              <a:buChar char="•"/>
            </a:pPr>
            <a:r>
              <a:rPr lang="vi-VN" dirty="0"/>
              <a:t>lat, lon, ele (nếu có)</a:t>
            </a:r>
          </a:p>
          <a:p>
            <a:pPr>
              <a:lnSpc>
                <a:spcPct val="150000"/>
              </a:lnSpc>
            </a:pPr>
            <a:r>
              <a:rPr lang="vi-VN" dirty="0"/>
              <a:t>Adafruit IO Free plan:</a:t>
            </a:r>
          </a:p>
          <a:p>
            <a:pPr marL="285750" indent="-285750">
              <a:lnSpc>
                <a:spcPct val="150000"/>
              </a:lnSpc>
              <a:buFont typeface="Arial" panose="020B0604020202020204" pitchFamily="34" charset="0"/>
              <a:buChar char="•"/>
            </a:pPr>
            <a:r>
              <a:rPr lang="vi-VN" dirty="0"/>
              <a:t>Giới hạn số lượng data point/phút</a:t>
            </a:r>
          </a:p>
          <a:p>
            <a:pPr marL="285750" indent="-285750">
              <a:lnSpc>
                <a:spcPct val="150000"/>
              </a:lnSpc>
              <a:buFont typeface="Arial" panose="020B0604020202020204" pitchFamily="34" charset="0"/>
              <a:buChar char="•"/>
            </a:pPr>
            <a:r>
              <a:rPr lang="vi-VN" dirty="0"/>
              <a:t>Giới hạn tổng số feed</a:t>
            </a:r>
          </a:p>
          <a:p>
            <a:pPr marL="285750" indent="-285750">
              <a:lnSpc>
                <a:spcPct val="150000"/>
              </a:lnSpc>
              <a:buFont typeface="Arial" panose="020B0604020202020204" pitchFamily="34" charset="0"/>
              <a:buChar char="•"/>
            </a:pPr>
            <a:r>
              <a:rPr lang="vi-VN" dirty="0"/>
              <a:t>Giới hạn lưu trữ theo thời gian</a:t>
            </a:r>
          </a:p>
          <a:p>
            <a:pPr>
              <a:lnSpc>
                <a:spcPct val="150000"/>
              </a:lnSpc>
            </a:pPr>
            <a:endParaRPr lang="vi-VN" dirty="0"/>
          </a:p>
        </p:txBody>
      </p:sp>
      <p:pic>
        <p:nvPicPr>
          <p:cNvPr id="4" name="Picture 3">
            <a:extLst>
              <a:ext uri="{FF2B5EF4-FFF2-40B4-BE49-F238E27FC236}">
                <a16:creationId xmlns:a16="http://schemas.microsoft.com/office/drawing/2014/main" id="{298C3C8C-5AA8-134E-DC9F-77F2D7C42C38}"/>
              </a:ext>
            </a:extLst>
          </p:cNvPr>
          <p:cNvPicPr>
            <a:picLocks noChangeAspect="1"/>
          </p:cNvPicPr>
          <p:nvPr/>
        </p:nvPicPr>
        <p:blipFill>
          <a:blip r:embed="rId3"/>
          <a:stretch>
            <a:fillRect/>
          </a:stretch>
        </p:blipFill>
        <p:spPr>
          <a:xfrm>
            <a:off x="264630" y="758838"/>
            <a:ext cx="9902825" cy="5587974"/>
          </a:xfrm>
          <a:prstGeom prst="rect">
            <a:avLst/>
          </a:prstGeom>
        </p:spPr>
      </p:pic>
    </p:spTree>
    <p:extLst>
      <p:ext uri="{BB962C8B-B14F-4D97-AF65-F5344CB8AC3E}">
        <p14:creationId xmlns:p14="http://schemas.microsoft.com/office/powerpoint/2010/main" val="8924074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0D54779A-AD07-0FD2-9027-C411F3892E16}"/>
            </a:ext>
          </a:extLst>
        </p:cNvPr>
        <p:cNvGrpSpPr/>
        <p:nvPr/>
      </p:nvGrpSpPr>
      <p:grpSpPr>
        <a:xfrm>
          <a:off x="0" y="0"/>
          <a:ext cx="0" cy="0"/>
          <a:chOff x="0" y="0"/>
          <a:chExt cx="0" cy="0"/>
        </a:xfrm>
      </p:grpSpPr>
      <p:sp>
        <p:nvSpPr>
          <p:cNvPr id="195" name="Google Shape;195;p5">
            <a:extLst>
              <a:ext uri="{FF2B5EF4-FFF2-40B4-BE49-F238E27FC236}">
                <a16:creationId xmlns:a16="http://schemas.microsoft.com/office/drawing/2014/main" id="{003C8AD9-F61F-0991-2B3C-949A929BBFC7}"/>
              </a:ext>
            </a:extLst>
          </p:cNvPr>
          <p:cNvSpPr/>
          <p:nvPr/>
        </p:nvSpPr>
        <p:spPr>
          <a:xfrm>
            <a:off x="531329" y="367084"/>
            <a:ext cx="9106866" cy="646331"/>
          </a:xfrm>
          <a:prstGeom prst="rect">
            <a:avLst/>
          </a:prstGeom>
          <a:noFill/>
          <a:ln>
            <a:noFill/>
          </a:ln>
        </p:spPr>
        <p:txBody>
          <a:bodyPr spcFirstLastPara="1" wrap="square" lIns="0" tIns="0" rIns="0" bIns="0" anchor="t" anchorCtr="0">
            <a:spAutoFit/>
          </a:bodyPr>
          <a:lstStyle/>
          <a:p>
            <a:pPr>
              <a:lnSpc>
                <a:spcPct val="150000"/>
              </a:lnSpc>
            </a:pPr>
            <a:r>
              <a:rPr lang="vi-VN" b="1" dirty="0"/>
              <a:t>Cấu trúc và cơ chế lưu trữ dữ liệu</a:t>
            </a:r>
          </a:p>
          <a:p>
            <a:pPr>
              <a:lnSpc>
                <a:spcPct val="150000"/>
              </a:lnSpc>
            </a:pPr>
            <a:endParaRPr lang="vi-VN" dirty="0"/>
          </a:p>
        </p:txBody>
      </p:sp>
      <p:pic>
        <p:nvPicPr>
          <p:cNvPr id="3" name="Picture 2">
            <a:extLst>
              <a:ext uri="{FF2B5EF4-FFF2-40B4-BE49-F238E27FC236}">
                <a16:creationId xmlns:a16="http://schemas.microsoft.com/office/drawing/2014/main" id="{C1A63FE8-6C6C-2190-0BA5-A0F0DAE8857A}"/>
              </a:ext>
            </a:extLst>
          </p:cNvPr>
          <p:cNvPicPr>
            <a:picLocks noChangeAspect="1"/>
          </p:cNvPicPr>
          <p:nvPr/>
        </p:nvPicPr>
        <p:blipFill>
          <a:blip r:embed="rId3"/>
          <a:stretch>
            <a:fillRect/>
          </a:stretch>
        </p:blipFill>
        <p:spPr>
          <a:xfrm>
            <a:off x="731356" y="1435646"/>
            <a:ext cx="8022120" cy="3986708"/>
          </a:xfrm>
          <a:prstGeom prst="rect">
            <a:avLst/>
          </a:prstGeom>
        </p:spPr>
      </p:pic>
    </p:spTree>
    <p:extLst>
      <p:ext uri="{BB962C8B-B14F-4D97-AF65-F5344CB8AC3E}">
        <p14:creationId xmlns:p14="http://schemas.microsoft.com/office/powerpoint/2010/main" val="288128177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418D0291-42A7-A99A-130E-FDC2B7B7C0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3CC2F21-6EF0-1E04-EE9B-C70E68E91988}"/>
              </a:ext>
            </a:extLst>
          </p:cNvPr>
          <p:cNvSpPr txBox="1"/>
          <p:nvPr/>
        </p:nvSpPr>
        <p:spPr>
          <a:xfrm>
            <a:off x="600074" y="690249"/>
            <a:ext cx="6200775" cy="5223033"/>
          </a:xfrm>
          <a:prstGeom prst="rect">
            <a:avLst/>
          </a:prstGeom>
          <a:noFill/>
        </p:spPr>
        <p:txBody>
          <a:bodyPr wrap="square">
            <a:spAutoFit/>
          </a:bodyPr>
          <a:lstStyle/>
          <a:p>
            <a:pPr>
              <a:lnSpc>
                <a:spcPct val="150000"/>
              </a:lnSpc>
              <a:buNone/>
            </a:pPr>
            <a:r>
              <a:rPr lang="en-US" b="1" dirty="0"/>
              <a:t>Quản </a:t>
            </a:r>
            <a:r>
              <a:rPr lang="en-US" b="1" dirty="0" err="1"/>
              <a:t>lý</a:t>
            </a:r>
            <a:r>
              <a:rPr lang="en-US" b="1" dirty="0"/>
              <a:t> </a:t>
            </a:r>
            <a:r>
              <a:rPr lang="en-US" b="1" dirty="0" err="1"/>
              <a:t>dữ</a:t>
            </a:r>
            <a:r>
              <a:rPr lang="en-US" b="1" dirty="0"/>
              <a:t> </a:t>
            </a:r>
            <a:r>
              <a:rPr lang="en-US" b="1" dirty="0" err="1"/>
              <a:t>liệu</a:t>
            </a:r>
            <a:r>
              <a:rPr lang="en-US" b="1" dirty="0"/>
              <a:t> Feed</a:t>
            </a:r>
          </a:p>
          <a:p>
            <a:pPr>
              <a:lnSpc>
                <a:spcPct val="150000"/>
              </a:lnSpc>
              <a:buNone/>
            </a:pPr>
            <a:r>
              <a:rPr lang="en-US" b="1" dirty="0"/>
              <a:t>Xem </a:t>
            </a:r>
            <a:r>
              <a:rPr lang="en-US" b="1" dirty="0" err="1"/>
              <a:t>dữ</a:t>
            </a:r>
            <a:r>
              <a:rPr lang="en-US" b="1" dirty="0"/>
              <a:t> </a:t>
            </a:r>
            <a:r>
              <a:rPr lang="en-US" b="1" dirty="0" err="1"/>
              <a:t>liệu</a:t>
            </a:r>
            <a:endParaRPr lang="en-US" b="1" dirty="0"/>
          </a:p>
          <a:p>
            <a:pPr>
              <a:lnSpc>
                <a:spcPct val="150000"/>
              </a:lnSpc>
              <a:buNone/>
            </a:pPr>
            <a:r>
              <a:rPr lang="en-US" dirty="0" err="1"/>
              <a:t>Vào</a:t>
            </a:r>
            <a:r>
              <a:rPr lang="en-US" dirty="0"/>
              <a:t> Feed → View Data</a:t>
            </a:r>
            <a:br>
              <a:rPr lang="en-US" dirty="0"/>
            </a:br>
            <a:r>
              <a:rPr lang="en-US" dirty="0"/>
              <a:t>Hiển </a:t>
            </a:r>
            <a:r>
              <a:rPr lang="en-US" dirty="0" err="1"/>
              <a:t>thị</a:t>
            </a:r>
            <a:r>
              <a:rPr lang="en-US" dirty="0"/>
              <a:t> </a:t>
            </a:r>
            <a:r>
              <a:rPr lang="en-US" dirty="0" err="1"/>
              <a:t>dạng</a:t>
            </a:r>
            <a:r>
              <a:rPr lang="en-US" dirty="0"/>
              <a:t>:</a:t>
            </a:r>
          </a:p>
          <a:p>
            <a:pPr>
              <a:lnSpc>
                <a:spcPct val="150000"/>
              </a:lnSpc>
              <a:buFont typeface="Arial" panose="020B0604020202020204" pitchFamily="34" charset="0"/>
              <a:buChar char="•"/>
            </a:pPr>
            <a:r>
              <a:rPr lang="en-US" dirty="0" err="1"/>
              <a:t>Bảng</a:t>
            </a:r>
            <a:endParaRPr lang="en-US" dirty="0"/>
          </a:p>
          <a:p>
            <a:pPr>
              <a:lnSpc>
                <a:spcPct val="150000"/>
              </a:lnSpc>
              <a:buFont typeface="Arial" panose="020B0604020202020204" pitchFamily="34" charset="0"/>
              <a:buChar char="•"/>
            </a:pPr>
            <a:r>
              <a:rPr lang="en-US" dirty="0" err="1"/>
              <a:t>Biểu</a:t>
            </a:r>
            <a:r>
              <a:rPr lang="en-US" dirty="0"/>
              <a:t> </a:t>
            </a:r>
            <a:r>
              <a:rPr lang="en-US" dirty="0" err="1"/>
              <a:t>đồ</a:t>
            </a:r>
            <a:r>
              <a:rPr lang="en-US" dirty="0"/>
              <a:t> </a:t>
            </a:r>
            <a:r>
              <a:rPr lang="en-US" dirty="0" err="1"/>
              <a:t>thời</a:t>
            </a:r>
            <a:r>
              <a:rPr lang="en-US" dirty="0"/>
              <a:t> </a:t>
            </a:r>
            <a:r>
              <a:rPr lang="en-US" dirty="0" err="1"/>
              <a:t>gian</a:t>
            </a:r>
            <a:endParaRPr lang="en-US" dirty="0"/>
          </a:p>
          <a:p>
            <a:pPr>
              <a:lnSpc>
                <a:spcPct val="150000"/>
              </a:lnSpc>
              <a:buNone/>
            </a:pPr>
            <a:r>
              <a:rPr lang="en-US" b="1" dirty="0" err="1"/>
              <a:t>Xóa</a:t>
            </a:r>
            <a:r>
              <a:rPr lang="en-US" b="1" dirty="0"/>
              <a:t> </a:t>
            </a:r>
            <a:r>
              <a:rPr lang="en-US" b="1" dirty="0" err="1"/>
              <a:t>dữ</a:t>
            </a:r>
            <a:r>
              <a:rPr lang="en-US" b="1" dirty="0"/>
              <a:t> </a:t>
            </a:r>
            <a:r>
              <a:rPr lang="en-US" b="1" dirty="0" err="1"/>
              <a:t>liệu</a:t>
            </a:r>
            <a:endParaRPr lang="en-US" b="1" dirty="0"/>
          </a:p>
          <a:p>
            <a:pPr>
              <a:lnSpc>
                <a:spcPct val="150000"/>
              </a:lnSpc>
              <a:buNone/>
            </a:pPr>
            <a:r>
              <a:rPr lang="en-US" dirty="0" err="1"/>
              <a:t>Có</a:t>
            </a:r>
            <a:r>
              <a:rPr lang="en-US" dirty="0"/>
              <a:t> </a:t>
            </a:r>
            <a:r>
              <a:rPr lang="en-US" dirty="0" err="1"/>
              <a:t>thể</a:t>
            </a:r>
            <a:r>
              <a:rPr lang="en-US" dirty="0"/>
              <a:t>:</a:t>
            </a:r>
          </a:p>
          <a:p>
            <a:pPr>
              <a:lnSpc>
                <a:spcPct val="150000"/>
              </a:lnSpc>
              <a:buFont typeface="Arial" panose="020B0604020202020204" pitchFamily="34" charset="0"/>
              <a:buChar char="•"/>
            </a:pPr>
            <a:r>
              <a:rPr lang="en-US" dirty="0" err="1"/>
              <a:t>Xóa</a:t>
            </a:r>
            <a:r>
              <a:rPr lang="en-US" dirty="0"/>
              <a:t> </a:t>
            </a:r>
            <a:r>
              <a:rPr lang="en-US" dirty="0" err="1"/>
              <a:t>từng</a:t>
            </a:r>
            <a:r>
              <a:rPr lang="en-US" dirty="0"/>
              <a:t> record</a:t>
            </a:r>
          </a:p>
          <a:p>
            <a:pPr>
              <a:lnSpc>
                <a:spcPct val="150000"/>
              </a:lnSpc>
              <a:buFont typeface="Arial" panose="020B0604020202020204" pitchFamily="34" charset="0"/>
              <a:buChar char="•"/>
            </a:pPr>
            <a:r>
              <a:rPr lang="en-US" dirty="0" err="1"/>
              <a:t>Xóa</a:t>
            </a:r>
            <a:r>
              <a:rPr lang="en-US" dirty="0"/>
              <a:t> </a:t>
            </a:r>
            <a:r>
              <a:rPr lang="en-US" dirty="0" err="1"/>
              <a:t>toàn</a:t>
            </a:r>
            <a:r>
              <a:rPr lang="en-US" dirty="0"/>
              <a:t> </a:t>
            </a:r>
            <a:r>
              <a:rPr lang="en-US" dirty="0" err="1"/>
              <a:t>bộ</a:t>
            </a:r>
            <a:r>
              <a:rPr lang="en-US" dirty="0"/>
              <a:t> data </a:t>
            </a:r>
            <a:r>
              <a:rPr lang="en-US" dirty="0" err="1"/>
              <a:t>trong</a:t>
            </a:r>
            <a:r>
              <a:rPr lang="en-US" dirty="0"/>
              <a:t> feed</a:t>
            </a:r>
          </a:p>
          <a:p>
            <a:pPr>
              <a:lnSpc>
                <a:spcPct val="150000"/>
              </a:lnSpc>
              <a:buFont typeface="Arial" panose="020B0604020202020204" pitchFamily="34" charset="0"/>
              <a:buChar char="•"/>
            </a:pPr>
            <a:r>
              <a:rPr lang="en-US" dirty="0" err="1"/>
              <a:t>Xóa</a:t>
            </a:r>
            <a:r>
              <a:rPr lang="en-US" dirty="0"/>
              <a:t> </a:t>
            </a:r>
            <a:r>
              <a:rPr lang="en-US" dirty="0" err="1"/>
              <a:t>cả</a:t>
            </a:r>
            <a:r>
              <a:rPr lang="en-US" dirty="0"/>
              <a:t> feed</a:t>
            </a:r>
          </a:p>
          <a:p>
            <a:pPr>
              <a:lnSpc>
                <a:spcPct val="150000"/>
              </a:lnSpc>
              <a:buNone/>
            </a:pPr>
            <a:r>
              <a:rPr lang="en-US" b="1" dirty="0" err="1"/>
              <a:t>Xuất</a:t>
            </a:r>
            <a:r>
              <a:rPr lang="en-US" b="1" dirty="0"/>
              <a:t> </a:t>
            </a:r>
            <a:r>
              <a:rPr lang="en-US" b="1" dirty="0" err="1"/>
              <a:t>dữ</a:t>
            </a:r>
            <a:r>
              <a:rPr lang="en-US" b="1" dirty="0"/>
              <a:t> </a:t>
            </a:r>
            <a:r>
              <a:rPr lang="en-US" b="1" dirty="0" err="1"/>
              <a:t>liệu</a:t>
            </a:r>
            <a:endParaRPr lang="en-US" b="1" dirty="0"/>
          </a:p>
          <a:p>
            <a:pPr>
              <a:lnSpc>
                <a:spcPct val="150000"/>
              </a:lnSpc>
              <a:buNone/>
            </a:pPr>
            <a:r>
              <a:rPr lang="en-US" dirty="0" err="1"/>
              <a:t>Có</a:t>
            </a:r>
            <a:r>
              <a:rPr lang="en-US" dirty="0"/>
              <a:t> </a:t>
            </a:r>
            <a:r>
              <a:rPr lang="en-US" dirty="0" err="1"/>
              <a:t>thể</a:t>
            </a:r>
            <a:r>
              <a:rPr lang="en-US" dirty="0"/>
              <a:t> export CSV </a:t>
            </a:r>
            <a:r>
              <a:rPr lang="en-US" dirty="0" err="1"/>
              <a:t>để</a:t>
            </a:r>
            <a:r>
              <a:rPr lang="en-US" dirty="0"/>
              <a:t>:</a:t>
            </a:r>
          </a:p>
          <a:p>
            <a:pPr>
              <a:lnSpc>
                <a:spcPct val="150000"/>
              </a:lnSpc>
              <a:buFont typeface="Arial" panose="020B0604020202020204" pitchFamily="34" charset="0"/>
              <a:buChar char="•"/>
            </a:pPr>
            <a:r>
              <a:rPr lang="en-US" dirty="0" err="1"/>
              <a:t>Phân</a:t>
            </a:r>
            <a:r>
              <a:rPr lang="en-US" dirty="0"/>
              <a:t> </a:t>
            </a:r>
            <a:r>
              <a:rPr lang="en-US" dirty="0" err="1"/>
              <a:t>tích</a:t>
            </a:r>
            <a:r>
              <a:rPr lang="en-US" dirty="0"/>
              <a:t> </a:t>
            </a:r>
            <a:r>
              <a:rPr lang="en-US" dirty="0" err="1"/>
              <a:t>bằng</a:t>
            </a:r>
            <a:r>
              <a:rPr lang="en-US" dirty="0"/>
              <a:t> Excel</a:t>
            </a:r>
          </a:p>
          <a:p>
            <a:pPr>
              <a:lnSpc>
                <a:spcPct val="150000"/>
              </a:lnSpc>
              <a:buFont typeface="Arial" panose="020B0604020202020204" pitchFamily="34" charset="0"/>
              <a:buChar char="•"/>
            </a:pPr>
            <a:r>
              <a:rPr lang="en-US" dirty="0" err="1"/>
              <a:t>Dùng</a:t>
            </a:r>
            <a:r>
              <a:rPr lang="en-US" dirty="0"/>
              <a:t> </a:t>
            </a:r>
            <a:r>
              <a:rPr lang="en-US" dirty="0" err="1"/>
              <a:t>cho</a:t>
            </a:r>
            <a:r>
              <a:rPr lang="en-US" dirty="0"/>
              <a:t> Machine Learning</a:t>
            </a:r>
          </a:p>
          <a:p>
            <a:pPr>
              <a:lnSpc>
                <a:spcPct val="150000"/>
              </a:lnSpc>
              <a:buFont typeface="Arial" panose="020B0604020202020204" pitchFamily="34" charset="0"/>
              <a:buChar char="•"/>
            </a:pPr>
            <a:r>
              <a:rPr lang="en-US" dirty="0" err="1"/>
              <a:t>Thống</a:t>
            </a:r>
            <a:r>
              <a:rPr lang="en-US" dirty="0"/>
              <a:t> </a:t>
            </a:r>
            <a:r>
              <a:rPr lang="en-US" dirty="0" err="1"/>
              <a:t>kê</a:t>
            </a:r>
            <a:endParaRPr lang="en-US" dirty="0"/>
          </a:p>
        </p:txBody>
      </p:sp>
    </p:spTree>
    <p:extLst>
      <p:ext uri="{BB962C8B-B14F-4D97-AF65-F5344CB8AC3E}">
        <p14:creationId xmlns:p14="http://schemas.microsoft.com/office/powerpoint/2010/main" val="8078824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34656D58-13CF-6023-3B2B-80683F980A88}"/>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A49559BB-E8D9-EEDE-6A9A-3D304F7D276A}"/>
              </a:ext>
            </a:extLst>
          </p:cNvPr>
          <p:cNvSpPr/>
          <p:nvPr/>
        </p:nvSpPr>
        <p:spPr>
          <a:xfrm>
            <a:off x="990000" y="3152001"/>
            <a:ext cx="8819923"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chemeClr val="dk1"/>
                </a:solidFill>
              </a:rPr>
              <a:t>Tạo</a:t>
            </a:r>
            <a:r>
              <a:rPr lang="en-US" sz="3600" b="1" dirty="0">
                <a:solidFill>
                  <a:schemeClr val="dk1"/>
                </a:solidFill>
              </a:rPr>
              <a:t> </a:t>
            </a:r>
            <a:r>
              <a:rPr lang="en-US" sz="3600" b="1" dirty="0" err="1">
                <a:solidFill>
                  <a:schemeClr val="dk1"/>
                </a:solidFill>
              </a:rPr>
              <a:t>màn</a:t>
            </a:r>
            <a:r>
              <a:rPr lang="en-US" sz="3600" b="1" dirty="0">
                <a:solidFill>
                  <a:schemeClr val="dk1"/>
                </a:solidFill>
              </a:rPr>
              <a:t> </a:t>
            </a:r>
            <a:r>
              <a:rPr lang="en-US" sz="3600" b="1" dirty="0" err="1">
                <a:solidFill>
                  <a:schemeClr val="dk1"/>
                </a:solidFill>
              </a:rPr>
              <a:t>hình</a:t>
            </a:r>
            <a:r>
              <a:rPr lang="en-US" sz="3600" b="1" dirty="0">
                <a:solidFill>
                  <a:schemeClr val="dk1"/>
                </a:solidFill>
              </a:rPr>
              <a:t> </a:t>
            </a:r>
            <a:r>
              <a:rPr lang="en-US" sz="3600" b="1" dirty="0" err="1">
                <a:solidFill>
                  <a:schemeClr val="dk1"/>
                </a:solidFill>
              </a:rPr>
              <a:t>điều</a:t>
            </a:r>
            <a:r>
              <a:rPr lang="en-US" sz="3600" b="1" dirty="0">
                <a:solidFill>
                  <a:schemeClr val="dk1"/>
                </a:solidFill>
              </a:rPr>
              <a:t> </a:t>
            </a:r>
            <a:r>
              <a:rPr lang="en-US" sz="3600" b="1" dirty="0" err="1">
                <a:solidFill>
                  <a:schemeClr val="dk1"/>
                </a:solidFill>
              </a:rPr>
              <a:t>hành</a:t>
            </a:r>
            <a:r>
              <a:rPr lang="en-US" sz="3600" b="1" dirty="0">
                <a:solidFill>
                  <a:schemeClr val="dk1"/>
                </a:solidFill>
              </a:rPr>
              <a:t> </a:t>
            </a:r>
            <a:r>
              <a:rPr lang="en-US" sz="3600" b="1" dirty="0" err="1">
                <a:solidFill>
                  <a:schemeClr val="dk1"/>
                </a:solidFill>
              </a:rPr>
              <a:t>trên</a:t>
            </a:r>
            <a:r>
              <a:rPr lang="en-US" sz="3600" b="1" dirty="0">
                <a:solidFill>
                  <a:schemeClr val="dk1"/>
                </a:solidFill>
              </a:rPr>
              <a:t> Adafruit IO </a:t>
            </a:r>
          </a:p>
        </p:txBody>
      </p:sp>
      <p:sp>
        <p:nvSpPr>
          <p:cNvPr id="177" name="Google Shape;177;p4">
            <a:extLst>
              <a:ext uri="{FF2B5EF4-FFF2-40B4-BE49-F238E27FC236}">
                <a16:creationId xmlns:a16="http://schemas.microsoft.com/office/drawing/2014/main" id="{AC5806C4-F916-CE7F-FA1B-7542F5302011}"/>
              </a:ext>
            </a:extLst>
          </p:cNvPr>
          <p:cNvSpPr/>
          <p:nvPr/>
        </p:nvSpPr>
        <p:spPr>
          <a:xfrm>
            <a:off x="990000" y="2748477"/>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5.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D4CC64AE-1F6B-65F1-3C2D-1988CFE23414}"/>
              </a:ext>
            </a:extLst>
          </p:cNvPr>
          <p:cNvSpPr/>
          <p:nvPr/>
        </p:nvSpPr>
        <p:spPr>
          <a:xfrm>
            <a:off x="1054111" y="3883135"/>
            <a:ext cx="4184315" cy="682238"/>
          </a:xfrm>
          <a:prstGeom prst="rect">
            <a:avLst/>
          </a:prstGeom>
          <a:noFill/>
          <a:ln>
            <a:noFill/>
          </a:ln>
        </p:spPr>
        <p:txBody>
          <a:bodyPr spcFirstLastPara="1" wrap="square" lIns="0" tIns="0" rIns="0" bIns="0" anchor="t" anchorCtr="0">
            <a:spAutoFit/>
          </a:bodyPr>
          <a:lstStyle/>
          <a:p>
            <a:pPr marL="176213" marR="0" lvl="0" indent="-176213" algn="l" rtl="0">
              <a:spcBef>
                <a:spcPts val="0"/>
              </a:spcBef>
              <a:spcAft>
                <a:spcPts val="0"/>
              </a:spcAft>
              <a:buClr>
                <a:srgbClr val="3F3F3F"/>
              </a:buClr>
              <a:buSzPts val="2160"/>
              <a:buFont typeface="Arial"/>
              <a:buChar char="•"/>
            </a:pPr>
            <a:r>
              <a:rPr lang="en-US" sz="1800" dirty="0">
                <a:solidFill>
                  <a:srgbClr val="A6A6A6"/>
                </a:solidFill>
                <a:latin typeface="Arial"/>
                <a:ea typeface="Arial"/>
                <a:cs typeface="Arial"/>
                <a:sym typeface="Arial"/>
              </a:rPr>
              <a:t>. </a:t>
            </a:r>
          </a:p>
          <a:p>
            <a:pPr marL="176213" marR="0" lvl="0" indent="-176213" algn="l" rtl="0">
              <a:spcBef>
                <a:spcPts val="1000"/>
              </a:spcBef>
              <a:spcAft>
                <a:spcPts val="0"/>
              </a:spcAft>
              <a:buClr>
                <a:srgbClr val="A6A6A6"/>
              </a:buClr>
              <a:buSzPts val="2160"/>
              <a:buFont typeface="Arial"/>
              <a:buChar char="•"/>
            </a:pPr>
            <a:endParaRPr sz="1800"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14718777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7B8F841B-7993-8FD2-EED8-89DCD630B9F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1C2C0FF-CC34-D368-2458-6BECF015F993}"/>
              </a:ext>
            </a:extLst>
          </p:cNvPr>
          <p:cNvSpPr txBox="1"/>
          <p:nvPr/>
        </p:nvSpPr>
        <p:spPr>
          <a:xfrm>
            <a:off x="581024" y="433074"/>
            <a:ext cx="6534151" cy="6192529"/>
          </a:xfrm>
          <a:prstGeom prst="rect">
            <a:avLst/>
          </a:prstGeom>
          <a:noFill/>
        </p:spPr>
        <p:txBody>
          <a:bodyPr wrap="square">
            <a:spAutoFit/>
          </a:bodyPr>
          <a:lstStyle/>
          <a:p>
            <a:pPr>
              <a:lnSpc>
                <a:spcPct val="150000"/>
              </a:lnSpc>
            </a:pPr>
            <a:r>
              <a:rPr lang="en-US" dirty="0"/>
              <a:t>T</a:t>
            </a:r>
            <a:r>
              <a:rPr lang="vi-VN" dirty="0"/>
              <a:t>rong Adafruit IO, “màn hình điều hành” chính là </a:t>
            </a:r>
            <a:r>
              <a:rPr lang="vi-VN" b="1" dirty="0"/>
              <a:t>Dashboard</a:t>
            </a:r>
            <a:r>
              <a:rPr lang="vi-VN" dirty="0"/>
              <a:t>. Đây là lớp giao diện trực quan để:</a:t>
            </a:r>
          </a:p>
          <a:p>
            <a:pPr>
              <a:lnSpc>
                <a:spcPct val="150000"/>
              </a:lnSpc>
            </a:pPr>
            <a:r>
              <a:rPr lang="vi-VN" dirty="0"/>
              <a:t>• Giám sát dữ liệu thời gian thực</a:t>
            </a:r>
            <a:br>
              <a:rPr lang="vi-VN" dirty="0"/>
            </a:br>
            <a:r>
              <a:rPr lang="vi-VN" dirty="0"/>
              <a:t>• Điều khiển thiết bị từ xa</a:t>
            </a:r>
            <a:br>
              <a:rPr lang="vi-VN" dirty="0"/>
            </a:br>
            <a:r>
              <a:rPr lang="vi-VN" dirty="0"/>
              <a:t>• Phân tích xu hướng theo thời gian</a:t>
            </a:r>
          </a:p>
          <a:p>
            <a:pPr>
              <a:lnSpc>
                <a:spcPct val="150000"/>
              </a:lnSpc>
            </a:pPr>
            <a:r>
              <a:rPr lang="vi-VN" b="1" dirty="0"/>
              <a:t>Tạo Dashboard mới</a:t>
            </a:r>
          </a:p>
          <a:p>
            <a:pPr>
              <a:lnSpc>
                <a:spcPct val="150000"/>
              </a:lnSpc>
            </a:pPr>
            <a:r>
              <a:rPr lang="vi-VN" dirty="0"/>
              <a:t>Bước thực hiện:</a:t>
            </a:r>
          </a:p>
          <a:p>
            <a:pPr>
              <a:lnSpc>
                <a:spcPct val="150000"/>
              </a:lnSpc>
            </a:pPr>
            <a:r>
              <a:rPr lang="vi-VN" dirty="0"/>
              <a:t>Đăng nhập Adafruit IO</a:t>
            </a:r>
          </a:p>
          <a:p>
            <a:pPr>
              <a:lnSpc>
                <a:spcPct val="150000"/>
              </a:lnSpc>
            </a:pPr>
            <a:r>
              <a:rPr lang="vi-VN" dirty="0"/>
              <a:t>Chọn mục </a:t>
            </a:r>
            <a:r>
              <a:rPr lang="vi-VN" b="1" dirty="0"/>
              <a:t>Dashboards</a:t>
            </a:r>
            <a:endParaRPr lang="vi-VN" dirty="0"/>
          </a:p>
          <a:p>
            <a:pPr>
              <a:lnSpc>
                <a:spcPct val="150000"/>
              </a:lnSpc>
            </a:pPr>
            <a:r>
              <a:rPr lang="vi-VN" dirty="0"/>
              <a:t>Nhấn </a:t>
            </a:r>
            <a:r>
              <a:rPr lang="vi-VN" b="1" dirty="0"/>
              <a:t>New Dashboard</a:t>
            </a:r>
            <a:endParaRPr lang="vi-VN" dirty="0"/>
          </a:p>
          <a:p>
            <a:pPr>
              <a:lnSpc>
                <a:spcPct val="150000"/>
              </a:lnSpc>
            </a:pPr>
            <a:r>
              <a:rPr lang="vi-VN" dirty="0"/>
              <a:t>Nhập:</a:t>
            </a:r>
          </a:p>
          <a:p>
            <a:pPr lvl="1">
              <a:lnSpc>
                <a:spcPct val="150000"/>
              </a:lnSpc>
            </a:pPr>
            <a:r>
              <a:rPr lang="vi-VN" dirty="0"/>
              <a:t>Name (ví dụ: IoT_Room1_Control)</a:t>
            </a:r>
          </a:p>
          <a:p>
            <a:pPr lvl="1">
              <a:lnSpc>
                <a:spcPct val="150000"/>
              </a:lnSpc>
            </a:pPr>
            <a:r>
              <a:rPr lang="vi-VN" dirty="0"/>
              <a:t>Description (tuỳ chọn)</a:t>
            </a:r>
          </a:p>
          <a:p>
            <a:pPr>
              <a:lnSpc>
                <a:spcPct val="150000"/>
              </a:lnSpc>
            </a:pPr>
            <a:r>
              <a:rPr lang="vi-VN" dirty="0"/>
              <a:t>Create</a:t>
            </a:r>
          </a:p>
          <a:p>
            <a:pPr>
              <a:lnSpc>
                <a:spcPct val="150000"/>
              </a:lnSpc>
            </a:pPr>
            <a:r>
              <a:rPr lang="vi-VN" dirty="0"/>
              <a:t>Dashboard lúc này đang trống (blank canvas).</a:t>
            </a:r>
          </a:p>
          <a:p>
            <a:pPr>
              <a:lnSpc>
                <a:spcPct val="150000"/>
              </a:lnSpc>
            </a:pPr>
            <a:r>
              <a:rPr lang="en-US" b="1" dirty="0" err="1"/>
              <a:t>hêm</a:t>
            </a:r>
            <a:r>
              <a:rPr lang="en-US" b="1" dirty="0"/>
              <a:t> Block </a:t>
            </a:r>
            <a:r>
              <a:rPr lang="en-US" b="1" dirty="0" err="1"/>
              <a:t>vào</a:t>
            </a:r>
            <a:r>
              <a:rPr lang="en-US" b="1" dirty="0"/>
              <a:t> Dashboard</a:t>
            </a:r>
          </a:p>
          <a:p>
            <a:pPr>
              <a:lnSpc>
                <a:spcPct val="150000"/>
              </a:lnSpc>
            </a:pPr>
            <a:r>
              <a:rPr lang="en-US" dirty="0"/>
              <a:t>Block </a:t>
            </a:r>
            <a:r>
              <a:rPr lang="en-US" dirty="0" err="1"/>
              <a:t>là</a:t>
            </a:r>
            <a:r>
              <a:rPr lang="en-US" dirty="0"/>
              <a:t> </a:t>
            </a:r>
            <a:r>
              <a:rPr lang="en-US" dirty="0" err="1"/>
              <a:t>thành</a:t>
            </a:r>
            <a:r>
              <a:rPr lang="en-US" dirty="0"/>
              <a:t> </a:t>
            </a:r>
            <a:r>
              <a:rPr lang="en-US" dirty="0" err="1"/>
              <a:t>phần</a:t>
            </a:r>
            <a:r>
              <a:rPr lang="en-US" dirty="0"/>
              <a:t> </a:t>
            </a:r>
            <a:r>
              <a:rPr lang="en-US" dirty="0" err="1"/>
              <a:t>giao</a:t>
            </a:r>
            <a:r>
              <a:rPr lang="en-US" dirty="0"/>
              <a:t> </a:t>
            </a:r>
            <a:r>
              <a:rPr lang="en-US" dirty="0" err="1"/>
              <a:t>diện</a:t>
            </a:r>
            <a:r>
              <a:rPr lang="en-US" dirty="0"/>
              <a:t> </a:t>
            </a:r>
            <a:r>
              <a:rPr lang="en-US" dirty="0" err="1"/>
              <a:t>liên</a:t>
            </a:r>
            <a:r>
              <a:rPr lang="en-US" dirty="0"/>
              <a:t> </a:t>
            </a:r>
            <a:r>
              <a:rPr lang="en-US" dirty="0" err="1"/>
              <a:t>kết</a:t>
            </a:r>
            <a:r>
              <a:rPr lang="en-US" dirty="0"/>
              <a:t> </a:t>
            </a:r>
            <a:r>
              <a:rPr lang="en-US" dirty="0" err="1"/>
              <a:t>với</a:t>
            </a:r>
            <a:r>
              <a:rPr lang="en-US" dirty="0"/>
              <a:t> Feed.</a:t>
            </a:r>
          </a:p>
          <a:p>
            <a:pPr>
              <a:lnSpc>
                <a:spcPct val="150000"/>
              </a:lnSpc>
            </a:pPr>
            <a:r>
              <a:rPr lang="en-US" dirty="0" err="1"/>
              <a:t>Chọn</a:t>
            </a:r>
            <a:r>
              <a:rPr lang="en-US" dirty="0"/>
              <a:t> </a:t>
            </a:r>
            <a:r>
              <a:rPr lang="en-US" b="1" dirty="0"/>
              <a:t>Create New Block</a:t>
            </a:r>
            <a:r>
              <a:rPr lang="en-US" dirty="0"/>
              <a:t> → </a:t>
            </a:r>
            <a:r>
              <a:rPr lang="en-US" dirty="0" err="1"/>
              <a:t>chọn</a:t>
            </a:r>
            <a:r>
              <a:rPr lang="en-US" dirty="0"/>
              <a:t> </a:t>
            </a:r>
            <a:r>
              <a:rPr lang="en-US" dirty="0" err="1"/>
              <a:t>loại</a:t>
            </a:r>
            <a:r>
              <a:rPr lang="en-US" dirty="0"/>
              <a:t> block → </a:t>
            </a:r>
            <a:r>
              <a:rPr lang="en-US" dirty="0" err="1"/>
              <a:t>chọn</a:t>
            </a:r>
            <a:r>
              <a:rPr lang="en-US" dirty="0"/>
              <a:t> Feed </a:t>
            </a:r>
            <a:r>
              <a:rPr lang="en-US" dirty="0" err="1"/>
              <a:t>cần</a:t>
            </a:r>
            <a:r>
              <a:rPr lang="en-US" dirty="0"/>
              <a:t> </a:t>
            </a:r>
            <a:r>
              <a:rPr lang="en-US" dirty="0" err="1"/>
              <a:t>gắn</a:t>
            </a:r>
            <a:r>
              <a:rPr lang="en-US" dirty="0"/>
              <a:t>.</a:t>
            </a:r>
          </a:p>
          <a:p>
            <a:pPr>
              <a:lnSpc>
                <a:spcPct val="150000"/>
              </a:lnSpc>
              <a:buFont typeface="Arial" panose="020B0604020202020204" pitchFamily="34" charset="0"/>
              <a:buChar char="•"/>
            </a:pPr>
            <a:endParaRPr lang="en-US" dirty="0"/>
          </a:p>
        </p:txBody>
      </p:sp>
    </p:spTree>
    <p:extLst>
      <p:ext uri="{BB962C8B-B14F-4D97-AF65-F5344CB8AC3E}">
        <p14:creationId xmlns:p14="http://schemas.microsoft.com/office/powerpoint/2010/main" val="34659651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231D67AB-D311-B313-DA09-F7ACDC5EDD6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715BD4B-64C7-51AF-A9C5-3380F454F624}"/>
              </a:ext>
            </a:extLst>
          </p:cNvPr>
          <p:cNvPicPr>
            <a:picLocks noChangeAspect="1"/>
          </p:cNvPicPr>
          <p:nvPr/>
        </p:nvPicPr>
        <p:blipFill>
          <a:blip r:embed="rId3"/>
          <a:stretch>
            <a:fillRect/>
          </a:stretch>
        </p:blipFill>
        <p:spPr>
          <a:xfrm>
            <a:off x="347662" y="549029"/>
            <a:ext cx="9207500" cy="2995287"/>
          </a:xfrm>
          <a:prstGeom prst="rect">
            <a:avLst/>
          </a:prstGeom>
        </p:spPr>
      </p:pic>
      <p:pic>
        <p:nvPicPr>
          <p:cNvPr id="6" name="Picture 5">
            <a:extLst>
              <a:ext uri="{FF2B5EF4-FFF2-40B4-BE49-F238E27FC236}">
                <a16:creationId xmlns:a16="http://schemas.microsoft.com/office/drawing/2014/main" id="{257024CA-0C43-56BC-419E-29D901B326A7}"/>
              </a:ext>
            </a:extLst>
          </p:cNvPr>
          <p:cNvPicPr>
            <a:picLocks noChangeAspect="1"/>
          </p:cNvPicPr>
          <p:nvPr/>
        </p:nvPicPr>
        <p:blipFill>
          <a:blip r:embed="rId4"/>
          <a:stretch>
            <a:fillRect/>
          </a:stretch>
        </p:blipFill>
        <p:spPr>
          <a:xfrm>
            <a:off x="752474" y="3544316"/>
            <a:ext cx="4522787" cy="2905506"/>
          </a:xfrm>
          <a:prstGeom prst="rect">
            <a:avLst/>
          </a:prstGeom>
        </p:spPr>
      </p:pic>
    </p:spTree>
    <p:extLst>
      <p:ext uri="{BB962C8B-B14F-4D97-AF65-F5344CB8AC3E}">
        <p14:creationId xmlns:p14="http://schemas.microsoft.com/office/powerpoint/2010/main" val="2512757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951085DC-B229-6945-049A-DC897CDBDCE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3FF9FCE-1D90-B91A-CD89-95BFC7F15126}"/>
              </a:ext>
            </a:extLst>
          </p:cNvPr>
          <p:cNvPicPr>
            <a:picLocks noChangeAspect="1"/>
          </p:cNvPicPr>
          <p:nvPr/>
        </p:nvPicPr>
        <p:blipFill>
          <a:blip r:embed="rId3"/>
          <a:stretch>
            <a:fillRect/>
          </a:stretch>
        </p:blipFill>
        <p:spPr>
          <a:xfrm>
            <a:off x="1174749" y="380922"/>
            <a:ext cx="7553325" cy="2303109"/>
          </a:xfrm>
          <a:prstGeom prst="rect">
            <a:avLst/>
          </a:prstGeom>
        </p:spPr>
      </p:pic>
    </p:spTree>
    <p:extLst>
      <p:ext uri="{BB962C8B-B14F-4D97-AF65-F5344CB8AC3E}">
        <p14:creationId xmlns:p14="http://schemas.microsoft.com/office/powerpoint/2010/main" val="33256385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BE4469B3-4917-79CE-B37A-E39B699FE47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FF0F784-1FC8-8271-D08C-2A6F0C0571CB}"/>
              </a:ext>
            </a:extLst>
          </p:cNvPr>
          <p:cNvPicPr>
            <a:picLocks noChangeAspect="1"/>
          </p:cNvPicPr>
          <p:nvPr/>
        </p:nvPicPr>
        <p:blipFill>
          <a:blip r:embed="rId3"/>
          <a:stretch>
            <a:fillRect/>
          </a:stretch>
        </p:blipFill>
        <p:spPr>
          <a:xfrm>
            <a:off x="2400300" y="918328"/>
            <a:ext cx="5486399" cy="5021343"/>
          </a:xfrm>
          <a:prstGeom prst="rect">
            <a:avLst/>
          </a:prstGeom>
        </p:spPr>
      </p:pic>
    </p:spTree>
    <p:extLst>
      <p:ext uri="{BB962C8B-B14F-4D97-AF65-F5344CB8AC3E}">
        <p14:creationId xmlns:p14="http://schemas.microsoft.com/office/powerpoint/2010/main" val="13535540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C8EFFE8-2F70-3C76-24DC-EB8078D935E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939C403-8B7D-4E9E-8BD4-12D919563426}"/>
              </a:ext>
            </a:extLst>
          </p:cNvPr>
          <p:cNvPicPr>
            <a:picLocks noChangeAspect="1"/>
          </p:cNvPicPr>
          <p:nvPr/>
        </p:nvPicPr>
        <p:blipFill>
          <a:blip r:embed="rId3"/>
          <a:stretch>
            <a:fillRect/>
          </a:stretch>
        </p:blipFill>
        <p:spPr>
          <a:xfrm>
            <a:off x="717550" y="538162"/>
            <a:ext cx="8467725" cy="5781675"/>
          </a:xfrm>
          <a:prstGeom prst="rect">
            <a:avLst/>
          </a:prstGeom>
        </p:spPr>
      </p:pic>
    </p:spTree>
    <p:extLst>
      <p:ext uri="{BB962C8B-B14F-4D97-AF65-F5344CB8AC3E}">
        <p14:creationId xmlns:p14="http://schemas.microsoft.com/office/powerpoint/2010/main" val="18898248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34CC5BA2-FD3C-5C0C-E513-9603443E4D2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0576668-4B4D-5FE3-309C-E57B78AFDBFB}"/>
              </a:ext>
            </a:extLst>
          </p:cNvPr>
          <p:cNvPicPr>
            <a:picLocks noChangeAspect="1"/>
          </p:cNvPicPr>
          <p:nvPr/>
        </p:nvPicPr>
        <p:blipFill>
          <a:blip r:embed="rId3"/>
          <a:stretch>
            <a:fillRect/>
          </a:stretch>
        </p:blipFill>
        <p:spPr>
          <a:xfrm>
            <a:off x="2209800" y="386710"/>
            <a:ext cx="5700586" cy="5721990"/>
          </a:xfrm>
          <a:prstGeom prst="rect">
            <a:avLst/>
          </a:prstGeom>
        </p:spPr>
      </p:pic>
    </p:spTree>
    <p:extLst>
      <p:ext uri="{BB962C8B-B14F-4D97-AF65-F5344CB8AC3E}">
        <p14:creationId xmlns:p14="http://schemas.microsoft.com/office/powerpoint/2010/main" val="27470837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B77777BB-78D7-5910-339A-2402C9D261C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62A30A4-9CE9-C702-F14A-5B2BFD76AA35}"/>
              </a:ext>
            </a:extLst>
          </p:cNvPr>
          <p:cNvPicPr>
            <a:picLocks noChangeAspect="1"/>
          </p:cNvPicPr>
          <p:nvPr/>
        </p:nvPicPr>
        <p:blipFill>
          <a:blip r:embed="rId3"/>
          <a:stretch>
            <a:fillRect/>
          </a:stretch>
        </p:blipFill>
        <p:spPr>
          <a:xfrm>
            <a:off x="2209800" y="386710"/>
            <a:ext cx="5700586" cy="5721990"/>
          </a:xfrm>
          <a:prstGeom prst="rect">
            <a:avLst/>
          </a:prstGeom>
        </p:spPr>
      </p:pic>
      <p:pic>
        <p:nvPicPr>
          <p:cNvPr id="6" name="Picture 5">
            <a:extLst>
              <a:ext uri="{FF2B5EF4-FFF2-40B4-BE49-F238E27FC236}">
                <a16:creationId xmlns:a16="http://schemas.microsoft.com/office/drawing/2014/main" id="{744E794E-C014-09B0-8409-8478914CD466}"/>
              </a:ext>
            </a:extLst>
          </p:cNvPr>
          <p:cNvPicPr>
            <a:picLocks noChangeAspect="1"/>
          </p:cNvPicPr>
          <p:nvPr/>
        </p:nvPicPr>
        <p:blipFill>
          <a:blip r:embed="rId4"/>
          <a:stretch>
            <a:fillRect/>
          </a:stretch>
        </p:blipFill>
        <p:spPr>
          <a:xfrm>
            <a:off x="0" y="531535"/>
            <a:ext cx="9902825" cy="5794930"/>
          </a:xfrm>
          <a:prstGeom prst="rect">
            <a:avLst/>
          </a:prstGeom>
        </p:spPr>
      </p:pic>
    </p:spTree>
    <p:extLst>
      <p:ext uri="{BB962C8B-B14F-4D97-AF65-F5344CB8AC3E}">
        <p14:creationId xmlns:p14="http://schemas.microsoft.com/office/powerpoint/2010/main" val="27844647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1DF3D08D-2563-FEFC-346B-707496D81D9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C49FF9-638A-50B3-69AB-8720D16F59A8}"/>
              </a:ext>
            </a:extLst>
          </p:cNvPr>
          <p:cNvSpPr txBox="1"/>
          <p:nvPr/>
        </p:nvSpPr>
        <p:spPr>
          <a:xfrm>
            <a:off x="558800" y="930176"/>
            <a:ext cx="8369300" cy="4576702"/>
          </a:xfrm>
          <a:prstGeom prst="rect">
            <a:avLst/>
          </a:prstGeom>
          <a:noFill/>
        </p:spPr>
        <p:txBody>
          <a:bodyPr wrap="square">
            <a:spAutoFit/>
          </a:bodyPr>
          <a:lstStyle/>
          <a:p>
            <a:pPr>
              <a:lnSpc>
                <a:spcPct val="150000"/>
              </a:lnSpc>
              <a:buNone/>
            </a:pPr>
            <a:r>
              <a:rPr lang="vi-VN" dirty="0"/>
              <a:t>Trên nền tảng Adafruit IO, nội dung có thể tóm tắt dạng ý như sau:</a:t>
            </a:r>
          </a:p>
          <a:p>
            <a:pPr>
              <a:lnSpc>
                <a:spcPct val="150000"/>
              </a:lnSpc>
              <a:buNone/>
            </a:pPr>
            <a:r>
              <a:rPr lang="vi-VN" dirty="0"/>
              <a:t>• Thiết kế dashboard theo cấu trúc ba tầng rõ ràng</a:t>
            </a:r>
          </a:p>
          <a:p>
            <a:pPr>
              <a:lnSpc>
                <a:spcPct val="150000"/>
              </a:lnSpc>
              <a:buNone/>
            </a:pPr>
            <a:r>
              <a:rPr lang="vi-VN" dirty="0"/>
              <a:t>• Tầng 1 (giám sát tức thời): Gauge nhiệt độ và Gauge độ ẩm</a:t>
            </a:r>
          </a:p>
          <a:p>
            <a:pPr>
              <a:lnSpc>
                <a:spcPct val="150000"/>
              </a:lnSpc>
              <a:buNone/>
            </a:pPr>
            <a:r>
              <a:rPr lang="vi-VN" dirty="0"/>
              <a:t>• Tầng 2 (phân tích xu hướng): Line Chart nhiệt độ và Line Chart độ ẩm</a:t>
            </a:r>
          </a:p>
          <a:p>
            <a:pPr>
              <a:lnSpc>
                <a:spcPct val="150000"/>
              </a:lnSpc>
              <a:buNone/>
            </a:pPr>
            <a:r>
              <a:rPr lang="vi-VN" dirty="0"/>
              <a:t>• Tầng 3 (điều khiển): Toggle quạt, Toggle đèn, Slider điều chỉnh tham số</a:t>
            </a:r>
          </a:p>
          <a:p>
            <a:pPr>
              <a:lnSpc>
                <a:spcPct val="150000"/>
              </a:lnSpc>
              <a:buNone/>
            </a:pPr>
            <a:r>
              <a:rPr lang="vi-VN" dirty="0"/>
              <a:t>• Nguyên tắc thiết kế: tách biệt nhóm giám sát và nhóm điều khiển để tránh rối giao diện</a:t>
            </a:r>
          </a:p>
          <a:p>
            <a:pPr>
              <a:lnSpc>
                <a:spcPct val="150000"/>
              </a:lnSpc>
              <a:buNone/>
            </a:pPr>
            <a:r>
              <a:rPr lang="vi-VN" dirty="0"/>
              <a:t>• Luồng dữ liệu :</a:t>
            </a:r>
            <a:br>
              <a:rPr lang="vi-VN" dirty="0"/>
            </a:br>
            <a:r>
              <a:rPr lang="vi-VN" dirty="0"/>
              <a:t>Sensor → Publish → Feed → Dashboard (hiển thị)</a:t>
            </a:r>
          </a:p>
          <a:p>
            <a:pPr>
              <a:lnSpc>
                <a:spcPct val="150000"/>
              </a:lnSpc>
              <a:buNone/>
            </a:pPr>
            <a:r>
              <a:rPr lang="vi-VN" dirty="0"/>
              <a:t>• Luồng điều khiển ngược:</a:t>
            </a:r>
            <a:br>
              <a:rPr lang="vi-VN" dirty="0"/>
            </a:br>
            <a:r>
              <a:rPr lang="vi-VN" dirty="0"/>
              <a:t>Dashboard → Feed → Device Subscribe → Actuator</a:t>
            </a:r>
          </a:p>
          <a:p>
            <a:pPr>
              <a:lnSpc>
                <a:spcPct val="150000"/>
              </a:lnSpc>
              <a:buNone/>
            </a:pPr>
            <a:r>
              <a:rPr lang="vi-VN" dirty="0"/>
              <a:t>• Cấu hình realtime: bật Auto Refresh, chọn Time Window phù hợp giới hạn gói Free</a:t>
            </a:r>
          </a:p>
          <a:p>
            <a:pPr>
              <a:lnSpc>
                <a:spcPct val="150000"/>
              </a:lnSpc>
              <a:buNone/>
            </a:pPr>
            <a:r>
              <a:rPr lang="vi-VN" dirty="0"/>
              <a:t>• Khi hệ thống mở rộng: tạo nhiều Dashboard theo từng khu vực (Room1, Room2, Outdoor) hoặc sử dụng Group Feed để quản lý theo thiết bị và đảm bảo khả năng mở rộng hệ thống</a:t>
            </a:r>
            <a:endParaRPr lang="en-US" dirty="0"/>
          </a:p>
          <a:p>
            <a:pPr>
              <a:lnSpc>
                <a:spcPct val="150000"/>
              </a:lnSpc>
              <a:buNone/>
            </a:pPr>
            <a:endParaRPr lang="vi-VN" dirty="0"/>
          </a:p>
        </p:txBody>
      </p:sp>
    </p:spTree>
    <p:extLst>
      <p:ext uri="{BB962C8B-B14F-4D97-AF65-F5344CB8AC3E}">
        <p14:creationId xmlns:p14="http://schemas.microsoft.com/office/powerpoint/2010/main" val="18552853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DC9DB89F-D117-EF28-53FF-F6322F918F30}"/>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B5A49583-BD3F-9D5E-1177-1639AAE7DBEF}"/>
              </a:ext>
            </a:extLst>
          </p:cNvPr>
          <p:cNvSpPr/>
          <p:nvPr/>
        </p:nvSpPr>
        <p:spPr>
          <a:xfrm>
            <a:off x="990000" y="3152001"/>
            <a:ext cx="8819923"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600" b="1" dirty="0">
                <a:solidFill>
                  <a:schemeClr val="dk1"/>
                </a:solidFill>
              </a:rPr>
              <a:t>Thư viện lập trình cho kết nối MQTT</a:t>
            </a:r>
            <a:endParaRPr lang="en-US" sz="3600" b="1" dirty="0">
              <a:solidFill>
                <a:schemeClr val="dk1"/>
              </a:solidFill>
            </a:endParaRPr>
          </a:p>
        </p:txBody>
      </p:sp>
      <p:sp>
        <p:nvSpPr>
          <p:cNvPr id="177" name="Google Shape;177;p4">
            <a:extLst>
              <a:ext uri="{FF2B5EF4-FFF2-40B4-BE49-F238E27FC236}">
                <a16:creationId xmlns:a16="http://schemas.microsoft.com/office/drawing/2014/main" id="{3D2BE972-EAD2-9A1B-09BA-A58B752B58CD}"/>
              </a:ext>
            </a:extLst>
          </p:cNvPr>
          <p:cNvSpPr/>
          <p:nvPr/>
        </p:nvSpPr>
        <p:spPr>
          <a:xfrm>
            <a:off x="990000" y="2748477"/>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6. </a:t>
            </a:r>
            <a:endParaRPr sz="5400" b="1" dirty="0">
              <a:solidFill>
                <a:srgbClr val="7F7F7F"/>
              </a:solidFill>
              <a:latin typeface="Arial"/>
              <a:ea typeface="Arial"/>
              <a:cs typeface="Arial"/>
              <a:sym typeface="Arial"/>
            </a:endParaRPr>
          </a:p>
        </p:txBody>
      </p:sp>
    </p:spTree>
    <p:extLst>
      <p:ext uri="{BB962C8B-B14F-4D97-AF65-F5344CB8AC3E}">
        <p14:creationId xmlns:p14="http://schemas.microsoft.com/office/powerpoint/2010/main" val="21731913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48C20D5-ABF0-5F85-A49B-40C7095B33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5005B1A-0C60-FED9-2369-093DDD7BA7D0}"/>
              </a:ext>
            </a:extLst>
          </p:cNvPr>
          <p:cNvSpPr txBox="1"/>
          <p:nvPr/>
        </p:nvSpPr>
        <p:spPr>
          <a:xfrm>
            <a:off x="469900" y="332735"/>
            <a:ext cx="8369300" cy="6192529"/>
          </a:xfrm>
          <a:prstGeom prst="rect">
            <a:avLst/>
          </a:prstGeom>
          <a:noFill/>
        </p:spPr>
        <p:txBody>
          <a:bodyPr wrap="square">
            <a:spAutoFit/>
          </a:bodyPr>
          <a:lstStyle/>
          <a:p>
            <a:pPr>
              <a:lnSpc>
                <a:spcPct val="150000"/>
              </a:lnSpc>
            </a:pPr>
            <a:r>
              <a:rPr lang="vi-VN" dirty="0"/>
              <a:t>MQTT (Message Queuing Telemetry Transport) là giao thức truyền thông điệp (message) theo mô hình publish/subscribe (cung cấp / thuê bao), được sử dụng cho các thiết bị IoT với băng thông thấp, độ tin cậy cao và khả năng được sử dụng trong mạng lưới không ổn định. Nó dựa trên một Broker (tạm dịch là “Máy chủ môi giới”) “nhẹ” (khá ít xử lý) và được thiết kế có tính mở (tức là không đặc trưng cho ứng dụng cụ thể nào), đơn giản và dễ cài đặt.</a:t>
            </a:r>
          </a:p>
          <a:p>
            <a:pPr>
              <a:lnSpc>
                <a:spcPct val="150000"/>
              </a:lnSpc>
            </a:pPr>
            <a:r>
              <a:rPr lang="vi-VN" b="1" dirty="0"/>
              <a:t>MQTT là lựa chọn lý tưởng trong các môi trường như:</a:t>
            </a:r>
          </a:p>
          <a:p>
            <a:pPr lvl="1">
              <a:lnSpc>
                <a:spcPct val="150000"/>
              </a:lnSpc>
            </a:pPr>
            <a:r>
              <a:rPr lang="vi-VN" dirty="0"/>
              <a:t>Những nơi mà giá mạng viễn thông đắt đỏ hoặc băng thông thấp hay thiếu tin cậy.</a:t>
            </a:r>
          </a:p>
          <a:p>
            <a:pPr lvl="1">
              <a:lnSpc>
                <a:spcPct val="150000"/>
              </a:lnSpc>
            </a:pPr>
            <a:r>
              <a:rPr lang="vi-VN" dirty="0"/>
              <a:t>Khi chạy trên thiết bị nhúng bị giới hạn về tài nguyên tốc độ và bộ nhớ.</a:t>
            </a:r>
          </a:p>
          <a:p>
            <a:pPr lvl="1">
              <a:lnSpc>
                <a:spcPct val="150000"/>
              </a:lnSpc>
            </a:pPr>
            <a:r>
              <a:rPr lang="vi-VN" dirty="0"/>
              <a:t>Bởi vì giao thức này sử dụng băng thông thấp trong môi trường có độ trễ cao nên nó là một giao thức lý tưởng cho các ứng dụng M2M (Machine to Machine).</a:t>
            </a:r>
          </a:p>
          <a:p>
            <a:pPr lvl="1">
              <a:lnSpc>
                <a:spcPct val="150000"/>
              </a:lnSpc>
            </a:pPr>
            <a:r>
              <a:rPr lang="vi-VN" dirty="0"/>
              <a:t>MQTT cũng là giao thức được sử dụng trong Facebook Messenger</a:t>
            </a:r>
          </a:p>
          <a:p>
            <a:pPr>
              <a:lnSpc>
                <a:spcPct val="150000"/>
              </a:lnSpc>
            </a:pPr>
            <a:r>
              <a:rPr lang="vi-VN" b="1" dirty="0"/>
              <a:t>Lịch sử hình thành</a:t>
            </a:r>
          </a:p>
          <a:p>
            <a:pPr>
              <a:lnSpc>
                <a:spcPct val="150000"/>
              </a:lnSpc>
            </a:pPr>
            <a:r>
              <a:rPr lang="vi-VN" dirty="0"/>
              <a:t>MQTT được phát minh bởi Andy Stanford - Clark (IBM) và Arlen Nipper (EUROTECH) cuối năm 1999 khi mà nhiệm vụ của họ là tạo ra một giao thức sao cho sự hao phí năng lượng và băng thông là thấp nhất để kết nối đến đường ống dẫn dầu thông qua sự kết nối của vệ tinh.</a:t>
            </a:r>
          </a:p>
          <a:p>
            <a:pPr>
              <a:lnSpc>
                <a:spcPct val="150000"/>
              </a:lnSpc>
            </a:pPr>
            <a:r>
              <a:rPr lang="vi-VN" dirty="0"/>
              <a:t>Năm 2011, IBM và Eurotech đã trao lại MQTT cho một dự án của Eclipse có tên là Paho.</a:t>
            </a:r>
          </a:p>
          <a:p>
            <a:pPr>
              <a:lnSpc>
                <a:spcPct val="150000"/>
              </a:lnSpc>
            </a:pPr>
            <a:r>
              <a:rPr lang="vi-VN" dirty="0"/>
              <a:t>Năm 2013 MQTT đã được đệ trình lên OASIS (Organization for the Advancement of Structured Information Standards) để chuẩn hóa.</a:t>
            </a:r>
          </a:p>
          <a:p>
            <a:pPr>
              <a:lnSpc>
                <a:spcPct val="150000"/>
              </a:lnSpc>
              <a:buNone/>
            </a:pPr>
            <a:endParaRPr lang="vi-VN" dirty="0"/>
          </a:p>
        </p:txBody>
      </p:sp>
    </p:spTree>
    <p:extLst>
      <p:ext uri="{BB962C8B-B14F-4D97-AF65-F5344CB8AC3E}">
        <p14:creationId xmlns:p14="http://schemas.microsoft.com/office/powerpoint/2010/main" val="195346851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5250A7F9-444D-8CC9-276B-5B2C9E6EF05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804D0B-FA00-17BA-44EB-30CCDF997CA8}"/>
              </a:ext>
            </a:extLst>
          </p:cNvPr>
          <p:cNvSpPr txBox="1"/>
          <p:nvPr/>
        </p:nvSpPr>
        <p:spPr>
          <a:xfrm>
            <a:off x="404812" y="167635"/>
            <a:ext cx="9093200" cy="6515694"/>
          </a:xfrm>
          <a:prstGeom prst="rect">
            <a:avLst/>
          </a:prstGeom>
          <a:noFill/>
        </p:spPr>
        <p:txBody>
          <a:bodyPr wrap="square">
            <a:spAutoFit/>
          </a:bodyPr>
          <a:lstStyle/>
          <a:p>
            <a:pPr>
              <a:lnSpc>
                <a:spcPct val="150000"/>
              </a:lnSpc>
            </a:pPr>
            <a:r>
              <a:rPr lang="vi-VN" b="1" dirty="0"/>
              <a:t>Tính năng, đặc điểm nổi bật</a:t>
            </a:r>
          </a:p>
          <a:p>
            <a:pPr>
              <a:lnSpc>
                <a:spcPct val="150000"/>
              </a:lnSpc>
            </a:pPr>
            <a:r>
              <a:rPr lang="vi-VN" dirty="0"/>
              <a:t>Dạng truyền thông điệp theo mô hình Pub/Sub cung cấp việc truyền tin phân tán một chiều, tách biệt với phần ứng dụng.</a:t>
            </a:r>
          </a:p>
          <a:p>
            <a:pPr>
              <a:lnSpc>
                <a:spcPct val="150000"/>
              </a:lnSpc>
            </a:pPr>
            <a:r>
              <a:rPr lang="vi-VN" dirty="0"/>
              <a:t>Việc truyền thông điệp là ngay lập tức, không quan tâm đến nội dung được truyền.</a:t>
            </a:r>
          </a:p>
          <a:p>
            <a:pPr>
              <a:lnSpc>
                <a:spcPct val="150000"/>
              </a:lnSpc>
            </a:pPr>
            <a:r>
              <a:rPr lang="vi-VN" dirty="0"/>
              <a:t>Sử dụng TCP/IP là giao thức nền.</a:t>
            </a:r>
          </a:p>
          <a:p>
            <a:pPr>
              <a:lnSpc>
                <a:spcPct val="150000"/>
              </a:lnSpc>
            </a:pPr>
            <a:r>
              <a:rPr lang="vi-VN" dirty="0"/>
              <a:t>Tồn tại ba mức độ tin cậy cho việc truyền dữ liệu (QoS: Quality of service)</a:t>
            </a:r>
          </a:p>
          <a:p>
            <a:pPr lvl="1">
              <a:lnSpc>
                <a:spcPct val="150000"/>
              </a:lnSpc>
            </a:pPr>
            <a:r>
              <a:rPr lang="vi-VN" dirty="0"/>
              <a:t>QoS 0: Broker/client sẽ gửi dữ liệu đúng một lần, quá trình gửi được xác nhận bởi chỉ giao thức TCP/IP.</a:t>
            </a:r>
          </a:p>
          <a:p>
            <a:pPr lvl="1">
              <a:lnSpc>
                <a:spcPct val="150000"/>
              </a:lnSpc>
            </a:pPr>
            <a:r>
              <a:rPr lang="vi-VN" dirty="0"/>
              <a:t>QoS 1: Broker/client sẽ gửi dữ liệu với ít nhất một lần xác nhận từ đầu kia, nghĩa là có thể có nhiều hơn 1 lần xác nhận đã nhận được dữ liệu.</a:t>
            </a:r>
          </a:p>
          <a:p>
            <a:pPr lvl="1">
              <a:lnSpc>
                <a:spcPct val="150000"/>
              </a:lnSpc>
            </a:pPr>
            <a:r>
              <a:rPr lang="vi-VN" dirty="0"/>
              <a:t>QoS 2: Broker/client đảm bảo khi gửi dữ liệu thì phía nhận chỉ nhận được đúng một lần, quá trình này phải trải qua 4 bước bắt tay.</a:t>
            </a:r>
          </a:p>
          <a:p>
            <a:pPr>
              <a:lnSpc>
                <a:spcPct val="150000"/>
              </a:lnSpc>
            </a:pPr>
            <a:r>
              <a:rPr lang="vi-VN" dirty="0"/>
              <a:t>Phần bao bọc dữ liệu truyền nhỏ và được giảm đến mức tối thiểu để giảm tải cho đường truyền.</a:t>
            </a:r>
          </a:p>
          <a:p>
            <a:pPr>
              <a:lnSpc>
                <a:spcPct val="150000"/>
              </a:lnSpc>
            </a:pPr>
            <a:r>
              <a:rPr lang="vi-VN" b="1" dirty="0"/>
              <a:t>Ưu điểm của MQTT</a:t>
            </a:r>
          </a:p>
          <a:p>
            <a:pPr>
              <a:lnSpc>
                <a:spcPct val="150000"/>
              </a:lnSpc>
            </a:pPr>
            <a:r>
              <a:rPr lang="vi-VN" dirty="0"/>
              <a:t>Với những tính năng, đặc điểm nổi bật trên, MQTT mang lại nhiều lợi ích nhất là trong hệ thống SCADA (Supervisory Control And Data Acquisition) khi truy cập dữ liệu IoT.</a:t>
            </a:r>
          </a:p>
          <a:p>
            <a:pPr>
              <a:lnSpc>
                <a:spcPct val="150000"/>
              </a:lnSpc>
            </a:pPr>
            <a:r>
              <a:rPr lang="vi-VN" dirty="0"/>
              <a:t>Truyền thông tin hiệu quả hơn.Tăng khả năng mở rộng.Giảm đáng kể tiêu thụ băng thông mạng.</a:t>
            </a:r>
          </a:p>
          <a:p>
            <a:pPr>
              <a:lnSpc>
                <a:spcPct val="150000"/>
              </a:lnSpc>
            </a:pPr>
            <a:r>
              <a:rPr lang="vi-VN" dirty="0"/>
              <a:t>Rất phù hợp cho điều khiển và do thám.Tối đa hóa băng thông có sẵn.Chi phí thấp.Rất an toàn, bảo mật.</a:t>
            </a:r>
          </a:p>
          <a:p>
            <a:pPr>
              <a:lnSpc>
                <a:spcPct val="150000"/>
              </a:lnSpc>
            </a:pPr>
            <a:r>
              <a:rPr lang="vi-VN" dirty="0"/>
              <a:t>Được sử dụng trong các ngành công nghiệp dầu khí, các công ty lớn như Amazon, Facebook, ....</a:t>
            </a:r>
          </a:p>
          <a:p>
            <a:pPr>
              <a:lnSpc>
                <a:spcPct val="150000"/>
              </a:lnSpc>
            </a:pPr>
            <a:r>
              <a:rPr lang="vi-VN" dirty="0"/>
              <a:t>Tiết kiệm thời gian phát triển.Giao thức publish/subscribe thu thập nhiều dữ liệu hơn và tốn ít băng thông</a:t>
            </a:r>
          </a:p>
          <a:p>
            <a:pPr>
              <a:lnSpc>
                <a:spcPct val="150000"/>
              </a:lnSpc>
              <a:buNone/>
            </a:pPr>
            <a:endParaRPr lang="vi-VN" dirty="0"/>
          </a:p>
        </p:txBody>
      </p:sp>
    </p:spTree>
    <p:extLst>
      <p:ext uri="{BB962C8B-B14F-4D97-AF65-F5344CB8AC3E}">
        <p14:creationId xmlns:p14="http://schemas.microsoft.com/office/powerpoint/2010/main" val="40621225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0016F764-0BCF-1E2D-01A0-2CCCA3B56B2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947077A-D0F8-4727-E12B-E92155AD7390}"/>
              </a:ext>
            </a:extLst>
          </p:cNvPr>
          <p:cNvSpPr txBox="1"/>
          <p:nvPr/>
        </p:nvSpPr>
        <p:spPr>
          <a:xfrm>
            <a:off x="558800" y="930176"/>
            <a:ext cx="8369300" cy="1345048"/>
          </a:xfrm>
          <a:prstGeom prst="rect">
            <a:avLst/>
          </a:prstGeom>
          <a:noFill/>
        </p:spPr>
        <p:txBody>
          <a:bodyPr wrap="square">
            <a:spAutoFit/>
          </a:bodyPr>
          <a:lstStyle/>
          <a:p>
            <a:pPr>
              <a:lnSpc>
                <a:spcPct val="150000"/>
              </a:lnSpc>
              <a:buNone/>
            </a:pPr>
            <a:r>
              <a:rPr lang="vi-VN" b="1" dirty="0"/>
              <a:t>MQTT (Message Queuing Telemetry Transport) là giao thức publish/subscribe nhẹ</a:t>
            </a:r>
            <a:r>
              <a:rPr lang="vi-VN" dirty="0"/>
              <a:t>, thường dùng trong IoT để kết nối thiết bị với broker như Adafruit IO. Việc lựa chọn thư viện phụ thuộc vào phần cứng và môi trường phát triển.</a:t>
            </a:r>
            <a:endParaRPr lang="en-US" dirty="0"/>
          </a:p>
          <a:p>
            <a:pPr>
              <a:lnSpc>
                <a:spcPct val="150000"/>
              </a:lnSpc>
              <a:buNone/>
            </a:pPr>
            <a:endParaRPr lang="vi-VN" dirty="0"/>
          </a:p>
        </p:txBody>
      </p:sp>
      <p:graphicFrame>
        <p:nvGraphicFramePr>
          <p:cNvPr id="2" name="Table 1">
            <a:extLst>
              <a:ext uri="{FF2B5EF4-FFF2-40B4-BE49-F238E27FC236}">
                <a16:creationId xmlns:a16="http://schemas.microsoft.com/office/drawing/2014/main" id="{FBB3A7B8-A239-036C-5145-9063E78EC8A9}"/>
              </a:ext>
            </a:extLst>
          </p:cNvPr>
          <p:cNvGraphicFramePr>
            <a:graphicFrameLocks noGrp="1"/>
          </p:cNvGraphicFramePr>
          <p:nvPr>
            <p:extLst>
              <p:ext uri="{D42A27DB-BD31-4B8C-83A1-F6EECF244321}">
                <p14:modId xmlns:p14="http://schemas.microsoft.com/office/powerpoint/2010/main" val="3434296158"/>
              </p:ext>
            </p:extLst>
          </p:nvPr>
        </p:nvGraphicFramePr>
        <p:xfrm>
          <a:off x="679450" y="2018427"/>
          <a:ext cx="8128000" cy="4395470"/>
        </p:xfrm>
        <a:graphic>
          <a:graphicData uri="http://schemas.openxmlformats.org/drawingml/2006/table">
            <a:tbl>
              <a:tblPr/>
              <a:tblGrid>
                <a:gridCol w="1016000">
                  <a:extLst>
                    <a:ext uri="{9D8B030D-6E8A-4147-A177-3AD203B41FA5}">
                      <a16:colId xmlns:a16="http://schemas.microsoft.com/office/drawing/2014/main" val="1676453641"/>
                    </a:ext>
                  </a:extLst>
                </a:gridCol>
                <a:gridCol w="1016000">
                  <a:extLst>
                    <a:ext uri="{9D8B030D-6E8A-4147-A177-3AD203B41FA5}">
                      <a16:colId xmlns:a16="http://schemas.microsoft.com/office/drawing/2014/main" val="1611450548"/>
                    </a:ext>
                  </a:extLst>
                </a:gridCol>
                <a:gridCol w="1016000">
                  <a:extLst>
                    <a:ext uri="{9D8B030D-6E8A-4147-A177-3AD203B41FA5}">
                      <a16:colId xmlns:a16="http://schemas.microsoft.com/office/drawing/2014/main" val="387691381"/>
                    </a:ext>
                  </a:extLst>
                </a:gridCol>
                <a:gridCol w="1016000">
                  <a:extLst>
                    <a:ext uri="{9D8B030D-6E8A-4147-A177-3AD203B41FA5}">
                      <a16:colId xmlns:a16="http://schemas.microsoft.com/office/drawing/2014/main" val="2726311103"/>
                    </a:ext>
                  </a:extLst>
                </a:gridCol>
                <a:gridCol w="1016000">
                  <a:extLst>
                    <a:ext uri="{9D8B030D-6E8A-4147-A177-3AD203B41FA5}">
                      <a16:colId xmlns:a16="http://schemas.microsoft.com/office/drawing/2014/main" val="1387496239"/>
                    </a:ext>
                  </a:extLst>
                </a:gridCol>
                <a:gridCol w="1016000">
                  <a:extLst>
                    <a:ext uri="{9D8B030D-6E8A-4147-A177-3AD203B41FA5}">
                      <a16:colId xmlns:a16="http://schemas.microsoft.com/office/drawing/2014/main" val="1469368198"/>
                    </a:ext>
                  </a:extLst>
                </a:gridCol>
                <a:gridCol w="1016000">
                  <a:extLst>
                    <a:ext uri="{9D8B030D-6E8A-4147-A177-3AD203B41FA5}">
                      <a16:colId xmlns:a16="http://schemas.microsoft.com/office/drawing/2014/main" val="2414477847"/>
                    </a:ext>
                  </a:extLst>
                </a:gridCol>
                <a:gridCol w="1016000">
                  <a:extLst>
                    <a:ext uri="{9D8B030D-6E8A-4147-A177-3AD203B41FA5}">
                      <a16:colId xmlns:a16="http://schemas.microsoft.com/office/drawing/2014/main" val="2886288038"/>
                    </a:ext>
                  </a:extLst>
                </a:gridCol>
              </a:tblGrid>
              <a:tr h="352251">
                <a:tc>
                  <a:txBody>
                    <a:bodyPr/>
                    <a:lstStyle/>
                    <a:p>
                      <a:pPr>
                        <a:buNone/>
                      </a:pPr>
                      <a:r>
                        <a:rPr lang="vi-VN" sz="1000"/>
                        <a:t>Thư viện</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Nền tảng</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Mức độ phức tạp</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Hỗ trợ SSL/TLS</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000"/>
                        <a:t>Cơ chế hoạt động</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000"/>
                        <a:t>Ưu điểm chính</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000"/>
                        <a:t>Nhược điểm</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Phù hợp sử dụng</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851872"/>
                  </a:ext>
                </a:extLst>
              </a:tr>
              <a:tr h="642340">
                <a:tc>
                  <a:txBody>
                    <a:bodyPr/>
                    <a:lstStyle/>
                    <a:p>
                      <a:pPr>
                        <a:buNone/>
                      </a:pPr>
                      <a:r>
                        <a:rPr lang="en-US" sz="1000"/>
                        <a:t>PubSubClient</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Arduino, ESP8266, ESP32</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Thấp</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Có (gián tiếp qua WiFiClientSecure)</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Blocking</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Nhẹ, dễ dùng, phổ biến</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000"/>
                        <a:t>Không tối ưu cho hệ thống nhiều task</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Lab, dự án nhỏ</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3737565"/>
                  </a:ext>
                </a:extLst>
              </a:tr>
              <a:tr h="787385">
                <a:tc>
                  <a:txBody>
                    <a:bodyPr/>
                    <a:lstStyle/>
                    <a:p>
                      <a:pPr>
                        <a:buNone/>
                      </a:pPr>
                      <a:r>
                        <a:rPr lang="en-US" sz="1000"/>
                        <a:t>Adafruit MQTT Library</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Arduino, ESP8266, ESP32</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Trung bình</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Có</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Blocking</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000"/>
                        <a:t>Tối ưu cho Adafruit IO, cấu trúc feed rõ ràng</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000"/>
                        <a:t>Ít linh hoạt hơn PubSubClient</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Làm việc trực tiếp với Adafruit IO</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2804875"/>
                  </a:ext>
                </a:extLst>
              </a:tr>
              <a:tr h="642340">
                <a:tc>
                  <a:txBody>
                    <a:bodyPr/>
                    <a:lstStyle/>
                    <a:p>
                      <a:pPr>
                        <a:buNone/>
                      </a:pPr>
                      <a:r>
                        <a:rPr lang="en-US" sz="1000"/>
                        <a:t>AsyncMqttClient</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ESP8266, ESP32</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Trung bình–Cao</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Có</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Non-blocking (Async)</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Hiệu suất cao, phù hợp FreeRTOS</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000"/>
                        <a:t>Cấu hình phức tạp hơn</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Hệ thống realtime, đa nhiệm</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7236887"/>
                  </a:ext>
                </a:extLst>
              </a:tr>
              <a:tr h="642340">
                <a:tc>
                  <a:txBody>
                    <a:bodyPr/>
                    <a:lstStyle/>
                    <a:p>
                      <a:pPr>
                        <a:buNone/>
                      </a:pPr>
                      <a:r>
                        <a:rPr lang="en-US" sz="1000"/>
                        <a:t>Eclipse Paho</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Python, C, Java</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Trung bình</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Có</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Blocking/Async (tuỳ bản)</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Chuẩn công nghiệp, ổn định cao</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000"/>
                        <a:t>Cần môi trường OS</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Raspberry Pi, server</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2694978"/>
                  </a:ext>
                </a:extLst>
              </a:tr>
              <a:tr h="497296">
                <a:tc>
                  <a:txBody>
                    <a:bodyPr/>
                    <a:lstStyle/>
                    <a:p>
                      <a:pPr>
                        <a:buNone/>
                      </a:pPr>
                      <a:r>
                        <a:rPr lang="en-US" sz="1000"/>
                        <a:t>MQTT.js</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Node.js</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Thấp–Trung bình</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Có</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Event-driven</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Tích hợp tốt với web backend</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Không dùng cho MCU</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Web server, IoT gateway</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1176755"/>
                  </a:ext>
                </a:extLst>
              </a:tr>
              <a:tr h="787385">
                <a:tc>
                  <a:txBody>
                    <a:bodyPr/>
                    <a:lstStyle/>
                    <a:p>
                      <a:pPr>
                        <a:buNone/>
                      </a:pPr>
                      <a:r>
                        <a:rPr lang="en-US" sz="1000"/>
                        <a:t>Eclipse Mosquitto (client lib)</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Linux embedded</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Trung bình</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Có</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Blocking</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Ổn định, dùng trong hệ thống công nghiệp</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Cấu hình CLI nhiều</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Gateway, </a:t>
                      </a:r>
                      <a:r>
                        <a:rPr lang="en-US" sz="1000" dirty="0" err="1"/>
                        <a:t>hệ</a:t>
                      </a:r>
                      <a:r>
                        <a:rPr lang="en-US" sz="1000" dirty="0"/>
                        <a:t> </a:t>
                      </a:r>
                      <a:r>
                        <a:rPr lang="en-US" sz="1000" dirty="0" err="1"/>
                        <a:t>thống</a:t>
                      </a:r>
                      <a:r>
                        <a:rPr lang="en-US" sz="1000" dirty="0"/>
                        <a:t> </a:t>
                      </a:r>
                      <a:r>
                        <a:rPr lang="en-US" sz="1000" dirty="0" err="1"/>
                        <a:t>công</a:t>
                      </a:r>
                      <a:r>
                        <a:rPr lang="en-US" sz="1000" dirty="0"/>
                        <a:t> </a:t>
                      </a:r>
                      <a:r>
                        <a:rPr lang="en-US" sz="1000" dirty="0" err="1"/>
                        <a:t>nghiệp</a:t>
                      </a:r>
                      <a:endParaRPr lang="en-US" sz="1000" dirty="0"/>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015039"/>
                  </a:ext>
                </a:extLst>
              </a:tr>
            </a:tbl>
          </a:graphicData>
        </a:graphic>
      </p:graphicFrame>
    </p:spTree>
    <p:extLst>
      <p:ext uri="{BB962C8B-B14F-4D97-AF65-F5344CB8AC3E}">
        <p14:creationId xmlns:p14="http://schemas.microsoft.com/office/powerpoint/2010/main" val="714372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ABE00788-5BB4-3604-0AB7-6160D54FFE5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777434-F038-5B09-AB80-223FF80E3DCD}"/>
              </a:ext>
            </a:extLst>
          </p:cNvPr>
          <p:cNvSpPr txBox="1"/>
          <p:nvPr/>
        </p:nvSpPr>
        <p:spPr>
          <a:xfrm>
            <a:off x="558800" y="930176"/>
            <a:ext cx="8369300" cy="2314544"/>
          </a:xfrm>
          <a:prstGeom prst="rect">
            <a:avLst/>
          </a:prstGeom>
          <a:noFill/>
        </p:spPr>
        <p:txBody>
          <a:bodyPr wrap="square">
            <a:spAutoFit/>
          </a:bodyPr>
          <a:lstStyle/>
          <a:p>
            <a:pPr>
              <a:lnSpc>
                <a:spcPct val="150000"/>
              </a:lnSpc>
            </a:pPr>
            <a:r>
              <a:rPr lang="en-US" b="1" dirty="0" err="1"/>
              <a:t>Nếu</a:t>
            </a:r>
            <a:r>
              <a:rPr lang="en-US" b="1" dirty="0"/>
              <a:t> </a:t>
            </a:r>
            <a:r>
              <a:rPr lang="en-US" b="1" dirty="0" err="1"/>
              <a:t>xét</a:t>
            </a:r>
            <a:r>
              <a:rPr lang="en-US" b="1" dirty="0"/>
              <a:t> </a:t>
            </a:r>
            <a:r>
              <a:rPr lang="en-US" b="1" dirty="0" err="1"/>
              <a:t>theo</a:t>
            </a:r>
            <a:r>
              <a:rPr lang="en-US" b="1" dirty="0"/>
              <a:t> </a:t>
            </a:r>
            <a:r>
              <a:rPr lang="en-US" b="1" dirty="0" err="1"/>
              <a:t>kiến</a:t>
            </a:r>
            <a:r>
              <a:rPr lang="en-US" b="1" dirty="0"/>
              <a:t> </a:t>
            </a:r>
            <a:r>
              <a:rPr lang="en-US" b="1" dirty="0" err="1"/>
              <a:t>trúc</a:t>
            </a:r>
            <a:r>
              <a:rPr lang="en-US" b="1" dirty="0"/>
              <a:t> </a:t>
            </a:r>
            <a:r>
              <a:rPr lang="en-US" b="1" dirty="0" err="1"/>
              <a:t>hệ</a:t>
            </a:r>
            <a:r>
              <a:rPr lang="en-US" b="1" dirty="0"/>
              <a:t> </a:t>
            </a:r>
            <a:r>
              <a:rPr lang="en-US" b="1" dirty="0" err="1"/>
              <a:t>thống</a:t>
            </a:r>
            <a:r>
              <a:rPr lang="en-US" b="1" dirty="0"/>
              <a:t>:</a:t>
            </a:r>
          </a:p>
          <a:p>
            <a:pPr>
              <a:lnSpc>
                <a:spcPct val="150000"/>
              </a:lnSpc>
            </a:pPr>
            <a:r>
              <a:rPr lang="en-US" dirty="0"/>
              <a:t>• MCU </a:t>
            </a:r>
            <a:r>
              <a:rPr lang="en-US" dirty="0" err="1"/>
              <a:t>tài</a:t>
            </a:r>
            <a:r>
              <a:rPr lang="en-US" dirty="0"/>
              <a:t> </a:t>
            </a:r>
            <a:r>
              <a:rPr lang="en-US" dirty="0" err="1"/>
              <a:t>nguyên</a:t>
            </a:r>
            <a:r>
              <a:rPr lang="en-US" dirty="0"/>
              <a:t> </a:t>
            </a:r>
            <a:r>
              <a:rPr lang="en-US" dirty="0" err="1"/>
              <a:t>thấp</a:t>
            </a:r>
            <a:r>
              <a:rPr lang="en-US" dirty="0"/>
              <a:t> → </a:t>
            </a:r>
            <a:r>
              <a:rPr lang="en-US" dirty="0" err="1"/>
              <a:t>PubSubClient</a:t>
            </a:r>
            <a:br>
              <a:rPr lang="en-US" dirty="0"/>
            </a:br>
            <a:r>
              <a:rPr lang="en-US" dirty="0"/>
              <a:t>• MCU </a:t>
            </a:r>
            <a:r>
              <a:rPr lang="en-US" dirty="0" err="1"/>
              <a:t>cần</a:t>
            </a:r>
            <a:r>
              <a:rPr lang="en-US" dirty="0"/>
              <a:t> </a:t>
            </a:r>
            <a:r>
              <a:rPr lang="en-US" dirty="0" err="1"/>
              <a:t>hiệu</a:t>
            </a:r>
            <a:r>
              <a:rPr lang="en-US" dirty="0"/>
              <a:t> </a:t>
            </a:r>
            <a:r>
              <a:rPr lang="en-US" dirty="0" err="1"/>
              <a:t>năng</a:t>
            </a:r>
            <a:r>
              <a:rPr lang="en-US" dirty="0"/>
              <a:t> </a:t>
            </a:r>
            <a:r>
              <a:rPr lang="en-US" dirty="0" err="1"/>
              <a:t>cao</a:t>
            </a:r>
            <a:r>
              <a:rPr lang="en-US" dirty="0"/>
              <a:t> / </a:t>
            </a:r>
            <a:r>
              <a:rPr lang="en-US" dirty="0" err="1"/>
              <a:t>realtime</a:t>
            </a:r>
            <a:r>
              <a:rPr lang="en-US" dirty="0"/>
              <a:t> → </a:t>
            </a:r>
            <a:r>
              <a:rPr lang="en-US" dirty="0" err="1"/>
              <a:t>AsyncMqttClient</a:t>
            </a:r>
            <a:br>
              <a:rPr lang="en-US" dirty="0"/>
            </a:br>
            <a:r>
              <a:rPr lang="en-US" dirty="0"/>
              <a:t>• Server / </a:t>
            </a:r>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 Eclipse </a:t>
            </a:r>
            <a:r>
              <a:rPr lang="en-US" dirty="0" err="1"/>
              <a:t>Paho</a:t>
            </a:r>
            <a:br>
              <a:rPr lang="en-US" dirty="0"/>
            </a:br>
            <a:r>
              <a:rPr lang="en-US" dirty="0"/>
              <a:t>• Backend web → MQTT.js</a:t>
            </a:r>
            <a:br>
              <a:rPr lang="en-US" dirty="0"/>
            </a:br>
            <a:r>
              <a:rPr lang="en-US" dirty="0"/>
              <a:t>• Gateway Linux → </a:t>
            </a:r>
            <a:r>
              <a:rPr lang="en-US" dirty="0" err="1"/>
              <a:t>Mosquitto</a:t>
            </a:r>
            <a:r>
              <a:rPr lang="en-US" dirty="0"/>
              <a:t> client</a:t>
            </a:r>
          </a:p>
          <a:p>
            <a:pPr>
              <a:lnSpc>
                <a:spcPct val="150000"/>
              </a:lnSpc>
              <a:buNone/>
            </a:pPr>
            <a:endParaRPr lang="vi-VN" dirty="0"/>
          </a:p>
        </p:txBody>
      </p:sp>
    </p:spTree>
    <p:extLst>
      <p:ext uri="{BB962C8B-B14F-4D97-AF65-F5344CB8AC3E}">
        <p14:creationId xmlns:p14="http://schemas.microsoft.com/office/powerpoint/2010/main" val="9890071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8889A136-0703-E490-C042-0CEE741460C0}"/>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754F96F5-2DC2-83B5-EACD-6BF0B3DBFC86}"/>
              </a:ext>
            </a:extLst>
          </p:cNvPr>
          <p:cNvSpPr/>
          <p:nvPr/>
        </p:nvSpPr>
        <p:spPr>
          <a:xfrm>
            <a:off x="990000" y="3152001"/>
            <a:ext cx="8819923" cy="1107996"/>
          </a:xfrm>
          <a:prstGeom prst="rect">
            <a:avLst/>
          </a:prstGeom>
          <a:noFill/>
          <a:ln>
            <a:noFill/>
          </a:ln>
        </p:spPr>
        <p:txBody>
          <a:bodyPr spcFirstLastPara="1" wrap="square" lIns="0" tIns="0" rIns="0" bIns="0" anchor="t" anchorCtr="0">
            <a:spAutoFit/>
          </a:bodyPr>
          <a:lstStyle/>
          <a:p>
            <a:pPr>
              <a:buSzPts val="1300"/>
            </a:pPr>
            <a:r>
              <a:rPr lang="vi-VN" sz="3600" b="1" dirty="0">
                <a:solidFill>
                  <a:schemeClr val="dk1"/>
                </a:solidFill>
              </a:rPr>
              <a:t>Hiện thực chương trình gửi và nhận dữ liệu với Server </a:t>
            </a:r>
          </a:p>
        </p:txBody>
      </p:sp>
      <p:sp>
        <p:nvSpPr>
          <p:cNvPr id="177" name="Google Shape;177;p4">
            <a:extLst>
              <a:ext uri="{FF2B5EF4-FFF2-40B4-BE49-F238E27FC236}">
                <a16:creationId xmlns:a16="http://schemas.microsoft.com/office/drawing/2014/main" id="{66A8C38D-1E7F-AAC2-01E0-211C4DDD3656}"/>
              </a:ext>
            </a:extLst>
          </p:cNvPr>
          <p:cNvSpPr/>
          <p:nvPr/>
        </p:nvSpPr>
        <p:spPr>
          <a:xfrm>
            <a:off x="990000" y="2748477"/>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7.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55C86115-80F2-755D-4307-B09C49BE982A}"/>
              </a:ext>
            </a:extLst>
          </p:cNvPr>
          <p:cNvSpPr/>
          <p:nvPr/>
        </p:nvSpPr>
        <p:spPr>
          <a:xfrm>
            <a:off x="990000" y="4355744"/>
            <a:ext cx="4184315" cy="682238"/>
          </a:xfrm>
          <a:prstGeom prst="rect">
            <a:avLst/>
          </a:prstGeom>
          <a:noFill/>
          <a:ln>
            <a:noFill/>
          </a:ln>
        </p:spPr>
        <p:txBody>
          <a:bodyPr spcFirstLastPara="1" wrap="square" lIns="0" tIns="0" rIns="0" bIns="0" anchor="t" anchorCtr="0">
            <a:spAutoFit/>
          </a:bodyPr>
          <a:lstStyle/>
          <a:p>
            <a:pPr marL="176213" marR="0" lvl="0" indent="-176213" algn="l" rtl="0">
              <a:spcBef>
                <a:spcPts val="0"/>
              </a:spcBef>
              <a:spcAft>
                <a:spcPts val="0"/>
              </a:spcAft>
              <a:buClr>
                <a:srgbClr val="3F3F3F"/>
              </a:buClr>
              <a:buSzPts val="2160"/>
              <a:buFont typeface="Arial"/>
              <a:buChar char="•"/>
            </a:pPr>
            <a:r>
              <a:rPr lang="en-US" sz="1800" dirty="0">
                <a:solidFill>
                  <a:srgbClr val="A6A6A6"/>
                </a:solidFill>
                <a:latin typeface="Arial"/>
                <a:ea typeface="Arial"/>
                <a:cs typeface="Arial"/>
                <a:sym typeface="Arial"/>
              </a:rPr>
              <a:t>. </a:t>
            </a:r>
          </a:p>
          <a:p>
            <a:pPr marL="176213" marR="0" lvl="0" indent="-176213" algn="l" rtl="0">
              <a:spcBef>
                <a:spcPts val="1000"/>
              </a:spcBef>
              <a:spcAft>
                <a:spcPts val="0"/>
              </a:spcAft>
              <a:buClr>
                <a:srgbClr val="A6A6A6"/>
              </a:buClr>
              <a:buSzPts val="2160"/>
              <a:buFont typeface="Arial"/>
              <a:buChar char="•"/>
            </a:pPr>
            <a:endParaRPr sz="1800"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10790009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8EB30693-78E4-E83B-A035-A7662769EAF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94C29C0-4BF0-F87D-A098-EAAE3C6D19C5}"/>
              </a:ext>
            </a:extLst>
          </p:cNvPr>
          <p:cNvSpPr txBox="1"/>
          <p:nvPr/>
        </p:nvSpPr>
        <p:spPr>
          <a:xfrm>
            <a:off x="1016000" y="623094"/>
            <a:ext cx="4953000" cy="3607206"/>
          </a:xfrm>
          <a:prstGeom prst="rect">
            <a:avLst/>
          </a:prstGeom>
          <a:noFill/>
        </p:spPr>
        <p:txBody>
          <a:bodyPr wrap="square">
            <a:spAutoFit/>
          </a:bodyPr>
          <a:lstStyle/>
          <a:p>
            <a:pPr>
              <a:lnSpc>
                <a:spcPct val="150000"/>
              </a:lnSpc>
              <a:buNone/>
            </a:pPr>
            <a:r>
              <a:rPr lang="en-US" dirty="0" err="1"/>
              <a:t>Chuẩn</a:t>
            </a:r>
            <a:r>
              <a:rPr lang="en-US" dirty="0"/>
              <a:t> </a:t>
            </a:r>
            <a:r>
              <a:rPr lang="en-US" dirty="0" err="1"/>
              <a:t>bị</a:t>
            </a:r>
            <a:r>
              <a:rPr lang="en-US" dirty="0"/>
              <a:t> </a:t>
            </a:r>
            <a:r>
              <a:rPr lang="en-US" dirty="0" err="1"/>
              <a:t>phần</a:t>
            </a:r>
            <a:r>
              <a:rPr lang="en-US" dirty="0"/>
              <a:t> </a:t>
            </a:r>
            <a:r>
              <a:rPr lang="en-US" dirty="0" err="1"/>
              <a:t>cứng</a:t>
            </a:r>
            <a:endParaRPr lang="en-US" dirty="0"/>
          </a:p>
          <a:p>
            <a:pPr>
              <a:lnSpc>
                <a:spcPct val="150000"/>
              </a:lnSpc>
              <a:buNone/>
            </a:pPr>
            <a:r>
              <a:rPr lang="en-US" dirty="0" err="1"/>
              <a:t>Thiết</a:t>
            </a:r>
            <a:r>
              <a:rPr lang="en-US" dirty="0"/>
              <a:t> </a:t>
            </a:r>
            <a:r>
              <a:rPr lang="en-US" dirty="0" err="1"/>
              <a:t>bị</a:t>
            </a:r>
            <a:r>
              <a:rPr lang="en-US" dirty="0"/>
              <a:t> </a:t>
            </a:r>
            <a:r>
              <a:rPr lang="en-US" dirty="0" err="1"/>
              <a:t>cần</a:t>
            </a:r>
            <a:r>
              <a:rPr lang="en-US" dirty="0"/>
              <a:t> </a:t>
            </a:r>
            <a:r>
              <a:rPr lang="en-US" dirty="0" err="1"/>
              <a:t>có</a:t>
            </a:r>
            <a:r>
              <a:rPr lang="en-US" dirty="0"/>
              <a:t>:</a:t>
            </a:r>
          </a:p>
          <a:p>
            <a:pPr>
              <a:lnSpc>
                <a:spcPct val="150000"/>
              </a:lnSpc>
              <a:buNone/>
            </a:pPr>
            <a:r>
              <a:rPr lang="en-US" dirty="0"/>
              <a:t>ESP32</a:t>
            </a:r>
            <a:br>
              <a:rPr lang="en-US" dirty="0"/>
            </a:br>
            <a:r>
              <a:rPr lang="en-US" dirty="0" err="1"/>
              <a:t>Cảm</a:t>
            </a:r>
            <a:r>
              <a:rPr lang="en-US" dirty="0"/>
              <a:t> </a:t>
            </a:r>
            <a:r>
              <a:rPr lang="en-US" dirty="0" err="1"/>
              <a:t>biến</a:t>
            </a:r>
            <a:r>
              <a:rPr lang="en-US" dirty="0"/>
              <a:t> DHT22</a:t>
            </a:r>
            <a:br>
              <a:rPr lang="en-US" dirty="0"/>
            </a:br>
            <a:r>
              <a:rPr lang="en-US" dirty="0" err="1"/>
              <a:t>Điện</a:t>
            </a:r>
            <a:r>
              <a:rPr lang="en-US" dirty="0"/>
              <a:t> </a:t>
            </a:r>
            <a:r>
              <a:rPr lang="en-US" dirty="0" err="1"/>
              <a:t>trở</a:t>
            </a:r>
            <a:r>
              <a:rPr lang="en-US" dirty="0"/>
              <a:t> 10k</a:t>
            </a:r>
            <a:r>
              <a:rPr lang="el-GR" dirty="0"/>
              <a:t>Ω (</a:t>
            </a:r>
            <a:r>
              <a:rPr lang="en-US" dirty="0" err="1"/>
              <a:t>kéo</a:t>
            </a:r>
            <a:r>
              <a:rPr lang="en-US" dirty="0"/>
              <a:t> </a:t>
            </a:r>
            <a:r>
              <a:rPr lang="en-US" dirty="0" err="1"/>
              <a:t>lên</a:t>
            </a:r>
            <a:r>
              <a:rPr lang="en-US" dirty="0"/>
              <a:t> </a:t>
            </a:r>
            <a:r>
              <a:rPr lang="en-US" dirty="0" err="1"/>
              <a:t>nếu</a:t>
            </a:r>
            <a:r>
              <a:rPr lang="en-US" dirty="0"/>
              <a:t> </a:t>
            </a:r>
            <a:r>
              <a:rPr lang="en-US" dirty="0" err="1"/>
              <a:t>dùng</a:t>
            </a:r>
            <a:r>
              <a:rPr lang="en-US" dirty="0"/>
              <a:t> </a:t>
            </a:r>
            <a:r>
              <a:rPr lang="en-US" dirty="0" err="1"/>
              <a:t>bản</a:t>
            </a:r>
            <a:r>
              <a:rPr lang="en-US" dirty="0"/>
              <a:t> </a:t>
            </a:r>
            <a:r>
              <a:rPr lang="en-US" dirty="0" err="1"/>
              <a:t>không</a:t>
            </a:r>
            <a:r>
              <a:rPr lang="en-US" dirty="0"/>
              <a:t> </a:t>
            </a:r>
            <a:r>
              <a:rPr lang="en-US" dirty="0" err="1"/>
              <a:t>có</a:t>
            </a:r>
            <a:r>
              <a:rPr lang="en-US" dirty="0"/>
              <a:t> </a:t>
            </a:r>
            <a:r>
              <a:rPr lang="en-US" dirty="0" err="1"/>
              <a:t>sẵn</a:t>
            </a:r>
            <a:r>
              <a:rPr lang="en-US" dirty="0"/>
              <a:t>)</a:t>
            </a:r>
            <a:br>
              <a:rPr lang="en-US" dirty="0"/>
            </a:br>
            <a:r>
              <a:rPr lang="en-US" dirty="0" err="1"/>
              <a:t>Dây</a:t>
            </a:r>
            <a:r>
              <a:rPr lang="en-US" dirty="0"/>
              <a:t> </a:t>
            </a:r>
            <a:r>
              <a:rPr lang="en-US" dirty="0" err="1"/>
              <a:t>nối</a:t>
            </a:r>
            <a:endParaRPr lang="en-US" dirty="0"/>
          </a:p>
          <a:p>
            <a:pPr>
              <a:lnSpc>
                <a:spcPct val="150000"/>
              </a:lnSpc>
              <a:buNone/>
            </a:pPr>
            <a:r>
              <a:rPr lang="en-US" dirty="0" err="1"/>
              <a:t>Kết</a:t>
            </a:r>
            <a:r>
              <a:rPr lang="en-US" dirty="0"/>
              <a:t> </a:t>
            </a:r>
            <a:r>
              <a:rPr lang="en-US" dirty="0" err="1"/>
              <a:t>nối</a:t>
            </a:r>
            <a:r>
              <a:rPr lang="en-US" dirty="0"/>
              <a:t> </a:t>
            </a:r>
            <a:r>
              <a:rPr lang="en-US" dirty="0" err="1"/>
              <a:t>chân</a:t>
            </a:r>
            <a:r>
              <a:rPr lang="en-US" dirty="0"/>
              <a:t>:</a:t>
            </a:r>
          </a:p>
          <a:p>
            <a:pPr>
              <a:lnSpc>
                <a:spcPct val="150000"/>
              </a:lnSpc>
              <a:buNone/>
            </a:pPr>
            <a:r>
              <a:rPr lang="en-US" dirty="0"/>
              <a:t>DHT22 VCC → 3.3V</a:t>
            </a:r>
            <a:br>
              <a:rPr lang="en-US" dirty="0"/>
            </a:br>
            <a:r>
              <a:rPr lang="en-US" dirty="0"/>
              <a:t>DHT22 GND → GND</a:t>
            </a:r>
            <a:br>
              <a:rPr lang="en-US" dirty="0"/>
            </a:br>
            <a:r>
              <a:rPr lang="en-US" dirty="0"/>
              <a:t>DHT22 DATA → GPIO 4 (</a:t>
            </a:r>
            <a:r>
              <a:rPr lang="en-US" dirty="0" err="1"/>
              <a:t>có</a:t>
            </a:r>
            <a:r>
              <a:rPr lang="en-US" dirty="0"/>
              <a:t> </a:t>
            </a:r>
            <a:r>
              <a:rPr lang="en-US" dirty="0" err="1"/>
              <a:t>thể</a:t>
            </a:r>
            <a:r>
              <a:rPr lang="en-US" dirty="0"/>
              <a:t> </a:t>
            </a:r>
            <a:r>
              <a:rPr lang="en-US" dirty="0" err="1"/>
              <a:t>đổi</a:t>
            </a:r>
            <a:r>
              <a:rPr lang="en-US" dirty="0"/>
              <a:t>)</a:t>
            </a:r>
            <a:br>
              <a:rPr lang="en-US" dirty="0"/>
            </a:br>
            <a:r>
              <a:rPr lang="en-US" dirty="0" err="1"/>
              <a:t>Điện</a:t>
            </a:r>
            <a:r>
              <a:rPr lang="en-US" dirty="0"/>
              <a:t> </a:t>
            </a:r>
            <a:r>
              <a:rPr lang="en-US" dirty="0" err="1"/>
              <a:t>trở</a:t>
            </a:r>
            <a:r>
              <a:rPr lang="en-US" dirty="0"/>
              <a:t> 10k</a:t>
            </a:r>
            <a:r>
              <a:rPr lang="el-GR" dirty="0"/>
              <a:t>Ω </a:t>
            </a:r>
            <a:r>
              <a:rPr lang="en-US" dirty="0" err="1"/>
              <a:t>giữa</a:t>
            </a:r>
            <a:r>
              <a:rPr lang="en-US" dirty="0"/>
              <a:t> VCC </a:t>
            </a:r>
            <a:r>
              <a:rPr lang="en-US" dirty="0" err="1"/>
              <a:t>và</a:t>
            </a:r>
            <a:r>
              <a:rPr lang="en-US" dirty="0"/>
              <a:t> DATA</a:t>
            </a:r>
          </a:p>
        </p:txBody>
      </p:sp>
      <p:pic>
        <p:nvPicPr>
          <p:cNvPr id="31746" name="Picture 2" descr="Giám sát nhiệt độ, độ ẩm bằng App Blynk sử dụng NodeMCU ESP8266 | ARDUINO  KIT">
            <a:extLst>
              <a:ext uri="{FF2B5EF4-FFF2-40B4-BE49-F238E27FC236}">
                <a16:creationId xmlns:a16="http://schemas.microsoft.com/office/drawing/2014/main" id="{AB66F659-1E7F-604C-71F9-547D585927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6300" y="3945542"/>
            <a:ext cx="6410325" cy="2640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619704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3936A9B1-F150-554E-F3E0-0ECCC90B7FA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150363-5ECC-745D-93F7-A4FD8BC2F25D}"/>
              </a:ext>
            </a:extLst>
          </p:cNvPr>
          <p:cNvSpPr txBox="1"/>
          <p:nvPr/>
        </p:nvSpPr>
        <p:spPr>
          <a:xfrm>
            <a:off x="622300" y="711994"/>
            <a:ext cx="4953000" cy="4899868"/>
          </a:xfrm>
          <a:prstGeom prst="rect">
            <a:avLst/>
          </a:prstGeom>
          <a:noFill/>
        </p:spPr>
        <p:txBody>
          <a:bodyPr wrap="square">
            <a:spAutoFit/>
          </a:bodyPr>
          <a:lstStyle/>
          <a:p>
            <a:pPr>
              <a:lnSpc>
                <a:spcPct val="150000"/>
              </a:lnSpc>
            </a:pPr>
            <a:r>
              <a:rPr lang="en-US" b="1" dirty="0" err="1"/>
              <a:t>Tạo</a:t>
            </a:r>
            <a:r>
              <a:rPr lang="en-US" b="1" dirty="0"/>
              <a:t> Feed </a:t>
            </a:r>
            <a:r>
              <a:rPr lang="en-US" b="1" dirty="0" err="1"/>
              <a:t>trên</a:t>
            </a:r>
            <a:r>
              <a:rPr lang="en-US" b="1" dirty="0"/>
              <a:t> Adafruit IO</a:t>
            </a:r>
          </a:p>
          <a:p>
            <a:pPr>
              <a:lnSpc>
                <a:spcPct val="150000"/>
              </a:lnSpc>
            </a:pPr>
            <a:r>
              <a:rPr lang="en-US" dirty="0" err="1"/>
              <a:t>Đăng</a:t>
            </a:r>
            <a:r>
              <a:rPr lang="en-US" dirty="0"/>
              <a:t> </a:t>
            </a:r>
            <a:r>
              <a:rPr lang="en-US" dirty="0" err="1"/>
              <a:t>nhập</a:t>
            </a:r>
            <a:r>
              <a:rPr lang="en-US" dirty="0"/>
              <a:t> Adafruit IO</a:t>
            </a:r>
            <a:br>
              <a:rPr lang="en-US" dirty="0"/>
            </a:br>
            <a:r>
              <a:rPr lang="en-US" dirty="0" err="1"/>
              <a:t>Vào</a:t>
            </a:r>
            <a:r>
              <a:rPr lang="en-US" dirty="0"/>
              <a:t> Feeds → Create New Feed</a:t>
            </a:r>
          </a:p>
          <a:p>
            <a:pPr>
              <a:lnSpc>
                <a:spcPct val="150000"/>
              </a:lnSpc>
            </a:pPr>
            <a:r>
              <a:rPr lang="en-US" dirty="0" err="1"/>
              <a:t>Tạo</a:t>
            </a:r>
            <a:r>
              <a:rPr lang="en-US" dirty="0"/>
              <a:t> Feed:</a:t>
            </a:r>
          </a:p>
          <a:p>
            <a:pPr>
              <a:lnSpc>
                <a:spcPct val="150000"/>
              </a:lnSpc>
            </a:pPr>
            <a:r>
              <a:rPr lang="en-US" dirty="0"/>
              <a:t>Name: temp_room1</a:t>
            </a:r>
            <a:br>
              <a:rPr lang="en-US" dirty="0"/>
            </a:br>
            <a:r>
              <a:rPr lang="en-US" dirty="0"/>
              <a:t>Key: temp_room1</a:t>
            </a:r>
          </a:p>
          <a:p>
            <a:pPr>
              <a:lnSpc>
                <a:spcPct val="150000"/>
              </a:lnSpc>
            </a:pPr>
            <a:r>
              <a:rPr lang="en-US" dirty="0" err="1"/>
              <a:t>Ghi</a:t>
            </a:r>
            <a:r>
              <a:rPr lang="en-US" dirty="0"/>
              <a:t> </a:t>
            </a:r>
            <a:r>
              <a:rPr lang="en-US" dirty="0" err="1"/>
              <a:t>lại</a:t>
            </a:r>
            <a:r>
              <a:rPr lang="en-US" dirty="0"/>
              <a:t>:</a:t>
            </a:r>
          </a:p>
          <a:p>
            <a:pPr>
              <a:lnSpc>
                <a:spcPct val="150000"/>
              </a:lnSpc>
            </a:pPr>
            <a:r>
              <a:rPr lang="en-US" dirty="0"/>
              <a:t>Username</a:t>
            </a:r>
            <a:br>
              <a:rPr lang="en-US" dirty="0"/>
            </a:br>
            <a:r>
              <a:rPr lang="en-US" dirty="0"/>
              <a:t>AIO Key</a:t>
            </a:r>
          </a:p>
          <a:p>
            <a:pPr>
              <a:lnSpc>
                <a:spcPct val="150000"/>
              </a:lnSpc>
            </a:pPr>
            <a:r>
              <a:rPr lang="vi-VN" b="1" dirty="0"/>
              <a:t>Cài thư viện Arduino IDE</a:t>
            </a:r>
          </a:p>
          <a:p>
            <a:pPr>
              <a:lnSpc>
                <a:spcPct val="150000"/>
              </a:lnSpc>
            </a:pPr>
            <a:r>
              <a:rPr lang="vi-VN" dirty="0"/>
              <a:t>Mở Arduino IDE → Library Manager → cài:</a:t>
            </a:r>
          </a:p>
          <a:p>
            <a:pPr>
              <a:lnSpc>
                <a:spcPct val="150000"/>
              </a:lnSpc>
            </a:pPr>
            <a:r>
              <a:rPr lang="vi-VN" dirty="0"/>
              <a:t>DHT sensor library (Adafruit)</a:t>
            </a:r>
            <a:br>
              <a:rPr lang="vi-VN" dirty="0"/>
            </a:br>
            <a:r>
              <a:rPr lang="vi-VN" dirty="0"/>
              <a:t>Adafruit Unified Sensor</a:t>
            </a:r>
            <a:br>
              <a:rPr lang="vi-VN" dirty="0"/>
            </a:br>
            <a:r>
              <a:rPr lang="vi-VN" dirty="0"/>
              <a:t>PubSubClient</a:t>
            </a:r>
          </a:p>
          <a:p>
            <a:pPr>
              <a:lnSpc>
                <a:spcPct val="150000"/>
              </a:lnSpc>
            </a:pPr>
            <a:endParaRPr lang="en-US" dirty="0"/>
          </a:p>
        </p:txBody>
      </p:sp>
    </p:spTree>
    <p:extLst>
      <p:ext uri="{BB962C8B-B14F-4D97-AF65-F5344CB8AC3E}">
        <p14:creationId xmlns:p14="http://schemas.microsoft.com/office/powerpoint/2010/main" val="126083191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B44B3132-A33D-2DF8-5C4E-44F80D5CED3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CAD3777-BF53-24AF-A705-8536A4DC59AF}"/>
              </a:ext>
            </a:extLst>
          </p:cNvPr>
          <p:cNvSpPr txBox="1"/>
          <p:nvPr/>
        </p:nvSpPr>
        <p:spPr>
          <a:xfrm>
            <a:off x="571500" y="280194"/>
            <a:ext cx="4953000" cy="5675849"/>
          </a:xfrm>
          <a:prstGeom prst="rect">
            <a:avLst/>
          </a:prstGeom>
          <a:noFill/>
        </p:spPr>
        <p:txBody>
          <a:bodyPr wrap="square">
            <a:spAutoFit/>
          </a:bodyPr>
          <a:lstStyle/>
          <a:p>
            <a:pPr>
              <a:lnSpc>
                <a:spcPct val="150000"/>
              </a:lnSpc>
            </a:pPr>
            <a:r>
              <a:rPr lang="en-US" sz="900" b="1" dirty="0"/>
              <a:t>#include &lt;</a:t>
            </a:r>
            <a:r>
              <a:rPr lang="en-US" sz="900" b="1" dirty="0" err="1"/>
              <a:t>WiFi.h</a:t>
            </a:r>
            <a:r>
              <a:rPr lang="en-US" sz="900" b="1" dirty="0"/>
              <a:t>&gt;</a:t>
            </a:r>
          </a:p>
          <a:p>
            <a:pPr>
              <a:lnSpc>
                <a:spcPct val="150000"/>
              </a:lnSpc>
            </a:pPr>
            <a:r>
              <a:rPr lang="en-US" sz="900" b="1" dirty="0"/>
              <a:t>#include &lt;</a:t>
            </a:r>
            <a:r>
              <a:rPr lang="en-US" sz="900" b="1" dirty="0" err="1"/>
              <a:t>PubSubClient.h</a:t>
            </a:r>
            <a:r>
              <a:rPr lang="en-US" sz="900" b="1" dirty="0"/>
              <a:t>&gt;</a:t>
            </a:r>
          </a:p>
          <a:p>
            <a:pPr>
              <a:lnSpc>
                <a:spcPct val="150000"/>
              </a:lnSpc>
            </a:pPr>
            <a:r>
              <a:rPr lang="en-US" sz="900" b="1" dirty="0"/>
              <a:t>#include "</a:t>
            </a:r>
            <a:r>
              <a:rPr lang="en-US" sz="900" b="1" dirty="0" err="1"/>
              <a:t>DHT.h</a:t>
            </a:r>
            <a:r>
              <a:rPr lang="en-US" sz="900" b="1" dirty="0"/>
              <a:t>"</a:t>
            </a:r>
          </a:p>
          <a:p>
            <a:pPr>
              <a:lnSpc>
                <a:spcPct val="150000"/>
              </a:lnSpc>
            </a:pPr>
            <a:endParaRPr lang="en-US" sz="900" b="1" dirty="0"/>
          </a:p>
          <a:p>
            <a:pPr>
              <a:lnSpc>
                <a:spcPct val="150000"/>
              </a:lnSpc>
            </a:pPr>
            <a:r>
              <a:rPr lang="en-US" sz="900" b="1" dirty="0"/>
              <a:t>#define WIFI_SSID "YOUR_WIFI"</a:t>
            </a:r>
          </a:p>
          <a:p>
            <a:pPr>
              <a:lnSpc>
                <a:spcPct val="150000"/>
              </a:lnSpc>
            </a:pPr>
            <a:r>
              <a:rPr lang="en-US" sz="900" b="1" dirty="0"/>
              <a:t>#define WIFI_PASS "YOUR_PASSWORD"</a:t>
            </a:r>
          </a:p>
          <a:p>
            <a:pPr>
              <a:lnSpc>
                <a:spcPct val="150000"/>
              </a:lnSpc>
            </a:pPr>
            <a:endParaRPr lang="en-US" sz="900" b="1" dirty="0"/>
          </a:p>
          <a:p>
            <a:pPr>
              <a:lnSpc>
                <a:spcPct val="150000"/>
              </a:lnSpc>
            </a:pPr>
            <a:r>
              <a:rPr lang="en-US" sz="900" b="1" dirty="0"/>
              <a:t>#define AIO_SERVER "io.adafruit.com"</a:t>
            </a:r>
          </a:p>
          <a:p>
            <a:pPr>
              <a:lnSpc>
                <a:spcPct val="150000"/>
              </a:lnSpc>
            </a:pPr>
            <a:r>
              <a:rPr lang="en-US" sz="900" b="1" dirty="0"/>
              <a:t>#define AIO_SERVERPORT 1883</a:t>
            </a:r>
          </a:p>
          <a:p>
            <a:pPr>
              <a:lnSpc>
                <a:spcPct val="150000"/>
              </a:lnSpc>
            </a:pPr>
            <a:r>
              <a:rPr lang="en-US" sz="900" b="1" dirty="0"/>
              <a:t>#define AIO_USERNAME "YOUR_USERNAME"</a:t>
            </a:r>
          </a:p>
          <a:p>
            <a:pPr>
              <a:lnSpc>
                <a:spcPct val="150000"/>
              </a:lnSpc>
            </a:pPr>
            <a:r>
              <a:rPr lang="en-US" sz="900" b="1" dirty="0"/>
              <a:t>#define AIO_KEY "YOUR_AIO_KEY"</a:t>
            </a:r>
          </a:p>
          <a:p>
            <a:pPr>
              <a:lnSpc>
                <a:spcPct val="150000"/>
              </a:lnSpc>
            </a:pPr>
            <a:endParaRPr lang="en-US" sz="900" b="1" dirty="0"/>
          </a:p>
          <a:p>
            <a:pPr>
              <a:lnSpc>
                <a:spcPct val="150000"/>
              </a:lnSpc>
            </a:pPr>
            <a:r>
              <a:rPr lang="en-US" sz="900" b="1" dirty="0"/>
              <a:t>#define DHTPIN 4</a:t>
            </a:r>
          </a:p>
          <a:p>
            <a:pPr>
              <a:lnSpc>
                <a:spcPct val="150000"/>
              </a:lnSpc>
            </a:pPr>
            <a:r>
              <a:rPr lang="en-US" sz="900" b="1" dirty="0"/>
              <a:t>#define DHTTYPE DHT22</a:t>
            </a:r>
          </a:p>
          <a:p>
            <a:pPr>
              <a:lnSpc>
                <a:spcPct val="150000"/>
              </a:lnSpc>
            </a:pPr>
            <a:endParaRPr lang="en-US" sz="900" b="1" dirty="0"/>
          </a:p>
          <a:p>
            <a:pPr>
              <a:lnSpc>
                <a:spcPct val="150000"/>
              </a:lnSpc>
            </a:pPr>
            <a:r>
              <a:rPr lang="en-US" sz="900" b="1" dirty="0" err="1"/>
              <a:t>WiFiClient</a:t>
            </a:r>
            <a:r>
              <a:rPr lang="en-US" sz="900" b="1" dirty="0"/>
              <a:t> </a:t>
            </a:r>
            <a:r>
              <a:rPr lang="en-US" sz="900" b="1" dirty="0" err="1"/>
              <a:t>espClient</a:t>
            </a:r>
            <a:r>
              <a:rPr lang="en-US" sz="900" b="1" dirty="0"/>
              <a:t>;</a:t>
            </a:r>
          </a:p>
          <a:p>
            <a:pPr>
              <a:lnSpc>
                <a:spcPct val="150000"/>
              </a:lnSpc>
            </a:pPr>
            <a:r>
              <a:rPr lang="en-US" sz="900" b="1" dirty="0" err="1"/>
              <a:t>PubSubClient</a:t>
            </a:r>
            <a:r>
              <a:rPr lang="en-US" sz="900" b="1" dirty="0"/>
              <a:t> client(</a:t>
            </a:r>
            <a:r>
              <a:rPr lang="en-US" sz="900" b="1" dirty="0" err="1"/>
              <a:t>espClient</a:t>
            </a:r>
            <a:r>
              <a:rPr lang="en-US" sz="900" b="1" dirty="0"/>
              <a:t>);</a:t>
            </a:r>
          </a:p>
          <a:p>
            <a:pPr>
              <a:lnSpc>
                <a:spcPct val="150000"/>
              </a:lnSpc>
            </a:pPr>
            <a:r>
              <a:rPr lang="en-US" sz="900" b="1" dirty="0"/>
              <a:t>DHT </a:t>
            </a:r>
            <a:r>
              <a:rPr lang="en-US" sz="900" b="1" dirty="0" err="1"/>
              <a:t>dht</a:t>
            </a:r>
            <a:r>
              <a:rPr lang="en-US" sz="900" b="1" dirty="0"/>
              <a:t>(DHTPIN, DHTTYPE);</a:t>
            </a:r>
          </a:p>
          <a:p>
            <a:pPr>
              <a:lnSpc>
                <a:spcPct val="150000"/>
              </a:lnSpc>
            </a:pPr>
            <a:endParaRPr lang="en-US" sz="900" b="1" dirty="0"/>
          </a:p>
          <a:p>
            <a:pPr>
              <a:lnSpc>
                <a:spcPct val="150000"/>
              </a:lnSpc>
            </a:pPr>
            <a:r>
              <a:rPr lang="en-US" sz="900" b="1" dirty="0"/>
              <a:t>void </a:t>
            </a:r>
            <a:r>
              <a:rPr lang="en-US" sz="900" b="1" dirty="0" err="1"/>
              <a:t>connectWiFi</a:t>
            </a:r>
            <a:r>
              <a:rPr lang="en-US" sz="900" b="1" dirty="0"/>
              <a:t>() {</a:t>
            </a:r>
          </a:p>
          <a:p>
            <a:pPr>
              <a:lnSpc>
                <a:spcPct val="150000"/>
              </a:lnSpc>
            </a:pPr>
            <a:r>
              <a:rPr lang="en-US" sz="900" b="1" dirty="0"/>
              <a:t>  </a:t>
            </a:r>
            <a:r>
              <a:rPr lang="en-US" sz="900" b="1" dirty="0" err="1"/>
              <a:t>WiFi.begin</a:t>
            </a:r>
            <a:r>
              <a:rPr lang="en-US" sz="900" b="1" dirty="0"/>
              <a:t>(WIFI_SSID, WIFI_PASS);</a:t>
            </a:r>
          </a:p>
          <a:p>
            <a:pPr>
              <a:lnSpc>
                <a:spcPct val="150000"/>
              </a:lnSpc>
            </a:pPr>
            <a:r>
              <a:rPr lang="en-US" sz="900" b="1" dirty="0"/>
              <a:t>  while (</a:t>
            </a:r>
            <a:r>
              <a:rPr lang="en-US" sz="900" b="1" dirty="0" err="1"/>
              <a:t>WiFi.status</a:t>
            </a:r>
            <a:r>
              <a:rPr lang="en-US" sz="900" b="1" dirty="0"/>
              <a:t>() != WL_CONNECTED) {</a:t>
            </a:r>
          </a:p>
          <a:p>
            <a:pPr>
              <a:lnSpc>
                <a:spcPct val="150000"/>
              </a:lnSpc>
            </a:pPr>
            <a:r>
              <a:rPr lang="en-US" sz="900" b="1" dirty="0"/>
              <a:t>    delay(500);</a:t>
            </a:r>
          </a:p>
          <a:p>
            <a:pPr>
              <a:lnSpc>
                <a:spcPct val="150000"/>
              </a:lnSpc>
            </a:pPr>
            <a:r>
              <a:rPr lang="en-US" sz="900" b="1" dirty="0"/>
              <a:t>  }</a:t>
            </a:r>
          </a:p>
          <a:p>
            <a:pPr>
              <a:lnSpc>
                <a:spcPct val="150000"/>
              </a:lnSpc>
            </a:pPr>
            <a:r>
              <a:rPr lang="en-US" sz="900" b="1" dirty="0"/>
              <a:t>}</a:t>
            </a:r>
          </a:p>
          <a:p>
            <a:pPr>
              <a:lnSpc>
                <a:spcPct val="150000"/>
              </a:lnSpc>
            </a:pPr>
            <a:endParaRPr lang="en-US" sz="900" b="1" dirty="0"/>
          </a:p>
          <a:p>
            <a:pPr>
              <a:lnSpc>
                <a:spcPct val="150000"/>
              </a:lnSpc>
            </a:pPr>
            <a:endParaRPr lang="en-US" sz="900" dirty="0"/>
          </a:p>
        </p:txBody>
      </p:sp>
      <p:sp>
        <p:nvSpPr>
          <p:cNvPr id="3" name="TextBox 2">
            <a:extLst>
              <a:ext uri="{FF2B5EF4-FFF2-40B4-BE49-F238E27FC236}">
                <a16:creationId xmlns:a16="http://schemas.microsoft.com/office/drawing/2014/main" id="{2831DEC6-6915-7B44-2E87-F840E65F6FFA}"/>
              </a:ext>
            </a:extLst>
          </p:cNvPr>
          <p:cNvSpPr txBox="1"/>
          <p:nvPr/>
        </p:nvSpPr>
        <p:spPr>
          <a:xfrm>
            <a:off x="5067300" y="280194"/>
            <a:ext cx="4953000" cy="6091348"/>
          </a:xfrm>
          <a:prstGeom prst="rect">
            <a:avLst/>
          </a:prstGeom>
          <a:noFill/>
        </p:spPr>
        <p:txBody>
          <a:bodyPr wrap="square">
            <a:spAutoFit/>
          </a:bodyPr>
          <a:lstStyle/>
          <a:p>
            <a:pPr>
              <a:lnSpc>
                <a:spcPct val="150000"/>
              </a:lnSpc>
            </a:pPr>
            <a:r>
              <a:rPr lang="en-US" sz="900" b="1" dirty="0"/>
              <a:t>void </a:t>
            </a:r>
            <a:r>
              <a:rPr lang="en-US" sz="900" b="1" dirty="0" err="1"/>
              <a:t>connectMQTT</a:t>
            </a:r>
            <a:r>
              <a:rPr lang="en-US" sz="900" b="1" dirty="0"/>
              <a:t>() {</a:t>
            </a:r>
          </a:p>
          <a:p>
            <a:pPr>
              <a:lnSpc>
                <a:spcPct val="150000"/>
              </a:lnSpc>
            </a:pPr>
            <a:r>
              <a:rPr lang="en-US" sz="900" b="1" dirty="0"/>
              <a:t>  while (!</a:t>
            </a:r>
            <a:r>
              <a:rPr lang="en-US" sz="900" b="1" dirty="0" err="1"/>
              <a:t>client.connected</a:t>
            </a:r>
            <a:r>
              <a:rPr lang="en-US" sz="900" b="1" dirty="0"/>
              <a:t>()) {</a:t>
            </a:r>
          </a:p>
          <a:p>
            <a:pPr>
              <a:lnSpc>
                <a:spcPct val="150000"/>
              </a:lnSpc>
            </a:pPr>
            <a:r>
              <a:rPr lang="en-US" sz="900" b="1" dirty="0"/>
              <a:t>    </a:t>
            </a:r>
            <a:r>
              <a:rPr lang="en-US" sz="900" b="1" dirty="0" err="1"/>
              <a:t>client.connect</a:t>
            </a:r>
            <a:r>
              <a:rPr lang="en-US" sz="900" b="1" dirty="0"/>
              <a:t>(AIO_USERNAME, AIO_USERNAME, AIO_KEY);</a:t>
            </a:r>
          </a:p>
          <a:p>
            <a:pPr>
              <a:lnSpc>
                <a:spcPct val="150000"/>
              </a:lnSpc>
            </a:pPr>
            <a:r>
              <a:rPr lang="en-US" sz="900" b="1" dirty="0"/>
              <a:t>  }</a:t>
            </a:r>
          </a:p>
          <a:p>
            <a:pPr>
              <a:lnSpc>
                <a:spcPct val="150000"/>
              </a:lnSpc>
            </a:pPr>
            <a:r>
              <a:rPr lang="en-US" sz="900" b="1" dirty="0"/>
              <a:t>}</a:t>
            </a:r>
          </a:p>
          <a:p>
            <a:pPr>
              <a:lnSpc>
                <a:spcPct val="150000"/>
              </a:lnSpc>
            </a:pPr>
            <a:endParaRPr lang="en-US" sz="900" b="1" dirty="0"/>
          </a:p>
          <a:p>
            <a:pPr>
              <a:lnSpc>
                <a:spcPct val="150000"/>
              </a:lnSpc>
            </a:pPr>
            <a:r>
              <a:rPr lang="en-US" sz="900" b="1" dirty="0"/>
              <a:t>void setup() {</a:t>
            </a:r>
          </a:p>
          <a:p>
            <a:pPr>
              <a:lnSpc>
                <a:spcPct val="150000"/>
              </a:lnSpc>
            </a:pPr>
            <a:r>
              <a:rPr lang="en-US" sz="900" b="1" dirty="0"/>
              <a:t>  </a:t>
            </a:r>
            <a:r>
              <a:rPr lang="en-US" sz="900" b="1" dirty="0" err="1"/>
              <a:t>Serial.begin</a:t>
            </a:r>
            <a:r>
              <a:rPr lang="en-US" sz="900" b="1" dirty="0"/>
              <a:t>(115200);</a:t>
            </a:r>
          </a:p>
          <a:p>
            <a:pPr>
              <a:lnSpc>
                <a:spcPct val="150000"/>
              </a:lnSpc>
            </a:pPr>
            <a:r>
              <a:rPr lang="en-US" sz="900" b="1" dirty="0"/>
              <a:t>  </a:t>
            </a:r>
            <a:r>
              <a:rPr lang="en-US" sz="900" b="1" dirty="0" err="1"/>
              <a:t>dht.begin</a:t>
            </a:r>
            <a:r>
              <a:rPr lang="en-US" sz="900" b="1" dirty="0"/>
              <a:t>();</a:t>
            </a:r>
          </a:p>
          <a:p>
            <a:pPr>
              <a:lnSpc>
                <a:spcPct val="150000"/>
              </a:lnSpc>
            </a:pPr>
            <a:r>
              <a:rPr lang="en-US" sz="900" b="1" dirty="0"/>
              <a:t>  </a:t>
            </a:r>
            <a:r>
              <a:rPr lang="en-US" sz="900" b="1" dirty="0" err="1"/>
              <a:t>connectWiFi</a:t>
            </a:r>
            <a:r>
              <a:rPr lang="en-US" sz="900" b="1" dirty="0"/>
              <a:t>();</a:t>
            </a:r>
          </a:p>
          <a:p>
            <a:pPr>
              <a:lnSpc>
                <a:spcPct val="150000"/>
              </a:lnSpc>
            </a:pPr>
            <a:r>
              <a:rPr lang="en-US" sz="900" b="1" dirty="0"/>
              <a:t>  </a:t>
            </a:r>
            <a:r>
              <a:rPr lang="en-US" sz="900" b="1" dirty="0" err="1"/>
              <a:t>client.setServer</a:t>
            </a:r>
            <a:r>
              <a:rPr lang="en-US" sz="900" b="1" dirty="0"/>
              <a:t>(AIO_SERVER, AIO_SERVERPORT);</a:t>
            </a:r>
          </a:p>
          <a:p>
            <a:pPr>
              <a:lnSpc>
                <a:spcPct val="150000"/>
              </a:lnSpc>
            </a:pPr>
            <a:r>
              <a:rPr lang="en-US" sz="900" b="1" dirty="0"/>
              <a:t>}</a:t>
            </a:r>
          </a:p>
          <a:p>
            <a:pPr>
              <a:lnSpc>
                <a:spcPct val="150000"/>
              </a:lnSpc>
            </a:pPr>
            <a:endParaRPr lang="en-US" sz="900" b="1" dirty="0"/>
          </a:p>
          <a:p>
            <a:pPr>
              <a:lnSpc>
                <a:spcPct val="150000"/>
              </a:lnSpc>
            </a:pPr>
            <a:r>
              <a:rPr lang="en-US" sz="900" b="1" dirty="0"/>
              <a:t>void loop() {</a:t>
            </a:r>
          </a:p>
          <a:p>
            <a:pPr>
              <a:lnSpc>
                <a:spcPct val="150000"/>
              </a:lnSpc>
            </a:pPr>
            <a:r>
              <a:rPr lang="en-US" sz="900" b="1" dirty="0"/>
              <a:t>  if (!</a:t>
            </a:r>
            <a:r>
              <a:rPr lang="en-US" sz="900" b="1" dirty="0" err="1"/>
              <a:t>client.connected</a:t>
            </a:r>
            <a:r>
              <a:rPr lang="en-US" sz="900" b="1" dirty="0"/>
              <a:t>()) {</a:t>
            </a:r>
          </a:p>
          <a:p>
            <a:pPr>
              <a:lnSpc>
                <a:spcPct val="150000"/>
              </a:lnSpc>
            </a:pPr>
            <a:r>
              <a:rPr lang="en-US" sz="900" b="1" dirty="0"/>
              <a:t>    </a:t>
            </a:r>
            <a:r>
              <a:rPr lang="en-US" sz="900" b="1" dirty="0" err="1"/>
              <a:t>connectMQTT</a:t>
            </a:r>
            <a:r>
              <a:rPr lang="en-US" sz="900" b="1" dirty="0"/>
              <a:t>();</a:t>
            </a:r>
          </a:p>
          <a:p>
            <a:pPr>
              <a:lnSpc>
                <a:spcPct val="150000"/>
              </a:lnSpc>
            </a:pPr>
            <a:r>
              <a:rPr lang="en-US" sz="900" b="1" dirty="0"/>
              <a:t>  }</a:t>
            </a:r>
          </a:p>
          <a:p>
            <a:pPr>
              <a:lnSpc>
                <a:spcPct val="150000"/>
              </a:lnSpc>
            </a:pPr>
            <a:endParaRPr lang="en-US" sz="900" b="1" dirty="0"/>
          </a:p>
          <a:p>
            <a:pPr>
              <a:lnSpc>
                <a:spcPct val="150000"/>
              </a:lnSpc>
            </a:pPr>
            <a:r>
              <a:rPr lang="en-US" sz="900" b="1" dirty="0"/>
              <a:t>  float temp = </a:t>
            </a:r>
            <a:r>
              <a:rPr lang="en-US" sz="900" b="1" dirty="0" err="1"/>
              <a:t>dht.readTemperature</a:t>
            </a:r>
            <a:r>
              <a:rPr lang="en-US" sz="900" b="1" dirty="0"/>
              <a:t>();</a:t>
            </a:r>
          </a:p>
          <a:p>
            <a:pPr>
              <a:lnSpc>
                <a:spcPct val="150000"/>
              </a:lnSpc>
            </a:pPr>
            <a:endParaRPr lang="en-US" sz="900" b="1" dirty="0"/>
          </a:p>
          <a:p>
            <a:pPr>
              <a:lnSpc>
                <a:spcPct val="150000"/>
              </a:lnSpc>
            </a:pPr>
            <a:r>
              <a:rPr lang="en-US" sz="900" b="1" dirty="0"/>
              <a:t>  if (!</a:t>
            </a:r>
            <a:r>
              <a:rPr lang="en-US" sz="900" b="1" dirty="0" err="1"/>
              <a:t>isnan</a:t>
            </a:r>
            <a:r>
              <a:rPr lang="en-US" sz="900" b="1" dirty="0"/>
              <a:t>(temp)) {</a:t>
            </a:r>
          </a:p>
          <a:p>
            <a:pPr>
              <a:lnSpc>
                <a:spcPct val="150000"/>
              </a:lnSpc>
            </a:pPr>
            <a:r>
              <a:rPr lang="en-US" sz="900" b="1" dirty="0"/>
              <a:t>    char payload[10];</a:t>
            </a:r>
          </a:p>
          <a:p>
            <a:pPr>
              <a:lnSpc>
                <a:spcPct val="150000"/>
              </a:lnSpc>
            </a:pPr>
            <a:r>
              <a:rPr lang="en-US" sz="900" b="1" dirty="0"/>
              <a:t>    </a:t>
            </a:r>
            <a:r>
              <a:rPr lang="en-US" sz="900" b="1" dirty="0" err="1"/>
              <a:t>dtostrf</a:t>
            </a:r>
            <a:r>
              <a:rPr lang="en-US" sz="900" b="1" dirty="0"/>
              <a:t>(temp, 4, 2, payload);</a:t>
            </a:r>
          </a:p>
          <a:p>
            <a:pPr>
              <a:lnSpc>
                <a:spcPct val="150000"/>
              </a:lnSpc>
            </a:pPr>
            <a:r>
              <a:rPr lang="en-US" sz="900" b="1" dirty="0"/>
              <a:t>    </a:t>
            </a:r>
            <a:r>
              <a:rPr lang="en-US" sz="900" b="1" dirty="0" err="1"/>
              <a:t>client.publish</a:t>
            </a:r>
            <a:r>
              <a:rPr lang="en-US" sz="900" b="1" dirty="0"/>
              <a:t>(AIO_USERNAME "/feeds/temp_room1", payload);</a:t>
            </a:r>
          </a:p>
          <a:p>
            <a:pPr>
              <a:lnSpc>
                <a:spcPct val="150000"/>
              </a:lnSpc>
            </a:pPr>
            <a:r>
              <a:rPr lang="en-US" sz="900" b="1" dirty="0"/>
              <a:t>  }</a:t>
            </a:r>
          </a:p>
          <a:p>
            <a:pPr>
              <a:lnSpc>
                <a:spcPct val="150000"/>
              </a:lnSpc>
            </a:pPr>
            <a:endParaRPr lang="en-US" sz="900" b="1" dirty="0"/>
          </a:p>
          <a:p>
            <a:pPr>
              <a:lnSpc>
                <a:spcPct val="150000"/>
              </a:lnSpc>
            </a:pPr>
            <a:r>
              <a:rPr lang="en-US" sz="900" b="1" dirty="0"/>
              <a:t>  </a:t>
            </a:r>
            <a:r>
              <a:rPr lang="en-US" sz="900" b="1" dirty="0" err="1"/>
              <a:t>client.loop</a:t>
            </a:r>
            <a:r>
              <a:rPr lang="en-US" sz="900" b="1" dirty="0"/>
              <a:t>();</a:t>
            </a:r>
          </a:p>
          <a:p>
            <a:pPr>
              <a:lnSpc>
                <a:spcPct val="150000"/>
              </a:lnSpc>
            </a:pPr>
            <a:r>
              <a:rPr lang="en-US" sz="900" b="1" dirty="0"/>
              <a:t>  delay(5000);</a:t>
            </a:r>
          </a:p>
          <a:p>
            <a:pPr>
              <a:lnSpc>
                <a:spcPct val="150000"/>
              </a:lnSpc>
            </a:pPr>
            <a:r>
              <a:rPr lang="en-US" sz="900" b="1" dirty="0"/>
              <a:t>}</a:t>
            </a:r>
            <a:endParaRPr lang="en-US" sz="900" dirty="0"/>
          </a:p>
        </p:txBody>
      </p:sp>
    </p:spTree>
    <p:extLst>
      <p:ext uri="{BB962C8B-B14F-4D97-AF65-F5344CB8AC3E}">
        <p14:creationId xmlns:p14="http://schemas.microsoft.com/office/powerpoint/2010/main" val="284237217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56C4EE7F-1FBB-0130-3802-FC19D6CD94D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2C4532-E3D9-DDE9-AD3E-78831374A457}"/>
              </a:ext>
            </a:extLst>
          </p:cNvPr>
          <p:cNvSpPr txBox="1"/>
          <p:nvPr/>
        </p:nvSpPr>
        <p:spPr>
          <a:xfrm>
            <a:off x="596900" y="750094"/>
            <a:ext cx="4953000" cy="4475521"/>
          </a:xfrm>
          <a:prstGeom prst="rect">
            <a:avLst/>
          </a:prstGeom>
          <a:noFill/>
        </p:spPr>
        <p:txBody>
          <a:bodyPr wrap="square">
            <a:spAutoFit/>
          </a:bodyPr>
          <a:lstStyle/>
          <a:p>
            <a:pPr>
              <a:lnSpc>
                <a:spcPct val="150000"/>
              </a:lnSpc>
            </a:pPr>
            <a:r>
              <a:rPr lang="en-US" b="1" dirty="0" err="1"/>
              <a:t>Tạo</a:t>
            </a:r>
            <a:r>
              <a:rPr lang="en-US" b="1" dirty="0"/>
              <a:t> Dashboard</a:t>
            </a:r>
          </a:p>
          <a:p>
            <a:pPr>
              <a:lnSpc>
                <a:spcPct val="150000"/>
              </a:lnSpc>
            </a:pPr>
            <a:r>
              <a:rPr lang="en-US" dirty="0" err="1"/>
              <a:t>Vào</a:t>
            </a:r>
            <a:r>
              <a:rPr lang="en-US" dirty="0"/>
              <a:t> Dashboards → Create New Dashboard</a:t>
            </a:r>
          </a:p>
          <a:p>
            <a:pPr>
              <a:lnSpc>
                <a:spcPct val="150000"/>
              </a:lnSpc>
            </a:pPr>
            <a:r>
              <a:rPr lang="en-US" dirty="0" err="1"/>
              <a:t>Thêm</a:t>
            </a:r>
            <a:r>
              <a:rPr lang="en-US" dirty="0"/>
              <a:t> Block:</a:t>
            </a:r>
          </a:p>
          <a:p>
            <a:pPr>
              <a:lnSpc>
                <a:spcPct val="150000"/>
              </a:lnSpc>
            </a:pPr>
            <a:r>
              <a:rPr lang="en-US" dirty="0"/>
              <a:t>Gauge → </a:t>
            </a:r>
            <a:r>
              <a:rPr lang="en-US" dirty="0" err="1"/>
              <a:t>chọn</a:t>
            </a:r>
            <a:r>
              <a:rPr lang="en-US" dirty="0"/>
              <a:t> feed temp_room1</a:t>
            </a:r>
            <a:br>
              <a:rPr lang="en-US" dirty="0"/>
            </a:br>
            <a:r>
              <a:rPr lang="en-US" dirty="0"/>
              <a:t>Min: 0</a:t>
            </a:r>
            <a:br>
              <a:rPr lang="en-US" dirty="0"/>
            </a:br>
            <a:r>
              <a:rPr lang="en-US" dirty="0"/>
              <a:t>Max: 50</a:t>
            </a:r>
          </a:p>
          <a:p>
            <a:pPr>
              <a:lnSpc>
                <a:spcPct val="150000"/>
              </a:lnSpc>
            </a:pPr>
            <a:r>
              <a:rPr lang="en-US" dirty="0" err="1"/>
              <a:t>Hoặc</a:t>
            </a:r>
            <a:r>
              <a:rPr lang="en-US" dirty="0"/>
              <a:t> Line Chart </a:t>
            </a:r>
            <a:r>
              <a:rPr lang="en-US" dirty="0" err="1"/>
              <a:t>để</a:t>
            </a:r>
            <a:r>
              <a:rPr lang="en-US" dirty="0"/>
              <a:t> </a:t>
            </a:r>
            <a:r>
              <a:rPr lang="en-US" dirty="0" err="1"/>
              <a:t>xem</a:t>
            </a:r>
            <a:r>
              <a:rPr lang="en-US" dirty="0"/>
              <a:t> </a:t>
            </a:r>
            <a:r>
              <a:rPr lang="en-US" dirty="0" err="1"/>
              <a:t>theo</a:t>
            </a:r>
            <a:r>
              <a:rPr lang="en-US" dirty="0"/>
              <a:t> </a:t>
            </a:r>
            <a:r>
              <a:rPr lang="en-US" dirty="0" err="1"/>
              <a:t>thời</a:t>
            </a:r>
            <a:r>
              <a:rPr lang="en-US" dirty="0"/>
              <a:t> </a:t>
            </a:r>
            <a:r>
              <a:rPr lang="en-US" dirty="0" err="1"/>
              <a:t>gian</a:t>
            </a:r>
            <a:endParaRPr lang="en-US" dirty="0"/>
          </a:p>
          <a:p>
            <a:pPr>
              <a:lnSpc>
                <a:spcPct val="150000"/>
              </a:lnSpc>
            </a:pPr>
            <a:r>
              <a:rPr lang="en-US" b="1" dirty="0" err="1"/>
              <a:t>Kiểm</a:t>
            </a:r>
            <a:r>
              <a:rPr lang="en-US" b="1" dirty="0"/>
              <a:t> </a:t>
            </a:r>
            <a:r>
              <a:rPr lang="en-US" b="1" dirty="0" err="1"/>
              <a:t>tra</a:t>
            </a:r>
            <a:r>
              <a:rPr lang="en-US" b="1" dirty="0"/>
              <a:t> </a:t>
            </a:r>
            <a:r>
              <a:rPr lang="en-US" b="1" dirty="0" err="1"/>
              <a:t>hoạt</a:t>
            </a:r>
            <a:r>
              <a:rPr lang="en-US" b="1" dirty="0"/>
              <a:t> </a:t>
            </a:r>
            <a:r>
              <a:rPr lang="en-US" b="1" dirty="0" err="1"/>
              <a:t>động</a:t>
            </a:r>
            <a:endParaRPr lang="en-US" b="1" dirty="0"/>
          </a:p>
          <a:p>
            <a:pPr>
              <a:lnSpc>
                <a:spcPct val="150000"/>
              </a:lnSpc>
            </a:pPr>
            <a:r>
              <a:rPr lang="en-US" dirty="0" err="1"/>
              <a:t>Mở</a:t>
            </a:r>
            <a:r>
              <a:rPr lang="en-US" dirty="0"/>
              <a:t> Serial Monitor</a:t>
            </a:r>
            <a:br>
              <a:rPr lang="en-US" dirty="0"/>
            </a:br>
            <a:r>
              <a:rPr lang="en-US" dirty="0" err="1"/>
              <a:t>Kiểm</a:t>
            </a:r>
            <a:r>
              <a:rPr lang="en-US" dirty="0"/>
              <a:t> </a:t>
            </a:r>
            <a:r>
              <a:rPr lang="en-US" dirty="0" err="1"/>
              <a:t>tra</a:t>
            </a:r>
            <a:r>
              <a:rPr lang="en-US" dirty="0"/>
              <a:t> </a:t>
            </a:r>
            <a:r>
              <a:rPr lang="en-US" dirty="0" err="1"/>
              <a:t>WiFi</a:t>
            </a:r>
            <a:r>
              <a:rPr lang="en-US" dirty="0"/>
              <a:t> </a:t>
            </a:r>
            <a:r>
              <a:rPr lang="en-US" dirty="0" err="1"/>
              <a:t>kết</a:t>
            </a:r>
            <a:r>
              <a:rPr lang="en-US" dirty="0"/>
              <a:t> </a:t>
            </a:r>
            <a:r>
              <a:rPr lang="en-US" dirty="0" err="1"/>
              <a:t>nối</a:t>
            </a:r>
            <a:br>
              <a:rPr lang="en-US" dirty="0"/>
            </a:br>
            <a:r>
              <a:rPr lang="en-US" dirty="0" err="1"/>
              <a:t>Kiểm</a:t>
            </a:r>
            <a:r>
              <a:rPr lang="en-US" dirty="0"/>
              <a:t> </a:t>
            </a:r>
            <a:r>
              <a:rPr lang="en-US" dirty="0" err="1"/>
              <a:t>tra</a:t>
            </a:r>
            <a:r>
              <a:rPr lang="en-US" dirty="0"/>
              <a:t> publish </a:t>
            </a:r>
            <a:r>
              <a:rPr lang="en-US" dirty="0" err="1"/>
              <a:t>thành</a:t>
            </a:r>
            <a:r>
              <a:rPr lang="en-US" dirty="0"/>
              <a:t> </a:t>
            </a:r>
            <a:r>
              <a:rPr lang="en-US" dirty="0" err="1"/>
              <a:t>công</a:t>
            </a:r>
            <a:endParaRPr lang="en-US" dirty="0"/>
          </a:p>
          <a:p>
            <a:pPr>
              <a:lnSpc>
                <a:spcPct val="150000"/>
              </a:lnSpc>
            </a:pPr>
            <a:r>
              <a:rPr lang="en-US" dirty="0" err="1"/>
              <a:t>Vào</a:t>
            </a:r>
            <a:r>
              <a:rPr lang="en-US" dirty="0"/>
              <a:t> Dashboard → Quan </a:t>
            </a:r>
            <a:r>
              <a:rPr lang="en-US" dirty="0" err="1"/>
              <a:t>sát</a:t>
            </a:r>
            <a:r>
              <a:rPr lang="en-US" dirty="0"/>
              <a:t> </a:t>
            </a:r>
            <a:r>
              <a:rPr lang="en-US" dirty="0" err="1"/>
              <a:t>nhiệt</a:t>
            </a:r>
            <a:r>
              <a:rPr lang="en-US" dirty="0"/>
              <a:t> </a:t>
            </a:r>
            <a:r>
              <a:rPr lang="en-US" dirty="0" err="1"/>
              <a:t>độ</a:t>
            </a:r>
            <a:r>
              <a:rPr lang="en-US" dirty="0"/>
              <a:t> </a:t>
            </a:r>
            <a:r>
              <a:rPr lang="en-US" dirty="0" err="1"/>
              <a:t>realtime</a:t>
            </a:r>
            <a:endParaRPr lang="en-US" dirty="0"/>
          </a:p>
          <a:p>
            <a:pPr>
              <a:lnSpc>
                <a:spcPct val="150000"/>
              </a:lnSpc>
            </a:pPr>
            <a:endParaRPr lang="en-US" dirty="0"/>
          </a:p>
          <a:p>
            <a:pPr>
              <a:lnSpc>
                <a:spcPct val="150000"/>
              </a:lnSpc>
            </a:pPr>
            <a:endParaRPr lang="en-US" sz="900" dirty="0"/>
          </a:p>
        </p:txBody>
      </p:sp>
    </p:spTree>
    <p:extLst>
      <p:ext uri="{BB962C8B-B14F-4D97-AF65-F5344CB8AC3E}">
        <p14:creationId xmlns:p14="http://schemas.microsoft.com/office/powerpoint/2010/main" val="2537646661"/>
      </p:ext>
    </p:extLst>
  </p:cSld>
  <p:clrMapOvr>
    <a:masterClrMapping/>
  </p:clrMapOvr>
</p:sld>
</file>

<file path=ppt/theme/theme1.xml><?xml version="1.0" encoding="utf-8"?>
<a:theme xmlns:a="http://schemas.openxmlformats.org/drawingml/2006/main" name="디자인 사용자 지정">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2002</TotalTime>
  <Words>8556</Words>
  <Application>Microsoft Office PowerPoint</Application>
  <PresentationFormat>Custom</PresentationFormat>
  <Paragraphs>701</Paragraphs>
  <Slides>88</Slides>
  <Notes>84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88</vt:i4>
      </vt:variant>
    </vt:vector>
  </HeadingPairs>
  <TitlesOfParts>
    <vt:vector size="93" baseType="lpstr">
      <vt:lpstr>Malgun Gothic</vt:lpstr>
      <vt:lpstr>Arial</vt:lpstr>
      <vt:lpstr>Calibri</vt:lpstr>
      <vt:lpstr>Noto Sans Symbols</vt:lpstr>
      <vt:lpstr>디자인 사용자 지정</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Manh Huy</dc:creator>
  <cp:lastModifiedBy>NGUYEN</cp:lastModifiedBy>
  <cp:revision>24</cp:revision>
  <dcterms:created xsi:type="dcterms:W3CDTF">2018-03-02T14:47:58Z</dcterms:created>
  <dcterms:modified xsi:type="dcterms:W3CDTF">2026-02-28T23:50:05Z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0x01010068ED2E6D4E77E244B9E3F70AF9B53527</vt:lpwstr>
  </property>
</Properties>
</file>