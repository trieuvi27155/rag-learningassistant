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5"/>
  </p:notesMasterIdLst>
  <p:sldIdLst>
    <p:sldId id="257" r:id="rId2"/>
    <p:sldId id="258" r:id="rId3"/>
    <p:sldId id="676" r:id="rId4"/>
    <p:sldId id="260" r:id="rId5"/>
    <p:sldId id="261" r:id="rId6"/>
    <p:sldId id="678" r:id="rId7"/>
    <p:sldId id="263" r:id="rId8"/>
    <p:sldId id="264" r:id="rId9"/>
    <p:sldId id="679" r:id="rId10"/>
    <p:sldId id="266" r:id="rId11"/>
    <p:sldId id="267" r:id="rId12"/>
    <p:sldId id="680" r:id="rId13"/>
    <p:sldId id="269" r:id="rId14"/>
    <p:sldId id="270" r:id="rId15"/>
    <p:sldId id="271" r:id="rId16"/>
    <p:sldId id="272" r:id="rId17"/>
    <p:sldId id="681"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682" r:id="rId31"/>
    <p:sldId id="289" r:id="rId32"/>
    <p:sldId id="290" r:id="rId33"/>
    <p:sldId id="291" r:id="rId34"/>
    <p:sldId id="292" r:id="rId35"/>
    <p:sldId id="293" r:id="rId36"/>
    <p:sldId id="294" r:id="rId37"/>
    <p:sldId id="295" r:id="rId38"/>
    <p:sldId id="296" r:id="rId39"/>
    <p:sldId id="297" r:id="rId40"/>
    <p:sldId id="683" r:id="rId41"/>
    <p:sldId id="299" r:id="rId42"/>
    <p:sldId id="300" r:id="rId43"/>
    <p:sldId id="684" r:id="rId44"/>
    <p:sldId id="302" r:id="rId45"/>
    <p:sldId id="303" r:id="rId46"/>
    <p:sldId id="304" r:id="rId47"/>
    <p:sldId id="305" r:id="rId48"/>
    <p:sldId id="306" r:id="rId49"/>
    <p:sldId id="307" r:id="rId50"/>
    <p:sldId id="672" r:id="rId51"/>
    <p:sldId id="274" r:id="rId52"/>
    <p:sldId id="275" r:id="rId53"/>
    <p:sldId id="685" r:id="rId54"/>
    <p:sldId id="686" r:id="rId55"/>
    <p:sldId id="687" r:id="rId56"/>
    <p:sldId id="688" r:id="rId57"/>
    <p:sldId id="689" r:id="rId58"/>
    <p:sldId id="690" r:id="rId59"/>
    <p:sldId id="691" r:id="rId60"/>
    <p:sldId id="692" r:id="rId61"/>
    <p:sldId id="693" r:id="rId62"/>
    <p:sldId id="694" r:id="rId63"/>
    <p:sldId id="673" r:id="rId64"/>
    <p:sldId id="695" r:id="rId65"/>
    <p:sldId id="696" r:id="rId66"/>
    <p:sldId id="702" r:id="rId67"/>
    <p:sldId id="697" r:id="rId68"/>
    <p:sldId id="698" r:id="rId69"/>
    <p:sldId id="703" r:id="rId70"/>
    <p:sldId id="699" r:id="rId71"/>
    <p:sldId id="700" r:id="rId72"/>
    <p:sldId id="704" r:id="rId73"/>
    <p:sldId id="705" r:id="rId74"/>
    <p:sldId id="701" r:id="rId75"/>
    <p:sldId id="674" r:id="rId76"/>
    <p:sldId id="706" r:id="rId77"/>
    <p:sldId id="707" r:id="rId78"/>
    <p:sldId id="709" r:id="rId79"/>
    <p:sldId id="710" r:id="rId80"/>
    <p:sldId id="711" r:id="rId81"/>
    <p:sldId id="712" r:id="rId82"/>
    <p:sldId id="708" r:id="rId83"/>
    <p:sldId id="713" r:id="rId84"/>
    <p:sldId id="714" r:id="rId85"/>
    <p:sldId id="715" r:id="rId86"/>
    <p:sldId id="716" r:id="rId87"/>
    <p:sldId id="675" r:id="rId88"/>
    <p:sldId id="717" r:id="rId89"/>
    <p:sldId id="718" r:id="rId90"/>
    <p:sldId id="719" r:id="rId91"/>
    <p:sldId id="720" r:id="rId92"/>
    <p:sldId id="721" r:id="rId93"/>
    <p:sldId id="722" r:id="rId94"/>
  </p:sldIdLst>
  <p:sldSz cx="9902825" cy="6858000"/>
  <p:notesSz cx="7104063" cy="10234613"/>
  <p:embeddedFontLst>
    <p:embeddedFont>
      <p:font typeface="Malgun Gothic" panose="020B0503020000020004" pitchFamily="34" charset="-127"/>
      <p:regular r:id="rId96"/>
      <p:bold r:id="rId9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
          <p15:clr>
            <a:srgbClr val="A4A3A4"/>
          </p15:clr>
        </p15:guide>
        <p15:guide id="2" orient="horz" pos="958">
          <p15:clr>
            <a:srgbClr val="A4A3A4"/>
          </p15:clr>
        </p15:guide>
        <p15:guide id="3" pos="443">
          <p15:clr>
            <a:srgbClr val="A4A3A4"/>
          </p15:clr>
        </p15:guide>
        <p15:guide id="4" pos="3210">
          <p15:clr>
            <a:srgbClr val="A4A3A4"/>
          </p15:clr>
        </p15:guide>
        <p15:guide id="5" pos="3119">
          <p15:clr>
            <a:srgbClr val="A4A3A4"/>
          </p15:clr>
        </p15:guide>
        <p15:guide id="6" orient="horz" pos="1638">
          <p15:clr>
            <a:srgbClr val="A4A3A4"/>
          </p15:clr>
        </p15:guide>
        <p15:guide id="7" orient="horz" pos="3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6" roundtripDataSignature="AMtx7miQntsjKBRx4P5VAk3si86o9uYc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672A58-3C3F-4094-A55C-8326C1CC86CD}">
  <a:tblStyle styleId="{A9672A58-3C3F-4094-A55C-8326C1CC86CD}" styleName="Table_0">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7659242-E1CC-4EDC-8006-197966C0AB99}" styleName="Table_1">
    <a:wholeTbl>
      <a:tcTxStyle b="off" i="off">
        <a:font>
          <a:latin typeface="맑은 고딕"/>
          <a:ea typeface="맑은 고딕"/>
          <a:cs typeface="맑은 고딕"/>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53F50C-8861-43A0-82AE-2E20D93D132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7935" autoAdjust="0"/>
  </p:normalViewPr>
  <p:slideViewPr>
    <p:cSldViewPr snapToGrid="0">
      <p:cViewPr>
        <p:scale>
          <a:sx n="100" d="100"/>
          <a:sy n="100" d="100"/>
        </p:scale>
        <p:origin x="1596" y="-216"/>
      </p:cViewPr>
      <p:guideLst>
        <p:guide orient="horz" pos="1412"/>
        <p:guide orient="horz" pos="958"/>
        <p:guide pos="443"/>
        <p:guide pos="3210"/>
        <p:guide pos="3119"/>
        <p:guide orient="horz" pos="1638"/>
        <p:guide orient="horz" pos="3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58"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59" Type="http://schemas.openxmlformats.org/officeDocument/2006/relationships/theme" Target="theme/theme1.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257"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260"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3" Type="http://schemas.openxmlformats.org/officeDocument/2006/relationships/slide" Target="slides/slide2.xml"/><Relationship Id="rId2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Malgun Gothic"/>
                <a:ea typeface="Malgun Gothic"/>
                <a:cs typeface="Malgun Gothic"/>
                <a:sym typeface="Malgun Gothic"/>
              </a:rPr>
              <a:t>‹#›</a:t>
            </a:fld>
            <a:endParaRPr sz="13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wired.com/2011/10/john-mccarthy-father-of-ai-and-lisp-dies-at-84/" TargetMode="External"/><Relationship Id="rId7" Type="http://schemas.openxmlformats.org/officeDocument/2006/relationships/hyperlink" Target="https://en.wikipedia.org/wiki/Artificial_intelligence"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n.wikipedia.org/wiki/Progress_in_artificial_intelligence" TargetMode="External"/><Relationship Id="rId5" Type="http://schemas.openxmlformats.org/officeDocument/2006/relationships/hyperlink" Target="https://searchenterpriseai.techtarget.com/definition/AI-Artificial-Intelligence" TargetMode="External"/><Relationship Id="rId4" Type="http://schemas.openxmlformats.org/officeDocument/2006/relationships/hyperlink" Target="https://simple.m.wikipedia.org/wiki/Artificial_intelligenc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earchenterpriseai.techtarget.com/definition/AI-Artificial-Intelligence"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en.wikipedia.org/wiki/Progress_in_artificial_intelligence" TargetMode="External"/><Relationship Id="rId4" Type="http://schemas.openxmlformats.org/officeDocument/2006/relationships/hyperlink" Target="https://medium.com/syncedreview/openai-founder-short-term-agi-is-a-serious-possibility-368424f7462f" TargetMode="Externa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www.mckinsey.com/featured-insights/artificial-intelligence/notes-from-the-ai-frontier-applications-and-value-of-deep-learning#part1" TargetMode="External"/><Relationship Id="rId3" Type="http://schemas.openxmlformats.org/officeDocument/2006/relationships/hyperlink" Target="https://www.nvidia.com/content/dam/en-zz/Solutions/deep-learning/home/DeepLearning_eBook_FINAL.pdf" TargetMode="External"/><Relationship Id="rId7" Type="http://schemas.openxmlformats.org/officeDocument/2006/relationships/hyperlink" Target="https://medium.com/@saileshdhungana/a-simple-yet-satisfactory-definition-of-ai-f0022fa3373d"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www.datarobot.com/wiki/artificial-intelligence/" TargetMode="External"/><Relationship Id="rId5" Type="http://schemas.openxmlformats.org/officeDocument/2006/relationships/hyperlink" Target="https://www.mckinsey.com/business-functions/mckinsey-analytics/our-insights/an-executives-guide-to-ai" TargetMode="External"/><Relationship Id="rId4" Type="http://schemas.openxmlformats.org/officeDocument/2006/relationships/hyperlink" Target="https://www.kdnuggets.com/2017/07/rapidminer-ai-machine-learning-deep-learning.html" TargetMode="External"/><Relationship Id="rId9" Type="http://schemas.openxmlformats.org/officeDocument/2006/relationships/hyperlink" Target="https://www.guru99.com/supervised-vs-unsupervised-learning.html"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mathworks.com/"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youtube.com/watch?v=-SgkLEuhfbg&amp;feature=youtu.be"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www.youtube.com/watch?v=-SgkLEuhfbg&amp;feature=youtu.be"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en.wikipedia.org/wiki/Deep_learning"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710407" y="5287169"/>
            <a:ext cx="5683250" cy="3668117"/>
          </a:xfrm>
          <a:prstGeom prst="rect">
            <a:avLst/>
          </a:prstGeom>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a:spLocks noGrp="1" noRot="1" noChangeAspect="1"/>
          </p:cNvSpPr>
          <p:nvPr>
            <p:ph type="sldImg" idx="2"/>
          </p:nvPr>
        </p:nvSpPr>
        <p:spPr>
          <a:xfrm>
            <a:off x="196850" y="763588"/>
            <a:ext cx="6653213" cy="46085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3:notes"/>
          <p:cNvSpPr txBox="1">
            <a:spLocks noGrp="1"/>
          </p:cNvSpPr>
          <p:nvPr>
            <p:ph type="body" idx="1"/>
          </p:nvPr>
        </p:nvSpPr>
        <p:spPr>
          <a:xfrm>
            <a:off x="679768" y="5542373"/>
            <a:ext cx="5438140" cy="3639767"/>
          </a:xfrm>
          <a:prstGeom prst="rect">
            <a:avLst/>
          </a:prstGeom>
          <a:noFill/>
          <a:ln>
            <a:noFill/>
          </a:ln>
        </p:spPr>
        <p:txBody>
          <a:bodyPr spcFirstLastPara="1" wrap="square" lIns="99075" tIns="49525" rIns="99075" bIns="495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dirty="0"/>
          </a:p>
        </p:txBody>
      </p:sp>
      <p:sp>
        <p:nvSpPr>
          <p:cNvPr id="158" name="Google Shape;158;p3:notes"/>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2</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4:notes"/>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3</a:t>
            </a:fld>
            <a:endParaRPr sz="1200" b="0" i="0" u="none" strike="noStrike" cap="none">
              <a:solidFill>
                <a:srgbClr val="000000"/>
              </a:solidFill>
              <a:latin typeface="Malgun Gothic"/>
              <a:ea typeface="Malgun Gothic"/>
              <a:cs typeface="Malgun Gothic"/>
              <a:sym typeface="Malgun Gothic"/>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5: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r>
              <a:rPr lang="en-US" b="0" u="none"/>
              <a:t>The most important ability of AI is reasoning. Like human, AI can reason from fact to draw conclusion or implication. Prior to the emergence of AI, computer should be programmed by human to get an answer to the question. </a:t>
            </a:r>
            <a:br>
              <a:rPr lang="en-US"/>
            </a:br>
            <a:br>
              <a:rPr lang="en-US"/>
            </a:br>
            <a:r>
              <a:rPr lang="en-US" b="1"/>
              <a:t>[Reference Source]</a:t>
            </a:r>
            <a:endParaRPr/>
          </a:p>
          <a:p>
            <a:pPr marL="0" marR="0" lvl="0" indent="0" algn="l" rtl="0">
              <a:lnSpc>
                <a:spcPct val="100000"/>
              </a:lnSpc>
              <a:spcBef>
                <a:spcPts val="0"/>
              </a:spcBef>
              <a:spcAft>
                <a:spcPts val="0"/>
              </a:spcAft>
              <a:buClr>
                <a:schemeClr val="dk1"/>
              </a:buClr>
              <a:buSzPts val="1200"/>
              <a:buFont typeface="Malgun Gothic"/>
              <a:buNone/>
            </a:pPr>
            <a:r>
              <a:rPr lang="en-US" b="0"/>
              <a:t>picture of John McCarthy </a:t>
            </a:r>
            <a:r>
              <a:rPr lang="en-US" u="sng">
                <a:solidFill>
                  <a:schemeClr val="hlink"/>
                </a:solidFill>
                <a:hlinkClick r:id="rId3"/>
              </a:rPr>
              <a:t>https://www.wired.com/2011/10/john-mccarthy-father-of-ai-and-lisp-dies-at-84/</a:t>
            </a:r>
            <a:endParaRPr/>
          </a:p>
          <a:p>
            <a:pPr marL="0" marR="0" lvl="0" indent="0" algn="l" rtl="0">
              <a:lnSpc>
                <a:spcPct val="100000"/>
              </a:lnSpc>
              <a:spcBef>
                <a:spcPts val="0"/>
              </a:spcBef>
              <a:spcAft>
                <a:spcPts val="0"/>
              </a:spcAft>
              <a:buClr>
                <a:schemeClr val="dk1"/>
              </a:buClr>
              <a:buSzPts val="1200"/>
              <a:buFont typeface="Malgun Gothic"/>
              <a:buNone/>
            </a:pPr>
            <a:r>
              <a:rPr lang="en-US" b="0"/>
              <a:t>Definition of AI </a:t>
            </a:r>
            <a:r>
              <a:rPr lang="en-US" sz="1200" u="sng">
                <a:solidFill>
                  <a:schemeClr val="hlink"/>
                </a:solidFill>
                <a:hlinkClick r:id="rId4"/>
              </a:rPr>
              <a:t>https://simple.m.wikipedia.org/wiki/Artificial_intelligence</a:t>
            </a:r>
            <a:endParaRPr b="1"/>
          </a:p>
          <a:p>
            <a:pPr marL="0" marR="0" lvl="0" indent="0" algn="l" rtl="0">
              <a:lnSpc>
                <a:spcPct val="100000"/>
              </a:lnSpc>
              <a:spcBef>
                <a:spcPts val="0"/>
              </a:spcBef>
              <a:spcAft>
                <a:spcPts val="0"/>
              </a:spcAft>
              <a:buClr>
                <a:schemeClr val="dk1"/>
              </a:buClr>
              <a:buSzPts val="1200"/>
              <a:buFont typeface="Malgun Gothic"/>
              <a:buNone/>
            </a:pPr>
            <a:r>
              <a:rPr lang="en-US"/>
              <a:t>Feature of AI </a:t>
            </a:r>
            <a:r>
              <a:rPr lang="en-US" sz="1200" u="sng">
                <a:solidFill>
                  <a:schemeClr val="hlink"/>
                </a:solidFill>
                <a:hlinkClick r:id="rId5"/>
              </a:rPr>
              <a:t>https://searchenterpriseai.techtarget.com/definition/AI-Artificial-Intelligence</a:t>
            </a:r>
            <a:endParaRPr sz="1200">
              <a:solidFill>
                <a:srgbClr val="6C6C6C"/>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Malgun Gothic"/>
              <a:buNone/>
            </a:pPr>
            <a:r>
              <a:rPr lang="en-US"/>
              <a:t>Progress of AI </a:t>
            </a:r>
            <a:r>
              <a:rPr lang="en-US" u="sng">
                <a:solidFill>
                  <a:schemeClr val="hlink"/>
                </a:solidFill>
                <a:hlinkClick r:id="rId6"/>
              </a:rPr>
              <a:t>https://en.wikipedia.org/wiki/Progress_in_artificial_intelligence</a:t>
            </a:r>
            <a:endParaRPr/>
          </a:p>
          <a:p>
            <a:pPr marL="0" marR="0" lvl="0" indent="0" algn="l" rtl="0">
              <a:lnSpc>
                <a:spcPct val="100000"/>
              </a:lnSpc>
              <a:spcBef>
                <a:spcPts val="0"/>
              </a:spcBef>
              <a:spcAft>
                <a:spcPts val="0"/>
              </a:spcAft>
              <a:buClr>
                <a:schemeClr val="dk1"/>
              </a:buClr>
              <a:buSzPts val="1200"/>
              <a:buFont typeface="Malgun Gothic"/>
              <a:buNone/>
            </a:pPr>
            <a:r>
              <a:rPr lang="en-US"/>
              <a:t>What is AI</a:t>
            </a:r>
            <a:r>
              <a:rPr lang="en-US" u="sng">
                <a:solidFill>
                  <a:schemeClr val="hlink"/>
                </a:solidFill>
                <a:hlinkClick r:id="rId7"/>
              </a:rPr>
              <a:t> https://en.wikipedia.org/wiki/Artificial_intelligence</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97" name="Google Shape;1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6: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213" name="Google Shape;21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CF9BFBDE-D5FF-27A4-D26B-EDEFB9E87F7C}"/>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0AB7B668-E500-F279-E5B3-19F9980540FF}"/>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B4CC4BAC-63E4-90C9-63E1-1B01E6325C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AAB7258E-0545-4119-0A97-EB97F029F88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6</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4088991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r>
              <a:rPr lang="en-US"/>
              <a:t>AI can be categorized as either weak or strong. Weak AI, also known as narrow AI, is an AI system that is designed and trained for a particular task. Virtual personal assistants, such as Apple's Siri, are a form of weak AI. Strong AI, also known as artificial general intelligence, is an AI system with generalized human cognitive abilities. When presented with an unfamiliar task, a strong AI system is able to find a solution without human intervention. </a:t>
            </a:r>
            <a:endParaRPr/>
          </a:p>
          <a:p>
            <a:pPr marL="0" marR="0" lvl="0" indent="0" algn="l" rtl="0">
              <a:lnSpc>
                <a:spcPct val="100000"/>
              </a:lnSpc>
              <a:spcBef>
                <a:spcPts val="0"/>
              </a:spcBef>
              <a:spcAft>
                <a:spcPts val="0"/>
              </a:spcAft>
              <a:buClr>
                <a:schemeClr val="dk1"/>
              </a:buClr>
              <a:buSzPts val="1200"/>
              <a:buFont typeface="Malgun Gothic"/>
              <a:buNone/>
            </a:pPr>
            <a:br>
              <a:rPr lang="en-US"/>
            </a:br>
            <a:r>
              <a:rPr lang="en-US" b="1"/>
              <a:t>[Reference Source]</a:t>
            </a:r>
            <a:endParaRPr/>
          </a:p>
          <a:p>
            <a:pPr marL="0" marR="0" lvl="0" indent="0" algn="l" rtl="0">
              <a:lnSpc>
                <a:spcPct val="100000"/>
              </a:lnSpc>
              <a:spcBef>
                <a:spcPts val="0"/>
              </a:spcBef>
              <a:spcAft>
                <a:spcPts val="0"/>
              </a:spcAft>
              <a:buClr>
                <a:schemeClr val="dk1"/>
              </a:buClr>
              <a:buSzPts val="1200"/>
              <a:buFont typeface="Malgun Gothic"/>
              <a:buNone/>
            </a:pPr>
            <a:r>
              <a:rPr lang="en-US"/>
              <a:t>Weak AI &amp; Strong AI </a:t>
            </a:r>
            <a:r>
              <a:rPr lang="en-US" sz="1200" u="sng">
                <a:solidFill>
                  <a:schemeClr val="hlink"/>
                </a:solidFill>
                <a:hlinkClick r:id="rId3"/>
              </a:rPr>
              <a:t>https://searchenterpriseai.techtarget.com/definition/AI-Artificial-Intelligence</a:t>
            </a:r>
            <a:endParaRPr/>
          </a:p>
          <a:p>
            <a:pPr marL="0" marR="0" lvl="0" indent="0" algn="l" rtl="0">
              <a:lnSpc>
                <a:spcPct val="100000"/>
              </a:lnSpc>
              <a:spcBef>
                <a:spcPts val="0"/>
              </a:spcBef>
              <a:spcAft>
                <a:spcPts val="0"/>
              </a:spcAft>
              <a:buClr>
                <a:schemeClr val="dk1"/>
              </a:buClr>
              <a:buSzPts val="1200"/>
              <a:buFont typeface="Malgun Gothic"/>
              <a:buNone/>
            </a:pPr>
            <a:r>
              <a:rPr lang="en-US"/>
              <a:t>Future of AGI </a:t>
            </a:r>
            <a:r>
              <a:rPr lang="en-US" u="sng">
                <a:solidFill>
                  <a:schemeClr val="hlink"/>
                </a:solidFill>
                <a:hlinkClick r:id="rId4"/>
              </a:rPr>
              <a:t>https://medium.com/syncedreview/openai-founder-short-term-agi-is-a-serious-possibility-368424f7462f</a:t>
            </a:r>
            <a:endParaRPr/>
          </a:p>
          <a:p>
            <a:pPr marL="0" marR="0" lvl="0" indent="0" algn="l" rtl="0">
              <a:lnSpc>
                <a:spcPct val="100000"/>
              </a:lnSpc>
              <a:spcBef>
                <a:spcPts val="0"/>
              </a:spcBef>
              <a:spcAft>
                <a:spcPts val="0"/>
              </a:spcAft>
              <a:buClr>
                <a:schemeClr val="dk1"/>
              </a:buClr>
              <a:buSzPts val="1200"/>
              <a:buFont typeface="Malgun Gothic"/>
              <a:buNone/>
            </a:pPr>
            <a:r>
              <a:rPr lang="en-US"/>
              <a:t>Progress of AI </a:t>
            </a:r>
            <a:r>
              <a:rPr lang="en-US" u="sng">
                <a:solidFill>
                  <a:schemeClr val="hlink"/>
                </a:solidFill>
                <a:hlinkClick r:id="rId5"/>
              </a:rPr>
              <a:t>https://en.wikipedia.org/wiki/Progress_in_artificial_intelligence</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253" name="Google Shape;25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9: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93EB0"/>
              </a:buClr>
              <a:buSzPts val="1200"/>
              <a:buFont typeface="Arial"/>
              <a:buNone/>
            </a:pPr>
            <a:r>
              <a:rPr lang="en-US" sz="1200">
                <a:solidFill>
                  <a:srgbClr val="262626"/>
                </a:solidFill>
                <a:latin typeface="Arial"/>
                <a:ea typeface="Arial"/>
                <a:cs typeface="Arial"/>
                <a:sym typeface="Arial"/>
              </a:rPr>
              <a:t>In the late 20</a:t>
            </a:r>
            <a:r>
              <a:rPr lang="en-US" sz="1200" baseline="30000">
                <a:solidFill>
                  <a:srgbClr val="262626"/>
                </a:solidFill>
                <a:latin typeface="Arial"/>
                <a:ea typeface="Arial"/>
                <a:cs typeface="Arial"/>
                <a:sym typeface="Arial"/>
              </a:rPr>
              <a:t>th</a:t>
            </a:r>
            <a:r>
              <a:rPr lang="en-US" sz="1200">
                <a:solidFill>
                  <a:srgbClr val="262626"/>
                </a:solidFill>
                <a:latin typeface="Arial"/>
                <a:ea typeface="Arial"/>
                <a:cs typeface="Arial"/>
                <a:sym typeface="Arial"/>
              </a:rPr>
              <a:t> century, machine learning was invented as a subset of artificial intelligence related to the self-learning algorithm which makes prediction by extracting knowledge from data. </a:t>
            </a:r>
            <a:endParaRPr/>
          </a:p>
          <a:p>
            <a:pPr marL="182563" lvl="0" indent="-106363" algn="l" rtl="0">
              <a:lnSpc>
                <a:spcPct val="100000"/>
              </a:lnSpc>
              <a:spcBef>
                <a:spcPts val="400"/>
              </a:spcBef>
              <a:spcAft>
                <a:spcPts val="0"/>
              </a:spcAft>
              <a:buClr>
                <a:srgbClr val="193EB0"/>
              </a:buClr>
              <a:buSzPts val="1200"/>
              <a:buFont typeface="Arial"/>
              <a:buNone/>
            </a:pPr>
            <a:endParaRPr sz="1200">
              <a:solidFill>
                <a:srgbClr val="262626"/>
              </a:solidFill>
              <a:latin typeface="Arial"/>
              <a:ea typeface="Arial"/>
              <a:cs typeface="Arial"/>
              <a:sym typeface="Arial"/>
            </a:endParaRPr>
          </a:p>
          <a:p>
            <a:pPr marL="0" lvl="0" indent="0" algn="l" rtl="0">
              <a:lnSpc>
                <a:spcPct val="100000"/>
              </a:lnSpc>
              <a:spcBef>
                <a:spcPts val="400"/>
              </a:spcBef>
              <a:spcAft>
                <a:spcPts val="0"/>
              </a:spcAft>
              <a:buSzPts val="1400"/>
              <a:buNone/>
            </a:pPr>
            <a:r>
              <a:rPr lang="en-US" sz="1200">
                <a:solidFill>
                  <a:srgbClr val="262626"/>
                </a:solidFill>
                <a:latin typeface="Arial"/>
                <a:ea typeface="Arial"/>
                <a:cs typeface="Arial"/>
                <a:sym typeface="Arial"/>
              </a:rPr>
              <a:t>AI is a branch of programming which deals with a machine processing inputs and providing output by using rules that were not hardcoded and whose accuracy according to some metric along with perceived novelty from the hardcoded rules define the program’s intelligence. These artificial intelligence systems are powered by machine learning. Many of them are powered by machine learning, some of them are powered by specifically deep learning, some of them are powered by very boring things like just rules.</a:t>
            </a:r>
            <a:endParaRPr/>
          </a:p>
          <a:p>
            <a:pPr marL="0" lvl="0" indent="0" algn="l" rtl="0">
              <a:lnSpc>
                <a:spcPct val="100000"/>
              </a:lnSpc>
              <a:spcBef>
                <a:spcPts val="0"/>
              </a:spcBef>
              <a:spcAft>
                <a:spcPts val="0"/>
              </a:spcAft>
              <a:buSzPts val="1400"/>
              <a:buNone/>
            </a:pPr>
            <a:br>
              <a:rPr lang="en-US"/>
            </a:br>
            <a:r>
              <a:rPr lang="en-US" b="1"/>
              <a:t>[Reference Source]</a:t>
            </a:r>
            <a:endParaRPr/>
          </a:p>
          <a:p>
            <a:pPr marL="0" lvl="0" indent="0" algn="l" rtl="0">
              <a:lnSpc>
                <a:spcPct val="100000"/>
              </a:lnSpc>
              <a:spcBef>
                <a:spcPts val="0"/>
              </a:spcBef>
              <a:spcAft>
                <a:spcPts val="0"/>
              </a:spcAft>
              <a:buSzPts val="1400"/>
              <a:buNone/>
            </a:pPr>
            <a:r>
              <a:rPr lang="en-US" b="0"/>
              <a:t>Deep learning Explained </a:t>
            </a:r>
            <a:r>
              <a:rPr lang="en-US" u="sng">
                <a:solidFill>
                  <a:schemeClr val="hlink"/>
                </a:solidFill>
                <a:hlinkClick r:id="rId3"/>
              </a:rPr>
              <a:t>https://www.nvidia.com/content/dam/en-zz/Solutions/deep-learning/home/DeepLearning_eBook_FINAL.pdf</a:t>
            </a:r>
            <a:endParaRPr b="1"/>
          </a:p>
          <a:p>
            <a:pPr marL="0" marR="0" lvl="0" indent="0" algn="l" rtl="0">
              <a:lnSpc>
                <a:spcPct val="100000"/>
              </a:lnSpc>
              <a:spcBef>
                <a:spcPts val="0"/>
              </a:spcBef>
              <a:spcAft>
                <a:spcPts val="0"/>
              </a:spcAft>
              <a:buClr>
                <a:schemeClr val="dk1"/>
              </a:buClr>
              <a:buSzPts val="1200"/>
              <a:buFont typeface="Malgun Gothic"/>
              <a:buNone/>
            </a:pPr>
            <a:r>
              <a:rPr lang="en-US"/>
              <a:t>Category of AI, Machine Learning, and Deep Learning </a:t>
            </a:r>
            <a:r>
              <a:rPr lang="en-US" u="sng">
                <a:solidFill>
                  <a:schemeClr val="hlink"/>
                </a:solidFill>
                <a:hlinkClick r:id="rId4"/>
              </a:rPr>
              <a:t>https://www.kdnuggets.com/2017/07/rapidminer-ai-machine-learning-deep-learning.html</a:t>
            </a:r>
            <a:endParaRPr/>
          </a:p>
          <a:p>
            <a:pPr marL="0" marR="0" lvl="0" indent="0" algn="l" rtl="0">
              <a:lnSpc>
                <a:spcPct val="100000"/>
              </a:lnSpc>
              <a:spcBef>
                <a:spcPts val="0"/>
              </a:spcBef>
              <a:spcAft>
                <a:spcPts val="0"/>
              </a:spcAft>
              <a:buClr>
                <a:schemeClr val="dk1"/>
              </a:buClr>
              <a:buSzPts val="1200"/>
              <a:buFont typeface="Malgun Gothic"/>
              <a:buNone/>
            </a:pPr>
            <a:r>
              <a:rPr lang="en-US" sz="1200" b="0" i="0">
                <a:solidFill>
                  <a:schemeClr val="dk1"/>
                </a:solidFill>
                <a:latin typeface="Malgun Gothic"/>
                <a:ea typeface="Malgun Gothic"/>
                <a:cs typeface="Malgun Gothic"/>
                <a:sym typeface="Malgun Gothic"/>
              </a:rPr>
              <a:t>An executive’s guide to AI </a:t>
            </a:r>
            <a:r>
              <a:rPr lang="en-US" u="sng">
                <a:solidFill>
                  <a:schemeClr val="hlink"/>
                </a:solidFill>
                <a:hlinkClick r:id="rId5"/>
              </a:rPr>
              <a:t>https://www.mckinsey.com/business-functions/mckinsey-analytics/our-insights/an-executives-guide-to-ai</a:t>
            </a:r>
            <a:endParaRPr/>
          </a:p>
          <a:p>
            <a:pPr marL="0" marR="0" lvl="0" indent="0" algn="l" rtl="0">
              <a:lnSpc>
                <a:spcPct val="100000"/>
              </a:lnSpc>
              <a:spcBef>
                <a:spcPts val="0"/>
              </a:spcBef>
              <a:spcAft>
                <a:spcPts val="0"/>
              </a:spcAft>
              <a:buClr>
                <a:schemeClr val="dk1"/>
              </a:buClr>
              <a:buSzPts val="1200"/>
              <a:buFont typeface="Malgun Gothic"/>
              <a:buNone/>
            </a:pPr>
            <a:r>
              <a:rPr lang="en-US"/>
              <a:t>What is AI </a:t>
            </a:r>
            <a:r>
              <a:rPr lang="en-US" u="sng">
                <a:solidFill>
                  <a:schemeClr val="hlink"/>
                </a:solidFill>
                <a:hlinkClick r:id="rId6"/>
              </a:rPr>
              <a:t>https://www.datarobot.com/wiki/artificial-intelligence/</a:t>
            </a:r>
            <a:endParaRPr/>
          </a:p>
          <a:p>
            <a:pPr marL="0" marR="0" lvl="0" indent="0" algn="l" rtl="0">
              <a:lnSpc>
                <a:spcPct val="100000"/>
              </a:lnSpc>
              <a:spcBef>
                <a:spcPts val="0"/>
              </a:spcBef>
              <a:spcAft>
                <a:spcPts val="0"/>
              </a:spcAft>
              <a:buClr>
                <a:schemeClr val="dk1"/>
              </a:buClr>
              <a:buSzPts val="1200"/>
              <a:buFont typeface="Malgun Gothic"/>
              <a:buNone/>
            </a:pPr>
            <a:r>
              <a:rPr lang="en-US"/>
              <a:t>What is AI </a:t>
            </a:r>
            <a:r>
              <a:rPr lang="en-US" u="sng">
                <a:solidFill>
                  <a:schemeClr val="hlink"/>
                </a:solidFill>
                <a:hlinkClick r:id="rId7"/>
              </a:rPr>
              <a:t>https://medium.com/@saileshdhungana/a-simple-yet-satisfactory-definition-of-ai-f0022fa3373d</a:t>
            </a:r>
            <a:endParaRPr u="sng">
              <a:solidFill>
                <a:schemeClr val="hlink"/>
              </a:solidFill>
              <a:hlinkClick r:id="rId8"/>
            </a:endParaRPr>
          </a:p>
          <a:p>
            <a:pPr marL="0" lvl="0" indent="0" algn="l" rtl="0">
              <a:lnSpc>
                <a:spcPct val="100000"/>
              </a:lnSpc>
              <a:spcBef>
                <a:spcPts val="0"/>
              </a:spcBef>
              <a:spcAft>
                <a:spcPts val="0"/>
              </a:spcAft>
              <a:buSzPts val="1400"/>
              <a:buNone/>
            </a:pPr>
            <a:r>
              <a:rPr lang="en-US" sz="1200" b="0" i="0">
                <a:solidFill>
                  <a:schemeClr val="dk1"/>
                </a:solidFill>
                <a:latin typeface="Malgun Gothic"/>
                <a:ea typeface="Malgun Gothic"/>
                <a:cs typeface="Malgun Gothic"/>
                <a:sym typeface="Malgun Gothic"/>
              </a:rPr>
              <a:t>Notes from the AI frontier: Applications and value of deep learning </a:t>
            </a:r>
            <a:br>
              <a:rPr lang="en-US" sz="1200" b="0" i="0">
                <a:solidFill>
                  <a:schemeClr val="dk1"/>
                </a:solidFill>
                <a:latin typeface="Malgun Gothic"/>
                <a:ea typeface="Malgun Gothic"/>
                <a:cs typeface="Malgun Gothic"/>
                <a:sym typeface="Malgun Gothic"/>
              </a:rPr>
            </a:br>
            <a:r>
              <a:rPr lang="en-US" u="sng">
                <a:solidFill>
                  <a:schemeClr val="hlink"/>
                </a:solidFill>
                <a:hlinkClick r:id="rId8"/>
              </a:rPr>
              <a:t>https://www.mckinsey.com/featured-insights/artificial-intelligence/notes-from-the-ai-frontier-applications-and-value-of-deep-learning#part1</a:t>
            </a:r>
            <a:endParaRPr/>
          </a:p>
          <a:p>
            <a:pPr marL="0" lvl="0" indent="0" algn="l" rtl="0">
              <a:lnSpc>
                <a:spcPct val="100000"/>
              </a:lnSpc>
              <a:spcBef>
                <a:spcPts val="0"/>
              </a:spcBef>
              <a:spcAft>
                <a:spcPts val="0"/>
              </a:spcAft>
              <a:buSzPts val="1400"/>
              <a:buNone/>
            </a:pPr>
            <a:r>
              <a:rPr lang="en-US" sz="1200" b="0">
                <a:solidFill>
                  <a:schemeClr val="dk1"/>
                </a:solidFill>
                <a:latin typeface="Malgun Gothic"/>
                <a:ea typeface="Malgun Gothic"/>
                <a:cs typeface="Malgun Gothic"/>
                <a:sym typeface="Malgun Gothic"/>
              </a:rPr>
              <a:t>Supervised vs Unsupervised Learning: Key Differences</a:t>
            </a:r>
            <a:r>
              <a:rPr lang="en-US"/>
              <a:t> </a:t>
            </a:r>
            <a:r>
              <a:rPr lang="en-US" u="sng">
                <a:solidFill>
                  <a:schemeClr val="hlink"/>
                </a:solidFill>
                <a:hlinkClick r:id="rId9"/>
              </a:rPr>
              <a:t>https://www.guru99.com/supervised-vs-unsupervised-learning.html</a:t>
            </a:r>
            <a:endParaRPr/>
          </a:p>
          <a:p>
            <a:pPr marL="182563" lvl="0" indent="-106363" algn="l" rtl="0">
              <a:lnSpc>
                <a:spcPct val="100000"/>
              </a:lnSpc>
              <a:spcBef>
                <a:spcPts val="0"/>
              </a:spcBef>
              <a:spcAft>
                <a:spcPts val="0"/>
              </a:spcAft>
              <a:buClr>
                <a:srgbClr val="193EB0"/>
              </a:buClr>
              <a:buSzPts val="1200"/>
              <a:buFont typeface="Arial"/>
              <a:buNone/>
            </a:pPr>
            <a:endParaRPr sz="1200">
              <a:solidFill>
                <a:srgbClr val="262626"/>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279" name="Google Shape;27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8436DD17-C99B-111B-A5A1-92A7E0949132}"/>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0121988E-5FF8-EA6E-27D1-E23AD47799BC}"/>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ABD5E0B9-F021-D3A4-FA4B-4FB213A0AE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54EEBC38-11CF-51DD-DCD9-0422A2C98EF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9</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3215355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Spam filter is one of the machine learning programs that use samples of spam and general mails to classify mails that are designated as spam by the user.</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Basic terms</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 Training set: samples used by the system for learning</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 Training instance (or sample: each training data,</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 Task T classifies if the new mail is spam</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 Experience E is the training data</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    · Performance measure P should be directly defined by the user, and performance measure is also called accuracy which is often used for classification tasks.</a:t>
            </a:r>
            <a:endParaRPr/>
          </a:p>
        </p:txBody>
      </p:sp>
      <p:sp>
        <p:nvSpPr>
          <p:cNvPr id="314" name="Google Shape;31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r>
              <a:rPr lang="en-US" b="0" u="none"/>
              <a:t>People usually recognize cats and dogs based on the experience of having seen many cats and dogs overtime. </a:t>
            </a:r>
            <a:endParaRPr/>
          </a:p>
          <a:p>
            <a:pPr marL="0" marR="0" lvl="0" indent="0" algn="l" rtl="0">
              <a:lnSpc>
                <a:spcPct val="100000"/>
              </a:lnSpc>
              <a:spcBef>
                <a:spcPts val="0"/>
              </a:spcBef>
              <a:spcAft>
                <a:spcPts val="0"/>
              </a:spcAft>
              <a:buClr>
                <a:schemeClr val="dk1"/>
              </a:buClr>
              <a:buSzPts val="1200"/>
              <a:buFont typeface="Malgun Gothic"/>
              <a:buNone/>
            </a:pPr>
            <a:r>
              <a:rPr lang="en-US" b="0" u="none"/>
              <a:t>This is essentially the same to the computers. Learn from examples and recognize them later.</a:t>
            </a:r>
            <a:br>
              <a:rPr lang="en-US"/>
            </a:br>
            <a:br>
              <a:rPr lang="en-US"/>
            </a:br>
            <a:r>
              <a:rPr lang="en-US" b="1"/>
              <a:t>[Reference Source]</a:t>
            </a:r>
            <a:endParaRPr/>
          </a:p>
          <a:p>
            <a:pPr marL="0" marR="0" lvl="0" indent="0" algn="l" rtl="0">
              <a:lnSpc>
                <a:spcPct val="100000"/>
              </a:lnSpc>
              <a:spcBef>
                <a:spcPts val="0"/>
              </a:spcBef>
              <a:spcAft>
                <a:spcPts val="0"/>
              </a:spcAft>
              <a:buClr>
                <a:schemeClr val="dk1"/>
              </a:buClr>
              <a:buSzPts val="1200"/>
              <a:buFont typeface="Arial"/>
              <a:buNone/>
            </a:pPr>
            <a:r>
              <a:rPr lang="en-US" sz="1200" b="0" i="0">
                <a:solidFill>
                  <a:schemeClr val="dk1"/>
                </a:solidFill>
                <a:latin typeface="Arial"/>
                <a:ea typeface="Arial"/>
                <a:cs typeface="Arial"/>
                <a:sym typeface="Arial"/>
              </a:rPr>
              <a:t>Machine Learning &amp; Deep Learning </a:t>
            </a:r>
            <a:r>
              <a:rPr lang="en-US" u="sng">
                <a:solidFill>
                  <a:schemeClr val="hlink"/>
                </a:solidFill>
                <a:hlinkClick r:id="rId3"/>
              </a:rPr>
              <a:t>https://www.mathworks.com/</a:t>
            </a:r>
            <a:endParaRPr sz="1200" b="0" i="0">
              <a:solidFill>
                <a:schemeClr val="dk1"/>
              </a:solidFill>
              <a:latin typeface="Arial"/>
              <a:ea typeface="Arial"/>
              <a:cs typeface="Arial"/>
              <a:sym typeface="Arial"/>
            </a:endParaRPr>
          </a:p>
          <a:p>
            <a:pPr marL="0" marR="0" lvl="0" indent="0" algn="l" rtl="0">
              <a:lnSpc>
                <a:spcPct val="100000"/>
              </a:lnSpc>
              <a:spcBef>
                <a:spcPts val="360"/>
              </a:spcBef>
              <a:spcAft>
                <a:spcPts val="0"/>
              </a:spcAft>
              <a:buClr>
                <a:schemeClr val="dk1"/>
              </a:buClr>
              <a:buSzPts val="1200"/>
              <a:buFont typeface="Arial"/>
              <a:buNone/>
            </a:pPr>
            <a:r>
              <a:rPr lang="en-US" sz="1200" b="0" i="0">
                <a:solidFill>
                  <a:schemeClr val="dk1"/>
                </a:solidFill>
                <a:latin typeface="Arial"/>
                <a:ea typeface="Arial"/>
                <a:cs typeface="Arial"/>
                <a:sym typeface="Arial"/>
              </a:rPr>
              <a:t>Machine Learning &amp; Deep Learning Video </a:t>
            </a:r>
            <a:r>
              <a:rPr lang="en-US" u="sng">
                <a:solidFill>
                  <a:schemeClr val="hlink"/>
                </a:solidFill>
                <a:hlinkClick r:id="rId4"/>
              </a:rPr>
              <a:t>https://www.youtube.com/watch?v=-SgkLEuhfbg&amp;feature=youtu.be</a:t>
            </a:r>
            <a:endParaRPr b="1"/>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341" name="Google Shape;34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3604DB0C-6D09-645B-7F55-6BC2B18FEC68}"/>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CBCAB636-B32B-7F7A-FF60-523B39DD68E1}"/>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9D94BFC8-1A30-69A1-E4EB-9B84945FCE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BC979049-50C9-DD13-9079-6F2AD92F2C1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12</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1895195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Instead of being limited to a single field of technology or methodology, machine learning is an interdisciplinary field that combines academic backgrounds and achievements in various fields such as probability and statistics, computer science, database theory, cognitive science, neuroscience, and pattern recognition, etc.</a:t>
            </a:r>
            <a:endParaRPr/>
          </a:p>
          <a:p>
            <a:pPr marL="0" marR="0" lvl="0" indent="0" algn="l" rtl="0">
              <a:lnSpc>
                <a:spcPct val="100000"/>
              </a:lnSpc>
              <a:spcBef>
                <a:spcPts val="0"/>
              </a:spcBef>
              <a:spcAft>
                <a:spcPts val="0"/>
              </a:spcAft>
              <a:buClr>
                <a:schemeClr val="dk1"/>
              </a:buClr>
              <a:buSzPts val="1200"/>
              <a:buFont typeface="Malgun Gothic"/>
              <a:buNone/>
            </a:pPr>
            <a:r>
              <a:rPr lang="en-US" sz="1200" b="1" i="0">
                <a:solidFill>
                  <a:schemeClr val="dk1"/>
                </a:solidFill>
                <a:latin typeface="Malgun Gothic"/>
                <a:ea typeface="Malgun Gothic"/>
                <a:cs typeface="Malgun Gothic"/>
                <a:sym typeface="Malgun Gothic"/>
              </a:rPr>
              <a:t>Interdisciplinary: </a:t>
            </a:r>
            <a:r>
              <a:rPr lang="en-US" sz="1200" b="0" i="0">
                <a:solidFill>
                  <a:schemeClr val="dk1"/>
                </a:solidFill>
                <a:latin typeface="Malgun Gothic"/>
                <a:ea typeface="Malgun Gothic"/>
                <a:cs typeface="Malgun Gothic"/>
                <a:sym typeface="Malgun Gothic"/>
              </a:rPr>
              <a:t>relating to multiple academical fields.</a:t>
            </a:r>
            <a:endParaRPr sz="1200" b="1" i="0">
              <a:solidFill>
                <a:schemeClr val="dk1"/>
              </a:solidFill>
              <a:latin typeface="Malgun Gothic"/>
              <a:ea typeface="Malgun Gothic"/>
              <a:cs typeface="Malgun Gothic"/>
              <a:sym typeface="Malgun Gothic"/>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360" name="Google Shape;36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5: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390" name="Google Shape;39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6: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Malgun Gothic"/>
              <a:buNone/>
            </a:pPr>
            <a:r>
              <a:rPr lang="en-US" sz="1800" b="1">
                <a:solidFill>
                  <a:srgbClr val="000000"/>
                </a:solidFill>
                <a:latin typeface="Malgun Gothic"/>
                <a:ea typeface="Malgun Gothic"/>
                <a:cs typeface="Malgun Gothic"/>
                <a:sym typeface="Malgun Gothic"/>
              </a:rPr>
              <a:t>[Reference Source]</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Refer to the image (https://happy8earth.tistory.com/553)</a:t>
            </a:r>
            <a:endParaRPr/>
          </a:p>
        </p:txBody>
      </p:sp>
      <p:sp>
        <p:nvSpPr>
          <p:cNvPr id="406" name="Google Shape;40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7: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Different technologies for searching data and designing a model have been present in the field of statistics over a long period of time. For instance, those technologies include linear regression, logistic regression, and principal component analysis, etc. Due to the difficult calculation and small amount of data in classical statistics, data mining in current days overcomes these limitations through enough data and outstanding computing ability to solve problems.</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Malgun Gothic"/>
              <a:buNone/>
            </a:pPr>
            <a:r>
              <a:rPr lang="en-US" sz="1200" b="0" i="0">
                <a:solidFill>
                  <a:schemeClr val="dk1"/>
                </a:solidFill>
                <a:latin typeface="Malgun Gothic"/>
                <a:ea typeface="Malgun Gothic"/>
                <a:cs typeface="Malgun Gothic"/>
                <a:sym typeface="Malgun Gothic"/>
              </a:rPr>
              <a:t>In mathematics and statistics, parameter refers to a variable that shows a certain characteristic of a system or function. In general, it is expressed as θ, and different signs have different meanings.</a:t>
            </a:r>
            <a:endParaRPr sz="1200">
              <a:solidFill>
                <a:srgbClr val="262626"/>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419" name="Google Shape;41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51B2EA6A-AAB8-888C-718F-085BF0A4BDAE}"/>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317B746E-5497-71CB-5A7C-4CB53BF23D9C}"/>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5F1AA504-9664-8642-D7C1-57BF9B0968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BAE46311-9344-7A42-2BE3-353E4E40504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17</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1226287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2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8" name="Google Shape;68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There can be many different criteria to classify machine-learning based data analysis method depending on different perspectives, but in general, it is classified into supervised learning and unsupervised learning depending on the presence of objective variables (or response variables, output target value), and it is also further classified into reinforced learning and semi-supervised learning, etc.</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689" name="Google Shape;68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2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731" name="Google Shape;73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23: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752" name="Google Shape;75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2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Scikit-learn is a machine learning library created with Python. </a:t>
            </a:r>
            <a:endParaRPr sz="1200" b="0" i="0">
              <a:solidFill>
                <a:schemeClr val="dk1"/>
              </a:solidFill>
              <a:latin typeface="Malgun Gothic"/>
              <a:ea typeface="Malgun Gothic"/>
              <a:cs typeface="Malgun Gothic"/>
              <a:sym typeface="Malgun Gothic"/>
            </a:endParaRPr>
          </a:p>
          <a:p>
            <a:pPr marL="0" lvl="0" indent="0" algn="l" rtl="0">
              <a:lnSpc>
                <a:spcPct val="100000"/>
              </a:lnSpc>
              <a:spcBef>
                <a:spcPts val="0"/>
              </a:spcBef>
              <a:spcAft>
                <a:spcPts val="0"/>
              </a:spcAft>
              <a:buSzPts val="1400"/>
              <a:buNone/>
            </a:pPr>
            <a:endParaRPr sz="1200" b="0" i="0">
              <a:solidFill>
                <a:schemeClr val="dk1"/>
              </a:solidFill>
              <a:latin typeface="Malgun Gothic"/>
              <a:ea typeface="Malgun Gothic"/>
              <a:cs typeface="Malgun Gothic"/>
              <a:sym typeface="Malgun Gothic"/>
            </a:endParaRPr>
          </a:p>
          <a:p>
            <a:pPr marL="0" lvl="0" indent="0" algn="l" rtl="0">
              <a:lnSpc>
                <a:spcPct val="100000"/>
              </a:lnSpc>
              <a:spcBef>
                <a:spcPts val="0"/>
              </a:spcBef>
              <a:spcAft>
                <a:spcPts val="0"/>
              </a:spcAft>
              <a:buSzPts val="1400"/>
              <a:buNone/>
            </a:pPr>
            <a:r>
              <a:rPr lang="en-US" sz="1200" b="0" i="0">
                <a:solidFill>
                  <a:schemeClr val="dk1"/>
                </a:solidFill>
                <a:latin typeface="Malgun Gothic"/>
                <a:ea typeface="Malgun Gothic"/>
                <a:cs typeface="Malgun Gothic"/>
                <a:sym typeface="Malgun Gothic"/>
              </a:rPr>
              <a:t>Sometimes, the most difficult task in solving machine learning problems is to find an estimator that is appropriate to the task.</a:t>
            </a:r>
            <a:endParaRPr/>
          </a:p>
          <a:p>
            <a:pPr marL="0" lvl="0" indent="0" algn="l" rtl="0">
              <a:lnSpc>
                <a:spcPct val="100000"/>
              </a:lnSpc>
              <a:spcBef>
                <a:spcPts val="0"/>
              </a:spcBef>
              <a:spcAft>
                <a:spcPts val="0"/>
              </a:spcAft>
              <a:buSzPts val="1400"/>
              <a:buNone/>
            </a:pPr>
            <a:r>
              <a:rPr lang="en-US" sz="1200" b="0" i="0">
                <a:solidFill>
                  <a:schemeClr val="dk1"/>
                </a:solidFill>
                <a:latin typeface="Malgun Gothic"/>
                <a:ea typeface="Malgun Gothic"/>
                <a:cs typeface="Malgun Gothic"/>
                <a:sym typeface="Malgun Gothic"/>
              </a:rPr>
              <a:t>Various kinds of estimators are suitable for different types of data and problems.</a:t>
            </a:r>
            <a:endParaRPr/>
          </a:p>
          <a:p>
            <a:pPr marL="0" lvl="0" indent="0" algn="l" rtl="0">
              <a:lnSpc>
                <a:spcPct val="100000"/>
              </a:lnSpc>
              <a:spcBef>
                <a:spcPts val="0"/>
              </a:spcBef>
              <a:spcAft>
                <a:spcPts val="0"/>
              </a:spcAft>
              <a:buSzPts val="1400"/>
              <a:buNone/>
            </a:pPr>
            <a:r>
              <a:rPr lang="en-US" sz="1200" b="0" i="0">
                <a:solidFill>
                  <a:schemeClr val="dk1"/>
                </a:solidFill>
                <a:latin typeface="Malgun Gothic"/>
                <a:ea typeface="Malgun Gothic"/>
                <a:cs typeface="Malgun Gothic"/>
                <a:sym typeface="Malgun Gothic"/>
              </a:rPr>
              <a:t>The flow chart above is designed to provide brief guidelines regarding methods to approach to the problem with the estimators to be used for the data.</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815" name="Google Shape;81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25: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846" name="Google Shape;84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26: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868" name="Google Shape;86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27: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902" name="Google Shape;90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2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912" name="Google Shape;91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29: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Typical methods of unsupervised learning include clustering, dimension reduction, association rule learning, unsupervised learning artificial neural network (SOM, etc.) and others, and the applicability of unsupervised learning methods is infinite such that the recently highlighted deep learning method also uses unsupervised learning to reduce the dimensions of input features.</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947" name="Google Shape;947;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p30: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958" name="Google Shape;95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3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999" name="Google Shape;99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p3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The instance based learning remembers training samples for learning and is generalized by comparing new data and learned samples using similarity measurements. </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From the figure above, the new sample will be classified as triangle class, since the majority of similar samples is a triangle.</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The model based learning makes a model from many samples and uses it for prediction.</a:t>
            </a:r>
            <a:endParaRPr sz="1200">
              <a:solidFill>
                <a:srgbClr val="262626"/>
              </a:solidFill>
              <a:latin typeface="Arial"/>
              <a:ea typeface="Arial"/>
              <a:cs typeface="Arial"/>
              <a:sym typeface="Arial"/>
            </a:endParaRPr>
          </a:p>
        </p:txBody>
      </p:sp>
      <p:sp>
        <p:nvSpPr>
          <p:cNvPr id="1077" name="Google Shape;1077;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EDB52FEA-494C-82CC-CFB9-368ADE794C73}"/>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E7C954BA-C935-5070-488E-E3D01666EF75}"/>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7F4B8F51-7E0A-610B-3C1F-08A7745C4D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0437B520-CFD2-CB59-6473-75D66500D6D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30</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149007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3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111" name="Google Shape;1111;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35: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5" name="Google Shape;114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146" name="Google Shape;1146;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p36: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9" name="Google Shape;1159;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160" name="Google Shape;1160;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p37: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8" name="Google Shape;1188;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189" name="Google Shape;1189;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3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2" name="Google Shape;120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203" name="Google Shape;120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39: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1" name="Google Shape;1231;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232" name="Google Shape;1232;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p40: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4" name="Google Shape;1244;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Malgun Gothic"/>
              <a:buNone/>
            </a:pPr>
            <a:r>
              <a:rPr lang="en-US" sz="1200" b="1">
                <a:solidFill>
                  <a:srgbClr val="000000"/>
                </a:solidFill>
                <a:latin typeface="Malgun Gothic"/>
                <a:ea typeface="Malgun Gothic"/>
                <a:cs typeface="Malgun Gothic"/>
                <a:sym typeface="Malgun Gothic"/>
              </a:rPr>
              <a:t>[Reference Source]</a:t>
            </a:r>
            <a:endParaRPr/>
          </a:p>
          <a:p>
            <a:pPr marL="0" marR="0" lvl="0" indent="0" algn="l" rtl="0">
              <a:lnSpc>
                <a:spcPct val="100000"/>
              </a:lnSpc>
              <a:spcBef>
                <a:spcPts val="0"/>
              </a:spcBef>
              <a:spcAft>
                <a:spcPts val="0"/>
              </a:spcAft>
              <a:buClr>
                <a:srgbClr val="262626"/>
              </a:buClr>
              <a:buSzPts val="1200"/>
              <a:buFont typeface="Arial"/>
              <a:buNone/>
            </a:pPr>
            <a:r>
              <a:rPr lang="en-US" sz="1200">
                <a:solidFill>
                  <a:srgbClr val="262626"/>
                </a:solidFill>
                <a:latin typeface="Arial"/>
                <a:ea typeface="Arial"/>
                <a:cs typeface="Arial"/>
                <a:sym typeface="Arial"/>
              </a:rPr>
              <a:t>https://statkclee.github.io/ml/ml-model-selection.html</a:t>
            </a:r>
            <a:endParaRPr/>
          </a:p>
        </p:txBody>
      </p:sp>
      <p:sp>
        <p:nvSpPr>
          <p:cNvPr id="1245" name="Google Shape;1245;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4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5" name="Google Shape;1265;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Malgun Gothic"/>
              <a:buNone/>
            </a:pPr>
            <a:r>
              <a:rPr lang="en-US" sz="1200" b="1">
                <a:solidFill>
                  <a:srgbClr val="000000"/>
                </a:solidFill>
                <a:latin typeface="Malgun Gothic"/>
                <a:ea typeface="Malgun Gothic"/>
                <a:cs typeface="Malgun Gothic"/>
                <a:sym typeface="Malgun Gothic"/>
              </a:rPr>
              <a:t>[Reference Source]</a:t>
            </a:r>
            <a:endParaRPr/>
          </a:p>
          <a:p>
            <a:pPr marL="0" marR="0" lvl="0" indent="0" algn="l" rtl="0">
              <a:lnSpc>
                <a:spcPct val="100000"/>
              </a:lnSpc>
              <a:spcBef>
                <a:spcPts val="0"/>
              </a:spcBef>
              <a:spcAft>
                <a:spcPts val="0"/>
              </a:spcAft>
              <a:buClr>
                <a:schemeClr val="lt1"/>
              </a:buClr>
              <a:buSzPts val="1200"/>
              <a:buFont typeface="Arial"/>
              <a:buNone/>
            </a:pPr>
            <a:r>
              <a:rPr lang="en-US" sz="1200" b="0">
                <a:solidFill>
                  <a:schemeClr val="lt1"/>
                </a:solidFill>
                <a:latin typeface="Arial"/>
                <a:ea typeface="Arial"/>
                <a:cs typeface="Arial"/>
                <a:sym typeface="Arial"/>
              </a:rPr>
              <a:t>https://towardsdatascience.com/multi-class-metrics-made-simple-prat-i-precision-and-recall-9250280bddc2</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266" name="Google Shape;1266;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p4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1" name="Google Shape;131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312" name="Google Shape;1312;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F63287A2-4E23-23DB-8949-E4FFF3D314E9}"/>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04A76D4C-BB86-CA00-8DC8-91AF71996AA9}"/>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BF52983A-358A-0984-FD67-B7052A0EE8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5F1A8FB6-D23F-5C1D-8E47-07FE200BD33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40</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919192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4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3" name="Google Shape;1333;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334" name="Google Shape;1334;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p45: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1" name="Google Shape;1361;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362" name="Google Shape;1362;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5EA20EBF-E7B0-B3A7-0DCD-08F62C88B1A7}"/>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FF96A4AE-52FE-2FE9-0BC3-EF73FBF30786}"/>
              </a:ext>
            </a:extLst>
          </p:cNvPr>
          <p:cNvSpPr>
            <a:spLocks noGrp="1" noRot="1" noChangeAspect="1"/>
          </p:cNvSpPr>
          <p:nvPr>
            <p:ph type="sldImg" idx="2"/>
          </p:nvPr>
        </p:nvSpPr>
        <p:spPr>
          <a:xfrm>
            <a:off x="1292225"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a:extLst>
              <a:ext uri="{FF2B5EF4-FFF2-40B4-BE49-F238E27FC236}">
                <a16:creationId xmlns:a16="http://schemas.microsoft.com/office/drawing/2014/main" id="{CFC38EA4-7A38-146F-A4BE-0224C3E47E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b="0">
              <a:latin typeface="Arial"/>
              <a:ea typeface="Arial"/>
              <a:cs typeface="Arial"/>
              <a:sym typeface="Arial"/>
            </a:endParaRPr>
          </a:p>
        </p:txBody>
      </p:sp>
      <p:sp>
        <p:nvSpPr>
          <p:cNvPr id="189" name="Google Shape;189;p4:notes">
            <a:extLst>
              <a:ext uri="{FF2B5EF4-FFF2-40B4-BE49-F238E27FC236}">
                <a16:creationId xmlns:a16="http://schemas.microsoft.com/office/drawing/2014/main" id="{424B12C8-43EC-E78A-2707-7CB2057FE2E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43</a:t>
            </a:fld>
            <a:endParaRPr sz="1200" b="0" i="0" u="none" strike="noStrike" cap="none">
              <a:solidFill>
                <a:srgbClr val="000000"/>
              </a:solidFill>
              <a:latin typeface="Malgun Gothic"/>
              <a:ea typeface="Malgun Gothic"/>
              <a:cs typeface="Malgun Gothic"/>
              <a:sym typeface="Malgun Gothic"/>
            </a:endParaRPr>
          </a:p>
        </p:txBody>
      </p:sp>
    </p:spTree>
    <p:extLst>
      <p:ext uri="{BB962C8B-B14F-4D97-AF65-F5344CB8AC3E}">
        <p14:creationId xmlns:p14="http://schemas.microsoft.com/office/powerpoint/2010/main" val="3307513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2"/>
        <p:cNvGrpSpPr/>
        <p:nvPr/>
      </p:nvGrpSpPr>
      <p:grpSpPr>
        <a:xfrm>
          <a:off x="0" y="0"/>
          <a:ext cx="0" cy="0"/>
          <a:chOff x="0" y="0"/>
          <a:chExt cx="0" cy="0"/>
        </a:xfrm>
      </p:grpSpPr>
      <p:sp>
        <p:nvSpPr>
          <p:cNvPr id="1403" name="Google Shape;1403;p47: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4" name="Google Shape;1404;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405" name="Google Shape;1405;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3"/>
        <p:cNvGrpSpPr/>
        <p:nvPr/>
      </p:nvGrpSpPr>
      <p:grpSpPr>
        <a:xfrm>
          <a:off x="0" y="0"/>
          <a:ext cx="0" cy="0"/>
          <a:chOff x="0" y="0"/>
          <a:chExt cx="0" cy="0"/>
        </a:xfrm>
      </p:grpSpPr>
      <p:sp>
        <p:nvSpPr>
          <p:cNvPr id="1424" name="Google Shape;1424;p4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5" name="Google Shape;1425;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426" name="Google Shape;1426;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p49: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1" name="Google Shape;1441;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442" name="Google Shape;1442;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p50: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1" name="Google Shape;1451;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452" name="Google Shape;1452;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
        <p:cNvGrpSpPr/>
        <p:nvPr/>
      </p:nvGrpSpPr>
      <p:grpSpPr>
        <a:xfrm>
          <a:off x="0" y="0"/>
          <a:ext cx="0" cy="0"/>
          <a:chOff x="0" y="0"/>
          <a:chExt cx="0" cy="0"/>
        </a:xfrm>
      </p:grpSpPr>
      <p:sp>
        <p:nvSpPr>
          <p:cNvPr id="1460" name="Google Shape;1460;p5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1" name="Google Shape;146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462" name="Google Shape;1462;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p5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2" name="Google Shape;1502;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1503" name="Google Shape;1503;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09E5878-8213-5EB0-C4B2-A24FE2985433}"/>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FD23DA42-9479-783A-8CBF-BC5F66D64FF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AE4F3280-7F85-2D54-40F9-DC3D7259315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68FEBD1A-0A5E-F7C8-D456-F0FD0C11020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39210996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9: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Malgun Gothic"/>
              <a:buNone/>
            </a:pPr>
            <a:r>
              <a:rPr lang="en-US" b="0" u="none"/>
              <a:t>In standard machine learning methodology, a user prepares for training data set and extracts relevant features such as edges and corners to train the model.</a:t>
            </a:r>
            <a:endParaRPr/>
          </a:p>
          <a:p>
            <a:pPr marL="0" marR="0" lvl="0" indent="0" algn="l" rtl="0">
              <a:lnSpc>
                <a:spcPct val="100000"/>
              </a:lnSpc>
              <a:spcBef>
                <a:spcPts val="0"/>
              </a:spcBef>
              <a:spcAft>
                <a:spcPts val="0"/>
              </a:spcAft>
              <a:buClr>
                <a:schemeClr val="dk1"/>
              </a:buClr>
              <a:buSzPts val="1200"/>
              <a:buFont typeface="Malgun Gothic"/>
              <a:buNone/>
            </a:pPr>
            <a:r>
              <a:rPr lang="en-US" b="0" u="none"/>
              <a:t>Then, the model references the features to classify new objects. This is an example of object recognition and how computers distinguish cats and dogs with a significant level of accuracy.</a:t>
            </a:r>
            <a:endParaRPr/>
          </a:p>
          <a:p>
            <a:pPr marL="0" marR="0" lvl="0" indent="0" algn="l" rtl="0">
              <a:lnSpc>
                <a:spcPct val="100000"/>
              </a:lnSpc>
              <a:spcBef>
                <a:spcPts val="0"/>
              </a:spcBef>
              <a:spcAft>
                <a:spcPts val="0"/>
              </a:spcAft>
              <a:buClr>
                <a:schemeClr val="dk1"/>
              </a:buClr>
              <a:buSzPts val="1200"/>
              <a:buFont typeface="Malgun Gothic"/>
              <a:buNone/>
            </a:pPr>
            <a:br>
              <a:rPr lang="en-US" b="0" u="none"/>
            </a:br>
            <a:r>
              <a:rPr lang="en-US" b="1"/>
              <a:t>[Reference Source]</a:t>
            </a:r>
            <a:endParaRPr/>
          </a:p>
          <a:p>
            <a:pPr marL="0" marR="0" lvl="0" indent="0" algn="l" rtl="0">
              <a:lnSpc>
                <a:spcPct val="100000"/>
              </a:lnSpc>
              <a:spcBef>
                <a:spcPts val="360"/>
              </a:spcBef>
              <a:spcAft>
                <a:spcPts val="0"/>
              </a:spcAft>
              <a:buClr>
                <a:schemeClr val="dk1"/>
              </a:buClr>
              <a:buSzPts val="1200"/>
              <a:buFont typeface="Arial"/>
              <a:buNone/>
            </a:pPr>
            <a:r>
              <a:rPr lang="en-US" sz="1200" b="0" i="0">
                <a:solidFill>
                  <a:schemeClr val="dk1"/>
                </a:solidFill>
                <a:latin typeface="Arial"/>
                <a:ea typeface="Arial"/>
                <a:cs typeface="Arial"/>
                <a:sym typeface="Arial"/>
              </a:rPr>
              <a:t>Machine Learning &amp; Deep Learning Video </a:t>
            </a:r>
            <a:r>
              <a:rPr lang="en-US" u="sng">
                <a:solidFill>
                  <a:schemeClr val="hlink"/>
                </a:solidFill>
                <a:hlinkClick r:id="rId3"/>
              </a:rPr>
              <a:t>https://www.youtube.com/watch?v=-SgkLEuhfbg&amp;feature=youtu.be</a:t>
            </a:r>
            <a:endParaRPr b="1"/>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439" name="Google Shape;43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20: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5" name="Google Shape;57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u="none"/>
              <a:t>On the other hand, in deep learning, a user does not need to extract features to feed images into the model, and rather inputs images themselves directly into the deep learning model.</a:t>
            </a:r>
            <a:endParaRPr/>
          </a:p>
          <a:p>
            <a:pPr marL="0" lvl="0" indent="0" algn="l" rtl="0">
              <a:lnSpc>
                <a:spcPct val="100000"/>
              </a:lnSpc>
              <a:spcBef>
                <a:spcPts val="0"/>
              </a:spcBef>
              <a:spcAft>
                <a:spcPts val="0"/>
              </a:spcAft>
              <a:buSzPts val="1400"/>
              <a:buNone/>
            </a:pPr>
            <a:r>
              <a:rPr lang="en-US"/>
              <a:t>Deep learning model basically consist of ARTIFICIAL NEURAL NETWORK algorithm which learns by itself to predict the object. Deep learning is a subtype of machine learning and usually more complex than machine learning techniques. The key difference between machine learning and deep learning is whether the model uses ARTIFICIAL NEURAL NETWORK or not.</a:t>
            </a:r>
            <a:br>
              <a:rPr lang="en-US"/>
            </a:br>
            <a:br>
              <a:rPr lang="en-US"/>
            </a:br>
            <a:r>
              <a:rPr lang="en-US" b="1"/>
              <a:t>[Reference Source]</a:t>
            </a:r>
            <a:endParaRPr/>
          </a:p>
          <a:p>
            <a:pPr marL="0" marR="0" lvl="0" indent="0" algn="l" rtl="0">
              <a:lnSpc>
                <a:spcPct val="100000"/>
              </a:lnSpc>
              <a:spcBef>
                <a:spcPts val="0"/>
              </a:spcBef>
              <a:spcAft>
                <a:spcPts val="0"/>
              </a:spcAft>
              <a:buClr>
                <a:schemeClr val="dk1"/>
              </a:buClr>
              <a:buSzPts val="1200"/>
              <a:buFont typeface="Malgun Gothic"/>
              <a:buNone/>
            </a:pPr>
            <a:r>
              <a:rPr lang="en-US"/>
              <a:t>Definition of Deep learning </a:t>
            </a:r>
            <a:r>
              <a:rPr lang="en-US" u="sng">
                <a:solidFill>
                  <a:schemeClr val="hlink"/>
                </a:solidFill>
                <a:hlinkClick r:id="rId3"/>
              </a:rPr>
              <a:t>https://en.wikipedia.org/wiki/Deep_learning</a:t>
            </a:r>
            <a:endParaRPr/>
          </a:p>
          <a:p>
            <a:pPr marL="0" marR="0" lvl="0" indent="0" algn="l" rtl="0">
              <a:lnSpc>
                <a:spcPct val="100000"/>
              </a:lnSpc>
              <a:spcBef>
                <a:spcPts val="0"/>
              </a:spcBef>
              <a:spcAft>
                <a:spcPts val="0"/>
              </a:spcAft>
              <a:buClr>
                <a:schemeClr val="dk1"/>
              </a:buClr>
              <a:buSzPts val="1200"/>
              <a:buFont typeface="Malgun Gothic"/>
              <a:buNone/>
            </a:pPr>
            <a:endParaRPr sz="1200">
              <a:solidFill>
                <a:srgbClr val="262626"/>
              </a:solidFill>
              <a:latin typeface="Arial"/>
              <a:ea typeface="Arial"/>
              <a:cs typeface="Arial"/>
              <a:sym typeface="Arial"/>
            </a:endParaRPr>
          </a:p>
        </p:txBody>
      </p:sp>
      <p:sp>
        <p:nvSpPr>
          <p:cNvPr id="576" name="Google Shape;57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5A4F270-8F1F-F6B0-32F5-8793BB52CE3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42A1CE6-412C-4138-2601-D7E2DCE41D0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D3A0A60-ACA9-9D21-F31C-1EFF27641D3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029210D-88D1-30A7-D1AF-4A19B8D6CFA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9954250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8E14A94-6F47-DE8F-E0C7-7DCDBF55B9D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2D120B5-7A0D-1E7A-34BA-42BE6AE7EF7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7D63463D-40BF-D90E-CA33-346090F2822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EEA11D2-1C45-F785-480F-242C3F5A94F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1194601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7A3AD1D-80F9-5B88-764C-82EEC37AE65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ADE5AF1E-A0D4-7B2C-4419-62D57D200DB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B977401D-5025-562D-1B0E-77BD743A11D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ABBCC65-7A76-5248-E343-EA0F436EE44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2175585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DC111A2-EAEA-30DF-E900-F3F46BC2839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7F553E6-BFE0-E145-B337-8D46D67AC78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E586071-833C-D157-AEBE-232F115A895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23CBD5F-FE77-E464-53FD-21E54579FE5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11084266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AF732F0-519E-43F0-B3C3-17EC925E6AA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3E1D153-914F-50C3-BE94-BAFAE1137C9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A36B99E-373F-C39C-28FE-ECA54A6E4C6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210343C-79B3-752E-983A-63701820F1F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24351739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D97E6F2-4AD2-8072-B11E-EC940BC86B7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3E0CFD2-0B41-93B0-0CB2-FC561A99CB8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E143118-3004-13C7-EE83-7036E04A1E2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332E133-3FA9-34BA-7151-B7DA3F641DD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36179438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9FD863D-3A90-C078-30D2-6A51D4A5462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B86D7FE-CCCA-BF11-AD4C-83628ED2ED9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55FFC9E-3A1C-B005-6565-7AD3ADF7834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CE0781D-FBE5-F746-AA64-3048DE8802B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8747564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1A63B04-A006-1452-7828-402E936B0F1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857C295-8C9F-2570-D98B-4BCC92DED5D8}"/>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095FFFF-85BE-D377-A91E-D075F4E45AD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0D15BB8-6DE9-8375-E2E4-D6D281D13CB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25392070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5A9D58D-4502-6A88-CB0D-009505A644C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4CB4CFD-4C18-E31D-DC05-596B0E78CD7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935EEC0-5698-BE3C-A0DA-CF1F7B3DE93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7B1095E-0886-9496-3129-D294D028CC3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18509414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2743860-FA28-BEA9-6902-F56CD0DC26C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DD9C03E-5E82-E1F9-CB02-101402A043F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78A61034-41E9-5C2E-B89B-EA8455EFFF4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EDC3420-1AC7-D8C6-587E-81B05298495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8556403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0910BE69-20EF-C407-C428-6C4F218B0264}"/>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2B1712FC-11AB-36E8-6901-B67DA7EA23C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A9097A18-14BD-832E-D9FB-6CF7B35782E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39967D98-4468-C767-9886-A3C3FB038EC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6133907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7398ED2-7CF4-6C85-2D34-72E5202C38F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541E951-F3AA-3E00-B886-997037B0F05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B6E86EF-3AFC-B4F6-0DA5-993F5C237B7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0639966-4D2E-2AC9-94F9-9756800FE5E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19938262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A6C2AC7-E28E-931E-D2AF-C0A190EEB9C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46AA1E6-5923-7E3C-3D73-A6A97B3B5AC8}"/>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EA47AD0-E817-5E5F-2A7C-5E0A8D449D9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749B524-B997-719F-853C-178BDB0C843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24187449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9BA58C9-AAA5-0EA3-E29A-110323AC1B3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9AF569C-6A8A-6D48-9F53-E1A0B1654A2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456274D-D280-FF65-1083-C215ED838C7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76DE592-9D10-242A-56A2-D3FFDD1C7AC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4817496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41292FF-A338-AB33-353E-9154D24400E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A24D07E-34B2-691B-C1D7-8C1FE3CEBC3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F36B0F5-A159-2922-CA4D-681FB11EBE1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6B8F0A4-AA3B-F806-341A-7D3F9AFFB10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26564558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2789179-B939-724D-3231-A026E9060A8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E683213-E045-9977-5593-30C3283B7C1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1E82EE9-3E59-0407-F7D9-66E970EED8D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F81C713-70A4-5A71-7C11-6371299D770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6254608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757AF44-D80F-F4D8-79C9-5187065D53C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F57DAFA-1F73-7907-E7E2-28D73D0A716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6A78BAB-5155-F0D0-578C-089FD8E3A36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B858565-F8C4-0F45-5757-A75581DDC529}"/>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26221463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0DD81A3-4943-F70B-0A97-2A0E35F3A0A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6464BF4-2D0B-1906-D29C-3B8176B5923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050BE3D-F1DF-76CF-B6DC-A64F26647A2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6D2ECF5-3203-DEFB-86E3-10CF96271AF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21040488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DE89D94-1221-282B-FFEC-4E10319ECAF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15E55A9-4CB1-28E0-D511-25BC2EDC60C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FE49446-4C3E-8914-16FA-B99050709AC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E1FBC3C-3CCF-1B72-31BB-9F5FE8D3991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342076680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92FE8A5-AC93-DDC5-1C70-9DF6312E448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4591F1E-68D4-F225-C53D-42E4B165C04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4DEC4B9-FA45-2796-0879-97868FCEF5C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FCC8EDB-48EE-FFD6-E7DE-65277F75509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6317879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517E1E8-C984-0D1D-FFA0-B5238518167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86E5F9A-194A-1B2E-CDFC-65ADABE26A2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06D14DB-F26B-7617-0ABE-36996A2221D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6A88C32B-07E8-3319-6F0B-1FCADEB5673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5277758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BAEABAC-B6AC-ACA2-00B1-64737FE83C2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7EDE5BD-B320-22A0-01AB-FD9863E56AE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7859093E-CDF6-E12A-D639-406CA1809AF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581C25E-1F63-03E8-6482-2D23538A8F0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339420474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B1883E5-6911-10F0-4780-C85D8DCA937F}"/>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4C013097-D336-EE9C-F8C4-8CC2412F6AC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AE37225A-8314-5BCA-8320-CA052C2E17A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D66C9944-E696-0F0E-6FF7-47507CA2A45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7174030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4B8CA6F-C896-B3BE-9404-45A9E1C29C1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4DA486F-1BA2-FF3C-CC03-35F0F9EDD4E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865B53E-05EE-8935-73A3-2311EE2D680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061B76F-2969-9927-DC0B-2D5351E30D4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34646772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10104B1-1803-AC2D-4B7D-AB10DA1D0CA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3E4E3F6-B352-2D84-4E90-E63339EF91E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AC44B0E-C012-7142-7D6C-153237D54C6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5300EB6-A496-5ED8-8883-91364AD6047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198810491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0864780-833C-D8DA-0986-F9CC228ECB9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62315CB-CA59-0545-51AB-AFD864529A8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96B6D61-6D92-E676-622A-2F855F4C5A6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945BD9B-FAE4-B7EA-C5B5-FE63A29691D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104859328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969FF44-8542-EA5B-3544-31BB9F8E809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7CE451F-387C-3967-E187-0010794ECE8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B729844-46FE-ED89-76BE-2C03F6EF987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ECE9EFC-E068-9A28-5B78-FAE2D2BE873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5134663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E0A7BAC-9B92-BC23-7931-E9DA71DF4F4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9DC0D4C-AAD3-6C64-843D-2ED821CE0FB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167082F-5A8F-7CAF-C9DA-521F9AEE5AA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r>
              <a:rPr lang="vi-VN" dirty="0">
                <a:latin typeface="Arial"/>
                <a:ea typeface="Arial"/>
                <a:cs typeface="Arial"/>
                <a:sym typeface="Arial"/>
              </a:rPr>
              <a:t>&lt;!DOCTYPE html&gt;&lt;html&gt;&lt;head&gt;  &lt;meta charset="UTF-8"&gt;  &lt;!-- Load thư viện --&gt;  &lt;script src="https://unpkg.com/@tensorflow/tfjs@4.6.0/dist/tf.min.js"&gt;&lt;/script&gt;  &lt;script src="https://unpkg.com/@teachablemachine/image@0.8.4/dist/teachablemachine-image.min.js"&gt;&lt;/script&gt;  &lt;title&gt;Teachable Machine Local&lt;/title&gt;&lt;/head&gt;&lt;body&gt;&lt;h2&gt;AI Nhận Diện (Local)&lt;/h2&gt;&lt;button onclick="init()"&gt;Start&lt;/button&gt;&lt;div id="webcam-container"&gt;&lt;/div&gt;&lt;div id="label-container"&gt;&lt;/div&gt;&lt;script&gt;const URL = "./";let model, webcam, labelContainer, maxPredictions;async function init() {  console.log("tmImage:", typeof tmImage);  if (typeof tmImage === "undefined") {    alert("Chưa load được tmImage!");    return;  }  try {    // Load model    model = await tmImage.load(URL + "model.json", URL + "metadata.json");    maxPredictions = model.getTotalClasses();    // Setup webcam    webcam = new tmImage.Webcam(250, 250, true);    await webcam.setup();    await webcam.play();    document.getElementById("webcam-container").appendChild(webcam.canvas);    // Tạo label hiển thị    labelContainer = document.getElementById("label-container");    for (let i = 0; i &lt; maxPredictions; i++) {      labelContainer.appendChild(document.createElement("div"));    }    window.requestAnimationFrame(loop);  } catch (err) {    console.error(err);    alert(</a:t>
            </a:r>
            <a:r>
              <a:rPr lang="en-US" dirty="0">
                <a:latin typeface="Arial"/>
                <a:ea typeface="Arial"/>
                <a:cs typeface="Arial"/>
                <a:sym typeface="Arial"/>
              </a:rPr>
              <a:t>“ </a:t>
            </a:r>
            <a:r>
              <a:rPr lang="vi-VN" dirty="0">
                <a:latin typeface="Arial"/>
                <a:ea typeface="Arial"/>
                <a:cs typeface="Arial"/>
                <a:sym typeface="Arial"/>
              </a:rPr>
              <a:t>Lỗi load model (kiểm tra đường dẫn file)");  }}async function loop() {  webcam.update();  await predict();  window.requestAnimationFrame(loop);}async function predict() {  const prediction = await model.predict(webcam.canvas);  let max = prediction[0];  for (let i = 0; i &lt; prediction.length; i++) {    // hiển thị tất cả class    const text = prediction[i].className + ": " +       (prediction[i].probability * 100).toFixed(2) + "%";    labelContainer.childNodes[i].innerHTML = text;    // tìm class cao nhất    if (prediction[i].probability &gt; max.probability) {      max = prediction[i];    }  }  console.log("Kết quả:", max.className);}&lt;/script&gt;&lt;/body&gt;&lt;/html&gt;</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7A03A81-9357-8A89-3E2F-08F44B81DC1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151744050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85D3D63-5CAE-F5E3-47F3-83AB69D634C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9E78B47-B7CE-93C2-472F-E8C1DE71177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35DA739-4099-F8C9-D03B-0B8D26B48E4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A9A216A-82F1-0D14-F13E-A04D920CD28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42465918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0D8A23F-F737-E407-C6B0-3721464A4BB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3E71E90-29E8-D9DC-9794-A5B1D80F719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1173E08-D1D8-B7AF-040C-D6B1A7CA737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3FDBA09-4FF1-11BF-2F02-C214F242448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15966122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62EBBFC-E216-E28F-F7DB-0FEC6138338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B8A3562-E94D-55CB-EF6F-67F2AED1E60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94E257C-7AE8-E136-F8AA-84A2C3BFEB0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C7E1D3C-A5C3-98C6-6259-9810C86A464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7476778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AB4DFBB-CE02-C440-D71D-848E5E8504B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DE09E6A-BB10-55BC-1B8F-07A9C890114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817741A-C298-0B35-81D3-399DC609058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F218E4F-F557-6899-B955-8ED863ECC69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142380247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293445B-E7CD-EE22-1796-53579259598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5CC58F6-6D4C-8726-D63B-5BF24E0079C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99F488B-5455-DFAE-463D-16BDB8E4ACF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CA5F2AC-4751-FEAE-8884-25397FEAFB9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85</a:t>
            </a:fld>
            <a:endParaRPr/>
          </a:p>
        </p:txBody>
      </p:sp>
    </p:spTree>
    <p:extLst>
      <p:ext uri="{BB962C8B-B14F-4D97-AF65-F5344CB8AC3E}">
        <p14:creationId xmlns:p14="http://schemas.microsoft.com/office/powerpoint/2010/main" val="254591343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5358219-CF4D-ABF4-D331-D842043E01D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F022908-F990-14A3-4F0A-BA847683039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2E6380B-7FC0-3BDF-0300-CF20C5246A0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080377E-9EF6-CAF1-E631-B92DABD0B3F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86</a:t>
            </a:fld>
            <a:endParaRPr/>
          </a:p>
        </p:txBody>
      </p:sp>
    </p:spTree>
    <p:extLst>
      <p:ext uri="{BB962C8B-B14F-4D97-AF65-F5344CB8AC3E}">
        <p14:creationId xmlns:p14="http://schemas.microsoft.com/office/powerpoint/2010/main" val="274259660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C2C0D79-6474-44FA-6452-2487A72CD013}"/>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BE0AC39A-A322-A627-FB26-5CED3A9D400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FD9EC3FE-7FDA-C947-C843-A2B7574B07D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B61A18F8-BA13-A617-8972-94B79EC0A5C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87</a:t>
            </a:fld>
            <a:endParaRPr/>
          </a:p>
        </p:txBody>
      </p:sp>
    </p:spTree>
    <p:extLst>
      <p:ext uri="{BB962C8B-B14F-4D97-AF65-F5344CB8AC3E}">
        <p14:creationId xmlns:p14="http://schemas.microsoft.com/office/powerpoint/2010/main" val="229705536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E005488-1F6C-1DDC-E6C4-D34CC6368AC3}"/>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784CDED-236A-45D7-C0B7-24D7EA6EAC5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3DC7176-CFFE-D287-D78B-AF1F1065E27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9877B26-BA44-BF32-A5AD-95990C508829}"/>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88</a:t>
            </a:fld>
            <a:endParaRPr/>
          </a:p>
        </p:txBody>
      </p:sp>
    </p:spTree>
    <p:extLst>
      <p:ext uri="{BB962C8B-B14F-4D97-AF65-F5344CB8AC3E}">
        <p14:creationId xmlns:p14="http://schemas.microsoft.com/office/powerpoint/2010/main" val="176962571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2309C19-3FAD-F378-B247-6B24B20607E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A58B5D6-B383-117B-4555-960D4E0F873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6AF4058-CB51-2AA9-9010-2A0D08D946A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r>
              <a:rPr lang="en-US" dirty="0">
                <a:latin typeface="Arial"/>
                <a:ea typeface="Arial"/>
                <a:cs typeface="Arial"/>
                <a:sym typeface="Arial"/>
              </a:rPr>
              <a:t>&lt;!DOCTYPE html&gt;&lt;html&gt;&lt;head&gt;  &lt;meta charset="UTF-8"&gt;  &lt;title&gt;AI ESP32 Control&lt;/title&gt;  &lt;!-- Stable CDN --&gt;  &lt;script </a:t>
            </a:r>
            <a:r>
              <a:rPr lang="en-US" dirty="0" err="1">
                <a:latin typeface="Arial"/>
                <a:ea typeface="Arial"/>
                <a:cs typeface="Arial"/>
                <a:sym typeface="Arial"/>
              </a:rPr>
              <a:t>src</a:t>
            </a:r>
            <a:r>
              <a:rPr lang="en-US" dirty="0">
                <a:latin typeface="Arial"/>
                <a:ea typeface="Arial"/>
                <a:cs typeface="Arial"/>
                <a:sym typeface="Arial"/>
              </a:rPr>
              <a:t>="https://unpkg.com/@tensorflow/tfjs@3.21.0"&gt;&lt;/script&gt;  &lt;script </a:t>
            </a:r>
            <a:r>
              <a:rPr lang="en-US" dirty="0" err="1">
                <a:latin typeface="Arial"/>
                <a:ea typeface="Arial"/>
                <a:cs typeface="Arial"/>
                <a:sym typeface="Arial"/>
              </a:rPr>
              <a:t>src</a:t>
            </a:r>
            <a:r>
              <a:rPr lang="en-US" dirty="0">
                <a:latin typeface="Arial"/>
                <a:ea typeface="Arial"/>
                <a:cs typeface="Arial"/>
                <a:sym typeface="Arial"/>
              </a:rPr>
              <a:t>="https://unpkg.com/@teachablemachine/image@0.8/dist/teachablemachine-image.min.js"&gt;&lt;/script&gt;  &lt;style&gt;    body { text-align: center; font-family: Arial; }    canvas { margin-top: 10px; }  &lt;/style&gt;&lt;/head&gt;&lt;body&gt;&lt;h2&gt;Teachable Machine → Adafruit → ESP32&lt;/h2&gt;&lt;button onclick="</a:t>
            </a:r>
            <a:r>
              <a:rPr lang="en-US" dirty="0" err="1">
                <a:latin typeface="Arial"/>
                <a:ea typeface="Arial"/>
                <a:cs typeface="Arial"/>
                <a:sym typeface="Arial"/>
              </a:rPr>
              <a:t>init</a:t>
            </a:r>
            <a:r>
              <a:rPr lang="en-US" dirty="0">
                <a:latin typeface="Arial"/>
                <a:ea typeface="Arial"/>
                <a:cs typeface="Arial"/>
                <a:sym typeface="Arial"/>
              </a:rPr>
              <a:t>()"&gt;Start Camera&lt;/button&gt;&lt;p id="result"&gt;Waiting...&lt;/p&gt;&lt;script&gt;const URL = "https://teachablemachine.withgoogle.com/models/FX7M1MGaT/";const USERNAME = "</a:t>
            </a:r>
            <a:r>
              <a:rPr lang="en-US" dirty="0" err="1">
                <a:latin typeface="Arial"/>
                <a:ea typeface="Arial"/>
                <a:cs typeface="Arial"/>
                <a:sym typeface="Arial"/>
              </a:rPr>
              <a:t>PhuNguyenLe</a:t>
            </a:r>
            <a:r>
              <a:rPr lang="en-US" dirty="0">
                <a:latin typeface="Arial"/>
                <a:ea typeface="Arial"/>
                <a:cs typeface="Arial"/>
                <a:sym typeface="Arial"/>
              </a:rPr>
              <a:t>";const AIO_KEY = "aio_KKzd07YCBAadJAWBvhAasQ6wlOVM";const FEED = "</a:t>
            </a:r>
            <a:r>
              <a:rPr lang="en-US" dirty="0" err="1">
                <a:latin typeface="Arial"/>
                <a:ea typeface="Arial"/>
                <a:cs typeface="Arial"/>
                <a:sym typeface="Arial"/>
              </a:rPr>
              <a:t>led";let</a:t>
            </a:r>
            <a:r>
              <a:rPr lang="en-US" dirty="0">
                <a:latin typeface="Arial"/>
                <a:ea typeface="Arial"/>
                <a:cs typeface="Arial"/>
                <a:sym typeface="Arial"/>
              </a:rPr>
              <a:t> model, </a:t>
            </a:r>
            <a:r>
              <a:rPr lang="en-US" dirty="0" err="1">
                <a:latin typeface="Arial"/>
                <a:ea typeface="Arial"/>
                <a:cs typeface="Arial"/>
                <a:sym typeface="Arial"/>
              </a:rPr>
              <a:t>webcam;let</a:t>
            </a:r>
            <a:r>
              <a:rPr lang="en-US" dirty="0">
                <a:latin typeface="Arial"/>
                <a:ea typeface="Arial"/>
                <a:cs typeface="Arial"/>
                <a:sym typeface="Arial"/>
              </a:rPr>
              <a:t> </a:t>
            </a:r>
            <a:r>
              <a:rPr lang="en-US" dirty="0" err="1">
                <a:latin typeface="Arial"/>
                <a:ea typeface="Arial"/>
                <a:cs typeface="Arial"/>
                <a:sym typeface="Arial"/>
              </a:rPr>
              <a:t>lastSent</a:t>
            </a:r>
            <a:r>
              <a:rPr lang="en-US" dirty="0">
                <a:latin typeface="Arial"/>
                <a:ea typeface="Arial"/>
                <a:cs typeface="Arial"/>
                <a:sym typeface="Arial"/>
              </a:rPr>
              <a:t> = "";let </a:t>
            </a:r>
            <a:r>
              <a:rPr lang="en-US" dirty="0" err="1">
                <a:latin typeface="Arial"/>
                <a:ea typeface="Arial"/>
                <a:cs typeface="Arial"/>
                <a:sym typeface="Arial"/>
              </a:rPr>
              <a:t>lastTime</a:t>
            </a:r>
            <a:r>
              <a:rPr lang="en-US" dirty="0">
                <a:latin typeface="Arial"/>
                <a:ea typeface="Arial"/>
                <a:cs typeface="Arial"/>
                <a:sym typeface="Arial"/>
              </a:rPr>
              <a:t> = 0;async function </a:t>
            </a:r>
            <a:r>
              <a:rPr lang="en-US" dirty="0" err="1">
                <a:latin typeface="Arial"/>
                <a:ea typeface="Arial"/>
                <a:cs typeface="Arial"/>
                <a:sym typeface="Arial"/>
              </a:rPr>
              <a:t>init</a:t>
            </a:r>
            <a:r>
              <a:rPr lang="en-US" dirty="0">
                <a:latin typeface="Arial"/>
                <a:ea typeface="Arial"/>
                <a:cs typeface="Arial"/>
                <a:sym typeface="Arial"/>
              </a:rPr>
              <a:t>() {    try {        if (</a:t>
            </a:r>
            <a:r>
              <a:rPr lang="en-US" dirty="0" err="1">
                <a:latin typeface="Arial"/>
                <a:ea typeface="Arial"/>
                <a:cs typeface="Arial"/>
                <a:sym typeface="Arial"/>
              </a:rPr>
              <a:t>typeof</a:t>
            </a:r>
            <a:r>
              <a:rPr lang="en-US" dirty="0">
                <a:latin typeface="Arial"/>
                <a:ea typeface="Arial"/>
                <a:cs typeface="Arial"/>
                <a:sym typeface="Arial"/>
              </a:rPr>
              <a:t> </a:t>
            </a:r>
            <a:r>
              <a:rPr lang="en-US" dirty="0" err="1">
                <a:latin typeface="Arial"/>
                <a:ea typeface="Arial"/>
                <a:cs typeface="Arial"/>
                <a:sym typeface="Arial"/>
              </a:rPr>
              <a:t>tmImage</a:t>
            </a:r>
            <a:r>
              <a:rPr lang="en-US" dirty="0">
                <a:latin typeface="Arial"/>
                <a:ea typeface="Arial"/>
                <a:cs typeface="Arial"/>
                <a:sym typeface="Arial"/>
              </a:rPr>
              <a:t> === "undefined") {            alert("Library not loaded!");            return;        }        model = await </a:t>
            </a:r>
            <a:r>
              <a:rPr lang="en-US" dirty="0" err="1">
                <a:latin typeface="Arial"/>
                <a:ea typeface="Arial"/>
                <a:cs typeface="Arial"/>
                <a:sym typeface="Arial"/>
              </a:rPr>
              <a:t>tmImage.load</a:t>
            </a:r>
            <a:r>
              <a:rPr lang="en-US" dirty="0">
                <a:latin typeface="Arial"/>
                <a:ea typeface="Arial"/>
                <a:cs typeface="Arial"/>
                <a:sym typeface="Arial"/>
              </a:rPr>
              <a:t>(URL + "</a:t>
            </a:r>
            <a:r>
              <a:rPr lang="en-US" dirty="0" err="1">
                <a:latin typeface="Arial"/>
                <a:ea typeface="Arial"/>
                <a:cs typeface="Arial"/>
                <a:sym typeface="Arial"/>
              </a:rPr>
              <a:t>model.json</a:t>
            </a:r>
            <a:r>
              <a:rPr lang="en-US" dirty="0">
                <a:latin typeface="Arial"/>
                <a:ea typeface="Arial"/>
                <a:cs typeface="Arial"/>
                <a:sym typeface="Arial"/>
              </a:rPr>
              <a:t>", URL + "</a:t>
            </a:r>
            <a:r>
              <a:rPr lang="en-US" dirty="0" err="1">
                <a:latin typeface="Arial"/>
                <a:ea typeface="Arial"/>
                <a:cs typeface="Arial"/>
                <a:sym typeface="Arial"/>
              </a:rPr>
              <a:t>metadata.json</a:t>
            </a:r>
            <a:r>
              <a:rPr lang="en-US" dirty="0">
                <a:latin typeface="Arial"/>
                <a:ea typeface="Arial"/>
                <a:cs typeface="Arial"/>
                <a:sym typeface="Arial"/>
              </a:rPr>
              <a:t>");        webcam = new </a:t>
            </a:r>
            <a:r>
              <a:rPr lang="en-US" dirty="0" err="1">
                <a:latin typeface="Arial"/>
                <a:ea typeface="Arial"/>
                <a:cs typeface="Arial"/>
                <a:sym typeface="Arial"/>
              </a:rPr>
              <a:t>tmImage.Webcam</a:t>
            </a:r>
            <a:r>
              <a:rPr lang="en-US" dirty="0">
                <a:latin typeface="Arial"/>
                <a:ea typeface="Arial"/>
                <a:cs typeface="Arial"/>
                <a:sym typeface="Arial"/>
              </a:rPr>
              <a:t>(300, 300, true);        await </a:t>
            </a:r>
            <a:r>
              <a:rPr lang="en-US" dirty="0" err="1">
                <a:latin typeface="Arial"/>
                <a:ea typeface="Arial"/>
                <a:cs typeface="Arial"/>
                <a:sym typeface="Arial"/>
              </a:rPr>
              <a:t>webcam.setup</a:t>
            </a:r>
            <a:r>
              <a:rPr lang="en-US" dirty="0">
                <a:latin typeface="Arial"/>
                <a:ea typeface="Arial"/>
                <a:cs typeface="Arial"/>
                <a:sym typeface="Arial"/>
              </a:rPr>
              <a:t>();        await </a:t>
            </a:r>
            <a:r>
              <a:rPr lang="en-US" dirty="0" err="1">
                <a:latin typeface="Arial"/>
                <a:ea typeface="Arial"/>
                <a:cs typeface="Arial"/>
                <a:sym typeface="Arial"/>
              </a:rPr>
              <a:t>webcam.play</a:t>
            </a:r>
            <a:r>
              <a:rPr lang="en-US" dirty="0">
                <a:latin typeface="Arial"/>
                <a:ea typeface="Arial"/>
                <a:cs typeface="Arial"/>
                <a:sym typeface="Arial"/>
              </a:rPr>
              <a:t>();        </a:t>
            </a:r>
            <a:r>
              <a:rPr lang="en-US" dirty="0" err="1">
                <a:latin typeface="Arial"/>
                <a:ea typeface="Arial"/>
                <a:cs typeface="Arial"/>
                <a:sym typeface="Arial"/>
              </a:rPr>
              <a:t>document.body.appendChild</a:t>
            </a:r>
            <a:r>
              <a:rPr lang="en-US" dirty="0">
                <a:latin typeface="Arial"/>
                <a:ea typeface="Arial"/>
                <a:cs typeface="Arial"/>
                <a:sym typeface="Arial"/>
              </a:rPr>
              <a:t>(</a:t>
            </a:r>
            <a:r>
              <a:rPr lang="en-US" dirty="0" err="1">
                <a:latin typeface="Arial"/>
                <a:ea typeface="Arial"/>
                <a:cs typeface="Arial"/>
                <a:sym typeface="Arial"/>
              </a:rPr>
              <a:t>webcam.canvas</a:t>
            </a:r>
            <a:r>
              <a:rPr lang="en-US" dirty="0">
                <a:latin typeface="Arial"/>
                <a:ea typeface="Arial"/>
                <a:cs typeface="Arial"/>
                <a:sym typeface="Arial"/>
              </a:rPr>
              <a:t>);        loop();    } catch (e) {        alert("Error: " + </a:t>
            </a:r>
            <a:r>
              <a:rPr lang="en-US" dirty="0" err="1">
                <a:latin typeface="Arial"/>
                <a:ea typeface="Arial"/>
                <a:cs typeface="Arial"/>
                <a:sym typeface="Arial"/>
              </a:rPr>
              <a:t>e.message</a:t>
            </a:r>
            <a:r>
              <a:rPr lang="en-US" dirty="0">
                <a:latin typeface="Arial"/>
                <a:ea typeface="Arial"/>
                <a:cs typeface="Arial"/>
                <a:sym typeface="Arial"/>
              </a:rPr>
              <a:t>);    }}async function loop() {    </a:t>
            </a:r>
            <a:r>
              <a:rPr lang="en-US" dirty="0" err="1">
                <a:latin typeface="Arial"/>
                <a:ea typeface="Arial"/>
                <a:cs typeface="Arial"/>
                <a:sym typeface="Arial"/>
              </a:rPr>
              <a:t>webcam.update</a:t>
            </a:r>
            <a:r>
              <a:rPr lang="en-US" dirty="0">
                <a:latin typeface="Arial"/>
                <a:ea typeface="Arial"/>
                <a:cs typeface="Arial"/>
                <a:sym typeface="Arial"/>
              </a:rPr>
              <a:t>();    const prediction = await </a:t>
            </a:r>
            <a:r>
              <a:rPr lang="en-US" dirty="0" err="1">
                <a:latin typeface="Arial"/>
                <a:ea typeface="Arial"/>
                <a:cs typeface="Arial"/>
                <a:sym typeface="Arial"/>
              </a:rPr>
              <a:t>model.predict</a:t>
            </a:r>
            <a:r>
              <a:rPr lang="en-US" dirty="0">
                <a:latin typeface="Arial"/>
                <a:ea typeface="Arial"/>
                <a:cs typeface="Arial"/>
                <a:sym typeface="Arial"/>
              </a:rPr>
              <a:t>(</a:t>
            </a:r>
            <a:r>
              <a:rPr lang="en-US" dirty="0" err="1">
                <a:latin typeface="Arial"/>
                <a:ea typeface="Arial"/>
                <a:cs typeface="Arial"/>
                <a:sym typeface="Arial"/>
              </a:rPr>
              <a:t>webcam.canvas</a:t>
            </a:r>
            <a:r>
              <a:rPr lang="en-US" dirty="0">
                <a:latin typeface="Arial"/>
                <a:ea typeface="Arial"/>
                <a:cs typeface="Arial"/>
                <a:sym typeface="Arial"/>
              </a:rPr>
              <a:t>);    let best = </a:t>
            </a:r>
            <a:r>
              <a:rPr lang="en-US" dirty="0" err="1">
                <a:latin typeface="Arial"/>
                <a:ea typeface="Arial"/>
                <a:cs typeface="Arial"/>
                <a:sym typeface="Arial"/>
              </a:rPr>
              <a:t>prediction.reduce</a:t>
            </a:r>
            <a:r>
              <a:rPr lang="en-US" dirty="0">
                <a:latin typeface="Arial"/>
                <a:ea typeface="Arial"/>
                <a:cs typeface="Arial"/>
                <a:sym typeface="Arial"/>
              </a:rPr>
              <a:t>((</a:t>
            </a:r>
            <a:r>
              <a:rPr lang="en-US" dirty="0" err="1">
                <a:latin typeface="Arial"/>
                <a:ea typeface="Arial"/>
                <a:cs typeface="Arial"/>
                <a:sym typeface="Arial"/>
              </a:rPr>
              <a:t>a,b</a:t>
            </a:r>
            <a:r>
              <a:rPr lang="en-US" dirty="0">
                <a:latin typeface="Arial"/>
                <a:ea typeface="Arial"/>
                <a:cs typeface="Arial"/>
                <a:sym typeface="Arial"/>
              </a:rPr>
              <a:t>)=&gt;</a:t>
            </a:r>
            <a:r>
              <a:rPr lang="en-US" dirty="0" err="1">
                <a:latin typeface="Arial"/>
                <a:ea typeface="Arial"/>
                <a:cs typeface="Arial"/>
                <a:sym typeface="Arial"/>
              </a:rPr>
              <a:t>a.probability</a:t>
            </a:r>
            <a:r>
              <a:rPr lang="en-US" dirty="0">
                <a:latin typeface="Arial"/>
                <a:ea typeface="Arial"/>
                <a:cs typeface="Arial"/>
                <a:sym typeface="Arial"/>
              </a:rPr>
              <a:t>&gt;</a:t>
            </a:r>
            <a:r>
              <a:rPr lang="en-US" dirty="0" err="1">
                <a:latin typeface="Arial"/>
                <a:ea typeface="Arial"/>
                <a:cs typeface="Arial"/>
                <a:sym typeface="Arial"/>
              </a:rPr>
              <a:t>b.probability?a:b</a:t>
            </a:r>
            <a:r>
              <a:rPr lang="en-US" dirty="0">
                <a:latin typeface="Arial"/>
                <a:ea typeface="Arial"/>
                <a:cs typeface="Arial"/>
                <a:sym typeface="Arial"/>
              </a:rPr>
              <a:t>);    </a:t>
            </a:r>
            <a:r>
              <a:rPr lang="en-US" dirty="0" err="1">
                <a:latin typeface="Arial"/>
                <a:ea typeface="Arial"/>
                <a:cs typeface="Arial"/>
                <a:sym typeface="Arial"/>
              </a:rPr>
              <a:t>document.getElementById</a:t>
            </a:r>
            <a:r>
              <a:rPr lang="en-US" dirty="0">
                <a:latin typeface="Arial"/>
                <a:ea typeface="Arial"/>
                <a:cs typeface="Arial"/>
                <a:sym typeface="Arial"/>
              </a:rPr>
              <a:t>("result").</a:t>
            </a:r>
            <a:r>
              <a:rPr lang="en-US" dirty="0" err="1">
                <a:latin typeface="Arial"/>
                <a:ea typeface="Arial"/>
                <a:cs typeface="Arial"/>
                <a:sym typeface="Arial"/>
              </a:rPr>
              <a:t>innerText</a:t>
            </a:r>
            <a:r>
              <a:rPr lang="en-US" dirty="0">
                <a:latin typeface="Arial"/>
                <a:ea typeface="Arial"/>
                <a:cs typeface="Arial"/>
                <a:sym typeface="Arial"/>
              </a:rPr>
              <a:t> =        </a:t>
            </a:r>
            <a:r>
              <a:rPr lang="en-US" dirty="0" err="1">
                <a:latin typeface="Arial"/>
                <a:ea typeface="Arial"/>
                <a:cs typeface="Arial"/>
                <a:sym typeface="Arial"/>
              </a:rPr>
              <a:t>best.className</a:t>
            </a:r>
            <a:r>
              <a:rPr lang="en-US" dirty="0">
                <a:latin typeface="Arial"/>
                <a:ea typeface="Arial"/>
                <a:cs typeface="Arial"/>
                <a:sym typeface="Arial"/>
              </a:rPr>
              <a:t> + " (" + </a:t>
            </a:r>
            <a:r>
              <a:rPr lang="en-US" dirty="0" err="1">
                <a:latin typeface="Arial"/>
                <a:ea typeface="Arial"/>
                <a:cs typeface="Arial"/>
                <a:sym typeface="Arial"/>
              </a:rPr>
              <a:t>best.probability.toFixed</a:t>
            </a:r>
            <a:r>
              <a:rPr lang="en-US" dirty="0">
                <a:latin typeface="Arial"/>
                <a:ea typeface="Arial"/>
                <a:cs typeface="Arial"/>
                <a:sym typeface="Arial"/>
              </a:rPr>
              <a:t>(2) + ")";    let now = </a:t>
            </a:r>
            <a:r>
              <a:rPr lang="en-US" dirty="0" err="1">
                <a:latin typeface="Arial"/>
                <a:ea typeface="Arial"/>
                <a:cs typeface="Arial"/>
                <a:sym typeface="Arial"/>
              </a:rPr>
              <a:t>Date.now</a:t>
            </a:r>
            <a:r>
              <a:rPr lang="en-US" dirty="0">
                <a:latin typeface="Arial"/>
                <a:ea typeface="Arial"/>
                <a:cs typeface="Arial"/>
                <a:sym typeface="Arial"/>
              </a:rPr>
              <a:t>();    if (</a:t>
            </a:r>
            <a:r>
              <a:rPr lang="en-US" dirty="0" err="1">
                <a:latin typeface="Arial"/>
                <a:ea typeface="Arial"/>
                <a:cs typeface="Arial"/>
                <a:sym typeface="Arial"/>
              </a:rPr>
              <a:t>best.probability</a:t>
            </a:r>
            <a:r>
              <a:rPr lang="en-US" dirty="0">
                <a:latin typeface="Arial"/>
                <a:ea typeface="Arial"/>
                <a:cs typeface="Arial"/>
                <a:sym typeface="Arial"/>
              </a:rPr>
              <a:t> &gt; 0.9 &amp;&amp;        </a:t>
            </a:r>
            <a:r>
              <a:rPr lang="en-US" dirty="0" err="1">
                <a:latin typeface="Arial"/>
                <a:ea typeface="Arial"/>
                <a:cs typeface="Arial"/>
                <a:sym typeface="Arial"/>
              </a:rPr>
              <a:t>best.className</a:t>
            </a:r>
            <a:r>
              <a:rPr lang="en-US" dirty="0">
                <a:latin typeface="Arial"/>
                <a:ea typeface="Arial"/>
                <a:cs typeface="Arial"/>
                <a:sym typeface="Arial"/>
              </a:rPr>
              <a:t> !== </a:t>
            </a:r>
            <a:r>
              <a:rPr lang="en-US" dirty="0" err="1">
                <a:latin typeface="Arial"/>
                <a:ea typeface="Arial"/>
                <a:cs typeface="Arial"/>
                <a:sym typeface="Arial"/>
              </a:rPr>
              <a:t>lastSent</a:t>
            </a:r>
            <a:r>
              <a:rPr lang="en-US" dirty="0">
                <a:latin typeface="Arial"/>
                <a:ea typeface="Arial"/>
                <a:cs typeface="Arial"/>
                <a:sym typeface="Arial"/>
              </a:rPr>
              <a:t> &amp;&amp;        now - </a:t>
            </a:r>
            <a:r>
              <a:rPr lang="en-US" dirty="0" err="1">
                <a:latin typeface="Arial"/>
                <a:ea typeface="Arial"/>
                <a:cs typeface="Arial"/>
                <a:sym typeface="Arial"/>
              </a:rPr>
              <a:t>lastTime</a:t>
            </a:r>
            <a:r>
              <a:rPr lang="en-US" dirty="0">
                <a:latin typeface="Arial"/>
                <a:ea typeface="Arial"/>
                <a:cs typeface="Arial"/>
                <a:sym typeface="Arial"/>
              </a:rPr>
              <a:t> &gt; 2000) {        		if (</a:t>
            </a:r>
            <a:r>
              <a:rPr lang="en-US" dirty="0" err="1">
                <a:latin typeface="Arial"/>
                <a:ea typeface="Arial"/>
                <a:cs typeface="Arial"/>
                <a:sym typeface="Arial"/>
              </a:rPr>
              <a:t>best.className</a:t>
            </a:r>
            <a:r>
              <a:rPr lang="en-US" dirty="0">
                <a:latin typeface="Arial"/>
                <a:ea typeface="Arial"/>
                <a:cs typeface="Arial"/>
                <a:sym typeface="Arial"/>
              </a:rPr>
              <a:t> == "Class 4") {    send(0);} else {    send(1);}        </a:t>
            </a:r>
            <a:r>
              <a:rPr lang="en-US" dirty="0" err="1">
                <a:latin typeface="Arial"/>
                <a:ea typeface="Arial"/>
                <a:cs typeface="Arial"/>
                <a:sym typeface="Arial"/>
              </a:rPr>
              <a:t>lastSent</a:t>
            </a:r>
            <a:r>
              <a:rPr lang="en-US" dirty="0">
                <a:latin typeface="Arial"/>
                <a:ea typeface="Arial"/>
                <a:cs typeface="Arial"/>
                <a:sym typeface="Arial"/>
              </a:rPr>
              <a:t> = </a:t>
            </a:r>
            <a:r>
              <a:rPr lang="en-US" dirty="0" err="1">
                <a:latin typeface="Arial"/>
                <a:ea typeface="Arial"/>
                <a:cs typeface="Arial"/>
                <a:sym typeface="Arial"/>
              </a:rPr>
              <a:t>best.className</a:t>
            </a:r>
            <a:r>
              <a:rPr lang="en-US" dirty="0">
                <a:latin typeface="Arial"/>
                <a:ea typeface="Arial"/>
                <a:cs typeface="Arial"/>
                <a:sym typeface="Arial"/>
              </a:rPr>
              <a:t>;        </a:t>
            </a:r>
            <a:r>
              <a:rPr lang="en-US" dirty="0" err="1">
                <a:latin typeface="Arial"/>
                <a:ea typeface="Arial"/>
                <a:cs typeface="Arial"/>
                <a:sym typeface="Arial"/>
              </a:rPr>
              <a:t>lastTime</a:t>
            </a:r>
            <a:r>
              <a:rPr lang="en-US" dirty="0">
                <a:latin typeface="Arial"/>
                <a:ea typeface="Arial"/>
                <a:cs typeface="Arial"/>
                <a:sym typeface="Arial"/>
              </a:rPr>
              <a:t> = now;    }    </a:t>
            </a:r>
            <a:r>
              <a:rPr lang="en-US" dirty="0" err="1">
                <a:latin typeface="Arial"/>
                <a:ea typeface="Arial"/>
                <a:cs typeface="Arial"/>
                <a:sym typeface="Arial"/>
              </a:rPr>
              <a:t>requestAnimationFrame</a:t>
            </a:r>
            <a:r>
              <a:rPr lang="en-US" dirty="0">
                <a:latin typeface="Arial"/>
                <a:ea typeface="Arial"/>
                <a:cs typeface="Arial"/>
                <a:sym typeface="Arial"/>
              </a:rPr>
              <a:t>(loop);}function send(value) {    fetch(`https://io.adafruit.com/</a:t>
            </a:r>
            <a:r>
              <a:rPr lang="en-US" dirty="0" err="1">
                <a:latin typeface="Arial"/>
                <a:ea typeface="Arial"/>
                <a:cs typeface="Arial"/>
                <a:sym typeface="Arial"/>
              </a:rPr>
              <a:t>api</a:t>
            </a:r>
            <a:r>
              <a:rPr lang="en-US" dirty="0">
                <a:latin typeface="Arial"/>
                <a:ea typeface="Arial"/>
                <a:cs typeface="Arial"/>
                <a:sym typeface="Arial"/>
              </a:rPr>
              <a:t>/v2/${USERNAME}/feeds/${FEED}/data`, {        method: "POST",        headers: {            "X-AIO-Key": AIO_KEY,            "Content-Type": "application/</a:t>
            </a:r>
            <a:r>
              <a:rPr lang="en-US" dirty="0" err="1">
                <a:latin typeface="Arial"/>
                <a:ea typeface="Arial"/>
                <a:cs typeface="Arial"/>
                <a:sym typeface="Arial"/>
              </a:rPr>
              <a:t>json</a:t>
            </a:r>
            <a:r>
              <a:rPr lang="en-US" dirty="0">
                <a:latin typeface="Arial"/>
                <a:ea typeface="Arial"/>
                <a:cs typeface="Arial"/>
                <a:sym typeface="Arial"/>
              </a:rPr>
              <a:t>"        },        body: </a:t>
            </a:r>
            <a:r>
              <a:rPr lang="en-US" dirty="0" err="1">
                <a:latin typeface="Arial"/>
                <a:ea typeface="Arial"/>
                <a:cs typeface="Arial"/>
                <a:sym typeface="Arial"/>
              </a:rPr>
              <a:t>JSON.stringify</a:t>
            </a:r>
            <a:r>
              <a:rPr lang="en-US" dirty="0">
                <a:latin typeface="Arial"/>
                <a:ea typeface="Arial"/>
                <a:cs typeface="Arial"/>
                <a:sym typeface="Arial"/>
              </a:rPr>
              <a:t>({ value: value })    });}&lt;/script&gt;&lt;/body&gt;&lt;/html&gt;</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E22457D-5EBE-A0BB-9B8B-7860CBDC8BA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89</a:t>
            </a:fld>
            <a:endParaRPr/>
          </a:p>
        </p:txBody>
      </p:sp>
    </p:spTree>
    <p:extLst>
      <p:ext uri="{BB962C8B-B14F-4D97-AF65-F5344CB8AC3E}">
        <p14:creationId xmlns:p14="http://schemas.microsoft.com/office/powerpoint/2010/main" val="386921507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9BAFB6A-38B6-3996-51E7-4AB79C38682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F268B57-B7E2-D660-98E4-8297FEE71B8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34172DB-A13F-36F1-0DAC-2A38F2C8ED5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r>
              <a:rPr lang="en-US" dirty="0">
                <a:latin typeface="Arial"/>
                <a:ea typeface="Arial"/>
                <a:cs typeface="Arial"/>
                <a:sym typeface="Arial"/>
              </a:rPr>
              <a:t>https://wokwi.com/projects/458930600008204289</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33AD6B6-56FD-EA2C-B700-7783DF9DFE0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260749687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289D0EE-1E6A-F057-56C3-54169024CC9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58A3DD1-CAF8-46EE-ADEE-43A278E4BB9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D20800E-6AA5-8AC6-21BA-68605AB2989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WiFi.h</a:t>
            </a:r>
            <a:r>
              <a:rPr lang="en-US" sz="1200" b="0" i="0" u="none" strike="noStrike" cap="none" dirty="0">
                <a:solidFill>
                  <a:schemeClr val="dk1"/>
                </a:solidFill>
                <a:effectLst/>
                <a:latin typeface="Malgun Gothic"/>
                <a:ea typeface="Malgun Gothic"/>
                <a:cs typeface="Malgun Gothic"/>
                <a:sym typeface="Malgun Gothic"/>
              </a:rPr>
              <a:t>&gt;</a:t>
            </a:r>
          </a:p>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HTTPClient.h</a:t>
            </a:r>
            <a:r>
              <a:rPr lang="en-US" sz="1200" b="0" i="0" u="none" strike="noStrike" cap="none" dirty="0">
                <a:solidFill>
                  <a:schemeClr val="dk1"/>
                </a:solidFill>
                <a:effectLst/>
                <a:latin typeface="Malgun Gothic"/>
                <a:ea typeface="Malgun Gothic"/>
                <a:cs typeface="Malgun Gothic"/>
                <a:sym typeface="Malgun Gothic"/>
              </a:rPr>
              <a:t>&gt;</a:t>
            </a:r>
          </a:p>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ArduinoJson.h</a:t>
            </a:r>
            <a:r>
              <a:rPr lang="en-US" sz="1200" b="0" i="0" u="none" strike="noStrike" cap="none" dirty="0">
                <a:solidFill>
                  <a:schemeClr val="dk1"/>
                </a:solidFill>
                <a:effectLst/>
                <a:latin typeface="Malgun Gothic"/>
                <a:ea typeface="Malgun Gothic"/>
                <a:cs typeface="Malgun Gothic"/>
                <a:sym typeface="Malgun Gothic"/>
              </a:rPr>
              <a:t>&gt;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const char* </a:t>
            </a:r>
            <a:r>
              <a:rPr lang="en-US" sz="1200" b="0" i="0" u="none" strike="noStrike" cap="none" dirty="0" err="1">
                <a:solidFill>
                  <a:schemeClr val="dk1"/>
                </a:solidFill>
                <a:effectLst/>
                <a:latin typeface="Malgun Gothic"/>
                <a:ea typeface="Malgun Gothic"/>
                <a:cs typeface="Malgun Gothic"/>
                <a:sym typeface="Malgun Gothic"/>
              </a:rPr>
              <a:t>ssid</a:t>
            </a:r>
            <a:r>
              <a:rPr lang="en-US" sz="1200" b="0" i="0" u="none" strike="noStrike" cap="none" dirty="0">
                <a:solidFill>
                  <a:schemeClr val="dk1"/>
                </a:solidFill>
                <a:effectLst/>
                <a:latin typeface="Malgun Gothic"/>
                <a:ea typeface="Malgun Gothic"/>
                <a:cs typeface="Malgun Gothic"/>
                <a:sym typeface="Malgun Gothic"/>
              </a:rPr>
              <a:t> = "</a:t>
            </a:r>
            <a:r>
              <a:rPr lang="en-US" sz="1200" b="0" i="0" u="none" strike="noStrike" cap="none" dirty="0" err="1">
                <a:solidFill>
                  <a:schemeClr val="dk1"/>
                </a:solidFill>
                <a:effectLst/>
                <a:latin typeface="Malgun Gothic"/>
                <a:ea typeface="Malgun Gothic"/>
                <a:cs typeface="Malgun Gothic"/>
                <a:sym typeface="Malgun Gothic"/>
              </a:rPr>
              <a:t>Wokwi</a:t>
            </a:r>
            <a:r>
              <a:rPr lang="en-US" sz="1200" b="0" i="0" u="none" strike="noStrike" cap="none" dirty="0">
                <a:solidFill>
                  <a:schemeClr val="dk1"/>
                </a:solidFill>
                <a:effectLst/>
                <a:latin typeface="Malgun Gothic"/>
                <a:ea typeface="Malgun Gothic"/>
                <a:cs typeface="Malgun Gothic"/>
                <a:sym typeface="Malgun Gothic"/>
              </a:rPr>
              <a:t>-GUEST";</a:t>
            </a:r>
          </a:p>
          <a:p>
            <a:r>
              <a:rPr lang="en-US" sz="1200" b="0" i="0" u="none" strike="noStrike" cap="none" dirty="0">
                <a:solidFill>
                  <a:schemeClr val="dk1"/>
                </a:solidFill>
                <a:effectLst/>
                <a:latin typeface="Malgun Gothic"/>
                <a:ea typeface="Malgun Gothic"/>
                <a:cs typeface="Malgun Gothic"/>
                <a:sym typeface="Malgun Gothic"/>
              </a:rPr>
              <a:t>const char* password =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String USERNAME = "</a:t>
            </a:r>
            <a:r>
              <a:rPr lang="en-US" sz="1200" b="0" i="0" u="none" strike="noStrike" cap="none" dirty="0" err="1">
                <a:solidFill>
                  <a:schemeClr val="dk1"/>
                </a:solidFill>
                <a:effectLst/>
                <a:latin typeface="Malgun Gothic"/>
                <a:ea typeface="Malgun Gothic"/>
                <a:cs typeface="Malgun Gothic"/>
                <a:sym typeface="Malgun Gothic"/>
              </a:rPr>
              <a:t>PhuNguyenLe</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String AIO_KEY  = "aio_KKzd07YCBAadJAWBvhAasQ6wlOVM";   // </a:t>
            </a:r>
          </a:p>
          <a:p>
            <a:r>
              <a:rPr lang="en-US" sz="1200" b="0" i="0" u="none" strike="noStrike" cap="none" dirty="0">
                <a:solidFill>
                  <a:schemeClr val="dk1"/>
                </a:solidFill>
                <a:effectLst/>
                <a:latin typeface="Malgun Gothic"/>
                <a:ea typeface="Malgun Gothic"/>
                <a:cs typeface="Malgun Gothic"/>
                <a:sym typeface="Malgun Gothic"/>
              </a:rPr>
              <a:t>String FEED     = "led";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#define LED_PIN 2</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void setup()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.begin</a:t>
            </a:r>
            <a:r>
              <a:rPr lang="en-US" sz="1200" b="0" i="0" u="none" strike="noStrike" cap="none" dirty="0">
                <a:solidFill>
                  <a:schemeClr val="dk1"/>
                </a:solidFill>
                <a:effectLst/>
                <a:latin typeface="Malgun Gothic"/>
                <a:ea typeface="Malgun Gothic"/>
                <a:cs typeface="Malgun Gothic"/>
                <a:sym typeface="Malgun Gothic"/>
              </a:rPr>
              <a:t>(115200);</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pinMode</a:t>
            </a:r>
            <a:r>
              <a:rPr lang="en-US" sz="1200" b="0" i="0" u="none" strike="noStrike" cap="none" dirty="0">
                <a:solidFill>
                  <a:schemeClr val="dk1"/>
                </a:solidFill>
                <a:effectLst/>
                <a:latin typeface="Malgun Gothic"/>
                <a:ea typeface="Malgun Gothic"/>
                <a:cs typeface="Malgun Gothic"/>
                <a:sym typeface="Malgun Gothic"/>
              </a:rPr>
              <a:t>(LED_PIN, OUTPUT);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WiFi.begin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ssid</a:t>
            </a:r>
            <a:r>
              <a:rPr lang="en-US" sz="1200" b="0" i="0" u="none" strike="noStrike" cap="none" dirty="0">
                <a:solidFill>
                  <a:schemeClr val="dk1"/>
                </a:solidFill>
                <a:effectLst/>
                <a:latin typeface="Malgun Gothic"/>
                <a:ea typeface="Malgun Gothic"/>
                <a:cs typeface="Malgun Gothic"/>
                <a:sym typeface="Malgun Gothic"/>
              </a:rPr>
              <a:t>, password);</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("Connecting </a:t>
            </a:r>
            <a:r>
              <a:rPr lang="en-US" sz="1200" b="0" i="0" u="none" strike="noStrike" cap="none" dirty="0" err="1">
                <a:solidFill>
                  <a:schemeClr val="dk1"/>
                </a:solidFill>
                <a:effectLst/>
                <a:latin typeface="Malgun Gothic"/>
                <a:ea typeface="Malgun Gothic"/>
                <a:cs typeface="Malgun Gothic"/>
                <a:sym typeface="Malgun Gothic"/>
              </a:rPr>
              <a:t>WiFi</a:t>
            </a:r>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while (</a:t>
            </a:r>
            <a:r>
              <a:rPr lang="en-US" sz="1200" b="0" i="0" u="none" strike="noStrike" cap="none" dirty="0" err="1">
                <a:solidFill>
                  <a:schemeClr val="dk1"/>
                </a:solidFill>
                <a:effectLst/>
                <a:latin typeface="Malgun Gothic"/>
                <a:ea typeface="Malgun Gothic"/>
                <a:cs typeface="Malgun Gothic"/>
                <a:sym typeface="Malgun Gothic"/>
              </a:rPr>
              <a:t>WiFi.status</a:t>
            </a:r>
            <a:r>
              <a:rPr lang="en-US" sz="1200" b="0" i="0" u="none" strike="noStrike" cap="none" dirty="0">
                <a:solidFill>
                  <a:schemeClr val="dk1"/>
                </a:solidFill>
                <a:effectLst/>
                <a:latin typeface="Malgun Gothic"/>
                <a:ea typeface="Malgun Gothic"/>
                <a:cs typeface="Malgun Gothic"/>
                <a:sym typeface="Malgun Gothic"/>
              </a:rPr>
              <a:t>() != WL_CONNECTED) {</a:t>
            </a:r>
          </a:p>
          <a:p>
            <a:r>
              <a:rPr lang="en-US" sz="1200" b="0" i="0" u="none" strike="noStrike" cap="none" dirty="0">
                <a:solidFill>
                  <a:schemeClr val="dk1"/>
                </a:solidFill>
                <a:effectLst/>
                <a:latin typeface="Malgun Gothic"/>
                <a:ea typeface="Malgun Gothic"/>
                <a:cs typeface="Malgun Gothic"/>
                <a:sym typeface="Malgun Gothic"/>
              </a:rPr>
              <a:t>    delay(500);</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nWiFi</a:t>
            </a:r>
            <a:r>
              <a:rPr lang="en-US" sz="1200" b="0" i="0" u="none" strike="noStrike" cap="none" dirty="0">
                <a:solidFill>
                  <a:schemeClr val="dk1"/>
                </a:solidFill>
                <a:effectLst/>
                <a:latin typeface="Malgun Gothic"/>
                <a:ea typeface="Malgun Gothic"/>
                <a:cs typeface="Malgun Gothic"/>
                <a:sym typeface="Malgun Gothic"/>
              </a:rPr>
              <a:t> Connected!");</a:t>
            </a:r>
          </a:p>
          <a:p>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void loop()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a:t>
            </a:r>
            <a:r>
              <a:rPr lang="en-US" sz="1200" b="0" i="0" u="none" strike="noStrike" cap="none" dirty="0" err="1">
                <a:solidFill>
                  <a:schemeClr val="dk1"/>
                </a:solidFill>
                <a:effectLst/>
                <a:latin typeface="Malgun Gothic"/>
                <a:ea typeface="Malgun Gothic"/>
                <a:cs typeface="Malgun Gothic"/>
                <a:sym typeface="Malgun Gothic"/>
              </a:rPr>
              <a:t>WiFi.status</a:t>
            </a:r>
            <a:r>
              <a:rPr lang="en-US" sz="1200" b="0" i="0" u="none" strike="noStrike" cap="none" dirty="0">
                <a:solidFill>
                  <a:schemeClr val="dk1"/>
                </a:solidFill>
                <a:effectLst/>
                <a:latin typeface="Malgun Gothic"/>
                <a:ea typeface="Malgun Gothic"/>
                <a:cs typeface="Malgun Gothic"/>
                <a:sym typeface="Malgun Gothic"/>
              </a:rPr>
              <a:t>() == WL_CONNECTED)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HTTPClient</a:t>
            </a:r>
            <a:r>
              <a:rPr lang="en-US" sz="1200" b="0" i="0" u="none" strike="noStrike" cap="none" dirty="0">
                <a:solidFill>
                  <a:schemeClr val="dk1"/>
                </a:solidFill>
                <a:effectLst/>
                <a:latin typeface="Malgun Gothic"/>
                <a:ea typeface="Malgun Gothic"/>
                <a:cs typeface="Malgun Gothic"/>
                <a:sym typeface="Malgun Gothic"/>
              </a:rPr>
              <a:t> http;</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a:t>
            </a:r>
            <a:r>
              <a:rPr lang="en-US" sz="1200" b="0" i="0" u="none" strike="noStrike" cap="none" dirty="0" err="1">
                <a:solidFill>
                  <a:schemeClr val="dk1"/>
                </a:solidFill>
                <a:effectLst/>
                <a:latin typeface="Malgun Gothic"/>
                <a:ea typeface="Malgun Gothic"/>
                <a:cs typeface="Malgun Gothic"/>
                <a:sym typeface="Malgun Gothic"/>
              </a:rPr>
              <a:t>url</a:t>
            </a:r>
            <a:r>
              <a:rPr lang="en-US" sz="1200" b="0" i="0" u="none" strike="noStrike" cap="none" dirty="0">
                <a:solidFill>
                  <a:schemeClr val="dk1"/>
                </a:solidFill>
                <a:effectLst/>
                <a:latin typeface="Malgun Gothic"/>
                <a:ea typeface="Malgun Gothic"/>
                <a:cs typeface="Malgun Gothic"/>
                <a:sym typeface="Malgun Gothic"/>
              </a:rPr>
              <a:t> = "https://io.adafruit.com/</a:t>
            </a:r>
            <a:r>
              <a:rPr lang="en-US" sz="1200" b="0" i="0" u="none" strike="noStrike" cap="none" dirty="0" err="1">
                <a:solidFill>
                  <a:schemeClr val="dk1"/>
                </a:solidFill>
                <a:effectLst/>
                <a:latin typeface="Malgun Gothic"/>
                <a:ea typeface="Malgun Gothic"/>
                <a:cs typeface="Malgun Gothic"/>
                <a:sym typeface="Malgun Gothic"/>
              </a:rPr>
              <a:t>api</a:t>
            </a:r>
            <a:r>
              <a:rPr lang="en-US" sz="1200" b="0" i="0" u="none" strike="noStrike" cap="none" dirty="0">
                <a:solidFill>
                  <a:schemeClr val="dk1"/>
                </a:solidFill>
                <a:effectLst/>
                <a:latin typeface="Malgun Gothic"/>
                <a:ea typeface="Malgun Gothic"/>
                <a:cs typeface="Malgun Gothic"/>
                <a:sym typeface="Malgun Gothic"/>
              </a:rPr>
              <a:t>/v2/" +</a:t>
            </a:r>
          </a:p>
          <a:p>
            <a:r>
              <a:rPr lang="en-US" sz="1200" b="0" i="0" u="none" strike="noStrike" cap="none" dirty="0">
                <a:solidFill>
                  <a:schemeClr val="dk1"/>
                </a:solidFill>
                <a:effectLst/>
                <a:latin typeface="Malgun Gothic"/>
                <a:ea typeface="Malgun Gothic"/>
                <a:cs typeface="Malgun Gothic"/>
                <a:sym typeface="Malgun Gothic"/>
              </a:rPr>
              <a:t>                 USERNAME + "/feeds/" + FEED + "/data/last";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http.begin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url</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http.addHeader</a:t>
            </a:r>
            <a:r>
              <a:rPr lang="en-US" sz="1200" b="0" i="0" u="none" strike="noStrike" cap="none" dirty="0">
                <a:solidFill>
                  <a:schemeClr val="dk1"/>
                </a:solidFill>
                <a:effectLst/>
                <a:latin typeface="Malgun Gothic"/>
                <a:ea typeface="Malgun Gothic"/>
                <a:cs typeface="Malgun Gothic"/>
                <a:sym typeface="Malgun Gothic"/>
              </a:rPr>
              <a:t>("X-AIO-Key", AIO_KEY);</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int code = </a:t>
            </a:r>
            <a:r>
              <a:rPr lang="en-US" sz="1200" b="0" i="0" u="none" strike="noStrike" cap="none" dirty="0" err="1">
                <a:solidFill>
                  <a:schemeClr val="dk1"/>
                </a:solidFill>
                <a:effectLst/>
                <a:latin typeface="Malgun Gothic"/>
                <a:ea typeface="Malgun Gothic"/>
                <a:cs typeface="Malgun Gothic"/>
                <a:sym typeface="Malgun Gothic"/>
              </a:rPr>
              <a:t>http.GET</a:t>
            </a:r>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(code == 200)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payload = </a:t>
            </a:r>
            <a:r>
              <a:rPr lang="en-US" sz="1200" b="0" i="0" u="none" strike="noStrike" cap="none" dirty="0" err="1">
                <a:solidFill>
                  <a:schemeClr val="dk1"/>
                </a:solidFill>
                <a:effectLst/>
                <a:latin typeface="Malgun Gothic"/>
                <a:ea typeface="Malgun Gothic"/>
                <a:cs typeface="Malgun Gothic"/>
                <a:sym typeface="Malgun Gothic"/>
              </a:rPr>
              <a:t>http.getString</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(payload);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DynamicJsonDocument doc(256);</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deserializeJson</a:t>
            </a:r>
            <a:r>
              <a:rPr lang="en-US" sz="1200" b="0" i="0" u="none" strike="noStrike" cap="none" dirty="0">
                <a:solidFill>
                  <a:schemeClr val="dk1"/>
                </a:solidFill>
                <a:effectLst/>
                <a:latin typeface="Malgun Gothic"/>
                <a:ea typeface="Malgun Gothic"/>
                <a:cs typeface="Malgun Gothic"/>
                <a:sym typeface="Malgun Gothic"/>
              </a:rPr>
              <a:t>(doc, payload);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value = doc["value"];</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("LED =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(value);</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(value == "1") {</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digitalWrite</a:t>
            </a:r>
            <a:r>
              <a:rPr lang="en-US" sz="1200" b="0" i="0" u="none" strike="noStrike" cap="none" dirty="0">
                <a:solidFill>
                  <a:schemeClr val="dk1"/>
                </a:solidFill>
                <a:effectLst/>
                <a:latin typeface="Malgun Gothic"/>
                <a:ea typeface="Malgun Gothic"/>
                <a:cs typeface="Malgun Gothic"/>
                <a:sym typeface="Malgun Gothic"/>
              </a:rPr>
              <a:t>(LED_PIN, HIGH);</a:t>
            </a:r>
          </a:p>
          <a:p>
            <a:r>
              <a:rPr lang="en-US" sz="1200" b="0" i="0" u="none" strike="noStrike" cap="none" dirty="0">
                <a:solidFill>
                  <a:schemeClr val="dk1"/>
                </a:solidFill>
                <a:effectLst/>
                <a:latin typeface="Malgun Gothic"/>
                <a:ea typeface="Malgun Gothic"/>
                <a:cs typeface="Malgun Gothic"/>
                <a:sym typeface="Malgun Gothic"/>
              </a:rPr>
              <a:t>      } else {</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digitalWrite</a:t>
            </a:r>
            <a:r>
              <a:rPr lang="en-US" sz="1200" b="0" i="0" u="none" strike="noStrike" cap="none" dirty="0">
                <a:solidFill>
                  <a:schemeClr val="dk1"/>
                </a:solidFill>
                <a:effectLst/>
                <a:latin typeface="Malgun Gothic"/>
                <a:ea typeface="Malgun Gothic"/>
                <a:cs typeface="Malgun Gothic"/>
                <a:sym typeface="Malgun Gothic"/>
              </a:rPr>
              <a:t>(LED_PIN, LOW);</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 else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("HTTP Error: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(code);</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http.end</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delay(3000);</a:t>
            </a:r>
          </a:p>
          <a:p>
            <a:r>
              <a:rPr lang="en-US" sz="1200" b="0" i="0" u="none" strike="noStrike" cap="none" dirty="0">
                <a:solidFill>
                  <a:schemeClr val="dk1"/>
                </a:solidFill>
                <a:effectLst/>
                <a:latin typeface="Malgun Gothic"/>
                <a:ea typeface="Malgun Gothic"/>
                <a:cs typeface="Malgun Gothic"/>
                <a:sym typeface="Malgun Gothic"/>
              </a:rPr>
              <a:t>}</a:t>
            </a:r>
          </a:p>
        </p:txBody>
      </p:sp>
      <p:sp>
        <p:nvSpPr>
          <p:cNvPr id="182" name="Google Shape;182;p5:notes">
            <a:extLst>
              <a:ext uri="{FF2B5EF4-FFF2-40B4-BE49-F238E27FC236}">
                <a16:creationId xmlns:a16="http://schemas.microsoft.com/office/drawing/2014/main" id="{62D4937E-11FB-0C06-4726-E5EDBE89499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91</a:t>
            </a:fld>
            <a:endParaRPr/>
          </a:p>
        </p:txBody>
      </p:sp>
    </p:spTree>
    <p:extLst>
      <p:ext uri="{BB962C8B-B14F-4D97-AF65-F5344CB8AC3E}">
        <p14:creationId xmlns:p14="http://schemas.microsoft.com/office/powerpoint/2010/main" val="346942976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0A93406-3B5E-15DD-4930-BA3A1D5C292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A985274D-C533-41BC-B6BB-0779DCBF7DA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0BC29F6-E315-E952-2EB5-61C86DCAACD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WiFi.h</a:t>
            </a:r>
            <a:r>
              <a:rPr lang="en-US" sz="1200" b="0" i="0" u="none" strike="noStrike" cap="none" dirty="0">
                <a:solidFill>
                  <a:schemeClr val="dk1"/>
                </a:solidFill>
                <a:effectLst/>
                <a:latin typeface="Malgun Gothic"/>
                <a:ea typeface="Malgun Gothic"/>
                <a:cs typeface="Malgun Gothic"/>
                <a:sym typeface="Malgun Gothic"/>
              </a:rPr>
              <a:t>&gt;</a:t>
            </a:r>
          </a:p>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HTTPClient.h</a:t>
            </a:r>
            <a:r>
              <a:rPr lang="en-US" sz="1200" b="0" i="0" u="none" strike="noStrike" cap="none" dirty="0">
                <a:solidFill>
                  <a:schemeClr val="dk1"/>
                </a:solidFill>
                <a:effectLst/>
                <a:latin typeface="Malgun Gothic"/>
                <a:ea typeface="Malgun Gothic"/>
                <a:cs typeface="Malgun Gothic"/>
                <a:sym typeface="Malgun Gothic"/>
              </a:rPr>
              <a:t>&gt;</a:t>
            </a:r>
          </a:p>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ArduinoJson.h</a:t>
            </a:r>
            <a:r>
              <a:rPr lang="en-US" sz="1200" b="0" i="0" u="none" strike="noStrike" cap="none" dirty="0">
                <a:solidFill>
                  <a:schemeClr val="dk1"/>
                </a:solidFill>
                <a:effectLst/>
                <a:latin typeface="Malgun Gothic"/>
                <a:ea typeface="Malgun Gothic"/>
                <a:cs typeface="Malgun Gothic"/>
                <a:sym typeface="Malgun Gothic"/>
              </a:rPr>
              <a:t>&gt;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const char* </a:t>
            </a:r>
            <a:r>
              <a:rPr lang="en-US" sz="1200" b="0" i="0" u="none" strike="noStrike" cap="none" dirty="0" err="1">
                <a:solidFill>
                  <a:schemeClr val="dk1"/>
                </a:solidFill>
                <a:effectLst/>
                <a:latin typeface="Malgun Gothic"/>
                <a:ea typeface="Malgun Gothic"/>
                <a:cs typeface="Malgun Gothic"/>
                <a:sym typeface="Malgun Gothic"/>
              </a:rPr>
              <a:t>ssid</a:t>
            </a:r>
            <a:r>
              <a:rPr lang="en-US" sz="1200" b="0" i="0" u="none" strike="noStrike" cap="none" dirty="0">
                <a:solidFill>
                  <a:schemeClr val="dk1"/>
                </a:solidFill>
                <a:effectLst/>
                <a:latin typeface="Malgun Gothic"/>
                <a:ea typeface="Malgun Gothic"/>
                <a:cs typeface="Malgun Gothic"/>
                <a:sym typeface="Malgun Gothic"/>
              </a:rPr>
              <a:t> = "</a:t>
            </a:r>
            <a:r>
              <a:rPr lang="en-US" sz="1200" b="0" i="0" u="none" strike="noStrike" cap="none" dirty="0" err="1">
                <a:solidFill>
                  <a:schemeClr val="dk1"/>
                </a:solidFill>
                <a:effectLst/>
                <a:latin typeface="Malgun Gothic"/>
                <a:ea typeface="Malgun Gothic"/>
                <a:cs typeface="Malgun Gothic"/>
                <a:sym typeface="Malgun Gothic"/>
              </a:rPr>
              <a:t>Wokwi</a:t>
            </a:r>
            <a:r>
              <a:rPr lang="en-US" sz="1200" b="0" i="0" u="none" strike="noStrike" cap="none" dirty="0">
                <a:solidFill>
                  <a:schemeClr val="dk1"/>
                </a:solidFill>
                <a:effectLst/>
                <a:latin typeface="Malgun Gothic"/>
                <a:ea typeface="Malgun Gothic"/>
                <a:cs typeface="Malgun Gothic"/>
                <a:sym typeface="Malgun Gothic"/>
              </a:rPr>
              <a:t>-GUEST";</a:t>
            </a:r>
          </a:p>
          <a:p>
            <a:r>
              <a:rPr lang="en-US" sz="1200" b="0" i="0" u="none" strike="noStrike" cap="none" dirty="0">
                <a:solidFill>
                  <a:schemeClr val="dk1"/>
                </a:solidFill>
                <a:effectLst/>
                <a:latin typeface="Malgun Gothic"/>
                <a:ea typeface="Malgun Gothic"/>
                <a:cs typeface="Malgun Gothic"/>
                <a:sym typeface="Malgun Gothic"/>
              </a:rPr>
              <a:t>const char* password =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String USERNAME = "</a:t>
            </a:r>
            <a:r>
              <a:rPr lang="en-US" sz="1200" b="0" i="0" u="none" strike="noStrike" cap="none" dirty="0" err="1">
                <a:solidFill>
                  <a:schemeClr val="dk1"/>
                </a:solidFill>
                <a:effectLst/>
                <a:latin typeface="Malgun Gothic"/>
                <a:ea typeface="Malgun Gothic"/>
                <a:cs typeface="Malgun Gothic"/>
                <a:sym typeface="Malgun Gothic"/>
              </a:rPr>
              <a:t>PhuNguyenLe</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String AIO_KEY  = "aio_KKzd07YCBAadJAWBvhAasQ6wlOVM";   // </a:t>
            </a:r>
          </a:p>
          <a:p>
            <a:r>
              <a:rPr lang="en-US" sz="1200" b="0" i="0" u="none" strike="noStrike" cap="none" dirty="0">
                <a:solidFill>
                  <a:schemeClr val="dk1"/>
                </a:solidFill>
                <a:effectLst/>
                <a:latin typeface="Malgun Gothic"/>
                <a:ea typeface="Malgun Gothic"/>
                <a:cs typeface="Malgun Gothic"/>
                <a:sym typeface="Malgun Gothic"/>
              </a:rPr>
              <a:t>String FEED     = "led";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#define LED_PIN 2</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void setup()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.begin</a:t>
            </a:r>
            <a:r>
              <a:rPr lang="en-US" sz="1200" b="0" i="0" u="none" strike="noStrike" cap="none" dirty="0">
                <a:solidFill>
                  <a:schemeClr val="dk1"/>
                </a:solidFill>
                <a:effectLst/>
                <a:latin typeface="Malgun Gothic"/>
                <a:ea typeface="Malgun Gothic"/>
                <a:cs typeface="Malgun Gothic"/>
                <a:sym typeface="Malgun Gothic"/>
              </a:rPr>
              <a:t>(115200);</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pinMode</a:t>
            </a:r>
            <a:r>
              <a:rPr lang="en-US" sz="1200" b="0" i="0" u="none" strike="noStrike" cap="none" dirty="0">
                <a:solidFill>
                  <a:schemeClr val="dk1"/>
                </a:solidFill>
                <a:effectLst/>
                <a:latin typeface="Malgun Gothic"/>
                <a:ea typeface="Malgun Gothic"/>
                <a:cs typeface="Malgun Gothic"/>
                <a:sym typeface="Malgun Gothic"/>
              </a:rPr>
              <a:t>(LED_PIN, OUTPUT);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WiFi.begin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ssid</a:t>
            </a:r>
            <a:r>
              <a:rPr lang="en-US" sz="1200" b="0" i="0" u="none" strike="noStrike" cap="none" dirty="0">
                <a:solidFill>
                  <a:schemeClr val="dk1"/>
                </a:solidFill>
                <a:effectLst/>
                <a:latin typeface="Malgun Gothic"/>
                <a:ea typeface="Malgun Gothic"/>
                <a:cs typeface="Malgun Gothic"/>
                <a:sym typeface="Malgun Gothic"/>
              </a:rPr>
              <a:t>, password);</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("Connecting </a:t>
            </a:r>
            <a:r>
              <a:rPr lang="en-US" sz="1200" b="0" i="0" u="none" strike="noStrike" cap="none" dirty="0" err="1">
                <a:solidFill>
                  <a:schemeClr val="dk1"/>
                </a:solidFill>
                <a:effectLst/>
                <a:latin typeface="Malgun Gothic"/>
                <a:ea typeface="Malgun Gothic"/>
                <a:cs typeface="Malgun Gothic"/>
                <a:sym typeface="Malgun Gothic"/>
              </a:rPr>
              <a:t>WiFi</a:t>
            </a:r>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while (</a:t>
            </a:r>
            <a:r>
              <a:rPr lang="en-US" sz="1200" b="0" i="0" u="none" strike="noStrike" cap="none" dirty="0" err="1">
                <a:solidFill>
                  <a:schemeClr val="dk1"/>
                </a:solidFill>
                <a:effectLst/>
                <a:latin typeface="Malgun Gothic"/>
                <a:ea typeface="Malgun Gothic"/>
                <a:cs typeface="Malgun Gothic"/>
                <a:sym typeface="Malgun Gothic"/>
              </a:rPr>
              <a:t>WiFi.status</a:t>
            </a:r>
            <a:r>
              <a:rPr lang="en-US" sz="1200" b="0" i="0" u="none" strike="noStrike" cap="none" dirty="0">
                <a:solidFill>
                  <a:schemeClr val="dk1"/>
                </a:solidFill>
                <a:effectLst/>
                <a:latin typeface="Malgun Gothic"/>
                <a:ea typeface="Malgun Gothic"/>
                <a:cs typeface="Malgun Gothic"/>
                <a:sym typeface="Malgun Gothic"/>
              </a:rPr>
              <a:t>() != WL_CONNECTED) {</a:t>
            </a:r>
          </a:p>
          <a:p>
            <a:r>
              <a:rPr lang="en-US" sz="1200" b="0" i="0" u="none" strike="noStrike" cap="none" dirty="0">
                <a:solidFill>
                  <a:schemeClr val="dk1"/>
                </a:solidFill>
                <a:effectLst/>
                <a:latin typeface="Malgun Gothic"/>
                <a:ea typeface="Malgun Gothic"/>
                <a:cs typeface="Malgun Gothic"/>
                <a:sym typeface="Malgun Gothic"/>
              </a:rPr>
              <a:t>    delay(500);</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nWiFi</a:t>
            </a:r>
            <a:r>
              <a:rPr lang="en-US" sz="1200" b="0" i="0" u="none" strike="noStrike" cap="none" dirty="0">
                <a:solidFill>
                  <a:schemeClr val="dk1"/>
                </a:solidFill>
                <a:effectLst/>
                <a:latin typeface="Malgun Gothic"/>
                <a:ea typeface="Malgun Gothic"/>
                <a:cs typeface="Malgun Gothic"/>
                <a:sym typeface="Malgun Gothic"/>
              </a:rPr>
              <a:t> Connected!");</a:t>
            </a:r>
          </a:p>
          <a:p>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void loop()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a:t>
            </a:r>
            <a:r>
              <a:rPr lang="en-US" sz="1200" b="0" i="0" u="none" strike="noStrike" cap="none" dirty="0" err="1">
                <a:solidFill>
                  <a:schemeClr val="dk1"/>
                </a:solidFill>
                <a:effectLst/>
                <a:latin typeface="Malgun Gothic"/>
                <a:ea typeface="Malgun Gothic"/>
                <a:cs typeface="Malgun Gothic"/>
                <a:sym typeface="Malgun Gothic"/>
              </a:rPr>
              <a:t>WiFi.status</a:t>
            </a:r>
            <a:r>
              <a:rPr lang="en-US" sz="1200" b="0" i="0" u="none" strike="noStrike" cap="none" dirty="0">
                <a:solidFill>
                  <a:schemeClr val="dk1"/>
                </a:solidFill>
                <a:effectLst/>
                <a:latin typeface="Malgun Gothic"/>
                <a:ea typeface="Malgun Gothic"/>
                <a:cs typeface="Malgun Gothic"/>
                <a:sym typeface="Malgun Gothic"/>
              </a:rPr>
              <a:t>() == WL_CONNECTED)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HTTPClient</a:t>
            </a:r>
            <a:r>
              <a:rPr lang="en-US" sz="1200" b="0" i="0" u="none" strike="noStrike" cap="none" dirty="0">
                <a:solidFill>
                  <a:schemeClr val="dk1"/>
                </a:solidFill>
                <a:effectLst/>
                <a:latin typeface="Malgun Gothic"/>
                <a:ea typeface="Malgun Gothic"/>
                <a:cs typeface="Malgun Gothic"/>
                <a:sym typeface="Malgun Gothic"/>
              </a:rPr>
              <a:t> http;</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a:t>
            </a:r>
            <a:r>
              <a:rPr lang="en-US" sz="1200" b="0" i="0" u="none" strike="noStrike" cap="none" dirty="0" err="1">
                <a:solidFill>
                  <a:schemeClr val="dk1"/>
                </a:solidFill>
                <a:effectLst/>
                <a:latin typeface="Malgun Gothic"/>
                <a:ea typeface="Malgun Gothic"/>
                <a:cs typeface="Malgun Gothic"/>
                <a:sym typeface="Malgun Gothic"/>
              </a:rPr>
              <a:t>url</a:t>
            </a:r>
            <a:r>
              <a:rPr lang="en-US" sz="1200" b="0" i="0" u="none" strike="noStrike" cap="none" dirty="0">
                <a:solidFill>
                  <a:schemeClr val="dk1"/>
                </a:solidFill>
                <a:effectLst/>
                <a:latin typeface="Malgun Gothic"/>
                <a:ea typeface="Malgun Gothic"/>
                <a:cs typeface="Malgun Gothic"/>
                <a:sym typeface="Malgun Gothic"/>
              </a:rPr>
              <a:t> = "https://io.adafruit.com/</a:t>
            </a:r>
            <a:r>
              <a:rPr lang="en-US" sz="1200" b="0" i="0" u="none" strike="noStrike" cap="none" dirty="0" err="1">
                <a:solidFill>
                  <a:schemeClr val="dk1"/>
                </a:solidFill>
                <a:effectLst/>
                <a:latin typeface="Malgun Gothic"/>
                <a:ea typeface="Malgun Gothic"/>
                <a:cs typeface="Malgun Gothic"/>
                <a:sym typeface="Malgun Gothic"/>
              </a:rPr>
              <a:t>api</a:t>
            </a:r>
            <a:r>
              <a:rPr lang="en-US" sz="1200" b="0" i="0" u="none" strike="noStrike" cap="none" dirty="0">
                <a:solidFill>
                  <a:schemeClr val="dk1"/>
                </a:solidFill>
                <a:effectLst/>
                <a:latin typeface="Malgun Gothic"/>
                <a:ea typeface="Malgun Gothic"/>
                <a:cs typeface="Malgun Gothic"/>
                <a:sym typeface="Malgun Gothic"/>
              </a:rPr>
              <a:t>/v2/" +</a:t>
            </a:r>
          </a:p>
          <a:p>
            <a:r>
              <a:rPr lang="en-US" sz="1200" b="0" i="0" u="none" strike="noStrike" cap="none" dirty="0">
                <a:solidFill>
                  <a:schemeClr val="dk1"/>
                </a:solidFill>
                <a:effectLst/>
                <a:latin typeface="Malgun Gothic"/>
                <a:ea typeface="Malgun Gothic"/>
                <a:cs typeface="Malgun Gothic"/>
                <a:sym typeface="Malgun Gothic"/>
              </a:rPr>
              <a:t>                 USERNAME + "/feeds/" + FEED + "/data/last";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http.begin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url</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http.addHeader</a:t>
            </a:r>
            <a:r>
              <a:rPr lang="en-US" sz="1200" b="0" i="0" u="none" strike="noStrike" cap="none" dirty="0">
                <a:solidFill>
                  <a:schemeClr val="dk1"/>
                </a:solidFill>
                <a:effectLst/>
                <a:latin typeface="Malgun Gothic"/>
                <a:ea typeface="Malgun Gothic"/>
                <a:cs typeface="Malgun Gothic"/>
                <a:sym typeface="Malgun Gothic"/>
              </a:rPr>
              <a:t>("X-AIO-Key", AIO_KEY);</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int code = </a:t>
            </a:r>
            <a:r>
              <a:rPr lang="en-US" sz="1200" b="0" i="0" u="none" strike="noStrike" cap="none" dirty="0" err="1">
                <a:solidFill>
                  <a:schemeClr val="dk1"/>
                </a:solidFill>
                <a:effectLst/>
                <a:latin typeface="Malgun Gothic"/>
                <a:ea typeface="Malgun Gothic"/>
                <a:cs typeface="Malgun Gothic"/>
                <a:sym typeface="Malgun Gothic"/>
              </a:rPr>
              <a:t>http.GET</a:t>
            </a:r>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(code == 200)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payload = </a:t>
            </a:r>
            <a:r>
              <a:rPr lang="en-US" sz="1200" b="0" i="0" u="none" strike="noStrike" cap="none" dirty="0" err="1">
                <a:solidFill>
                  <a:schemeClr val="dk1"/>
                </a:solidFill>
                <a:effectLst/>
                <a:latin typeface="Malgun Gothic"/>
                <a:ea typeface="Malgun Gothic"/>
                <a:cs typeface="Malgun Gothic"/>
                <a:sym typeface="Malgun Gothic"/>
              </a:rPr>
              <a:t>http.getString</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(payload);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DynamicJsonDocument doc(256);</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deserializeJson</a:t>
            </a:r>
            <a:r>
              <a:rPr lang="en-US" sz="1200" b="0" i="0" u="none" strike="noStrike" cap="none" dirty="0">
                <a:solidFill>
                  <a:schemeClr val="dk1"/>
                </a:solidFill>
                <a:effectLst/>
                <a:latin typeface="Malgun Gothic"/>
                <a:ea typeface="Malgun Gothic"/>
                <a:cs typeface="Malgun Gothic"/>
                <a:sym typeface="Malgun Gothic"/>
              </a:rPr>
              <a:t>(doc, payload);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value = doc["value"];</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("LED =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(value);</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(value == "1") {</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digitalWrite</a:t>
            </a:r>
            <a:r>
              <a:rPr lang="en-US" sz="1200" b="0" i="0" u="none" strike="noStrike" cap="none" dirty="0">
                <a:solidFill>
                  <a:schemeClr val="dk1"/>
                </a:solidFill>
                <a:effectLst/>
                <a:latin typeface="Malgun Gothic"/>
                <a:ea typeface="Malgun Gothic"/>
                <a:cs typeface="Malgun Gothic"/>
                <a:sym typeface="Malgun Gothic"/>
              </a:rPr>
              <a:t>(LED_PIN, HIGH);</a:t>
            </a:r>
          </a:p>
          <a:p>
            <a:r>
              <a:rPr lang="en-US" sz="1200" b="0" i="0" u="none" strike="noStrike" cap="none" dirty="0">
                <a:solidFill>
                  <a:schemeClr val="dk1"/>
                </a:solidFill>
                <a:effectLst/>
                <a:latin typeface="Malgun Gothic"/>
                <a:ea typeface="Malgun Gothic"/>
                <a:cs typeface="Malgun Gothic"/>
                <a:sym typeface="Malgun Gothic"/>
              </a:rPr>
              <a:t>      } else {</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digitalWrite</a:t>
            </a:r>
            <a:r>
              <a:rPr lang="en-US" sz="1200" b="0" i="0" u="none" strike="noStrike" cap="none" dirty="0">
                <a:solidFill>
                  <a:schemeClr val="dk1"/>
                </a:solidFill>
                <a:effectLst/>
                <a:latin typeface="Malgun Gothic"/>
                <a:ea typeface="Malgun Gothic"/>
                <a:cs typeface="Malgun Gothic"/>
                <a:sym typeface="Malgun Gothic"/>
              </a:rPr>
              <a:t>(LED_PIN, LOW);</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 else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("HTTP Error: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(code);</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http.end</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delay(3000);</a:t>
            </a:r>
          </a:p>
          <a:p>
            <a:r>
              <a:rPr lang="en-US" sz="1200" b="0" i="0" u="none" strike="noStrike" cap="none" dirty="0">
                <a:solidFill>
                  <a:schemeClr val="dk1"/>
                </a:solidFill>
                <a:effectLst/>
                <a:latin typeface="Malgun Gothic"/>
                <a:ea typeface="Malgun Gothic"/>
                <a:cs typeface="Malgun Gothic"/>
                <a:sym typeface="Malgun Gothic"/>
              </a:rPr>
              <a:t>}</a:t>
            </a:r>
          </a:p>
        </p:txBody>
      </p:sp>
      <p:sp>
        <p:nvSpPr>
          <p:cNvPr id="182" name="Google Shape;182;p5:notes">
            <a:extLst>
              <a:ext uri="{FF2B5EF4-FFF2-40B4-BE49-F238E27FC236}">
                <a16:creationId xmlns:a16="http://schemas.microsoft.com/office/drawing/2014/main" id="{6D47BC4C-26E1-9A4E-5AB0-0A811882F4E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92</a:t>
            </a:fld>
            <a:endParaRPr/>
          </a:p>
        </p:txBody>
      </p:sp>
    </p:spTree>
    <p:extLst>
      <p:ext uri="{BB962C8B-B14F-4D97-AF65-F5344CB8AC3E}">
        <p14:creationId xmlns:p14="http://schemas.microsoft.com/office/powerpoint/2010/main" val="38185890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A2194E2-92A3-495F-BBCF-9457E06C8AD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2F6EB23-B2E7-F9C1-F0DD-71BB011E7C1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08B7303-6242-325A-5F9F-1F250035284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WiFi.h</a:t>
            </a:r>
            <a:r>
              <a:rPr lang="en-US" sz="1200" b="0" i="0" u="none" strike="noStrike" cap="none" dirty="0">
                <a:solidFill>
                  <a:schemeClr val="dk1"/>
                </a:solidFill>
                <a:effectLst/>
                <a:latin typeface="Malgun Gothic"/>
                <a:ea typeface="Malgun Gothic"/>
                <a:cs typeface="Malgun Gothic"/>
                <a:sym typeface="Malgun Gothic"/>
              </a:rPr>
              <a:t>&gt;</a:t>
            </a:r>
          </a:p>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HTTPClient.h</a:t>
            </a:r>
            <a:r>
              <a:rPr lang="en-US" sz="1200" b="0" i="0" u="none" strike="noStrike" cap="none" dirty="0">
                <a:solidFill>
                  <a:schemeClr val="dk1"/>
                </a:solidFill>
                <a:effectLst/>
                <a:latin typeface="Malgun Gothic"/>
                <a:ea typeface="Malgun Gothic"/>
                <a:cs typeface="Malgun Gothic"/>
                <a:sym typeface="Malgun Gothic"/>
              </a:rPr>
              <a:t>&gt;</a:t>
            </a:r>
          </a:p>
          <a:p>
            <a:r>
              <a:rPr lang="en-US" sz="1200" b="0" i="0" u="none" strike="noStrike" cap="none" dirty="0">
                <a:solidFill>
                  <a:schemeClr val="dk1"/>
                </a:solidFill>
                <a:effectLst/>
                <a:latin typeface="Malgun Gothic"/>
                <a:ea typeface="Malgun Gothic"/>
                <a:cs typeface="Malgun Gothic"/>
                <a:sym typeface="Malgun Gothic"/>
              </a:rPr>
              <a:t>#include &lt;</a:t>
            </a:r>
            <a:r>
              <a:rPr lang="en-US" sz="1200" b="0" i="0" u="none" strike="noStrike" cap="none" dirty="0" err="1">
                <a:solidFill>
                  <a:schemeClr val="dk1"/>
                </a:solidFill>
                <a:effectLst/>
                <a:latin typeface="Malgun Gothic"/>
                <a:ea typeface="Malgun Gothic"/>
                <a:cs typeface="Malgun Gothic"/>
                <a:sym typeface="Malgun Gothic"/>
              </a:rPr>
              <a:t>ArduinoJson.h</a:t>
            </a:r>
            <a:r>
              <a:rPr lang="en-US" sz="1200" b="0" i="0" u="none" strike="noStrike" cap="none" dirty="0">
                <a:solidFill>
                  <a:schemeClr val="dk1"/>
                </a:solidFill>
                <a:effectLst/>
                <a:latin typeface="Malgun Gothic"/>
                <a:ea typeface="Malgun Gothic"/>
                <a:cs typeface="Malgun Gothic"/>
                <a:sym typeface="Malgun Gothic"/>
              </a:rPr>
              <a:t>&gt;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const char* </a:t>
            </a:r>
            <a:r>
              <a:rPr lang="en-US" sz="1200" b="0" i="0" u="none" strike="noStrike" cap="none" dirty="0" err="1">
                <a:solidFill>
                  <a:schemeClr val="dk1"/>
                </a:solidFill>
                <a:effectLst/>
                <a:latin typeface="Malgun Gothic"/>
                <a:ea typeface="Malgun Gothic"/>
                <a:cs typeface="Malgun Gothic"/>
                <a:sym typeface="Malgun Gothic"/>
              </a:rPr>
              <a:t>ssid</a:t>
            </a:r>
            <a:r>
              <a:rPr lang="en-US" sz="1200" b="0" i="0" u="none" strike="noStrike" cap="none" dirty="0">
                <a:solidFill>
                  <a:schemeClr val="dk1"/>
                </a:solidFill>
                <a:effectLst/>
                <a:latin typeface="Malgun Gothic"/>
                <a:ea typeface="Malgun Gothic"/>
                <a:cs typeface="Malgun Gothic"/>
                <a:sym typeface="Malgun Gothic"/>
              </a:rPr>
              <a:t> = "</a:t>
            </a:r>
            <a:r>
              <a:rPr lang="en-US" sz="1200" b="0" i="0" u="none" strike="noStrike" cap="none" dirty="0" err="1">
                <a:solidFill>
                  <a:schemeClr val="dk1"/>
                </a:solidFill>
                <a:effectLst/>
                <a:latin typeface="Malgun Gothic"/>
                <a:ea typeface="Malgun Gothic"/>
                <a:cs typeface="Malgun Gothic"/>
                <a:sym typeface="Malgun Gothic"/>
              </a:rPr>
              <a:t>Wokwi</a:t>
            </a:r>
            <a:r>
              <a:rPr lang="en-US" sz="1200" b="0" i="0" u="none" strike="noStrike" cap="none" dirty="0">
                <a:solidFill>
                  <a:schemeClr val="dk1"/>
                </a:solidFill>
                <a:effectLst/>
                <a:latin typeface="Malgun Gothic"/>
                <a:ea typeface="Malgun Gothic"/>
                <a:cs typeface="Malgun Gothic"/>
                <a:sym typeface="Malgun Gothic"/>
              </a:rPr>
              <a:t>-GUEST";</a:t>
            </a:r>
          </a:p>
          <a:p>
            <a:r>
              <a:rPr lang="en-US" sz="1200" b="0" i="0" u="none" strike="noStrike" cap="none" dirty="0">
                <a:solidFill>
                  <a:schemeClr val="dk1"/>
                </a:solidFill>
                <a:effectLst/>
                <a:latin typeface="Malgun Gothic"/>
                <a:ea typeface="Malgun Gothic"/>
                <a:cs typeface="Malgun Gothic"/>
                <a:sym typeface="Malgun Gothic"/>
              </a:rPr>
              <a:t>const char* password =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String USERNAME = "</a:t>
            </a:r>
            <a:r>
              <a:rPr lang="en-US" sz="1200" b="0" i="0" u="none" strike="noStrike" cap="none" dirty="0" err="1">
                <a:solidFill>
                  <a:schemeClr val="dk1"/>
                </a:solidFill>
                <a:effectLst/>
                <a:latin typeface="Malgun Gothic"/>
                <a:ea typeface="Malgun Gothic"/>
                <a:cs typeface="Malgun Gothic"/>
                <a:sym typeface="Malgun Gothic"/>
              </a:rPr>
              <a:t>PhuNguyenLe</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String AIO_KEY  = "aio_KKzd07YCBAadJAWBvhAasQ6wlOVM";   // </a:t>
            </a:r>
          </a:p>
          <a:p>
            <a:r>
              <a:rPr lang="en-US" sz="1200" b="0" i="0" u="none" strike="noStrike" cap="none" dirty="0">
                <a:solidFill>
                  <a:schemeClr val="dk1"/>
                </a:solidFill>
                <a:effectLst/>
                <a:latin typeface="Malgun Gothic"/>
                <a:ea typeface="Malgun Gothic"/>
                <a:cs typeface="Malgun Gothic"/>
                <a:sym typeface="Malgun Gothic"/>
              </a:rPr>
              <a:t>String FEED     = "led";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#define LED_PIN 2</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void setup()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.begin</a:t>
            </a:r>
            <a:r>
              <a:rPr lang="en-US" sz="1200" b="0" i="0" u="none" strike="noStrike" cap="none" dirty="0">
                <a:solidFill>
                  <a:schemeClr val="dk1"/>
                </a:solidFill>
                <a:effectLst/>
                <a:latin typeface="Malgun Gothic"/>
                <a:ea typeface="Malgun Gothic"/>
                <a:cs typeface="Malgun Gothic"/>
                <a:sym typeface="Malgun Gothic"/>
              </a:rPr>
              <a:t>(115200);</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pinMode</a:t>
            </a:r>
            <a:r>
              <a:rPr lang="en-US" sz="1200" b="0" i="0" u="none" strike="noStrike" cap="none" dirty="0">
                <a:solidFill>
                  <a:schemeClr val="dk1"/>
                </a:solidFill>
                <a:effectLst/>
                <a:latin typeface="Malgun Gothic"/>
                <a:ea typeface="Malgun Gothic"/>
                <a:cs typeface="Malgun Gothic"/>
                <a:sym typeface="Malgun Gothic"/>
              </a:rPr>
              <a:t>(LED_PIN, OUTPUT);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WiFi.begin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ssid</a:t>
            </a:r>
            <a:r>
              <a:rPr lang="en-US" sz="1200" b="0" i="0" u="none" strike="noStrike" cap="none" dirty="0">
                <a:solidFill>
                  <a:schemeClr val="dk1"/>
                </a:solidFill>
                <a:effectLst/>
                <a:latin typeface="Malgun Gothic"/>
                <a:ea typeface="Malgun Gothic"/>
                <a:cs typeface="Malgun Gothic"/>
                <a:sym typeface="Malgun Gothic"/>
              </a:rPr>
              <a:t>, password);</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("Connecting </a:t>
            </a:r>
            <a:r>
              <a:rPr lang="en-US" sz="1200" b="0" i="0" u="none" strike="noStrike" cap="none" dirty="0" err="1">
                <a:solidFill>
                  <a:schemeClr val="dk1"/>
                </a:solidFill>
                <a:effectLst/>
                <a:latin typeface="Malgun Gothic"/>
                <a:ea typeface="Malgun Gothic"/>
                <a:cs typeface="Malgun Gothic"/>
                <a:sym typeface="Malgun Gothic"/>
              </a:rPr>
              <a:t>WiFi</a:t>
            </a:r>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while (</a:t>
            </a:r>
            <a:r>
              <a:rPr lang="en-US" sz="1200" b="0" i="0" u="none" strike="noStrike" cap="none" dirty="0" err="1">
                <a:solidFill>
                  <a:schemeClr val="dk1"/>
                </a:solidFill>
                <a:effectLst/>
                <a:latin typeface="Malgun Gothic"/>
                <a:ea typeface="Malgun Gothic"/>
                <a:cs typeface="Malgun Gothic"/>
                <a:sym typeface="Malgun Gothic"/>
              </a:rPr>
              <a:t>WiFi.status</a:t>
            </a:r>
            <a:r>
              <a:rPr lang="en-US" sz="1200" b="0" i="0" u="none" strike="noStrike" cap="none" dirty="0">
                <a:solidFill>
                  <a:schemeClr val="dk1"/>
                </a:solidFill>
                <a:effectLst/>
                <a:latin typeface="Malgun Gothic"/>
                <a:ea typeface="Malgun Gothic"/>
                <a:cs typeface="Malgun Gothic"/>
                <a:sym typeface="Malgun Gothic"/>
              </a:rPr>
              <a:t>() != WL_CONNECTED) {</a:t>
            </a:r>
          </a:p>
          <a:p>
            <a:r>
              <a:rPr lang="en-US" sz="1200" b="0" i="0" u="none" strike="noStrike" cap="none" dirty="0">
                <a:solidFill>
                  <a:schemeClr val="dk1"/>
                </a:solidFill>
                <a:effectLst/>
                <a:latin typeface="Malgun Gothic"/>
                <a:ea typeface="Malgun Gothic"/>
                <a:cs typeface="Malgun Gothic"/>
                <a:sym typeface="Malgun Gothic"/>
              </a:rPr>
              <a:t>    delay(500);</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nWiFi</a:t>
            </a:r>
            <a:r>
              <a:rPr lang="en-US" sz="1200" b="0" i="0" u="none" strike="noStrike" cap="none" dirty="0">
                <a:solidFill>
                  <a:schemeClr val="dk1"/>
                </a:solidFill>
                <a:effectLst/>
                <a:latin typeface="Malgun Gothic"/>
                <a:ea typeface="Malgun Gothic"/>
                <a:cs typeface="Malgun Gothic"/>
                <a:sym typeface="Malgun Gothic"/>
              </a:rPr>
              <a:t> Connected!");</a:t>
            </a:r>
          </a:p>
          <a:p>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void loop()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a:t>
            </a:r>
            <a:r>
              <a:rPr lang="en-US" sz="1200" b="0" i="0" u="none" strike="noStrike" cap="none" dirty="0" err="1">
                <a:solidFill>
                  <a:schemeClr val="dk1"/>
                </a:solidFill>
                <a:effectLst/>
                <a:latin typeface="Malgun Gothic"/>
                <a:ea typeface="Malgun Gothic"/>
                <a:cs typeface="Malgun Gothic"/>
                <a:sym typeface="Malgun Gothic"/>
              </a:rPr>
              <a:t>WiFi.status</a:t>
            </a:r>
            <a:r>
              <a:rPr lang="en-US" sz="1200" b="0" i="0" u="none" strike="noStrike" cap="none" dirty="0">
                <a:solidFill>
                  <a:schemeClr val="dk1"/>
                </a:solidFill>
                <a:effectLst/>
                <a:latin typeface="Malgun Gothic"/>
                <a:ea typeface="Malgun Gothic"/>
                <a:cs typeface="Malgun Gothic"/>
                <a:sym typeface="Malgun Gothic"/>
              </a:rPr>
              <a:t>() == WL_CONNECTED)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HTTPClient</a:t>
            </a:r>
            <a:r>
              <a:rPr lang="en-US" sz="1200" b="0" i="0" u="none" strike="noStrike" cap="none" dirty="0">
                <a:solidFill>
                  <a:schemeClr val="dk1"/>
                </a:solidFill>
                <a:effectLst/>
                <a:latin typeface="Malgun Gothic"/>
                <a:ea typeface="Malgun Gothic"/>
                <a:cs typeface="Malgun Gothic"/>
                <a:sym typeface="Malgun Gothic"/>
              </a:rPr>
              <a:t> http;</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a:t>
            </a:r>
            <a:r>
              <a:rPr lang="en-US" sz="1200" b="0" i="0" u="none" strike="noStrike" cap="none" dirty="0" err="1">
                <a:solidFill>
                  <a:schemeClr val="dk1"/>
                </a:solidFill>
                <a:effectLst/>
                <a:latin typeface="Malgun Gothic"/>
                <a:ea typeface="Malgun Gothic"/>
                <a:cs typeface="Malgun Gothic"/>
                <a:sym typeface="Malgun Gothic"/>
              </a:rPr>
              <a:t>url</a:t>
            </a:r>
            <a:r>
              <a:rPr lang="en-US" sz="1200" b="0" i="0" u="none" strike="noStrike" cap="none" dirty="0">
                <a:solidFill>
                  <a:schemeClr val="dk1"/>
                </a:solidFill>
                <a:effectLst/>
                <a:latin typeface="Malgun Gothic"/>
                <a:ea typeface="Malgun Gothic"/>
                <a:cs typeface="Malgun Gothic"/>
                <a:sym typeface="Malgun Gothic"/>
              </a:rPr>
              <a:t> = "https://io.adafruit.com/</a:t>
            </a:r>
            <a:r>
              <a:rPr lang="en-US" sz="1200" b="0" i="0" u="none" strike="noStrike" cap="none" dirty="0" err="1">
                <a:solidFill>
                  <a:schemeClr val="dk1"/>
                </a:solidFill>
                <a:effectLst/>
                <a:latin typeface="Malgun Gothic"/>
                <a:ea typeface="Malgun Gothic"/>
                <a:cs typeface="Malgun Gothic"/>
                <a:sym typeface="Malgun Gothic"/>
              </a:rPr>
              <a:t>api</a:t>
            </a:r>
            <a:r>
              <a:rPr lang="en-US" sz="1200" b="0" i="0" u="none" strike="noStrike" cap="none" dirty="0">
                <a:solidFill>
                  <a:schemeClr val="dk1"/>
                </a:solidFill>
                <a:effectLst/>
                <a:latin typeface="Malgun Gothic"/>
                <a:ea typeface="Malgun Gothic"/>
                <a:cs typeface="Malgun Gothic"/>
                <a:sym typeface="Malgun Gothic"/>
              </a:rPr>
              <a:t>/v2/" +</a:t>
            </a:r>
          </a:p>
          <a:p>
            <a:r>
              <a:rPr lang="en-US" sz="1200" b="0" i="0" u="none" strike="noStrike" cap="none" dirty="0">
                <a:solidFill>
                  <a:schemeClr val="dk1"/>
                </a:solidFill>
                <a:effectLst/>
                <a:latin typeface="Malgun Gothic"/>
                <a:ea typeface="Malgun Gothic"/>
                <a:cs typeface="Malgun Gothic"/>
                <a:sym typeface="Malgun Gothic"/>
              </a:rPr>
              <a:t>                 USERNAME + "/feeds/" + FEED + "/data/last";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http.begin</a:t>
            </a:r>
            <a:r>
              <a:rPr lang="en-US" sz="1200" b="0" i="0" u="none" strike="noStrike" cap="none" dirty="0">
                <a:solidFill>
                  <a:schemeClr val="dk1"/>
                </a:solidFill>
                <a:effectLst/>
                <a:latin typeface="Malgun Gothic"/>
                <a:ea typeface="Malgun Gothic"/>
                <a:cs typeface="Malgun Gothic"/>
                <a:sym typeface="Malgun Gothic"/>
              </a:rPr>
              <a:t>(</a:t>
            </a:r>
            <a:r>
              <a:rPr lang="en-US" sz="1200" b="0" i="0" u="none" strike="noStrike" cap="none" dirty="0" err="1">
                <a:solidFill>
                  <a:schemeClr val="dk1"/>
                </a:solidFill>
                <a:effectLst/>
                <a:latin typeface="Malgun Gothic"/>
                <a:ea typeface="Malgun Gothic"/>
                <a:cs typeface="Malgun Gothic"/>
                <a:sym typeface="Malgun Gothic"/>
              </a:rPr>
              <a:t>url</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http.addHeader</a:t>
            </a:r>
            <a:r>
              <a:rPr lang="en-US" sz="1200" b="0" i="0" u="none" strike="noStrike" cap="none" dirty="0">
                <a:solidFill>
                  <a:schemeClr val="dk1"/>
                </a:solidFill>
                <a:effectLst/>
                <a:latin typeface="Malgun Gothic"/>
                <a:ea typeface="Malgun Gothic"/>
                <a:cs typeface="Malgun Gothic"/>
                <a:sym typeface="Malgun Gothic"/>
              </a:rPr>
              <a:t>("X-AIO-Key", AIO_KEY);</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int code = </a:t>
            </a:r>
            <a:r>
              <a:rPr lang="en-US" sz="1200" b="0" i="0" u="none" strike="noStrike" cap="none" dirty="0" err="1">
                <a:solidFill>
                  <a:schemeClr val="dk1"/>
                </a:solidFill>
                <a:effectLst/>
                <a:latin typeface="Malgun Gothic"/>
                <a:ea typeface="Malgun Gothic"/>
                <a:cs typeface="Malgun Gothic"/>
                <a:sym typeface="Malgun Gothic"/>
              </a:rPr>
              <a:t>http.GET</a:t>
            </a:r>
            <a:r>
              <a:rPr lang="en-US" sz="1200" b="0" i="0" u="none" strike="noStrike" cap="none" dirty="0">
                <a:solidFill>
                  <a:schemeClr val="dk1"/>
                </a:solidFill>
                <a:effectLst/>
                <a:latin typeface="Malgun Gothic"/>
                <a:ea typeface="Malgun Gothic"/>
                <a:cs typeface="Malgun Gothic"/>
                <a:sym typeface="Malgun Gothic"/>
              </a:rPr>
              <a:t>();</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(code == 200)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payload = </a:t>
            </a:r>
            <a:r>
              <a:rPr lang="en-US" sz="1200" b="0" i="0" u="none" strike="noStrike" cap="none" dirty="0" err="1">
                <a:solidFill>
                  <a:schemeClr val="dk1"/>
                </a:solidFill>
                <a:effectLst/>
                <a:latin typeface="Malgun Gothic"/>
                <a:ea typeface="Malgun Gothic"/>
                <a:cs typeface="Malgun Gothic"/>
                <a:sym typeface="Malgun Gothic"/>
              </a:rPr>
              <a:t>http.getString</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(payload);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DynamicJsonDocument doc(256);</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deserializeJson</a:t>
            </a:r>
            <a:r>
              <a:rPr lang="en-US" sz="1200" b="0" i="0" u="none" strike="noStrike" cap="none" dirty="0">
                <a:solidFill>
                  <a:schemeClr val="dk1"/>
                </a:solidFill>
                <a:effectLst/>
                <a:latin typeface="Malgun Gothic"/>
                <a:ea typeface="Malgun Gothic"/>
                <a:cs typeface="Malgun Gothic"/>
                <a:sym typeface="Malgun Gothic"/>
              </a:rPr>
              <a:t>(doc, payload);</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String value = doc["value"];</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("LED =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(value);</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if (value == "1") {</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digitalWrite</a:t>
            </a:r>
            <a:r>
              <a:rPr lang="en-US" sz="1200" b="0" i="0" u="none" strike="noStrike" cap="none" dirty="0">
                <a:solidFill>
                  <a:schemeClr val="dk1"/>
                </a:solidFill>
                <a:effectLst/>
                <a:latin typeface="Malgun Gothic"/>
                <a:ea typeface="Malgun Gothic"/>
                <a:cs typeface="Malgun Gothic"/>
                <a:sym typeface="Malgun Gothic"/>
              </a:rPr>
              <a:t>(LED_PIN, HIGH);</a:t>
            </a:r>
          </a:p>
          <a:p>
            <a:r>
              <a:rPr lang="en-US" sz="1200" b="0" i="0" u="none" strike="noStrike" cap="none" dirty="0">
                <a:solidFill>
                  <a:schemeClr val="dk1"/>
                </a:solidFill>
                <a:effectLst/>
                <a:latin typeface="Malgun Gothic"/>
                <a:ea typeface="Malgun Gothic"/>
                <a:cs typeface="Malgun Gothic"/>
                <a:sym typeface="Malgun Gothic"/>
              </a:rPr>
              <a:t>      } else {</a:t>
            </a: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digitalWrite</a:t>
            </a:r>
            <a:r>
              <a:rPr lang="en-US" sz="1200" b="0" i="0" u="none" strike="noStrike" cap="none" dirty="0">
                <a:solidFill>
                  <a:schemeClr val="dk1"/>
                </a:solidFill>
                <a:effectLst/>
                <a:latin typeface="Malgun Gothic"/>
                <a:ea typeface="Malgun Gothic"/>
                <a:cs typeface="Malgun Gothic"/>
                <a:sym typeface="Malgun Gothic"/>
              </a:rPr>
              <a:t>(LED_PIN, LOW);</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 else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a:t>
            </a:r>
            <a:r>
              <a:rPr lang="en-US" sz="1200" b="0" i="0" u="none" strike="noStrike" cap="none" dirty="0">
                <a:solidFill>
                  <a:schemeClr val="dk1"/>
                </a:solidFill>
                <a:effectLst/>
                <a:latin typeface="Malgun Gothic"/>
                <a:ea typeface="Malgun Gothic"/>
                <a:cs typeface="Malgun Gothic"/>
                <a:sym typeface="Malgun Gothic"/>
              </a:rPr>
              <a:t>("HTTP Error: ");</a:t>
            </a:r>
          </a:p>
          <a:p>
            <a:r>
              <a:rPr lang="en-US" sz="1200" b="0" i="0" u="none" strike="noStrike" cap="none" dirty="0">
                <a:solidFill>
                  <a:schemeClr val="dk1"/>
                </a:solidFill>
                <a:effectLst/>
                <a:latin typeface="Malgun Gothic"/>
                <a:ea typeface="Malgun Gothic"/>
                <a:cs typeface="Malgun Gothic"/>
                <a:sym typeface="Malgun Gothic"/>
              </a:rPr>
              <a:t>      </a:t>
            </a:r>
            <a:r>
              <a:rPr lang="en-US" sz="1200" b="1" i="0" u="none" strike="noStrike" cap="none" dirty="0" err="1">
                <a:solidFill>
                  <a:schemeClr val="dk1"/>
                </a:solidFill>
                <a:effectLst/>
                <a:latin typeface="Malgun Gothic"/>
                <a:ea typeface="Malgun Gothic"/>
                <a:cs typeface="Malgun Gothic"/>
                <a:sym typeface="Malgun Gothic"/>
              </a:rPr>
              <a:t>Serial</a:t>
            </a:r>
            <a:r>
              <a:rPr lang="en-US" sz="1200" b="0" i="0" u="none" strike="noStrike" cap="none" dirty="0" err="1">
                <a:solidFill>
                  <a:schemeClr val="dk1"/>
                </a:solidFill>
                <a:effectLst/>
                <a:latin typeface="Malgun Gothic"/>
                <a:ea typeface="Malgun Gothic"/>
                <a:cs typeface="Malgun Gothic"/>
                <a:sym typeface="Malgun Gothic"/>
              </a:rPr>
              <a:t>.println</a:t>
            </a:r>
            <a:r>
              <a:rPr lang="en-US" sz="1200" b="0" i="0" u="none" strike="noStrike" cap="none" dirty="0">
                <a:solidFill>
                  <a:schemeClr val="dk1"/>
                </a:solidFill>
                <a:effectLst/>
                <a:latin typeface="Malgun Gothic"/>
                <a:ea typeface="Malgun Gothic"/>
                <a:cs typeface="Malgun Gothic"/>
                <a:sym typeface="Malgun Gothic"/>
              </a:rPr>
              <a:t>(code);</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a:t>
            </a:r>
            <a:r>
              <a:rPr lang="en-US" sz="1200" b="0" i="0" u="none" strike="noStrike" cap="none" dirty="0" err="1">
                <a:solidFill>
                  <a:schemeClr val="dk1"/>
                </a:solidFill>
                <a:effectLst/>
                <a:latin typeface="Malgun Gothic"/>
                <a:ea typeface="Malgun Gothic"/>
                <a:cs typeface="Malgun Gothic"/>
                <a:sym typeface="Malgun Gothic"/>
              </a:rPr>
              <a:t>http.end</a:t>
            </a:r>
            <a:r>
              <a:rPr lang="en-US" sz="1200" b="0" i="0" u="none" strike="noStrike" cap="none" dirty="0">
                <a:solidFill>
                  <a:schemeClr val="dk1"/>
                </a:solidFill>
                <a:effectLst/>
                <a:latin typeface="Malgun Gothic"/>
                <a:ea typeface="Malgun Gothic"/>
                <a:cs typeface="Malgun Gothic"/>
                <a:sym typeface="Malgun Gothic"/>
              </a:rPr>
              <a:t>();</a:t>
            </a:r>
          </a:p>
          <a:p>
            <a:r>
              <a:rPr lang="en-US" sz="1200" b="0" i="0" u="none" strike="noStrike" cap="none" dirty="0">
                <a:solidFill>
                  <a:schemeClr val="dk1"/>
                </a:solidFill>
                <a:effectLst/>
                <a:latin typeface="Malgun Gothic"/>
                <a:ea typeface="Malgun Gothic"/>
                <a:cs typeface="Malgun Gothic"/>
                <a:sym typeface="Malgun Gothic"/>
              </a:rPr>
              <a:t>  }</a:t>
            </a:r>
          </a:p>
          <a:p>
            <a:br>
              <a:rPr lang="en-US" sz="1200" b="0" i="0" u="none" strike="noStrike" cap="none" dirty="0">
                <a:solidFill>
                  <a:schemeClr val="dk1"/>
                </a:solidFill>
                <a:effectLst/>
                <a:latin typeface="Malgun Gothic"/>
                <a:ea typeface="Malgun Gothic"/>
                <a:cs typeface="Malgun Gothic"/>
                <a:sym typeface="Malgun Gothic"/>
              </a:rPr>
            </a:br>
            <a:endParaRPr lang="en-US" sz="1200" b="0" i="0" u="none" strike="noStrike" cap="none" dirty="0">
              <a:solidFill>
                <a:schemeClr val="dk1"/>
              </a:solidFill>
              <a:effectLst/>
              <a:latin typeface="Malgun Gothic"/>
              <a:ea typeface="Malgun Gothic"/>
              <a:cs typeface="Malgun Gothic"/>
              <a:sym typeface="Malgun Gothic"/>
            </a:endParaRPr>
          </a:p>
          <a:p>
            <a:r>
              <a:rPr lang="en-US" sz="1200" b="0" i="0" u="none" strike="noStrike" cap="none" dirty="0">
                <a:solidFill>
                  <a:schemeClr val="dk1"/>
                </a:solidFill>
                <a:effectLst/>
                <a:latin typeface="Malgun Gothic"/>
                <a:ea typeface="Malgun Gothic"/>
                <a:cs typeface="Malgun Gothic"/>
                <a:sym typeface="Malgun Gothic"/>
              </a:rPr>
              <a:t>  delay(3000);</a:t>
            </a:r>
          </a:p>
          <a:p>
            <a:r>
              <a:rPr lang="en-US" sz="1200" b="0" i="0" u="none" strike="noStrike" cap="none" dirty="0">
                <a:solidFill>
                  <a:schemeClr val="dk1"/>
                </a:solidFill>
                <a:effectLst/>
                <a:latin typeface="Malgun Gothic"/>
                <a:ea typeface="Malgun Gothic"/>
                <a:cs typeface="Malgun Gothic"/>
                <a:sym typeface="Malgun Gothic"/>
              </a:rPr>
              <a:t>}</a:t>
            </a:r>
          </a:p>
        </p:txBody>
      </p:sp>
      <p:sp>
        <p:nvSpPr>
          <p:cNvPr id="182" name="Google Shape;182;p5:notes">
            <a:extLst>
              <a:ext uri="{FF2B5EF4-FFF2-40B4-BE49-F238E27FC236}">
                <a16:creationId xmlns:a16="http://schemas.microsoft.com/office/drawing/2014/main" id="{C7B61965-FED4-47AE-3841-933F1661260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93</a:t>
            </a:fld>
            <a:endParaRPr/>
          </a:p>
        </p:txBody>
      </p:sp>
    </p:spTree>
    <p:extLst>
      <p:ext uri="{BB962C8B-B14F-4D97-AF65-F5344CB8AC3E}">
        <p14:creationId xmlns:p14="http://schemas.microsoft.com/office/powerpoint/2010/main" val="1716343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및 내용">
  <p:cSld name="제목 및 내용">
    <p:spTree>
      <p:nvGrpSpPr>
        <p:cNvPr id="1" name="Shape 16"/>
        <p:cNvGrpSpPr/>
        <p:nvPr/>
      </p:nvGrpSpPr>
      <p:grpSpPr>
        <a:xfrm>
          <a:off x="0" y="0"/>
          <a:ext cx="0" cy="0"/>
          <a:chOff x="0" y="0"/>
          <a:chExt cx="0" cy="0"/>
        </a:xfrm>
      </p:grpSpPr>
      <p:cxnSp>
        <p:nvCxnSpPr>
          <p:cNvPr id="18" name="Google Shape;18;p238"/>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19" name="Google Shape;19;p238"/>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1"/>
        <p:cNvGrpSpPr/>
        <p:nvPr/>
      </p:nvGrpSpPr>
      <p:grpSpPr>
        <a:xfrm>
          <a:off x="0" y="0"/>
          <a:ext cx="0" cy="0"/>
          <a:chOff x="0" y="0"/>
          <a:chExt cx="0" cy="0"/>
        </a:xfrm>
      </p:grpSpPr>
      <p:cxnSp>
        <p:nvCxnSpPr>
          <p:cNvPr id="22" name="Google Shape;22;p239"/>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3" name="Google Shape;23;p239"/>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5" name="Google Shape;25;p239"/>
          <p:cNvSpPr txBox="1"/>
          <p:nvPr/>
        </p:nvSpPr>
        <p:spPr>
          <a:xfrm>
            <a:off x="5239512" y="6428750"/>
            <a:ext cx="3959795" cy="2769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4. </a:t>
            </a:r>
            <a:r>
              <a:rPr lang="en-US" sz="900" b="1" i="0" u="none" strike="noStrike" cap="none" dirty="0">
                <a:solidFill>
                  <a:schemeClr val="dk1"/>
                </a:solidFill>
                <a:latin typeface="Arial"/>
                <a:ea typeface="Arial"/>
                <a:cs typeface="Arial"/>
                <a:sym typeface="Arial"/>
              </a:rPr>
              <a:t>Công </a:t>
            </a:r>
            <a:r>
              <a:rPr lang="en-US" sz="900" b="1" i="0" u="none" strike="noStrike" cap="none" dirty="0" err="1">
                <a:solidFill>
                  <a:schemeClr val="dk1"/>
                </a:solidFill>
                <a:latin typeface="Arial"/>
                <a:ea typeface="Arial"/>
                <a:cs typeface="Arial"/>
                <a:sym typeface="Arial"/>
              </a:rPr>
              <a:t>nghệ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trí</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tuệ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nhân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tạo</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trong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ứng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dụng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endParaRPr lang="en-US" sz="900" dirty="0"/>
          </a:p>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p:cSld name="구역 머리글">
    <p:spTree>
      <p:nvGrpSpPr>
        <p:cNvPr id="1" name="Shape 26"/>
        <p:cNvGrpSpPr/>
        <p:nvPr/>
      </p:nvGrpSpPr>
      <p:grpSpPr>
        <a:xfrm>
          <a:off x="0" y="0"/>
          <a:ext cx="0" cy="0"/>
          <a:chOff x="0" y="0"/>
          <a:chExt cx="0" cy="0"/>
        </a:xfrm>
      </p:grpSpPr>
      <p:cxnSp>
        <p:nvCxnSpPr>
          <p:cNvPr id="28" name="Google Shape;28;p240"/>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29" name="Google Shape;29;p240"/>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 name="Google Shape;25;p239">
            <a:extLst>
              <a:ext uri="{FF2B5EF4-FFF2-40B4-BE49-F238E27FC236}">
                <a16:creationId xmlns:a16="http://schemas.microsoft.com/office/drawing/2014/main" id="{DC59FEC0-BEBA-458A-EB99-65BA572A78C8}"/>
              </a:ext>
            </a:extLst>
          </p:cNvPr>
          <p:cNvSpPr txBox="1"/>
          <p:nvPr userDrawn="1"/>
        </p:nvSpPr>
        <p:spPr>
          <a:xfrm>
            <a:off x="5239512" y="6428750"/>
            <a:ext cx="3959795" cy="2769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4. </a:t>
            </a:r>
            <a:r>
              <a:rPr lang="en-US" sz="900" b="1" i="0" u="none" strike="noStrike" cap="none" dirty="0">
                <a:solidFill>
                  <a:schemeClr val="dk1"/>
                </a:solidFill>
                <a:latin typeface="Arial"/>
                <a:ea typeface="Arial"/>
                <a:cs typeface="Arial"/>
                <a:sym typeface="Arial"/>
              </a:rPr>
              <a:t>Công </a:t>
            </a:r>
            <a:r>
              <a:rPr lang="en-US" sz="900" b="1" i="0" u="none" strike="noStrike" cap="none" dirty="0" err="1">
                <a:solidFill>
                  <a:schemeClr val="dk1"/>
                </a:solidFill>
                <a:latin typeface="Arial"/>
                <a:ea typeface="Arial"/>
                <a:cs typeface="Arial"/>
                <a:sym typeface="Arial"/>
              </a:rPr>
              <a:t>nghệ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trí</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tuệ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nhân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tạo</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trong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ứng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dụng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endParaRPr lang="en-US" sz="900" dirty="0"/>
          </a:p>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p:cSld name="콘텐츠 2개">
    <p:spTree>
      <p:nvGrpSpPr>
        <p:cNvPr id="1" name="Shape 32"/>
        <p:cNvGrpSpPr/>
        <p:nvPr/>
      </p:nvGrpSpPr>
      <p:grpSpPr>
        <a:xfrm>
          <a:off x="0" y="0"/>
          <a:ext cx="0" cy="0"/>
          <a:chOff x="0" y="0"/>
          <a:chExt cx="0" cy="0"/>
        </a:xfrm>
      </p:grpSpPr>
      <p:cxnSp>
        <p:nvCxnSpPr>
          <p:cNvPr id="34" name="Google Shape;34;p241"/>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35" name="Google Shape;35;p241"/>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2" name="Google Shape;25;p239">
            <a:extLst>
              <a:ext uri="{FF2B5EF4-FFF2-40B4-BE49-F238E27FC236}">
                <a16:creationId xmlns:a16="http://schemas.microsoft.com/office/drawing/2014/main" id="{159A6713-1D51-755F-454F-2E97843AFFC6}"/>
              </a:ext>
            </a:extLst>
          </p:cNvPr>
          <p:cNvSpPr txBox="1"/>
          <p:nvPr userDrawn="1"/>
        </p:nvSpPr>
        <p:spPr>
          <a:xfrm>
            <a:off x="5239512" y="6428750"/>
            <a:ext cx="3959795" cy="2769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4. </a:t>
            </a:r>
            <a:r>
              <a:rPr lang="en-US" sz="900" b="1" i="0" u="none" strike="noStrike" cap="none" dirty="0">
                <a:solidFill>
                  <a:schemeClr val="dk1"/>
                </a:solidFill>
                <a:latin typeface="Arial"/>
                <a:ea typeface="Arial"/>
                <a:cs typeface="Arial"/>
                <a:sym typeface="Arial"/>
              </a:rPr>
              <a:t>Công </a:t>
            </a:r>
            <a:r>
              <a:rPr lang="en-US" sz="900" b="1" i="0" u="none" strike="noStrike" cap="none" dirty="0" err="1">
                <a:solidFill>
                  <a:schemeClr val="dk1"/>
                </a:solidFill>
                <a:latin typeface="Arial"/>
                <a:ea typeface="Arial"/>
                <a:cs typeface="Arial"/>
                <a:sym typeface="Arial"/>
              </a:rPr>
              <a:t>nghệ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trí</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tuệ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nhân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tạo</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trong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ứng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dụng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endParaRPr lang="en-US" sz="900" dirty="0"/>
          </a:p>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p:cSld name="비교">
    <p:spTree>
      <p:nvGrpSpPr>
        <p:cNvPr id="1" name="Shape 47"/>
        <p:cNvGrpSpPr/>
        <p:nvPr/>
      </p:nvGrpSpPr>
      <p:grpSpPr>
        <a:xfrm>
          <a:off x="0" y="0"/>
          <a:ext cx="0" cy="0"/>
          <a:chOff x="0" y="0"/>
          <a:chExt cx="0" cy="0"/>
        </a:xfrm>
      </p:grpSpPr>
      <p:cxnSp>
        <p:nvCxnSpPr>
          <p:cNvPr id="48" name="Google Shape;48;p244"/>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244"/>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grpSp>
        <p:nvGrpSpPr>
          <p:cNvPr id="54" name="Google Shape;54;p244"/>
          <p:cNvGrpSpPr/>
          <p:nvPr/>
        </p:nvGrpSpPr>
        <p:grpSpPr>
          <a:xfrm>
            <a:off x="449999" y="1251375"/>
            <a:ext cx="9018001" cy="4993977"/>
            <a:chOff x="578678" y="1436153"/>
            <a:chExt cx="8748000" cy="4993977"/>
          </a:xfrm>
        </p:grpSpPr>
        <p:sp>
          <p:nvSpPr>
            <p:cNvPr id="55" name="Google Shape;55;p244"/>
            <p:cNvSpPr/>
            <p:nvPr/>
          </p:nvSpPr>
          <p:spPr>
            <a:xfrm>
              <a:off x="578678" y="1436153"/>
              <a:ext cx="8748000" cy="912275"/>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sp>
          <p:nvSpPr>
            <p:cNvPr id="56" name="Google Shape;56;p244"/>
            <p:cNvSpPr/>
            <p:nvPr/>
          </p:nvSpPr>
          <p:spPr>
            <a:xfrm>
              <a:off x="578678" y="2286000"/>
              <a:ext cx="8748000" cy="4144130"/>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grpSp>
      <p:sp>
        <p:nvSpPr>
          <p:cNvPr id="2" name="Google Shape;25;p239">
            <a:extLst>
              <a:ext uri="{FF2B5EF4-FFF2-40B4-BE49-F238E27FC236}">
                <a16:creationId xmlns:a16="http://schemas.microsoft.com/office/drawing/2014/main" id="{03BDA377-8AA8-22A5-7170-19A6BD6C83B1}"/>
              </a:ext>
            </a:extLst>
          </p:cNvPr>
          <p:cNvSpPr txBox="1"/>
          <p:nvPr userDrawn="1"/>
        </p:nvSpPr>
        <p:spPr>
          <a:xfrm>
            <a:off x="5239512" y="6428750"/>
            <a:ext cx="3959795" cy="2769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4. </a:t>
            </a:r>
            <a:r>
              <a:rPr lang="en-US" sz="900" b="1" i="0" u="none" strike="noStrike" cap="none" dirty="0">
                <a:solidFill>
                  <a:schemeClr val="dk1"/>
                </a:solidFill>
                <a:latin typeface="Arial"/>
                <a:ea typeface="Arial"/>
                <a:cs typeface="Arial"/>
                <a:sym typeface="Arial"/>
              </a:rPr>
              <a:t>Công </a:t>
            </a:r>
            <a:r>
              <a:rPr lang="en-US" sz="900" b="1" i="0" u="none" strike="noStrike" cap="none" dirty="0" err="1">
                <a:solidFill>
                  <a:schemeClr val="dk1"/>
                </a:solidFill>
                <a:latin typeface="Arial"/>
                <a:ea typeface="Arial"/>
                <a:cs typeface="Arial"/>
                <a:sym typeface="Arial"/>
              </a:rPr>
              <a:t>nghệ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trí</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tuệ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nhân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tạo</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trong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ứng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dụng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endParaRPr lang="en-US" sz="900" dirty="0"/>
          </a:p>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iz">
  <p:cSld name="Quiz">
    <p:spTree>
      <p:nvGrpSpPr>
        <p:cNvPr id="1" name="Shape 115"/>
        <p:cNvGrpSpPr/>
        <p:nvPr/>
      </p:nvGrpSpPr>
      <p:grpSpPr>
        <a:xfrm>
          <a:off x="0" y="0"/>
          <a:ext cx="0" cy="0"/>
          <a:chOff x="0" y="0"/>
          <a:chExt cx="0" cy="0"/>
        </a:xfrm>
      </p:grpSpPr>
      <p:sp>
        <p:nvSpPr>
          <p:cNvPr id="116" name="Google Shape;116;p247"/>
          <p:cNvSpPr/>
          <p:nvPr/>
        </p:nvSpPr>
        <p:spPr>
          <a:xfrm>
            <a:off x="451162" y="1220478"/>
            <a:ext cx="8999020" cy="811746"/>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7" name="Google Shape;117;p247"/>
          <p:cNvSpPr/>
          <p:nvPr/>
        </p:nvSpPr>
        <p:spPr>
          <a:xfrm>
            <a:off x="451162" y="2070324"/>
            <a:ext cx="8999020" cy="4231864"/>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8" name="Google Shape;118;p247"/>
          <p:cNvSpPr/>
          <p:nvPr/>
        </p:nvSpPr>
        <p:spPr>
          <a:xfrm>
            <a:off x="646276" y="1415780"/>
            <a:ext cx="1059197"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99" b="1" i="0">
                <a:solidFill>
                  <a:srgbClr val="0D0D0D"/>
                </a:solidFill>
                <a:latin typeface="Arial"/>
                <a:ea typeface="Arial"/>
                <a:cs typeface="Arial"/>
                <a:sym typeface="Arial"/>
              </a:rPr>
              <a:t>Q1.</a:t>
            </a:r>
            <a:endParaRPr/>
          </a:p>
        </p:txBody>
      </p:sp>
      <p:pic>
        <p:nvPicPr>
          <p:cNvPr id="119" name="Google Shape;119;p247"/>
          <p:cNvPicPr preferRelativeResize="0"/>
          <p:nvPr/>
        </p:nvPicPr>
        <p:blipFill rotWithShape="1">
          <a:blip r:embed="rId2">
            <a:alphaModFix/>
          </a:blip>
          <a:srcRect/>
          <a:stretch/>
        </p:blipFill>
        <p:spPr>
          <a:xfrm>
            <a:off x="802139" y="5406365"/>
            <a:ext cx="112868" cy="109719"/>
          </a:xfrm>
          <a:prstGeom prst="rect">
            <a:avLst/>
          </a:prstGeom>
          <a:noFill/>
          <a:ln>
            <a:noFill/>
          </a:ln>
        </p:spPr>
      </p:pic>
      <p:cxnSp>
        <p:nvCxnSpPr>
          <p:cNvPr id="120" name="Google Shape;120;p24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1" name="Google Shape;121;p24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2" name="Google Shape;25;p239">
            <a:extLst>
              <a:ext uri="{FF2B5EF4-FFF2-40B4-BE49-F238E27FC236}">
                <a16:creationId xmlns:a16="http://schemas.microsoft.com/office/drawing/2014/main" id="{623D0C91-15B9-7A7D-300F-FA97CFC5B509}"/>
              </a:ext>
            </a:extLst>
          </p:cNvPr>
          <p:cNvSpPr txBox="1"/>
          <p:nvPr userDrawn="1"/>
        </p:nvSpPr>
        <p:spPr>
          <a:xfrm>
            <a:off x="5239512" y="6428750"/>
            <a:ext cx="3959795" cy="2769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4. </a:t>
            </a:r>
            <a:r>
              <a:rPr lang="en-US" sz="900" b="1" i="0" u="none" strike="noStrike" cap="none" dirty="0">
                <a:solidFill>
                  <a:schemeClr val="dk1"/>
                </a:solidFill>
                <a:latin typeface="Arial"/>
                <a:ea typeface="Arial"/>
                <a:cs typeface="Arial"/>
                <a:sym typeface="Arial"/>
              </a:rPr>
              <a:t>Công </a:t>
            </a:r>
            <a:r>
              <a:rPr lang="en-US" sz="900" b="1" i="0" u="none" strike="noStrike" cap="none" dirty="0" err="1">
                <a:solidFill>
                  <a:schemeClr val="dk1"/>
                </a:solidFill>
                <a:latin typeface="Arial"/>
                <a:ea typeface="Arial"/>
                <a:cs typeface="Arial"/>
                <a:sym typeface="Arial"/>
              </a:rPr>
              <a:t>nghệ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trí</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tuệ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nhân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tạo</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trong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ứng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dụng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endParaRPr lang="en-US" sz="900" dirty="0"/>
          </a:p>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endParaRPr lang="en-US" sz="9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127"/>
        <p:cNvGrpSpPr/>
        <p:nvPr/>
      </p:nvGrpSpPr>
      <p:grpSpPr>
        <a:xfrm>
          <a:off x="0" y="0"/>
          <a:ext cx="0" cy="0"/>
          <a:chOff x="0" y="0"/>
          <a:chExt cx="0" cy="0"/>
        </a:xfrm>
      </p:grpSpPr>
      <p:cxnSp>
        <p:nvCxnSpPr>
          <p:cNvPr id="128" name="Google Shape;128;p248"/>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p248"/>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cxnSp>
        <p:nvCxnSpPr>
          <p:cNvPr id="131" name="Google Shape;131;p248"/>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2" name="Google Shape;25;p239">
            <a:extLst>
              <a:ext uri="{FF2B5EF4-FFF2-40B4-BE49-F238E27FC236}">
                <a16:creationId xmlns:a16="http://schemas.microsoft.com/office/drawing/2014/main" id="{60FD056E-6233-D390-DDEE-AEC368157EB3}"/>
              </a:ext>
            </a:extLst>
          </p:cNvPr>
          <p:cNvSpPr txBox="1"/>
          <p:nvPr userDrawn="1"/>
        </p:nvSpPr>
        <p:spPr>
          <a:xfrm>
            <a:off x="5239512" y="6428750"/>
            <a:ext cx="3959795" cy="2769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4. </a:t>
            </a:r>
            <a:r>
              <a:rPr lang="en-US" sz="900" b="1" i="0" u="none" strike="noStrike" cap="none" dirty="0">
                <a:solidFill>
                  <a:schemeClr val="dk1"/>
                </a:solidFill>
                <a:latin typeface="Arial"/>
                <a:ea typeface="Arial"/>
                <a:cs typeface="Arial"/>
                <a:sym typeface="Arial"/>
              </a:rPr>
              <a:t>Công </a:t>
            </a:r>
            <a:r>
              <a:rPr lang="en-US" sz="900" b="1" i="0" u="none" strike="noStrike" cap="none" dirty="0" err="1">
                <a:solidFill>
                  <a:schemeClr val="dk1"/>
                </a:solidFill>
                <a:latin typeface="Arial"/>
                <a:ea typeface="Arial"/>
                <a:cs typeface="Arial"/>
                <a:sym typeface="Arial"/>
              </a:rPr>
              <a:t>nghệ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trí</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tuệ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nhân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tạo</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trong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ứng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dụng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kết</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nối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vạn</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vật</a:t>
            </a:r>
            <a:endParaRPr lang="en-US" sz="900" dirty="0"/>
          </a:p>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236"/>
          <p:cNvSpPr txBox="1">
            <a:spLocks noGrp="1"/>
          </p:cNvSpPr>
          <p:nvPr>
            <p:ph type="title"/>
          </p:nvPr>
        </p:nvSpPr>
        <p:spPr>
          <a:xfrm>
            <a:off x="681038" y="365125"/>
            <a:ext cx="854075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36"/>
          <p:cNvSpPr txBox="1">
            <a:spLocks noGrp="1"/>
          </p:cNvSpPr>
          <p:nvPr>
            <p:ph type="body" idx="1"/>
          </p:nvPr>
        </p:nvSpPr>
        <p:spPr>
          <a:xfrm>
            <a:off x="681038" y="1825625"/>
            <a:ext cx="85407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9" name="Google Shape;9;p236"/>
          <p:cNvSpPr txBox="1">
            <a:spLocks noGrp="1"/>
          </p:cNvSpPr>
          <p:nvPr>
            <p:ph type="dt" idx="10"/>
          </p:nvPr>
        </p:nvSpPr>
        <p:spPr>
          <a:xfrm>
            <a:off x="681038" y="6356350"/>
            <a:ext cx="2227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0" name="Google Shape;10;p236"/>
          <p:cNvSpPr txBox="1">
            <a:spLocks noGrp="1"/>
          </p:cNvSpPr>
          <p:nvPr>
            <p:ph type="ftr" idx="11"/>
          </p:nvPr>
        </p:nvSpPr>
        <p:spPr>
          <a:xfrm>
            <a:off x="3279775" y="6356350"/>
            <a:ext cx="3343275"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1" name="Google Shape;11;p236"/>
          <p:cNvSpPr txBox="1">
            <a:spLocks noGrp="1"/>
          </p:cNvSpPr>
          <p:nvPr>
            <p:ph type="sldNum" idx="12"/>
          </p:nvPr>
        </p:nvSpPr>
        <p:spPr>
          <a:xfrm>
            <a:off x="6994525" y="6356350"/>
            <a:ext cx="222726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6" r:id="rId5"/>
    <p:sldLayoutId id="2147483659" r:id="rId6"/>
    <p:sldLayoutId id="214748366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2"/>
          <p:cNvGrpSpPr/>
          <p:nvPr/>
        </p:nvGrpSpPr>
        <p:grpSpPr>
          <a:xfrm>
            <a:off x="732970" y="2724996"/>
            <a:ext cx="8863093" cy="1808931"/>
            <a:chOff x="720000" y="2070000"/>
            <a:chExt cx="6700038" cy="1808931"/>
          </a:xfrm>
        </p:grpSpPr>
        <p:sp>
          <p:nvSpPr>
            <p:cNvPr id="150" name="Google Shape;150;p2"/>
            <p:cNvSpPr/>
            <p:nvPr/>
          </p:nvSpPr>
          <p:spPr>
            <a:xfrm>
              <a:off x="990000" y="2524714"/>
              <a:ext cx="6430038"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400" b="1" i="0" u="none" strike="noStrike" cap="none" dirty="0">
                  <a:solidFill>
                    <a:schemeClr val="dk1"/>
                  </a:solidFill>
                  <a:latin typeface="Arial"/>
                  <a:ea typeface="Arial"/>
                  <a:cs typeface="Arial"/>
                  <a:sym typeface="Arial"/>
                </a:rPr>
                <a:t>Công </a:t>
              </a:r>
              <a:r>
                <a:rPr lang="en-US" sz="4400" b="1" i="0" u="none" strike="noStrike" cap="none" dirty="0" err="1">
                  <a:solidFill>
                    <a:schemeClr val="dk1"/>
                  </a:solidFill>
                  <a:latin typeface="Arial"/>
                  <a:ea typeface="Arial"/>
                  <a:cs typeface="Arial"/>
                  <a:sym typeface="Arial"/>
                </a:rPr>
                <a:t>nghệ</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trí</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tuệ</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nhân</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tạo</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trong</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ứng</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dụng</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kết</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nối</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vạn</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vật</a:t>
              </a:r>
              <a:endParaRPr dirty="0"/>
            </a:p>
          </p:txBody>
        </p:sp>
        <p:sp>
          <p:nvSpPr>
            <p:cNvPr id="152" name="Google Shape;152;p2"/>
            <p:cNvSpPr/>
            <p:nvPr/>
          </p:nvSpPr>
          <p:spPr>
            <a:xfrm>
              <a:off x="990000" y="2070000"/>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dirty="0">
                  <a:solidFill>
                    <a:srgbClr val="7F7F7F"/>
                  </a:solidFill>
                  <a:latin typeface="Arial"/>
                  <a:ea typeface="Arial"/>
                  <a:cs typeface="Arial"/>
                  <a:sym typeface="Arial"/>
                </a:rPr>
                <a:t>CHƯƠNG 3. </a:t>
              </a:r>
              <a:endParaRPr sz="5400" b="1" i="0" u="none" strike="noStrike" cap="none" dirty="0">
                <a:solidFill>
                  <a:srgbClr val="7F7F7F"/>
                </a:solidFill>
                <a:latin typeface="Arial"/>
                <a:ea typeface="Arial"/>
                <a:cs typeface="Arial"/>
                <a:sym typeface="Arial"/>
              </a:endParaRPr>
            </a:p>
          </p:txBody>
        </p:sp>
        <p:sp>
          <p:nvSpPr>
            <p:cNvPr id="153" name="Google Shape;153;p2"/>
            <p:cNvSpPr/>
            <p:nvPr/>
          </p:nvSpPr>
          <p:spPr>
            <a:xfrm>
              <a:off x="720000" y="2095275"/>
              <a:ext cx="60008" cy="118618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pSp>
        <p:nvGrpSpPr>
          <p:cNvPr id="160" name="Google Shape;160;p3"/>
          <p:cNvGrpSpPr/>
          <p:nvPr/>
        </p:nvGrpSpPr>
        <p:grpSpPr>
          <a:xfrm>
            <a:off x="449856" y="450955"/>
            <a:ext cx="8999458" cy="369214"/>
            <a:chOff x="450000" y="450000"/>
            <a:chExt cx="9002343" cy="369332"/>
          </a:xfrm>
        </p:grpSpPr>
        <p:sp>
          <p:nvSpPr>
            <p:cNvPr id="161" name="Google Shape;161;p3"/>
            <p:cNvSpPr/>
            <p:nvPr/>
          </p:nvSpPr>
          <p:spPr>
            <a:xfrm>
              <a:off x="450000" y="450000"/>
              <a:ext cx="878522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93EB0"/>
                  </a:solidFill>
                  <a:latin typeface="Arial"/>
                  <a:ea typeface="Arial"/>
                  <a:cs typeface="Arial"/>
                  <a:sym typeface="Arial"/>
                </a:rPr>
                <a:t>Mô tả chương</a:t>
              </a:r>
              <a:endParaRPr sz="2400" b="1">
                <a:solidFill>
                  <a:srgbClr val="193EB0"/>
                </a:solidFill>
                <a:latin typeface="Arial"/>
                <a:ea typeface="Arial"/>
                <a:cs typeface="Arial"/>
                <a:sym typeface="Arial"/>
              </a:endParaRPr>
            </a:p>
          </p:txBody>
        </p:sp>
        <p:cxnSp>
          <p:nvCxnSpPr>
            <p:cNvPr id="162" name="Google Shape;162;p3"/>
            <p:cNvCxnSpPr/>
            <p:nvPr/>
          </p:nvCxnSpPr>
          <p:spPr>
            <a:xfrm>
              <a:off x="3593437" y="630000"/>
              <a:ext cx="5858906" cy="0"/>
            </a:xfrm>
            <a:prstGeom prst="straightConnector1">
              <a:avLst/>
            </a:prstGeom>
            <a:noFill/>
            <a:ln w="12700" cap="flat" cmpd="sng">
              <a:solidFill>
                <a:srgbClr val="1428A0"/>
              </a:solidFill>
              <a:prstDash val="solid"/>
              <a:miter lim="800000"/>
              <a:headEnd type="none" w="sm" len="sm"/>
              <a:tailEnd type="none" w="sm" len="sm"/>
            </a:ln>
          </p:spPr>
        </p:cxnSp>
      </p:grpSp>
      <p:sp>
        <p:nvSpPr>
          <p:cNvPr id="163" name="Google Shape;163;p3"/>
          <p:cNvSpPr/>
          <p:nvPr/>
        </p:nvSpPr>
        <p:spPr>
          <a:xfrm>
            <a:off x="710975" y="1619179"/>
            <a:ext cx="8630058" cy="1290985"/>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marR="0" lvl="0" indent="-285664" algn="l" rtl="0">
              <a:spcBef>
                <a:spcPts val="0"/>
              </a:spcBef>
              <a:spcAft>
                <a:spcPts val="0"/>
              </a:spcAft>
              <a:buClr>
                <a:srgbClr val="A5A5A5"/>
              </a:buClr>
              <a:buSzPts val="1300"/>
              <a:buFont typeface="Noto Sans Symbols"/>
              <a:buChar char="✔"/>
            </a:pPr>
            <a:r>
              <a:rPr lang="vi-VN" sz="1300" dirty="0">
                <a:solidFill>
                  <a:srgbClr val="262626"/>
                </a:solidFill>
                <a:latin typeface="Arial"/>
                <a:ea typeface="Arial"/>
                <a:cs typeface="Arial"/>
                <a:sym typeface="Arial"/>
              </a:rPr>
              <a:t>Chương này trình bày tổng quan về trí tuệ nhân tạo, các khái niệm cơ bản của học máy và học sâu trong hệ thống Internet of Things. Đồng thời giới thiệu cách xây dựng mô hình “bộ não nhân tạo” bằng Google Teachable Machine và các nền tảng triển khai phù hợp. Qua đó làm rõ phương pháp tích hợp trí tuệ nhân tạo vào ứng dụng IoT nhằm tạo ra các hệ thống thông minh có khả năng phân tích dữ liệu và tự động ra quyết định.</a:t>
            </a:r>
            <a:endParaRPr dirty="0"/>
          </a:p>
        </p:txBody>
      </p:sp>
      <p:grpSp>
        <p:nvGrpSpPr>
          <p:cNvPr id="164" name="Google Shape;164;p3"/>
          <p:cNvGrpSpPr/>
          <p:nvPr/>
        </p:nvGrpSpPr>
        <p:grpSpPr>
          <a:xfrm>
            <a:off x="441605" y="1288351"/>
            <a:ext cx="8899428" cy="233692"/>
            <a:chOff x="441747" y="1714333"/>
            <a:chExt cx="8902281" cy="233767"/>
          </a:xfrm>
        </p:grpSpPr>
        <p:sp>
          <p:nvSpPr>
            <p:cNvPr id="165" name="Google Shape;165;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262626"/>
                  </a:solidFill>
                  <a:latin typeface="Arial"/>
                  <a:ea typeface="Arial"/>
                  <a:cs typeface="Arial"/>
                  <a:sym typeface="Arial"/>
                </a:rPr>
                <a:t>Mục tiêu của chương</a:t>
              </a:r>
              <a:endParaRPr sz="1400">
                <a:solidFill>
                  <a:srgbClr val="262626"/>
                </a:solidFill>
                <a:latin typeface="Arial"/>
                <a:ea typeface="Arial"/>
                <a:cs typeface="Arial"/>
                <a:sym typeface="Arial"/>
              </a:endParaRPr>
            </a:p>
          </p:txBody>
        </p:sp>
        <p:sp>
          <p:nvSpPr>
            <p:cNvPr id="166" name="Google Shape;166;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grpSp>
        <p:nvGrpSpPr>
          <p:cNvPr id="167" name="Google Shape;167;p3"/>
          <p:cNvGrpSpPr/>
          <p:nvPr/>
        </p:nvGrpSpPr>
        <p:grpSpPr>
          <a:xfrm>
            <a:off x="449856" y="2973773"/>
            <a:ext cx="8899428" cy="233692"/>
            <a:chOff x="441747" y="1714333"/>
            <a:chExt cx="8902281" cy="233767"/>
          </a:xfrm>
        </p:grpSpPr>
        <p:sp>
          <p:nvSpPr>
            <p:cNvPr id="168" name="Google Shape;168;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262626"/>
                  </a:solidFill>
                  <a:latin typeface="Arial"/>
                  <a:ea typeface="Arial"/>
                  <a:cs typeface="Arial"/>
                  <a:sym typeface="Arial"/>
                </a:rPr>
                <a:t>Nội dung của chương</a:t>
              </a:r>
              <a:endParaRPr sz="1400" b="1">
                <a:solidFill>
                  <a:srgbClr val="262626"/>
                </a:solidFill>
                <a:latin typeface="Arial"/>
                <a:ea typeface="Arial"/>
                <a:cs typeface="Arial"/>
                <a:sym typeface="Arial"/>
              </a:endParaRPr>
            </a:p>
          </p:txBody>
        </p:sp>
        <p:sp>
          <p:nvSpPr>
            <p:cNvPr id="169" name="Google Shape;169;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sp>
        <p:nvSpPr>
          <p:cNvPr id="170" name="Google Shape;170;p3"/>
          <p:cNvSpPr/>
          <p:nvPr/>
        </p:nvSpPr>
        <p:spPr>
          <a:xfrm>
            <a:off x="710974" y="3278558"/>
            <a:ext cx="8630058" cy="1290985"/>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lvl="0" indent="-285664">
              <a:buClr>
                <a:srgbClr val="A5A5A5"/>
              </a:buClr>
              <a:buSzPts val="1300"/>
              <a:buFont typeface="Noto Sans Symbols"/>
              <a:buChar char="✔"/>
            </a:pPr>
            <a:r>
              <a:rPr lang="vi-VN" sz="1300" dirty="0">
                <a:solidFill>
                  <a:srgbClr val="262626"/>
                </a:solidFill>
              </a:rPr>
              <a:t>1</a:t>
            </a:r>
            <a:r>
              <a:rPr lang="en-US" sz="1300" dirty="0">
                <a:solidFill>
                  <a:srgbClr val="262626"/>
                </a:solidFill>
              </a:rPr>
              <a:t>. </a:t>
            </a:r>
            <a:r>
              <a:rPr lang="vi-VN" sz="1300" dirty="0">
                <a:solidFill>
                  <a:srgbClr val="262626"/>
                </a:solidFill>
              </a:rPr>
              <a:t>Giới thiệu tổng quan về trí tuệ nhân tạo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2</a:t>
            </a:r>
            <a:r>
              <a:rPr lang="en-US" sz="1300" dirty="0">
                <a:solidFill>
                  <a:srgbClr val="262626"/>
                </a:solidFill>
              </a:rPr>
              <a:t>. </a:t>
            </a:r>
            <a:r>
              <a:rPr lang="vi-VN" sz="1300" dirty="0">
                <a:solidFill>
                  <a:srgbClr val="262626"/>
                </a:solidFill>
              </a:rPr>
              <a:t>Học máy và Học sâu</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3</a:t>
            </a:r>
            <a:r>
              <a:rPr lang="en-US" sz="1300" dirty="0">
                <a:solidFill>
                  <a:srgbClr val="262626"/>
                </a:solidFill>
              </a:rPr>
              <a:t>. </a:t>
            </a:r>
            <a:r>
              <a:rPr lang="vi-VN" sz="1300" dirty="0">
                <a:solidFill>
                  <a:srgbClr val="262626"/>
                </a:solidFill>
              </a:rPr>
              <a:t>Xây dựng bộ não nhân tạo dựa trên Google Teachable Machine</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4</a:t>
            </a:r>
            <a:r>
              <a:rPr lang="en-US" sz="1300" dirty="0">
                <a:solidFill>
                  <a:srgbClr val="262626"/>
                </a:solidFill>
              </a:rPr>
              <a:t>. </a:t>
            </a:r>
            <a:r>
              <a:rPr lang="vi-VN" sz="1300" dirty="0">
                <a:solidFill>
                  <a:srgbClr val="262626"/>
                </a:solidFill>
              </a:rPr>
              <a:t>Các nền tảng hiện thực tối ưu cho Google Teachable Machine </a:t>
            </a:r>
            <a:endParaRPr lang="en-US" sz="1300" dirty="0">
              <a:solidFill>
                <a:srgbClr val="262626"/>
              </a:solidFill>
            </a:endParaRPr>
          </a:p>
          <a:p>
            <a:pPr marL="285664" lvl="0" indent="-285664">
              <a:buClr>
                <a:srgbClr val="A5A5A5"/>
              </a:buClr>
              <a:buSzPts val="1300"/>
              <a:buFont typeface="Noto Sans Symbols"/>
              <a:buChar char="✔"/>
            </a:pPr>
            <a:r>
              <a:rPr lang="vi-VN" sz="1300" dirty="0">
                <a:solidFill>
                  <a:srgbClr val="262626"/>
                </a:solidFill>
              </a:rPr>
              <a:t>5</a:t>
            </a:r>
            <a:r>
              <a:rPr lang="en-US" sz="1300" dirty="0">
                <a:solidFill>
                  <a:srgbClr val="262626"/>
                </a:solidFill>
              </a:rPr>
              <a:t>. </a:t>
            </a:r>
            <a:r>
              <a:rPr lang="vi-VN" sz="1300" dirty="0">
                <a:solidFill>
                  <a:srgbClr val="262626"/>
                </a:solidFill>
              </a:rPr>
              <a:t>Phương pháp tích hợp trí tuệ nhân tạo vào ứng dụng kết nối vạn vật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4"/>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rgbClr val="3F3F3F"/>
                </a:solidFill>
                <a:latin typeface="Arial"/>
                <a:ea typeface="Arial"/>
                <a:cs typeface="Arial"/>
                <a:sym typeface="Arial"/>
              </a:rPr>
              <a:t>1.1. </a:t>
            </a:r>
            <a:r>
              <a:rPr lang="en-US" sz="1800" b="0" i="0" u="none" strike="noStrike" cap="none" dirty="0" err="1">
                <a:solidFill>
                  <a:srgbClr val="3F3F3F"/>
                </a:solidFill>
                <a:latin typeface="Arial"/>
                <a:ea typeface="Arial"/>
                <a:cs typeface="Arial"/>
                <a:sym typeface="Arial"/>
              </a:rPr>
              <a:t>Khái</a:t>
            </a:r>
            <a:r>
              <a:rPr lang="en-US" sz="1800" b="0" i="0" u="none" strike="noStrike" cap="none" dirty="0">
                <a:solidFill>
                  <a:srgbClr val="3F3F3F"/>
                </a:solidFill>
                <a:latin typeface="Arial"/>
                <a:ea typeface="Arial"/>
                <a:cs typeface="Arial"/>
                <a:sym typeface="Arial"/>
              </a:rPr>
              <a:t> </a:t>
            </a:r>
            <a:r>
              <a:rPr lang="en-US" sz="1800" b="0" i="0" u="none" strike="noStrike" cap="none" dirty="0" err="1">
                <a:solidFill>
                  <a:srgbClr val="3F3F3F"/>
                </a:solidFill>
                <a:latin typeface="Arial"/>
                <a:ea typeface="Arial"/>
                <a:cs typeface="Arial"/>
                <a:sym typeface="Arial"/>
              </a:rPr>
              <a:t>niệm</a:t>
            </a:r>
            <a:r>
              <a:rPr lang="en-US" sz="1800" b="0" i="0" u="none" strike="noStrike" cap="none" dirty="0">
                <a:solidFill>
                  <a:srgbClr val="3F3F3F"/>
                </a:solidFill>
                <a:latin typeface="Arial"/>
                <a:ea typeface="Arial"/>
                <a:cs typeface="Arial"/>
                <a:sym typeface="Arial"/>
              </a:rPr>
              <a:t> Trí </a:t>
            </a:r>
            <a:r>
              <a:rPr lang="en-US" sz="1800" b="0" i="0" u="none" strike="noStrike" cap="none" dirty="0" err="1">
                <a:solidFill>
                  <a:srgbClr val="3F3F3F"/>
                </a:solidFill>
                <a:latin typeface="Arial"/>
                <a:ea typeface="Arial"/>
                <a:cs typeface="Arial"/>
                <a:sym typeface="Arial"/>
              </a:rPr>
              <a:t>tuệ</a:t>
            </a:r>
            <a:r>
              <a:rPr lang="en-US" sz="1800" b="0" i="0" u="none" strike="noStrike" cap="none" dirty="0">
                <a:solidFill>
                  <a:srgbClr val="3F3F3F"/>
                </a:solidFill>
                <a:latin typeface="Arial"/>
                <a:ea typeface="Arial"/>
                <a:cs typeface="Arial"/>
                <a:sym typeface="Arial"/>
              </a:rPr>
              <a:t> </a:t>
            </a:r>
            <a:r>
              <a:rPr lang="en-US" sz="1800" b="0" i="0" u="none" strike="noStrike" cap="none" dirty="0" err="1">
                <a:solidFill>
                  <a:srgbClr val="3F3F3F"/>
                </a:solidFill>
                <a:latin typeface="Arial"/>
                <a:ea typeface="Arial"/>
                <a:cs typeface="Arial"/>
                <a:sym typeface="Arial"/>
              </a:rPr>
              <a:t>nhân</a:t>
            </a:r>
            <a:r>
              <a:rPr lang="en-US" sz="1800" b="0" i="0" u="none" strike="noStrike" cap="none" dirty="0">
                <a:solidFill>
                  <a:srgbClr val="3F3F3F"/>
                </a:solidFill>
                <a:latin typeface="Arial"/>
                <a:ea typeface="Arial"/>
                <a:cs typeface="Arial"/>
                <a:sym typeface="Arial"/>
              </a:rPr>
              <a:t> </a:t>
            </a:r>
            <a:r>
              <a:rPr lang="en-US" sz="1800" b="0" i="0" u="none" strike="noStrike" cap="none" dirty="0" err="1">
                <a:solidFill>
                  <a:srgbClr val="3F3F3F"/>
                </a:solidFill>
                <a:latin typeface="Arial"/>
                <a:ea typeface="Arial"/>
                <a:cs typeface="Arial"/>
                <a:sym typeface="Arial"/>
              </a:rPr>
              <a:t>tạo</a:t>
            </a:r>
            <a:endParaRPr sz="1800" b="0" i="0" u="none" strike="noStrike" cap="none" dirty="0">
              <a:solidFill>
                <a:srgbClr val="3F3F3F"/>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5"/>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Trí tuệ nhân tạo là gì?</a:t>
            </a:r>
            <a:endParaRPr sz="1400" b="0" i="0" u="none" strike="noStrike" cap="none">
              <a:solidFill>
                <a:srgbClr val="000000"/>
              </a:solidFill>
              <a:latin typeface="Arial"/>
              <a:ea typeface="Arial"/>
              <a:cs typeface="Arial"/>
              <a:sym typeface="Arial"/>
            </a:endParaRPr>
          </a:p>
        </p:txBody>
      </p:sp>
      <p:grpSp>
        <p:nvGrpSpPr>
          <p:cNvPr id="200" name="Google Shape;200;p5"/>
          <p:cNvGrpSpPr/>
          <p:nvPr/>
        </p:nvGrpSpPr>
        <p:grpSpPr>
          <a:xfrm>
            <a:off x="559817" y="1902381"/>
            <a:ext cx="8783192" cy="215444"/>
            <a:chOff x="559817" y="2136914"/>
            <a:chExt cx="8783192" cy="215444"/>
          </a:xfrm>
        </p:grpSpPr>
        <p:sp>
          <p:nvSpPr>
            <p:cNvPr id="201" name="Google Shape;201;p5"/>
            <p:cNvSpPr/>
            <p:nvPr/>
          </p:nvSpPr>
          <p:spPr>
            <a:xfrm>
              <a:off x="559817" y="2148284"/>
              <a:ext cx="35992" cy="179958"/>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202" name="Google Shape;202;p5"/>
            <p:cNvSpPr/>
            <p:nvPr/>
          </p:nvSpPr>
          <p:spPr>
            <a:xfrm>
              <a:off x="712182" y="2136914"/>
              <a:ext cx="8630827"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62626"/>
                  </a:solidFill>
                  <a:latin typeface="Arial"/>
                  <a:ea typeface="Arial"/>
                  <a:cs typeface="Arial"/>
                  <a:sym typeface="Arial"/>
                </a:rPr>
                <a:t>Định nghĩa</a:t>
              </a:r>
              <a:endParaRPr sz="1400" b="0" i="0" u="none" strike="noStrike" cap="none">
                <a:solidFill>
                  <a:srgbClr val="262626"/>
                </a:solidFill>
                <a:latin typeface="Arial"/>
                <a:ea typeface="Arial"/>
                <a:cs typeface="Arial"/>
                <a:sym typeface="Arial"/>
              </a:endParaRPr>
            </a:p>
          </p:txBody>
        </p:sp>
      </p:grpSp>
      <p:sp>
        <p:nvSpPr>
          <p:cNvPr id="203" name="Google Shape;203;p5"/>
          <p:cNvSpPr/>
          <p:nvPr/>
        </p:nvSpPr>
        <p:spPr>
          <a:xfrm>
            <a:off x="2431132" y="2204864"/>
            <a:ext cx="6904633" cy="1448327"/>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1429A0"/>
                </a:solidFill>
                <a:latin typeface="Arial"/>
                <a:ea typeface="Arial"/>
                <a:cs typeface="Arial"/>
                <a:sym typeface="Arial"/>
              </a:rPr>
              <a:t>Trí tuệ nhân tạo (AI)</a:t>
            </a:r>
            <a:r>
              <a:rPr lang="en-US" sz="1300" b="0" i="0" u="none" strike="noStrike" cap="none">
                <a:solidFill>
                  <a:schemeClr val="dk1"/>
                </a:solidFill>
                <a:latin typeface="Arial"/>
                <a:ea typeface="Arial"/>
                <a:cs typeface="Arial"/>
                <a:sym typeface="Arial"/>
              </a:rPr>
              <a:t> là khả năng tư duy và học tập của một chương trình máy tính hoặc máy móc. Đây cũng là một lĩnh vực nghiên cứu nhằm giúp máy tính trở nên “thông minh hơn”. Máy tính có thể tự hoạt động mà không cần mã hóa bằng lệnh. John McCarthy đã đưa ra khái niệm “trí tuệ nhân tạo” lần đầu tiên vào năm 1955.</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chemeClr val="dk1"/>
                </a:solidFill>
                <a:latin typeface="Arial"/>
                <a:ea typeface="Arial"/>
                <a:cs typeface="Arial"/>
                <a:sym typeface="Arial"/>
              </a:rPr>
              <a:t>Những quy trình này bao gồm học tập (thu nhận thông tin và quy tắc sử dụng thông tin), suy luận (áp dụng quy tắc để đưa ra kết luận gần đúng hoặc chính xác) và tự điều chỉnh.</a:t>
            </a:r>
            <a:endParaRPr sz="1400" b="0" i="0" u="none" strike="noStrike" cap="none">
              <a:solidFill>
                <a:srgbClr val="000000"/>
              </a:solidFill>
              <a:latin typeface="Arial"/>
              <a:ea typeface="Arial"/>
              <a:cs typeface="Arial"/>
              <a:sym typeface="Arial"/>
            </a:endParaRPr>
          </a:p>
        </p:txBody>
      </p:sp>
      <p:pic>
        <p:nvPicPr>
          <p:cNvPr id="204" name="Google Shape;204;p5" descr="https://media.wired.com/photos/59327c7752d99d6b984dee6e/master/w_542,c_limit/john-mccarthy.png"/>
          <p:cNvPicPr preferRelativeResize="0"/>
          <p:nvPr/>
        </p:nvPicPr>
        <p:blipFill rotWithShape="1">
          <a:blip r:embed="rId3">
            <a:alphaModFix/>
          </a:blip>
          <a:srcRect l="9904" r="9904"/>
          <a:stretch/>
        </p:blipFill>
        <p:spPr>
          <a:xfrm>
            <a:off x="683195" y="2275773"/>
            <a:ext cx="1556754" cy="1812329"/>
          </a:xfrm>
          <a:prstGeom prst="rect">
            <a:avLst/>
          </a:prstGeom>
          <a:solidFill>
            <a:srgbClr val="A6A6A6"/>
          </a:solidFill>
          <a:ln w="9525" cap="flat" cmpd="sng">
            <a:solidFill>
              <a:srgbClr val="7F7F7F"/>
            </a:solidFill>
            <a:prstDash val="solid"/>
            <a:round/>
            <a:headEnd type="none" w="sm" len="sm"/>
            <a:tailEnd type="none" w="sm" len="sm"/>
          </a:ln>
        </p:spPr>
      </p:pic>
      <p:sp>
        <p:nvSpPr>
          <p:cNvPr id="205" name="Google Shape;205;p5"/>
          <p:cNvSpPr/>
          <p:nvPr/>
        </p:nvSpPr>
        <p:spPr>
          <a:xfrm>
            <a:off x="607132" y="4157123"/>
            <a:ext cx="2036879" cy="330072"/>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262626"/>
                </a:solidFill>
                <a:latin typeface="Arial"/>
                <a:ea typeface="Arial"/>
                <a:cs typeface="Arial"/>
                <a:sym typeface="Arial"/>
              </a:rPr>
              <a:t>John McCarthy(1927–2011)</a:t>
            </a:r>
            <a:endParaRPr sz="1400" b="0" i="0" u="none" strike="noStrike" cap="none">
              <a:solidFill>
                <a:srgbClr val="000000"/>
              </a:solidFill>
              <a:latin typeface="Arial"/>
              <a:ea typeface="Arial"/>
              <a:cs typeface="Arial"/>
              <a:sym typeface="Arial"/>
            </a:endParaRPr>
          </a:p>
        </p:txBody>
      </p:sp>
      <p:sp>
        <p:nvSpPr>
          <p:cNvPr id="206" name="Google Shape;206;p5"/>
          <p:cNvSpPr/>
          <p:nvPr/>
        </p:nvSpPr>
        <p:spPr>
          <a:xfrm>
            <a:off x="2590006" y="3901123"/>
            <a:ext cx="4875177" cy="212364"/>
          </a:xfrm>
          <a:prstGeom prst="roundRect">
            <a:avLst>
              <a:gd name="adj" fmla="val 50000"/>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https://www.wired.com/2011/10/john-mccarthy-father-of-ai-and-lisp-dies-at-84/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6"/>
          <p:cNvSpPr/>
          <p:nvPr/>
        </p:nvSpPr>
        <p:spPr>
          <a:xfrm>
            <a:off x="702940" y="1700808"/>
            <a:ext cx="8632825" cy="1653511"/>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rất nhiều dữ liệu có cấu trúc và phi cấu trúc trong thời đại công nghệ hiện đại.</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máy xuất hiện vào cuối thế kỷ 20 như một lĩnh vực phụ của Trí tuệ nhân tạo (AI) liên quan đến các thuật toán tự học việc trích xuất và dự đoán kiến thức từ dữ liệu.</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Con người phân tích thủ công một lượng lớn dữ liệu để tạo ra các quy tắc và tạo mô hình.</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máy có thể dần dần cải thiện các mô hình dự đoán và hiệu suất ra quyết định dựa trên dữ liệu bằng cách trích xuất kiến thức hiệu quả hơn từ dữ liệu.</a:t>
            </a:r>
            <a:endParaRPr sz="1300" b="0" i="0" u="none" strike="noStrike" cap="none">
              <a:solidFill>
                <a:srgbClr val="262626"/>
              </a:solidFill>
              <a:latin typeface="Arial"/>
              <a:ea typeface="Arial"/>
              <a:cs typeface="Arial"/>
              <a:sym typeface="Arial"/>
            </a:endParaRPr>
          </a:p>
        </p:txBody>
      </p:sp>
      <p:sp>
        <p:nvSpPr>
          <p:cNvPr id="219" name="Google Shape;219;p6"/>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Xây dựng một hệ thống thông minh chuyển đổi dữ liệu thành tri thức</a:t>
            </a:r>
            <a:endParaRPr sz="1400" b="0" i="0" u="none" strike="noStrike" cap="none">
              <a:solidFill>
                <a:schemeClr val="dk1"/>
              </a:solidFill>
              <a:latin typeface="Arial"/>
              <a:ea typeface="Arial"/>
              <a:cs typeface="Arial"/>
              <a:sym typeface="Arial"/>
            </a:endParaRPr>
          </a:p>
        </p:txBody>
      </p:sp>
      <p:grpSp>
        <p:nvGrpSpPr>
          <p:cNvPr id="220" name="Google Shape;220;p6"/>
          <p:cNvGrpSpPr/>
          <p:nvPr/>
        </p:nvGrpSpPr>
        <p:grpSpPr>
          <a:xfrm>
            <a:off x="2176439" y="3422394"/>
            <a:ext cx="5549946" cy="2808312"/>
            <a:chOff x="2071092" y="3429000"/>
            <a:chExt cx="5549946" cy="2808312"/>
          </a:xfrm>
        </p:grpSpPr>
        <p:grpSp>
          <p:nvGrpSpPr>
            <p:cNvPr id="221" name="Google Shape;221;p6"/>
            <p:cNvGrpSpPr/>
            <p:nvPr/>
          </p:nvGrpSpPr>
          <p:grpSpPr>
            <a:xfrm>
              <a:off x="2071092" y="3429000"/>
              <a:ext cx="5549946" cy="2808312"/>
              <a:chOff x="2264662" y="3429000"/>
              <a:chExt cx="5155902" cy="2608923"/>
            </a:xfrm>
          </p:grpSpPr>
          <p:pic>
            <p:nvPicPr>
              <p:cNvPr id="222" name="Google Shape;222;p6"/>
              <p:cNvPicPr preferRelativeResize="0"/>
              <p:nvPr/>
            </p:nvPicPr>
            <p:blipFill rotWithShape="1">
              <a:blip r:embed="rId3">
                <a:alphaModFix/>
              </a:blip>
              <a:srcRect/>
              <a:stretch/>
            </p:blipFill>
            <p:spPr>
              <a:xfrm>
                <a:off x="2264662" y="3429000"/>
                <a:ext cx="5155902" cy="2608923"/>
              </a:xfrm>
              <a:prstGeom prst="rect">
                <a:avLst/>
              </a:prstGeom>
              <a:noFill/>
              <a:ln>
                <a:noFill/>
              </a:ln>
            </p:spPr>
          </p:pic>
          <p:sp>
            <p:nvSpPr>
              <p:cNvPr id="223" name="Google Shape;223;p6"/>
              <p:cNvSpPr/>
              <p:nvPr/>
            </p:nvSpPr>
            <p:spPr>
              <a:xfrm>
                <a:off x="2328305" y="3446481"/>
                <a:ext cx="2796852" cy="257332"/>
              </a:xfrm>
              <a:prstGeom prst="rect">
                <a:avLst/>
              </a:prstGeom>
              <a:solidFill>
                <a:srgbClr val="AAAAAA"/>
              </a:solidFill>
              <a:ln>
                <a:noFill/>
              </a:ln>
            </p:spPr>
            <p:txBody>
              <a:bodyPr spcFirstLastPara="1" wrap="square" lIns="0" tIns="0" rIns="0" bIns="0" anchor="t" anchorCtr="0">
                <a:spAutoFit/>
              </a:bodyPr>
              <a:lstStyle/>
              <a:p>
                <a:pPr marL="398463" marR="0" lvl="0" indent="-398463"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TRÍ TUỆ NHÂN TẠO</a:t>
                </a:r>
                <a:endParaRPr sz="1400" b="0" i="0" u="none" strike="noStrike" cap="none">
                  <a:solidFill>
                    <a:srgbClr val="000000"/>
                  </a:solidFill>
                  <a:latin typeface="Arial"/>
                  <a:ea typeface="Arial"/>
                  <a:cs typeface="Arial"/>
                  <a:sym typeface="Arial"/>
                </a:endParaRPr>
              </a:p>
            </p:txBody>
          </p:sp>
          <p:sp>
            <p:nvSpPr>
              <p:cNvPr id="224" name="Google Shape;224;p6"/>
              <p:cNvSpPr/>
              <p:nvPr/>
            </p:nvSpPr>
            <p:spPr>
              <a:xfrm>
                <a:off x="2354850" y="3688358"/>
                <a:ext cx="1283644" cy="150111"/>
              </a:xfrm>
              <a:prstGeom prst="rect">
                <a:avLst/>
              </a:prstGeom>
              <a:solidFill>
                <a:srgbClr val="AAAAAA"/>
              </a:solidFill>
              <a:ln>
                <a:noFill/>
              </a:ln>
            </p:spPr>
            <p:txBody>
              <a:bodyPr spcFirstLastPara="1" wrap="square" lIns="0" tIns="0" rIns="0" bIns="0" anchor="t" anchorCtr="0">
                <a:spAutoFit/>
              </a:bodyPr>
              <a:lstStyle/>
              <a:p>
                <a:pPr marL="398463" marR="0" lvl="0" indent="-398463"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Arial"/>
                    <a:ea typeface="Arial"/>
                    <a:cs typeface="Arial"/>
                    <a:sym typeface="Arial"/>
                  </a:rPr>
                  <a:t>KHÔNG PHẢI LÀ MỚI</a:t>
                </a:r>
                <a:endParaRPr sz="1400" b="0" i="0" u="none" strike="noStrike" cap="none">
                  <a:solidFill>
                    <a:srgbClr val="000000"/>
                  </a:solidFill>
                  <a:latin typeface="Arial"/>
                  <a:ea typeface="Arial"/>
                  <a:cs typeface="Arial"/>
                  <a:sym typeface="Arial"/>
                </a:endParaRPr>
              </a:p>
            </p:txBody>
          </p:sp>
          <p:sp>
            <p:nvSpPr>
              <p:cNvPr id="225" name="Google Shape;225;p6"/>
              <p:cNvSpPr/>
              <p:nvPr/>
            </p:nvSpPr>
            <p:spPr>
              <a:xfrm>
                <a:off x="2539588" y="3951088"/>
                <a:ext cx="2016224" cy="185851"/>
              </a:xfrm>
              <a:prstGeom prst="rect">
                <a:avLst/>
              </a:prstGeom>
              <a:solidFill>
                <a:srgbClr val="707070"/>
              </a:solidFill>
              <a:ln>
                <a:noFill/>
              </a:ln>
            </p:spPr>
            <p:txBody>
              <a:bodyPr spcFirstLastPara="1" wrap="square" lIns="0" tIns="0" rIns="0" bIns="0" anchor="t" anchorCtr="0">
                <a:spAutoFit/>
              </a:bodyPr>
              <a:lstStyle/>
              <a:p>
                <a:pPr marL="398463" marR="0" lvl="0" indent="-398463" algn="l" rtl="0">
                  <a:lnSpc>
                    <a:spcPct val="100000"/>
                  </a:lnSpc>
                  <a:spcBef>
                    <a:spcPts val="0"/>
                  </a:spcBef>
                  <a:spcAft>
                    <a:spcPts val="0"/>
                  </a:spcAft>
                  <a:buClr>
                    <a:srgbClr val="000000"/>
                  </a:buClr>
                  <a:buSzPts val="1300"/>
                  <a:buFont typeface="Arial"/>
                  <a:buNone/>
                </a:pPr>
                <a:r>
                  <a:rPr lang="en-US" sz="1300" b="0" i="0" u="none" strike="noStrike" cap="none">
                    <a:solidFill>
                      <a:schemeClr val="lt1"/>
                    </a:solidFill>
                    <a:latin typeface="Arial"/>
                    <a:ea typeface="Arial"/>
                    <a:cs typeface="Arial"/>
                    <a:sym typeface="Arial"/>
                  </a:rPr>
                  <a:t>TRÍ TUỆ NHÂN TẠO</a:t>
                </a:r>
                <a:endParaRPr sz="1400" b="0" i="0" u="none" strike="noStrike" cap="none">
                  <a:solidFill>
                    <a:srgbClr val="000000"/>
                  </a:solidFill>
                  <a:latin typeface="Arial"/>
                  <a:ea typeface="Arial"/>
                  <a:cs typeface="Arial"/>
                  <a:sym typeface="Arial"/>
                </a:endParaRPr>
              </a:p>
            </p:txBody>
          </p:sp>
          <p:sp>
            <p:nvSpPr>
              <p:cNvPr id="226" name="Google Shape;226;p6"/>
              <p:cNvSpPr/>
              <p:nvPr/>
            </p:nvSpPr>
            <p:spPr>
              <a:xfrm>
                <a:off x="2577689" y="4206096"/>
                <a:ext cx="1432324" cy="686219"/>
              </a:xfrm>
              <a:prstGeom prst="rect">
                <a:avLst/>
              </a:prstGeom>
              <a:solidFill>
                <a:srgbClr val="707070"/>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ial"/>
                    <a:ea typeface="Arial"/>
                    <a:cs typeface="Arial"/>
                    <a:sym typeface="Arial"/>
                  </a:rPr>
                  <a:t>Bất kỳ kỹ thuật nào cho phép máy tính bắt chước hành vi của con người</a:t>
                </a:r>
                <a:endParaRPr sz="1200" b="0" i="0" u="none" strike="noStrike" cap="none">
                  <a:solidFill>
                    <a:schemeClr val="lt1"/>
                  </a:solidFill>
                  <a:latin typeface="Arial"/>
                  <a:ea typeface="Arial"/>
                  <a:cs typeface="Arial"/>
                  <a:sym typeface="Arial"/>
                </a:endParaRPr>
              </a:p>
            </p:txBody>
          </p:sp>
          <p:sp>
            <p:nvSpPr>
              <p:cNvPr id="227" name="Google Shape;227;p6"/>
              <p:cNvSpPr/>
              <p:nvPr/>
            </p:nvSpPr>
            <p:spPr>
              <a:xfrm>
                <a:off x="4087316" y="4261049"/>
                <a:ext cx="2016224" cy="185851"/>
              </a:xfrm>
              <a:prstGeom prst="rect">
                <a:avLst/>
              </a:prstGeom>
              <a:solidFill>
                <a:srgbClr val="A3A3A3"/>
              </a:solidFill>
              <a:ln>
                <a:noFill/>
              </a:ln>
            </p:spPr>
            <p:txBody>
              <a:bodyPr spcFirstLastPara="1" wrap="square" lIns="0" tIns="0" rIns="0" bIns="0" anchor="t" anchorCtr="0">
                <a:spAutoFit/>
              </a:bodyPr>
              <a:lstStyle/>
              <a:p>
                <a:pPr marL="398463" marR="0" lvl="0" indent="-398463" algn="l" rtl="0">
                  <a:lnSpc>
                    <a:spcPct val="100000"/>
                  </a:lnSpc>
                  <a:spcBef>
                    <a:spcPts val="0"/>
                  </a:spcBef>
                  <a:spcAft>
                    <a:spcPts val="0"/>
                  </a:spcAft>
                  <a:buClr>
                    <a:srgbClr val="000000"/>
                  </a:buClr>
                  <a:buSzPts val="1300"/>
                  <a:buFont typeface="Arial"/>
                  <a:buNone/>
                </a:pPr>
                <a:r>
                  <a:rPr lang="en-US" sz="1300" b="0" i="0" u="none" strike="noStrike" cap="none">
                    <a:solidFill>
                      <a:srgbClr val="3E4E5B"/>
                    </a:solidFill>
                    <a:latin typeface="Arial"/>
                    <a:ea typeface="Arial"/>
                    <a:cs typeface="Arial"/>
                    <a:sym typeface="Arial"/>
                  </a:rPr>
                  <a:t>HỌC MÁY</a:t>
                </a:r>
                <a:endParaRPr sz="1400" b="0" i="0" u="none" strike="noStrike" cap="none">
                  <a:solidFill>
                    <a:srgbClr val="000000"/>
                  </a:solidFill>
                  <a:latin typeface="Arial"/>
                  <a:ea typeface="Arial"/>
                  <a:cs typeface="Arial"/>
                  <a:sym typeface="Arial"/>
                </a:endParaRPr>
              </a:p>
            </p:txBody>
          </p:sp>
          <p:sp>
            <p:nvSpPr>
              <p:cNvPr id="228" name="Google Shape;228;p6"/>
              <p:cNvSpPr/>
              <p:nvPr/>
            </p:nvSpPr>
            <p:spPr>
              <a:xfrm>
                <a:off x="4105018" y="4459769"/>
                <a:ext cx="1533889" cy="1161729"/>
              </a:xfrm>
              <a:prstGeom prst="rect">
                <a:avLst/>
              </a:prstGeom>
              <a:solidFill>
                <a:srgbClr val="A3A3A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E4E5B"/>
                    </a:solidFill>
                    <a:latin typeface="Arial"/>
                    <a:ea typeface="Arial"/>
                    <a:cs typeface="Arial"/>
                    <a:sym typeface="Arial"/>
                  </a:rPr>
                  <a:t>Các kỹ thuật AI cung cấp cho máy tính khả năng học hỏi mà không cần được lập trình rõ ràng để làm như vậy</a:t>
                </a:r>
                <a:endParaRPr sz="1200" b="0" i="0" u="none" strike="noStrike" cap="none">
                  <a:solidFill>
                    <a:srgbClr val="3E4E5B"/>
                  </a:solidFill>
                  <a:latin typeface="Arial"/>
                  <a:ea typeface="Arial"/>
                  <a:cs typeface="Arial"/>
                  <a:sym typeface="Arial"/>
                </a:endParaRPr>
              </a:p>
            </p:txBody>
          </p:sp>
          <p:sp>
            <p:nvSpPr>
              <p:cNvPr id="229" name="Google Shape;229;p6"/>
              <p:cNvSpPr/>
              <p:nvPr/>
            </p:nvSpPr>
            <p:spPr>
              <a:xfrm>
                <a:off x="5685103" y="4595498"/>
                <a:ext cx="1282533" cy="185851"/>
              </a:xfrm>
              <a:prstGeom prst="rect">
                <a:avLst/>
              </a:prstGeom>
              <a:solidFill>
                <a:srgbClr val="C1C1C1"/>
              </a:solidFill>
              <a:ln>
                <a:noFill/>
              </a:ln>
            </p:spPr>
            <p:txBody>
              <a:bodyPr spcFirstLastPara="1" wrap="square" lIns="0" tIns="0" rIns="0" bIns="0" anchor="t" anchorCtr="0">
                <a:spAutoFit/>
              </a:bodyPr>
              <a:lstStyle/>
              <a:p>
                <a:pPr marL="398463" marR="0" lvl="0" indent="-398463" algn="l" rtl="0">
                  <a:lnSpc>
                    <a:spcPct val="100000"/>
                  </a:lnSpc>
                  <a:spcBef>
                    <a:spcPts val="0"/>
                  </a:spcBef>
                  <a:spcAft>
                    <a:spcPts val="0"/>
                  </a:spcAft>
                  <a:buClr>
                    <a:srgbClr val="000000"/>
                  </a:buClr>
                  <a:buSzPts val="1300"/>
                  <a:buFont typeface="Arial"/>
                  <a:buNone/>
                </a:pPr>
                <a:r>
                  <a:rPr lang="en-US" sz="1300" b="0" i="0" u="none" strike="noStrike" cap="none">
                    <a:solidFill>
                      <a:srgbClr val="3E4E5B"/>
                    </a:solidFill>
                    <a:latin typeface="Arial"/>
                    <a:ea typeface="Arial"/>
                    <a:cs typeface="Arial"/>
                    <a:sym typeface="Arial"/>
                  </a:rPr>
                  <a:t>HỌC SÂU</a:t>
                </a:r>
                <a:endParaRPr sz="1400" b="0" i="0" u="none" strike="noStrike" cap="none">
                  <a:solidFill>
                    <a:srgbClr val="000000"/>
                  </a:solidFill>
                  <a:latin typeface="Arial"/>
                  <a:ea typeface="Arial"/>
                  <a:cs typeface="Arial"/>
                  <a:sym typeface="Arial"/>
                </a:endParaRPr>
              </a:p>
            </p:txBody>
          </p:sp>
          <p:sp>
            <p:nvSpPr>
              <p:cNvPr id="230" name="Google Shape;230;p6"/>
              <p:cNvSpPr/>
              <p:nvPr/>
            </p:nvSpPr>
            <p:spPr>
              <a:xfrm>
                <a:off x="5702806" y="4797319"/>
                <a:ext cx="1494938" cy="919579"/>
              </a:xfrm>
              <a:prstGeom prst="rect">
                <a:avLst/>
              </a:prstGeom>
              <a:solidFill>
                <a:srgbClr val="C1C1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3E4E5B"/>
                    </a:solidFill>
                    <a:latin typeface="Arial"/>
                    <a:ea typeface="Arial"/>
                    <a:cs typeface="Arial"/>
                    <a:sym typeface="Arial"/>
                  </a:rPr>
                  <a:t>Một tập hợp con của Học máy giúp cho việc tính toán các mạng thần kinh nhiều lớp trở nên khả thi</a:t>
                </a:r>
                <a:endParaRPr sz="1200" b="0" i="0" u="none" strike="noStrike" cap="none">
                  <a:solidFill>
                    <a:srgbClr val="3E4E5B"/>
                  </a:solidFill>
                  <a:latin typeface="Arial"/>
                  <a:ea typeface="Arial"/>
                  <a:cs typeface="Arial"/>
                  <a:sym typeface="Arial"/>
                </a:endParaRPr>
              </a:p>
            </p:txBody>
          </p:sp>
          <p:sp>
            <p:nvSpPr>
              <p:cNvPr id="231" name="Google Shape;231;p6"/>
              <p:cNvSpPr/>
              <p:nvPr/>
            </p:nvSpPr>
            <p:spPr>
              <a:xfrm>
                <a:off x="2447260"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1950’s</a:t>
                </a:r>
                <a:endParaRPr sz="1400" b="0" i="0" u="none" strike="noStrike" cap="none">
                  <a:solidFill>
                    <a:srgbClr val="000000"/>
                  </a:solidFill>
                  <a:latin typeface="Arial"/>
                  <a:ea typeface="Arial"/>
                  <a:cs typeface="Arial"/>
                  <a:sym typeface="Arial"/>
                </a:endParaRPr>
              </a:p>
            </p:txBody>
          </p:sp>
          <p:sp>
            <p:nvSpPr>
              <p:cNvPr id="232" name="Google Shape;232;p6"/>
              <p:cNvSpPr/>
              <p:nvPr/>
            </p:nvSpPr>
            <p:spPr>
              <a:xfrm>
                <a:off x="2922211"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1960’s</a:t>
                </a:r>
                <a:endParaRPr sz="1400" b="0" i="0" u="none" strike="noStrike" cap="none">
                  <a:solidFill>
                    <a:srgbClr val="000000"/>
                  </a:solidFill>
                  <a:latin typeface="Arial"/>
                  <a:ea typeface="Arial"/>
                  <a:cs typeface="Arial"/>
                  <a:sym typeface="Arial"/>
                </a:endParaRPr>
              </a:p>
            </p:txBody>
          </p:sp>
          <p:sp>
            <p:nvSpPr>
              <p:cNvPr id="233" name="Google Shape;233;p6"/>
              <p:cNvSpPr/>
              <p:nvPr/>
            </p:nvSpPr>
            <p:spPr>
              <a:xfrm>
                <a:off x="3401912"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1970’s</a:t>
                </a:r>
                <a:endParaRPr sz="1400" b="0" i="0" u="none" strike="noStrike" cap="none">
                  <a:solidFill>
                    <a:srgbClr val="000000"/>
                  </a:solidFill>
                  <a:latin typeface="Arial"/>
                  <a:ea typeface="Arial"/>
                  <a:cs typeface="Arial"/>
                  <a:sym typeface="Arial"/>
                </a:endParaRPr>
              </a:p>
            </p:txBody>
          </p:sp>
          <p:sp>
            <p:nvSpPr>
              <p:cNvPr id="234" name="Google Shape;234;p6"/>
              <p:cNvSpPr/>
              <p:nvPr/>
            </p:nvSpPr>
            <p:spPr>
              <a:xfrm>
                <a:off x="3897018"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1980’s</a:t>
                </a:r>
                <a:endParaRPr sz="1400" b="0" i="0" u="none" strike="noStrike" cap="none">
                  <a:solidFill>
                    <a:srgbClr val="000000"/>
                  </a:solidFill>
                  <a:latin typeface="Arial"/>
                  <a:ea typeface="Arial"/>
                  <a:cs typeface="Arial"/>
                  <a:sym typeface="Arial"/>
                </a:endParaRPr>
              </a:p>
            </p:txBody>
          </p:sp>
          <p:sp>
            <p:nvSpPr>
              <p:cNvPr id="235" name="Google Shape;235;p6"/>
              <p:cNvSpPr/>
              <p:nvPr/>
            </p:nvSpPr>
            <p:spPr>
              <a:xfrm>
                <a:off x="4427684"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1990’s</a:t>
                </a:r>
                <a:endParaRPr sz="1400" b="0" i="0" u="none" strike="noStrike" cap="none">
                  <a:solidFill>
                    <a:srgbClr val="000000"/>
                  </a:solidFill>
                  <a:latin typeface="Arial"/>
                  <a:ea typeface="Arial"/>
                  <a:cs typeface="Arial"/>
                  <a:sym typeface="Arial"/>
                </a:endParaRPr>
              </a:p>
            </p:txBody>
          </p:sp>
          <p:sp>
            <p:nvSpPr>
              <p:cNvPr id="236" name="Google Shape;236;p6"/>
              <p:cNvSpPr/>
              <p:nvPr/>
            </p:nvSpPr>
            <p:spPr>
              <a:xfrm>
                <a:off x="4956816"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2000’s</a:t>
                </a:r>
                <a:endParaRPr sz="1400" b="0" i="0" u="none" strike="noStrike" cap="none">
                  <a:solidFill>
                    <a:srgbClr val="000000"/>
                  </a:solidFill>
                  <a:latin typeface="Arial"/>
                  <a:ea typeface="Arial"/>
                  <a:cs typeface="Arial"/>
                  <a:sym typeface="Arial"/>
                </a:endParaRPr>
              </a:p>
            </p:txBody>
          </p:sp>
          <p:sp>
            <p:nvSpPr>
              <p:cNvPr id="237" name="Google Shape;237;p6"/>
              <p:cNvSpPr/>
              <p:nvPr/>
            </p:nvSpPr>
            <p:spPr>
              <a:xfrm>
                <a:off x="5465628" y="5892750"/>
                <a:ext cx="360000" cy="123111"/>
              </a:xfrm>
              <a:prstGeom prst="rect">
                <a:avLst/>
              </a:prstGeom>
              <a:solidFill>
                <a:srgbClr val="909090"/>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chemeClr val="lt1"/>
                    </a:solidFill>
                    <a:latin typeface="Arial"/>
                    <a:ea typeface="Arial"/>
                    <a:cs typeface="Arial"/>
                    <a:sym typeface="Arial"/>
                  </a:rPr>
                  <a:t>2010’s</a:t>
                </a:r>
                <a:endParaRPr sz="1400" b="0" i="0" u="none" strike="noStrike" cap="none">
                  <a:solidFill>
                    <a:srgbClr val="000000"/>
                  </a:solidFill>
                  <a:latin typeface="Arial"/>
                  <a:ea typeface="Arial"/>
                  <a:cs typeface="Arial"/>
                  <a:sym typeface="Arial"/>
                </a:endParaRPr>
              </a:p>
            </p:txBody>
          </p:sp>
          <p:sp>
            <p:nvSpPr>
              <p:cNvPr id="238" name="Google Shape;238;p6"/>
              <p:cNvSpPr/>
              <p:nvPr/>
            </p:nvSpPr>
            <p:spPr>
              <a:xfrm>
                <a:off x="2601444" y="4889145"/>
                <a:ext cx="1160467" cy="686218"/>
              </a:xfrm>
              <a:prstGeom prst="rect">
                <a:avLst/>
              </a:prstGeom>
              <a:solidFill>
                <a:srgbClr val="707070"/>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pic>
            <p:nvPicPr>
              <p:cNvPr id="239" name="Google Shape;239;p6"/>
              <p:cNvPicPr preferRelativeResize="0"/>
              <p:nvPr/>
            </p:nvPicPr>
            <p:blipFill rotWithShape="1">
              <a:blip r:embed="rId4">
                <a:alphaModFix/>
              </a:blip>
              <a:srcRect l="8854" t="50043" r="76539" b="18403"/>
              <a:stretch/>
            </p:blipFill>
            <p:spPr>
              <a:xfrm>
                <a:off x="2915103" y="4921002"/>
                <a:ext cx="640878" cy="700497"/>
              </a:xfrm>
              <a:prstGeom prst="rect">
                <a:avLst/>
              </a:prstGeom>
              <a:noFill/>
              <a:ln>
                <a:noFill/>
              </a:ln>
            </p:spPr>
          </p:pic>
          <p:pic>
            <p:nvPicPr>
              <p:cNvPr id="240" name="Google Shape;240;p6"/>
              <p:cNvPicPr preferRelativeResize="0"/>
              <p:nvPr/>
            </p:nvPicPr>
            <p:blipFill rotWithShape="1">
              <a:blip r:embed="rId5">
                <a:alphaModFix/>
              </a:blip>
              <a:srcRect l="42986" t="60300" r="42407" b="15749"/>
              <a:stretch/>
            </p:blipFill>
            <p:spPr>
              <a:xfrm>
                <a:off x="4940724" y="5321631"/>
                <a:ext cx="524904" cy="435493"/>
              </a:xfrm>
              <a:prstGeom prst="rect">
                <a:avLst/>
              </a:prstGeom>
              <a:noFill/>
              <a:ln>
                <a:noFill/>
              </a:ln>
            </p:spPr>
          </p:pic>
        </p:grpSp>
        <p:sp>
          <p:nvSpPr>
            <p:cNvPr id="241" name="Google Shape;241;p6"/>
            <p:cNvSpPr/>
            <p:nvPr/>
          </p:nvSpPr>
          <p:spPr>
            <a:xfrm>
              <a:off x="6498875" y="5758451"/>
              <a:ext cx="213599" cy="190059"/>
            </a:xfrm>
            <a:prstGeom prst="rect">
              <a:avLst/>
            </a:prstGeom>
            <a:solidFill>
              <a:srgbClr val="C1C1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3E4E5B"/>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9E16F105-BB82-E268-BD9A-9DF2533B2278}"/>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F81F8CBC-B3BF-6D9B-618E-DC17DCA4B53A}"/>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F8DB1AD9-818C-4730-F347-4F502F3F8A2E}"/>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C9F5E885-B30A-7855-78F7-8159B022AD0D}"/>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chemeClr val="tx1"/>
                </a:solidFill>
                <a:latin typeface="Arial"/>
                <a:ea typeface="Arial"/>
                <a:cs typeface="Arial"/>
                <a:sym typeface="Arial"/>
              </a:rPr>
              <a:t>1.2. </a:t>
            </a:r>
            <a:r>
              <a:rPr lang="en-US" sz="1800" b="0" i="0" u="none" strike="noStrike" cap="none" dirty="0" err="1">
                <a:solidFill>
                  <a:schemeClr val="tx1"/>
                </a:solidFill>
                <a:latin typeface="Arial"/>
                <a:ea typeface="Arial"/>
                <a:cs typeface="Arial"/>
                <a:sym typeface="Arial"/>
              </a:rPr>
              <a:t>Phân</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loại</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và</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Tập</a:t>
            </a:r>
            <a:r>
              <a:rPr lang="en-US" sz="1800" b="0" i="0" u="none" strike="noStrike" cap="none" dirty="0">
                <a:solidFill>
                  <a:schemeClr val="tx1"/>
                </a:solidFill>
                <a:latin typeface="Arial"/>
                <a:ea typeface="Arial"/>
                <a:cs typeface="Arial"/>
                <a:sym typeface="Arial"/>
              </a:rPr>
              <a:t> con Trí </a:t>
            </a:r>
            <a:r>
              <a:rPr lang="en-US" sz="1800" b="0" i="0" u="none" strike="noStrike" cap="none" dirty="0" err="1">
                <a:solidFill>
                  <a:schemeClr val="tx1"/>
                </a:solidFill>
                <a:latin typeface="Arial"/>
                <a:ea typeface="Arial"/>
                <a:cs typeface="Arial"/>
                <a:sym typeface="Arial"/>
              </a:rPr>
              <a:t>tuệ</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nhân</a:t>
            </a:r>
            <a:r>
              <a:rPr lang="en-US" sz="1800" b="0" i="0" u="none" strike="noStrike" cap="none" dirty="0">
                <a:solidFill>
                  <a:schemeClr val="tx1"/>
                </a:solidFill>
                <a:latin typeface="Arial"/>
                <a:ea typeface="Arial"/>
                <a:cs typeface="Arial"/>
                <a:sym typeface="Arial"/>
              </a:rPr>
              <a:t> </a:t>
            </a:r>
            <a:r>
              <a:rPr lang="en-US" sz="1800" b="0" i="0" u="none" strike="noStrike" cap="none" dirty="0" err="1">
                <a:solidFill>
                  <a:schemeClr val="tx1"/>
                </a:solidFill>
                <a:latin typeface="Arial"/>
                <a:ea typeface="Arial"/>
                <a:cs typeface="Arial"/>
                <a:sym typeface="Arial"/>
              </a:rPr>
              <a:t>tạo</a:t>
            </a:r>
            <a:endParaRPr sz="1800" b="0" i="0" u="none" strike="noStrike" cap="none" dirty="0">
              <a:solidFill>
                <a:schemeClr val="tx1"/>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411353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grpSp>
        <p:nvGrpSpPr>
          <p:cNvPr id="258" name="Google Shape;258;p8"/>
          <p:cNvGrpSpPr/>
          <p:nvPr/>
        </p:nvGrpSpPr>
        <p:grpSpPr>
          <a:xfrm>
            <a:off x="1082622" y="2276872"/>
            <a:ext cx="7519981" cy="3593248"/>
            <a:chOff x="1149608" y="1268413"/>
            <a:chExt cx="7519981" cy="3593248"/>
          </a:xfrm>
        </p:grpSpPr>
        <p:sp>
          <p:nvSpPr>
            <p:cNvPr id="259" name="Google Shape;259;p8"/>
            <p:cNvSpPr/>
            <p:nvPr/>
          </p:nvSpPr>
          <p:spPr>
            <a:xfrm>
              <a:off x="1319330" y="2212367"/>
              <a:ext cx="3716220" cy="2260775"/>
            </a:xfrm>
            <a:prstGeom prst="rect">
              <a:avLst/>
            </a:prstGeom>
            <a:noFill/>
            <a:ln w="1905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260" name="Google Shape;260;p8"/>
            <p:cNvGrpSpPr/>
            <p:nvPr/>
          </p:nvGrpSpPr>
          <p:grpSpPr>
            <a:xfrm>
              <a:off x="3183791" y="1637745"/>
              <a:ext cx="3743366" cy="759492"/>
              <a:chOff x="3183791" y="2879778"/>
              <a:chExt cx="3743366" cy="759492"/>
            </a:xfrm>
          </p:grpSpPr>
          <p:cxnSp>
            <p:nvCxnSpPr>
              <p:cNvPr id="261" name="Google Shape;261;p8"/>
              <p:cNvCxnSpPr/>
              <p:nvPr/>
            </p:nvCxnSpPr>
            <p:spPr>
              <a:xfrm rot="10800000">
                <a:off x="3183791" y="3103898"/>
                <a:ext cx="0" cy="535372"/>
              </a:xfrm>
              <a:prstGeom prst="straightConnector1">
                <a:avLst/>
              </a:prstGeom>
              <a:noFill/>
              <a:ln w="15875" cap="flat" cmpd="sng">
                <a:solidFill>
                  <a:srgbClr val="1429A0"/>
                </a:solidFill>
                <a:prstDash val="solid"/>
                <a:miter lim="800000"/>
                <a:headEnd type="none" w="sm" len="sm"/>
                <a:tailEnd type="none" w="sm" len="sm"/>
              </a:ln>
            </p:spPr>
          </p:cxnSp>
          <p:cxnSp>
            <p:nvCxnSpPr>
              <p:cNvPr id="262" name="Google Shape;262;p8"/>
              <p:cNvCxnSpPr/>
              <p:nvPr/>
            </p:nvCxnSpPr>
            <p:spPr>
              <a:xfrm>
                <a:off x="3183791" y="3103898"/>
                <a:ext cx="3743366" cy="0"/>
              </a:xfrm>
              <a:prstGeom prst="straightConnector1">
                <a:avLst/>
              </a:prstGeom>
              <a:noFill/>
              <a:ln w="15875" cap="flat" cmpd="sng">
                <a:solidFill>
                  <a:srgbClr val="1429A0"/>
                </a:solidFill>
                <a:prstDash val="solid"/>
                <a:miter lim="800000"/>
                <a:headEnd type="none" w="sm" len="sm"/>
                <a:tailEnd type="none" w="sm" len="sm"/>
              </a:ln>
            </p:spPr>
          </p:cxnSp>
          <p:cxnSp>
            <p:nvCxnSpPr>
              <p:cNvPr id="263" name="Google Shape;263;p8"/>
              <p:cNvCxnSpPr/>
              <p:nvPr/>
            </p:nvCxnSpPr>
            <p:spPr>
              <a:xfrm rot="10800000">
                <a:off x="6927157" y="3103898"/>
                <a:ext cx="0" cy="535372"/>
              </a:xfrm>
              <a:prstGeom prst="straightConnector1">
                <a:avLst/>
              </a:prstGeom>
              <a:noFill/>
              <a:ln w="15875" cap="flat" cmpd="sng">
                <a:solidFill>
                  <a:srgbClr val="1429A0"/>
                </a:solidFill>
                <a:prstDash val="solid"/>
                <a:miter lim="800000"/>
                <a:headEnd type="none" w="sm" len="sm"/>
                <a:tailEnd type="none" w="sm" len="sm"/>
              </a:ln>
            </p:spPr>
          </p:cxnSp>
          <p:cxnSp>
            <p:nvCxnSpPr>
              <p:cNvPr id="264" name="Google Shape;264;p8"/>
              <p:cNvCxnSpPr/>
              <p:nvPr/>
            </p:nvCxnSpPr>
            <p:spPr>
              <a:xfrm rot="10800000">
                <a:off x="5055474" y="2879778"/>
                <a:ext cx="0" cy="224122"/>
              </a:xfrm>
              <a:prstGeom prst="straightConnector1">
                <a:avLst/>
              </a:prstGeom>
              <a:noFill/>
              <a:ln w="15875" cap="flat" cmpd="sng">
                <a:solidFill>
                  <a:srgbClr val="1429A0"/>
                </a:solidFill>
                <a:prstDash val="solid"/>
                <a:miter lim="800000"/>
                <a:headEnd type="none" w="sm" len="sm"/>
                <a:tailEnd type="none" w="sm" len="sm"/>
              </a:ln>
            </p:spPr>
          </p:cxnSp>
        </p:grpSp>
        <p:sp>
          <p:nvSpPr>
            <p:cNvPr id="265" name="Google Shape;265;p8"/>
            <p:cNvSpPr/>
            <p:nvPr/>
          </p:nvSpPr>
          <p:spPr>
            <a:xfrm>
              <a:off x="3183791" y="1268413"/>
              <a:ext cx="3743366" cy="369332"/>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1429A0"/>
                  </a:solidFill>
                  <a:latin typeface="Arial"/>
                  <a:ea typeface="Arial"/>
                  <a:cs typeface="Arial"/>
                  <a:sym typeface="Arial"/>
                </a:rPr>
                <a:t>Trí tuệ nhân tạo</a:t>
              </a:r>
              <a:endParaRPr sz="1800" b="1" i="0" u="none" strike="noStrike" cap="none">
                <a:solidFill>
                  <a:srgbClr val="1429A0"/>
                </a:solidFill>
                <a:latin typeface="Arial"/>
                <a:ea typeface="Arial"/>
                <a:cs typeface="Arial"/>
                <a:sym typeface="Arial"/>
              </a:endParaRPr>
            </a:p>
          </p:txBody>
        </p:sp>
        <p:sp>
          <p:nvSpPr>
            <p:cNvPr id="266" name="Google Shape;266;p8"/>
            <p:cNvSpPr/>
            <p:nvPr/>
          </p:nvSpPr>
          <p:spPr>
            <a:xfrm>
              <a:off x="1441391" y="2376432"/>
              <a:ext cx="3484800" cy="246221"/>
            </a:xfrm>
            <a:prstGeom prst="rect">
              <a:avLst/>
            </a:prstGeom>
            <a:solidFill>
              <a:srgbClr val="FEE599"/>
            </a:solidFill>
            <a:ln>
              <a:noFill/>
            </a:ln>
          </p:spPr>
          <p:txBody>
            <a:bodyPr spcFirstLastPara="1" wrap="square" lIns="0" tIns="0" rIns="0" bIns="0" anchor="t" anchorCtr="0">
              <a:spAutoFit/>
            </a:bodyPr>
            <a:lstStyle/>
            <a:p>
              <a:pPr marL="398463" marR="0" lvl="0" indent="-398463" algn="ctr" rtl="0">
                <a:lnSpc>
                  <a:spcPct val="100000"/>
                </a:lnSpc>
                <a:spcBef>
                  <a:spcPts val="0"/>
                </a:spcBef>
                <a:spcAft>
                  <a:spcPts val="0"/>
                </a:spcAft>
                <a:buClr>
                  <a:srgbClr val="000000"/>
                </a:buClr>
                <a:buSzPts val="1600"/>
                <a:buFont typeface="Arial"/>
                <a:buNone/>
              </a:pPr>
              <a:r>
                <a:rPr lang="en-US" sz="1600" b="0" i="0" u="none" strike="noStrike" cap="none">
                  <a:solidFill>
                    <a:srgbClr val="193EB0"/>
                  </a:solidFill>
                  <a:latin typeface="Arial"/>
                  <a:ea typeface="Arial"/>
                  <a:cs typeface="Arial"/>
                  <a:sym typeface="Arial"/>
                </a:rPr>
                <a:t>Trí tuệ nhân tạo hẹp (ANI)</a:t>
              </a:r>
              <a:endParaRPr sz="1400" b="0" i="0" u="none" strike="noStrike" cap="none">
                <a:solidFill>
                  <a:srgbClr val="000000"/>
                </a:solidFill>
                <a:latin typeface="Arial"/>
                <a:ea typeface="Arial"/>
                <a:cs typeface="Arial"/>
                <a:sym typeface="Arial"/>
              </a:endParaRPr>
            </a:p>
          </p:txBody>
        </p:sp>
        <p:sp>
          <p:nvSpPr>
            <p:cNvPr id="267" name="Google Shape;267;p8"/>
            <p:cNvSpPr/>
            <p:nvPr/>
          </p:nvSpPr>
          <p:spPr>
            <a:xfrm>
              <a:off x="1441391" y="2714797"/>
              <a:ext cx="3484800" cy="6001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dirty="0">
                  <a:solidFill>
                    <a:srgbClr val="262626"/>
                  </a:solidFill>
                  <a:latin typeface="Arial"/>
                  <a:ea typeface="Arial"/>
                  <a:cs typeface="Arial"/>
                  <a:sym typeface="Arial"/>
                </a:rPr>
                <a:t>Trí </a:t>
              </a:r>
              <a:r>
                <a:rPr lang="en-US" sz="1300" b="0" i="0" u="none" strike="noStrike" cap="none" dirty="0" err="1">
                  <a:solidFill>
                    <a:srgbClr val="262626"/>
                  </a:solidFill>
                  <a:latin typeface="Arial"/>
                  <a:ea typeface="Arial"/>
                  <a:cs typeface="Arial"/>
                  <a:sym typeface="Arial"/>
                </a:rPr>
                <a:t>tuệ</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tạo</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yếu</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dirty="0" err="1">
                  <a:solidFill>
                    <a:srgbClr val="262626"/>
                  </a:solidFill>
                  <a:latin typeface="Arial"/>
                  <a:ea typeface="Arial"/>
                  <a:cs typeface="Arial"/>
                  <a:sym typeface="Arial"/>
                </a:rPr>
                <a:t>Thực</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hiện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các</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chức</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năng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cụ</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thể</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của</a:t>
              </a:r>
              <a:r>
                <a:rPr lang="en-US" sz="1300" b="0" i="0" u="none" strike="noStrike" cap="none" dirty="0">
                  <a:solidFill>
                    <a:srgbClr val="262626"/>
                  </a:solidFill>
                  <a:latin typeface="Arial"/>
                  <a:ea typeface="Arial"/>
                  <a:cs typeface="Arial"/>
                  <a:sym typeface="Arial"/>
                </a:rPr>
                <a:t> con </a:t>
              </a:r>
              <a:r>
                <a:rPr lang="en-US" sz="1300" b="0" i="0" u="none" strike="noStrike" cap="none" dirty="0" err="1">
                  <a:solidFill>
                    <a:srgbClr val="262626"/>
                  </a:solidFill>
                  <a:latin typeface="Arial"/>
                  <a:ea typeface="Arial"/>
                  <a:cs typeface="Arial"/>
                  <a:sym typeface="Arial"/>
                </a:rPr>
                <a:t>người</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dirty="0">
                  <a:solidFill>
                    <a:srgbClr val="262626"/>
                  </a:solidFill>
                  <a:latin typeface="Arial"/>
                  <a:ea typeface="Arial"/>
                  <a:cs typeface="Arial"/>
                  <a:sym typeface="Arial"/>
                </a:rPr>
                <a:t>(</a:t>
              </a:r>
              <a:r>
                <a:rPr lang="en-US" sz="1300" b="0" i="0" u="none" strike="noStrike" cap="none" dirty="0" err="1">
                  <a:solidFill>
                    <a:srgbClr val="262626"/>
                  </a:solidFill>
                  <a:latin typeface="Arial"/>
                  <a:ea typeface="Arial"/>
                  <a:cs typeface="Arial"/>
                  <a:sym typeface="Arial"/>
                </a:rPr>
                <a:t>Ví</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dụ</a:t>
              </a:r>
              <a:r>
                <a:rPr lang="en-US" sz="1300" b="0" i="0" u="none" strike="noStrike" cap="none" dirty="0">
                  <a:solidFill>
                    <a:srgbClr val="262626"/>
                  </a:solidFill>
                  <a:latin typeface="Arial"/>
                  <a:ea typeface="Arial"/>
                  <a:cs typeface="Arial"/>
                  <a:sym typeface="Arial"/>
                </a:rPr>
                <a:t>: loa </a:t>
              </a:r>
              <a:r>
                <a:rPr lang="en-US" sz="1300" b="0" i="0" u="none" strike="noStrike" cap="none" dirty="0" err="1">
                  <a:solidFill>
                    <a:srgbClr val="262626"/>
                  </a:solidFill>
                  <a:latin typeface="Arial"/>
                  <a:ea typeface="Arial"/>
                  <a:cs typeface="Arial"/>
                  <a:sym typeface="Arial"/>
                </a:rPr>
                <a:t>thông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minh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xe</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tự</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lái</a:t>
              </a:r>
              <a:r>
                <a:rPr lang="en-US" sz="1300" b="0" i="0" u="none" strike="noStrike" cap="none" dirty="0">
                  <a:solidFill>
                    <a:srgbClr val="262626"/>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68" name="Google Shape;268;p8"/>
            <p:cNvSpPr/>
            <p:nvPr/>
          </p:nvSpPr>
          <p:spPr>
            <a:xfrm>
              <a:off x="1441376" y="3447321"/>
              <a:ext cx="3484863" cy="936014"/>
            </a:xfrm>
            <a:prstGeom prst="rect">
              <a:avLst/>
            </a:prstGeom>
            <a:noFill/>
            <a:ln>
              <a:noFill/>
            </a:ln>
          </p:spPr>
          <p:txBody>
            <a:bodyPr spcFirstLastPara="1" wrap="square" lIns="36000" tIns="46800" rIns="36000" bIns="46800" anchor="ctr" anchorCtr="0">
              <a:noAutofit/>
            </a:bodyPr>
            <a:lstStyle/>
            <a:p>
              <a:pPr marL="171450" marR="0" lvl="0" indent="-171450" algn="l" rtl="0">
                <a:lnSpc>
                  <a:spcPct val="100000"/>
                </a:lnSpc>
                <a:spcBef>
                  <a:spcPts val="0"/>
                </a:spcBef>
                <a:spcAft>
                  <a:spcPts val="0"/>
                </a:spcAft>
                <a:buClr>
                  <a:srgbClr val="FF0000"/>
                </a:buClr>
                <a:buSzPts val="1300"/>
                <a:buFont typeface="Arial"/>
                <a:buChar char="•"/>
              </a:pPr>
              <a:r>
                <a:rPr lang="en-US" sz="1300" b="0" i="0" u="none" strike="noStrike" cap="none" dirty="0" err="1">
                  <a:solidFill>
                    <a:schemeClr val="dk1"/>
                  </a:solidFill>
                  <a:latin typeface="Arial"/>
                  <a:ea typeface="Arial"/>
                  <a:cs typeface="Arial"/>
                  <a:sym typeface="Arial"/>
                </a:rPr>
                <a:t>Một</a:t>
              </a:r>
              <a:r>
                <a:rPr lang="en-US" sz="1300" b="0" i="0" u="none" strike="noStrike" cap="none" dirty="0">
                  <a:solidFill>
                    <a:schemeClr val="dk1"/>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loại</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trí</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tuệ</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nhân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tạo</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thực</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hiện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được</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các</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chức</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năng</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cụ</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thể</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của</a:t>
              </a:r>
              <a:r>
                <a:rPr lang="en-US" sz="1300" b="0" i="0" u="none" strike="noStrike" cap="none" dirty="0">
                  <a:solidFill>
                    <a:srgbClr val="000000"/>
                  </a:solidFill>
                  <a:latin typeface="Arial"/>
                  <a:ea typeface="Arial"/>
                  <a:cs typeface="Arial"/>
                  <a:sym typeface="Arial"/>
                </a:rPr>
                <a:t> con </a:t>
              </a:r>
              <a:r>
                <a:rPr lang="en-US" sz="1300" b="0" i="0" u="none" strike="noStrike" cap="none" dirty="0" err="1">
                  <a:solidFill>
                    <a:srgbClr val="000000"/>
                  </a:solidFill>
                  <a:latin typeface="Arial"/>
                  <a:ea typeface="Arial"/>
                  <a:cs typeface="Arial"/>
                  <a:sym typeface="Arial"/>
                </a:rPr>
                <a:t>người</a:t>
              </a:r>
              <a:endParaRPr sz="1400" b="0" i="0" u="none" strike="noStrike" cap="none" dirty="0">
                <a:solidFill>
                  <a:srgbClr val="000000"/>
                </a:solidFill>
                <a:latin typeface="Arial"/>
                <a:ea typeface="Arial"/>
                <a:cs typeface="Arial"/>
                <a:sym typeface="Arial"/>
              </a:endParaRPr>
            </a:p>
            <a:p>
              <a:pPr marL="171450" marR="0" lvl="0" indent="-171450" algn="l" rtl="0">
                <a:lnSpc>
                  <a:spcPct val="100000"/>
                </a:lnSpc>
                <a:spcBef>
                  <a:spcPts val="650"/>
                </a:spcBef>
                <a:spcAft>
                  <a:spcPts val="0"/>
                </a:spcAft>
                <a:buClr>
                  <a:srgbClr val="000000"/>
                </a:buClr>
                <a:buSzPts val="1300"/>
                <a:buFont typeface="Arial"/>
                <a:buChar char="•"/>
              </a:pPr>
              <a:r>
                <a:rPr lang="en-US" sz="1300" b="0" i="0" u="none" strike="noStrike" cap="none" dirty="0" err="1">
                  <a:solidFill>
                    <a:srgbClr val="000000"/>
                  </a:solidFill>
                  <a:latin typeface="Arial"/>
                  <a:ea typeface="Arial"/>
                  <a:cs typeface="Arial"/>
                  <a:sym typeface="Arial"/>
                </a:rPr>
                <a:t>Phần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lớn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các</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tiến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bộ</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công</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nghệ</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gần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đây</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đều</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đến</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từ</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lĩnh</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vực</a:t>
              </a:r>
              <a:r>
                <a:rPr lang="en-US" sz="1300" b="0" i="0" u="none" strike="noStrike" cap="none" dirty="0">
                  <a:solidFill>
                    <a:srgbClr val="000000"/>
                  </a:solidFill>
                  <a:latin typeface="Arial"/>
                  <a:ea typeface="Arial"/>
                  <a:cs typeface="Arial"/>
                  <a:sym typeface="Arial"/>
                </a:rPr>
                <a:t> </a:t>
              </a:r>
              <a:r>
                <a:rPr lang="en-US" sz="1300" b="0" i="0" u="none" strike="noStrike" cap="none" dirty="0" err="1">
                  <a:solidFill>
                    <a:srgbClr val="000000"/>
                  </a:solidFill>
                  <a:latin typeface="Arial"/>
                  <a:ea typeface="Arial"/>
                  <a:cs typeface="Arial"/>
                  <a:sym typeface="Arial"/>
                </a:rPr>
                <a:t>này</a:t>
              </a:r>
              <a:endParaRPr sz="1400" b="0" i="0" u="none" strike="noStrike" cap="none" dirty="0">
                <a:solidFill>
                  <a:srgbClr val="000000"/>
                </a:solidFill>
                <a:latin typeface="Arial"/>
                <a:ea typeface="Arial"/>
                <a:cs typeface="Arial"/>
                <a:sym typeface="Arial"/>
              </a:endParaRPr>
            </a:p>
          </p:txBody>
        </p:sp>
        <p:cxnSp>
          <p:nvCxnSpPr>
            <p:cNvPr id="269" name="Google Shape;269;p8"/>
            <p:cNvCxnSpPr/>
            <p:nvPr/>
          </p:nvCxnSpPr>
          <p:spPr>
            <a:xfrm>
              <a:off x="1441376" y="3383125"/>
              <a:ext cx="3484832" cy="0"/>
            </a:xfrm>
            <a:prstGeom prst="straightConnector1">
              <a:avLst/>
            </a:prstGeom>
            <a:noFill/>
            <a:ln w="15875" cap="flat" cmpd="sng">
              <a:solidFill>
                <a:srgbClr val="AEABAB"/>
              </a:solidFill>
              <a:prstDash val="solid"/>
              <a:miter lim="800000"/>
              <a:headEnd type="none" w="sm" len="sm"/>
              <a:tailEnd type="none" w="sm" len="sm"/>
            </a:ln>
          </p:spPr>
        </p:cxnSp>
        <p:sp>
          <p:nvSpPr>
            <p:cNvPr id="270" name="Google Shape;270;p8"/>
            <p:cNvSpPr/>
            <p:nvPr/>
          </p:nvSpPr>
          <p:spPr>
            <a:xfrm>
              <a:off x="5184757" y="2376432"/>
              <a:ext cx="3484800" cy="246221"/>
            </a:xfrm>
            <a:prstGeom prst="rect">
              <a:avLst/>
            </a:prstGeom>
            <a:solidFill>
              <a:srgbClr val="BBD6EE"/>
            </a:solidFill>
            <a:ln>
              <a:noFill/>
            </a:ln>
          </p:spPr>
          <p:txBody>
            <a:bodyPr spcFirstLastPara="1" wrap="square" lIns="0" tIns="0" rIns="0" bIns="0" anchor="t" anchorCtr="0">
              <a:spAutoFit/>
            </a:bodyPr>
            <a:lstStyle/>
            <a:p>
              <a:pPr marL="398463" marR="0" lvl="0" indent="-398463" algn="ctr" rtl="0">
                <a:lnSpc>
                  <a:spcPct val="100000"/>
                </a:lnSpc>
                <a:spcBef>
                  <a:spcPts val="0"/>
                </a:spcBef>
                <a:spcAft>
                  <a:spcPts val="0"/>
                </a:spcAft>
                <a:buClr>
                  <a:srgbClr val="000000"/>
                </a:buClr>
                <a:buSzPts val="1600"/>
                <a:buFont typeface="Arial"/>
                <a:buNone/>
              </a:pPr>
              <a:r>
                <a:rPr lang="en-US" sz="1600" b="0" i="0" u="none" strike="noStrike" cap="none">
                  <a:solidFill>
                    <a:srgbClr val="1428A0"/>
                  </a:solidFill>
                  <a:latin typeface="Arial"/>
                  <a:ea typeface="Arial"/>
                  <a:cs typeface="Arial"/>
                  <a:sym typeface="Arial"/>
                </a:rPr>
                <a:t>Trí tuệ nhân tạo tổng quát (AGI)</a:t>
              </a:r>
              <a:endParaRPr sz="1400" b="0" i="0" u="none" strike="noStrike" cap="none">
                <a:solidFill>
                  <a:srgbClr val="1428A0"/>
                </a:solidFill>
                <a:latin typeface="Arial"/>
                <a:ea typeface="Arial"/>
                <a:cs typeface="Arial"/>
                <a:sym typeface="Arial"/>
              </a:endParaRPr>
            </a:p>
          </p:txBody>
        </p:sp>
        <p:sp>
          <p:nvSpPr>
            <p:cNvPr id="271" name="Google Shape;271;p8"/>
            <p:cNvSpPr/>
            <p:nvPr/>
          </p:nvSpPr>
          <p:spPr>
            <a:xfrm>
              <a:off x="5184757" y="2714797"/>
              <a:ext cx="3484800" cy="40011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Trí tuệ nhân tạo mạnh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Thực hiện mọi thao tác như con người</a:t>
              </a:r>
              <a:endParaRPr sz="1400" b="0" i="0" u="none" strike="noStrike" cap="none">
                <a:solidFill>
                  <a:srgbClr val="000000"/>
                </a:solidFill>
                <a:latin typeface="Arial"/>
                <a:ea typeface="Arial"/>
                <a:cs typeface="Arial"/>
                <a:sym typeface="Arial"/>
              </a:endParaRPr>
            </a:p>
          </p:txBody>
        </p:sp>
        <p:sp>
          <p:nvSpPr>
            <p:cNvPr id="272" name="Google Shape;272;p8"/>
            <p:cNvSpPr/>
            <p:nvPr/>
          </p:nvSpPr>
          <p:spPr>
            <a:xfrm>
              <a:off x="5184726" y="3441870"/>
              <a:ext cx="3484863" cy="936014"/>
            </a:xfrm>
            <a:prstGeom prst="rect">
              <a:avLst/>
            </a:prstGeom>
            <a:noFill/>
            <a:ln>
              <a:noFill/>
            </a:ln>
          </p:spPr>
          <p:txBody>
            <a:bodyPr spcFirstLastPara="1" wrap="square" lIns="36000" tIns="46800" rIns="36000" bIns="46800" anchor="ctr" anchorCtr="0">
              <a:noAutofit/>
            </a:bodyPr>
            <a:lstStyle/>
            <a:p>
              <a:pPr marL="171450" marR="0" lvl="0" indent="-171450" algn="l" rtl="0">
                <a:lnSpc>
                  <a:spcPct val="100000"/>
                </a:lnSpc>
                <a:spcBef>
                  <a:spcPts val="0"/>
                </a:spcBef>
                <a:spcAft>
                  <a:spcPts val="0"/>
                </a:spcAft>
                <a:buClr>
                  <a:srgbClr val="FF0000"/>
                </a:buClr>
                <a:buSzPts val="1300"/>
                <a:buFont typeface="Arial"/>
                <a:buChar char="•"/>
              </a:pPr>
              <a:r>
                <a:rPr lang="en-US" sz="1300" b="0" i="0" u="none" strike="noStrike" cap="none">
                  <a:solidFill>
                    <a:schemeClr val="dk1"/>
                  </a:solidFill>
                  <a:latin typeface="Arial"/>
                  <a:ea typeface="Arial"/>
                  <a:cs typeface="Arial"/>
                  <a:sym typeface="Arial"/>
                </a:rPr>
                <a:t>Một lo</a:t>
              </a:r>
              <a:r>
                <a:rPr lang="en-US" sz="1300" b="0" i="0" u="none" strike="noStrike" cap="none">
                  <a:solidFill>
                    <a:srgbClr val="000000"/>
                  </a:solidFill>
                  <a:latin typeface="Arial"/>
                  <a:ea typeface="Arial"/>
                  <a:cs typeface="Arial"/>
                  <a:sym typeface="Arial"/>
                </a:rPr>
                <a:t>ại trí tuệ nhân tạo có thể thực hiện tất cả hoạt động của con người</a:t>
              </a:r>
              <a:endParaRPr sz="1400" b="0" i="0" u="none" strike="noStrike" cap="none">
                <a:solidFill>
                  <a:srgbClr val="000000"/>
                </a:solidFill>
                <a:latin typeface="Arial"/>
                <a:ea typeface="Arial"/>
                <a:cs typeface="Arial"/>
                <a:sym typeface="Arial"/>
              </a:endParaRPr>
            </a:p>
            <a:p>
              <a:pPr marL="171450" marR="0" lvl="0" indent="-171450" algn="l" rtl="0">
                <a:lnSpc>
                  <a:spcPct val="100000"/>
                </a:lnSpc>
                <a:spcBef>
                  <a:spcPts val="650"/>
                </a:spcBef>
                <a:spcAft>
                  <a:spcPts val="0"/>
                </a:spcAft>
                <a:buClr>
                  <a:srgbClr val="000000"/>
                </a:buClr>
                <a:buSzPts val="1300"/>
                <a:buFont typeface="Arial"/>
                <a:buChar char="•"/>
              </a:pPr>
              <a:r>
                <a:rPr lang="en-US" sz="1300" b="0" i="0" u="none" strike="noStrike" cap="none">
                  <a:solidFill>
                    <a:srgbClr val="000000"/>
                  </a:solidFill>
                  <a:latin typeface="Arial"/>
                  <a:ea typeface="Arial"/>
                  <a:cs typeface="Arial"/>
                  <a:sym typeface="Arial"/>
                </a:rPr>
                <a:t>Tiến bộ công nghệ về AGI chậm hơn nhiều so với ANI</a:t>
              </a:r>
              <a:endParaRPr sz="1400" b="0" i="0" u="none" strike="noStrike" cap="none">
                <a:solidFill>
                  <a:srgbClr val="000000"/>
                </a:solidFill>
                <a:latin typeface="Arial"/>
                <a:ea typeface="Arial"/>
                <a:cs typeface="Arial"/>
                <a:sym typeface="Arial"/>
              </a:endParaRPr>
            </a:p>
          </p:txBody>
        </p:sp>
        <p:cxnSp>
          <p:nvCxnSpPr>
            <p:cNvPr id="273" name="Google Shape;273;p8"/>
            <p:cNvCxnSpPr/>
            <p:nvPr/>
          </p:nvCxnSpPr>
          <p:spPr>
            <a:xfrm>
              <a:off x="5184742" y="3383125"/>
              <a:ext cx="3484832" cy="0"/>
            </a:xfrm>
            <a:prstGeom prst="straightConnector1">
              <a:avLst/>
            </a:prstGeom>
            <a:noFill/>
            <a:ln w="15875" cap="flat" cmpd="sng">
              <a:solidFill>
                <a:srgbClr val="AEABAB"/>
              </a:solidFill>
              <a:prstDash val="solid"/>
              <a:miter lim="800000"/>
              <a:headEnd type="none" w="sm" len="sm"/>
              <a:tailEnd type="none" w="sm" len="sm"/>
            </a:ln>
          </p:spPr>
        </p:cxnSp>
        <p:sp>
          <p:nvSpPr>
            <p:cNvPr id="274" name="Google Shape;274;p8"/>
            <p:cNvSpPr txBox="1"/>
            <p:nvPr/>
          </p:nvSpPr>
          <p:spPr>
            <a:xfrm>
              <a:off x="1149608" y="4553884"/>
              <a:ext cx="406836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err="1">
                  <a:solidFill>
                    <a:srgbClr val="193EB0"/>
                  </a:solidFill>
                  <a:latin typeface="Arial"/>
                  <a:ea typeface="Arial"/>
                  <a:cs typeface="Arial"/>
                  <a:sym typeface="Arial"/>
                </a:rPr>
                <a:t>Trọng</a:t>
              </a:r>
              <a:r>
                <a:rPr lang="en-US" sz="1400" b="1" i="0" u="none" strike="noStrike" cap="none" dirty="0">
                  <a:solidFill>
                    <a:srgbClr val="193EB0"/>
                  </a:solidFill>
                  <a:latin typeface="Arial"/>
                  <a:ea typeface="Arial"/>
                  <a:cs typeface="Arial"/>
                  <a:sym typeface="Arial"/>
                </a:rPr>
                <a:t> </a:t>
              </a:r>
              <a:r>
                <a:rPr lang="en-US" sz="1400" b="1" i="0" u="none" strike="noStrike" cap="none" dirty="0" err="1">
                  <a:solidFill>
                    <a:srgbClr val="193EB0"/>
                  </a:solidFill>
                  <a:latin typeface="Arial"/>
                  <a:ea typeface="Arial"/>
                  <a:cs typeface="Arial"/>
                  <a:sym typeface="Arial"/>
                </a:rPr>
                <a:t>tâm</a:t>
              </a:r>
              <a:r>
                <a:rPr lang="en-US" sz="1400" b="1" i="0" u="none" strike="noStrike" cap="none" dirty="0">
                  <a:solidFill>
                    <a:srgbClr val="193EB0"/>
                  </a:solidFill>
                  <a:latin typeface="Arial"/>
                  <a:ea typeface="Arial"/>
                  <a:cs typeface="Arial"/>
                  <a:sym typeface="Arial"/>
                </a:rPr>
                <a:t> </a:t>
              </a:r>
              <a:r>
                <a:rPr lang="en-US" sz="1400" b="1" i="0" u="none" strike="noStrike" cap="none" dirty="0" err="1">
                  <a:solidFill>
                    <a:srgbClr val="193EB0"/>
                  </a:solidFill>
                  <a:latin typeface="Arial"/>
                  <a:ea typeface="Arial"/>
                  <a:cs typeface="Arial"/>
                  <a:sym typeface="Arial"/>
                </a:rPr>
                <a:t>của</a:t>
              </a:r>
              <a:r>
                <a:rPr lang="en-US" sz="1400" b="1" i="0" u="none" strike="noStrike" cap="none" dirty="0">
                  <a:solidFill>
                    <a:srgbClr val="193EB0"/>
                  </a:solidFill>
                  <a:latin typeface="Arial"/>
                  <a:ea typeface="Arial"/>
                  <a:cs typeface="Arial"/>
                  <a:sym typeface="Arial"/>
                </a:rPr>
                <a:t> </a:t>
              </a:r>
              <a:r>
                <a:rPr lang="en-US" sz="1400" b="1" i="0" u="none" strike="noStrike" cap="none" dirty="0" err="1">
                  <a:solidFill>
                    <a:srgbClr val="193EB0"/>
                  </a:solidFill>
                  <a:latin typeface="Arial"/>
                  <a:ea typeface="Arial"/>
                  <a:cs typeface="Arial"/>
                  <a:sym typeface="Arial"/>
                </a:rPr>
                <a:t>bài</a:t>
              </a:r>
              <a:r>
                <a:rPr lang="en-US" sz="1400" b="1" i="0" u="none" strike="noStrike" cap="none" dirty="0">
                  <a:solidFill>
                    <a:srgbClr val="193EB0"/>
                  </a:solidFill>
                  <a:latin typeface="Arial"/>
                  <a:ea typeface="Arial"/>
                  <a:cs typeface="Arial"/>
                  <a:sym typeface="Arial"/>
                </a:rPr>
                <a:t> </a:t>
              </a:r>
              <a:r>
                <a:rPr lang="en-US" sz="1400" b="1" i="0" u="none" strike="noStrike" cap="none" dirty="0" err="1">
                  <a:solidFill>
                    <a:srgbClr val="193EB0"/>
                  </a:solidFill>
                  <a:latin typeface="Arial"/>
                  <a:ea typeface="Arial"/>
                  <a:cs typeface="Arial"/>
                  <a:sym typeface="Arial"/>
                </a:rPr>
                <a:t>học</a:t>
              </a:r>
              <a:r>
                <a:rPr lang="en-US" sz="1400" b="1" i="0" u="none" strike="noStrike" cap="none" dirty="0">
                  <a:solidFill>
                    <a:srgbClr val="193EB0"/>
                  </a:solidFill>
                  <a:latin typeface="Arial"/>
                  <a:ea typeface="Arial"/>
                  <a:cs typeface="Arial"/>
                  <a:sym typeface="Arial"/>
                </a:rPr>
                <a:t> </a:t>
              </a:r>
              <a:r>
                <a:rPr lang="en-US" sz="1400" b="1" i="0" u="none" strike="noStrike" cap="none" dirty="0" err="1">
                  <a:solidFill>
                    <a:srgbClr val="193EB0"/>
                  </a:solidFill>
                  <a:latin typeface="Arial"/>
                  <a:ea typeface="Arial"/>
                  <a:cs typeface="Arial"/>
                  <a:sym typeface="Arial"/>
                </a:rPr>
                <a:t>này</a:t>
              </a:r>
              <a:endParaRPr sz="1400" b="1" i="0" u="none" strike="noStrike" cap="none" dirty="0">
                <a:solidFill>
                  <a:srgbClr val="193EB0"/>
                </a:solidFill>
                <a:latin typeface="Arial"/>
                <a:ea typeface="Arial"/>
                <a:cs typeface="Arial"/>
                <a:sym typeface="Arial"/>
              </a:endParaRPr>
            </a:p>
          </p:txBody>
        </p:sp>
      </p:grpSp>
      <p:sp>
        <p:nvSpPr>
          <p:cNvPr id="275" name="Google Shape;275;p8"/>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Phân loại Trí tuệ nhân tạo</a:t>
            </a:r>
            <a:endParaRPr sz="2400" b="1" i="0" u="none" strike="noStrike" cap="none">
              <a:solidFill>
                <a:srgbClr val="0C0C0C"/>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9"/>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Tập con trí tuệ nhân tạo là gì?</a:t>
            </a:r>
            <a:endParaRPr sz="1400" b="0" i="0" u="none" strike="noStrike" cap="none">
              <a:solidFill>
                <a:srgbClr val="000000"/>
              </a:solidFill>
              <a:latin typeface="Arial"/>
              <a:ea typeface="Arial"/>
              <a:cs typeface="Arial"/>
              <a:sym typeface="Arial"/>
            </a:endParaRPr>
          </a:p>
        </p:txBody>
      </p:sp>
      <p:grpSp>
        <p:nvGrpSpPr>
          <p:cNvPr id="285" name="Google Shape;285;p9"/>
          <p:cNvGrpSpPr/>
          <p:nvPr/>
        </p:nvGrpSpPr>
        <p:grpSpPr>
          <a:xfrm>
            <a:off x="947560" y="2084581"/>
            <a:ext cx="8009861" cy="3842208"/>
            <a:chOff x="957064" y="2025539"/>
            <a:chExt cx="8009861" cy="3842208"/>
          </a:xfrm>
        </p:grpSpPr>
        <p:sp>
          <p:nvSpPr>
            <p:cNvPr id="286" name="Google Shape;286;p9"/>
            <p:cNvSpPr/>
            <p:nvPr/>
          </p:nvSpPr>
          <p:spPr>
            <a:xfrm>
              <a:off x="5107591" y="2025539"/>
              <a:ext cx="3859334" cy="3842208"/>
            </a:xfrm>
            <a:prstGeom prst="ellipse">
              <a:avLst/>
            </a:prstGeom>
            <a:solidFill>
              <a:srgbClr val="AEABAB"/>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 name="Google Shape;287;p9"/>
            <p:cNvSpPr/>
            <p:nvPr/>
          </p:nvSpPr>
          <p:spPr>
            <a:xfrm>
              <a:off x="5579933" y="2920758"/>
              <a:ext cx="2914650" cy="2914650"/>
            </a:xfrm>
            <a:prstGeom prst="ellipse">
              <a:avLst/>
            </a:prstGeom>
            <a:solidFill>
              <a:srgbClr val="3366CC"/>
            </a:solidFill>
            <a:ln w="19050" cap="flat" cmpd="sng">
              <a:solidFill>
                <a:schemeClr val="lt1">
                  <a:alpha val="49411"/>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 name="Google Shape;288;p9"/>
            <p:cNvSpPr/>
            <p:nvPr/>
          </p:nvSpPr>
          <p:spPr>
            <a:xfrm>
              <a:off x="6245564" y="4213269"/>
              <a:ext cx="1583388" cy="1583386"/>
            </a:xfrm>
            <a:prstGeom prst="ellipse">
              <a:avLst/>
            </a:prstGeom>
            <a:solidFill>
              <a:srgbClr val="193EB0"/>
            </a:solidFill>
            <a:ln w="19050" cap="flat" cmpd="sng">
              <a:solidFill>
                <a:schemeClr val="lt1">
                  <a:alpha val="49411"/>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 name="Google Shape;289;p9"/>
            <p:cNvSpPr/>
            <p:nvPr/>
          </p:nvSpPr>
          <p:spPr>
            <a:xfrm>
              <a:off x="957065" y="2420322"/>
              <a:ext cx="3117265" cy="646331"/>
            </a:xfrm>
            <a:prstGeom prst="rect">
              <a:avLst/>
            </a:prstGeom>
            <a:noFill/>
            <a:ln>
              <a:noFill/>
            </a:ln>
          </p:spPr>
          <p:txBody>
            <a:bodyPr spcFirstLastPara="1" wrap="square" lIns="0" tIns="0" rIns="0" bIns="0" anchor="t" anchorCtr="0">
              <a:sp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0" i="0" u="none" strike="noStrike" cap="none">
                  <a:solidFill>
                    <a:srgbClr val="1429A0"/>
                  </a:solidFill>
                  <a:latin typeface="Arial"/>
                  <a:ea typeface="Arial"/>
                  <a:cs typeface="Arial"/>
                  <a:sym typeface="Arial"/>
                </a:rPr>
                <a:t>Trí tuệ nhân tạo</a:t>
              </a:r>
              <a:endParaRPr sz="1400" b="0" i="0" u="none" strike="noStrike" cap="none">
                <a:solidFill>
                  <a:srgbClr val="000000"/>
                </a:solidFill>
                <a:latin typeface="Arial"/>
                <a:ea typeface="Arial"/>
                <a:cs typeface="Arial"/>
                <a:sym typeface="Arial"/>
              </a:endParaRPr>
            </a:p>
            <a:p>
              <a:pPr marL="398463" marR="0" lvl="0" indent="-398463"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Bất kỳ kỹ thuật nào cho phép máy tính bắt chước hành vi của con người.</a:t>
              </a:r>
              <a:endParaRPr sz="1400" b="0" i="0" u="none" strike="noStrike" cap="none">
                <a:solidFill>
                  <a:srgbClr val="000000"/>
                </a:solidFill>
                <a:latin typeface="Arial"/>
                <a:ea typeface="Arial"/>
                <a:cs typeface="Arial"/>
                <a:sym typeface="Arial"/>
              </a:endParaRPr>
            </a:p>
          </p:txBody>
        </p:sp>
        <p:sp>
          <p:nvSpPr>
            <p:cNvPr id="290" name="Google Shape;290;p9"/>
            <p:cNvSpPr/>
            <p:nvPr/>
          </p:nvSpPr>
          <p:spPr>
            <a:xfrm>
              <a:off x="957065" y="3496770"/>
              <a:ext cx="3117265" cy="86177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1429A0"/>
                  </a:solidFill>
                  <a:latin typeface="Arial"/>
                  <a:ea typeface="Arial"/>
                  <a:cs typeface="Arial"/>
                  <a:sym typeface="Arial"/>
                </a:rPr>
                <a:t>Học máy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Một nhánh các kỹ thuật trí tuệ nhân tạo sử dụng các phương thức thống kê cho phép máy móc cải tiến dựa trên kinh nghiệm.</a:t>
              </a:r>
              <a:endParaRPr sz="1400" b="0" i="0" u="none" strike="noStrike" cap="none">
                <a:solidFill>
                  <a:srgbClr val="000000"/>
                </a:solidFill>
                <a:latin typeface="Arial"/>
                <a:ea typeface="Arial"/>
                <a:cs typeface="Arial"/>
                <a:sym typeface="Arial"/>
              </a:endParaRPr>
            </a:p>
          </p:txBody>
        </p:sp>
        <p:sp>
          <p:nvSpPr>
            <p:cNvPr id="291" name="Google Shape;291;p9"/>
            <p:cNvSpPr/>
            <p:nvPr/>
          </p:nvSpPr>
          <p:spPr>
            <a:xfrm>
              <a:off x="957064" y="4815371"/>
              <a:ext cx="3117265" cy="86177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1429A0"/>
                  </a:solidFill>
                  <a:latin typeface="Arial"/>
                  <a:ea typeface="Arial"/>
                  <a:cs typeface="Arial"/>
                  <a:sym typeface="Arial"/>
                </a:rPr>
                <a:t>Học sâu</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Một nhánh của Học máy giúp việc tính toán các mạng nơ-ron nhiều lớp trở nên khả thi.</a:t>
              </a:r>
              <a:endParaRPr sz="1400" b="0" i="0" u="none" strike="noStrike" cap="none">
                <a:solidFill>
                  <a:schemeClr val="dk1"/>
                </a:solidFill>
                <a:latin typeface="Arial"/>
                <a:ea typeface="Arial"/>
                <a:cs typeface="Arial"/>
                <a:sym typeface="Arial"/>
              </a:endParaRPr>
            </a:p>
          </p:txBody>
        </p:sp>
        <p:sp>
          <p:nvSpPr>
            <p:cNvPr id="292" name="Google Shape;292;p9"/>
            <p:cNvSpPr/>
            <p:nvPr/>
          </p:nvSpPr>
          <p:spPr>
            <a:xfrm>
              <a:off x="5925849" y="2606152"/>
              <a:ext cx="2222818" cy="215444"/>
            </a:xfrm>
            <a:prstGeom prst="rect">
              <a:avLst/>
            </a:prstGeom>
            <a:noFill/>
            <a:ln>
              <a:noFill/>
            </a:ln>
          </p:spPr>
          <p:txBody>
            <a:bodyPr spcFirstLastPara="1" wrap="square" lIns="0" tIns="0" rIns="0" bIns="0" anchor="t" anchorCtr="0">
              <a:sp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Trí tuệ nhân tạo</a:t>
              </a:r>
              <a:endParaRPr sz="1400" b="0" i="0" u="none" strike="noStrike" cap="none">
                <a:solidFill>
                  <a:schemeClr val="lt1"/>
                </a:solidFill>
                <a:latin typeface="Arial"/>
                <a:ea typeface="Arial"/>
                <a:cs typeface="Arial"/>
                <a:sym typeface="Arial"/>
              </a:endParaRPr>
            </a:p>
          </p:txBody>
        </p:sp>
        <p:sp>
          <p:nvSpPr>
            <p:cNvPr id="293" name="Google Shape;293;p9"/>
            <p:cNvSpPr/>
            <p:nvPr/>
          </p:nvSpPr>
          <p:spPr>
            <a:xfrm>
              <a:off x="6161730" y="3716508"/>
              <a:ext cx="1751057" cy="215444"/>
            </a:xfrm>
            <a:prstGeom prst="rect">
              <a:avLst/>
            </a:prstGeom>
            <a:noFill/>
            <a:ln>
              <a:noFill/>
            </a:ln>
          </p:spPr>
          <p:txBody>
            <a:bodyPr spcFirstLastPara="1" wrap="square" lIns="0" tIns="0" rIns="0" bIns="0" anchor="t" anchorCtr="0">
              <a:sp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Học máy</a:t>
              </a:r>
              <a:endParaRPr sz="1400" b="0" i="0" u="none" strike="noStrike" cap="none">
                <a:solidFill>
                  <a:schemeClr val="lt1"/>
                </a:solidFill>
                <a:latin typeface="Arial"/>
                <a:ea typeface="Arial"/>
                <a:cs typeface="Arial"/>
                <a:sym typeface="Arial"/>
              </a:endParaRPr>
            </a:p>
          </p:txBody>
        </p:sp>
        <p:sp>
          <p:nvSpPr>
            <p:cNvPr id="294" name="Google Shape;294;p9"/>
            <p:cNvSpPr/>
            <p:nvPr/>
          </p:nvSpPr>
          <p:spPr>
            <a:xfrm>
              <a:off x="6313359" y="5056375"/>
              <a:ext cx="1447798" cy="215444"/>
            </a:xfrm>
            <a:prstGeom prst="rect">
              <a:avLst/>
            </a:prstGeom>
            <a:noFill/>
            <a:ln>
              <a:noFill/>
            </a:ln>
          </p:spPr>
          <p:txBody>
            <a:bodyPr spcFirstLastPara="1" wrap="square" lIns="0" tIns="0" rIns="0" bIns="0" anchor="t" anchorCtr="0">
              <a:sp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Học sâu</a:t>
              </a:r>
              <a:endParaRPr sz="1400" b="0" i="0" u="none" strike="noStrike" cap="none">
                <a:solidFill>
                  <a:schemeClr val="lt1"/>
                </a:solidFill>
                <a:latin typeface="Arial"/>
                <a:ea typeface="Arial"/>
                <a:cs typeface="Arial"/>
                <a:sym typeface="Arial"/>
              </a:endParaRPr>
            </a:p>
          </p:txBody>
        </p:sp>
        <p:cxnSp>
          <p:nvCxnSpPr>
            <p:cNvPr id="295" name="Google Shape;295;p9"/>
            <p:cNvCxnSpPr/>
            <p:nvPr/>
          </p:nvCxnSpPr>
          <p:spPr>
            <a:xfrm>
              <a:off x="4175470" y="2728098"/>
              <a:ext cx="1864242" cy="0"/>
            </a:xfrm>
            <a:prstGeom prst="straightConnector1">
              <a:avLst/>
            </a:prstGeom>
            <a:noFill/>
            <a:ln w="12700" cap="flat" cmpd="sng">
              <a:solidFill>
                <a:srgbClr val="7F7F7F"/>
              </a:solidFill>
              <a:prstDash val="solid"/>
              <a:miter lim="800000"/>
              <a:headEnd type="oval" w="med" len="med"/>
              <a:tailEnd type="oval" w="med" len="med"/>
            </a:ln>
          </p:spPr>
        </p:cxnSp>
        <p:cxnSp>
          <p:nvCxnSpPr>
            <p:cNvPr id="296" name="Google Shape;296;p9"/>
            <p:cNvCxnSpPr/>
            <p:nvPr/>
          </p:nvCxnSpPr>
          <p:spPr>
            <a:xfrm>
              <a:off x="4175470" y="3848672"/>
              <a:ext cx="1864242" cy="0"/>
            </a:xfrm>
            <a:prstGeom prst="straightConnector1">
              <a:avLst/>
            </a:prstGeom>
            <a:noFill/>
            <a:ln w="12700" cap="flat" cmpd="sng">
              <a:solidFill>
                <a:srgbClr val="7F7F7F"/>
              </a:solidFill>
              <a:prstDash val="solid"/>
              <a:miter lim="800000"/>
              <a:headEnd type="oval" w="med" len="med"/>
              <a:tailEnd type="oval" w="med" len="med"/>
            </a:ln>
          </p:spPr>
        </p:cxnSp>
        <p:cxnSp>
          <p:nvCxnSpPr>
            <p:cNvPr id="297" name="Google Shape;297;p9"/>
            <p:cNvCxnSpPr/>
            <p:nvPr/>
          </p:nvCxnSpPr>
          <p:spPr>
            <a:xfrm>
              <a:off x="4175470" y="5123147"/>
              <a:ext cx="2189653" cy="0"/>
            </a:xfrm>
            <a:prstGeom prst="straightConnector1">
              <a:avLst/>
            </a:prstGeom>
            <a:noFill/>
            <a:ln w="12700" cap="flat" cmpd="sng">
              <a:solidFill>
                <a:srgbClr val="7F7F7F"/>
              </a:solidFill>
              <a:prstDash val="solid"/>
              <a:miter lim="800000"/>
              <a:headEnd type="oval" w="med" len="med"/>
              <a:tailEnd type="oval" w="med" len="med"/>
            </a:ln>
          </p:spPr>
        </p:cxnSp>
        <p:pic>
          <p:nvPicPr>
            <p:cNvPr id="298" name="Google Shape;298;p9" descr="C:\Users\USER\Downloads\artificial-intelligence.png"/>
            <p:cNvPicPr preferRelativeResize="0"/>
            <p:nvPr/>
          </p:nvPicPr>
          <p:blipFill rotWithShape="1">
            <a:blip r:embed="rId3">
              <a:alphaModFix/>
            </a:blip>
            <a:srcRect/>
            <a:stretch/>
          </p:blipFill>
          <p:spPr>
            <a:xfrm>
              <a:off x="6835069" y="2153276"/>
              <a:ext cx="404378" cy="404378"/>
            </a:xfrm>
            <a:prstGeom prst="rect">
              <a:avLst/>
            </a:prstGeom>
            <a:noFill/>
            <a:ln>
              <a:noFill/>
            </a:ln>
          </p:spPr>
        </p:pic>
        <p:pic>
          <p:nvPicPr>
            <p:cNvPr id="299" name="Google Shape;299;p9" descr="C:\Users\USER\Downloads\machine-learning.png"/>
            <p:cNvPicPr preferRelativeResize="0"/>
            <p:nvPr/>
          </p:nvPicPr>
          <p:blipFill rotWithShape="1">
            <a:blip r:embed="rId4">
              <a:alphaModFix/>
            </a:blip>
            <a:srcRect/>
            <a:stretch/>
          </p:blipFill>
          <p:spPr>
            <a:xfrm>
              <a:off x="6835069" y="3212976"/>
              <a:ext cx="404378" cy="404378"/>
            </a:xfrm>
            <a:prstGeom prst="rect">
              <a:avLst/>
            </a:prstGeom>
            <a:noFill/>
            <a:ln>
              <a:noFill/>
            </a:ln>
          </p:spPr>
        </p:pic>
        <p:pic>
          <p:nvPicPr>
            <p:cNvPr id="300" name="Google Shape;300;p9" descr="C:\Users\USER\Downloads\deep-learning.png"/>
            <p:cNvPicPr preferRelativeResize="0"/>
            <p:nvPr/>
          </p:nvPicPr>
          <p:blipFill rotWithShape="1">
            <a:blip r:embed="rId5">
              <a:alphaModFix/>
            </a:blip>
            <a:srcRect/>
            <a:stretch/>
          </p:blipFill>
          <p:spPr>
            <a:xfrm>
              <a:off x="6835069" y="4528517"/>
              <a:ext cx="404378" cy="404378"/>
            </a:xfrm>
            <a:prstGeom prst="rect">
              <a:avLst/>
            </a:prstGeom>
            <a:noFill/>
            <a:ln>
              <a:noFill/>
            </a:ln>
          </p:spPr>
        </p:pic>
      </p:grpSp>
      <p:sp>
        <p:nvSpPr>
          <p:cNvPr id="301" name="Google Shape;301;p9"/>
          <p:cNvSpPr/>
          <p:nvPr/>
        </p:nvSpPr>
        <p:spPr>
          <a:xfrm>
            <a:off x="7831732" y="5895079"/>
            <a:ext cx="1412165" cy="212364"/>
          </a:xfrm>
          <a:prstGeom prst="roundRect">
            <a:avLst>
              <a:gd name="adj" fmla="val 50000"/>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Nguồn: KD Nuggets</a:t>
            </a:r>
            <a:endParaRPr sz="1400" b="0" i="0" u="none" strike="noStrike" cap="none">
              <a:solidFill>
                <a:srgbClr val="000000"/>
              </a:solidFill>
              <a:latin typeface="Arial"/>
              <a:ea typeface="Arial"/>
              <a:cs typeface="Arial"/>
              <a:sym typeface="Arial"/>
            </a:endParaRPr>
          </a:p>
        </p:txBody>
      </p:sp>
      <p:sp>
        <p:nvSpPr>
          <p:cNvPr id="302" name="Google Shape;302;p9"/>
          <p:cNvSpPr/>
          <p:nvPr/>
        </p:nvSpPr>
        <p:spPr>
          <a:xfrm>
            <a:off x="558800" y="1902172"/>
            <a:ext cx="8763637"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Tập con Trí tuệ nhân tạo</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0260990F-C740-CFE6-18D2-0F7FA93396DD}"/>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6DEB08C4-0BE5-4EA7-1734-646CC6CAA5ED}"/>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79579E69-5BE5-91D2-76E7-2F7C50206E96}"/>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7A257170-6F23-451C-9D8F-B73AFBEFD1E6}"/>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indent="-176213">
              <a:spcBef>
                <a:spcPts val="1000"/>
              </a:spcBef>
              <a:buClr>
                <a:srgbClr val="A6A6A6"/>
              </a:buClr>
              <a:buSzPts val="2160"/>
              <a:buFont typeface="Arial"/>
              <a:buChar char="•"/>
            </a:pPr>
            <a:r>
              <a:rPr lang="en-US" sz="1800" dirty="0">
                <a:solidFill>
                  <a:schemeClr val="tx1"/>
                </a:solidFill>
              </a:rPr>
              <a:t>1.3. </a:t>
            </a:r>
            <a:r>
              <a:rPr lang="en-US" sz="1800" dirty="0" err="1">
                <a:solidFill>
                  <a:schemeClr val="tx1"/>
                </a:solidFill>
              </a:rPr>
              <a:t>Khái</a:t>
            </a:r>
            <a:r>
              <a:rPr lang="en-US" sz="1800" dirty="0">
                <a:solidFill>
                  <a:schemeClr val="tx1"/>
                </a:solidFill>
              </a:rPr>
              <a:t> </a:t>
            </a:r>
            <a:r>
              <a:rPr lang="en-US" sz="1800" dirty="0" err="1">
                <a:solidFill>
                  <a:schemeClr val="tx1"/>
                </a:solidFill>
              </a:rPr>
              <a:t>niệm</a:t>
            </a:r>
            <a:r>
              <a:rPr lang="en-US" sz="1800" dirty="0">
                <a:solidFill>
                  <a:schemeClr val="tx1"/>
                </a:solidFill>
              </a:rPr>
              <a:t> </a:t>
            </a:r>
            <a:r>
              <a:rPr lang="en-US" sz="1800" dirty="0" err="1">
                <a:solidFill>
                  <a:schemeClr val="tx1"/>
                </a:solidFill>
              </a:rPr>
              <a:t>học</a:t>
            </a:r>
            <a:r>
              <a:rPr lang="en-US" sz="1800" dirty="0">
                <a:solidFill>
                  <a:schemeClr val="tx1"/>
                </a:solidFill>
              </a:rPr>
              <a:t> </a:t>
            </a:r>
            <a:r>
              <a:rPr lang="en-US" sz="1800" dirty="0" err="1">
                <a:solidFill>
                  <a:schemeClr val="tx1"/>
                </a:solidFill>
              </a:rPr>
              <a:t>máy</a:t>
            </a:r>
            <a:endParaRPr sz="1800" dirty="0">
              <a:solidFill>
                <a:schemeClr val="tx1"/>
              </a:solidFil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962791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grpSp>
        <p:nvGrpSpPr>
          <p:cNvPr id="316" name="Google Shape;316;p11"/>
          <p:cNvGrpSpPr/>
          <p:nvPr/>
        </p:nvGrpSpPr>
        <p:grpSpPr>
          <a:xfrm>
            <a:off x="2359124" y="3140968"/>
            <a:ext cx="5146868" cy="3123013"/>
            <a:chOff x="3007197" y="3856287"/>
            <a:chExt cx="3888432" cy="2359420"/>
          </a:xfrm>
        </p:grpSpPr>
        <p:pic>
          <p:nvPicPr>
            <p:cNvPr id="317" name="Google Shape;317;p11"/>
            <p:cNvPicPr preferRelativeResize="0"/>
            <p:nvPr/>
          </p:nvPicPr>
          <p:blipFill rotWithShape="1">
            <a:blip r:embed="rId3">
              <a:alphaModFix/>
            </a:blip>
            <a:srcRect/>
            <a:stretch/>
          </p:blipFill>
          <p:spPr>
            <a:xfrm>
              <a:off x="3007197" y="3856287"/>
              <a:ext cx="3888432" cy="2359420"/>
            </a:xfrm>
            <a:prstGeom prst="rect">
              <a:avLst/>
            </a:prstGeom>
            <a:noFill/>
            <a:ln>
              <a:noFill/>
            </a:ln>
          </p:spPr>
        </p:pic>
        <p:grpSp>
          <p:nvGrpSpPr>
            <p:cNvPr id="318" name="Google Shape;318;p11"/>
            <p:cNvGrpSpPr/>
            <p:nvPr/>
          </p:nvGrpSpPr>
          <p:grpSpPr>
            <a:xfrm>
              <a:off x="4011756" y="4716247"/>
              <a:ext cx="1864072" cy="705383"/>
              <a:chOff x="3910577" y="2687725"/>
              <a:chExt cx="1864072" cy="705383"/>
            </a:xfrm>
          </p:grpSpPr>
          <p:sp>
            <p:nvSpPr>
              <p:cNvPr id="319" name="Google Shape;319;p11"/>
              <p:cNvSpPr/>
              <p:nvPr/>
            </p:nvSpPr>
            <p:spPr>
              <a:xfrm>
                <a:off x="3910577" y="3037879"/>
                <a:ext cx="1864072" cy="355229"/>
              </a:xfrm>
              <a:prstGeom prst="rect">
                <a:avLst/>
              </a:prstGeom>
              <a:solidFill>
                <a:schemeClr val="lt1"/>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8EADAF"/>
                    </a:solidFill>
                    <a:latin typeface="Arial"/>
                    <a:ea typeface="Arial"/>
                    <a:cs typeface="Arial"/>
                    <a:sym typeface="Arial"/>
                  </a:rPr>
                  <a:t>LEARNING</a:t>
                </a:r>
                <a:endParaRPr sz="1400" b="0" i="0" u="none" strike="noStrike" cap="none">
                  <a:solidFill>
                    <a:srgbClr val="000000"/>
                  </a:solidFill>
                  <a:latin typeface="Arial"/>
                  <a:ea typeface="Arial"/>
                  <a:cs typeface="Arial"/>
                  <a:sym typeface="Arial"/>
                </a:endParaRPr>
              </a:p>
            </p:txBody>
          </p:sp>
          <p:sp>
            <p:nvSpPr>
              <p:cNvPr id="320" name="Google Shape;320;p11"/>
              <p:cNvSpPr/>
              <p:nvPr/>
            </p:nvSpPr>
            <p:spPr>
              <a:xfrm>
                <a:off x="3910577" y="2687725"/>
                <a:ext cx="1864072" cy="389506"/>
              </a:xfrm>
              <a:prstGeom prst="rect">
                <a:avLst/>
              </a:prstGeom>
              <a:solidFill>
                <a:schemeClr val="lt1"/>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8EADAF"/>
                    </a:solidFill>
                    <a:latin typeface="Arial"/>
                    <a:ea typeface="Arial"/>
                    <a:cs typeface="Arial"/>
                    <a:sym typeface="Arial"/>
                  </a:rPr>
                  <a:t>MACHINE</a:t>
                </a:r>
                <a:endParaRPr sz="1400" b="0" i="0" u="none" strike="noStrike" cap="none">
                  <a:solidFill>
                    <a:srgbClr val="000000"/>
                  </a:solidFill>
                  <a:latin typeface="Arial"/>
                  <a:ea typeface="Arial"/>
                  <a:cs typeface="Arial"/>
                  <a:sym typeface="Arial"/>
                </a:endParaRPr>
              </a:p>
            </p:txBody>
          </p:sp>
        </p:grpSp>
        <p:sp>
          <p:nvSpPr>
            <p:cNvPr id="321" name="Google Shape;321;p11"/>
            <p:cNvSpPr/>
            <p:nvPr/>
          </p:nvSpPr>
          <p:spPr>
            <a:xfrm>
              <a:off x="3802836" y="4515350"/>
              <a:ext cx="579616" cy="244501"/>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HỌC SÂU</a:t>
              </a:r>
              <a:endParaRPr sz="1400" b="0" i="0" u="none" strike="noStrike" cap="none">
                <a:solidFill>
                  <a:srgbClr val="000000"/>
                </a:solidFill>
                <a:latin typeface="Arial"/>
                <a:ea typeface="Arial"/>
                <a:cs typeface="Arial"/>
                <a:sym typeface="Arial"/>
              </a:endParaRPr>
            </a:p>
          </p:txBody>
        </p:sp>
        <p:sp>
          <p:nvSpPr>
            <p:cNvPr id="322" name="Google Shape;322;p11"/>
            <p:cNvSpPr/>
            <p:nvPr/>
          </p:nvSpPr>
          <p:spPr>
            <a:xfrm>
              <a:off x="3226328" y="4965520"/>
              <a:ext cx="579616" cy="250809"/>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TRÍ TUỆ NHÂN TẠO</a:t>
              </a:r>
              <a:endParaRPr sz="1400" b="0" i="0" u="none" strike="noStrike" cap="none">
                <a:solidFill>
                  <a:srgbClr val="000000"/>
                </a:solidFill>
                <a:latin typeface="Arial"/>
                <a:ea typeface="Arial"/>
                <a:cs typeface="Arial"/>
                <a:sym typeface="Arial"/>
              </a:endParaRPr>
            </a:p>
          </p:txBody>
        </p:sp>
        <p:sp>
          <p:nvSpPr>
            <p:cNvPr id="323" name="Google Shape;323;p11"/>
            <p:cNvSpPr/>
            <p:nvPr/>
          </p:nvSpPr>
          <p:spPr>
            <a:xfrm>
              <a:off x="3120351" y="5597140"/>
              <a:ext cx="791570" cy="216556"/>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KHAI PHÁ </a:t>
              </a:r>
              <a:br>
                <a:rPr lang="en-US" sz="1100" b="0" i="0" u="none" strike="noStrike" cap="none">
                  <a:solidFill>
                    <a:srgbClr val="8EADAF"/>
                  </a:solidFill>
                  <a:latin typeface="Arial"/>
                  <a:ea typeface="Arial"/>
                  <a:cs typeface="Arial"/>
                  <a:sym typeface="Arial"/>
                </a:rPr>
              </a:br>
              <a:r>
                <a:rPr lang="en-US" sz="1100" b="0" i="0" u="none" strike="noStrike" cap="none">
                  <a:solidFill>
                    <a:srgbClr val="8EADAF"/>
                  </a:solidFill>
                  <a:latin typeface="Arial"/>
                  <a:ea typeface="Arial"/>
                  <a:cs typeface="Arial"/>
                  <a:sym typeface="Arial"/>
                </a:rPr>
                <a:t>DỮ LIỆU</a:t>
              </a:r>
              <a:endParaRPr sz="1400" b="0" i="0" u="none" strike="noStrike" cap="none">
                <a:solidFill>
                  <a:srgbClr val="000000"/>
                </a:solidFill>
                <a:latin typeface="Arial"/>
                <a:ea typeface="Arial"/>
                <a:cs typeface="Arial"/>
                <a:sym typeface="Arial"/>
              </a:endParaRPr>
            </a:p>
          </p:txBody>
        </p:sp>
        <p:sp>
          <p:nvSpPr>
            <p:cNvPr id="324" name="Google Shape;324;p11"/>
            <p:cNvSpPr/>
            <p:nvPr/>
          </p:nvSpPr>
          <p:spPr>
            <a:xfrm>
              <a:off x="3703943" y="5921474"/>
              <a:ext cx="791346" cy="127888"/>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PHÂN LOẠI</a:t>
              </a:r>
              <a:endParaRPr sz="1400" b="0" i="0" u="none" strike="noStrike" cap="none">
                <a:solidFill>
                  <a:srgbClr val="000000"/>
                </a:solidFill>
                <a:latin typeface="Arial"/>
                <a:ea typeface="Arial"/>
                <a:cs typeface="Arial"/>
                <a:sym typeface="Arial"/>
              </a:endParaRPr>
            </a:p>
          </p:txBody>
        </p:sp>
        <p:sp>
          <p:nvSpPr>
            <p:cNvPr id="325" name="Google Shape;325;p11"/>
            <p:cNvSpPr/>
            <p:nvPr/>
          </p:nvSpPr>
          <p:spPr>
            <a:xfrm>
              <a:off x="4593882" y="5917766"/>
              <a:ext cx="617792" cy="258702"/>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MẠNG</a:t>
              </a:r>
              <a:br>
                <a:rPr lang="en-US" sz="1100" b="0" i="0" u="none" strike="noStrike" cap="none">
                  <a:solidFill>
                    <a:srgbClr val="8EADAF"/>
                  </a:solidFill>
                  <a:latin typeface="Arial"/>
                  <a:ea typeface="Arial"/>
                  <a:cs typeface="Arial"/>
                  <a:sym typeface="Arial"/>
                </a:rPr>
              </a:br>
              <a:r>
                <a:rPr lang="en-US" sz="1100" b="0" i="0" u="none" strike="noStrike" cap="none">
                  <a:solidFill>
                    <a:srgbClr val="8EADAF"/>
                  </a:solidFill>
                  <a:latin typeface="Arial"/>
                  <a:ea typeface="Arial"/>
                  <a:cs typeface="Arial"/>
                  <a:sym typeface="Arial"/>
                </a:rPr>
                <a:t>THẦN KINH</a:t>
              </a:r>
              <a:endParaRPr sz="1400" b="0" i="0" u="none" strike="noStrike" cap="none">
                <a:solidFill>
                  <a:srgbClr val="000000"/>
                </a:solidFill>
                <a:latin typeface="Arial"/>
                <a:ea typeface="Arial"/>
                <a:cs typeface="Arial"/>
                <a:sym typeface="Arial"/>
              </a:endParaRPr>
            </a:p>
          </p:txBody>
        </p:sp>
        <p:sp>
          <p:nvSpPr>
            <p:cNvPr id="326" name="Google Shape;326;p11"/>
            <p:cNvSpPr/>
            <p:nvPr/>
          </p:nvSpPr>
          <p:spPr>
            <a:xfrm>
              <a:off x="5421636" y="5949780"/>
              <a:ext cx="651624" cy="117761"/>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TỰ ĐỘNG</a:t>
              </a:r>
              <a:endParaRPr sz="1400" b="0" i="0" u="none" strike="noStrike" cap="none">
                <a:solidFill>
                  <a:srgbClr val="000000"/>
                </a:solidFill>
                <a:latin typeface="Arial"/>
                <a:ea typeface="Arial"/>
                <a:cs typeface="Arial"/>
                <a:sym typeface="Arial"/>
              </a:endParaRPr>
            </a:p>
          </p:txBody>
        </p:sp>
        <p:sp>
          <p:nvSpPr>
            <p:cNvPr id="327" name="Google Shape;327;p11"/>
            <p:cNvSpPr/>
            <p:nvPr/>
          </p:nvSpPr>
          <p:spPr>
            <a:xfrm>
              <a:off x="6035084" y="5630451"/>
              <a:ext cx="579616" cy="92333"/>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PHÂN TÍCH</a:t>
              </a:r>
              <a:endParaRPr sz="1400" b="0" i="0" u="none" strike="noStrike" cap="none">
                <a:solidFill>
                  <a:srgbClr val="000000"/>
                </a:solidFill>
                <a:latin typeface="Arial"/>
                <a:ea typeface="Arial"/>
                <a:cs typeface="Arial"/>
                <a:sym typeface="Arial"/>
              </a:endParaRPr>
            </a:p>
          </p:txBody>
        </p:sp>
        <p:sp>
          <p:nvSpPr>
            <p:cNvPr id="328" name="Google Shape;328;p11"/>
            <p:cNvSpPr/>
            <p:nvPr/>
          </p:nvSpPr>
          <p:spPr>
            <a:xfrm>
              <a:off x="6035084" y="4971412"/>
              <a:ext cx="579616" cy="92333"/>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CẢI THIỆN</a:t>
              </a:r>
              <a:endParaRPr sz="1400" b="0" i="0" u="none" strike="noStrike" cap="none">
                <a:solidFill>
                  <a:srgbClr val="000000"/>
                </a:solidFill>
                <a:latin typeface="Arial"/>
                <a:ea typeface="Arial"/>
                <a:cs typeface="Arial"/>
                <a:sym typeface="Arial"/>
              </a:endParaRPr>
            </a:p>
          </p:txBody>
        </p:sp>
        <p:sp>
          <p:nvSpPr>
            <p:cNvPr id="329" name="Google Shape;329;p11"/>
            <p:cNvSpPr/>
            <p:nvPr/>
          </p:nvSpPr>
          <p:spPr>
            <a:xfrm>
              <a:off x="5527476" y="4551528"/>
              <a:ext cx="579616" cy="92333"/>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HỌC MÁY</a:t>
              </a:r>
              <a:endParaRPr sz="1400" b="0" i="0" u="none" strike="noStrike" cap="none">
                <a:solidFill>
                  <a:srgbClr val="000000"/>
                </a:solidFill>
                <a:latin typeface="Arial"/>
                <a:ea typeface="Arial"/>
                <a:cs typeface="Arial"/>
                <a:sym typeface="Arial"/>
              </a:endParaRPr>
            </a:p>
          </p:txBody>
        </p:sp>
        <p:sp>
          <p:nvSpPr>
            <p:cNvPr id="330" name="Google Shape;330;p11"/>
            <p:cNvSpPr/>
            <p:nvPr/>
          </p:nvSpPr>
          <p:spPr>
            <a:xfrm>
              <a:off x="4584845" y="4555156"/>
              <a:ext cx="610985" cy="88705"/>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8EADAF"/>
                  </a:solidFill>
                  <a:latin typeface="Arial"/>
                  <a:ea typeface="Arial"/>
                  <a:cs typeface="Arial"/>
                  <a:sym typeface="Arial"/>
                </a:rPr>
                <a:t>THUẬT TOÁN</a:t>
              </a:r>
              <a:endParaRPr sz="1400" b="0" i="0" u="none" strike="noStrike" cap="none">
                <a:solidFill>
                  <a:srgbClr val="000000"/>
                </a:solidFill>
                <a:latin typeface="Arial"/>
                <a:ea typeface="Arial"/>
                <a:cs typeface="Arial"/>
                <a:sym typeface="Arial"/>
              </a:endParaRPr>
            </a:p>
          </p:txBody>
        </p:sp>
      </p:grpSp>
      <p:sp>
        <p:nvSpPr>
          <p:cNvPr id="334" name="Google Shape;334;p11"/>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Khái niệm học máy</a:t>
            </a:r>
            <a:endParaRPr sz="2400" b="1" i="0" u="none" strike="noStrike" cap="none">
              <a:solidFill>
                <a:srgbClr val="0C0C0C"/>
              </a:solidFill>
              <a:latin typeface="Arial"/>
              <a:ea typeface="Arial"/>
              <a:cs typeface="Arial"/>
              <a:sym typeface="Arial"/>
            </a:endParaRPr>
          </a:p>
        </p:txBody>
      </p:sp>
      <p:grpSp>
        <p:nvGrpSpPr>
          <p:cNvPr id="335" name="Google Shape;335;p11"/>
          <p:cNvGrpSpPr/>
          <p:nvPr/>
        </p:nvGrpSpPr>
        <p:grpSpPr>
          <a:xfrm>
            <a:off x="558924" y="1861305"/>
            <a:ext cx="9180558" cy="1509922"/>
            <a:chOff x="558924" y="1861305"/>
            <a:chExt cx="9180558" cy="1509922"/>
          </a:xfrm>
        </p:grpSpPr>
        <p:sp>
          <p:nvSpPr>
            <p:cNvPr id="336" name="Google Shape;336;p11"/>
            <p:cNvSpPr/>
            <p:nvPr/>
          </p:nvSpPr>
          <p:spPr>
            <a:xfrm>
              <a:off x="702940" y="2323009"/>
              <a:ext cx="8765060" cy="1048218"/>
            </a:xfrm>
            <a:prstGeom prst="rect">
              <a:avLst/>
            </a:prstGeom>
            <a:noFill/>
            <a:ln>
              <a:noFill/>
            </a:ln>
          </p:spPr>
          <p:txBody>
            <a:bodyPr spcFirstLastPara="1" wrap="square" lIns="0" tIns="72000" rIns="144000" bIns="72000" anchor="t" anchorCtr="0">
              <a:spAutoFit/>
            </a:bodyPr>
            <a:lstStyle/>
            <a:p>
              <a:pPr marL="182563" marR="0" lvl="1" indent="-182563" algn="l" rtl="0">
                <a:lnSpc>
                  <a:spcPct val="100000"/>
                </a:lnSpc>
                <a:spcBef>
                  <a:spcPts val="0"/>
                </a:spcBef>
                <a:spcAft>
                  <a:spcPts val="0"/>
                </a:spcAft>
                <a:buClr>
                  <a:srgbClr val="193EB0"/>
                </a:buClr>
                <a:buSzPts val="1300"/>
                <a:buFont typeface="Arial"/>
                <a:buChar char="‣"/>
              </a:pPr>
              <a:r>
                <a:rPr lang="en-US" sz="1300" b="0" i="0" u="none" strike="noStrike" cap="none">
                  <a:solidFill>
                    <a:schemeClr val="dk1"/>
                  </a:solidFill>
                  <a:latin typeface="Arial"/>
                  <a:ea typeface="Arial"/>
                  <a:cs typeface="Arial"/>
                  <a:sym typeface="Arial"/>
                </a:rPr>
                <a:t>“Một lĩnh vực nghiên cứu phát triển các thuật toán cho phép máy móc học từ dữ liệu và thực hiện các hành động không được chỉ định rõ ràng bởi mã lệnh“ - Arthur Samuel, 1959</a:t>
              </a:r>
              <a:endParaRPr sz="1300" b="0" i="0" u="none" strike="noStrike" cap="none">
                <a:solidFill>
                  <a:schemeClr val="dk1"/>
                </a:solidFill>
                <a:latin typeface="Arial"/>
                <a:ea typeface="Arial"/>
                <a:cs typeface="Arial"/>
                <a:sym typeface="Arial"/>
              </a:endParaRPr>
            </a:p>
            <a:p>
              <a:pPr marL="182563" marR="0" lvl="1" indent="-182563" algn="l" rtl="0">
                <a:lnSpc>
                  <a:spcPct val="100000"/>
                </a:lnSpc>
                <a:spcBef>
                  <a:spcPts val="800"/>
                </a:spcBef>
                <a:spcAft>
                  <a:spcPts val="0"/>
                </a:spcAft>
                <a:buClr>
                  <a:srgbClr val="193EB0"/>
                </a:buClr>
                <a:buSzPts val="1300"/>
                <a:buFont typeface="Arial"/>
                <a:buChar char="‣"/>
              </a:pPr>
              <a:r>
                <a:rPr lang="en-US" sz="1300" b="0" i="0" u="none" strike="noStrike" cap="none">
                  <a:solidFill>
                    <a:schemeClr val="dk1"/>
                  </a:solidFill>
                  <a:latin typeface="Arial"/>
                  <a:ea typeface="Arial"/>
                  <a:cs typeface="Arial"/>
                  <a:sym typeface="Arial"/>
                </a:rPr>
                <a:t>“Một chương trình máy tính được cho là học hỏi từ trải nghiệm E đối với một số loại nhiệm vụ T và thước đo hiệu suất P nếu hiệu suất của nó trong các nhiệm vụ thuộc T, được đo bằng P, cải thiện nhờ trải nghiệm E.” - Tom Mitchell, 1977</a:t>
              </a:r>
              <a:endParaRPr sz="1300" b="0" i="0" u="none" strike="noStrike" cap="none">
                <a:solidFill>
                  <a:schemeClr val="dk1"/>
                </a:solidFill>
                <a:latin typeface="Arial"/>
                <a:ea typeface="Arial"/>
                <a:cs typeface="Arial"/>
                <a:sym typeface="Arial"/>
              </a:endParaRPr>
            </a:p>
          </p:txBody>
        </p:sp>
        <p:sp>
          <p:nvSpPr>
            <p:cNvPr id="337" name="Google Shape;337;p11"/>
            <p:cNvSpPr/>
            <p:nvPr/>
          </p:nvSpPr>
          <p:spPr>
            <a:xfrm>
              <a:off x="558924" y="1861305"/>
              <a:ext cx="9180558" cy="430887"/>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1" i="0" u="none" strike="noStrike" cap="none">
                  <a:solidFill>
                    <a:srgbClr val="1429A0"/>
                  </a:solidFill>
                  <a:latin typeface="Arial"/>
                  <a:ea typeface="Arial"/>
                  <a:cs typeface="Arial"/>
                  <a:sym typeface="Arial"/>
                </a:rPr>
                <a:t>Học máy </a:t>
              </a:r>
              <a:r>
                <a:rPr lang="en-US" sz="1400" b="1" i="0" u="none" strike="noStrike" cap="none">
                  <a:solidFill>
                    <a:schemeClr val="dk1"/>
                  </a:solidFill>
                  <a:latin typeface="Arial"/>
                  <a:ea typeface="Arial"/>
                  <a:cs typeface="Arial"/>
                  <a:sym typeface="Arial"/>
                </a:rPr>
                <a:t>được coi là một lĩnh vực trí tuệ nhân tạo và là nghiên cứu về các thuật toán máy tính có khả năng</a:t>
              </a:r>
              <a:r>
                <a:rPr lang="en-US" sz="1400" b="1" i="0" u="none" strike="noStrike" cap="none">
                  <a:solidFill>
                    <a:srgbClr val="FF0000"/>
                  </a:solidFill>
                  <a:latin typeface="Arial"/>
                  <a:ea typeface="Arial"/>
                  <a:cs typeface="Arial"/>
                  <a:sym typeface="Arial"/>
                </a:rPr>
                <a:t> </a:t>
              </a:r>
              <a:r>
                <a:rPr lang="en-US" sz="1400" b="1" i="0" u="none" strike="noStrike" cap="none">
                  <a:solidFill>
                    <a:schemeClr val="dk1"/>
                  </a:solidFill>
                  <a:latin typeface="Arial"/>
                  <a:ea typeface="Arial"/>
                  <a:cs typeface="Arial"/>
                  <a:sym typeface="Arial"/>
                </a:rPr>
                <a:t>tự động cải thiện thông qua các ví dụ và kinh nghiệm.</a:t>
              </a:r>
              <a:endParaRPr sz="1400" b="0" i="0" u="none" strike="noStrike" cap="none">
                <a:solidFill>
                  <a:schemeClr val="dk1"/>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6" name="Google Shape;346;p12"/>
          <p:cNvPicPr preferRelativeResize="0"/>
          <p:nvPr/>
        </p:nvPicPr>
        <p:blipFill rotWithShape="1">
          <a:blip r:embed="rId3">
            <a:alphaModFix/>
          </a:blip>
          <a:srcRect/>
          <a:stretch/>
        </p:blipFill>
        <p:spPr>
          <a:xfrm>
            <a:off x="3423215" y="2780928"/>
            <a:ext cx="2838796" cy="1983754"/>
          </a:xfrm>
          <a:prstGeom prst="rect">
            <a:avLst/>
          </a:prstGeom>
          <a:noFill/>
          <a:ln>
            <a:noFill/>
          </a:ln>
        </p:spPr>
      </p:pic>
      <p:sp>
        <p:nvSpPr>
          <p:cNvPr id="347" name="Google Shape;347;p12"/>
          <p:cNvSpPr/>
          <p:nvPr/>
        </p:nvSpPr>
        <p:spPr>
          <a:xfrm>
            <a:off x="702940" y="4994397"/>
            <a:ext cx="8632825" cy="576293"/>
          </a:xfrm>
          <a:prstGeom prst="rect">
            <a:avLst/>
          </a:prstGeom>
          <a:noFill/>
          <a:ln>
            <a:noFill/>
          </a:ln>
        </p:spPr>
        <p:txBody>
          <a:bodyPr spcFirstLastPara="1" wrap="square" lIns="0" tIns="72000" rIns="144000" bIns="72000" anchor="t" anchorCtr="0">
            <a:spAutoFit/>
          </a:bodyPr>
          <a:lstStyle/>
          <a:p>
            <a:pPr marL="115888" marR="0" lvl="1"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Nhiệm vụ T là phân loại chó và mèo, và hiệu suất P thể hiện thước đo phân loại chó và mèo. E có thể nói là “đang học” nếu hiệu suất phân loại chó, mèo nâng cao dần qua kinh nghiệm, hoặc dữ liệu (10.000 ảnh).</a:t>
            </a:r>
            <a:endParaRPr sz="1400" b="0" i="0" u="none" strike="noStrike" cap="none">
              <a:solidFill>
                <a:schemeClr val="dk1"/>
              </a:solidFill>
              <a:latin typeface="Arial"/>
              <a:ea typeface="Arial"/>
              <a:cs typeface="Arial"/>
              <a:sym typeface="Arial"/>
            </a:endParaRPr>
          </a:p>
        </p:txBody>
      </p:sp>
      <p:sp>
        <p:nvSpPr>
          <p:cNvPr id="348" name="Google Shape;348;p12"/>
          <p:cNvSpPr/>
          <p:nvPr/>
        </p:nvSpPr>
        <p:spPr>
          <a:xfrm>
            <a:off x="558924" y="1626502"/>
            <a:ext cx="9180558" cy="990015"/>
          </a:xfrm>
          <a:prstGeom prst="rect">
            <a:avLst/>
          </a:prstGeom>
          <a:noFill/>
          <a:ln>
            <a:noFill/>
          </a:ln>
        </p:spPr>
        <p:txBody>
          <a:bodyPr spcFirstLastPara="1" wrap="square" lIns="0" tIns="0" rIns="0" bIns="0" anchor="t" anchorCtr="0">
            <a:spAutoFit/>
          </a:bodyPr>
          <a:lstStyle/>
          <a:p>
            <a:pPr marL="115888" marR="0" lvl="1"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“Một lĩnh vực nghiên cứu phát triển các thuật toán cho phép máy móc học từ dữ liệu và thực hiện các hành động không được chỉ định rõ ràng bởi mã lệnh“ - Arthur Samuel, 1959</a:t>
            </a:r>
            <a:endParaRPr sz="1400" b="0" i="0" u="none" strike="noStrike" cap="none">
              <a:solidFill>
                <a:srgbClr val="000000"/>
              </a:solidFill>
              <a:latin typeface="Arial"/>
              <a:ea typeface="Arial"/>
              <a:cs typeface="Arial"/>
              <a:sym typeface="Arial"/>
            </a:endParaRPr>
          </a:p>
          <a:p>
            <a:pPr marL="115888" marR="0" lvl="1" indent="-115888" algn="l" rtl="0">
              <a:lnSpc>
                <a:spcPct val="100000"/>
              </a:lnSpc>
              <a:spcBef>
                <a:spcPts val="100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“Một chương trình máy tính được cho là học hỏi từ trải nghiệm E đối với một số loại nhiệm vụ T và thước đo hiệu suất P nếu hiệu suất của nó trong các nhiệm vụ thuộc T, được đo bằng P, cải thiện nhờ trải nghiệm E.” - Tom Mitchell, 1977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17F0C58B-91DF-809E-C47B-5091AFD18814}"/>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2AA70503-6408-47E8-91AD-3A840B141D58}"/>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5BBDC41A-F4EB-A7E8-FDD9-A13F7A1FD1AE}"/>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CCF18873-B82E-F316-752F-848A44A8118C}"/>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indent="-176213">
              <a:spcBef>
                <a:spcPts val="1000"/>
              </a:spcBef>
              <a:buClr>
                <a:srgbClr val="A6A6A6"/>
              </a:buClr>
              <a:buSzPts val="2160"/>
              <a:buFont typeface="Arial"/>
              <a:buChar char="•"/>
            </a:pPr>
            <a:r>
              <a:rPr lang="en-US" sz="1800" dirty="0">
                <a:solidFill>
                  <a:schemeClr val="tx1"/>
                </a:solidFill>
              </a:rPr>
              <a:t>1.4. Các </a:t>
            </a:r>
            <a:r>
              <a:rPr lang="en-US" sz="1800" dirty="0" err="1">
                <a:solidFill>
                  <a:schemeClr val="tx1"/>
                </a:solidFill>
              </a:rPr>
              <a:t>ngành</a:t>
            </a:r>
            <a:r>
              <a:rPr lang="en-US" sz="1800" dirty="0">
                <a:solidFill>
                  <a:schemeClr val="tx1"/>
                </a:solidFill>
              </a:rPr>
              <a:t> </a:t>
            </a:r>
            <a:r>
              <a:rPr lang="en-US" sz="1800" dirty="0" err="1">
                <a:solidFill>
                  <a:schemeClr val="tx1"/>
                </a:solidFill>
              </a:rPr>
              <a:t>liên</a:t>
            </a:r>
            <a:r>
              <a:rPr lang="en-US" sz="1800" dirty="0">
                <a:solidFill>
                  <a:schemeClr val="tx1"/>
                </a:solidFill>
              </a:rPr>
              <a:t> </a:t>
            </a:r>
            <a:r>
              <a:rPr lang="en-US" sz="1800" dirty="0" err="1">
                <a:solidFill>
                  <a:schemeClr val="tx1"/>
                </a:solidFill>
              </a:rPr>
              <a:t>quan</a:t>
            </a:r>
            <a:r>
              <a:rPr lang="en-US" sz="1800" dirty="0">
                <a:solidFill>
                  <a:schemeClr val="tx1"/>
                </a:solidFill>
              </a:rPr>
              <a:t> </a:t>
            </a:r>
            <a:r>
              <a:rPr lang="en-US" sz="1800" dirty="0" err="1">
                <a:solidFill>
                  <a:schemeClr val="tx1"/>
                </a:solidFill>
              </a:rPr>
              <a:t>đến</a:t>
            </a:r>
            <a:r>
              <a:rPr lang="en-US" sz="1800" dirty="0">
                <a:solidFill>
                  <a:schemeClr val="tx1"/>
                </a:solidFill>
              </a:rPr>
              <a:t> </a:t>
            </a:r>
            <a:r>
              <a:rPr lang="en-US" sz="1800" dirty="0" err="1">
                <a:solidFill>
                  <a:schemeClr val="tx1"/>
                </a:solidFill>
              </a:rPr>
              <a:t>học</a:t>
            </a:r>
            <a:r>
              <a:rPr lang="en-US" sz="1800" dirty="0">
                <a:solidFill>
                  <a:schemeClr val="tx1"/>
                </a:solidFill>
              </a:rPr>
              <a:t> </a:t>
            </a:r>
            <a:r>
              <a:rPr lang="en-US" sz="1800" dirty="0" err="1">
                <a:solidFill>
                  <a:schemeClr val="tx1"/>
                </a:solidFill>
              </a:rPr>
              <a:t>máy</a:t>
            </a:r>
            <a:endParaRPr sz="1800" dirty="0">
              <a:solidFill>
                <a:schemeClr val="tx1"/>
              </a:solidFil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090658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grpSp>
        <p:nvGrpSpPr>
          <p:cNvPr id="365" name="Google Shape;365;p14"/>
          <p:cNvGrpSpPr/>
          <p:nvPr/>
        </p:nvGrpSpPr>
        <p:grpSpPr>
          <a:xfrm>
            <a:off x="1176560" y="2712617"/>
            <a:ext cx="7903078" cy="3818392"/>
            <a:chOff x="1093432" y="2661165"/>
            <a:chExt cx="7903078" cy="3818392"/>
          </a:xfrm>
        </p:grpSpPr>
        <p:sp>
          <p:nvSpPr>
            <p:cNvPr id="366" name="Google Shape;366;p14"/>
            <p:cNvSpPr/>
            <p:nvPr/>
          </p:nvSpPr>
          <p:spPr>
            <a:xfrm>
              <a:off x="6229701" y="4132413"/>
              <a:ext cx="2766809" cy="545516"/>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Mối quan hệ giữa học máy và các ngành khác nhau</a:t>
              </a:r>
              <a:endParaRPr sz="1300" b="1" i="0" u="none" strike="noStrike" cap="none">
                <a:solidFill>
                  <a:srgbClr val="262626"/>
                </a:solidFill>
                <a:latin typeface="Arial"/>
                <a:ea typeface="Arial"/>
                <a:cs typeface="Arial"/>
                <a:sym typeface="Arial"/>
              </a:endParaRPr>
            </a:p>
          </p:txBody>
        </p:sp>
        <p:grpSp>
          <p:nvGrpSpPr>
            <p:cNvPr id="367" name="Google Shape;367;p14"/>
            <p:cNvGrpSpPr/>
            <p:nvPr/>
          </p:nvGrpSpPr>
          <p:grpSpPr>
            <a:xfrm>
              <a:off x="1093432" y="2661165"/>
              <a:ext cx="5327109" cy="3818392"/>
              <a:chOff x="2176892" y="2226028"/>
              <a:chExt cx="5671521" cy="4065262"/>
            </a:xfrm>
          </p:grpSpPr>
          <p:sp>
            <p:nvSpPr>
              <p:cNvPr id="368" name="Google Shape;368;p14"/>
              <p:cNvSpPr/>
              <p:nvPr/>
            </p:nvSpPr>
            <p:spPr>
              <a:xfrm rot="3279454">
                <a:off x="3669958" y="3222222"/>
                <a:ext cx="3032653" cy="1141951"/>
              </a:xfrm>
              <a:prstGeom prst="ellipse">
                <a:avLst/>
              </a:prstGeom>
              <a:solidFill>
                <a:srgbClr val="9999FF">
                  <a:alpha val="41960"/>
                </a:srgbClr>
              </a:solidFill>
              <a:ln w="12700" cap="flat" cmpd="sng">
                <a:solidFill>
                  <a:srgbClr val="7030A0"/>
                </a:solidFill>
                <a:prstDash val="dash"/>
                <a:miter lim="800000"/>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rgbClr val="262626"/>
                  </a:solidFill>
                  <a:latin typeface="Arial"/>
                  <a:ea typeface="Arial"/>
                  <a:cs typeface="Arial"/>
                  <a:sym typeface="Arial"/>
                </a:endParaRPr>
              </a:p>
            </p:txBody>
          </p:sp>
          <p:sp>
            <p:nvSpPr>
              <p:cNvPr id="369" name="Google Shape;369;p14"/>
              <p:cNvSpPr/>
              <p:nvPr/>
            </p:nvSpPr>
            <p:spPr>
              <a:xfrm rot="-863157">
                <a:off x="2374461" y="3738664"/>
                <a:ext cx="3740559" cy="2062477"/>
              </a:xfrm>
              <a:prstGeom prst="ellipse">
                <a:avLst/>
              </a:prstGeom>
              <a:solidFill>
                <a:srgbClr val="996633">
                  <a:alpha val="41960"/>
                </a:srgbClr>
              </a:solidFill>
              <a:ln w="12700" cap="flat" cmpd="sng">
                <a:solidFill>
                  <a:srgbClr val="663300"/>
                </a:solidFill>
                <a:prstDash val="dash"/>
                <a:miter lim="800000"/>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rgbClr val="262626"/>
                  </a:solidFill>
                  <a:latin typeface="Arial"/>
                  <a:ea typeface="Arial"/>
                  <a:cs typeface="Arial"/>
                  <a:sym typeface="Arial"/>
                </a:endParaRPr>
              </a:p>
            </p:txBody>
          </p:sp>
          <p:sp>
            <p:nvSpPr>
              <p:cNvPr id="370" name="Google Shape;370;p14"/>
              <p:cNvSpPr/>
              <p:nvPr/>
            </p:nvSpPr>
            <p:spPr>
              <a:xfrm rot="1203219">
                <a:off x="5234641" y="4268044"/>
                <a:ext cx="2429602" cy="1503765"/>
              </a:xfrm>
              <a:prstGeom prst="ellipse">
                <a:avLst/>
              </a:prstGeom>
              <a:solidFill>
                <a:srgbClr val="D0CECE">
                  <a:alpha val="42352"/>
                </a:srgbClr>
              </a:solidFill>
              <a:ln w="12700" cap="flat" cmpd="sng">
                <a:solidFill>
                  <a:srgbClr val="7F7F7F"/>
                </a:solidFill>
                <a:prstDash val="dash"/>
                <a:miter lim="800000"/>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rgbClr val="262626"/>
                  </a:solidFill>
                  <a:latin typeface="Arial"/>
                  <a:ea typeface="Arial"/>
                  <a:cs typeface="Arial"/>
                  <a:sym typeface="Arial"/>
                </a:endParaRPr>
              </a:p>
            </p:txBody>
          </p:sp>
          <p:sp>
            <p:nvSpPr>
              <p:cNvPr id="371" name="Google Shape;371;p14"/>
              <p:cNvSpPr/>
              <p:nvPr/>
            </p:nvSpPr>
            <p:spPr>
              <a:xfrm>
                <a:off x="2498068" y="4798746"/>
                <a:ext cx="794729" cy="44236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Khoa học dữ liệu</a:t>
                </a:r>
                <a:endParaRPr sz="1050" b="1" i="0" u="none" strike="noStrike" cap="none">
                  <a:solidFill>
                    <a:srgbClr val="262626"/>
                  </a:solidFill>
                  <a:latin typeface="Arial"/>
                  <a:ea typeface="Arial"/>
                  <a:cs typeface="Arial"/>
                  <a:sym typeface="Arial"/>
                </a:endParaRPr>
              </a:p>
            </p:txBody>
          </p:sp>
          <p:sp>
            <p:nvSpPr>
              <p:cNvPr id="372" name="Google Shape;372;p14"/>
              <p:cNvSpPr/>
              <p:nvPr/>
            </p:nvSpPr>
            <p:spPr>
              <a:xfrm>
                <a:off x="3299248" y="3982517"/>
                <a:ext cx="2067341" cy="1540583"/>
              </a:xfrm>
              <a:prstGeom prst="ellipse">
                <a:avLst/>
              </a:prstGeom>
              <a:solidFill>
                <a:srgbClr val="DDEAF6"/>
              </a:solidFill>
              <a:ln w="12700" cap="flat" cmpd="sng">
                <a:solidFill>
                  <a:srgbClr val="1E4E79"/>
                </a:solidFill>
                <a:prstDash val="dash"/>
                <a:miter lim="800000"/>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rgbClr val="262626"/>
                  </a:solidFill>
                  <a:latin typeface="Arial"/>
                  <a:ea typeface="Arial"/>
                  <a:cs typeface="Arial"/>
                  <a:sym typeface="Arial"/>
                </a:endParaRPr>
              </a:p>
            </p:txBody>
          </p:sp>
          <p:sp>
            <p:nvSpPr>
              <p:cNvPr id="373" name="Google Shape;373;p14"/>
              <p:cNvSpPr/>
              <p:nvPr/>
            </p:nvSpPr>
            <p:spPr>
              <a:xfrm>
                <a:off x="3203326" y="4599578"/>
                <a:ext cx="1334053" cy="270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Khai phá dữ liệu</a:t>
                </a:r>
                <a:endParaRPr sz="1050" b="1" i="0" u="none" strike="noStrike" cap="none">
                  <a:solidFill>
                    <a:srgbClr val="262626"/>
                  </a:solidFill>
                  <a:latin typeface="Arial"/>
                  <a:ea typeface="Arial"/>
                  <a:cs typeface="Arial"/>
                  <a:sym typeface="Arial"/>
                </a:endParaRPr>
              </a:p>
            </p:txBody>
          </p:sp>
          <p:sp>
            <p:nvSpPr>
              <p:cNvPr id="374" name="Google Shape;374;p14"/>
              <p:cNvSpPr/>
              <p:nvPr/>
            </p:nvSpPr>
            <p:spPr>
              <a:xfrm rot="1453541">
                <a:off x="2619032" y="2994704"/>
                <a:ext cx="2911804" cy="1503765"/>
              </a:xfrm>
              <a:prstGeom prst="ellipse">
                <a:avLst/>
              </a:prstGeom>
              <a:solidFill>
                <a:srgbClr val="D0CECE">
                  <a:alpha val="42352"/>
                </a:srgbClr>
              </a:solidFill>
              <a:ln w="12700" cap="flat" cmpd="sng">
                <a:solidFill>
                  <a:srgbClr val="7F7F7F"/>
                </a:solidFill>
                <a:prstDash val="dash"/>
                <a:miter lim="800000"/>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rgbClr val="262626"/>
                  </a:solidFill>
                  <a:latin typeface="Arial"/>
                  <a:ea typeface="Arial"/>
                  <a:cs typeface="Arial"/>
                  <a:sym typeface="Arial"/>
                </a:endParaRPr>
              </a:p>
            </p:txBody>
          </p:sp>
          <p:sp>
            <p:nvSpPr>
              <p:cNvPr id="375" name="Google Shape;375;p14"/>
              <p:cNvSpPr/>
              <p:nvPr/>
            </p:nvSpPr>
            <p:spPr>
              <a:xfrm>
                <a:off x="2992108" y="3324500"/>
                <a:ext cx="1217198" cy="270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Dữ liệu</a:t>
                </a:r>
                <a:endParaRPr sz="1050" b="1" i="0" u="none" strike="noStrike" cap="none">
                  <a:solidFill>
                    <a:srgbClr val="262626"/>
                  </a:solidFill>
                  <a:latin typeface="Arial"/>
                  <a:ea typeface="Arial"/>
                  <a:cs typeface="Arial"/>
                  <a:sym typeface="Arial"/>
                </a:endParaRPr>
              </a:p>
            </p:txBody>
          </p:sp>
          <p:sp>
            <p:nvSpPr>
              <p:cNvPr id="376" name="Google Shape;376;p14"/>
              <p:cNvSpPr/>
              <p:nvPr/>
            </p:nvSpPr>
            <p:spPr>
              <a:xfrm>
                <a:off x="4620050" y="2522396"/>
                <a:ext cx="2756454" cy="2411897"/>
              </a:xfrm>
              <a:prstGeom prst="ellipse">
                <a:avLst/>
              </a:prstGeom>
              <a:noFill/>
              <a:ln w="12700" cap="flat" cmpd="sng">
                <a:solidFill>
                  <a:srgbClr val="1E4E79"/>
                </a:solidFill>
                <a:prstDash val="solid"/>
                <a:miter lim="800000"/>
                <a:headEnd type="none" w="sm" len="sm"/>
                <a:tailEnd type="none" w="sm" len="sm"/>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Trí tuệ nhân tạo</a:t>
                </a:r>
                <a:endParaRPr sz="1050" b="1" i="0" u="none" strike="noStrike" cap="none">
                  <a:solidFill>
                    <a:srgbClr val="262626"/>
                  </a:solidFill>
                  <a:latin typeface="Arial"/>
                  <a:ea typeface="Arial"/>
                  <a:cs typeface="Arial"/>
                  <a:sym typeface="Arial"/>
                </a:endParaRPr>
              </a:p>
            </p:txBody>
          </p:sp>
          <p:sp>
            <p:nvSpPr>
              <p:cNvPr id="377" name="Google Shape;377;p14"/>
              <p:cNvSpPr/>
              <p:nvPr/>
            </p:nvSpPr>
            <p:spPr>
              <a:xfrm>
                <a:off x="4907181" y="3326362"/>
                <a:ext cx="1607931" cy="1607931"/>
              </a:xfrm>
              <a:prstGeom prst="ellipse">
                <a:avLst/>
              </a:prstGeom>
              <a:solidFill>
                <a:srgbClr val="0077C8">
                  <a:alpha val="67450"/>
                </a:srgbClr>
              </a:solidFill>
              <a:ln w="12700" cap="flat" cmpd="sng">
                <a:solidFill>
                  <a:srgbClr val="1E4E79"/>
                </a:solidFill>
                <a:prstDash val="solid"/>
                <a:miter lim="800000"/>
                <a:headEnd type="none" w="sm" len="sm"/>
                <a:tailEnd type="none" w="sm" len="sm"/>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1050"/>
                  <a:buFont typeface="Arial"/>
                  <a:buNone/>
                </a:pPr>
                <a:endParaRPr sz="1050" b="1" i="0" u="none" strike="noStrike" cap="none">
                  <a:solidFill>
                    <a:schemeClr val="lt1"/>
                  </a:solidFill>
                  <a:latin typeface="Arial"/>
                  <a:ea typeface="Arial"/>
                  <a:cs typeface="Arial"/>
                  <a:sym typeface="Arial"/>
                </a:endParaRPr>
              </a:p>
            </p:txBody>
          </p:sp>
          <p:sp>
            <p:nvSpPr>
              <p:cNvPr id="378" name="Google Shape;378;p14"/>
              <p:cNvSpPr/>
              <p:nvPr/>
            </p:nvSpPr>
            <p:spPr>
              <a:xfrm>
                <a:off x="5180437" y="3688440"/>
                <a:ext cx="1098698" cy="270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Học máy</a:t>
                </a:r>
                <a:endParaRPr sz="1050" b="1" i="0" u="none" strike="noStrike" cap="none">
                  <a:solidFill>
                    <a:schemeClr val="lt1"/>
                  </a:solidFill>
                  <a:latin typeface="Arial"/>
                  <a:ea typeface="Arial"/>
                  <a:cs typeface="Arial"/>
                  <a:sym typeface="Arial"/>
                </a:endParaRPr>
              </a:p>
            </p:txBody>
          </p:sp>
          <p:sp>
            <p:nvSpPr>
              <p:cNvPr id="379" name="Google Shape;379;p14"/>
              <p:cNvSpPr/>
              <p:nvPr/>
            </p:nvSpPr>
            <p:spPr>
              <a:xfrm>
                <a:off x="5784377" y="5019926"/>
                <a:ext cx="1916901" cy="270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Khoa học thần kinh tính toán</a:t>
                </a:r>
                <a:endParaRPr sz="1050" b="1" i="0" u="none" strike="noStrike" cap="none">
                  <a:solidFill>
                    <a:srgbClr val="262626"/>
                  </a:solidFill>
                  <a:latin typeface="Arial"/>
                  <a:ea typeface="Arial"/>
                  <a:cs typeface="Arial"/>
                  <a:sym typeface="Arial"/>
                </a:endParaRPr>
              </a:p>
            </p:txBody>
          </p:sp>
          <p:sp>
            <p:nvSpPr>
              <p:cNvPr id="380" name="Google Shape;380;p14"/>
              <p:cNvSpPr/>
              <p:nvPr/>
            </p:nvSpPr>
            <p:spPr>
              <a:xfrm>
                <a:off x="5366590" y="4245179"/>
                <a:ext cx="689113" cy="689113"/>
              </a:xfrm>
              <a:prstGeom prst="ellipse">
                <a:avLst/>
              </a:prstGeom>
              <a:solidFill>
                <a:srgbClr val="0077C8">
                  <a:alpha val="73333"/>
                </a:srgbClr>
              </a:solidFill>
              <a:ln w="12700" cap="flat" cmpd="sng">
                <a:solidFill>
                  <a:srgbClr val="1E4E79"/>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Học sâu</a:t>
                </a:r>
                <a:endParaRPr sz="900" b="1" i="0" u="none" strike="noStrike" cap="none">
                  <a:solidFill>
                    <a:schemeClr val="lt1"/>
                  </a:solidFill>
                  <a:latin typeface="Arial"/>
                  <a:ea typeface="Arial"/>
                  <a:cs typeface="Arial"/>
                  <a:sym typeface="Arial"/>
                </a:endParaRPr>
              </a:p>
            </p:txBody>
          </p:sp>
          <p:sp>
            <p:nvSpPr>
              <p:cNvPr id="381" name="Google Shape;381;p14"/>
              <p:cNvSpPr/>
              <p:nvPr/>
            </p:nvSpPr>
            <p:spPr>
              <a:xfrm>
                <a:off x="4168184" y="2860006"/>
                <a:ext cx="1217198" cy="270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Nhận dạng mẫu</a:t>
                </a:r>
                <a:endParaRPr sz="1050" b="1" i="0" u="none" strike="noStrike" cap="none">
                  <a:solidFill>
                    <a:srgbClr val="262626"/>
                  </a:solidFill>
                  <a:latin typeface="Arial"/>
                  <a:ea typeface="Arial"/>
                  <a:cs typeface="Arial"/>
                  <a:sym typeface="Arial"/>
                </a:endParaRPr>
              </a:p>
            </p:txBody>
          </p:sp>
          <p:sp>
            <p:nvSpPr>
              <p:cNvPr id="382" name="Google Shape;382;p14"/>
              <p:cNvSpPr/>
              <p:nvPr/>
            </p:nvSpPr>
            <p:spPr>
              <a:xfrm rot="-1587462">
                <a:off x="2763330" y="4939665"/>
                <a:ext cx="2727492" cy="785142"/>
              </a:xfrm>
              <a:prstGeom prst="ellipse">
                <a:avLst/>
              </a:prstGeom>
              <a:solidFill>
                <a:srgbClr val="D0CECE">
                  <a:alpha val="42352"/>
                </a:srgbClr>
              </a:solidFill>
              <a:ln w="12700" cap="flat" cmpd="sng">
                <a:solidFill>
                  <a:srgbClr val="7F7F7F"/>
                </a:solidFill>
                <a:prstDash val="dash"/>
                <a:miter lim="800000"/>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rgbClr val="262626"/>
                  </a:solidFill>
                  <a:latin typeface="Arial"/>
                  <a:ea typeface="Arial"/>
                  <a:cs typeface="Arial"/>
                  <a:sym typeface="Arial"/>
                </a:endParaRPr>
              </a:p>
            </p:txBody>
          </p:sp>
          <p:sp>
            <p:nvSpPr>
              <p:cNvPr id="383" name="Google Shape;383;p14"/>
              <p:cNvSpPr/>
              <p:nvPr/>
            </p:nvSpPr>
            <p:spPr>
              <a:xfrm>
                <a:off x="3361857" y="5264111"/>
                <a:ext cx="997021" cy="270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Cơ sở dữ liệu</a:t>
                </a:r>
                <a:endParaRPr sz="1050" b="1" i="0" u="none" strike="noStrike" cap="none">
                  <a:solidFill>
                    <a:srgbClr val="262626"/>
                  </a:solidFill>
                  <a:latin typeface="Arial"/>
                  <a:ea typeface="Arial"/>
                  <a:cs typeface="Arial"/>
                  <a:sym typeface="Arial"/>
                </a:endParaRPr>
              </a:p>
            </p:txBody>
          </p:sp>
        </p:grpSp>
      </p:grpSp>
      <p:sp>
        <p:nvSpPr>
          <p:cNvPr id="384" name="Google Shape;384;p14"/>
          <p:cNvSpPr/>
          <p:nvPr/>
        </p:nvSpPr>
        <p:spPr>
          <a:xfrm>
            <a:off x="702940" y="2068236"/>
            <a:ext cx="8632825" cy="745571"/>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máy là một lĩnh vực liên ngành kết hợp nền tảng học thuật và thành tựu trong các lĩnh vực khác nhau như xác suất và thống kê, khoa học máy tính, lý thuyết cơ sở dữ liệu, khoa học nhận thức, khoa học thần kinh và nhận dạng mẫu, thay vì chỉ giới hạn ở công nghệ phương pháp luận trong bất kỳ lĩnh vực nào.</a:t>
            </a:r>
            <a:endParaRPr sz="1300" b="0" i="0" u="none" strike="noStrike" cap="none">
              <a:solidFill>
                <a:srgbClr val="262626"/>
              </a:solidFill>
              <a:latin typeface="Arial"/>
              <a:ea typeface="Arial"/>
              <a:cs typeface="Arial"/>
              <a:sym typeface="Arial"/>
            </a:endParaRPr>
          </a:p>
        </p:txBody>
      </p:sp>
      <p:sp>
        <p:nvSpPr>
          <p:cNvPr id="385" name="Google Shape;385;p14"/>
          <p:cNvSpPr/>
          <p:nvPr/>
        </p:nvSpPr>
        <p:spPr>
          <a:xfrm>
            <a:off x="558924" y="1853167"/>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Các nghiên cứu liên quan đến học máy</a:t>
            </a:r>
            <a:endParaRPr sz="1400" b="0" i="0" u="none" strike="noStrike" cap="none">
              <a:solidFill>
                <a:schemeClr val="dk1"/>
              </a:solidFill>
              <a:latin typeface="Arial"/>
              <a:ea typeface="Arial"/>
              <a:cs typeface="Arial"/>
              <a:sym typeface="Arial"/>
            </a:endParaRPr>
          </a:p>
        </p:txBody>
      </p:sp>
      <p:sp>
        <p:nvSpPr>
          <p:cNvPr id="386" name="Google Shape;386;p14"/>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Các ngành liên quan đến học máy</a:t>
            </a:r>
            <a:endParaRPr sz="2400" b="1" i="0" u="none" strike="noStrike" cap="none">
              <a:solidFill>
                <a:srgbClr val="0C0C0C"/>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15"/>
          <p:cNvSpPr/>
          <p:nvPr/>
        </p:nvSpPr>
        <p:spPr>
          <a:xfrm>
            <a:off x="702940" y="1700808"/>
            <a:ext cx="8632825" cy="2751248"/>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Theo truyền thống, </a:t>
            </a:r>
            <a:r>
              <a:rPr lang="en-US" sz="1300" b="1" i="0" u="none" strike="noStrike" cap="none">
                <a:solidFill>
                  <a:srgbClr val="1429A0"/>
                </a:solidFill>
                <a:latin typeface="Arial"/>
                <a:ea typeface="Arial"/>
                <a:cs typeface="Arial"/>
                <a:sym typeface="Arial"/>
              </a:rPr>
              <a:t>thống kê</a:t>
            </a:r>
            <a:r>
              <a:rPr lang="en-US" sz="1300" b="0" i="0" u="none" strike="noStrike" cap="none">
                <a:solidFill>
                  <a:srgbClr val="262626"/>
                </a:solidFill>
                <a:latin typeface="Arial"/>
                <a:ea typeface="Arial"/>
                <a:cs typeface="Arial"/>
                <a:sym typeface="Arial"/>
              </a:rPr>
              <a:t> được coi là nền tảng lý thuyết cung cấp một phương pháp khoa học và có hệ thống để chuyển đổi dữ liệu thành thông tin. Các lĩnh vực được nhấn mạnh đặc biệt trong thống kê là suy luận và xác minh, và các phương pháp và lý thuyết khác nhau đã được thiết lập để </a:t>
            </a:r>
            <a:r>
              <a:rPr lang="en-US" sz="1300" b="1" i="0" u="none" strike="noStrike" cap="none">
                <a:solidFill>
                  <a:srgbClr val="1429A0"/>
                </a:solidFill>
                <a:latin typeface="Arial"/>
                <a:ea typeface="Arial"/>
                <a:cs typeface="Arial"/>
                <a:sym typeface="Arial"/>
              </a:rPr>
              <a:t>giải thích mức độ phù hợp của dữ liệu đã cho với giả thuyết và lý thuyết của nhà nghiên cứu</a:t>
            </a:r>
            <a:r>
              <a:rPr lang="en-US" sz="1300" b="0" i="0" u="none" strike="noStrike" cap="none">
                <a:solidFill>
                  <a:srgbClr val="262626"/>
                </a:solidFill>
                <a:latin typeface="Arial"/>
                <a:ea typeface="Arial"/>
                <a:cs typeface="Arial"/>
                <a:sym typeface="Arial"/>
              </a:rPr>
              <a:t> (hoặc mức độ chính xác của các giá trị thu được từ các quan sát trong việc ước tính các tham số quần thể thực tế).</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khi đó, </a:t>
            </a:r>
            <a:r>
              <a:rPr lang="en-US" sz="1300" b="1" i="0" u="none" strike="noStrike" cap="none">
                <a:solidFill>
                  <a:srgbClr val="1429A0"/>
                </a:solidFill>
                <a:latin typeface="Arial"/>
                <a:ea typeface="Arial"/>
                <a:cs typeface="Arial"/>
                <a:sym typeface="Arial"/>
              </a:rPr>
              <a:t>học máy </a:t>
            </a:r>
            <a:r>
              <a:rPr lang="en-US" sz="1300" b="0" i="0" u="none" strike="noStrike" cap="none">
                <a:solidFill>
                  <a:srgbClr val="262626"/>
                </a:solidFill>
                <a:latin typeface="Arial"/>
                <a:ea typeface="Arial"/>
                <a:cs typeface="Arial"/>
                <a:sym typeface="Arial"/>
              </a:rPr>
              <a:t>chủ yếu được sử dụng để giải quyết các nhiệm vụ khó thiết kế hoặc khó lập trình các thuật toán rõ ràng. Hầu hết các thuật toán học máy được sử dụng đầu tiên để định lượng các </a:t>
            </a:r>
            <a:r>
              <a:rPr lang="en-US" sz="1300" b="1" i="0" u="none" strike="noStrike" cap="none">
                <a:solidFill>
                  <a:srgbClr val="1429A0"/>
                </a:solidFill>
                <a:latin typeface="Arial"/>
                <a:ea typeface="Arial"/>
                <a:cs typeface="Arial"/>
                <a:sym typeface="Arial"/>
              </a:rPr>
              <a:t>mối quan hệ phức tạp bằng cách xác định đặc trưng của các cơ chế tiềm năng do dữ liệu tạo ra</a:t>
            </a:r>
            <a:r>
              <a:rPr lang="en-US" sz="1300" b="0" i="0" u="none" strike="noStrike" cap="none">
                <a:solidFill>
                  <a:srgbClr val="262626"/>
                </a:solidFill>
                <a:latin typeface="Arial"/>
                <a:ea typeface="Arial"/>
                <a:cs typeface="Arial"/>
                <a:sym typeface="Arial"/>
              </a:rPr>
              <a:t>, sau đó đưa ra dự đoán về dữ liệu mới bằng cách sử dụng các mẫu đã xác định này.</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Thoạt nhìn, các cách tiếp cận của thống kê và học máy có vẻ đối lập nhau. Tuy nhiên, ngoại trừ một số khía cạnh, các phương pháp luận tạo thành nền tảng của các ngành này là rất giống nhau. Trên thực tế, có thể nói rằng nhiều phương pháp học máy dựa trên việc học thống kê từ các phương pháp thống kê.</a:t>
            </a:r>
            <a:endParaRPr sz="1300" b="0" i="0" u="none" strike="noStrike" cap="none">
              <a:solidFill>
                <a:srgbClr val="262626"/>
              </a:solidFill>
              <a:latin typeface="Arial"/>
              <a:ea typeface="Arial"/>
              <a:cs typeface="Arial"/>
              <a:sym typeface="Arial"/>
            </a:endParaRPr>
          </a:p>
        </p:txBody>
      </p:sp>
      <p:sp>
        <p:nvSpPr>
          <p:cNvPr id="396" name="Google Shape;396;p15"/>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máy và Thống kê số liệu</a:t>
            </a:r>
            <a:endParaRPr sz="1400" b="0" i="0" u="none" strike="noStrike" cap="none">
              <a:solidFill>
                <a:schemeClr val="dk1"/>
              </a:solidFill>
              <a:latin typeface="Arial"/>
              <a:ea typeface="Arial"/>
              <a:cs typeface="Arial"/>
              <a:sym typeface="Arial"/>
            </a:endParaRPr>
          </a:p>
        </p:txBody>
      </p:sp>
      <p:grpSp>
        <p:nvGrpSpPr>
          <p:cNvPr id="397" name="Google Shape;397;p15"/>
          <p:cNvGrpSpPr/>
          <p:nvPr/>
        </p:nvGrpSpPr>
        <p:grpSpPr>
          <a:xfrm>
            <a:off x="883622" y="4725144"/>
            <a:ext cx="8316262" cy="1512168"/>
            <a:chOff x="1027763" y="4797152"/>
            <a:chExt cx="8316262" cy="1512168"/>
          </a:xfrm>
        </p:grpSpPr>
        <p:grpSp>
          <p:nvGrpSpPr>
            <p:cNvPr id="398" name="Google Shape;398;p15"/>
            <p:cNvGrpSpPr/>
            <p:nvPr/>
          </p:nvGrpSpPr>
          <p:grpSpPr>
            <a:xfrm>
              <a:off x="1027763" y="4797152"/>
              <a:ext cx="8316262" cy="1512168"/>
              <a:chOff x="467241" y="4437112"/>
              <a:chExt cx="9504301" cy="1728192"/>
            </a:xfrm>
          </p:grpSpPr>
          <p:sp>
            <p:nvSpPr>
              <p:cNvPr id="399" name="Google Shape;399;p15"/>
              <p:cNvSpPr/>
              <p:nvPr/>
            </p:nvSpPr>
            <p:spPr>
              <a:xfrm>
                <a:off x="467241" y="4437112"/>
                <a:ext cx="9504301" cy="172819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00" name="Google Shape;400;p15"/>
              <p:cNvPicPr preferRelativeResize="0"/>
              <p:nvPr/>
            </p:nvPicPr>
            <p:blipFill rotWithShape="1">
              <a:blip r:embed="rId3">
                <a:alphaModFix/>
              </a:blip>
              <a:srcRect/>
              <a:stretch/>
            </p:blipFill>
            <p:spPr>
              <a:xfrm>
                <a:off x="3302142" y="4552064"/>
                <a:ext cx="3799284" cy="1495217"/>
              </a:xfrm>
              <a:prstGeom prst="rect">
                <a:avLst/>
              </a:prstGeom>
              <a:noFill/>
              <a:ln>
                <a:noFill/>
              </a:ln>
            </p:spPr>
          </p:pic>
        </p:grpSp>
        <p:sp>
          <p:nvSpPr>
            <p:cNvPr id="401" name="Google Shape;401;p15"/>
            <p:cNvSpPr/>
            <p:nvPr/>
          </p:nvSpPr>
          <p:spPr>
            <a:xfrm>
              <a:off x="6967761" y="5331479"/>
              <a:ext cx="877163" cy="49244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Thống kê số liệu</a:t>
              </a:r>
              <a:endParaRPr sz="1300" b="0" i="0" u="none" strike="noStrike" cap="none">
                <a:solidFill>
                  <a:srgbClr val="262626"/>
                </a:solidFill>
                <a:latin typeface="Arial"/>
                <a:ea typeface="Arial"/>
                <a:cs typeface="Arial"/>
                <a:sym typeface="Arial"/>
              </a:endParaRPr>
            </a:p>
          </p:txBody>
        </p:sp>
        <p:sp>
          <p:nvSpPr>
            <p:cNvPr id="402" name="Google Shape;402;p15"/>
            <p:cNvSpPr/>
            <p:nvPr/>
          </p:nvSpPr>
          <p:spPr>
            <a:xfrm>
              <a:off x="1940793" y="5431507"/>
              <a:ext cx="1656183" cy="2923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Học máy</a:t>
              </a:r>
              <a:endParaRPr sz="1300" b="0" i="0" u="none" strike="noStrike" cap="none">
                <a:solidFill>
                  <a:schemeClr val="dk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6"/>
          <p:cNvSpPr/>
          <p:nvPr/>
        </p:nvSpPr>
        <p:spPr>
          <a:xfrm>
            <a:off x="702940" y="1700808"/>
            <a:ext cx="8632825" cy="2556323"/>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Khai phá dữ liệu là gì?:</a:t>
            </a:r>
            <a:endParaRPr sz="1400" b="0" i="0" u="none" strike="noStrike" cap="none">
              <a:solidFill>
                <a:srgbClr val="00000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Nó đề cập đến một hoạt động khai phá thông tin hữu ích từ kho dữ liệu lớn.</a:t>
            </a:r>
            <a:endParaRPr sz="1400" b="0" i="0" u="none" strike="noStrike" cap="none">
              <a:solidFill>
                <a:srgbClr val="00000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Đó là một loạt các quy trình giúp các công ty đưa ra quyết định để đảm bảo khả năng cạnh tranh bằng cách tìm và mô hình hóa các mối quan hệ, mẫu và quy tắc giữa dữ liệu hiện có trong một lượng lớn dữ liệu.</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máy cũng liên quan sâu sắc đến khai phá dữ liệu ở chỗ nó trích xuất các quy tắc hữu ích, biểu thức tri thức hoặc tiêu chí phán đoán từ dữ liệu. </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Nếu </a:t>
            </a:r>
            <a:r>
              <a:rPr lang="en-US" sz="1300" b="1" i="0" u="none" strike="noStrike" cap="none">
                <a:solidFill>
                  <a:srgbClr val="1429A0"/>
                </a:solidFill>
                <a:latin typeface="Arial"/>
                <a:ea typeface="Arial"/>
                <a:cs typeface="Arial"/>
                <a:sym typeface="Arial"/>
              </a:rPr>
              <a:t>khai phá dữ liệu </a:t>
            </a:r>
            <a:r>
              <a:rPr lang="en-US" sz="1300" b="1" i="0" u="none" strike="noStrike" cap="none">
                <a:solidFill>
                  <a:srgbClr val="262626"/>
                </a:solidFill>
                <a:latin typeface="Arial"/>
                <a:ea typeface="Arial"/>
                <a:cs typeface="Arial"/>
                <a:sym typeface="Arial"/>
              </a:rPr>
              <a:t>là một quá trình khám phá một cách có hệ thống và tự động các quy tắc hoặc mẫu có ý nghĩa </a:t>
            </a:r>
            <a:r>
              <a:rPr lang="en-US" sz="1300" b="0" i="0" u="none" strike="noStrike" cap="none">
                <a:solidFill>
                  <a:srgbClr val="262626"/>
                </a:solidFill>
                <a:latin typeface="Arial"/>
                <a:ea typeface="Arial"/>
                <a:cs typeface="Arial"/>
                <a:sym typeface="Arial"/>
              </a:rPr>
              <a:t>trong dữ liệu được lưu trữ quy mô lớn và trí tuệ hóa chúng, thì </a:t>
            </a:r>
            <a:r>
              <a:rPr lang="en-US" sz="1300" b="1" i="0" u="none" strike="noStrike" cap="none">
                <a:solidFill>
                  <a:srgbClr val="1429A0"/>
                </a:solidFill>
                <a:latin typeface="Arial"/>
                <a:ea typeface="Arial"/>
                <a:cs typeface="Arial"/>
                <a:sym typeface="Arial"/>
              </a:rPr>
              <a:t>học máy </a:t>
            </a:r>
            <a:r>
              <a:rPr lang="en-US" sz="1300" b="1" i="0" u="none" strike="noStrike" cap="none">
                <a:solidFill>
                  <a:srgbClr val="262626"/>
                </a:solidFill>
                <a:latin typeface="Arial"/>
                <a:ea typeface="Arial"/>
                <a:cs typeface="Arial"/>
                <a:sym typeface="Arial"/>
              </a:rPr>
              <a:t>khác ở chỗ nó là một quá trình trong đó các chương trình máy tính học hỏi, đưa ra dự đoán, nghiên cứu và xây dựng thuật toán </a:t>
            </a:r>
            <a:r>
              <a:rPr lang="en-US" sz="1300" b="0" i="0" u="none" strike="noStrike" cap="none">
                <a:solidFill>
                  <a:srgbClr val="262626"/>
                </a:solidFill>
                <a:latin typeface="Arial"/>
                <a:ea typeface="Arial"/>
                <a:cs typeface="Arial"/>
                <a:sym typeface="Arial"/>
              </a:rPr>
              <a:t>cho những dữ liệu đó.</a:t>
            </a:r>
            <a:endParaRPr sz="1300" b="0" i="0" u="none" strike="noStrike" cap="none">
              <a:solidFill>
                <a:srgbClr val="262626"/>
              </a:solidFill>
              <a:latin typeface="Arial"/>
              <a:ea typeface="Arial"/>
              <a:cs typeface="Arial"/>
              <a:sym typeface="Arial"/>
            </a:endParaRPr>
          </a:p>
        </p:txBody>
      </p:sp>
      <p:sp>
        <p:nvSpPr>
          <p:cNvPr id="412" name="Google Shape;412;p16"/>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máy và Khai phá dữ liệu</a:t>
            </a:r>
            <a:endParaRPr sz="1400" b="0" i="0" u="none" strike="noStrike" cap="none">
              <a:solidFill>
                <a:schemeClr val="dk1"/>
              </a:solidFill>
              <a:latin typeface="Arial"/>
              <a:ea typeface="Arial"/>
              <a:cs typeface="Arial"/>
              <a:sym typeface="Arial"/>
            </a:endParaRPr>
          </a:p>
        </p:txBody>
      </p:sp>
      <p:grpSp>
        <p:nvGrpSpPr>
          <p:cNvPr id="413" name="Google Shape;413;p16"/>
          <p:cNvGrpSpPr/>
          <p:nvPr/>
        </p:nvGrpSpPr>
        <p:grpSpPr>
          <a:xfrm>
            <a:off x="846956" y="4390270"/>
            <a:ext cx="8304163" cy="1775035"/>
            <a:chOff x="725497" y="4304816"/>
            <a:chExt cx="8473761" cy="1811287"/>
          </a:xfrm>
        </p:grpSpPr>
        <p:pic>
          <p:nvPicPr>
            <p:cNvPr id="414" name="Google Shape;414;p16"/>
            <p:cNvPicPr preferRelativeResize="0"/>
            <p:nvPr/>
          </p:nvPicPr>
          <p:blipFill rotWithShape="1">
            <a:blip r:embed="rId3">
              <a:alphaModFix/>
            </a:blip>
            <a:srcRect/>
            <a:stretch/>
          </p:blipFill>
          <p:spPr>
            <a:xfrm>
              <a:off x="725497" y="4426093"/>
              <a:ext cx="3976761" cy="1656306"/>
            </a:xfrm>
            <a:prstGeom prst="rect">
              <a:avLst/>
            </a:prstGeom>
            <a:noFill/>
            <a:ln>
              <a:noFill/>
            </a:ln>
          </p:spPr>
        </p:pic>
        <p:pic>
          <p:nvPicPr>
            <p:cNvPr id="415" name="Google Shape;415;p16"/>
            <p:cNvPicPr preferRelativeResize="0"/>
            <p:nvPr/>
          </p:nvPicPr>
          <p:blipFill rotWithShape="1">
            <a:blip r:embed="rId4">
              <a:alphaModFix/>
            </a:blip>
            <a:srcRect/>
            <a:stretch/>
          </p:blipFill>
          <p:spPr>
            <a:xfrm>
              <a:off x="4886330" y="4304816"/>
              <a:ext cx="4312928" cy="1811287"/>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17" descr="데이터 마이닝 대 기계 학습 대 인공 지능의 차이 - 다른"/>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22" name="Google Shape;422;p17" descr="데이터 마이닝 대 기계 학습 대 인공 지능의 차이 - 다른"/>
          <p:cNvPicPr preferRelativeResize="0"/>
          <p:nvPr/>
        </p:nvPicPr>
        <p:blipFill rotWithShape="1">
          <a:blip r:embed="rId3">
            <a:alphaModFix/>
          </a:blip>
          <a:srcRect l="5507" t="3581" r="3521" b="3393"/>
          <a:stretch/>
        </p:blipFill>
        <p:spPr>
          <a:xfrm>
            <a:off x="7286895" y="4005064"/>
            <a:ext cx="1768973" cy="1739325"/>
          </a:xfrm>
          <a:prstGeom prst="rect">
            <a:avLst/>
          </a:prstGeom>
          <a:noFill/>
          <a:ln>
            <a:noFill/>
          </a:ln>
        </p:spPr>
      </p:pic>
      <p:sp>
        <p:nvSpPr>
          <p:cNvPr id="426" name="Google Shape;426;p17"/>
          <p:cNvSpPr/>
          <p:nvPr/>
        </p:nvSpPr>
        <p:spPr>
          <a:xfrm>
            <a:off x="702940" y="1700808"/>
            <a:ext cx="8632825" cy="2561452"/>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Phân tích thống kê truyền thống</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Với một nhóm mục tiêu, các phân tích được thực hiện dựa trên các giả định khác nhau về phân phối hoặc mô hình của một quân thể. </a:t>
            </a:r>
            <a:endParaRPr sz="1400" b="0" i="0" u="none" strike="noStrike" cap="none">
              <a:solidFill>
                <a:srgbClr val="000000"/>
              </a:solidFill>
              <a:latin typeface="Arial"/>
              <a:ea typeface="Arial"/>
              <a:cs typeface="Arial"/>
              <a:sym typeface="Arial"/>
            </a:endParaRPr>
          </a:p>
          <a:p>
            <a:pPr marL="355600" marR="0" lvl="1" indent="0" algn="l" rtl="0">
              <a:lnSpc>
                <a:spcPct val="100000"/>
              </a:lnSpc>
              <a:spcBef>
                <a:spcPts val="80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  Quá trình suy luận toàn bộ tham số của quần thể thông qua quan sát một mẫu.</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Khai phá dữ liệu</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Không có yêu cầu tiên quyết nào đối với phân phối hoặc mô hình mà chắc chắn sẽ liên quan trong khảo sát mẫu hoặc thí nghiệm.</a:t>
            </a:r>
            <a:endParaRPr sz="1300" b="0" i="0" u="none" strike="noStrike" cap="none">
              <a:solidFill>
                <a:srgbClr val="262626"/>
              </a:solidFill>
              <a:latin typeface="Arial"/>
              <a:ea typeface="Arial"/>
              <a:cs typeface="Arial"/>
              <a:sym typeface="Arial"/>
            </a:endParaRPr>
          </a:p>
          <a:p>
            <a:pPr marL="355600" marR="0" lvl="1" indent="0" algn="l" rtl="0">
              <a:lnSpc>
                <a:spcPct val="100000"/>
              </a:lnSpc>
              <a:spcBef>
                <a:spcPts val="80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 Quá trình trích xuất thông tin/kiến thức cần thiết sử dụng toàn bộ dữ liệu của quần thể.</a:t>
            </a:r>
            <a:endParaRPr sz="1400" b="0" i="0" u="none" strike="noStrike" cap="none">
              <a:solidFill>
                <a:srgbClr val="00000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một điều kiện tiên quyết là nó cần phải có lượng lớn dữ liệu.</a:t>
            </a:r>
            <a:endParaRPr sz="1300" b="0" i="0" u="none" strike="noStrike" cap="none">
              <a:solidFill>
                <a:srgbClr val="262626"/>
              </a:solidFill>
              <a:latin typeface="Arial"/>
              <a:ea typeface="Arial"/>
              <a:cs typeface="Arial"/>
              <a:sym typeface="Arial"/>
            </a:endParaRPr>
          </a:p>
        </p:txBody>
      </p:sp>
      <p:sp>
        <p:nvSpPr>
          <p:cNvPr id="427" name="Google Shape;427;p17"/>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Phân tích thống kê và Khai phá dữ liệu</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46F02A2C-4E29-02E0-009D-049FC956A0C2}"/>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A1B03117-ACFC-4A3E-4E09-DF7F39781A38}"/>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A00F7C6E-C3D0-8876-ECE1-8E1BD79C5D47}"/>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B5D48BE1-E566-87AB-20F5-BDA8D61A8BAB}"/>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indent="-176213">
              <a:spcBef>
                <a:spcPts val="1000"/>
              </a:spcBef>
              <a:buClr>
                <a:srgbClr val="A6A6A6"/>
              </a:buClr>
              <a:buSzPts val="2160"/>
              <a:buFont typeface="Arial"/>
              <a:buChar char="•"/>
            </a:pPr>
            <a:r>
              <a:rPr lang="en-US" sz="1800" dirty="0">
                <a:solidFill>
                  <a:schemeClr val="tx1"/>
                </a:solidFill>
              </a:rPr>
              <a:t>1.5. Các </a:t>
            </a:r>
            <a:r>
              <a:rPr lang="en-US" sz="1800" dirty="0" err="1">
                <a:solidFill>
                  <a:schemeClr val="tx1"/>
                </a:solidFill>
              </a:rPr>
              <a:t>loại</a:t>
            </a:r>
            <a:r>
              <a:rPr lang="en-US" sz="1800" dirty="0">
                <a:solidFill>
                  <a:schemeClr val="tx1"/>
                </a:solidFill>
              </a:rPr>
              <a:t> </a:t>
            </a:r>
            <a:r>
              <a:rPr lang="en-US" sz="1800" dirty="0" err="1">
                <a:solidFill>
                  <a:schemeClr val="tx1"/>
                </a:solidFill>
              </a:rPr>
              <a:t>và</a:t>
            </a:r>
            <a:r>
              <a:rPr lang="en-US" sz="1800" dirty="0">
                <a:solidFill>
                  <a:schemeClr val="tx1"/>
                </a:solidFill>
              </a:rPr>
              <a:t> </a:t>
            </a:r>
            <a:r>
              <a:rPr lang="en-US" sz="1800" dirty="0" err="1">
                <a:solidFill>
                  <a:schemeClr val="tx1"/>
                </a:solidFill>
              </a:rPr>
              <a:t>lựa</a:t>
            </a:r>
            <a:r>
              <a:rPr lang="en-US" sz="1800" dirty="0">
                <a:solidFill>
                  <a:schemeClr val="tx1"/>
                </a:solidFill>
              </a:rPr>
              <a:t> </a:t>
            </a:r>
            <a:r>
              <a:rPr lang="en-US" sz="1800" dirty="0" err="1">
                <a:solidFill>
                  <a:schemeClr val="tx1"/>
                </a:solidFill>
              </a:rPr>
              <a:t>chọn</a:t>
            </a:r>
            <a:r>
              <a:rPr lang="en-US" sz="1800" dirty="0">
                <a:solidFill>
                  <a:schemeClr val="tx1"/>
                </a:solidFill>
              </a:rPr>
              <a:t> </a:t>
            </a:r>
            <a:r>
              <a:rPr lang="en-US" sz="1800" dirty="0" err="1">
                <a:solidFill>
                  <a:schemeClr val="tx1"/>
                </a:solidFill>
              </a:rPr>
              <a:t>phân</a:t>
            </a:r>
            <a:r>
              <a:rPr lang="en-US" sz="1800" dirty="0">
                <a:solidFill>
                  <a:schemeClr val="tx1"/>
                </a:solidFill>
              </a:rPr>
              <a:t> </a:t>
            </a:r>
            <a:r>
              <a:rPr lang="en-US" sz="1800" dirty="0" err="1">
                <a:solidFill>
                  <a:schemeClr val="tx1"/>
                </a:solidFill>
              </a:rPr>
              <a:t>tích</a:t>
            </a:r>
            <a:r>
              <a:rPr lang="en-US" sz="1800" dirty="0">
                <a:solidFill>
                  <a:schemeClr val="tx1"/>
                </a:solidFill>
              </a:rPr>
              <a:t> </a:t>
            </a:r>
            <a:r>
              <a:rPr lang="en-US" sz="1800" dirty="0" err="1">
                <a:solidFill>
                  <a:schemeClr val="tx1"/>
                </a:solidFill>
              </a:rPr>
              <a:t>dữ</a:t>
            </a:r>
            <a:r>
              <a:rPr lang="en-US" sz="1800" dirty="0">
                <a:solidFill>
                  <a:schemeClr val="tx1"/>
                </a:solidFill>
              </a:rPr>
              <a:t> </a:t>
            </a:r>
            <a:r>
              <a:rPr lang="en-US" sz="1800" dirty="0" err="1">
                <a:solidFill>
                  <a:schemeClr val="tx1"/>
                </a:solidFill>
              </a:rPr>
              <a:t>liệu</a:t>
            </a:r>
            <a:r>
              <a:rPr lang="en-US" sz="1800" dirty="0">
                <a:solidFill>
                  <a:schemeClr val="tx1"/>
                </a:solidFill>
              </a:rPr>
              <a:t> </a:t>
            </a:r>
            <a:r>
              <a:rPr lang="en-US" sz="1800" dirty="0" err="1">
                <a:solidFill>
                  <a:schemeClr val="tx1"/>
                </a:solidFill>
              </a:rPr>
              <a:t>dựa</a:t>
            </a:r>
            <a:r>
              <a:rPr lang="en-US" sz="1800" dirty="0">
                <a:solidFill>
                  <a:schemeClr val="tx1"/>
                </a:solidFill>
              </a:rPr>
              <a:t> </a:t>
            </a:r>
            <a:r>
              <a:rPr lang="en-US" sz="1800" dirty="0" err="1">
                <a:solidFill>
                  <a:schemeClr val="tx1"/>
                </a:solidFill>
              </a:rPr>
              <a:t>trên</a:t>
            </a:r>
            <a:r>
              <a:rPr lang="en-US" sz="1800" dirty="0">
                <a:solidFill>
                  <a:schemeClr val="tx1"/>
                </a:solidFill>
              </a:rPr>
              <a:t> </a:t>
            </a:r>
            <a:r>
              <a:rPr lang="en-US" sz="1800" dirty="0" err="1">
                <a:solidFill>
                  <a:schemeClr val="tx1"/>
                </a:solidFill>
              </a:rPr>
              <a:t>học</a:t>
            </a:r>
            <a:r>
              <a:rPr lang="en-US" sz="1800" dirty="0">
                <a:solidFill>
                  <a:schemeClr val="tx1"/>
                </a:solidFill>
              </a:rPr>
              <a:t> </a:t>
            </a:r>
            <a:r>
              <a:rPr lang="en-US" sz="1800" dirty="0" err="1">
                <a:solidFill>
                  <a:schemeClr val="tx1"/>
                </a:solidFill>
              </a:rPr>
              <a:t>máy</a:t>
            </a:r>
            <a:endParaRPr sz="1800" dirty="0">
              <a:solidFill>
                <a:schemeClr val="tx1"/>
              </a:solidFil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616426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21"/>
          <p:cNvSpPr/>
          <p:nvPr/>
        </p:nvSpPr>
        <p:spPr>
          <a:xfrm>
            <a:off x="702940" y="1700808"/>
            <a:ext cx="8632825" cy="545516"/>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Khi phân tích một lượng lớn dữ liệu bằng cách áp dụng công nghệ học máy, có thể tìm thấy các mẫu mà bên ngoài không nhìn thấy được – đây được gọi là khai phá dữ liệu. Khai phá dữ liệu giải quyết bốn vấn đề sau.</a:t>
            </a:r>
            <a:endParaRPr sz="1300" b="0" i="0" u="none" strike="noStrike" cap="none">
              <a:solidFill>
                <a:srgbClr val="262626"/>
              </a:solidFill>
              <a:latin typeface="Arial"/>
              <a:ea typeface="Arial"/>
              <a:cs typeface="Arial"/>
              <a:sym typeface="Arial"/>
            </a:endParaRPr>
          </a:p>
        </p:txBody>
      </p:sp>
      <p:grpSp>
        <p:nvGrpSpPr>
          <p:cNvPr id="695" name="Google Shape;695;p21"/>
          <p:cNvGrpSpPr/>
          <p:nvPr/>
        </p:nvGrpSpPr>
        <p:grpSpPr>
          <a:xfrm>
            <a:off x="646329" y="2348880"/>
            <a:ext cx="8864974" cy="3982126"/>
            <a:chOff x="646329" y="2396913"/>
            <a:chExt cx="8864974" cy="3982126"/>
          </a:xfrm>
        </p:grpSpPr>
        <p:grpSp>
          <p:nvGrpSpPr>
            <p:cNvPr id="696" name="Google Shape;696;p21"/>
            <p:cNvGrpSpPr/>
            <p:nvPr/>
          </p:nvGrpSpPr>
          <p:grpSpPr>
            <a:xfrm>
              <a:off x="3521142" y="2804906"/>
              <a:ext cx="2889046" cy="2881930"/>
              <a:chOff x="2997870" y="2276872"/>
              <a:chExt cx="3897486" cy="3887888"/>
            </a:xfrm>
          </p:grpSpPr>
          <p:sp>
            <p:nvSpPr>
              <p:cNvPr id="697" name="Google Shape;697;p21"/>
              <p:cNvSpPr/>
              <p:nvPr/>
            </p:nvSpPr>
            <p:spPr>
              <a:xfrm>
                <a:off x="2997870" y="2276872"/>
                <a:ext cx="3887886" cy="3887886"/>
              </a:xfrm>
              <a:prstGeom prst="pie">
                <a:avLst>
                  <a:gd name="adj1" fmla="val 0"/>
                  <a:gd name="adj2" fmla="val 5416695"/>
                </a:avLst>
              </a:prstGeom>
              <a:solidFill>
                <a:srgbClr val="FFCC99"/>
              </a:solidFill>
              <a:ln w="12700" cap="flat" cmpd="sng">
                <a:solidFill>
                  <a:srgbClr val="FF5B0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8" name="Google Shape;698;p21"/>
              <p:cNvSpPr/>
              <p:nvPr/>
            </p:nvSpPr>
            <p:spPr>
              <a:xfrm rot="10800000" flipH="1">
                <a:off x="3007470" y="2276874"/>
                <a:ext cx="3887886" cy="3887886"/>
              </a:xfrm>
              <a:prstGeom prst="pie">
                <a:avLst>
                  <a:gd name="adj1" fmla="val 10800000"/>
                  <a:gd name="adj2" fmla="val 16200000"/>
                </a:avLst>
              </a:prstGeom>
              <a:solidFill>
                <a:srgbClr val="CCCCFF"/>
              </a:solidFill>
              <a:ln w="12700" cap="flat" cmpd="sng">
                <a:solidFill>
                  <a:srgbClr val="9999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21"/>
              <p:cNvSpPr/>
              <p:nvPr/>
            </p:nvSpPr>
            <p:spPr>
              <a:xfrm flipH="1">
                <a:off x="2997870" y="2276872"/>
                <a:ext cx="3887886" cy="3887886"/>
              </a:xfrm>
              <a:prstGeom prst="pie">
                <a:avLst>
                  <a:gd name="adj1" fmla="val 10800000"/>
                  <a:gd name="adj2" fmla="val 16200000"/>
                </a:avLst>
              </a:prstGeom>
              <a:solidFill>
                <a:srgbClr val="D8E2F3"/>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0" name="Google Shape;700;p21"/>
              <p:cNvSpPr/>
              <p:nvPr/>
            </p:nvSpPr>
            <p:spPr>
              <a:xfrm>
                <a:off x="3007470" y="2276872"/>
                <a:ext cx="3887886" cy="3887888"/>
              </a:xfrm>
              <a:prstGeom prst="pie">
                <a:avLst>
                  <a:gd name="adj1" fmla="val 10800000"/>
                  <a:gd name="adj2" fmla="val 16200000"/>
                </a:avLst>
              </a:prstGeom>
              <a:solidFill>
                <a:srgbClr val="E1EFD8"/>
              </a:solidFill>
              <a:ln w="12700" cap="flat" cmpd="sng">
                <a:solidFill>
                  <a:srgbClr val="70AD4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701" name="Google Shape;701;p21"/>
            <p:cNvGrpSpPr/>
            <p:nvPr/>
          </p:nvGrpSpPr>
          <p:grpSpPr>
            <a:xfrm>
              <a:off x="3881672" y="3165477"/>
              <a:ext cx="2167986" cy="2160785"/>
              <a:chOff x="3501380" y="2780382"/>
              <a:chExt cx="2890466" cy="2880866"/>
            </a:xfrm>
          </p:grpSpPr>
          <p:sp>
            <p:nvSpPr>
              <p:cNvPr id="702" name="Google Shape;702;p21"/>
              <p:cNvSpPr/>
              <p:nvPr/>
            </p:nvSpPr>
            <p:spPr>
              <a:xfrm>
                <a:off x="3501380" y="2780382"/>
                <a:ext cx="2880866" cy="2880866"/>
              </a:xfrm>
              <a:prstGeom prst="ellipse">
                <a:avLst/>
              </a:prstGeom>
              <a:solidFill>
                <a:srgbClr val="BBD6EE"/>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21"/>
              <p:cNvSpPr/>
              <p:nvPr/>
            </p:nvSpPr>
            <p:spPr>
              <a:xfrm>
                <a:off x="3510980" y="2780382"/>
                <a:ext cx="2880866" cy="2880866"/>
              </a:xfrm>
              <a:prstGeom prst="chord">
                <a:avLst>
                  <a:gd name="adj1" fmla="val 5401479"/>
                  <a:gd name="adj2" fmla="val 16200000"/>
                </a:avLst>
              </a:prstGeom>
              <a:solidFill>
                <a:srgbClr val="FEE599"/>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4" name="Google Shape;704;p21"/>
            <p:cNvSpPr/>
            <p:nvPr/>
          </p:nvSpPr>
          <p:spPr>
            <a:xfrm>
              <a:off x="4308866" y="3656714"/>
              <a:ext cx="1290619" cy="1178310"/>
            </a:xfrm>
            <a:prstGeom prst="ellipse">
              <a:avLst/>
            </a:prstGeom>
            <a:solidFill>
              <a:schemeClr val="lt1"/>
            </a:solidFill>
            <a:ln w="12700" cap="flat" cmpd="sng">
              <a:solidFill>
                <a:srgbClr val="42719B"/>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262626"/>
                  </a:solidFill>
                  <a:latin typeface="Arial"/>
                  <a:ea typeface="Arial"/>
                  <a:cs typeface="Arial"/>
                  <a:sym typeface="Arial"/>
                </a:rPr>
                <a:t>Các vấn đề trong khai phá dữ liệu</a:t>
              </a:r>
              <a:endParaRPr sz="1400" b="1" i="0" u="none" strike="noStrike" cap="none">
                <a:solidFill>
                  <a:srgbClr val="262626"/>
                </a:solidFill>
                <a:latin typeface="Arial"/>
                <a:ea typeface="Arial"/>
                <a:cs typeface="Arial"/>
                <a:sym typeface="Arial"/>
              </a:endParaRPr>
            </a:p>
          </p:txBody>
        </p:sp>
        <p:sp>
          <p:nvSpPr>
            <p:cNvPr id="705" name="Google Shape;705;p21"/>
            <p:cNvSpPr/>
            <p:nvPr/>
          </p:nvSpPr>
          <p:spPr>
            <a:xfrm rot="5400000">
              <a:off x="4916849" y="4105972"/>
              <a:ext cx="1309236" cy="279797"/>
            </a:xfrm>
            <a:prstGeom prst="rect">
              <a:avLst/>
            </a:prstGeom>
          </p:spPr>
          <p:txBody>
            <a:bodyPr>
              <a:prstTxWarp prst="textPlain">
                <a:avLst/>
              </a:prstTxWarp>
            </a:bodyPr>
            <a:lstStyle/>
            <a:p>
              <a:pPr lvl="0" algn="ctr"/>
              <a:r>
                <a:rPr b="1" i="0">
                  <a:ln>
                    <a:noFill/>
                  </a:ln>
                  <a:solidFill>
                    <a:srgbClr val="262626"/>
                  </a:solidFill>
                  <a:latin typeface="Arial"/>
                </a:rPr>
                <a:t>Không giám sát</a:t>
              </a:r>
            </a:p>
          </p:txBody>
        </p:sp>
        <p:sp>
          <p:nvSpPr>
            <p:cNvPr id="706" name="Google Shape;706;p21"/>
            <p:cNvSpPr/>
            <p:nvPr/>
          </p:nvSpPr>
          <p:spPr>
            <a:xfrm rot="5400000">
              <a:off x="3601169" y="4105974"/>
              <a:ext cx="1309236" cy="279797"/>
            </a:xfrm>
            <a:prstGeom prst="rect">
              <a:avLst/>
            </a:prstGeom>
          </p:spPr>
          <p:txBody>
            <a:bodyPr>
              <a:prstTxWarp prst="textPlain">
                <a:avLst/>
              </a:prstTxWarp>
            </a:bodyPr>
            <a:lstStyle/>
            <a:p>
              <a:pPr lvl="0" algn="ctr"/>
              <a:r>
                <a:rPr b="1" i="0">
                  <a:ln>
                    <a:noFill/>
                  </a:ln>
                  <a:solidFill>
                    <a:srgbClr val="262626"/>
                  </a:solidFill>
                  <a:latin typeface="Arial"/>
                </a:rPr>
                <a:t>Có giám sát</a:t>
              </a:r>
            </a:p>
          </p:txBody>
        </p:sp>
        <p:cxnSp>
          <p:nvCxnSpPr>
            <p:cNvPr id="707" name="Google Shape;707;p21"/>
            <p:cNvCxnSpPr/>
            <p:nvPr/>
          </p:nvCxnSpPr>
          <p:spPr>
            <a:xfrm rot="10800000" flipH="1">
              <a:off x="5160117" y="2544111"/>
              <a:ext cx="1119146" cy="260794"/>
            </a:xfrm>
            <a:prstGeom prst="bentConnector3">
              <a:avLst>
                <a:gd name="adj1" fmla="val 482"/>
              </a:avLst>
            </a:prstGeom>
            <a:noFill/>
            <a:ln w="22225" cap="flat" cmpd="sng">
              <a:solidFill>
                <a:schemeClr val="dk1"/>
              </a:solidFill>
              <a:prstDash val="solid"/>
              <a:miter lim="800000"/>
              <a:headEnd type="none" w="sm" len="sm"/>
              <a:tailEnd type="oval" w="med" len="med"/>
            </a:ln>
          </p:spPr>
        </p:cxnSp>
        <p:sp>
          <p:nvSpPr>
            <p:cNvPr id="708" name="Google Shape;708;p21"/>
            <p:cNvSpPr/>
            <p:nvPr/>
          </p:nvSpPr>
          <p:spPr>
            <a:xfrm>
              <a:off x="6410188" y="2396913"/>
              <a:ext cx="2683125" cy="98357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Phân cụm</a:t>
              </a:r>
              <a:endParaRPr sz="1400" b="1" i="0" u="none" strike="noStrike" cap="none">
                <a:solidFill>
                  <a:srgbClr val="1429A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So sánh các thuộc tính của dữ liệu và hình thành các cụm dựa trên các đặc điểm tương tự</a:t>
              </a:r>
              <a:endParaRPr sz="1300" b="1" i="0" u="none" strike="noStrike" cap="none">
                <a:solidFill>
                  <a:srgbClr val="262626"/>
                </a:solidFill>
                <a:latin typeface="Arial"/>
                <a:ea typeface="Arial"/>
                <a:cs typeface="Arial"/>
                <a:sym typeface="Arial"/>
              </a:endParaRPr>
            </a:p>
          </p:txBody>
        </p:sp>
        <p:grpSp>
          <p:nvGrpSpPr>
            <p:cNvPr id="709" name="Google Shape;709;p21"/>
            <p:cNvGrpSpPr/>
            <p:nvPr/>
          </p:nvGrpSpPr>
          <p:grpSpPr>
            <a:xfrm>
              <a:off x="6533995" y="3340210"/>
              <a:ext cx="2559317" cy="692496"/>
              <a:chOff x="7327676" y="3892964"/>
              <a:chExt cx="2815248" cy="761746"/>
            </a:xfrm>
          </p:grpSpPr>
          <p:sp>
            <p:nvSpPr>
              <p:cNvPr id="710" name="Google Shape;710;p21"/>
              <p:cNvSpPr/>
              <p:nvPr/>
            </p:nvSpPr>
            <p:spPr>
              <a:xfrm>
                <a:off x="7327676" y="3937275"/>
                <a:ext cx="248933" cy="212364"/>
              </a:xfrm>
              <a:prstGeom prst="roundRect">
                <a:avLst>
                  <a:gd name="adj" fmla="val 16667"/>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Ex</a:t>
                </a:r>
                <a:endParaRPr sz="1400" b="0" i="0" u="none" strike="noStrike" cap="none">
                  <a:solidFill>
                    <a:srgbClr val="000000"/>
                  </a:solidFill>
                  <a:latin typeface="Arial"/>
                  <a:ea typeface="Arial"/>
                  <a:cs typeface="Arial"/>
                  <a:sym typeface="Arial"/>
                </a:endParaRPr>
              </a:p>
            </p:txBody>
          </p:sp>
          <p:sp>
            <p:nvSpPr>
              <p:cNvPr id="711" name="Google Shape;711;p21"/>
              <p:cNvSpPr/>
              <p:nvPr/>
            </p:nvSpPr>
            <p:spPr>
              <a:xfrm>
                <a:off x="7517097" y="3892964"/>
                <a:ext cx="2625827" cy="7617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Phân cụm các quy trình có đặc điểm tương tự ra khỏi các quy trình khác nhau.</a:t>
                </a:r>
                <a:endParaRPr sz="1300" b="0" i="0" u="none" strike="noStrike" cap="none">
                  <a:solidFill>
                    <a:srgbClr val="262626"/>
                  </a:solidFill>
                  <a:latin typeface="Arial"/>
                  <a:ea typeface="Arial"/>
                  <a:cs typeface="Arial"/>
                  <a:sym typeface="Arial"/>
                </a:endParaRPr>
              </a:p>
            </p:txBody>
          </p:sp>
        </p:grpSp>
        <p:cxnSp>
          <p:nvCxnSpPr>
            <p:cNvPr id="712" name="Google Shape;712;p21"/>
            <p:cNvCxnSpPr/>
            <p:nvPr/>
          </p:nvCxnSpPr>
          <p:spPr>
            <a:xfrm>
              <a:off x="5160117" y="5686835"/>
              <a:ext cx="1119146" cy="260794"/>
            </a:xfrm>
            <a:prstGeom prst="bentConnector3">
              <a:avLst>
                <a:gd name="adj1" fmla="val 482"/>
              </a:avLst>
            </a:prstGeom>
            <a:noFill/>
            <a:ln w="22225" cap="flat" cmpd="sng">
              <a:solidFill>
                <a:schemeClr val="dk1"/>
              </a:solidFill>
              <a:prstDash val="solid"/>
              <a:miter lim="800000"/>
              <a:headEnd type="none" w="sm" len="sm"/>
              <a:tailEnd type="oval" w="med" len="med"/>
            </a:ln>
          </p:spPr>
        </p:cxnSp>
        <p:sp>
          <p:nvSpPr>
            <p:cNvPr id="713" name="Google Shape;713;p21"/>
            <p:cNvSpPr/>
            <p:nvPr/>
          </p:nvSpPr>
          <p:spPr>
            <a:xfrm>
              <a:off x="6410189" y="4323789"/>
              <a:ext cx="3005719" cy="12234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Luật kết hợp</a:t>
              </a:r>
              <a:endParaRPr sz="1400" b="1" i="0" u="none" strike="noStrike" cap="none">
                <a:solidFill>
                  <a:srgbClr val="1429A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Xác định các thuộc tính hoặc mối quan hệ giữa các mục, trong đó sự xuất hiện của một mẫu hàm ý sự xuất hiện của một mẫu khác</a:t>
              </a:r>
              <a:endParaRPr sz="1300" b="1" i="0" u="none" strike="noStrike" cap="none">
                <a:solidFill>
                  <a:srgbClr val="262626"/>
                </a:solidFill>
                <a:latin typeface="Arial"/>
                <a:ea typeface="Arial"/>
                <a:cs typeface="Arial"/>
                <a:sym typeface="Arial"/>
              </a:endParaRPr>
            </a:p>
          </p:txBody>
        </p:sp>
        <p:grpSp>
          <p:nvGrpSpPr>
            <p:cNvPr id="714" name="Google Shape;714;p21"/>
            <p:cNvGrpSpPr/>
            <p:nvPr/>
          </p:nvGrpSpPr>
          <p:grpSpPr>
            <a:xfrm>
              <a:off x="6533995" y="5564775"/>
              <a:ext cx="2977308" cy="692495"/>
              <a:chOff x="7327676" y="3821257"/>
              <a:chExt cx="3275039" cy="761745"/>
            </a:xfrm>
          </p:grpSpPr>
          <p:sp>
            <p:nvSpPr>
              <p:cNvPr id="715" name="Google Shape;715;p21"/>
              <p:cNvSpPr/>
              <p:nvPr/>
            </p:nvSpPr>
            <p:spPr>
              <a:xfrm>
                <a:off x="7327676" y="3883646"/>
                <a:ext cx="248933" cy="212364"/>
              </a:xfrm>
              <a:prstGeom prst="roundRect">
                <a:avLst>
                  <a:gd name="adj" fmla="val 16667"/>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Ex</a:t>
                </a:r>
                <a:endParaRPr sz="1400" b="0" i="0" u="none" strike="noStrike" cap="none">
                  <a:solidFill>
                    <a:srgbClr val="000000"/>
                  </a:solidFill>
                  <a:latin typeface="Arial"/>
                  <a:ea typeface="Arial"/>
                  <a:cs typeface="Arial"/>
                  <a:sym typeface="Arial"/>
                </a:endParaRPr>
              </a:p>
            </p:txBody>
          </p:sp>
          <p:sp>
            <p:nvSpPr>
              <p:cNvPr id="716" name="Google Shape;716;p21"/>
              <p:cNvSpPr/>
              <p:nvPr/>
            </p:nvSpPr>
            <p:spPr>
              <a:xfrm>
                <a:off x="7517097" y="3821257"/>
                <a:ext cx="3085618" cy="7617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Dự đoán điều gì sẽ xảy ra với toàn bộ quy trình khi có một mẫu bất thường trong một quy trình.</a:t>
                </a:r>
                <a:endParaRPr sz="1300" b="0" i="0" u="none" strike="noStrike" cap="none">
                  <a:solidFill>
                    <a:srgbClr val="262626"/>
                  </a:solidFill>
                  <a:latin typeface="Arial"/>
                  <a:ea typeface="Arial"/>
                  <a:cs typeface="Arial"/>
                  <a:sym typeface="Arial"/>
                </a:endParaRPr>
              </a:p>
            </p:txBody>
          </p:sp>
        </p:grpSp>
        <p:cxnSp>
          <p:nvCxnSpPr>
            <p:cNvPr id="717" name="Google Shape;717;p21"/>
            <p:cNvCxnSpPr/>
            <p:nvPr/>
          </p:nvCxnSpPr>
          <p:spPr>
            <a:xfrm rot="10800000">
              <a:off x="3627227" y="2544111"/>
              <a:ext cx="1119146" cy="260794"/>
            </a:xfrm>
            <a:prstGeom prst="bentConnector3">
              <a:avLst>
                <a:gd name="adj1" fmla="val 482"/>
              </a:avLst>
            </a:prstGeom>
            <a:noFill/>
            <a:ln w="22225" cap="flat" cmpd="sng">
              <a:solidFill>
                <a:schemeClr val="dk1"/>
              </a:solidFill>
              <a:prstDash val="solid"/>
              <a:miter lim="800000"/>
              <a:headEnd type="none" w="sm" len="sm"/>
              <a:tailEnd type="oval" w="med" len="med"/>
            </a:ln>
          </p:spPr>
        </p:cxnSp>
        <p:cxnSp>
          <p:nvCxnSpPr>
            <p:cNvPr id="718" name="Google Shape;718;p21"/>
            <p:cNvCxnSpPr/>
            <p:nvPr/>
          </p:nvCxnSpPr>
          <p:spPr>
            <a:xfrm flipH="1">
              <a:off x="3627227" y="5686835"/>
              <a:ext cx="1119146" cy="260794"/>
            </a:xfrm>
            <a:prstGeom prst="bentConnector3">
              <a:avLst>
                <a:gd name="adj1" fmla="val 482"/>
              </a:avLst>
            </a:prstGeom>
            <a:noFill/>
            <a:ln w="22225" cap="flat" cmpd="sng">
              <a:solidFill>
                <a:schemeClr val="dk1"/>
              </a:solidFill>
              <a:prstDash val="solid"/>
              <a:miter lim="800000"/>
              <a:headEnd type="none" w="sm" len="sm"/>
              <a:tailEnd type="oval" w="med" len="med"/>
            </a:ln>
          </p:spPr>
        </p:cxnSp>
        <p:sp>
          <p:nvSpPr>
            <p:cNvPr id="719" name="Google Shape;719;p21"/>
            <p:cNvSpPr/>
            <p:nvPr/>
          </p:nvSpPr>
          <p:spPr>
            <a:xfrm>
              <a:off x="646329" y="2396913"/>
              <a:ext cx="2881930" cy="102335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Dự đoán</a:t>
              </a:r>
              <a:endParaRPr sz="1400" b="1" i="0" u="none" strike="noStrike" cap="none">
                <a:solidFill>
                  <a:srgbClr val="1429A0"/>
                </a:solidFill>
                <a:latin typeface="Arial"/>
                <a:ea typeface="Arial"/>
                <a:cs typeface="Arial"/>
                <a:sym typeface="Arial"/>
              </a:endParaRPr>
            </a:p>
            <a:p>
              <a:pPr marL="0" marR="0" lvl="0" indent="0" algn="r" rtl="0">
                <a:lnSpc>
                  <a:spcPct val="100000"/>
                </a:lnSpc>
                <a:spcBef>
                  <a:spcPts val="90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Tạo mô hình dựa trên dữ liệu đã cho, sau đó sử dụng mô hình cho các trường hợp mới để đưa ra dự đoán</a:t>
              </a:r>
              <a:endParaRPr sz="1300" b="1" i="0" u="none" strike="noStrike" cap="none">
                <a:solidFill>
                  <a:srgbClr val="262626"/>
                </a:solidFill>
                <a:latin typeface="Arial"/>
                <a:ea typeface="Arial"/>
                <a:cs typeface="Arial"/>
                <a:sym typeface="Arial"/>
              </a:endParaRPr>
            </a:p>
          </p:txBody>
        </p:sp>
        <p:grpSp>
          <p:nvGrpSpPr>
            <p:cNvPr id="720" name="Google Shape;720;p21"/>
            <p:cNvGrpSpPr/>
            <p:nvPr/>
          </p:nvGrpSpPr>
          <p:grpSpPr>
            <a:xfrm>
              <a:off x="829477" y="3398520"/>
              <a:ext cx="2756187" cy="892552"/>
              <a:chOff x="829477" y="3486367"/>
              <a:chExt cx="2756187" cy="892552"/>
            </a:xfrm>
          </p:grpSpPr>
          <p:sp>
            <p:nvSpPr>
              <p:cNvPr id="721" name="Google Shape;721;p21"/>
              <p:cNvSpPr/>
              <p:nvPr/>
            </p:nvSpPr>
            <p:spPr>
              <a:xfrm>
                <a:off x="829477" y="3540168"/>
                <a:ext cx="226303" cy="193058"/>
              </a:xfrm>
              <a:prstGeom prst="roundRect">
                <a:avLst>
                  <a:gd name="adj" fmla="val 16667"/>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Ex</a:t>
                </a:r>
                <a:endParaRPr sz="1400" b="0" i="0" u="none" strike="noStrike" cap="none">
                  <a:solidFill>
                    <a:srgbClr val="000000"/>
                  </a:solidFill>
                  <a:latin typeface="Arial"/>
                  <a:ea typeface="Arial"/>
                  <a:cs typeface="Arial"/>
                  <a:sym typeface="Arial"/>
                </a:endParaRPr>
              </a:p>
            </p:txBody>
          </p:sp>
          <p:sp>
            <p:nvSpPr>
              <p:cNvPr id="722" name="Google Shape;722;p21"/>
              <p:cNvSpPr/>
              <p:nvPr/>
            </p:nvSpPr>
            <p:spPr>
              <a:xfrm>
                <a:off x="1062980" y="3486367"/>
                <a:ext cx="2522684" cy="8925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Dự đoán các thông số chất lượng từ nguyên liệu và môi trường (áp suất, nhiệt độ, độ ẩm, v.v.) trong ngành đánh bắt cá.</a:t>
                </a:r>
                <a:endParaRPr sz="1300" b="0" i="0" u="none" strike="noStrike" cap="none">
                  <a:solidFill>
                    <a:srgbClr val="262626"/>
                  </a:solidFill>
                  <a:latin typeface="Arial"/>
                  <a:ea typeface="Arial"/>
                  <a:cs typeface="Arial"/>
                  <a:sym typeface="Arial"/>
                </a:endParaRPr>
              </a:p>
            </p:txBody>
          </p:sp>
        </p:grpSp>
        <p:sp>
          <p:nvSpPr>
            <p:cNvPr id="723" name="Google Shape;723;p21"/>
            <p:cNvSpPr/>
            <p:nvPr/>
          </p:nvSpPr>
          <p:spPr>
            <a:xfrm>
              <a:off x="702939" y="4694664"/>
              <a:ext cx="2818202" cy="102335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Phân loại</a:t>
              </a:r>
              <a:endParaRPr sz="1400" b="1" i="0" u="none" strike="noStrike" cap="none">
                <a:solidFill>
                  <a:srgbClr val="1429A0"/>
                </a:solidFill>
                <a:latin typeface="Arial"/>
                <a:ea typeface="Arial"/>
                <a:cs typeface="Arial"/>
                <a:sym typeface="Arial"/>
              </a:endParaRPr>
            </a:p>
            <a:p>
              <a:pPr marL="0" marR="0" lvl="0" indent="0" algn="r" rtl="0">
                <a:lnSpc>
                  <a:spcPct val="100000"/>
                </a:lnSpc>
                <a:spcBef>
                  <a:spcPts val="90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Xác định một trường hợp cụ thể thuộc về loại này trong một loạt các danh mục đã phân loại</a:t>
              </a:r>
              <a:endParaRPr sz="1300" b="1" i="0" u="none" strike="noStrike" cap="none">
                <a:solidFill>
                  <a:srgbClr val="262626"/>
                </a:solidFill>
                <a:latin typeface="Arial"/>
                <a:ea typeface="Arial"/>
                <a:cs typeface="Arial"/>
                <a:sym typeface="Arial"/>
              </a:endParaRPr>
            </a:p>
          </p:txBody>
        </p:sp>
        <p:grpSp>
          <p:nvGrpSpPr>
            <p:cNvPr id="724" name="Google Shape;724;p21"/>
            <p:cNvGrpSpPr/>
            <p:nvPr/>
          </p:nvGrpSpPr>
          <p:grpSpPr>
            <a:xfrm>
              <a:off x="829477" y="5686543"/>
              <a:ext cx="2691664" cy="692496"/>
              <a:chOff x="829477" y="5593202"/>
              <a:chExt cx="2691664" cy="692496"/>
            </a:xfrm>
          </p:grpSpPr>
          <p:sp>
            <p:nvSpPr>
              <p:cNvPr id="725" name="Google Shape;725;p21"/>
              <p:cNvSpPr/>
              <p:nvPr/>
            </p:nvSpPr>
            <p:spPr>
              <a:xfrm>
                <a:off x="829477" y="5635159"/>
                <a:ext cx="226303" cy="193058"/>
              </a:xfrm>
              <a:prstGeom prst="roundRect">
                <a:avLst>
                  <a:gd name="adj" fmla="val 16667"/>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Ex</a:t>
                </a:r>
                <a:endParaRPr sz="1400" b="0" i="0" u="none" strike="noStrike" cap="none">
                  <a:solidFill>
                    <a:srgbClr val="000000"/>
                  </a:solidFill>
                  <a:latin typeface="Arial"/>
                  <a:ea typeface="Arial"/>
                  <a:cs typeface="Arial"/>
                  <a:sym typeface="Arial"/>
                </a:endParaRPr>
              </a:p>
            </p:txBody>
          </p:sp>
          <p:sp>
            <p:nvSpPr>
              <p:cNvPr id="726" name="Google Shape;726;p21"/>
              <p:cNvSpPr/>
              <p:nvPr/>
            </p:nvSpPr>
            <p:spPr>
              <a:xfrm>
                <a:off x="1062895" y="5593202"/>
                <a:ext cx="2458246" cy="6924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Xếp hạng chất lượng tốt/bình thường/xấu. Xác định chất lượng sản phẩm mới.</a:t>
                </a:r>
                <a:endParaRPr sz="1300" b="0" i="0" u="none" strike="noStrike" cap="none">
                  <a:solidFill>
                    <a:srgbClr val="262626"/>
                  </a:solidFill>
                  <a:latin typeface="Arial"/>
                  <a:ea typeface="Arial"/>
                  <a:cs typeface="Arial"/>
                  <a:sym typeface="Arial"/>
                </a:endParaRPr>
              </a:p>
            </p:txBody>
          </p:sp>
        </p:grpSp>
      </p:grpSp>
      <p:sp>
        <p:nvSpPr>
          <p:cNvPr id="727" name="Google Shape;727;p21"/>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Các loại phân tích dữ liệu dựa trên học máy</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22"/>
          <p:cNvSpPr/>
          <p:nvPr/>
        </p:nvSpPr>
        <p:spPr>
          <a:xfrm>
            <a:off x="702940" y="1700808"/>
            <a:ext cx="8632825" cy="945625"/>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nhiều tiêu chí và góc nhìn khác nhau để phân loại các kỹ thuật phân tích dữ liệu dựa trên máy học, nhưng nhìn chung, chúng được phân loại thành học có giám sát và tự học (hoặc học không giám sát), tùy thuộc vào sự tồn tại của các biến mục tiêu (hoặc biến phản hồi, giá trị mục tiêu đầu ra, v.v.). Chúng cũng có thể được phân loại thành học tăng cường và học bán giám sát.</a:t>
            </a:r>
            <a:endParaRPr sz="1300" b="0" i="0" u="none" strike="noStrike" cap="none">
              <a:solidFill>
                <a:srgbClr val="262626"/>
              </a:solidFill>
              <a:latin typeface="Arial"/>
              <a:ea typeface="Arial"/>
              <a:cs typeface="Arial"/>
              <a:sym typeface="Arial"/>
            </a:endParaRPr>
          </a:p>
        </p:txBody>
      </p:sp>
      <p:sp>
        <p:nvSpPr>
          <p:cNvPr id="737" name="Google Shape;737;p22"/>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Các loại phân tích dữ liệu dựa trên học máy</a:t>
            </a:r>
            <a:endParaRPr sz="1400" b="0" i="0" u="none" strike="noStrike" cap="none">
              <a:solidFill>
                <a:schemeClr val="dk1"/>
              </a:solidFill>
              <a:latin typeface="Arial"/>
              <a:ea typeface="Arial"/>
              <a:cs typeface="Arial"/>
              <a:sym typeface="Arial"/>
            </a:endParaRPr>
          </a:p>
        </p:txBody>
      </p:sp>
      <p:grpSp>
        <p:nvGrpSpPr>
          <p:cNvPr id="738" name="Google Shape;738;p22"/>
          <p:cNvGrpSpPr/>
          <p:nvPr/>
        </p:nvGrpSpPr>
        <p:grpSpPr>
          <a:xfrm>
            <a:off x="2723356" y="2597841"/>
            <a:ext cx="4351354" cy="3627561"/>
            <a:chOff x="2723356" y="2597841"/>
            <a:chExt cx="4351354" cy="3627561"/>
          </a:xfrm>
        </p:grpSpPr>
        <p:pic>
          <p:nvPicPr>
            <p:cNvPr id="739" name="Google Shape;739;p22"/>
            <p:cNvPicPr preferRelativeResize="0"/>
            <p:nvPr/>
          </p:nvPicPr>
          <p:blipFill rotWithShape="1">
            <a:blip r:embed="rId3">
              <a:alphaModFix/>
            </a:blip>
            <a:srcRect/>
            <a:stretch/>
          </p:blipFill>
          <p:spPr>
            <a:xfrm>
              <a:off x="2963994" y="2597841"/>
              <a:ext cx="4110716" cy="3627561"/>
            </a:xfrm>
            <a:prstGeom prst="rect">
              <a:avLst/>
            </a:prstGeom>
            <a:noFill/>
            <a:ln>
              <a:noFill/>
            </a:ln>
          </p:spPr>
        </p:pic>
        <p:sp>
          <p:nvSpPr>
            <p:cNvPr id="740" name="Google Shape;740;p22"/>
            <p:cNvSpPr/>
            <p:nvPr/>
          </p:nvSpPr>
          <p:spPr>
            <a:xfrm>
              <a:off x="6416446" y="4058218"/>
              <a:ext cx="432048" cy="288032"/>
            </a:xfrm>
            <a:prstGeom prst="ellipse">
              <a:avLst/>
            </a:prstGeom>
            <a:solidFill>
              <a:srgbClr val="EF64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1" name="Google Shape;741;p22"/>
            <p:cNvSpPr txBox="1"/>
            <p:nvPr/>
          </p:nvSpPr>
          <p:spPr>
            <a:xfrm>
              <a:off x="6295862" y="4095696"/>
              <a:ext cx="699882" cy="2265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Regression</a:t>
              </a:r>
              <a:endParaRPr sz="900" b="1" i="0" u="none" strike="noStrike" cap="none">
                <a:solidFill>
                  <a:schemeClr val="lt1"/>
                </a:solidFill>
                <a:latin typeface="Arial"/>
                <a:ea typeface="Arial"/>
                <a:cs typeface="Arial"/>
                <a:sym typeface="Arial"/>
              </a:endParaRPr>
            </a:p>
          </p:txBody>
        </p:sp>
        <p:sp>
          <p:nvSpPr>
            <p:cNvPr id="742" name="Google Shape;742;p22"/>
            <p:cNvSpPr/>
            <p:nvPr/>
          </p:nvSpPr>
          <p:spPr>
            <a:xfrm>
              <a:off x="5715035" y="3484524"/>
              <a:ext cx="622445" cy="717710"/>
            </a:xfrm>
            <a:prstGeom prst="ellipse">
              <a:avLst/>
            </a:prstGeom>
            <a:solidFill>
              <a:srgbClr val="D6485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3" name="Google Shape;743;p22"/>
            <p:cNvSpPr txBox="1"/>
            <p:nvPr/>
          </p:nvSpPr>
          <p:spPr>
            <a:xfrm>
              <a:off x="5676316" y="3745611"/>
              <a:ext cx="699882" cy="2265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chemeClr val="lt1"/>
                  </a:solidFill>
                  <a:latin typeface="Arial"/>
                  <a:ea typeface="Arial"/>
                  <a:cs typeface="Arial"/>
                  <a:sym typeface="Arial"/>
                </a:rPr>
                <a:t>Supervised</a:t>
              </a:r>
              <a:br>
                <a:rPr lang="en-US" sz="1050" b="1" i="0" u="none" strike="noStrike" cap="none">
                  <a:solidFill>
                    <a:schemeClr val="lt1"/>
                  </a:solidFill>
                  <a:latin typeface="Arial"/>
                  <a:ea typeface="Arial"/>
                  <a:cs typeface="Arial"/>
                  <a:sym typeface="Arial"/>
                </a:rPr>
              </a:br>
              <a:r>
                <a:rPr lang="en-US" sz="1050" b="1" i="0" u="none" strike="noStrike" cap="none">
                  <a:solidFill>
                    <a:schemeClr val="lt1"/>
                  </a:solidFill>
                  <a:latin typeface="Arial"/>
                  <a:ea typeface="Arial"/>
                  <a:cs typeface="Arial"/>
                  <a:sym typeface="Arial"/>
                </a:rPr>
                <a:t>Learning</a:t>
              </a:r>
              <a:endParaRPr sz="1050" b="1" i="0" u="none" strike="noStrike" cap="none">
                <a:solidFill>
                  <a:schemeClr val="lt1"/>
                </a:solidFill>
                <a:latin typeface="Arial"/>
                <a:ea typeface="Arial"/>
                <a:cs typeface="Arial"/>
                <a:sym typeface="Arial"/>
              </a:endParaRPr>
            </a:p>
          </p:txBody>
        </p:sp>
        <p:sp>
          <p:nvSpPr>
            <p:cNvPr id="744" name="Google Shape;744;p22"/>
            <p:cNvSpPr txBox="1"/>
            <p:nvPr/>
          </p:nvSpPr>
          <p:spPr>
            <a:xfrm>
              <a:off x="3722712" y="4639173"/>
              <a:ext cx="936104" cy="3035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rgbClr val="2AA6DC"/>
                  </a:solidFill>
                  <a:latin typeface="Arial"/>
                  <a:ea typeface="Arial"/>
                  <a:cs typeface="Arial"/>
                  <a:sym typeface="Arial"/>
                </a:rPr>
                <a:t>Customer</a:t>
              </a:r>
              <a:br>
                <a:rPr lang="en-US" sz="900" b="1" i="0" u="none" strike="noStrike" cap="none">
                  <a:solidFill>
                    <a:srgbClr val="2AA6DC"/>
                  </a:solidFill>
                  <a:latin typeface="Arial"/>
                  <a:ea typeface="Arial"/>
                  <a:cs typeface="Arial"/>
                  <a:sym typeface="Arial"/>
                </a:rPr>
              </a:br>
              <a:r>
                <a:rPr lang="en-US" sz="900" b="1" i="0" u="none" strike="noStrike" cap="none">
                  <a:solidFill>
                    <a:srgbClr val="2AA6DC"/>
                  </a:solidFill>
                  <a:latin typeface="Arial"/>
                  <a:ea typeface="Arial"/>
                  <a:cs typeface="Arial"/>
                  <a:sym typeface="Arial"/>
                </a:rPr>
                <a:t>Segmentation</a:t>
              </a:r>
              <a:endParaRPr sz="900" b="1" i="0" u="none" strike="noStrike" cap="none">
                <a:solidFill>
                  <a:srgbClr val="2AA6DC"/>
                </a:solidFill>
                <a:latin typeface="Arial"/>
                <a:ea typeface="Arial"/>
                <a:cs typeface="Arial"/>
                <a:sym typeface="Arial"/>
              </a:endParaRPr>
            </a:p>
          </p:txBody>
        </p:sp>
        <p:sp>
          <p:nvSpPr>
            <p:cNvPr id="745" name="Google Shape;745;p22"/>
            <p:cNvSpPr txBox="1"/>
            <p:nvPr/>
          </p:nvSpPr>
          <p:spPr>
            <a:xfrm>
              <a:off x="2723356" y="2987134"/>
              <a:ext cx="758718" cy="171599"/>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r>
                <a:rPr lang="en-US" sz="900" b="1" i="0" u="none" strike="noStrike" cap="none">
                  <a:solidFill>
                    <a:srgbClr val="2AA6DC"/>
                  </a:solidFill>
                  <a:latin typeface="Arial"/>
                  <a:ea typeface="Arial"/>
                  <a:cs typeface="Arial"/>
                  <a:sym typeface="Arial"/>
                </a:rPr>
                <a:t>Big data</a:t>
              </a:r>
              <a:endParaRPr sz="900" b="1" i="0" u="none" strike="noStrike" cap="none">
                <a:solidFill>
                  <a:srgbClr val="2AA6DC"/>
                </a:solidFill>
                <a:latin typeface="Arial"/>
                <a:ea typeface="Arial"/>
                <a:cs typeface="Arial"/>
                <a:sym typeface="Arial"/>
              </a:endParaRPr>
            </a:p>
          </p:txBody>
        </p:sp>
        <p:grpSp>
          <p:nvGrpSpPr>
            <p:cNvPr id="746" name="Google Shape;746;p22"/>
            <p:cNvGrpSpPr/>
            <p:nvPr/>
          </p:nvGrpSpPr>
          <p:grpSpPr>
            <a:xfrm>
              <a:off x="4444624" y="4162925"/>
              <a:ext cx="1194434" cy="338554"/>
              <a:chOff x="4977739" y="4216837"/>
              <a:chExt cx="1095750" cy="338554"/>
            </a:xfrm>
          </p:grpSpPr>
          <p:sp>
            <p:nvSpPr>
              <p:cNvPr id="747" name="Google Shape;747;p22"/>
              <p:cNvSpPr/>
              <p:nvPr/>
            </p:nvSpPr>
            <p:spPr>
              <a:xfrm>
                <a:off x="5157507" y="4260320"/>
                <a:ext cx="736214" cy="220812"/>
              </a:xfrm>
              <a:prstGeom prst="rect">
                <a:avLst/>
              </a:prstGeom>
              <a:solidFill>
                <a:srgbClr val="6C5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8" name="Google Shape;748;p22"/>
              <p:cNvSpPr txBox="1"/>
              <p:nvPr/>
            </p:nvSpPr>
            <p:spPr>
              <a:xfrm>
                <a:off x="4977739" y="4216837"/>
                <a:ext cx="1095750"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lt1"/>
                    </a:solidFill>
                    <a:latin typeface="Arial"/>
                    <a:ea typeface="Arial"/>
                    <a:cs typeface="Arial"/>
                    <a:sym typeface="Arial"/>
                  </a:rPr>
                  <a:t>Machine</a:t>
                </a:r>
                <a:endParaRPr sz="1600" b="0" i="0" u="none" strike="noStrike" cap="none">
                  <a:solidFill>
                    <a:schemeClr val="lt1"/>
                  </a:solidFill>
                  <a:latin typeface="Arial"/>
                  <a:ea typeface="Arial"/>
                  <a:cs typeface="Arial"/>
                  <a:sym typeface="Arial"/>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3"/>
          <p:cNvSpPr/>
          <p:nvPr/>
        </p:nvSpPr>
        <p:spPr>
          <a:xfrm>
            <a:off x="702940" y="1700808"/>
            <a:ext cx="8632825" cy="1648382"/>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có giám sát tập trung vào việc thể hiện mối quan hệ giữa các biến giải thích (còn được gọi là các biến độc lập, đặc trưng, v.v.) và biến mục tiêu (còn được gọi là biến phản hồi, biến phụ thuộc, biến mục tiêu, giá trị đầu ra) cũng như dự đoán các quan sát trong tương lai. Nó chủ yếu phù hợp để giải quyết các vấn đề như nhận dạng, phân loại, chẩn đoán và dự đoán.</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Các kỹ thuật chính trong học có giám sát có thể được phân loại lại thành các kỹ thuật phân loại và kỹ thuật dự đoán số. Điều này phụ thuộc vào dạng biến mục tiêu (hoặc biến phản hồi, biến phụ thuộc), liệu nó là biến số (biến định lượng) hay biến phân loại (biến định tính).</a:t>
            </a:r>
            <a:endParaRPr sz="1300" b="0" i="0" u="none" strike="noStrike" cap="none">
              <a:solidFill>
                <a:srgbClr val="262626"/>
              </a:solidFill>
              <a:latin typeface="Arial"/>
              <a:ea typeface="Arial"/>
              <a:cs typeface="Arial"/>
              <a:sym typeface="Arial"/>
            </a:endParaRPr>
          </a:p>
        </p:txBody>
      </p:sp>
      <p:sp>
        <p:nvSpPr>
          <p:cNvPr id="758" name="Google Shape;758;p23"/>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có giám sát</a:t>
            </a:r>
            <a:endParaRPr sz="1400" b="0" i="0" u="none" strike="noStrike" cap="none">
              <a:solidFill>
                <a:schemeClr val="dk1"/>
              </a:solidFill>
              <a:latin typeface="Arial"/>
              <a:ea typeface="Arial"/>
              <a:cs typeface="Arial"/>
              <a:sym typeface="Arial"/>
            </a:endParaRPr>
          </a:p>
        </p:txBody>
      </p:sp>
      <p:sp>
        <p:nvSpPr>
          <p:cNvPr id="759" name="Google Shape;759;p23"/>
          <p:cNvSpPr/>
          <p:nvPr/>
        </p:nvSpPr>
        <p:spPr>
          <a:xfrm>
            <a:off x="702940" y="5874654"/>
            <a:ext cx="8632825" cy="345461"/>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Dữ liệu huấn luyện được đưa vào thuật toán bao gồm một đáp án mong muốn gọi là nhãn.</a:t>
            </a:r>
            <a:endParaRPr sz="1300" b="0" i="0" u="none" strike="noStrike" cap="none">
              <a:solidFill>
                <a:srgbClr val="262626"/>
              </a:solidFill>
              <a:latin typeface="Arial"/>
              <a:ea typeface="Arial"/>
              <a:cs typeface="Arial"/>
              <a:sym typeface="Arial"/>
            </a:endParaRPr>
          </a:p>
        </p:txBody>
      </p:sp>
      <p:grpSp>
        <p:nvGrpSpPr>
          <p:cNvPr id="760" name="Google Shape;760;p23"/>
          <p:cNvGrpSpPr/>
          <p:nvPr/>
        </p:nvGrpSpPr>
        <p:grpSpPr>
          <a:xfrm>
            <a:off x="915309" y="3406653"/>
            <a:ext cx="7854609" cy="2381405"/>
            <a:chOff x="915309" y="3406653"/>
            <a:chExt cx="7854609" cy="2381405"/>
          </a:xfrm>
        </p:grpSpPr>
        <p:sp>
          <p:nvSpPr>
            <p:cNvPr id="761" name="Google Shape;761;p23"/>
            <p:cNvSpPr/>
            <p:nvPr/>
          </p:nvSpPr>
          <p:spPr>
            <a:xfrm>
              <a:off x="915309" y="3563332"/>
              <a:ext cx="7854609" cy="2224726"/>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2" name="Google Shape;762;p23"/>
            <p:cNvSpPr/>
            <p:nvPr/>
          </p:nvSpPr>
          <p:spPr>
            <a:xfrm>
              <a:off x="1226330" y="3406653"/>
              <a:ext cx="7137280" cy="323165"/>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1429A0"/>
                  </a:solidFill>
                  <a:latin typeface="Arial"/>
                  <a:ea typeface="Arial"/>
                  <a:cs typeface="Arial"/>
                  <a:sym typeface="Arial"/>
                </a:rPr>
                <a:t>Tập huấn luyện được gắn nhãn để phân loại thư rác (Ví dụ về học có giám sát)</a:t>
              </a:r>
              <a:endParaRPr sz="1500" b="1" i="0" u="none" strike="noStrike" cap="none">
                <a:solidFill>
                  <a:srgbClr val="1429A0"/>
                </a:solidFill>
                <a:latin typeface="Arial"/>
                <a:ea typeface="Arial"/>
                <a:cs typeface="Arial"/>
                <a:sym typeface="Arial"/>
              </a:endParaRPr>
            </a:p>
          </p:txBody>
        </p:sp>
        <p:sp>
          <p:nvSpPr>
            <p:cNvPr id="763" name="Google Shape;763;p23"/>
            <p:cNvSpPr/>
            <p:nvPr/>
          </p:nvSpPr>
          <p:spPr>
            <a:xfrm>
              <a:off x="5779210" y="4677979"/>
              <a:ext cx="461334" cy="374787"/>
            </a:xfrm>
            <a:prstGeom prst="rightArrow">
              <a:avLst>
                <a:gd name="adj1" fmla="val 50000"/>
                <a:gd name="adj2" fmla="val 50000"/>
              </a:avLst>
            </a:prstGeom>
            <a:solidFill>
              <a:srgbClr val="1429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64" name="Google Shape;764;p23"/>
            <p:cNvGrpSpPr/>
            <p:nvPr/>
          </p:nvGrpSpPr>
          <p:grpSpPr>
            <a:xfrm>
              <a:off x="6377207" y="4357125"/>
              <a:ext cx="1815701" cy="1095339"/>
              <a:chOff x="6707145" y="4413687"/>
              <a:chExt cx="1815701" cy="1095339"/>
            </a:xfrm>
          </p:grpSpPr>
          <p:pic>
            <p:nvPicPr>
              <p:cNvPr id="765" name="Google Shape;765;p23" descr="C:\Users\USER\Downloads\mail.png"/>
              <p:cNvPicPr preferRelativeResize="0"/>
              <p:nvPr/>
            </p:nvPicPr>
            <p:blipFill rotWithShape="1">
              <a:blip r:embed="rId3">
                <a:alphaModFix/>
              </a:blip>
              <a:srcRect/>
              <a:stretch/>
            </p:blipFill>
            <p:spPr>
              <a:xfrm>
                <a:off x="7563402" y="4486402"/>
                <a:ext cx="749093" cy="749093"/>
              </a:xfrm>
              <a:prstGeom prst="rect">
                <a:avLst/>
              </a:prstGeom>
              <a:noFill/>
              <a:ln>
                <a:noFill/>
              </a:ln>
            </p:spPr>
          </p:pic>
          <p:grpSp>
            <p:nvGrpSpPr>
              <p:cNvPr id="766" name="Google Shape;766;p23"/>
              <p:cNvGrpSpPr/>
              <p:nvPr/>
            </p:nvGrpSpPr>
            <p:grpSpPr>
              <a:xfrm>
                <a:off x="6707145" y="4413687"/>
                <a:ext cx="691942" cy="627907"/>
                <a:chOff x="7073959" y="4310095"/>
                <a:chExt cx="761135" cy="690698"/>
              </a:xfrm>
            </p:grpSpPr>
            <p:pic>
              <p:nvPicPr>
                <p:cNvPr id="767" name="Google Shape;767;p23"/>
                <p:cNvPicPr preferRelativeResize="0"/>
                <p:nvPr/>
              </p:nvPicPr>
              <p:blipFill rotWithShape="1">
                <a:blip r:embed="rId4">
                  <a:alphaModFix/>
                </a:blip>
                <a:srcRect/>
                <a:stretch/>
              </p:blipFill>
              <p:spPr>
                <a:xfrm rot="-1968754">
                  <a:off x="7132977" y="4451858"/>
                  <a:ext cx="643100" cy="407172"/>
                </a:xfrm>
                <a:prstGeom prst="rect">
                  <a:avLst/>
                </a:prstGeom>
                <a:noFill/>
                <a:ln>
                  <a:noFill/>
                </a:ln>
              </p:spPr>
            </p:pic>
            <p:pic>
              <p:nvPicPr>
                <p:cNvPr id="768" name="Google Shape;768;p23" descr="C:\Users\USER\Downloads\question-mark.png"/>
                <p:cNvPicPr preferRelativeResize="0"/>
                <p:nvPr/>
              </p:nvPicPr>
              <p:blipFill rotWithShape="1">
                <a:blip r:embed="rId5">
                  <a:alphaModFix/>
                </a:blip>
                <a:srcRect/>
                <a:stretch/>
              </p:blipFill>
              <p:spPr>
                <a:xfrm rot="-1968270">
                  <a:off x="7325239" y="4492775"/>
                  <a:ext cx="292388" cy="292388"/>
                </a:xfrm>
                <a:prstGeom prst="rect">
                  <a:avLst/>
                </a:prstGeom>
                <a:noFill/>
                <a:ln>
                  <a:noFill/>
                </a:ln>
              </p:spPr>
            </p:pic>
          </p:grpSp>
          <p:sp>
            <p:nvSpPr>
              <p:cNvPr id="769" name="Google Shape;769;p23"/>
              <p:cNvSpPr/>
              <p:nvPr/>
            </p:nvSpPr>
            <p:spPr>
              <a:xfrm>
                <a:off x="7232327" y="4503781"/>
                <a:ext cx="331076" cy="258104"/>
              </a:xfrm>
              <a:prstGeom prst="arc">
                <a:avLst>
                  <a:gd name="adj1" fmla="val 12077785"/>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70" name="Google Shape;770;p23"/>
              <p:cNvSpPr/>
              <p:nvPr/>
            </p:nvSpPr>
            <p:spPr>
              <a:xfrm>
                <a:off x="7353051" y="5216638"/>
                <a:ext cx="1169795" cy="2923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Mẫu mới</a:t>
                </a:r>
                <a:endParaRPr sz="1300" b="0" i="0" u="none" strike="noStrike" cap="none">
                  <a:solidFill>
                    <a:srgbClr val="262626"/>
                  </a:solidFill>
                  <a:latin typeface="Arial"/>
                  <a:ea typeface="Arial"/>
                  <a:cs typeface="Arial"/>
                  <a:sym typeface="Arial"/>
                </a:endParaRPr>
              </a:p>
            </p:txBody>
          </p:sp>
        </p:grpSp>
        <p:sp>
          <p:nvSpPr>
            <p:cNvPr id="771" name="Google Shape;771;p23"/>
            <p:cNvSpPr/>
            <p:nvPr/>
          </p:nvSpPr>
          <p:spPr>
            <a:xfrm>
              <a:off x="1112357" y="3855563"/>
              <a:ext cx="4553152" cy="181188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72" name="Google Shape;772;p23"/>
            <p:cNvGrpSpPr/>
            <p:nvPr/>
          </p:nvGrpSpPr>
          <p:grpSpPr>
            <a:xfrm>
              <a:off x="1650304" y="3970717"/>
              <a:ext cx="3757022" cy="1542505"/>
              <a:chOff x="1280720" y="3894062"/>
              <a:chExt cx="4359424" cy="1789831"/>
            </a:xfrm>
          </p:grpSpPr>
          <p:pic>
            <p:nvPicPr>
              <p:cNvPr id="773" name="Google Shape;773;p23" descr="C:\Users\USER\Downloads\mail.png"/>
              <p:cNvPicPr preferRelativeResize="0"/>
              <p:nvPr/>
            </p:nvPicPr>
            <p:blipFill rotWithShape="1">
              <a:blip r:embed="rId6">
                <a:alphaModFix/>
              </a:blip>
              <a:srcRect/>
              <a:stretch/>
            </p:blipFill>
            <p:spPr>
              <a:xfrm>
                <a:off x="2254829" y="4193775"/>
                <a:ext cx="448396" cy="448397"/>
              </a:xfrm>
              <a:prstGeom prst="rect">
                <a:avLst/>
              </a:prstGeom>
              <a:noFill/>
              <a:ln>
                <a:noFill/>
              </a:ln>
            </p:spPr>
          </p:pic>
          <p:pic>
            <p:nvPicPr>
              <p:cNvPr id="774" name="Google Shape;774;p23" descr="C:\Users\USER\Downloads\mail.png"/>
              <p:cNvPicPr preferRelativeResize="0"/>
              <p:nvPr/>
            </p:nvPicPr>
            <p:blipFill rotWithShape="1">
              <a:blip r:embed="rId6">
                <a:alphaModFix/>
              </a:blip>
              <a:srcRect/>
              <a:stretch/>
            </p:blipFill>
            <p:spPr>
              <a:xfrm>
                <a:off x="3783168" y="4193775"/>
                <a:ext cx="448396" cy="448397"/>
              </a:xfrm>
              <a:prstGeom prst="rect">
                <a:avLst/>
              </a:prstGeom>
              <a:noFill/>
              <a:ln>
                <a:noFill/>
              </a:ln>
            </p:spPr>
          </p:pic>
          <p:pic>
            <p:nvPicPr>
              <p:cNvPr id="775" name="Google Shape;775;p23" descr="C:\Users\USER\Downloads\mail.png"/>
              <p:cNvPicPr preferRelativeResize="0"/>
              <p:nvPr/>
            </p:nvPicPr>
            <p:blipFill rotWithShape="1">
              <a:blip r:embed="rId6">
                <a:alphaModFix/>
              </a:blip>
              <a:srcRect/>
              <a:stretch/>
            </p:blipFill>
            <p:spPr>
              <a:xfrm>
                <a:off x="5191748" y="4152163"/>
                <a:ext cx="448396" cy="448397"/>
              </a:xfrm>
              <a:prstGeom prst="rect">
                <a:avLst/>
              </a:prstGeom>
              <a:noFill/>
              <a:ln>
                <a:noFill/>
              </a:ln>
            </p:spPr>
          </p:pic>
          <p:pic>
            <p:nvPicPr>
              <p:cNvPr id="776" name="Google Shape;776;p23" descr="C:\Users\USER\Downloads\mail.png"/>
              <p:cNvPicPr preferRelativeResize="0"/>
              <p:nvPr/>
            </p:nvPicPr>
            <p:blipFill rotWithShape="1">
              <a:blip r:embed="rId6">
                <a:alphaModFix/>
              </a:blip>
              <a:srcRect/>
              <a:stretch/>
            </p:blipFill>
            <p:spPr>
              <a:xfrm>
                <a:off x="1928493" y="5180738"/>
                <a:ext cx="448396" cy="448397"/>
              </a:xfrm>
              <a:prstGeom prst="rect">
                <a:avLst/>
              </a:prstGeom>
              <a:noFill/>
              <a:ln>
                <a:noFill/>
              </a:ln>
            </p:spPr>
          </p:pic>
          <p:pic>
            <p:nvPicPr>
              <p:cNvPr id="777" name="Google Shape;777;p23" descr="C:\Users\USER\Downloads\mail.png"/>
              <p:cNvPicPr preferRelativeResize="0"/>
              <p:nvPr/>
            </p:nvPicPr>
            <p:blipFill rotWithShape="1">
              <a:blip r:embed="rId6">
                <a:alphaModFix/>
              </a:blip>
              <a:srcRect/>
              <a:stretch/>
            </p:blipFill>
            <p:spPr>
              <a:xfrm>
                <a:off x="2910420" y="4823736"/>
                <a:ext cx="448396" cy="448397"/>
              </a:xfrm>
              <a:prstGeom prst="rect">
                <a:avLst/>
              </a:prstGeom>
              <a:noFill/>
              <a:ln>
                <a:noFill/>
              </a:ln>
            </p:spPr>
          </p:pic>
          <p:pic>
            <p:nvPicPr>
              <p:cNvPr id="778" name="Google Shape;778;p23" descr="C:\Users\USER\Downloads\mail.png"/>
              <p:cNvPicPr preferRelativeResize="0"/>
              <p:nvPr/>
            </p:nvPicPr>
            <p:blipFill rotWithShape="1">
              <a:blip r:embed="rId6">
                <a:alphaModFix/>
              </a:blip>
              <a:srcRect/>
              <a:stretch/>
            </p:blipFill>
            <p:spPr>
              <a:xfrm>
                <a:off x="4743351" y="5235496"/>
                <a:ext cx="448396" cy="448397"/>
              </a:xfrm>
              <a:prstGeom prst="rect">
                <a:avLst/>
              </a:prstGeom>
              <a:noFill/>
              <a:ln>
                <a:noFill/>
              </a:ln>
            </p:spPr>
          </p:pic>
          <p:sp>
            <p:nvSpPr>
              <p:cNvPr id="779" name="Google Shape;779;p23"/>
              <p:cNvSpPr/>
              <p:nvPr/>
            </p:nvSpPr>
            <p:spPr>
              <a:xfrm>
                <a:off x="2646676" y="3894062"/>
                <a:ext cx="866415" cy="33927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Nhãn</a:t>
                </a:r>
                <a:endParaRPr sz="1300" b="0" i="0" u="none" strike="noStrike" cap="none">
                  <a:solidFill>
                    <a:srgbClr val="262626"/>
                  </a:solidFill>
                  <a:latin typeface="Arial"/>
                  <a:ea typeface="Arial"/>
                  <a:cs typeface="Arial"/>
                  <a:sym typeface="Arial"/>
                </a:endParaRPr>
              </a:p>
            </p:txBody>
          </p:sp>
          <p:sp>
            <p:nvSpPr>
              <p:cNvPr id="780" name="Google Shape;780;p23"/>
              <p:cNvSpPr/>
              <p:nvPr/>
            </p:nvSpPr>
            <p:spPr>
              <a:xfrm>
                <a:off x="3570909" y="4655974"/>
                <a:ext cx="866415" cy="33927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Mẫu</a:t>
                </a:r>
                <a:endParaRPr sz="1300" b="0" i="0" u="none" strike="noStrike" cap="none">
                  <a:solidFill>
                    <a:srgbClr val="262626"/>
                  </a:solidFill>
                  <a:latin typeface="Arial"/>
                  <a:ea typeface="Arial"/>
                  <a:cs typeface="Arial"/>
                  <a:sym typeface="Arial"/>
                </a:endParaRPr>
              </a:p>
            </p:txBody>
          </p:sp>
          <p:grpSp>
            <p:nvGrpSpPr>
              <p:cNvPr id="781" name="Google Shape;781;p23"/>
              <p:cNvGrpSpPr/>
              <p:nvPr/>
            </p:nvGrpSpPr>
            <p:grpSpPr>
              <a:xfrm>
                <a:off x="1609178" y="4135352"/>
                <a:ext cx="712085" cy="482019"/>
                <a:chOff x="1647838" y="4003926"/>
                <a:chExt cx="783294" cy="530220"/>
              </a:xfrm>
            </p:grpSpPr>
            <p:grpSp>
              <p:nvGrpSpPr>
                <p:cNvPr id="782" name="Google Shape;782;p23"/>
                <p:cNvGrpSpPr/>
                <p:nvPr/>
              </p:nvGrpSpPr>
              <p:grpSpPr>
                <a:xfrm rot="-1067409">
                  <a:off x="1695698" y="4072466"/>
                  <a:ext cx="510189" cy="393140"/>
                  <a:chOff x="1531978" y="4019631"/>
                  <a:chExt cx="647324" cy="498811"/>
                </a:xfrm>
              </p:grpSpPr>
              <p:pic>
                <p:nvPicPr>
                  <p:cNvPr id="783" name="Google Shape;783;p23"/>
                  <p:cNvPicPr preferRelativeResize="0"/>
                  <p:nvPr/>
                </p:nvPicPr>
                <p:blipFill rotWithShape="1">
                  <a:blip r:embed="rId7">
                    <a:alphaModFix/>
                  </a:blip>
                  <a:srcRect/>
                  <a:stretch/>
                </p:blipFill>
                <p:spPr>
                  <a:xfrm rot="-901345">
                    <a:off x="1569196" y="4087678"/>
                    <a:ext cx="572888" cy="362716"/>
                  </a:xfrm>
                  <a:prstGeom prst="rect">
                    <a:avLst/>
                  </a:prstGeom>
                  <a:noFill/>
                  <a:ln>
                    <a:noFill/>
                  </a:ln>
                </p:spPr>
              </p:pic>
              <p:pic>
                <p:nvPicPr>
                  <p:cNvPr id="784" name="Google Shape;784;p23" descr="C:\Users\USER\Downloads\check.png"/>
                  <p:cNvPicPr preferRelativeResize="0"/>
                  <p:nvPr/>
                </p:nvPicPr>
                <p:blipFill rotWithShape="1">
                  <a:blip r:embed="rId8">
                    <a:alphaModFix/>
                  </a:blip>
                  <a:srcRect/>
                  <a:stretch/>
                </p:blipFill>
                <p:spPr>
                  <a:xfrm rot="-891273">
                    <a:off x="1700936" y="4125592"/>
                    <a:ext cx="286888" cy="286888"/>
                  </a:xfrm>
                  <a:prstGeom prst="rect">
                    <a:avLst/>
                  </a:prstGeom>
                  <a:noFill/>
                  <a:ln>
                    <a:noFill/>
                  </a:ln>
                </p:spPr>
              </p:pic>
            </p:grpSp>
            <p:sp>
              <p:nvSpPr>
                <p:cNvPr id="785" name="Google Shape;785;p23"/>
                <p:cNvSpPr/>
                <p:nvPr/>
              </p:nvSpPr>
              <p:spPr>
                <a:xfrm>
                  <a:off x="2066949" y="4030895"/>
                  <a:ext cx="364183" cy="283915"/>
                </a:xfrm>
                <a:prstGeom prst="arc">
                  <a:avLst>
                    <a:gd name="adj1" fmla="val 12077785"/>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786" name="Google Shape;786;p23"/>
              <p:cNvGrpSpPr/>
              <p:nvPr/>
            </p:nvGrpSpPr>
            <p:grpSpPr>
              <a:xfrm>
                <a:off x="3091766" y="4118323"/>
                <a:ext cx="712085" cy="482019"/>
                <a:chOff x="1647838" y="4003926"/>
                <a:chExt cx="783294" cy="530220"/>
              </a:xfrm>
            </p:grpSpPr>
            <p:grpSp>
              <p:nvGrpSpPr>
                <p:cNvPr id="787" name="Google Shape;787;p23"/>
                <p:cNvGrpSpPr/>
                <p:nvPr/>
              </p:nvGrpSpPr>
              <p:grpSpPr>
                <a:xfrm rot="-1067409">
                  <a:off x="1695698" y="4072466"/>
                  <a:ext cx="510189" cy="393140"/>
                  <a:chOff x="1531978" y="4019631"/>
                  <a:chExt cx="647324" cy="498811"/>
                </a:xfrm>
              </p:grpSpPr>
              <p:pic>
                <p:nvPicPr>
                  <p:cNvPr id="788" name="Google Shape;788;p23"/>
                  <p:cNvPicPr preferRelativeResize="0"/>
                  <p:nvPr/>
                </p:nvPicPr>
                <p:blipFill rotWithShape="1">
                  <a:blip r:embed="rId7">
                    <a:alphaModFix/>
                  </a:blip>
                  <a:srcRect/>
                  <a:stretch/>
                </p:blipFill>
                <p:spPr>
                  <a:xfrm rot="-901345">
                    <a:off x="1569196" y="4087678"/>
                    <a:ext cx="572888" cy="362716"/>
                  </a:xfrm>
                  <a:prstGeom prst="rect">
                    <a:avLst/>
                  </a:prstGeom>
                  <a:noFill/>
                  <a:ln>
                    <a:noFill/>
                  </a:ln>
                </p:spPr>
              </p:pic>
              <p:pic>
                <p:nvPicPr>
                  <p:cNvPr id="789" name="Google Shape;789;p23" descr="C:\Users\USER\Downloads\check.png"/>
                  <p:cNvPicPr preferRelativeResize="0"/>
                  <p:nvPr/>
                </p:nvPicPr>
                <p:blipFill rotWithShape="1">
                  <a:blip r:embed="rId8">
                    <a:alphaModFix/>
                  </a:blip>
                  <a:srcRect/>
                  <a:stretch/>
                </p:blipFill>
                <p:spPr>
                  <a:xfrm rot="-891273">
                    <a:off x="1700936" y="4125592"/>
                    <a:ext cx="286888" cy="286888"/>
                  </a:xfrm>
                  <a:prstGeom prst="rect">
                    <a:avLst/>
                  </a:prstGeom>
                  <a:noFill/>
                  <a:ln>
                    <a:noFill/>
                  </a:ln>
                </p:spPr>
              </p:pic>
            </p:grpSp>
            <p:sp>
              <p:nvSpPr>
                <p:cNvPr id="790" name="Google Shape;790;p23"/>
                <p:cNvSpPr/>
                <p:nvPr/>
              </p:nvSpPr>
              <p:spPr>
                <a:xfrm>
                  <a:off x="2066949" y="4030895"/>
                  <a:ext cx="364183" cy="283915"/>
                </a:xfrm>
                <a:prstGeom prst="arc">
                  <a:avLst>
                    <a:gd name="adj1" fmla="val 12077785"/>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791" name="Google Shape;791;p23"/>
              <p:cNvGrpSpPr/>
              <p:nvPr/>
            </p:nvGrpSpPr>
            <p:grpSpPr>
              <a:xfrm>
                <a:off x="4031266" y="5156221"/>
                <a:ext cx="712085" cy="482019"/>
                <a:chOff x="1647838" y="4003926"/>
                <a:chExt cx="783294" cy="530220"/>
              </a:xfrm>
            </p:grpSpPr>
            <p:grpSp>
              <p:nvGrpSpPr>
                <p:cNvPr id="792" name="Google Shape;792;p23"/>
                <p:cNvGrpSpPr/>
                <p:nvPr/>
              </p:nvGrpSpPr>
              <p:grpSpPr>
                <a:xfrm rot="-1067409">
                  <a:off x="1695698" y="4072466"/>
                  <a:ext cx="510189" cy="393140"/>
                  <a:chOff x="1531978" y="4019631"/>
                  <a:chExt cx="647324" cy="498811"/>
                </a:xfrm>
              </p:grpSpPr>
              <p:pic>
                <p:nvPicPr>
                  <p:cNvPr id="793" name="Google Shape;793;p23"/>
                  <p:cNvPicPr preferRelativeResize="0"/>
                  <p:nvPr/>
                </p:nvPicPr>
                <p:blipFill rotWithShape="1">
                  <a:blip r:embed="rId7">
                    <a:alphaModFix/>
                  </a:blip>
                  <a:srcRect/>
                  <a:stretch/>
                </p:blipFill>
                <p:spPr>
                  <a:xfrm rot="-901345">
                    <a:off x="1569196" y="4087678"/>
                    <a:ext cx="572888" cy="362716"/>
                  </a:xfrm>
                  <a:prstGeom prst="rect">
                    <a:avLst/>
                  </a:prstGeom>
                  <a:noFill/>
                  <a:ln>
                    <a:noFill/>
                  </a:ln>
                </p:spPr>
              </p:pic>
              <p:pic>
                <p:nvPicPr>
                  <p:cNvPr id="794" name="Google Shape;794;p23" descr="C:\Users\USER\Downloads\check.png"/>
                  <p:cNvPicPr preferRelativeResize="0"/>
                  <p:nvPr/>
                </p:nvPicPr>
                <p:blipFill rotWithShape="1">
                  <a:blip r:embed="rId8">
                    <a:alphaModFix/>
                  </a:blip>
                  <a:srcRect/>
                  <a:stretch/>
                </p:blipFill>
                <p:spPr>
                  <a:xfrm rot="-891273">
                    <a:off x="1700936" y="4125592"/>
                    <a:ext cx="286888" cy="286888"/>
                  </a:xfrm>
                  <a:prstGeom prst="rect">
                    <a:avLst/>
                  </a:prstGeom>
                  <a:noFill/>
                  <a:ln>
                    <a:noFill/>
                  </a:ln>
                </p:spPr>
              </p:pic>
            </p:grpSp>
            <p:sp>
              <p:nvSpPr>
                <p:cNvPr id="795" name="Google Shape;795;p23"/>
                <p:cNvSpPr/>
                <p:nvPr/>
              </p:nvSpPr>
              <p:spPr>
                <a:xfrm>
                  <a:off x="2066949" y="4030895"/>
                  <a:ext cx="364183" cy="283915"/>
                </a:xfrm>
                <a:prstGeom prst="arc">
                  <a:avLst>
                    <a:gd name="adj1" fmla="val 12077785"/>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796" name="Google Shape;796;p23"/>
              <p:cNvGrpSpPr/>
              <p:nvPr/>
            </p:nvGrpSpPr>
            <p:grpSpPr>
              <a:xfrm>
                <a:off x="2258284" y="4761594"/>
                <a:ext cx="661627" cy="440855"/>
                <a:chOff x="2361854" y="4692792"/>
                <a:chExt cx="727790" cy="484940"/>
              </a:xfrm>
            </p:grpSpPr>
            <p:grpSp>
              <p:nvGrpSpPr>
                <p:cNvPr id="797" name="Google Shape;797;p23"/>
                <p:cNvGrpSpPr/>
                <p:nvPr/>
              </p:nvGrpSpPr>
              <p:grpSpPr>
                <a:xfrm>
                  <a:off x="2361854" y="4692792"/>
                  <a:ext cx="534395" cy="484940"/>
                  <a:chOff x="2342107" y="4714145"/>
                  <a:chExt cx="534395" cy="484940"/>
                </a:xfrm>
              </p:grpSpPr>
              <p:pic>
                <p:nvPicPr>
                  <p:cNvPr id="798" name="Google Shape;798;p23"/>
                  <p:cNvPicPr preferRelativeResize="0"/>
                  <p:nvPr/>
                </p:nvPicPr>
                <p:blipFill rotWithShape="1">
                  <a:blip r:embed="rId7">
                    <a:alphaModFix/>
                  </a:blip>
                  <a:srcRect/>
                  <a:stretch/>
                </p:blipFill>
                <p:spPr>
                  <a:xfrm rot="-1968754">
                    <a:off x="2383543" y="4813677"/>
                    <a:ext cx="451522" cy="285876"/>
                  </a:xfrm>
                  <a:prstGeom prst="rect">
                    <a:avLst/>
                  </a:prstGeom>
                  <a:noFill/>
                  <a:ln>
                    <a:noFill/>
                  </a:ln>
                </p:spPr>
              </p:pic>
              <p:pic>
                <p:nvPicPr>
                  <p:cNvPr id="799" name="Google Shape;799;p23" descr="C:\Users\USER\Downloads\block.png"/>
                  <p:cNvPicPr preferRelativeResize="0"/>
                  <p:nvPr/>
                </p:nvPicPr>
                <p:blipFill rotWithShape="1">
                  <a:blip r:embed="rId9">
                    <a:alphaModFix/>
                  </a:blip>
                  <a:srcRect/>
                  <a:stretch/>
                </p:blipFill>
                <p:spPr>
                  <a:xfrm rot="10800000" flipH="1">
                    <a:off x="2488515" y="4836622"/>
                    <a:ext cx="241578" cy="241578"/>
                  </a:xfrm>
                  <a:prstGeom prst="rect">
                    <a:avLst/>
                  </a:prstGeom>
                  <a:noFill/>
                  <a:ln>
                    <a:noFill/>
                  </a:ln>
                </p:spPr>
              </p:pic>
            </p:grpSp>
            <p:sp>
              <p:nvSpPr>
                <p:cNvPr id="800" name="Google Shape;800;p23"/>
                <p:cNvSpPr/>
                <p:nvPr/>
              </p:nvSpPr>
              <p:spPr>
                <a:xfrm>
                  <a:off x="2725461" y="4718474"/>
                  <a:ext cx="364183" cy="283915"/>
                </a:xfrm>
                <a:prstGeom prst="arc">
                  <a:avLst>
                    <a:gd name="adj1" fmla="val 12474758"/>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801" name="Google Shape;801;p23"/>
              <p:cNvGrpSpPr/>
              <p:nvPr/>
            </p:nvGrpSpPr>
            <p:grpSpPr>
              <a:xfrm>
                <a:off x="4547382" y="4067602"/>
                <a:ext cx="661627" cy="440855"/>
                <a:chOff x="2361854" y="4692792"/>
                <a:chExt cx="727790" cy="484940"/>
              </a:xfrm>
            </p:grpSpPr>
            <p:grpSp>
              <p:nvGrpSpPr>
                <p:cNvPr id="802" name="Google Shape;802;p23"/>
                <p:cNvGrpSpPr/>
                <p:nvPr/>
              </p:nvGrpSpPr>
              <p:grpSpPr>
                <a:xfrm>
                  <a:off x="2361854" y="4692792"/>
                  <a:ext cx="534395" cy="484940"/>
                  <a:chOff x="2342107" y="4714145"/>
                  <a:chExt cx="534395" cy="484940"/>
                </a:xfrm>
              </p:grpSpPr>
              <p:pic>
                <p:nvPicPr>
                  <p:cNvPr id="803" name="Google Shape;803;p23"/>
                  <p:cNvPicPr preferRelativeResize="0"/>
                  <p:nvPr/>
                </p:nvPicPr>
                <p:blipFill rotWithShape="1">
                  <a:blip r:embed="rId7">
                    <a:alphaModFix/>
                  </a:blip>
                  <a:srcRect/>
                  <a:stretch/>
                </p:blipFill>
                <p:spPr>
                  <a:xfrm rot="-1968754">
                    <a:off x="2383543" y="4813677"/>
                    <a:ext cx="451522" cy="285876"/>
                  </a:xfrm>
                  <a:prstGeom prst="rect">
                    <a:avLst/>
                  </a:prstGeom>
                  <a:noFill/>
                  <a:ln>
                    <a:noFill/>
                  </a:ln>
                </p:spPr>
              </p:pic>
              <p:pic>
                <p:nvPicPr>
                  <p:cNvPr id="804" name="Google Shape;804;p23" descr="C:\Users\USER\Downloads\block.png"/>
                  <p:cNvPicPr preferRelativeResize="0"/>
                  <p:nvPr/>
                </p:nvPicPr>
                <p:blipFill rotWithShape="1">
                  <a:blip r:embed="rId9">
                    <a:alphaModFix/>
                  </a:blip>
                  <a:srcRect/>
                  <a:stretch/>
                </p:blipFill>
                <p:spPr>
                  <a:xfrm rot="10800000" flipH="1">
                    <a:off x="2488515" y="4836622"/>
                    <a:ext cx="241578" cy="241578"/>
                  </a:xfrm>
                  <a:prstGeom prst="rect">
                    <a:avLst/>
                  </a:prstGeom>
                  <a:noFill/>
                  <a:ln>
                    <a:noFill/>
                  </a:ln>
                </p:spPr>
              </p:pic>
            </p:grpSp>
            <p:sp>
              <p:nvSpPr>
                <p:cNvPr id="805" name="Google Shape;805;p23"/>
                <p:cNvSpPr/>
                <p:nvPr/>
              </p:nvSpPr>
              <p:spPr>
                <a:xfrm>
                  <a:off x="2725461" y="4718474"/>
                  <a:ext cx="364183" cy="283915"/>
                </a:xfrm>
                <a:prstGeom prst="arc">
                  <a:avLst>
                    <a:gd name="adj1" fmla="val 12474758"/>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806" name="Google Shape;806;p23"/>
              <p:cNvGrpSpPr/>
              <p:nvPr/>
            </p:nvGrpSpPr>
            <p:grpSpPr>
              <a:xfrm>
                <a:off x="1280720" y="5105296"/>
                <a:ext cx="661627" cy="440855"/>
                <a:chOff x="2361854" y="4692792"/>
                <a:chExt cx="727790" cy="484940"/>
              </a:xfrm>
            </p:grpSpPr>
            <p:grpSp>
              <p:nvGrpSpPr>
                <p:cNvPr id="807" name="Google Shape;807;p23"/>
                <p:cNvGrpSpPr/>
                <p:nvPr/>
              </p:nvGrpSpPr>
              <p:grpSpPr>
                <a:xfrm>
                  <a:off x="2361854" y="4692792"/>
                  <a:ext cx="534395" cy="484940"/>
                  <a:chOff x="2342107" y="4714145"/>
                  <a:chExt cx="534395" cy="484940"/>
                </a:xfrm>
              </p:grpSpPr>
              <p:pic>
                <p:nvPicPr>
                  <p:cNvPr id="808" name="Google Shape;808;p23"/>
                  <p:cNvPicPr preferRelativeResize="0"/>
                  <p:nvPr/>
                </p:nvPicPr>
                <p:blipFill rotWithShape="1">
                  <a:blip r:embed="rId7">
                    <a:alphaModFix/>
                  </a:blip>
                  <a:srcRect/>
                  <a:stretch/>
                </p:blipFill>
                <p:spPr>
                  <a:xfrm rot="-1968754">
                    <a:off x="2383543" y="4813677"/>
                    <a:ext cx="451522" cy="285876"/>
                  </a:xfrm>
                  <a:prstGeom prst="rect">
                    <a:avLst/>
                  </a:prstGeom>
                  <a:noFill/>
                  <a:ln>
                    <a:noFill/>
                  </a:ln>
                </p:spPr>
              </p:pic>
              <p:pic>
                <p:nvPicPr>
                  <p:cNvPr id="809" name="Google Shape;809;p23" descr="C:\Users\USER\Downloads\block.png"/>
                  <p:cNvPicPr preferRelativeResize="0"/>
                  <p:nvPr/>
                </p:nvPicPr>
                <p:blipFill rotWithShape="1">
                  <a:blip r:embed="rId9">
                    <a:alphaModFix/>
                  </a:blip>
                  <a:srcRect/>
                  <a:stretch/>
                </p:blipFill>
                <p:spPr>
                  <a:xfrm rot="10800000" flipH="1">
                    <a:off x="2488515" y="4836622"/>
                    <a:ext cx="241578" cy="241578"/>
                  </a:xfrm>
                  <a:prstGeom prst="rect">
                    <a:avLst/>
                  </a:prstGeom>
                  <a:noFill/>
                  <a:ln>
                    <a:noFill/>
                  </a:ln>
                </p:spPr>
              </p:pic>
            </p:grpSp>
            <p:sp>
              <p:nvSpPr>
                <p:cNvPr id="810" name="Google Shape;810;p23"/>
                <p:cNvSpPr/>
                <p:nvPr/>
              </p:nvSpPr>
              <p:spPr>
                <a:xfrm>
                  <a:off x="2725461" y="4718474"/>
                  <a:ext cx="364183" cy="283915"/>
                </a:xfrm>
                <a:prstGeom prst="arc">
                  <a:avLst>
                    <a:gd name="adj1" fmla="val 12474758"/>
                    <a:gd name="adj2" fmla="val 0"/>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11" name="Google Shape;811;p23"/>
            <p:cNvSpPr txBox="1"/>
            <p:nvPr/>
          </p:nvSpPr>
          <p:spPr>
            <a:xfrm>
              <a:off x="1059620" y="3918125"/>
              <a:ext cx="1194126"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429A0"/>
                  </a:solidFill>
                  <a:latin typeface="Arial"/>
                  <a:ea typeface="Arial"/>
                  <a:cs typeface="Arial"/>
                  <a:sym typeface="Arial"/>
                </a:rPr>
                <a:t>Tập huấn</a:t>
              </a:r>
              <a:endParaRPr sz="12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20" name="Google Shape;820;p24"/>
          <p:cNvSpPr/>
          <p:nvPr/>
        </p:nvSpPr>
        <p:spPr>
          <a:xfrm>
            <a:off x="702940" y="1700808"/>
            <a:ext cx="8632825" cy="1048218"/>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Khai phá dữ liệu là sự kết hợp giữa thống kê và học máy (hoặc trí tuệ nhân tạo). Vấn đề được giải quyết bằng học máy phù hợp với vấn đề của khai phá dữ liệu.</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Hình bên dưới là một hướng dẫn giải quyết vấn đề với Scikit-learning, một thư viện máy học sử dụng ngôn ngữ Python.</a:t>
            </a:r>
            <a:endParaRPr sz="1300" b="0" i="0" u="none" strike="noStrike" cap="none">
              <a:solidFill>
                <a:srgbClr val="262626"/>
              </a:solidFill>
              <a:latin typeface="Arial"/>
              <a:ea typeface="Arial"/>
              <a:cs typeface="Arial"/>
              <a:sym typeface="Arial"/>
            </a:endParaRPr>
          </a:p>
        </p:txBody>
      </p:sp>
      <p:sp>
        <p:nvSpPr>
          <p:cNvPr id="821" name="Google Shape;821;p24"/>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có giám sát</a:t>
            </a:r>
            <a:endParaRPr sz="1400" b="0" i="0" u="none" strike="noStrike" cap="none">
              <a:solidFill>
                <a:schemeClr val="dk1"/>
              </a:solidFill>
              <a:latin typeface="Arial"/>
              <a:ea typeface="Arial"/>
              <a:cs typeface="Arial"/>
              <a:sym typeface="Arial"/>
            </a:endParaRPr>
          </a:p>
        </p:txBody>
      </p:sp>
      <p:grpSp>
        <p:nvGrpSpPr>
          <p:cNvPr id="822" name="Google Shape;822;p24"/>
          <p:cNvGrpSpPr/>
          <p:nvPr/>
        </p:nvGrpSpPr>
        <p:grpSpPr>
          <a:xfrm>
            <a:off x="1147963" y="2596162"/>
            <a:ext cx="7363528" cy="3742133"/>
            <a:chOff x="1147963" y="2596162"/>
            <a:chExt cx="7363528" cy="3742133"/>
          </a:xfrm>
        </p:grpSpPr>
        <p:sp>
          <p:nvSpPr>
            <p:cNvPr id="823" name="Google Shape;823;p24"/>
            <p:cNvSpPr txBox="1"/>
            <p:nvPr/>
          </p:nvSpPr>
          <p:spPr>
            <a:xfrm>
              <a:off x="3896167" y="5815075"/>
              <a:ext cx="2016224"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262626"/>
                  </a:solidFill>
                  <a:latin typeface="Arial"/>
                  <a:ea typeface="Arial"/>
                  <a:cs typeface="Arial"/>
                  <a:sym typeface="Arial"/>
                </a:rPr>
                <a:t>scikit-learn algorithm cheat-sheet </a:t>
              </a:r>
              <a:endParaRPr sz="1400" b="1" i="0" u="none" strike="noStrike" cap="none">
                <a:solidFill>
                  <a:srgbClr val="262626"/>
                </a:solidFill>
                <a:latin typeface="Arial"/>
                <a:ea typeface="Arial"/>
                <a:cs typeface="Arial"/>
                <a:sym typeface="Arial"/>
              </a:endParaRPr>
            </a:p>
          </p:txBody>
        </p:sp>
        <p:pic>
          <p:nvPicPr>
            <p:cNvPr id="824" name="Google Shape;824;p24"/>
            <p:cNvPicPr preferRelativeResize="0"/>
            <p:nvPr/>
          </p:nvPicPr>
          <p:blipFill rotWithShape="1">
            <a:blip r:embed="rId3">
              <a:alphaModFix/>
            </a:blip>
            <a:srcRect/>
            <a:stretch/>
          </p:blipFill>
          <p:spPr>
            <a:xfrm>
              <a:off x="1191548" y="2596162"/>
              <a:ext cx="7319943" cy="3690335"/>
            </a:xfrm>
            <a:prstGeom prst="rect">
              <a:avLst/>
            </a:prstGeom>
            <a:noFill/>
            <a:ln>
              <a:noFill/>
            </a:ln>
          </p:spPr>
        </p:pic>
        <p:sp>
          <p:nvSpPr>
            <p:cNvPr id="825" name="Google Shape;825;p24"/>
            <p:cNvSpPr/>
            <p:nvPr/>
          </p:nvSpPr>
          <p:spPr>
            <a:xfrm>
              <a:off x="4509204" y="3012440"/>
              <a:ext cx="52636" cy="96520"/>
            </a:xfrm>
            <a:prstGeom prst="rect">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26" name="Google Shape;826;p24"/>
            <p:cNvGrpSpPr/>
            <p:nvPr/>
          </p:nvGrpSpPr>
          <p:grpSpPr>
            <a:xfrm>
              <a:off x="1874905" y="3346516"/>
              <a:ext cx="749797" cy="292388"/>
              <a:chOff x="1874905" y="3346516"/>
              <a:chExt cx="749797" cy="292388"/>
            </a:xfrm>
          </p:grpSpPr>
          <p:sp>
            <p:nvSpPr>
              <p:cNvPr id="827" name="Google Shape;827;p24"/>
              <p:cNvSpPr/>
              <p:nvPr/>
            </p:nvSpPr>
            <p:spPr>
              <a:xfrm>
                <a:off x="1965960" y="3404234"/>
                <a:ext cx="575310" cy="194311"/>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8" name="Google Shape;828;p24"/>
              <p:cNvSpPr txBox="1"/>
              <p:nvPr/>
            </p:nvSpPr>
            <p:spPr>
              <a:xfrm>
                <a:off x="1874905" y="3346516"/>
                <a:ext cx="749797" cy="2923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kernel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approximation</a:t>
                </a:r>
                <a:endParaRPr sz="650" b="0" i="0" u="none" strike="noStrike" cap="none">
                  <a:solidFill>
                    <a:srgbClr val="353F3A"/>
                  </a:solidFill>
                  <a:latin typeface="Arial"/>
                  <a:ea typeface="Arial"/>
                  <a:cs typeface="Arial"/>
                  <a:sym typeface="Arial"/>
                </a:endParaRPr>
              </a:p>
            </p:txBody>
          </p:sp>
        </p:grpSp>
        <p:grpSp>
          <p:nvGrpSpPr>
            <p:cNvPr id="829" name="Google Shape;829;p24"/>
            <p:cNvGrpSpPr/>
            <p:nvPr/>
          </p:nvGrpSpPr>
          <p:grpSpPr>
            <a:xfrm>
              <a:off x="6756960" y="3845808"/>
              <a:ext cx="987133" cy="472772"/>
              <a:chOff x="6756960" y="3845808"/>
              <a:chExt cx="987133" cy="472772"/>
            </a:xfrm>
          </p:grpSpPr>
          <p:sp>
            <p:nvSpPr>
              <p:cNvPr id="830" name="Google Shape;830;p24"/>
              <p:cNvSpPr/>
              <p:nvPr/>
            </p:nvSpPr>
            <p:spPr>
              <a:xfrm>
                <a:off x="6807356" y="3894379"/>
                <a:ext cx="850744" cy="90882"/>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1" name="Google Shape;831;p24"/>
              <p:cNvSpPr txBox="1"/>
              <p:nvPr/>
            </p:nvSpPr>
            <p:spPr>
              <a:xfrm>
                <a:off x="6778272" y="3845808"/>
                <a:ext cx="965821" cy="1923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SVR (kernel=‘linear’)</a:t>
                </a:r>
                <a:endParaRPr sz="650" b="0" i="0" u="none" strike="noStrike" cap="none">
                  <a:solidFill>
                    <a:srgbClr val="353F3A"/>
                  </a:solidFill>
                  <a:latin typeface="Arial"/>
                  <a:ea typeface="Arial"/>
                  <a:cs typeface="Arial"/>
                  <a:sym typeface="Arial"/>
                </a:endParaRPr>
              </a:p>
            </p:txBody>
          </p:sp>
          <p:sp>
            <p:nvSpPr>
              <p:cNvPr id="832" name="Google Shape;832;p24"/>
              <p:cNvSpPr/>
              <p:nvPr/>
            </p:nvSpPr>
            <p:spPr>
              <a:xfrm>
                <a:off x="6786044" y="4174791"/>
                <a:ext cx="850744" cy="90882"/>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3" name="Google Shape;833;p24"/>
              <p:cNvSpPr txBox="1"/>
              <p:nvPr/>
            </p:nvSpPr>
            <p:spPr>
              <a:xfrm>
                <a:off x="6756960" y="4126220"/>
                <a:ext cx="965821" cy="1923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SVR (kernel=‘rbf’)</a:t>
                </a:r>
                <a:endParaRPr sz="650" b="0" i="0" u="none" strike="noStrike" cap="none">
                  <a:solidFill>
                    <a:srgbClr val="353F3A"/>
                  </a:solidFill>
                  <a:latin typeface="Arial"/>
                  <a:ea typeface="Arial"/>
                  <a:cs typeface="Arial"/>
                  <a:sym typeface="Arial"/>
                </a:endParaRPr>
              </a:p>
            </p:txBody>
          </p:sp>
        </p:grpSp>
        <p:grpSp>
          <p:nvGrpSpPr>
            <p:cNvPr id="834" name="Google Shape;834;p24"/>
            <p:cNvGrpSpPr/>
            <p:nvPr/>
          </p:nvGrpSpPr>
          <p:grpSpPr>
            <a:xfrm>
              <a:off x="4092816" y="3814785"/>
              <a:ext cx="749797" cy="192360"/>
              <a:chOff x="4092816" y="3814785"/>
              <a:chExt cx="749797" cy="192360"/>
            </a:xfrm>
          </p:grpSpPr>
          <p:sp>
            <p:nvSpPr>
              <p:cNvPr id="835" name="Google Shape;835;p24"/>
              <p:cNvSpPr/>
              <p:nvPr/>
            </p:nvSpPr>
            <p:spPr>
              <a:xfrm>
                <a:off x="4220790" y="3872865"/>
                <a:ext cx="488370" cy="80010"/>
              </a:xfrm>
              <a:prstGeom prst="rect">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6" name="Google Shape;836;p24"/>
              <p:cNvSpPr txBox="1"/>
              <p:nvPr/>
            </p:nvSpPr>
            <p:spPr>
              <a:xfrm>
                <a:off x="4092816" y="3814785"/>
                <a:ext cx="749797" cy="1923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labeled data</a:t>
                </a:r>
                <a:endParaRPr sz="650" b="0" i="0" u="none" strike="noStrike" cap="none">
                  <a:solidFill>
                    <a:srgbClr val="353F3A"/>
                  </a:solidFill>
                  <a:latin typeface="Arial"/>
                  <a:ea typeface="Arial"/>
                  <a:cs typeface="Arial"/>
                  <a:sym typeface="Arial"/>
                </a:endParaRPr>
              </a:p>
            </p:txBody>
          </p:sp>
        </p:grpSp>
        <p:grpSp>
          <p:nvGrpSpPr>
            <p:cNvPr id="837" name="Google Shape;837;p24"/>
            <p:cNvGrpSpPr/>
            <p:nvPr/>
          </p:nvGrpSpPr>
          <p:grpSpPr>
            <a:xfrm>
              <a:off x="2772122" y="5065739"/>
              <a:ext cx="938818" cy="292388"/>
              <a:chOff x="4001758" y="4011364"/>
              <a:chExt cx="938818" cy="292388"/>
            </a:xfrm>
          </p:grpSpPr>
          <p:sp>
            <p:nvSpPr>
              <p:cNvPr id="838" name="Google Shape;838;p24"/>
              <p:cNvSpPr/>
              <p:nvPr/>
            </p:nvSpPr>
            <p:spPr>
              <a:xfrm>
                <a:off x="4010936" y="4058645"/>
                <a:ext cx="929640" cy="222885"/>
              </a:xfrm>
              <a:prstGeom prst="ellipse">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39" name="Google Shape;839;p24"/>
              <p:cNvSpPr txBox="1"/>
              <p:nvPr/>
            </p:nvSpPr>
            <p:spPr>
              <a:xfrm>
                <a:off x="4001758" y="4011364"/>
                <a:ext cx="936104" cy="2923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number of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categories known</a:t>
                </a:r>
                <a:endParaRPr sz="650" b="0" i="0" u="none" strike="noStrike" cap="none">
                  <a:solidFill>
                    <a:srgbClr val="353F3A"/>
                  </a:solidFill>
                  <a:latin typeface="Arial"/>
                  <a:ea typeface="Arial"/>
                  <a:cs typeface="Arial"/>
                  <a:sym typeface="Arial"/>
                </a:endParaRPr>
              </a:p>
            </p:txBody>
          </p:sp>
        </p:grpSp>
        <p:grpSp>
          <p:nvGrpSpPr>
            <p:cNvPr id="840" name="Google Shape;840;p24"/>
            <p:cNvGrpSpPr/>
            <p:nvPr/>
          </p:nvGrpSpPr>
          <p:grpSpPr>
            <a:xfrm>
              <a:off x="1147963" y="3733738"/>
              <a:ext cx="749797" cy="307777"/>
              <a:chOff x="1959888" y="3795270"/>
              <a:chExt cx="749797" cy="307777"/>
            </a:xfrm>
          </p:grpSpPr>
          <p:sp>
            <p:nvSpPr>
              <p:cNvPr id="841" name="Google Shape;841;p24"/>
              <p:cNvSpPr/>
              <p:nvPr/>
            </p:nvSpPr>
            <p:spPr>
              <a:xfrm>
                <a:off x="2135505" y="3854386"/>
                <a:ext cx="411875" cy="188595"/>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42" name="Google Shape;842;p24"/>
              <p:cNvSpPr txBox="1"/>
              <p:nvPr/>
            </p:nvSpPr>
            <p:spPr>
              <a:xfrm>
                <a:off x="1959888" y="3795270"/>
                <a:ext cx="749797"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353F3A"/>
                    </a:solidFill>
                    <a:latin typeface="Arial"/>
                    <a:ea typeface="Arial"/>
                    <a:cs typeface="Arial"/>
                    <a:sym typeface="Arial"/>
                  </a:rPr>
                  <a:t>Ensemble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353F3A"/>
                    </a:solidFill>
                    <a:latin typeface="Arial"/>
                    <a:ea typeface="Arial"/>
                    <a:cs typeface="Arial"/>
                    <a:sym typeface="Arial"/>
                  </a:rPr>
                  <a:t>Classifiers</a:t>
                </a:r>
                <a:endParaRPr sz="700" b="0" i="0" u="none" strike="noStrike" cap="none">
                  <a:solidFill>
                    <a:srgbClr val="353F3A"/>
                  </a:solidFill>
                  <a:latin typeface="Arial"/>
                  <a:ea typeface="Arial"/>
                  <a:cs typeface="Arial"/>
                  <a:sym typeface="Arial"/>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25"/>
          <p:cNvSpPr/>
          <p:nvPr/>
        </p:nvSpPr>
        <p:spPr>
          <a:xfrm>
            <a:off x="702940" y="1700808"/>
            <a:ext cx="8632825" cy="1756104"/>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Nhìn vào hình dưới đây, phân tích dựa trên thống kê là không thể tránh khỏi khi có ít dữ liệu.</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thống kê, cần ít nhất 30 để ước lượng các đặc trưng (tham số) của quần thể.</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Khi số lượng mẫu tăng lên, chúng sẽ tiến gần hơn đến các tham số của quần thể. </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Một số giả định có thể được đưa ra dựa trên khoảng 30 dữ liệu. Giả định ở đây là nếu có hơn 30 mẫu, dữ liệu sẽ tuân theo phân phối chuẩn dựa trên luật số lớn.</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khai phá dữ liệu và học máy, một lượng dữ liệu lớn (100.000 trở lên) là cần thiết.</a:t>
            </a:r>
            <a:endParaRPr sz="1300" b="0" i="0" u="none" strike="noStrike" cap="none">
              <a:solidFill>
                <a:srgbClr val="262626"/>
              </a:solidFill>
              <a:latin typeface="Arial"/>
              <a:ea typeface="Arial"/>
              <a:cs typeface="Arial"/>
              <a:sym typeface="Arial"/>
            </a:endParaRPr>
          </a:p>
        </p:txBody>
      </p:sp>
      <p:sp>
        <p:nvSpPr>
          <p:cNvPr id="852" name="Google Shape;852;p25"/>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Trong trường hợp thiếu dữ liệu</a:t>
            </a:r>
            <a:endParaRPr sz="1400" b="0" i="0" u="none" strike="noStrike" cap="none">
              <a:solidFill>
                <a:schemeClr val="dk1"/>
              </a:solidFill>
              <a:latin typeface="Arial"/>
              <a:ea typeface="Arial"/>
              <a:cs typeface="Arial"/>
              <a:sym typeface="Arial"/>
            </a:endParaRPr>
          </a:p>
        </p:txBody>
      </p:sp>
      <p:grpSp>
        <p:nvGrpSpPr>
          <p:cNvPr id="853" name="Google Shape;853;p25"/>
          <p:cNvGrpSpPr/>
          <p:nvPr/>
        </p:nvGrpSpPr>
        <p:grpSpPr>
          <a:xfrm>
            <a:off x="5455468" y="4176257"/>
            <a:ext cx="2776960" cy="2065664"/>
            <a:chOff x="5207730" y="3620520"/>
            <a:chExt cx="3008529" cy="2616792"/>
          </a:xfrm>
        </p:grpSpPr>
        <p:sp>
          <p:nvSpPr>
            <p:cNvPr id="854" name="Google Shape;854;p25"/>
            <p:cNvSpPr/>
            <p:nvPr/>
          </p:nvSpPr>
          <p:spPr>
            <a:xfrm>
              <a:off x="5207730" y="3620520"/>
              <a:ext cx="3008529" cy="2616792"/>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55" name="Google Shape;855;p25"/>
            <p:cNvGrpSpPr/>
            <p:nvPr/>
          </p:nvGrpSpPr>
          <p:grpSpPr>
            <a:xfrm>
              <a:off x="5767988" y="3693754"/>
              <a:ext cx="2042712" cy="2468746"/>
              <a:chOff x="4700253" y="3256373"/>
              <a:chExt cx="985500" cy="1191041"/>
            </a:xfrm>
          </p:grpSpPr>
          <p:sp>
            <p:nvSpPr>
              <p:cNvPr id="856" name="Google Shape;856;p25"/>
              <p:cNvSpPr/>
              <p:nvPr/>
            </p:nvSpPr>
            <p:spPr>
              <a:xfrm>
                <a:off x="4700253" y="3256373"/>
                <a:ext cx="412314" cy="412314"/>
              </a:xfrm>
              <a:prstGeom prst="ellipse">
                <a:avLst/>
              </a:prstGeom>
              <a:solidFill>
                <a:srgbClr val="BBD6EE"/>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262626"/>
                    </a:solidFill>
                    <a:latin typeface="Arial"/>
                    <a:ea typeface="Arial"/>
                    <a:cs typeface="Arial"/>
                    <a:sym typeface="Arial"/>
                  </a:rPr>
                  <a:t>Thu thập thêm dữ liệu</a:t>
                </a:r>
                <a:endParaRPr sz="1400" b="1" i="0" u="none" strike="noStrike" cap="none">
                  <a:solidFill>
                    <a:srgbClr val="262626"/>
                  </a:solidFill>
                  <a:latin typeface="Arial"/>
                  <a:ea typeface="Arial"/>
                  <a:cs typeface="Arial"/>
                  <a:sym typeface="Arial"/>
                </a:endParaRPr>
              </a:p>
            </p:txBody>
          </p:sp>
          <p:sp>
            <p:nvSpPr>
              <p:cNvPr id="857" name="Google Shape;857;p25"/>
              <p:cNvSpPr/>
              <p:nvPr/>
            </p:nvSpPr>
            <p:spPr>
              <a:xfrm>
                <a:off x="5260660" y="3609956"/>
                <a:ext cx="425093" cy="412314"/>
              </a:xfrm>
              <a:prstGeom prst="ellipse">
                <a:avLst/>
              </a:prstGeom>
              <a:solidFill>
                <a:srgbClr val="BBD6EE"/>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262626"/>
                    </a:solidFill>
                    <a:latin typeface="Arial"/>
                    <a:ea typeface="Arial"/>
                    <a:cs typeface="Arial"/>
                    <a:sym typeface="Arial"/>
                  </a:rPr>
                  <a:t>&gt;50</a:t>
                </a:r>
                <a:r>
                  <a:rPr lang="en-US" sz="1100" b="1" i="0" u="none" strike="noStrike" cap="none">
                    <a:solidFill>
                      <a:srgbClr val="262626"/>
                    </a:solidFill>
                    <a:latin typeface="Arial"/>
                    <a:ea typeface="Arial"/>
                    <a:cs typeface="Arial"/>
                    <a:sym typeface="Arial"/>
                  </a:rPr>
                  <a:t> mẫu</a:t>
                </a:r>
                <a:endParaRPr sz="1200" b="1" i="0" u="none" strike="noStrike" cap="none">
                  <a:solidFill>
                    <a:srgbClr val="262626"/>
                  </a:solidFill>
                  <a:latin typeface="Arial"/>
                  <a:ea typeface="Arial"/>
                  <a:cs typeface="Arial"/>
                  <a:sym typeface="Arial"/>
                </a:endParaRPr>
              </a:p>
            </p:txBody>
          </p:sp>
          <p:sp>
            <p:nvSpPr>
              <p:cNvPr id="858" name="Google Shape;858;p25"/>
              <p:cNvSpPr/>
              <p:nvPr/>
            </p:nvSpPr>
            <p:spPr>
              <a:xfrm>
                <a:off x="4704245" y="4035101"/>
                <a:ext cx="504000" cy="412313"/>
              </a:xfrm>
              <a:prstGeom prst="ellipse">
                <a:avLst/>
              </a:prstGeom>
              <a:solidFill>
                <a:srgbClr val="BBD6EE"/>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262626"/>
                    </a:solidFill>
                    <a:latin typeface="Arial"/>
                    <a:ea typeface="Arial"/>
                    <a:cs typeface="Arial"/>
                    <a:sym typeface="Arial"/>
                  </a:rPr>
                  <a:t>Phân loại</a:t>
                </a:r>
                <a:endParaRPr sz="1100" b="1" i="0" u="none" strike="noStrike" cap="none">
                  <a:solidFill>
                    <a:srgbClr val="262626"/>
                  </a:solidFill>
                  <a:latin typeface="Arial"/>
                  <a:ea typeface="Arial"/>
                  <a:cs typeface="Arial"/>
                  <a:sym typeface="Arial"/>
                </a:endParaRPr>
              </a:p>
            </p:txBody>
          </p:sp>
          <p:cxnSp>
            <p:nvCxnSpPr>
              <p:cNvPr id="859" name="Google Shape;859;p25"/>
              <p:cNvCxnSpPr>
                <a:endCxn id="858" idx="7"/>
              </p:cNvCxnSpPr>
              <p:nvPr/>
            </p:nvCxnSpPr>
            <p:spPr>
              <a:xfrm flipH="1">
                <a:off x="5134436" y="3906483"/>
                <a:ext cx="121200" cy="189000"/>
              </a:xfrm>
              <a:prstGeom prst="straightConnector1">
                <a:avLst/>
              </a:prstGeom>
              <a:noFill/>
              <a:ln w="28575" cap="flat" cmpd="sng">
                <a:solidFill>
                  <a:schemeClr val="accent6"/>
                </a:solidFill>
                <a:prstDash val="solid"/>
                <a:miter lim="800000"/>
                <a:headEnd type="none" w="sm" len="sm"/>
                <a:tailEnd type="triangle" w="med" len="med"/>
              </a:ln>
            </p:spPr>
          </p:cxnSp>
          <p:cxnSp>
            <p:nvCxnSpPr>
              <p:cNvPr id="860" name="Google Shape;860;p25"/>
              <p:cNvCxnSpPr>
                <a:stCxn id="857" idx="1"/>
              </p:cNvCxnSpPr>
              <p:nvPr/>
            </p:nvCxnSpPr>
            <p:spPr>
              <a:xfrm rot="10800000">
                <a:off x="5112613" y="3552738"/>
                <a:ext cx="210300" cy="117600"/>
              </a:xfrm>
              <a:prstGeom prst="straightConnector1">
                <a:avLst/>
              </a:prstGeom>
              <a:noFill/>
              <a:ln w="28575" cap="flat" cmpd="sng">
                <a:solidFill>
                  <a:srgbClr val="FF0000"/>
                </a:solidFill>
                <a:prstDash val="solid"/>
                <a:miter lim="800000"/>
                <a:headEnd type="none" w="sm" len="sm"/>
                <a:tailEnd type="triangle" w="med" len="med"/>
              </a:ln>
            </p:spPr>
          </p:cxnSp>
          <p:sp>
            <p:nvSpPr>
              <p:cNvPr id="861" name="Google Shape;861;p25"/>
              <p:cNvSpPr txBox="1"/>
              <p:nvPr/>
            </p:nvSpPr>
            <p:spPr>
              <a:xfrm>
                <a:off x="5180226" y="3490037"/>
                <a:ext cx="281687" cy="1551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rgbClr val="FF0000"/>
                    </a:solidFill>
                    <a:latin typeface="Arial"/>
                    <a:ea typeface="Arial"/>
                    <a:cs typeface="Arial"/>
                    <a:sym typeface="Arial"/>
                  </a:rPr>
                  <a:t>Không</a:t>
                </a:r>
                <a:endParaRPr sz="1050" b="1" i="0" u="none" strike="noStrike" cap="none">
                  <a:solidFill>
                    <a:srgbClr val="FF0000"/>
                  </a:solidFill>
                  <a:latin typeface="Arial"/>
                  <a:ea typeface="Arial"/>
                  <a:cs typeface="Arial"/>
                  <a:sym typeface="Arial"/>
                </a:endParaRPr>
              </a:p>
            </p:txBody>
          </p:sp>
          <p:sp>
            <p:nvSpPr>
              <p:cNvPr id="862" name="Google Shape;862;p25"/>
              <p:cNvSpPr txBox="1"/>
              <p:nvPr/>
            </p:nvSpPr>
            <p:spPr>
              <a:xfrm>
                <a:off x="4943305" y="3801529"/>
                <a:ext cx="181144" cy="1551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1" i="0" u="none" strike="noStrike" cap="none">
                    <a:solidFill>
                      <a:schemeClr val="accent6"/>
                    </a:solidFill>
                    <a:latin typeface="Arial"/>
                    <a:ea typeface="Arial"/>
                    <a:cs typeface="Arial"/>
                    <a:sym typeface="Arial"/>
                  </a:rPr>
                  <a:t>CÓ</a:t>
                </a:r>
                <a:endParaRPr sz="1050" b="1" i="0" u="none" strike="noStrike" cap="none">
                  <a:solidFill>
                    <a:schemeClr val="accent6"/>
                  </a:solidFill>
                  <a:latin typeface="Arial"/>
                  <a:ea typeface="Arial"/>
                  <a:cs typeface="Arial"/>
                  <a:sym typeface="Arial"/>
                </a:endParaRPr>
              </a:p>
            </p:txBody>
          </p:sp>
        </p:grpSp>
      </p:grpSp>
      <p:pic>
        <p:nvPicPr>
          <p:cNvPr id="863" name="Google Shape;863;p25"/>
          <p:cNvPicPr preferRelativeResize="0"/>
          <p:nvPr/>
        </p:nvPicPr>
        <p:blipFill rotWithShape="1">
          <a:blip r:embed="rId3">
            <a:alphaModFix/>
          </a:blip>
          <a:srcRect/>
          <a:stretch/>
        </p:blipFill>
        <p:spPr>
          <a:xfrm>
            <a:off x="1546341" y="4176257"/>
            <a:ext cx="3731741" cy="2065664"/>
          </a:xfrm>
          <a:prstGeom prst="rect">
            <a:avLst/>
          </a:prstGeom>
          <a:noFill/>
          <a:ln>
            <a:noFill/>
          </a:ln>
        </p:spPr>
      </p:pic>
      <p:sp>
        <p:nvSpPr>
          <p:cNvPr id="864" name="Google Shape;864;p25"/>
          <p:cNvSpPr/>
          <p:nvPr/>
        </p:nvSpPr>
        <p:spPr>
          <a:xfrm>
            <a:off x="3888406" y="4500732"/>
            <a:ext cx="1720541" cy="193817"/>
          </a:xfrm>
          <a:prstGeom prst="rightArrow">
            <a:avLst>
              <a:gd name="adj1" fmla="val 50000"/>
              <a:gd name="adj2" fmla="val 50000"/>
            </a:avLst>
          </a:prstGeom>
          <a:solidFill>
            <a:srgbClr val="1429A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26"/>
          <p:cNvSpPr/>
          <p:nvPr/>
        </p:nvSpPr>
        <p:spPr>
          <a:xfrm>
            <a:off x="702940" y="1700808"/>
            <a:ext cx="8632825" cy="545516"/>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hình dưới đây, có thể thấy rằng nếu có đáp án trong các câu hỏi dự đoán và đáp án đó này thuộc dạng số, thì đó </a:t>
            </a:r>
            <a:r>
              <a:rPr lang="en-US" sz="1300" b="1" i="0" u="none" strike="noStrike" cap="none">
                <a:solidFill>
                  <a:srgbClr val="1429A0"/>
                </a:solidFill>
                <a:latin typeface="Arial"/>
                <a:ea typeface="Arial"/>
                <a:cs typeface="Arial"/>
                <a:sym typeface="Arial"/>
              </a:rPr>
              <a:t>hồi quy</a:t>
            </a:r>
            <a:r>
              <a:rPr lang="en-US" sz="1300" b="0" i="0" u="none" strike="noStrike" cap="none">
                <a:solidFill>
                  <a:srgbClr val="262626"/>
                </a:solidFill>
                <a:latin typeface="Arial"/>
                <a:ea typeface="Arial"/>
                <a:cs typeface="Arial"/>
                <a:sym typeface="Arial"/>
              </a:rPr>
              <a:t>. Nếu đáp án đó thuộc dạng phân loại, thì đó là </a:t>
            </a:r>
            <a:r>
              <a:rPr lang="en-US" sz="1300" b="1" i="0" u="none" strike="noStrike" cap="none">
                <a:solidFill>
                  <a:srgbClr val="1429A0"/>
                </a:solidFill>
                <a:latin typeface="Arial"/>
                <a:ea typeface="Arial"/>
                <a:cs typeface="Arial"/>
                <a:sym typeface="Arial"/>
              </a:rPr>
              <a:t>nhóm phân loại</a:t>
            </a:r>
            <a:r>
              <a:rPr lang="en-US" sz="1300" b="0" i="0" u="none" strike="noStrike" cap="none">
                <a:solidFill>
                  <a:srgbClr val="262626"/>
                </a:solidFill>
                <a:latin typeface="Arial"/>
                <a:ea typeface="Arial"/>
                <a:cs typeface="Arial"/>
                <a:sym typeface="Arial"/>
              </a:rPr>
              <a:t>.</a:t>
            </a:r>
            <a:endParaRPr sz="1300" b="0" i="0" u="none" strike="noStrike" cap="none">
              <a:solidFill>
                <a:srgbClr val="262626"/>
              </a:solidFill>
              <a:latin typeface="Arial"/>
              <a:ea typeface="Arial"/>
              <a:cs typeface="Arial"/>
              <a:sym typeface="Arial"/>
            </a:endParaRPr>
          </a:p>
        </p:txBody>
      </p:sp>
      <p:sp>
        <p:nvSpPr>
          <p:cNvPr id="874" name="Google Shape;874;p26"/>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có giám sát</a:t>
            </a:r>
            <a:endParaRPr sz="1400" b="0" i="0" u="none" strike="noStrike" cap="none">
              <a:solidFill>
                <a:schemeClr val="dk1"/>
              </a:solidFill>
              <a:latin typeface="Arial"/>
              <a:ea typeface="Arial"/>
              <a:cs typeface="Arial"/>
              <a:sym typeface="Arial"/>
            </a:endParaRPr>
          </a:p>
        </p:txBody>
      </p:sp>
      <p:grpSp>
        <p:nvGrpSpPr>
          <p:cNvPr id="875" name="Google Shape;875;p26"/>
          <p:cNvGrpSpPr/>
          <p:nvPr/>
        </p:nvGrpSpPr>
        <p:grpSpPr>
          <a:xfrm>
            <a:off x="913712" y="2370318"/>
            <a:ext cx="8211280" cy="3891377"/>
            <a:chOff x="913712" y="2370318"/>
            <a:chExt cx="8211280" cy="3891377"/>
          </a:xfrm>
        </p:grpSpPr>
        <p:grpSp>
          <p:nvGrpSpPr>
            <p:cNvPr id="876" name="Google Shape;876;p26"/>
            <p:cNvGrpSpPr/>
            <p:nvPr/>
          </p:nvGrpSpPr>
          <p:grpSpPr>
            <a:xfrm>
              <a:off x="913712" y="2370318"/>
              <a:ext cx="8211280" cy="3891377"/>
              <a:chOff x="913712" y="2370318"/>
              <a:chExt cx="8211280" cy="3891377"/>
            </a:xfrm>
          </p:grpSpPr>
          <p:grpSp>
            <p:nvGrpSpPr>
              <p:cNvPr id="877" name="Google Shape;877;p26"/>
              <p:cNvGrpSpPr/>
              <p:nvPr/>
            </p:nvGrpSpPr>
            <p:grpSpPr>
              <a:xfrm>
                <a:off x="913712" y="2370318"/>
                <a:ext cx="8211280" cy="3891377"/>
                <a:chOff x="913712" y="2370318"/>
                <a:chExt cx="8211280" cy="3891377"/>
              </a:xfrm>
            </p:grpSpPr>
            <p:grpSp>
              <p:nvGrpSpPr>
                <p:cNvPr id="878" name="Google Shape;878;p26"/>
                <p:cNvGrpSpPr/>
                <p:nvPr/>
              </p:nvGrpSpPr>
              <p:grpSpPr>
                <a:xfrm>
                  <a:off x="913712" y="2370318"/>
                  <a:ext cx="8211280" cy="3891377"/>
                  <a:chOff x="1161708" y="2410773"/>
                  <a:chExt cx="7628585" cy="3615234"/>
                </a:xfrm>
              </p:grpSpPr>
              <p:pic>
                <p:nvPicPr>
                  <p:cNvPr id="879" name="Google Shape;879;p26"/>
                  <p:cNvPicPr preferRelativeResize="0"/>
                  <p:nvPr/>
                </p:nvPicPr>
                <p:blipFill rotWithShape="1">
                  <a:blip r:embed="rId3">
                    <a:alphaModFix/>
                  </a:blip>
                  <a:srcRect/>
                  <a:stretch/>
                </p:blipFill>
                <p:spPr>
                  <a:xfrm>
                    <a:off x="1436466" y="2410773"/>
                    <a:ext cx="7029893" cy="3615234"/>
                  </a:xfrm>
                  <a:prstGeom prst="rect">
                    <a:avLst/>
                  </a:prstGeom>
                  <a:noFill/>
                  <a:ln>
                    <a:noFill/>
                  </a:ln>
                </p:spPr>
              </p:pic>
              <p:sp>
                <p:nvSpPr>
                  <p:cNvPr id="880" name="Google Shape;880;p26"/>
                  <p:cNvSpPr/>
                  <p:nvPr/>
                </p:nvSpPr>
                <p:spPr>
                  <a:xfrm>
                    <a:off x="1161708" y="2428806"/>
                    <a:ext cx="7628585" cy="2050326"/>
                  </a:xfrm>
                  <a:custGeom>
                    <a:avLst/>
                    <a:gdLst/>
                    <a:ahLst/>
                    <a:cxnLst/>
                    <a:rect l="l" t="t" r="r" b="b"/>
                    <a:pathLst>
                      <a:path w="7628585" h="2086718" extrusionOk="0">
                        <a:moveTo>
                          <a:pt x="7375595" y="185173"/>
                        </a:moveTo>
                        <a:cubicBezTo>
                          <a:pt x="7003515" y="-122231"/>
                          <a:pt x="5747303" y="47423"/>
                          <a:pt x="5172144" y="40808"/>
                        </a:cubicBezTo>
                        <a:cubicBezTo>
                          <a:pt x="4596985" y="34193"/>
                          <a:pt x="4124939" y="102833"/>
                          <a:pt x="3924642" y="145483"/>
                        </a:cubicBezTo>
                        <a:cubicBezTo>
                          <a:pt x="3724345" y="188133"/>
                          <a:pt x="3410322" y="253821"/>
                          <a:pt x="3227412" y="226913"/>
                        </a:cubicBezTo>
                        <a:cubicBezTo>
                          <a:pt x="3044502" y="200005"/>
                          <a:pt x="2758872" y="64606"/>
                          <a:pt x="2347120" y="42199"/>
                        </a:cubicBezTo>
                        <a:cubicBezTo>
                          <a:pt x="1935368" y="19792"/>
                          <a:pt x="1133695" y="11754"/>
                          <a:pt x="756898" y="92471"/>
                        </a:cubicBezTo>
                        <a:cubicBezTo>
                          <a:pt x="380101" y="173188"/>
                          <a:pt x="197644" y="242507"/>
                          <a:pt x="86338" y="526503"/>
                        </a:cubicBezTo>
                        <a:cubicBezTo>
                          <a:pt x="-24968" y="810499"/>
                          <a:pt x="-33465" y="1475853"/>
                          <a:pt x="89060" y="1796448"/>
                        </a:cubicBezTo>
                        <a:cubicBezTo>
                          <a:pt x="211585" y="2117043"/>
                          <a:pt x="1402028" y="1983105"/>
                          <a:pt x="2124507" y="2031300"/>
                        </a:cubicBezTo>
                        <a:cubicBezTo>
                          <a:pt x="2846986" y="2079495"/>
                          <a:pt x="3811581" y="2090635"/>
                          <a:pt x="4423933" y="2085618"/>
                        </a:cubicBezTo>
                        <a:cubicBezTo>
                          <a:pt x="5036285" y="2080601"/>
                          <a:pt x="5114027" y="2006038"/>
                          <a:pt x="5798617" y="2001200"/>
                        </a:cubicBezTo>
                        <a:cubicBezTo>
                          <a:pt x="6483207" y="1996362"/>
                          <a:pt x="7141793" y="2187906"/>
                          <a:pt x="7404623" y="1885235"/>
                        </a:cubicBezTo>
                        <a:cubicBezTo>
                          <a:pt x="7667453" y="1582564"/>
                          <a:pt x="7747675" y="492577"/>
                          <a:pt x="7375595" y="185173"/>
                        </a:cubicBezTo>
                        <a:close/>
                      </a:path>
                    </a:pathLst>
                  </a:custGeom>
                  <a:noFill/>
                  <a:ln w="38100" cap="flat" cmpd="sng">
                    <a:solidFill>
                      <a:srgbClr val="FF1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81" name="Google Shape;881;p26"/>
                <p:cNvSpPr/>
                <p:nvPr/>
              </p:nvSpPr>
              <p:spPr>
                <a:xfrm>
                  <a:off x="4640520" y="2816994"/>
                  <a:ext cx="52636" cy="96520"/>
                </a:xfrm>
                <a:prstGeom prst="rect">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2" name="Google Shape;882;p26"/>
                <p:cNvSpPr/>
                <p:nvPr/>
              </p:nvSpPr>
              <p:spPr>
                <a:xfrm>
                  <a:off x="1999080" y="3225164"/>
                  <a:ext cx="603149" cy="194311"/>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3" name="Google Shape;883;p26"/>
                <p:cNvSpPr txBox="1"/>
                <p:nvPr/>
              </p:nvSpPr>
              <p:spPr>
                <a:xfrm>
                  <a:off x="1925755" y="3172315"/>
                  <a:ext cx="749797" cy="2923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kernel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approximation</a:t>
                  </a:r>
                  <a:endParaRPr sz="650" b="0" i="0" u="none" strike="noStrike" cap="none">
                    <a:solidFill>
                      <a:srgbClr val="353F3A"/>
                    </a:solidFill>
                    <a:latin typeface="Arial"/>
                    <a:ea typeface="Arial"/>
                    <a:cs typeface="Arial"/>
                    <a:sym typeface="Arial"/>
                  </a:endParaRPr>
                </a:p>
              </p:txBody>
            </p:sp>
            <p:grpSp>
              <p:nvGrpSpPr>
                <p:cNvPr id="884" name="Google Shape;884;p26"/>
                <p:cNvGrpSpPr/>
                <p:nvPr/>
              </p:nvGrpSpPr>
              <p:grpSpPr>
                <a:xfrm>
                  <a:off x="6998083" y="3693408"/>
                  <a:ext cx="965821" cy="192360"/>
                  <a:chOff x="6778272" y="3845808"/>
                  <a:chExt cx="965821" cy="192360"/>
                </a:xfrm>
              </p:grpSpPr>
              <p:sp>
                <p:nvSpPr>
                  <p:cNvPr id="885" name="Google Shape;885;p26"/>
                  <p:cNvSpPr/>
                  <p:nvPr/>
                </p:nvSpPr>
                <p:spPr>
                  <a:xfrm>
                    <a:off x="6807356" y="3894379"/>
                    <a:ext cx="850744" cy="90882"/>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6" name="Google Shape;886;p26"/>
                  <p:cNvSpPr txBox="1"/>
                  <p:nvPr/>
                </p:nvSpPr>
                <p:spPr>
                  <a:xfrm>
                    <a:off x="6778272" y="3845808"/>
                    <a:ext cx="965821" cy="1923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SVR (kernel=‘linear’)</a:t>
                    </a:r>
                    <a:endParaRPr sz="650" b="0" i="0" u="none" strike="noStrike" cap="none">
                      <a:solidFill>
                        <a:srgbClr val="353F3A"/>
                      </a:solidFill>
                      <a:latin typeface="Arial"/>
                      <a:ea typeface="Arial"/>
                      <a:cs typeface="Arial"/>
                      <a:sym typeface="Arial"/>
                    </a:endParaRPr>
                  </a:p>
                </p:txBody>
              </p:sp>
            </p:grpSp>
            <p:grpSp>
              <p:nvGrpSpPr>
                <p:cNvPr id="887" name="Google Shape;887;p26"/>
                <p:cNvGrpSpPr/>
                <p:nvPr/>
              </p:nvGrpSpPr>
              <p:grpSpPr>
                <a:xfrm>
                  <a:off x="6992011" y="3989060"/>
                  <a:ext cx="965821" cy="192360"/>
                  <a:chOff x="6778272" y="3845808"/>
                  <a:chExt cx="965821" cy="192360"/>
                </a:xfrm>
              </p:grpSpPr>
              <p:sp>
                <p:nvSpPr>
                  <p:cNvPr id="888" name="Google Shape;888;p26"/>
                  <p:cNvSpPr/>
                  <p:nvPr/>
                </p:nvSpPr>
                <p:spPr>
                  <a:xfrm>
                    <a:off x="6807356" y="3894379"/>
                    <a:ext cx="850744" cy="90882"/>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9" name="Google Shape;889;p26"/>
                  <p:cNvSpPr txBox="1"/>
                  <p:nvPr/>
                </p:nvSpPr>
                <p:spPr>
                  <a:xfrm>
                    <a:off x="6778272" y="3845808"/>
                    <a:ext cx="965821" cy="1923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SVR (kernel=‘rbf’)</a:t>
                    </a:r>
                    <a:endParaRPr sz="650" b="0" i="0" u="none" strike="noStrike" cap="none">
                      <a:solidFill>
                        <a:srgbClr val="353F3A"/>
                      </a:solidFill>
                      <a:latin typeface="Arial"/>
                      <a:ea typeface="Arial"/>
                      <a:cs typeface="Arial"/>
                      <a:sym typeface="Arial"/>
                    </a:endParaRPr>
                  </a:p>
                </p:txBody>
              </p:sp>
            </p:grpSp>
          </p:grpSp>
          <p:grpSp>
            <p:nvGrpSpPr>
              <p:cNvPr id="890" name="Google Shape;890;p26"/>
              <p:cNvGrpSpPr/>
              <p:nvPr/>
            </p:nvGrpSpPr>
            <p:grpSpPr>
              <a:xfrm>
                <a:off x="4222624" y="3655040"/>
                <a:ext cx="749797" cy="215444"/>
                <a:chOff x="4156116" y="3675754"/>
                <a:chExt cx="749797" cy="215444"/>
              </a:xfrm>
            </p:grpSpPr>
            <p:sp>
              <p:nvSpPr>
                <p:cNvPr id="891" name="Google Shape;891;p26"/>
                <p:cNvSpPr/>
                <p:nvPr/>
              </p:nvSpPr>
              <p:spPr>
                <a:xfrm>
                  <a:off x="4269050" y="3731655"/>
                  <a:ext cx="518382" cy="84060"/>
                </a:xfrm>
                <a:prstGeom prst="rect">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sp>
              <p:nvSpPr>
                <p:cNvPr id="892" name="Google Shape;892;p26"/>
                <p:cNvSpPr txBox="1"/>
                <p:nvPr/>
              </p:nvSpPr>
              <p:spPr>
                <a:xfrm>
                  <a:off x="4156116" y="3675754"/>
                  <a:ext cx="749797"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50"/>
                    <a:buFont typeface="Arial"/>
                    <a:buNone/>
                  </a:pPr>
                  <a:r>
                    <a:rPr lang="en-US" sz="750" b="0" i="0" u="none" strike="noStrike" cap="none">
                      <a:solidFill>
                        <a:srgbClr val="353F3A"/>
                      </a:solidFill>
                      <a:latin typeface="Arial"/>
                      <a:ea typeface="Arial"/>
                      <a:cs typeface="Arial"/>
                      <a:sym typeface="Arial"/>
                    </a:rPr>
                    <a:t>labeled data</a:t>
                  </a:r>
                  <a:endParaRPr sz="750" b="0" i="0" u="none" strike="noStrike" cap="none">
                    <a:solidFill>
                      <a:srgbClr val="353F3A"/>
                    </a:solidFill>
                    <a:latin typeface="Arial"/>
                    <a:ea typeface="Arial"/>
                    <a:cs typeface="Arial"/>
                    <a:sym typeface="Arial"/>
                  </a:endParaRPr>
                </a:p>
              </p:txBody>
            </p:sp>
          </p:grpSp>
          <p:grpSp>
            <p:nvGrpSpPr>
              <p:cNvPr id="893" name="Google Shape;893;p26"/>
              <p:cNvGrpSpPr/>
              <p:nvPr/>
            </p:nvGrpSpPr>
            <p:grpSpPr>
              <a:xfrm>
                <a:off x="2847974" y="4990597"/>
                <a:ext cx="958215" cy="292388"/>
                <a:chOff x="3999505" y="4012422"/>
                <a:chExt cx="958215" cy="292388"/>
              </a:xfrm>
            </p:grpSpPr>
            <p:sp>
              <p:nvSpPr>
                <p:cNvPr id="894" name="Google Shape;894;p26"/>
                <p:cNvSpPr/>
                <p:nvPr/>
              </p:nvSpPr>
              <p:spPr>
                <a:xfrm>
                  <a:off x="3999505" y="4049120"/>
                  <a:ext cx="958215" cy="230505"/>
                </a:xfrm>
                <a:prstGeom prst="ellipse">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5" name="Google Shape;895;p26"/>
                <p:cNvSpPr txBox="1"/>
                <p:nvPr/>
              </p:nvSpPr>
              <p:spPr>
                <a:xfrm>
                  <a:off x="4017369" y="4012422"/>
                  <a:ext cx="936104" cy="2923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number of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50"/>
                    <a:buFont typeface="Arial"/>
                    <a:buNone/>
                  </a:pPr>
                  <a:r>
                    <a:rPr lang="en-US" sz="650" b="0" i="0" u="none" strike="noStrike" cap="none">
                      <a:solidFill>
                        <a:srgbClr val="353F3A"/>
                      </a:solidFill>
                      <a:latin typeface="Arial"/>
                      <a:ea typeface="Arial"/>
                      <a:cs typeface="Arial"/>
                      <a:sym typeface="Arial"/>
                    </a:rPr>
                    <a:t>categories known</a:t>
                  </a:r>
                  <a:endParaRPr sz="650" b="0" i="0" u="none" strike="noStrike" cap="none">
                    <a:solidFill>
                      <a:srgbClr val="353F3A"/>
                    </a:solidFill>
                    <a:latin typeface="Arial"/>
                    <a:ea typeface="Arial"/>
                    <a:cs typeface="Arial"/>
                    <a:sym typeface="Arial"/>
                  </a:endParaRPr>
                </a:p>
              </p:txBody>
            </p:sp>
          </p:grpSp>
        </p:grpSp>
        <p:grpSp>
          <p:nvGrpSpPr>
            <p:cNvPr id="896" name="Google Shape;896;p26"/>
            <p:cNvGrpSpPr/>
            <p:nvPr/>
          </p:nvGrpSpPr>
          <p:grpSpPr>
            <a:xfrm>
              <a:off x="1180197" y="3573682"/>
              <a:ext cx="749797" cy="307777"/>
              <a:chOff x="1962165" y="3790190"/>
              <a:chExt cx="749797" cy="307777"/>
            </a:xfrm>
          </p:grpSpPr>
          <p:sp>
            <p:nvSpPr>
              <p:cNvPr id="897" name="Google Shape;897;p26"/>
              <p:cNvSpPr/>
              <p:nvPr/>
            </p:nvSpPr>
            <p:spPr>
              <a:xfrm>
                <a:off x="2135505" y="3854386"/>
                <a:ext cx="411875" cy="194982"/>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8" name="Google Shape;898;p26"/>
              <p:cNvSpPr txBox="1"/>
              <p:nvPr/>
            </p:nvSpPr>
            <p:spPr>
              <a:xfrm>
                <a:off x="1962165" y="3790190"/>
                <a:ext cx="749797"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353F3A"/>
                    </a:solidFill>
                    <a:latin typeface="Arial"/>
                    <a:ea typeface="Arial"/>
                    <a:cs typeface="Arial"/>
                    <a:sym typeface="Arial"/>
                  </a:rPr>
                  <a:t>Ensemble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353F3A"/>
                    </a:solidFill>
                    <a:latin typeface="Arial"/>
                    <a:ea typeface="Arial"/>
                    <a:cs typeface="Arial"/>
                    <a:sym typeface="Arial"/>
                  </a:rPr>
                  <a:t>Classifiers</a:t>
                </a:r>
                <a:endParaRPr sz="700" b="0" i="0" u="none" strike="noStrike" cap="none">
                  <a:solidFill>
                    <a:srgbClr val="353F3A"/>
                  </a:solidFill>
                  <a:latin typeface="Arial"/>
                  <a:ea typeface="Arial"/>
                  <a:cs typeface="Arial"/>
                  <a:sym typeface="Arial"/>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graphicFrame>
        <p:nvGraphicFramePr>
          <p:cNvPr id="907" name="Google Shape;907;p27"/>
          <p:cNvGraphicFramePr/>
          <p:nvPr/>
        </p:nvGraphicFramePr>
        <p:xfrm>
          <a:off x="558924" y="1806622"/>
          <a:ext cx="8630850" cy="3206500"/>
        </p:xfrm>
        <a:graphic>
          <a:graphicData uri="http://schemas.openxmlformats.org/drawingml/2006/table">
            <a:tbl>
              <a:tblPr firstRow="1" bandRow="1">
                <a:noFill/>
              </a:tblPr>
              <a:tblGrid>
                <a:gridCol w="4315425">
                  <a:extLst>
                    <a:ext uri="{9D8B030D-6E8A-4147-A177-3AD203B41FA5}">
                      <a16:colId xmlns:a16="http://schemas.microsoft.com/office/drawing/2014/main" val="20000"/>
                    </a:ext>
                  </a:extLst>
                </a:gridCol>
                <a:gridCol w="4315425">
                  <a:extLst>
                    <a:ext uri="{9D8B030D-6E8A-4147-A177-3AD203B41FA5}">
                      <a16:colId xmlns:a16="http://schemas.microsoft.com/office/drawing/2014/main" val="20001"/>
                    </a:ext>
                  </a:extLst>
                </a:gridCol>
              </a:tblGrid>
              <a:tr h="2856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solidFill>
                            <a:schemeClr val="dk1"/>
                          </a:solidFill>
                          <a:latin typeface="Arial"/>
                          <a:ea typeface="Arial"/>
                          <a:cs typeface="Arial"/>
                          <a:sym typeface="Arial"/>
                        </a:rPr>
                        <a:t>Loại</a:t>
                      </a:r>
                      <a:endParaRPr sz="1300" b="1" u="none" strike="noStrike" cap="none">
                        <a:solidFill>
                          <a:schemeClr val="dk1"/>
                        </a:solidFill>
                        <a:latin typeface="Arial"/>
                        <a:ea typeface="Arial"/>
                        <a:cs typeface="Arial"/>
                        <a:sym typeface="Arial"/>
                      </a:endParaRPr>
                    </a:p>
                  </a:txBody>
                  <a:tcPr marL="72000" marR="7200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solidFill>
                            <a:schemeClr val="dk1"/>
                          </a:solidFill>
                          <a:latin typeface="Arial"/>
                          <a:ea typeface="Arial"/>
                          <a:cs typeface="Arial"/>
                          <a:sym typeface="Arial"/>
                        </a:rPr>
                        <a:t>Hồi quy (Dự đoán số)</a:t>
                      </a:r>
                      <a:endParaRPr sz="1300" b="1" u="none" strike="noStrike" cap="none">
                        <a:solidFill>
                          <a:schemeClr val="dk1"/>
                        </a:solidFill>
                        <a:latin typeface="Arial"/>
                        <a:ea typeface="Arial"/>
                        <a:cs typeface="Arial"/>
                        <a:sym typeface="Arial"/>
                      </a:endParaRPr>
                    </a:p>
                  </a:txBody>
                  <a:tcPr marL="72000" marR="7200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370675">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K-Nearest Neighbors</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Hồi quy tuyến tính</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r h="696825">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Hồi quy Logistic</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Phân tích hồi quy mở rộng</a:t>
                      </a:r>
                      <a:endParaRPr sz="1200" b="0" u="none" strike="noStrike" cap="none">
                        <a:solidFill>
                          <a:srgbClr val="262626"/>
                        </a:solidFill>
                        <a:latin typeface="Arial"/>
                        <a:ea typeface="Arial"/>
                        <a:cs typeface="Arial"/>
                        <a:sym typeface="Arial"/>
                      </a:endParaRPr>
                    </a:p>
                    <a:p>
                      <a:pPr marL="0" marR="0" lvl="0" indent="0" algn="ctr" rtl="0">
                        <a:lnSpc>
                          <a:spcPct val="100000"/>
                        </a:lnSpc>
                        <a:spcBef>
                          <a:spcPts val="30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(ex: Hồi quy đa thức, Hồi quy phi tuyến tính, Hồi quy có phạt, ...)</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2"/>
                  </a:ext>
                </a:extLst>
              </a:tr>
              <a:tr h="370675">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Mạng nơ-ron nhân tạo</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Mạng nơ-ron nhân tạo</a:t>
                      </a:r>
                      <a:endParaRPr sz="1400" u="none" strike="noStrike" cap="none"/>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3"/>
                  </a:ext>
                </a:extLst>
              </a:tr>
              <a:tr h="370675">
                <a:tc>
                  <a:txBody>
                    <a:bodyPr/>
                    <a:lstStyle/>
                    <a:p>
                      <a:pPr marL="0" marR="0" lvl="0" indent="0" algn="ctr" rtl="0">
                        <a:lnSpc>
                          <a:spcPct val="100000"/>
                        </a:lnSpc>
                        <a:spcBef>
                          <a:spcPts val="0"/>
                        </a:spcBef>
                        <a:spcAft>
                          <a:spcPts val="0"/>
                        </a:spcAft>
                        <a:buClr>
                          <a:srgbClr val="262626"/>
                        </a:buClr>
                        <a:buSzPts val="1200"/>
                        <a:buFont typeface="Arial"/>
                        <a:buNone/>
                      </a:pPr>
                      <a:r>
                        <a:rPr lang="en-US" sz="1200" b="0" u="none" strike="noStrike" cap="none">
                          <a:solidFill>
                            <a:srgbClr val="262626"/>
                          </a:solidFill>
                          <a:latin typeface="Arial"/>
                          <a:ea typeface="Arial"/>
                          <a:cs typeface="Arial"/>
                          <a:sym typeface="Arial"/>
                        </a:rPr>
                        <a:t>Cây quyết định</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Cây quyết định</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4"/>
                  </a:ext>
                </a:extLst>
              </a:tr>
              <a:tr h="370675">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Máy Vectơ hỗ trợ (SVM)</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Máy Vectơ hỗ trợ (Hồi quy)</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5"/>
                  </a:ext>
                </a:extLst>
              </a:tr>
              <a:tr h="370675">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Naïve Bayes</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PLS (Bình phương tối thiểu một phần)</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6"/>
                  </a:ext>
                </a:extLst>
              </a:tr>
              <a:tr h="370675">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Phương pháp tập hợp (Rừng ngẫu nhiên, ...)</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0" u="none" strike="noStrike" cap="none">
                          <a:solidFill>
                            <a:srgbClr val="262626"/>
                          </a:solidFill>
                          <a:latin typeface="Arial"/>
                          <a:ea typeface="Arial"/>
                          <a:cs typeface="Arial"/>
                          <a:sym typeface="Arial"/>
                        </a:rPr>
                        <a:t>Phương pháp tập hợp (Rừng ngẫu nhiên, ...)</a:t>
                      </a:r>
                      <a:endParaRPr sz="1200" b="0" u="none" strike="noStrike" cap="none">
                        <a:solidFill>
                          <a:srgbClr val="262626"/>
                        </a:solidFill>
                        <a:latin typeface="Arial"/>
                        <a:ea typeface="Arial"/>
                        <a:cs typeface="Arial"/>
                        <a:sym typeface="Arial"/>
                      </a:endParaRPr>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908" name="Google Shape;908;p27"/>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Các phương pháp và thuật toán chính của Học có giám sát</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28"/>
          <p:cNvSpPr/>
          <p:nvPr/>
        </p:nvSpPr>
        <p:spPr>
          <a:xfrm>
            <a:off x="702940" y="1700808"/>
            <a:ext cx="8632825" cy="1248272"/>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1" i="0" u="none" strike="noStrike" cap="none">
                <a:solidFill>
                  <a:srgbClr val="1429A0"/>
                </a:solidFill>
                <a:latin typeface="Arial"/>
                <a:ea typeface="Arial"/>
                <a:cs typeface="Arial"/>
                <a:sym typeface="Arial"/>
              </a:rPr>
              <a:t>Tự học hoặc học không giám sát </a:t>
            </a:r>
            <a:r>
              <a:rPr lang="en-US" sz="1300" b="0" i="0" u="none" strike="noStrike" cap="none">
                <a:solidFill>
                  <a:schemeClr val="dk1"/>
                </a:solidFill>
                <a:latin typeface="Arial"/>
                <a:ea typeface="Arial"/>
                <a:cs typeface="Arial"/>
                <a:sym typeface="Arial"/>
              </a:rPr>
              <a:t>đề cập đến một hình thức học được thực hiện mà không có thông tin về các biến mục tiêu (hoặc biến phản hồi, biến phụ thuộc, biến mục tiêu và giá trị đầu ra) và chủ yếu được sử dụng cho các vấn đề như mô tả, suy luận đặc trưng và suy luận mẫu.</a:t>
            </a:r>
            <a:endParaRPr sz="1300" b="0" i="0" u="none" strike="noStrike" cap="none">
              <a:solidFill>
                <a:schemeClr val="dk1"/>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chemeClr val="dk1"/>
                </a:solidFill>
                <a:latin typeface="Arial"/>
                <a:ea typeface="Arial"/>
                <a:cs typeface="Arial"/>
                <a:sym typeface="Arial"/>
              </a:rPr>
              <a:t>Nói chung, so với học có giám sát, vốn có mục đích dự đoán rõ ràng và phân biệt, các kỹ thuật tự học có bản chất khai phá dữ liệu mạnh hơn để tìm kiếm thông tin hữu ích hoặc các mẫu mà không có thông tin trước.</a:t>
            </a:r>
            <a:endParaRPr sz="1300" b="0" i="0" u="none" strike="noStrike" cap="none">
              <a:solidFill>
                <a:schemeClr val="dk1"/>
              </a:solidFill>
              <a:latin typeface="Arial"/>
              <a:ea typeface="Arial"/>
              <a:cs typeface="Arial"/>
              <a:sym typeface="Arial"/>
            </a:endParaRPr>
          </a:p>
        </p:txBody>
      </p:sp>
      <p:sp>
        <p:nvSpPr>
          <p:cNvPr id="918" name="Google Shape;918;p28"/>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Tư học (hay Học không giám sát)</a:t>
            </a:r>
            <a:endParaRPr sz="1400" b="0" i="0" u="none" strike="noStrike" cap="none">
              <a:solidFill>
                <a:srgbClr val="000000"/>
              </a:solidFill>
              <a:latin typeface="Arial"/>
              <a:ea typeface="Arial"/>
              <a:cs typeface="Arial"/>
              <a:sym typeface="Arial"/>
            </a:endParaRPr>
          </a:p>
        </p:txBody>
      </p:sp>
      <p:grpSp>
        <p:nvGrpSpPr>
          <p:cNvPr id="919" name="Google Shape;919;p28"/>
          <p:cNvGrpSpPr/>
          <p:nvPr/>
        </p:nvGrpSpPr>
        <p:grpSpPr>
          <a:xfrm>
            <a:off x="1723179" y="3005133"/>
            <a:ext cx="6575002" cy="3280882"/>
            <a:chOff x="1723179" y="3005133"/>
            <a:chExt cx="6575002" cy="3280882"/>
          </a:xfrm>
        </p:grpSpPr>
        <p:grpSp>
          <p:nvGrpSpPr>
            <p:cNvPr id="920" name="Google Shape;920;p28"/>
            <p:cNvGrpSpPr/>
            <p:nvPr/>
          </p:nvGrpSpPr>
          <p:grpSpPr>
            <a:xfrm>
              <a:off x="1723179" y="3005133"/>
              <a:ext cx="6575002" cy="3280882"/>
              <a:chOff x="1723179" y="3005133"/>
              <a:chExt cx="6575002" cy="3280882"/>
            </a:xfrm>
          </p:grpSpPr>
          <p:grpSp>
            <p:nvGrpSpPr>
              <p:cNvPr id="921" name="Google Shape;921;p28"/>
              <p:cNvGrpSpPr/>
              <p:nvPr/>
            </p:nvGrpSpPr>
            <p:grpSpPr>
              <a:xfrm>
                <a:off x="1723179" y="3005133"/>
                <a:ext cx="6575002" cy="3280882"/>
                <a:chOff x="1723179" y="3005133"/>
                <a:chExt cx="6575002" cy="3280882"/>
              </a:xfrm>
            </p:grpSpPr>
            <p:grpSp>
              <p:nvGrpSpPr>
                <p:cNvPr id="922" name="Google Shape;922;p28"/>
                <p:cNvGrpSpPr/>
                <p:nvPr/>
              </p:nvGrpSpPr>
              <p:grpSpPr>
                <a:xfrm>
                  <a:off x="1723179" y="3005133"/>
                  <a:ext cx="6575002" cy="3280882"/>
                  <a:chOff x="1723179" y="3005133"/>
                  <a:chExt cx="6575002" cy="3280882"/>
                </a:xfrm>
              </p:grpSpPr>
              <p:pic>
                <p:nvPicPr>
                  <p:cNvPr id="923" name="Google Shape;923;p28"/>
                  <p:cNvPicPr preferRelativeResize="0"/>
                  <p:nvPr/>
                </p:nvPicPr>
                <p:blipFill rotWithShape="1">
                  <a:blip r:embed="rId3">
                    <a:alphaModFix/>
                  </a:blip>
                  <a:srcRect/>
                  <a:stretch/>
                </p:blipFill>
                <p:spPr>
                  <a:xfrm>
                    <a:off x="1846311" y="3005133"/>
                    <a:ext cx="6210203" cy="3193695"/>
                  </a:xfrm>
                  <a:prstGeom prst="rect">
                    <a:avLst/>
                  </a:prstGeom>
                  <a:noFill/>
                  <a:ln>
                    <a:noFill/>
                  </a:ln>
                </p:spPr>
              </p:pic>
              <p:sp>
                <p:nvSpPr>
                  <p:cNvPr id="924" name="Google Shape;924;p28"/>
                  <p:cNvSpPr/>
                  <p:nvPr/>
                </p:nvSpPr>
                <p:spPr>
                  <a:xfrm>
                    <a:off x="1723179" y="3614098"/>
                    <a:ext cx="6575002" cy="2671917"/>
                  </a:xfrm>
                  <a:custGeom>
                    <a:avLst/>
                    <a:gdLst/>
                    <a:ahLst/>
                    <a:cxnLst/>
                    <a:rect l="l" t="t" r="r" b="b"/>
                    <a:pathLst>
                      <a:path w="7514166" h="3521858" extrusionOk="0">
                        <a:moveTo>
                          <a:pt x="7261176" y="1620952"/>
                        </a:moveTo>
                        <a:cubicBezTo>
                          <a:pt x="6889096" y="1313548"/>
                          <a:pt x="5593266" y="1646469"/>
                          <a:pt x="5057725" y="1476587"/>
                        </a:cubicBezTo>
                        <a:cubicBezTo>
                          <a:pt x="4522184" y="1306705"/>
                          <a:pt x="4251343" y="810659"/>
                          <a:pt x="4047929" y="601658"/>
                        </a:cubicBezTo>
                        <a:cubicBezTo>
                          <a:pt x="3844515" y="392657"/>
                          <a:pt x="3741646" y="181822"/>
                          <a:pt x="3601274" y="86503"/>
                        </a:cubicBezTo>
                        <a:cubicBezTo>
                          <a:pt x="3562033" y="68943"/>
                          <a:pt x="3348113" y="-111450"/>
                          <a:pt x="2961300" y="107503"/>
                        </a:cubicBezTo>
                        <a:cubicBezTo>
                          <a:pt x="2574487" y="326456"/>
                          <a:pt x="2959081" y="1194208"/>
                          <a:pt x="2552947" y="1419659"/>
                        </a:cubicBezTo>
                        <a:cubicBezTo>
                          <a:pt x="2146813" y="1645110"/>
                          <a:pt x="940620" y="1358434"/>
                          <a:pt x="524494" y="1460211"/>
                        </a:cubicBezTo>
                        <a:cubicBezTo>
                          <a:pt x="108368" y="1561988"/>
                          <a:pt x="105696" y="1767384"/>
                          <a:pt x="56193" y="2030322"/>
                        </a:cubicBezTo>
                        <a:cubicBezTo>
                          <a:pt x="6690" y="2293260"/>
                          <a:pt x="-98182" y="3148288"/>
                          <a:pt x="227467" y="3387747"/>
                        </a:cubicBezTo>
                        <a:cubicBezTo>
                          <a:pt x="553116" y="3627206"/>
                          <a:pt x="1329747" y="3444804"/>
                          <a:pt x="2010088" y="3467079"/>
                        </a:cubicBezTo>
                        <a:cubicBezTo>
                          <a:pt x="2690429" y="3489354"/>
                          <a:pt x="3697162" y="3526414"/>
                          <a:pt x="4309514" y="3521397"/>
                        </a:cubicBezTo>
                        <a:cubicBezTo>
                          <a:pt x="4921866" y="3516380"/>
                          <a:pt x="4999608" y="3441817"/>
                          <a:pt x="5684198" y="3436979"/>
                        </a:cubicBezTo>
                        <a:cubicBezTo>
                          <a:pt x="6368788" y="3432141"/>
                          <a:pt x="7027374" y="3623685"/>
                          <a:pt x="7290204" y="3321014"/>
                        </a:cubicBezTo>
                        <a:cubicBezTo>
                          <a:pt x="7553034" y="3018343"/>
                          <a:pt x="7633256" y="1928356"/>
                          <a:pt x="7261176" y="1620952"/>
                        </a:cubicBezTo>
                        <a:close/>
                      </a:path>
                    </a:pathLst>
                  </a:custGeom>
                  <a:noFill/>
                  <a:ln w="38100" cap="flat" cmpd="sng">
                    <a:solidFill>
                      <a:srgbClr val="FF1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925" name="Google Shape;925;p28"/>
                <p:cNvSpPr/>
                <p:nvPr/>
              </p:nvSpPr>
              <p:spPr>
                <a:xfrm>
                  <a:off x="4658148" y="3361429"/>
                  <a:ext cx="52636" cy="96520"/>
                </a:xfrm>
                <a:prstGeom prst="rect">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926" name="Google Shape;926;p28"/>
                <p:cNvGrpSpPr/>
                <p:nvPr/>
              </p:nvGrpSpPr>
              <p:grpSpPr>
                <a:xfrm>
                  <a:off x="2371322" y="3645232"/>
                  <a:ext cx="749797" cy="276999"/>
                  <a:chOff x="1869191" y="3341582"/>
                  <a:chExt cx="749797" cy="276999"/>
                </a:xfrm>
              </p:grpSpPr>
              <p:sp>
                <p:nvSpPr>
                  <p:cNvPr id="927" name="Google Shape;927;p28"/>
                  <p:cNvSpPr/>
                  <p:nvPr/>
                </p:nvSpPr>
                <p:spPr>
                  <a:xfrm>
                    <a:off x="1996440" y="3398520"/>
                    <a:ext cx="497994" cy="170696"/>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8" name="Google Shape;928;p28"/>
                  <p:cNvSpPr txBox="1"/>
                  <p:nvPr/>
                </p:nvSpPr>
                <p:spPr>
                  <a:xfrm>
                    <a:off x="1869191" y="3341582"/>
                    <a:ext cx="749797"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kernel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approximation</a:t>
                    </a:r>
                    <a:endParaRPr sz="600" b="0" i="0" u="none" strike="noStrike" cap="none">
                      <a:solidFill>
                        <a:srgbClr val="353F3A"/>
                      </a:solidFill>
                      <a:latin typeface="Arial"/>
                      <a:ea typeface="Arial"/>
                      <a:cs typeface="Arial"/>
                      <a:sym typeface="Arial"/>
                    </a:endParaRPr>
                  </a:p>
                </p:txBody>
              </p:sp>
            </p:grpSp>
            <p:grpSp>
              <p:nvGrpSpPr>
                <p:cNvPr id="929" name="Google Shape;929;p28"/>
                <p:cNvGrpSpPr/>
                <p:nvPr/>
              </p:nvGrpSpPr>
              <p:grpSpPr>
                <a:xfrm>
                  <a:off x="6499393" y="4074422"/>
                  <a:ext cx="965821" cy="184666"/>
                  <a:chOff x="6735259" y="3839733"/>
                  <a:chExt cx="965821" cy="184666"/>
                </a:xfrm>
              </p:grpSpPr>
              <p:sp>
                <p:nvSpPr>
                  <p:cNvPr id="930" name="Google Shape;930;p28"/>
                  <p:cNvSpPr/>
                  <p:nvPr/>
                </p:nvSpPr>
                <p:spPr>
                  <a:xfrm>
                    <a:off x="6828311" y="3888664"/>
                    <a:ext cx="739900" cy="84792"/>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Calibri"/>
                      <a:ea typeface="Calibri"/>
                      <a:cs typeface="Calibri"/>
                      <a:sym typeface="Calibri"/>
                    </a:endParaRPr>
                  </a:p>
                </p:txBody>
              </p:sp>
              <p:sp>
                <p:nvSpPr>
                  <p:cNvPr id="931" name="Google Shape;931;p28"/>
                  <p:cNvSpPr txBox="1"/>
                  <p:nvPr/>
                </p:nvSpPr>
                <p:spPr>
                  <a:xfrm>
                    <a:off x="6735259" y="3839733"/>
                    <a:ext cx="965821" cy="1846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SVR (kernel=‘linear’)</a:t>
                    </a:r>
                    <a:endParaRPr sz="600" b="0" i="0" u="none" strike="noStrike" cap="none">
                      <a:solidFill>
                        <a:srgbClr val="353F3A"/>
                      </a:solidFill>
                      <a:latin typeface="Arial"/>
                      <a:ea typeface="Arial"/>
                      <a:cs typeface="Arial"/>
                      <a:sym typeface="Arial"/>
                    </a:endParaRPr>
                  </a:p>
                </p:txBody>
              </p:sp>
            </p:grpSp>
            <p:grpSp>
              <p:nvGrpSpPr>
                <p:cNvPr id="932" name="Google Shape;932;p28"/>
                <p:cNvGrpSpPr/>
                <p:nvPr/>
              </p:nvGrpSpPr>
              <p:grpSpPr>
                <a:xfrm>
                  <a:off x="6489094" y="4318971"/>
                  <a:ext cx="965821" cy="184666"/>
                  <a:chOff x="5910459" y="3943691"/>
                  <a:chExt cx="965821" cy="184666"/>
                </a:xfrm>
              </p:grpSpPr>
              <p:sp>
                <p:nvSpPr>
                  <p:cNvPr id="933" name="Google Shape;933;p28"/>
                  <p:cNvSpPr/>
                  <p:nvPr/>
                </p:nvSpPr>
                <p:spPr>
                  <a:xfrm>
                    <a:off x="6091076" y="3999154"/>
                    <a:ext cx="578814" cy="73741"/>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Calibri"/>
                      <a:ea typeface="Calibri"/>
                      <a:cs typeface="Calibri"/>
                      <a:sym typeface="Calibri"/>
                    </a:endParaRPr>
                  </a:p>
                </p:txBody>
              </p:sp>
              <p:sp>
                <p:nvSpPr>
                  <p:cNvPr id="934" name="Google Shape;934;p28"/>
                  <p:cNvSpPr txBox="1"/>
                  <p:nvPr/>
                </p:nvSpPr>
                <p:spPr>
                  <a:xfrm>
                    <a:off x="5910459" y="3943691"/>
                    <a:ext cx="965821" cy="1846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SVR (kernel=‘rbf’)</a:t>
                    </a:r>
                    <a:endParaRPr sz="600" b="0" i="0" u="none" strike="noStrike" cap="none">
                      <a:solidFill>
                        <a:srgbClr val="353F3A"/>
                      </a:solidFill>
                      <a:latin typeface="Arial"/>
                      <a:ea typeface="Arial"/>
                      <a:cs typeface="Arial"/>
                      <a:sym typeface="Arial"/>
                    </a:endParaRPr>
                  </a:p>
                </p:txBody>
              </p:sp>
            </p:grpSp>
          </p:grpSp>
          <p:grpSp>
            <p:nvGrpSpPr>
              <p:cNvPr id="935" name="Google Shape;935;p28"/>
              <p:cNvGrpSpPr/>
              <p:nvPr/>
            </p:nvGrpSpPr>
            <p:grpSpPr>
              <a:xfrm>
                <a:off x="4244667" y="4052271"/>
                <a:ext cx="749797" cy="184666"/>
                <a:chOff x="4090362" y="3817956"/>
                <a:chExt cx="749797" cy="184666"/>
              </a:xfrm>
            </p:grpSpPr>
            <p:sp>
              <p:nvSpPr>
                <p:cNvPr id="936" name="Google Shape;936;p28"/>
                <p:cNvSpPr/>
                <p:nvPr/>
              </p:nvSpPr>
              <p:spPr>
                <a:xfrm>
                  <a:off x="4263390" y="3872865"/>
                  <a:ext cx="417194" cy="68580"/>
                </a:xfrm>
                <a:prstGeom prst="rect">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Calibri"/>
                    <a:ea typeface="Calibri"/>
                    <a:cs typeface="Calibri"/>
                    <a:sym typeface="Calibri"/>
                  </a:endParaRPr>
                </a:p>
              </p:txBody>
            </p:sp>
            <p:sp>
              <p:nvSpPr>
                <p:cNvPr id="937" name="Google Shape;937;p28"/>
                <p:cNvSpPr txBox="1"/>
                <p:nvPr/>
              </p:nvSpPr>
              <p:spPr>
                <a:xfrm>
                  <a:off x="4090362" y="3817956"/>
                  <a:ext cx="749797" cy="1846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labeled data</a:t>
                  </a:r>
                  <a:endParaRPr sz="600" b="0" i="0" u="none" strike="noStrike" cap="none">
                    <a:solidFill>
                      <a:srgbClr val="353F3A"/>
                    </a:solidFill>
                    <a:latin typeface="Arial"/>
                    <a:ea typeface="Arial"/>
                    <a:cs typeface="Arial"/>
                    <a:sym typeface="Arial"/>
                  </a:endParaRPr>
                </a:p>
              </p:txBody>
            </p:sp>
          </p:grpSp>
          <p:grpSp>
            <p:nvGrpSpPr>
              <p:cNvPr id="938" name="Google Shape;938;p28"/>
              <p:cNvGrpSpPr/>
              <p:nvPr/>
            </p:nvGrpSpPr>
            <p:grpSpPr>
              <a:xfrm>
                <a:off x="3115235" y="5134466"/>
                <a:ext cx="936104" cy="276999"/>
                <a:chOff x="4037789" y="3772614"/>
                <a:chExt cx="936104" cy="276999"/>
              </a:xfrm>
            </p:grpSpPr>
            <p:sp>
              <p:nvSpPr>
                <p:cNvPr id="939" name="Google Shape;939;p28"/>
                <p:cNvSpPr/>
                <p:nvPr/>
              </p:nvSpPr>
              <p:spPr>
                <a:xfrm>
                  <a:off x="4138154" y="3819749"/>
                  <a:ext cx="739398" cy="198119"/>
                </a:xfrm>
                <a:prstGeom prst="ellipse">
                  <a:avLst/>
                </a:prstGeom>
                <a:solidFill>
                  <a:srgbClr val="D5E0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0" name="Google Shape;940;p28"/>
                <p:cNvSpPr txBox="1"/>
                <p:nvPr/>
              </p:nvSpPr>
              <p:spPr>
                <a:xfrm>
                  <a:off x="4037789" y="3772614"/>
                  <a:ext cx="936104"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number of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categories known</a:t>
                  </a:r>
                  <a:endParaRPr sz="600" b="0" i="0" u="none" strike="noStrike" cap="none">
                    <a:solidFill>
                      <a:srgbClr val="353F3A"/>
                    </a:solidFill>
                    <a:latin typeface="Arial"/>
                    <a:ea typeface="Arial"/>
                    <a:cs typeface="Arial"/>
                    <a:sym typeface="Arial"/>
                  </a:endParaRPr>
                </a:p>
              </p:txBody>
            </p:sp>
          </p:grpSp>
        </p:grpSp>
        <p:grpSp>
          <p:nvGrpSpPr>
            <p:cNvPr id="941" name="Google Shape;941;p28"/>
            <p:cNvGrpSpPr/>
            <p:nvPr/>
          </p:nvGrpSpPr>
          <p:grpSpPr>
            <a:xfrm>
              <a:off x="1751635" y="3984109"/>
              <a:ext cx="749797" cy="276999"/>
              <a:chOff x="2360511" y="3767519"/>
              <a:chExt cx="749797" cy="276999"/>
            </a:xfrm>
          </p:grpSpPr>
          <p:sp>
            <p:nvSpPr>
              <p:cNvPr id="942" name="Google Shape;942;p28"/>
              <p:cNvSpPr/>
              <p:nvPr/>
            </p:nvSpPr>
            <p:spPr>
              <a:xfrm>
                <a:off x="2566035" y="3810572"/>
                <a:ext cx="351701" cy="184794"/>
              </a:xfrm>
              <a:prstGeom prst="rect">
                <a:avLst/>
              </a:prstGeom>
              <a:solidFill>
                <a:srgbClr val="7FD7A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3" name="Google Shape;943;p28"/>
              <p:cNvSpPr txBox="1"/>
              <p:nvPr/>
            </p:nvSpPr>
            <p:spPr>
              <a:xfrm>
                <a:off x="2360511" y="3767519"/>
                <a:ext cx="749797"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Ensemble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353F3A"/>
                    </a:solidFill>
                    <a:latin typeface="Arial"/>
                    <a:ea typeface="Arial"/>
                    <a:cs typeface="Arial"/>
                    <a:sym typeface="Arial"/>
                  </a:rPr>
                  <a:t>Classifiers</a:t>
                </a:r>
                <a:endParaRPr sz="600" b="0" i="0" u="none" strike="noStrike" cap="none">
                  <a:solidFill>
                    <a:srgbClr val="353F3A"/>
                  </a:solidFill>
                  <a:latin typeface="Arial"/>
                  <a:ea typeface="Arial"/>
                  <a:cs typeface="Arial"/>
                  <a:sym typeface="Arial"/>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29"/>
          <p:cNvSpPr/>
          <p:nvPr/>
        </p:nvSpPr>
        <p:spPr>
          <a:xfrm>
            <a:off x="702940" y="1700808"/>
            <a:ext cx="8632825" cy="848163"/>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không giám sát: Không có nhãn trong dữ liệu huấn luyện, vì vậy hệ thống phải học mà không cần bất kỳ sự trợ giúp nào.</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Các thuật toán học không giám sát quan trọng</a:t>
            </a:r>
            <a:endParaRPr sz="1300" b="0" i="0" u="none" strike="noStrike" cap="none">
              <a:solidFill>
                <a:srgbClr val="262626"/>
              </a:solidFill>
              <a:latin typeface="Arial"/>
              <a:ea typeface="Arial"/>
              <a:cs typeface="Arial"/>
              <a:sym typeface="Arial"/>
            </a:endParaRPr>
          </a:p>
        </p:txBody>
      </p:sp>
      <p:sp>
        <p:nvSpPr>
          <p:cNvPr id="953" name="Google Shape;953;p29"/>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không giám sát</a:t>
            </a:r>
            <a:endParaRPr sz="1400" b="0" i="0" u="none" strike="noStrike" cap="none">
              <a:solidFill>
                <a:schemeClr val="dk1"/>
              </a:solidFill>
              <a:latin typeface="Arial"/>
              <a:ea typeface="Arial"/>
              <a:cs typeface="Arial"/>
              <a:sym typeface="Arial"/>
            </a:endParaRPr>
          </a:p>
        </p:txBody>
      </p:sp>
      <p:graphicFrame>
        <p:nvGraphicFramePr>
          <p:cNvPr id="954" name="Google Shape;954;p29"/>
          <p:cNvGraphicFramePr/>
          <p:nvPr/>
        </p:nvGraphicFramePr>
        <p:xfrm>
          <a:off x="702940" y="2605590"/>
          <a:ext cx="8630850" cy="2844350"/>
        </p:xfrm>
        <a:graphic>
          <a:graphicData uri="http://schemas.openxmlformats.org/drawingml/2006/table">
            <a:tbl>
              <a:tblPr firstRow="1" bandRow="1">
                <a:noFill/>
              </a:tblPr>
              <a:tblGrid>
                <a:gridCol w="2876950">
                  <a:extLst>
                    <a:ext uri="{9D8B030D-6E8A-4147-A177-3AD203B41FA5}">
                      <a16:colId xmlns:a16="http://schemas.microsoft.com/office/drawing/2014/main" val="20000"/>
                    </a:ext>
                  </a:extLst>
                </a:gridCol>
                <a:gridCol w="2876950">
                  <a:extLst>
                    <a:ext uri="{9D8B030D-6E8A-4147-A177-3AD203B41FA5}">
                      <a16:colId xmlns:a16="http://schemas.microsoft.com/office/drawing/2014/main" val="20001"/>
                    </a:ext>
                  </a:extLst>
                </a:gridCol>
                <a:gridCol w="2876950">
                  <a:extLst>
                    <a:ext uri="{9D8B030D-6E8A-4147-A177-3AD203B41FA5}">
                      <a16:colId xmlns:a16="http://schemas.microsoft.com/office/drawing/2014/main" val="20002"/>
                    </a:ext>
                  </a:extLst>
                </a:gridCol>
              </a:tblGrid>
              <a:tr h="59142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262626"/>
                          </a:solidFill>
                          <a:latin typeface="Arial"/>
                          <a:ea typeface="Arial"/>
                          <a:cs typeface="Arial"/>
                          <a:sym typeface="Arial"/>
                        </a:rPr>
                        <a:t>Phân nhóm</a:t>
                      </a:r>
                      <a:endParaRPr sz="1400" b="1" u="none" strike="noStrike" cap="none">
                        <a:solidFill>
                          <a:srgbClr val="262626"/>
                        </a:solidFill>
                        <a:latin typeface="Arial"/>
                        <a:ea typeface="Arial"/>
                        <a:cs typeface="Arial"/>
                        <a:sym typeface="Arial"/>
                      </a:endParaRPr>
                    </a:p>
                  </a:txBody>
                  <a:tcPr marL="72000" marR="72000" marT="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262626"/>
                          </a:solidFill>
                          <a:latin typeface="Arial"/>
                          <a:ea typeface="Arial"/>
                          <a:cs typeface="Arial"/>
                          <a:sym typeface="Arial"/>
                        </a:rPr>
                        <a:t>Trực quan hóa và Giảm kích thước</a:t>
                      </a:r>
                      <a:endParaRPr sz="1400" b="1" u="none" strike="noStrike" cap="none">
                        <a:solidFill>
                          <a:srgbClr val="262626"/>
                        </a:solidFill>
                        <a:latin typeface="Arial"/>
                        <a:ea typeface="Arial"/>
                        <a:cs typeface="Arial"/>
                        <a:sym typeface="Arial"/>
                      </a:endParaRPr>
                    </a:p>
                  </a:txBody>
                  <a:tcPr marL="72000" marR="72000" marT="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solidFill>
                            <a:srgbClr val="262626"/>
                          </a:solidFill>
                          <a:latin typeface="Arial"/>
                          <a:ea typeface="Arial"/>
                          <a:cs typeface="Arial"/>
                          <a:sym typeface="Arial"/>
                        </a:rPr>
                        <a:t>Học luật kết hợp</a:t>
                      </a:r>
                      <a:endParaRPr sz="1400" b="1" u="none" strike="noStrike" cap="none">
                        <a:solidFill>
                          <a:srgbClr val="262626"/>
                        </a:solidFill>
                        <a:latin typeface="Arial"/>
                        <a:ea typeface="Arial"/>
                        <a:cs typeface="Arial"/>
                        <a:sym typeface="Arial"/>
                      </a:endParaRPr>
                    </a:p>
                  </a:txBody>
                  <a:tcPr marL="72000" marR="72000" marT="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193EB0"/>
                      </a:solidFill>
                      <a:prstDash val="solid"/>
                      <a:round/>
                      <a:headEnd type="none" w="sm" len="sm"/>
                      <a:tailEnd type="none" w="sm" len="sm"/>
                    </a:lnT>
                    <a:lnB w="9525" cap="flat" cmpd="sng">
                      <a:solidFill>
                        <a:srgbClr val="BFBFBF"/>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2252925">
                <a:tc>
                  <a:txBody>
                    <a:bodyPr/>
                    <a:lstStyle/>
                    <a:p>
                      <a:pPr marL="361950" marR="0" lvl="1" indent="-180975" algn="l" rtl="0">
                        <a:lnSpc>
                          <a:spcPct val="100000"/>
                        </a:lnSpc>
                        <a:spcBef>
                          <a:spcPts val="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K-Means</a:t>
                      </a:r>
                      <a:endParaRPr sz="1400" u="none" strike="noStrike" cap="none"/>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DBSCAN</a:t>
                      </a:r>
                      <a:endParaRPr sz="1400" u="none" strike="noStrike" cap="none"/>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Phân tích phân cụm theo cấp bậc (HCA)</a:t>
                      </a:r>
                      <a:endParaRPr sz="1400" u="none" strike="noStrike" cap="none"/>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Phát hiện bất thường và phát hiện ngoại lệ</a:t>
                      </a:r>
                      <a:endParaRPr sz="1300" u="none" strike="noStrike" cap="none">
                        <a:solidFill>
                          <a:srgbClr val="262626"/>
                        </a:solidFill>
                        <a:latin typeface="Arial"/>
                        <a:ea typeface="Arial"/>
                        <a:cs typeface="Arial"/>
                        <a:sym typeface="Arial"/>
                      </a:endParaRPr>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One-Class SVM</a:t>
                      </a:r>
                      <a:endParaRPr sz="1400" u="none" strike="noStrike" cap="none"/>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Isolation Forest</a:t>
                      </a:r>
                      <a:endParaRPr sz="1400" u="none" strike="noStrike" cap="none"/>
                    </a:p>
                  </a:txBody>
                  <a:tcPr marL="63500" marR="63500" marT="12700" marB="1270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361950" marR="0" lvl="1" indent="-180975" algn="l" rtl="0">
                        <a:lnSpc>
                          <a:spcPct val="100000"/>
                        </a:lnSpc>
                        <a:spcBef>
                          <a:spcPts val="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Phân tích thành phần chính (PCA)</a:t>
                      </a:r>
                      <a:endParaRPr sz="1400" u="none" strike="noStrike" cap="none"/>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Kernel PCA</a:t>
                      </a:r>
                      <a:endParaRPr sz="1400" u="none" strike="noStrike" cap="none"/>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Nhúng tuyến tính cục bộ</a:t>
                      </a:r>
                      <a:endParaRPr sz="1300" u="none" strike="noStrike" cap="none">
                        <a:solidFill>
                          <a:srgbClr val="262626"/>
                        </a:solidFill>
                        <a:latin typeface="Arial"/>
                        <a:ea typeface="Arial"/>
                        <a:cs typeface="Arial"/>
                        <a:sym typeface="Arial"/>
                      </a:endParaRPr>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t-SNE</a:t>
                      </a:r>
                      <a:endParaRPr sz="1400" u="none" strike="noStrike" cap="none"/>
                    </a:p>
                  </a:txBody>
                  <a:tcPr marL="63500" marR="63500" marT="12700" marB="1270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361950" marR="0" lvl="1" indent="-180975" algn="l" rtl="0">
                        <a:lnSpc>
                          <a:spcPct val="100000"/>
                        </a:lnSpc>
                        <a:spcBef>
                          <a:spcPts val="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Apriori</a:t>
                      </a:r>
                      <a:endParaRPr sz="1300" u="none" strike="noStrike" cap="none">
                        <a:solidFill>
                          <a:srgbClr val="262626"/>
                        </a:solidFill>
                        <a:latin typeface="Arial"/>
                        <a:ea typeface="Arial"/>
                        <a:cs typeface="Arial"/>
                        <a:sym typeface="Arial"/>
                      </a:endParaRPr>
                    </a:p>
                    <a:p>
                      <a:pPr marL="361950" marR="0" lvl="1" indent="-180975" algn="l" rtl="0">
                        <a:lnSpc>
                          <a:spcPct val="100000"/>
                        </a:lnSpc>
                        <a:spcBef>
                          <a:spcPts val="600"/>
                        </a:spcBef>
                        <a:spcAft>
                          <a:spcPts val="0"/>
                        </a:spcAft>
                        <a:buClr>
                          <a:srgbClr val="193EB0"/>
                        </a:buClr>
                        <a:buSzPts val="1300"/>
                        <a:buFont typeface="Arial"/>
                        <a:buChar char="•"/>
                      </a:pPr>
                      <a:r>
                        <a:rPr lang="en-US" sz="1300" u="none" strike="noStrike" cap="none">
                          <a:solidFill>
                            <a:srgbClr val="262626"/>
                          </a:solidFill>
                          <a:latin typeface="Arial"/>
                          <a:ea typeface="Arial"/>
                          <a:cs typeface="Arial"/>
                          <a:sym typeface="Arial"/>
                        </a:rPr>
                        <a:t>Eclat</a:t>
                      </a:r>
                      <a:endParaRPr sz="1400" u="none" strike="noStrike" cap="none"/>
                    </a:p>
                  </a:txBody>
                  <a:tcPr marL="63500" marR="63500" marT="12700" marB="1270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30"/>
          <p:cNvSpPr/>
          <p:nvPr/>
        </p:nvSpPr>
        <p:spPr>
          <a:xfrm>
            <a:off x="702940" y="1700808"/>
            <a:ext cx="8632825" cy="745571"/>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Các kỹ thuật chính của tự học, hoặc học không giám sát, bao gồm phân cụm, giảm kích thước, phân tích tương quan và mạng thần kinh nhân tạo tự học (SOM, v.v.). Chúng có thể được sử dụng cho các mục đích khác nhau, ví dụ, áp dụng chúng trong học sâu để giảm chiều của các đặc trưng đầu vào.</a:t>
            </a:r>
            <a:endParaRPr sz="1300" b="0" i="0" u="none" strike="noStrike" cap="none">
              <a:solidFill>
                <a:srgbClr val="262626"/>
              </a:solidFill>
              <a:latin typeface="Arial"/>
              <a:ea typeface="Arial"/>
              <a:cs typeface="Arial"/>
              <a:sym typeface="Arial"/>
            </a:endParaRPr>
          </a:p>
        </p:txBody>
      </p:sp>
      <p:sp>
        <p:nvSpPr>
          <p:cNvPr id="964" name="Google Shape;964;p30"/>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Tư học (hay Học không giám sát)</a:t>
            </a:r>
            <a:endParaRPr sz="1400" b="0" i="0" u="none" strike="noStrike" cap="none">
              <a:solidFill>
                <a:srgbClr val="000000"/>
              </a:solidFill>
              <a:latin typeface="Arial"/>
              <a:ea typeface="Arial"/>
              <a:cs typeface="Arial"/>
              <a:sym typeface="Arial"/>
            </a:endParaRPr>
          </a:p>
        </p:txBody>
      </p:sp>
      <p:grpSp>
        <p:nvGrpSpPr>
          <p:cNvPr id="965" name="Google Shape;965;p30"/>
          <p:cNvGrpSpPr/>
          <p:nvPr/>
        </p:nvGrpSpPr>
        <p:grpSpPr>
          <a:xfrm>
            <a:off x="1613347" y="2335442"/>
            <a:ext cx="6759128" cy="3880449"/>
            <a:chOff x="1680022" y="2411642"/>
            <a:chExt cx="6759128" cy="3880449"/>
          </a:xfrm>
        </p:grpSpPr>
        <p:sp>
          <p:nvSpPr>
            <p:cNvPr id="966" name="Google Shape;966;p30"/>
            <p:cNvSpPr/>
            <p:nvPr/>
          </p:nvSpPr>
          <p:spPr>
            <a:xfrm>
              <a:off x="1680022" y="2505075"/>
              <a:ext cx="6759128" cy="378701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67" name="Google Shape;967;p30"/>
            <p:cNvPicPr preferRelativeResize="0"/>
            <p:nvPr/>
          </p:nvPicPr>
          <p:blipFill rotWithShape="1">
            <a:blip r:embed="rId3">
              <a:alphaModFix/>
            </a:blip>
            <a:srcRect/>
            <a:stretch/>
          </p:blipFill>
          <p:spPr>
            <a:xfrm>
              <a:off x="1854653" y="2411642"/>
              <a:ext cx="6198637" cy="3880449"/>
            </a:xfrm>
            <a:prstGeom prst="rect">
              <a:avLst/>
            </a:prstGeom>
            <a:noFill/>
            <a:ln>
              <a:noFill/>
            </a:ln>
          </p:spPr>
        </p:pic>
        <p:sp>
          <p:nvSpPr>
            <p:cNvPr id="968" name="Google Shape;968;p30"/>
            <p:cNvSpPr txBox="1"/>
            <p:nvPr/>
          </p:nvSpPr>
          <p:spPr>
            <a:xfrm>
              <a:off x="6607595" y="2474530"/>
              <a:ext cx="649585" cy="615553"/>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Dự đoán dữ liệu dạng chuỗi thời gian</a:t>
              </a:r>
              <a:endParaRPr sz="1000" b="1" i="0" u="none" strike="noStrike" cap="none">
                <a:solidFill>
                  <a:schemeClr val="lt1"/>
                </a:solidFill>
                <a:latin typeface="Arial"/>
                <a:ea typeface="Arial"/>
                <a:cs typeface="Arial"/>
                <a:sym typeface="Arial"/>
              </a:endParaRPr>
            </a:p>
          </p:txBody>
        </p:sp>
        <p:sp>
          <p:nvSpPr>
            <p:cNvPr id="969" name="Google Shape;969;p30"/>
            <p:cNvSpPr txBox="1"/>
            <p:nvPr/>
          </p:nvSpPr>
          <p:spPr>
            <a:xfrm>
              <a:off x="5743500" y="3399094"/>
              <a:ext cx="576064" cy="615553"/>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Mô hình dạng chuỗi thời gian</a:t>
              </a:r>
              <a:endParaRPr sz="1000" b="1" i="0" u="none" strike="noStrike" cap="none">
                <a:solidFill>
                  <a:schemeClr val="lt1"/>
                </a:solidFill>
                <a:latin typeface="Arial"/>
                <a:ea typeface="Arial"/>
                <a:cs typeface="Arial"/>
                <a:sym typeface="Arial"/>
              </a:endParaRPr>
            </a:p>
          </p:txBody>
        </p:sp>
        <p:sp>
          <p:nvSpPr>
            <p:cNvPr id="970" name="Google Shape;970;p30"/>
            <p:cNvSpPr txBox="1"/>
            <p:nvPr/>
          </p:nvSpPr>
          <p:spPr>
            <a:xfrm>
              <a:off x="6789511" y="3556271"/>
              <a:ext cx="576064" cy="307777"/>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Chuỗi Markov</a:t>
              </a:r>
              <a:endParaRPr sz="1000" b="1" i="0" u="none" strike="noStrike" cap="none">
                <a:solidFill>
                  <a:schemeClr val="lt1"/>
                </a:solidFill>
                <a:latin typeface="Arial"/>
                <a:ea typeface="Arial"/>
                <a:cs typeface="Arial"/>
                <a:sym typeface="Arial"/>
              </a:endParaRPr>
            </a:p>
          </p:txBody>
        </p:sp>
        <p:sp>
          <p:nvSpPr>
            <p:cNvPr id="971" name="Google Shape;971;p30"/>
            <p:cNvSpPr txBox="1"/>
            <p:nvPr/>
          </p:nvSpPr>
          <p:spPr>
            <a:xfrm>
              <a:off x="7610375" y="3361764"/>
              <a:ext cx="478949" cy="2154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AR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liên tục</a:t>
              </a:r>
              <a:endParaRPr sz="700" b="1" i="0" u="none" strike="noStrike" cap="none">
                <a:solidFill>
                  <a:schemeClr val="lt1"/>
                </a:solidFill>
                <a:latin typeface="Arial"/>
                <a:ea typeface="Arial"/>
                <a:cs typeface="Arial"/>
                <a:sym typeface="Arial"/>
              </a:endParaRPr>
            </a:p>
          </p:txBody>
        </p:sp>
        <p:sp>
          <p:nvSpPr>
            <p:cNvPr id="972" name="Google Shape;972;p30"/>
            <p:cNvSpPr txBox="1"/>
            <p:nvPr/>
          </p:nvSpPr>
          <p:spPr>
            <a:xfrm>
              <a:off x="7585969" y="3851683"/>
              <a:ext cx="478948" cy="2154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CRF vô hướng</a:t>
              </a:r>
              <a:endParaRPr sz="700" b="1" i="0" u="none" strike="noStrike" cap="none">
                <a:solidFill>
                  <a:schemeClr val="lt1"/>
                </a:solidFill>
                <a:latin typeface="Arial"/>
                <a:ea typeface="Arial"/>
                <a:cs typeface="Arial"/>
                <a:sym typeface="Arial"/>
              </a:endParaRPr>
            </a:p>
          </p:txBody>
        </p:sp>
        <p:sp>
          <p:nvSpPr>
            <p:cNvPr id="973" name="Google Shape;973;p30"/>
            <p:cNvSpPr txBox="1"/>
            <p:nvPr/>
          </p:nvSpPr>
          <p:spPr>
            <a:xfrm>
              <a:off x="4288759" y="3541056"/>
              <a:ext cx="984794" cy="3693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Arial"/>
                  <a:ea typeface="Arial"/>
                  <a:cs typeface="Arial"/>
                  <a:sym typeface="Arial"/>
                </a:rPr>
                <a:t>Học không giám sát</a:t>
              </a:r>
              <a:endParaRPr sz="1200" b="1" i="0" u="none" strike="noStrike" cap="none">
                <a:solidFill>
                  <a:schemeClr val="lt1"/>
                </a:solidFill>
                <a:latin typeface="Arial"/>
                <a:ea typeface="Arial"/>
                <a:cs typeface="Arial"/>
                <a:sym typeface="Arial"/>
              </a:endParaRPr>
            </a:p>
          </p:txBody>
        </p:sp>
        <p:sp>
          <p:nvSpPr>
            <p:cNvPr id="974" name="Google Shape;974;p30"/>
            <p:cNvSpPr txBox="1"/>
            <p:nvPr/>
          </p:nvSpPr>
          <p:spPr>
            <a:xfrm>
              <a:off x="3505901" y="2639775"/>
              <a:ext cx="600098" cy="50783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Phát hiện bất thường</a:t>
              </a:r>
              <a:endParaRPr sz="1100" b="1" i="0" u="none" strike="noStrike" cap="none">
                <a:solidFill>
                  <a:schemeClr val="lt1"/>
                </a:solidFill>
                <a:latin typeface="Arial"/>
                <a:ea typeface="Arial"/>
                <a:cs typeface="Arial"/>
                <a:sym typeface="Arial"/>
              </a:endParaRPr>
            </a:p>
          </p:txBody>
        </p:sp>
        <p:sp>
          <p:nvSpPr>
            <p:cNvPr id="975" name="Google Shape;975;p30"/>
            <p:cNvSpPr txBox="1"/>
            <p:nvPr/>
          </p:nvSpPr>
          <p:spPr>
            <a:xfrm>
              <a:off x="3247603" y="3887211"/>
              <a:ext cx="685594" cy="50783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Mô hình biến tiềm ẩn</a:t>
              </a:r>
              <a:endParaRPr sz="1100" b="1" i="0" u="none" strike="noStrike" cap="none">
                <a:solidFill>
                  <a:schemeClr val="lt1"/>
                </a:solidFill>
                <a:latin typeface="Arial"/>
                <a:ea typeface="Arial"/>
                <a:cs typeface="Arial"/>
                <a:sym typeface="Arial"/>
              </a:endParaRPr>
            </a:p>
          </p:txBody>
        </p:sp>
        <p:sp>
          <p:nvSpPr>
            <p:cNvPr id="976" name="Google Shape;976;p30"/>
            <p:cNvSpPr/>
            <p:nvPr/>
          </p:nvSpPr>
          <p:spPr>
            <a:xfrm>
              <a:off x="3073747" y="3605060"/>
              <a:ext cx="1032252" cy="1032252"/>
            </a:xfrm>
            <a:prstGeom prst="ellipse">
              <a:avLst/>
            </a:prstGeom>
            <a:solidFill>
              <a:schemeClr val="accent2">
                <a:alpha val="23529"/>
              </a:schemeClr>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7" name="Google Shape;977;p30"/>
            <p:cNvSpPr txBox="1"/>
            <p:nvPr/>
          </p:nvSpPr>
          <p:spPr>
            <a:xfrm>
              <a:off x="5284107" y="4471942"/>
              <a:ext cx="760933" cy="33855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lt1"/>
                  </a:solidFill>
                  <a:latin typeface="Arial"/>
                  <a:ea typeface="Arial"/>
                  <a:cs typeface="Arial"/>
                  <a:sym typeface="Arial"/>
                </a:rPr>
                <a:t>Giảm kích thước</a:t>
              </a:r>
              <a:endParaRPr sz="1100" b="1" i="0" u="none" strike="noStrike" cap="none">
                <a:solidFill>
                  <a:schemeClr val="lt1"/>
                </a:solidFill>
                <a:latin typeface="Arial"/>
                <a:ea typeface="Arial"/>
                <a:cs typeface="Arial"/>
                <a:sym typeface="Arial"/>
              </a:endParaRPr>
            </a:p>
          </p:txBody>
        </p:sp>
        <p:sp>
          <p:nvSpPr>
            <p:cNvPr id="978" name="Google Shape;978;p30"/>
            <p:cNvSpPr/>
            <p:nvPr/>
          </p:nvSpPr>
          <p:spPr>
            <a:xfrm>
              <a:off x="5170465" y="4092939"/>
              <a:ext cx="984794" cy="984794"/>
            </a:xfrm>
            <a:prstGeom prst="ellipse">
              <a:avLst/>
            </a:prstGeom>
            <a:solidFill>
              <a:schemeClr val="accent2">
                <a:alpha val="23529"/>
              </a:schemeClr>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9" name="Google Shape;979;p30"/>
            <p:cNvSpPr txBox="1"/>
            <p:nvPr/>
          </p:nvSpPr>
          <p:spPr>
            <a:xfrm>
              <a:off x="7689474" y="6028267"/>
              <a:ext cx="252887"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PCA</a:t>
              </a:r>
              <a:endParaRPr sz="900" b="1" i="0" u="none" strike="noStrike" cap="none">
                <a:solidFill>
                  <a:schemeClr val="lt1"/>
                </a:solidFill>
                <a:latin typeface="Arial"/>
                <a:ea typeface="Arial"/>
                <a:cs typeface="Arial"/>
                <a:sym typeface="Arial"/>
              </a:endParaRPr>
            </a:p>
          </p:txBody>
        </p:sp>
        <p:sp>
          <p:nvSpPr>
            <p:cNvPr id="980" name="Google Shape;980;p30"/>
            <p:cNvSpPr txBox="1"/>
            <p:nvPr/>
          </p:nvSpPr>
          <p:spPr>
            <a:xfrm>
              <a:off x="6231220" y="5912769"/>
              <a:ext cx="252887"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NMF</a:t>
              </a:r>
              <a:endParaRPr sz="900" b="1" i="0" u="none" strike="noStrike" cap="none">
                <a:solidFill>
                  <a:schemeClr val="lt1"/>
                </a:solidFill>
                <a:latin typeface="Arial"/>
                <a:ea typeface="Arial"/>
                <a:cs typeface="Arial"/>
                <a:sym typeface="Arial"/>
              </a:endParaRPr>
            </a:p>
          </p:txBody>
        </p:sp>
        <p:sp>
          <p:nvSpPr>
            <p:cNvPr id="981" name="Google Shape;981;p30"/>
            <p:cNvSpPr txBox="1"/>
            <p:nvPr/>
          </p:nvSpPr>
          <p:spPr>
            <a:xfrm>
              <a:off x="6650310" y="5856984"/>
              <a:ext cx="332184"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PLSA</a:t>
              </a:r>
              <a:endParaRPr sz="900" b="1" i="0" u="none" strike="noStrike" cap="none">
                <a:solidFill>
                  <a:schemeClr val="lt1"/>
                </a:solidFill>
                <a:latin typeface="Arial"/>
                <a:ea typeface="Arial"/>
                <a:cs typeface="Arial"/>
                <a:sym typeface="Arial"/>
              </a:endParaRPr>
            </a:p>
          </p:txBody>
        </p:sp>
        <p:sp>
          <p:nvSpPr>
            <p:cNvPr id="982" name="Google Shape;982;p30"/>
            <p:cNvSpPr txBox="1"/>
            <p:nvPr/>
          </p:nvSpPr>
          <p:spPr>
            <a:xfrm>
              <a:off x="6890295" y="5521424"/>
              <a:ext cx="538315" cy="2154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Phân tích</a:t>
              </a:r>
              <a:endParaRPr sz="7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Nhân tố</a:t>
              </a:r>
              <a:endParaRPr sz="700" b="1" i="0" u="none" strike="noStrike" cap="none">
                <a:solidFill>
                  <a:schemeClr val="lt1"/>
                </a:solidFill>
                <a:latin typeface="Arial"/>
                <a:ea typeface="Arial"/>
                <a:cs typeface="Arial"/>
                <a:sym typeface="Arial"/>
              </a:endParaRPr>
            </a:p>
          </p:txBody>
        </p:sp>
        <p:sp>
          <p:nvSpPr>
            <p:cNvPr id="983" name="Google Shape;983;p30"/>
            <p:cNvSpPr txBox="1"/>
            <p:nvPr/>
          </p:nvSpPr>
          <p:spPr>
            <a:xfrm>
              <a:off x="6293572" y="5051679"/>
              <a:ext cx="429264" cy="2769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Tuyến tính</a:t>
              </a:r>
              <a:endParaRPr sz="900" b="1" i="0" u="none" strike="noStrike" cap="none">
                <a:solidFill>
                  <a:schemeClr val="lt1"/>
                </a:solidFill>
                <a:latin typeface="Arial"/>
                <a:ea typeface="Arial"/>
                <a:cs typeface="Arial"/>
                <a:sym typeface="Arial"/>
              </a:endParaRPr>
            </a:p>
          </p:txBody>
        </p:sp>
        <p:sp>
          <p:nvSpPr>
            <p:cNvPr id="984" name="Google Shape;984;p30"/>
            <p:cNvSpPr txBox="1"/>
            <p:nvPr/>
          </p:nvSpPr>
          <p:spPr>
            <a:xfrm>
              <a:off x="5624886" y="5404309"/>
              <a:ext cx="435704" cy="41549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Phi tuyến tính</a:t>
              </a:r>
              <a:endParaRPr sz="900" b="1" i="0" u="none" strike="noStrike" cap="none">
                <a:solidFill>
                  <a:schemeClr val="lt1"/>
                </a:solidFill>
                <a:latin typeface="Arial"/>
                <a:ea typeface="Arial"/>
                <a:cs typeface="Arial"/>
                <a:sym typeface="Arial"/>
              </a:endParaRPr>
            </a:p>
          </p:txBody>
        </p:sp>
        <p:sp>
          <p:nvSpPr>
            <p:cNvPr id="985" name="Google Shape;985;p30"/>
            <p:cNvSpPr txBox="1"/>
            <p:nvPr/>
          </p:nvSpPr>
          <p:spPr>
            <a:xfrm>
              <a:off x="4870415" y="5233392"/>
              <a:ext cx="435704" cy="41549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Trực quan hóa</a:t>
              </a:r>
              <a:endParaRPr sz="900" b="1" i="0" u="none" strike="noStrike" cap="none">
                <a:solidFill>
                  <a:schemeClr val="lt1"/>
                </a:solidFill>
                <a:latin typeface="Arial"/>
                <a:ea typeface="Arial"/>
                <a:cs typeface="Arial"/>
                <a:sym typeface="Arial"/>
              </a:endParaRPr>
            </a:p>
          </p:txBody>
        </p:sp>
        <p:sp>
          <p:nvSpPr>
            <p:cNvPr id="986" name="Google Shape;986;p30"/>
            <p:cNvSpPr txBox="1"/>
            <p:nvPr/>
          </p:nvSpPr>
          <p:spPr>
            <a:xfrm>
              <a:off x="6530255" y="4225280"/>
              <a:ext cx="432048" cy="3693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Arial"/>
                  <a:ea typeface="Arial"/>
                  <a:cs typeface="Arial"/>
                  <a:sym typeface="Arial"/>
                </a:rPr>
                <a:t>Chuỗi Markov ẩn</a:t>
              </a:r>
              <a:endParaRPr sz="800" b="1" i="0" u="none" strike="noStrike" cap="none">
                <a:solidFill>
                  <a:schemeClr val="lt1"/>
                </a:solidFill>
                <a:latin typeface="Arial"/>
                <a:ea typeface="Arial"/>
                <a:cs typeface="Arial"/>
                <a:sym typeface="Arial"/>
              </a:endParaRPr>
            </a:p>
          </p:txBody>
        </p:sp>
        <p:sp>
          <p:nvSpPr>
            <p:cNvPr id="987" name="Google Shape;987;p30"/>
            <p:cNvSpPr txBox="1"/>
            <p:nvPr/>
          </p:nvSpPr>
          <p:spPr>
            <a:xfrm>
              <a:off x="7336487" y="4317812"/>
              <a:ext cx="432047" cy="2154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HMM rời rạc</a:t>
              </a:r>
              <a:endParaRPr sz="700" b="1" i="0" u="none" strike="noStrike" cap="none">
                <a:solidFill>
                  <a:schemeClr val="lt1"/>
                </a:solidFill>
                <a:latin typeface="Arial"/>
                <a:ea typeface="Arial"/>
                <a:cs typeface="Arial"/>
                <a:sym typeface="Arial"/>
              </a:endParaRPr>
            </a:p>
          </p:txBody>
        </p:sp>
        <p:sp>
          <p:nvSpPr>
            <p:cNvPr id="988" name="Google Shape;988;p30"/>
            <p:cNvSpPr txBox="1"/>
            <p:nvPr/>
          </p:nvSpPr>
          <p:spPr>
            <a:xfrm>
              <a:off x="7178327" y="4768689"/>
              <a:ext cx="534925" cy="2154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LDS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liên tục</a:t>
              </a:r>
              <a:endParaRPr sz="700" b="1" i="0" u="none" strike="noStrike" cap="none">
                <a:solidFill>
                  <a:schemeClr val="lt1"/>
                </a:solidFill>
                <a:latin typeface="Arial"/>
                <a:ea typeface="Arial"/>
                <a:cs typeface="Arial"/>
                <a:sym typeface="Arial"/>
              </a:endParaRPr>
            </a:p>
          </p:txBody>
        </p:sp>
        <p:sp>
          <p:nvSpPr>
            <p:cNvPr id="989" name="Google Shape;989;p30"/>
            <p:cNvSpPr txBox="1"/>
            <p:nvPr/>
          </p:nvSpPr>
          <p:spPr>
            <a:xfrm>
              <a:off x="6818287" y="5059179"/>
              <a:ext cx="534925"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Arial"/>
                  <a:ea typeface="Arial"/>
                  <a:cs typeface="Arial"/>
                  <a:sym typeface="Arial"/>
                </a:rPr>
                <a:t>SLDS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Arial"/>
                  <a:ea typeface="Arial"/>
                  <a:cs typeface="Arial"/>
                  <a:sym typeface="Arial"/>
                </a:rPr>
                <a:t>trộn</a:t>
              </a:r>
              <a:endParaRPr sz="800" b="1" i="0" u="none" strike="noStrike" cap="none">
                <a:solidFill>
                  <a:schemeClr val="lt1"/>
                </a:solidFill>
                <a:latin typeface="Arial"/>
                <a:ea typeface="Arial"/>
                <a:cs typeface="Arial"/>
                <a:sym typeface="Arial"/>
              </a:endParaRPr>
            </a:p>
          </p:txBody>
        </p:sp>
        <p:sp>
          <p:nvSpPr>
            <p:cNvPr id="990" name="Google Shape;990;p30"/>
            <p:cNvSpPr txBox="1"/>
            <p:nvPr/>
          </p:nvSpPr>
          <p:spPr>
            <a:xfrm>
              <a:off x="4057037" y="4749332"/>
              <a:ext cx="554080"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Arial"/>
                  <a:ea typeface="Arial"/>
                  <a:cs typeface="Arial"/>
                  <a:sym typeface="Arial"/>
                </a:rPr>
                <a:t>Chưa hoàn thành</a:t>
              </a:r>
              <a:endParaRPr sz="800" b="1" i="0" u="none" strike="noStrike" cap="none">
                <a:solidFill>
                  <a:schemeClr val="lt1"/>
                </a:solidFill>
                <a:latin typeface="Arial"/>
                <a:ea typeface="Arial"/>
                <a:cs typeface="Arial"/>
                <a:sym typeface="Arial"/>
              </a:endParaRPr>
            </a:p>
          </p:txBody>
        </p:sp>
        <p:sp>
          <p:nvSpPr>
            <p:cNvPr id="991" name="Google Shape;991;p30"/>
            <p:cNvSpPr txBox="1"/>
            <p:nvPr/>
          </p:nvSpPr>
          <p:spPr>
            <a:xfrm>
              <a:off x="3333131" y="5015339"/>
              <a:ext cx="504815" cy="2769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Hoàn thành</a:t>
              </a:r>
              <a:endParaRPr sz="900" b="1" i="0" u="none" strike="noStrike" cap="none">
                <a:solidFill>
                  <a:schemeClr val="lt1"/>
                </a:solidFill>
                <a:latin typeface="Arial"/>
                <a:ea typeface="Arial"/>
                <a:cs typeface="Arial"/>
                <a:sym typeface="Arial"/>
              </a:endParaRPr>
            </a:p>
          </p:txBody>
        </p:sp>
        <p:sp>
          <p:nvSpPr>
            <p:cNvPr id="992" name="Google Shape;992;p30"/>
            <p:cNvSpPr txBox="1"/>
            <p:nvPr/>
          </p:nvSpPr>
          <p:spPr>
            <a:xfrm>
              <a:off x="3390221" y="5854155"/>
              <a:ext cx="435704" cy="215444"/>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Cơ sở</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chemeClr val="lt1"/>
                  </a:solidFill>
                  <a:latin typeface="Arial"/>
                  <a:ea typeface="Arial"/>
                  <a:cs typeface="Arial"/>
                  <a:sym typeface="Arial"/>
                </a:rPr>
                <a:t>thưa thớt</a:t>
              </a:r>
              <a:endParaRPr sz="700" b="1" i="0" u="none" strike="noStrike" cap="none">
                <a:solidFill>
                  <a:schemeClr val="lt1"/>
                </a:solidFill>
                <a:latin typeface="Arial"/>
                <a:ea typeface="Arial"/>
                <a:cs typeface="Arial"/>
                <a:sym typeface="Arial"/>
              </a:endParaRPr>
            </a:p>
          </p:txBody>
        </p:sp>
        <p:sp>
          <p:nvSpPr>
            <p:cNvPr id="993" name="Google Shape;993;p30"/>
            <p:cNvSpPr txBox="1"/>
            <p:nvPr/>
          </p:nvSpPr>
          <p:spPr>
            <a:xfrm>
              <a:off x="2298876" y="5211262"/>
              <a:ext cx="632317" cy="184666"/>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Arial"/>
                  <a:ea typeface="Arial"/>
                  <a:cs typeface="Arial"/>
                  <a:sym typeface="Arial"/>
                </a:rPr>
                <a:t>Phân bổ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r>
                <a:rPr lang="en-US" sz="600" b="1" i="0" u="none" strike="noStrike" cap="none">
                  <a:solidFill>
                    <a:schemeClr val="lt1"/>
                  </a:solidFill>
                  <a:latin typeface="Arial"/>
                  <a:ea typeface="Arial"/>
                  <a:cs typeface="Arial"/>
                  <a:sym typeface="Arial"/>
                </a:rPr>
                <a:t>Dirichlet ẩn</a:t>
              </a:r>
              <a:endParaRPr sz="600" b="1" i="0" u="none" strike="noStrike" cap="none">
                <a:solidFill>
                  <a:schemeClr val="lt1"/>
                </a:solidFill>
                <a:latin typeface="Arial"/>
                <a:ea typeface="Arial"/>
                <a:cs typeface="Arial"/>
                <a:sym typeface="Arial"/>
              </a:endParaRPr>
            </a:p>
          </p:txBody>
        </p:sp>
        <p:sp>
          <p:nvSpPr>
            <p:cNvPr id="994" name="Google Shape;994;p30"/>
            <p:cNvSpPr txBox="1"/>
            <p:nvPr/>
          </p:nvSpPr>
          <p:spPr>
            <a:xfrm>
              <a:off x="2364765" y="4327971"/>
              <a:ext cx="467711" cy="36933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1"/>
                  </a:solidFill>
                  <a:latin typeface="Arial"/>
                  <a:ea typeface="Arial"/>
                  <a:cs typeface="Arial"/>
                  <a:sym typeface="Arial"/>
                </a:rPr>
                <a:t>Thành viên hỗn hợp</a:t>
              </a:r>
              <a:endParaRPr sz="800" b="1" i="0" u="none" strike="noStrike" cap="none">
                <a:solidFill>
                  <a:schemeClr val="lt1"/>
                </a:solidFill>
                <a:latin typeface="Arial"/>
                <a:ea typeface="Arial"/>
                <a:cs typeface="Arial"/>
                <a:sym typeface="Arial"/>
              </a:endParaRPr>
            </a:p>
          </p:txBody>
        </p:sp>
        <p:sp>
          <p:nvSpPr>
            <p:cNvPr id="995" name="Google Shape;995;p30"/>
            <p:cNvSpPr txBox="1"/>
            <p:nvPr/>
          </p:nvSpPr>
          <p:spPr>
            <a:xfrm>
              <a:off x="1872737" y="5021645"/>
              <a:ext cx="434878"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chemeClr val="lt1"/>
                  </a:solidFill>
                  <a:latin typeface="Arial"/>
                  <a:ea typeface="Arial"/>
                  <a:cs typeface="Arial"/>
                  <a:sym typeface="Arial"/>
                </a:rPr>
                <a:t>Phân rã</a:t>
              </a:r>
              <a:endParaRPr sz="900" b="1" i="0" u="none" strike="noStrike" cap="none">
                <a:solidFill>
                  <a:schemeClr val="lt1"/>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31"/>
          <p:cNvSpPr/>
          <p:nvPr/>
        </p:nvSpPr>
        <p:spPr>
          <a:xfrm>
            <a:off x="702940" y="1700808"/>
            <a:ext cx="8632825" cy="848163"/>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1" i="0" u="none" strike="noStrike" cap="none">
                <a:solidFill>
                  <a:schemeClr val="dk1"/>
                </a:solidFill>
                <a:latin typeface="Arial"/>
                <a:ea typeface="Arial"/>
                <a:cs typeface="Arial"/>
                <a:sym typeface="Arial"/>
              </a:rPr>
              <a:t>Học hàng loạt: </a:t>
            </a:r>
            <a:r>
              <a:rPr lang="en-US" sz="1300" b="0" i="0" u="none" strike="noStrike" cap="none">
                <a:solidFill>
                  <a:srgbClr val="262626"/>
                </a:solidFill>
                <a:latin typeface="Arial"/>
                <a:ea typeface="Arial"/>
                <a:cs typeface="Arial"/>
                <a:sym typeface="Arial"/>
              </a:rPr>
              <a:t>Hệ thống không thể học dần dần.</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a:solidFill>
                  <a:schemeClr val="dk1"/>
                </a:solidFill>
                <a:latin typeface="Arial"/>
                <a:ea typeface="Arial"/>
                <a:cs typeface="Arial"/>
                <a:sym typeface="Arial"/>
              </a:rPr>
              <a:t>Học trực tuyến: </a:t>
            </a:r>
            <a:r>
              <a:rPr lang="en-US" sz="1300" b="0" i="0" u="none" strike="noStrike" cap="none">
                <a:solidFill>
                  <a:srgbClr val="262626"/>
                </a:solidFill>
                <a:latin typeface="Arial"/>
                <a:ea typeface="Arial"/>
                <a:cs typeface="Arial"/>
                <a:sym typeface="Arial"/>
              </a:rPr>
              <a:t>Hệ thống được huấn luyện bằng cách đưa dữ liệu tuần tự từng cái một hoặc theo từng đợt nhỏ gọi là mini-batch.</a:t>
            </a:r>
            <a:endParaRPr sz="1300" b="0" i="0" u="none" strike="noStrike" cap="none">
              <a:solidFill>
                <a:srgbClr val="262626"/>
              </a:solidFill>
              <a:latin typeface="Arial"/>
              <a:ea typeface="Arial"/>
              <a:cs typeface="Arial"/>
              <a:sym typeface="Arial"/>
            </a:endParaRPr>
          </a:p>
        </p:txBody>
      </p:sp>
      <p:grpSp>
        <p:nvGrpSpPr>
          <p:cNvPr id="1005" name="Google Shape;1005;p31"/>
          <p:cNvGrpSpPr/>
          <p:nvPr/>
        </p:nvGrpSpPr>
        <p:grpSpPr>
          <a:xfrm>
            <a:off x="1423021" y="2564904"/>
            <a:ext cx="7050012" cy="3672041"/>
            <a:chOff x="1423021" y="2637279"/>
            <a:chExt cx="7050012" cy="3672041"/>
          </a:xfrm>
        </p:grpSpPr>
        <p:sp>
          <p:nvSpPr>
            <p:cNvPr id="1006" name="Google Shape;1006;p31"/>
            <p:cNvSpPr/>
            <p:nvPr/>
          </p:nvSpPr>
          <p:spPr>
            <a:xfrm>
              <a:off x="1423021" y="2818614"/>
              <a:ext cx="7050012" cy="3490706"/>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07" name="Google Shape;1007;p31"/>
            <p:cNvSpPr/>
            <p:nvPr/>
          </p:nvSpPr>
          <p:spPr>
            <a:xfrm>
              <a:off x="2287116" y="2637279"/>
              <a:ext cx="5328592"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1429A0"/>
                  </a:solidFill>
                  <a:latin typeface="Arial"/>
                  <a:ea typeface="Arial"/>
                  <a:cs typeface="Arial"/>
                  <a:sym typeface="Arial"/>
                </a:rPr>
                <a:t>Xử lý lượng lớn dữ liệu bằng cách học trực tuyến</a:t>
              </a:r>
              <a:endParaRPr sz="1600" b="1" i="0" u="none" strike="noStrike" cap="none">
                <a:solidFill>
                  <a:srgbClr val="1429A0"/>
                </a:solidFill>
                <a:latin typeface="Arial"/>
                <a:ea typeface="Arial"/>
                <a:cs typeface="Arial"/>
                <a:sym typeface="Arial"/>
              </a:endParaRPr>
            </a:p>
          </p:txBody>
        </p:sp>
        <p:grpSp>
          <p:nvGrpSpPr>
            <p:cNvPr id="1008" name="Google Shape;1008;p31"/>
            <p:cNvGrpSpPr/>
            <p:nvPr/>
          </p:nvGrpSpPr>
          <p:grpSpPr>
            <a:xfrm>
              <a:off x="1822044" y="3127201"/>
              <a:ext cx="6251965" cy="3030751"/>
              <a:chOff x="1832003" y="3156803"/>
              <a:chExt cx="6251965" cy="3030751"/>
            </a:xfrm>
          </p:grpSpPr>
          <p:sp>
            <p:nvSpPr>
              <p:cNvPr id="1009" name="Google Shape;1009;p31"/>
              <p:cNvSpPr txBox="1"/>
              <p:nvPr/>
            </p:nvSpPr>
            <p:spPr>
              <a:xfrm>
                <a:off x="2124942" y="3916226"/>
                <a:ext cx="1344118" cy="200055"/>
              </a:xfrm>
              <a:prstGeom prst="rect">
                <a:avLst/>
              </a:prstGeom>
              <a:solidFill>
                <a:srgbClr val="EEEEED"/>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많은 양의 데이터</a:t>
                </a:r>
                <a:endParaRPr sz="1300" b="1" i="0" u="none" strike="noStrike" cap="none">
                  <a:solidFill>
                    <a:schemeClr val="dk1"/>
                  </a:solidFill>
                  <a:latin typeface="Arial"/>
                  <a:ea typeface="Arial"/>
                  <a:cs typeface="Arial"/>
                  <a:sym typeface="Arial"/>
                </a:endParaRPr>
              </a:p>
            </p:txBody>
          </p:sp>
          <p:sp>
            <p:nvSpPr>
              <p:cNvPr id="1010" name="Google Shape;1010;p31"/>
              <p:cNvSpPr txBox="1"/>
              <p:nvPr/>
            </p:nvSpPr>
            <p:spPr>
              <a:xfrm>
                <a:off x="3749116" y="3817379"/>
                <a:ext cx="920785" cy="69249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Phân chia thành các phần</a:t>
                </a:r>
                <a:endParaRPr sz="1300" b="1" i="0" u="none" strike="noStrike" cap="none">
                  <a:solidFill>
                    <a:schemeClr val="dk1"/>
                  </a:solidFill>
                  <a:latin typeface="Arial"/>
                  <a:ea typeface="Arial"/>
                  <a:cs typeface="Arial"/>
                  <a:sym typeface="Arial"/>
                </a:endParaRPr>
              </a:p>
            </p:txBody>
          </p:sp>
          <p:grpSp>
            <p:nvGrpSpPr>
              <p:cNvPr id="1011" name="Google Shape;1011;p31"/>
              <p:cNvGrpSpPr/>
              <p:nvPr/>
            </p:nvGrpSpPr>
            <p:grpSpPr>
              <a:xfrm>
                <a:off x="1832003" y="3276031"/>
                <a:ext cx="2183305" cy="936104"/>
                <a:chOff x="9069" y="3212976"/>
                <a:chExt cx="2183305" cy="936104"/>
              </a:xfrm>
            </p:grpSpPr>
            <p:sp>
              <p:nvSpPr>
                <p:cNvPr id="1012" name="Google Shape;1012;p31"/>
                <p:cNvSpPr/>
                <p:nvPr/>
              </p:nvSpPr>
              <p:spPr>
                <a:xfrm>
                  <a:off x="9069" y="3212976"/>
                  <a:ext cx="2183305" cy="936104"/>
                </a:xfrm>
                <a:prstGeom prst="flowChartInputOutpu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013" name="Google Shape;1013;p31"/>
                <p:cNvCxnSpPr/>
                <p:nvPr/>
              </p:nvCxnSpPr>
              <p:spPr>
                <a:xfrm rot="10800000">
                  <a:off x="559817" y="3284984"/>
                  <a:ext cx="0" cy="522736"/>
                </a:xfrm>
                <a:prstGeom prst="straightConnector1">
                  <a:avLst/>
                </a:prstGeom>
                <a:noFill/>
                <a:ln w="28575" cap="flat" cmpd="sng">
                  <a:solidFill>
                    <a:srgbClr val="7F7F7F"/>
                  </a:solidFill>
                  <a:prstDash val="solid"/>
                  <a:miter lim="800000"/>
                  <a:headEnd type="none" w="sm" len="sm"/>
                  <a:tailEnd type="triangle" w="med" len="med"/>
                </a:ln>
              </p:spPr>
            </p:cxnSp>
            <p:cxnSp>
              <p:nvCxnSpPr>
                <p:cNvPr id="1014" name="Google Shape;1014;p31"/>
                <p:cNvCxnSpPr/>
                <p:nvPr/>
              </p:nvCxnSpPr>
              <p:spPr>
                <a:xfrm>
                  <a:off x="558800" y="3807720"/>
                  <a:ext cx="1080244" cy="0"/>
                </a:xfrm>
                <a:prstGeom prst="straightConnector1">
                  <a:avLst/>
                </a:prstGeom>
                <a:noFill/>
                <a:ln w="28575" cap="flat" cmpd="sng">
                  <a:solidFill>
                    <a:srgbClr val="7F7F7F"/>
                  </a:solidFill>
                  <a:prstDash val="solid"/>
                  <a:miter lim="800000"/>
                  <a:headEnd type="none" w="sm" len="sm"/>
                  <a:tailEnd type="triangle" w="med" len="med"/>
                </a:ln>
              </p:spPr>
            </p:cxnSp>
            <p:sp>
              <p:nvSpPr>
                <p:cNvPr id="1015" name="Google Shape;1015;p31"/>
                <p:cNvSpPr txBox="1"/>
                <p:nvPr/>
              </p:nvSpPr>
              <p:spPr>
                <a:xfrm>
                  <a:off x="316225" y="3890523"/>
                  <a:ext cx="1344118" cy="200055"/>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Rất nhiều dữ liệu</a:t>
                  </a:r>
                  <a:endParaRPr sz="1300" b="1" i="0" u="none" strike="noStrike" cap="none">
                    <a:solidFill>
                      <a:schemeClr val="dk1"/>
                    </a:solidFill>
                    <a:latin typeface="Arial"/>
                    <a:ea typeface="Arial"/>
                    <a:cs typeface="Arial"/>
                    <a:sym typeface="Arial"/>
                  </a:endParaRPr>
                </a:p>
              </p:txBody>
            </p:sp>
            <p:sp>
              <p:nvSpPr>
                <p:cNvPr id="1016" name="Google Shape;1016;p31"/>
                <p:cNvSpPr/>
                <p:nvPr/>
              </p:nvSpPr>
              <p:spPr>
                <a:xfrm>
                  <a:off x="657220" y="3679198"/>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17" name="Google Shape;1017;p31"/>
                <p:cNvSpPr/>
                <p:nvPr/>
              </p:nvSpPr>
              <p:spPr>
                <a:xfrm>
                  <a:off x="619299" y="3596396"/>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18" name="Google Shape;1018;p31"/>
                <p:cNvSpPr/>
                <p:nvPr/>
              </p:nvSpPr>
              <p:spPr>
                <a:xfrm>
                  <a:off x="646143" y="3550676"/>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19" name="Google Shape;1019;p31"/>
                <p:cNvSpPr/>
                <p:nvPr/>
              </p:nvSpPr>
              <p:spPr>
                <a:xfrm>
                  <a:off x="703263" y="3562497"/>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0" name="Google Shape;1020;p31"/>
                <p:cNvSpPr/>
                <p:nvPr/>
              </p:nvSpPr>
              <p:spPr>
                <a:xfrm>
                  <a:off x="748983" y="3483170"/>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1" name="Google Shape;1021;p31"/>
                <p:cNvSpPr/>
                <p:nvPr/>
              </p:nvSpPr>
              <p:spPr>
                <a:xfrm>
                  <a:off x="809764" y="3437450"/>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2" name="Google Shape;1022;p31"/>
                <p:cNvSpPr/>
                <p:nvPr/>
              </p:nvSpPr>
              <p:spPr>
                <a:xfrm>
                  <a:off x="857707" y="3421192"/>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3" name="Google Shape;1023;p31"/>
                <p:cNvSpPr/>
                <p:nvPr/>
              </p:nvSpPr>
              <p:spPr>
                <a:xfrm>
                  <a:off x="857707" y="3482347"/>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4" name="Google Shape;1024;p31"/>
                <p:cNvSpPr/>
                <p:nvPr/>
              </p:nvSpPr>
              <p:spPr>
                <a:xfrm>
                  <a:off x="949850" y="3466912"/>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5" name="Google Shape;1025;p31"/>
                <p:cNvSpPr/>
                <p:nvPr/>
              </p:nvSpPr>
              <p:spPr>
                <a:xfrm>
                  <a:off x="995570" y="3516777"/>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6" name="Google Shape;1026;p31"/>
                <p:cNvSpPr/>
                <p:nvPr/>
              </p:nvSpPr>
              <p:spPr>
                <a:xfrm>
                  <a:off x="1041290" y="3552264"/>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7" name="Google Shape;1027;p31"/>
                <p:cNvSpPr/>
                <p:nvPr/>
              </p:nvSpPr>
              <p:spPr>
                <a:xfrm>
                  <a:off x="1089032" y="3652801"/>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8" name="Google Shape;1028;p31"/>
                <p:cNvSpPr/>
                <p:nvPr/>
              </p:nvSpPr>
              <p:spPr>
                <a:xfrm>
                  <a:off x="1149813" y="3694202"/>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9" name="Google Shape;1029;p31"/>
                <p:cNvSpPr/>
                <p:nvPr/>
              </p:nvSpPr>
              <p:spPr>
                <a:xfrm>
                  <a:off x="1207969" y="3683016"/>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0" name="Google Shape;1030;p31"/>
                <p:cNvSpPr/>
                <p:nvPr/>
              </p:nvSpPr>
              <p:spPr>
                <a:xfrm>
                  <a:off x="1304214" y="3573536"/>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1" name="Google Shape;1031;p31"/>
                <p:cNvSpPr/>
                <p:nvPr/>
              </p:nvSpPr>
              <p:spPr>
                <a:xfrm>
                  <a:off x="1322116" y="3523492"/>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2" name="Google Shape;1032;p31"/>
                <p:cNvSpPr/>
                <p:nvPr/>
              </p:nvSpPr>
              <p:spPr>
                <a:xfrm>
                  <a:off x="1372060" y="3482224"/>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3" name="Google Shape;1033;p31"/>
                <p:cNvSpPr/>
                <p:nvPr/>
              </p:nvSpPr>
              <p:spPr>
                <a:xfrm>
                  <a:off x="1417046" y="3527513"/>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4" name="Google Shape;1034;p31"/>
                <p:cNvSpPr/>
                <p:nvPr/>
              </p:nvSpPr>
              <p:spPr>
                <a:xfrm>
                  <a:off x="1487572" y="3496367"/>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035" name="Google Shape;1035;p31"/>
              <p:cNvGrpSpPr/>
              <p:nvPr/>
            </p:nvGrpSpPr>
            <p:grpSpPr>
              <a:xfrm>
                <a:off x="4666458" y="3156803"/>
                <a:ext cx="576064" cy="361712"/>
                <a:chOff x="5570004" y="3147144"/>
                <a:chExt cx="576064" cy="361712"/>
              </a:xfrm>
            </p:grpSpPr>
            <p:sp>
              <p:nvSpPr>
                <p:cNvPr id="1036" name="Google Shape;1036;p31"/>
                <p:cNvSpPr/>
                <p:nvPr/>
              </p:nvSpPr>
              <p:spPr>
                <a:xfrm>
                  <a:off x="5570004" y="3147144"/>
                  <a:ext cx="576064" cy="361712"/>
                </a:xfrm>
                <a:prstGeom prst="flowChartInputOutpu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37" name="Google Shape;1037;p31"/>
                <p:cNvGrpSpPr/>
                <p:nvPr/>
              </p:nvGrpSpPr>
              <p:grpSpPr>
                <a:xfrm>
                  <a:off x="5785188" y="3350428"/>
                  <a:ext cx="145696" cy="32400"/>
                  <a:chOff x="5743500" y="3350428"/>
                  <a:chExt cx="145696" cy="32400"/>
                </a:xfrm>
              </p:grpSpPr>
              <p:sp>
                <p:nvSpPr>
                  <p:cNvPr id="1038" name="Google Shape;1038;p31"/>
                  <p:cNvSpPr/>
                  <p:nvPr/>
                </p:nvSpPr>
                <p:spPr>
                  <a:xfrm>
                    <a:off x="5743500" y="3350428"/>
                    <a:ext cx="32400" cy="32400"/>
                  </a:xfrm>
                  <a:prstGeom prst="ellipse">
                    <a:avLst/>
                  </a:prstGeom>
                  <a:solidFill>
                    <a:schemeClr val="dk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9" name="Google Shape;1039;p31"/>
                  <p:cNvSpPr/>
                  <p:nvPr/>
                </p:nvSpPr>
                <p:spPr>
                  <a:xfrm>
                    <a:off x="5800148" y="3350428"/>
                    <a:ext cx="32400" cy="32400"/>
                  </a:xfrm>
                  <a:prstGeom prst="ellipse">
                    <a:avLst/>
                  </a:prstGeom>
                  <a:solidFill>
                    <a:schemeClr val="dk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0" name="Google Shape;1040;p31"/>
                  <p:cNvSpPr/>
                  <p:nvPr/>
                </p:nvSpPr>
                <p:spPr>
                  <a:xfrm>
                    <a:off x="5856796" y="3350428"/>
                    <a:ext cx="32400" cy="32400"/>
                  </a:xfrm>
                  <a:prstGeom prst="ellipse">
                    <a:avLst/>
                  </a:prstGeom>
                  <a:solidFill>
                    <a:schemeClr val="dk1"/>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nvGrpSpPr>
              <p:cNvPr id="1041" name="Google Shape;1041;p31"/>
              <p:cNvGrpSpPr/>
              <p:nvPr/>
            </p:nvGrpSpPr>
            <p:grpSpPr>
              <a:xfrm>
                <a:off x="4640252" y="3562285"/>
                <a:ext cx="576064" cy="361712"/>
                <a:chOff x="5570004" y="3552626"/>
                <a:chExt cx="576064" cy="361712"/>
              </a:xfrm>
            </p:grpSpPr>
            <p:sp>
              <p:nvSpPr>
                <p:cNvPr id="1042" name="Google Shape;1042;p31"/>
                <p:cNvSpPr/>
                <p:nvPr/>
              </p:nvSpPr>
              <p:spPr>
                <a:xfrm>
                  <a:off x="5570004" y="3552626"/>
                  <a:ext cx="576064" cy="361712"/>
                </a:xfrm>
                <a:prstGeom prst="flowChartInputOutpu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43" name="Google Shape;1043;p31"/>
                <p:cNvGrpSpPr/>
                <p:nvPr/>
              </p:nvGrpSpPr>
              <p:grpSpPr>
                <a:xfrm>
                  <a:off x="5720429" y="3595483"/>
                  <a:ext cx="316837" cy="235499"/>
                  <a:chOff x="2947952" y="3490780"/>
                  <a:chExt cx="1080244" cy="522736"/>
                </a:xfrm>
              </p:grpSpPr>
              <p:cxnSp>
                <p:nvCxnSpPr>
                  <p:cNvPr id="1044" name="Google Shape;1044;p31"/>
                  <p:cNvCxnSpPr/>
                  <p:nvPr/>
                </p:nvCxnSpPr>
                <p:spPr>
                  <a:xfrm rot="10800000">
                    <a:off x="2948969" y="3490780"/>
                    <a:ext cx="0" cy="522736"/>
                  </a:xfrm>
                  <a:prstGeom prst="straightConnector1">
                    <a:avLst/>
                  </a:prstGeom>
                  <a:noFill/>
                  <a:ln w="12700" cap="flat" cmpd="sng">
                    <a:solidFill>
                      <a:srgbClr val="7F7F7F"/>
                    </a:solidFill>
                    <a:prstDash val="solid"/>
                    <a:miter lim="800000"/>
                    <a:headEnd type="none" w="sm" len="sm"/>
                    <a:tailEnd type="triangle" w="med" len="med"/>
                  </a:ln>
                </p:spPr>
              </p:cxnSp>
              <p:cxnSp>
                <p:nvCxnSpPr>
                  <p:cNvPr id="1045" name="Google Shape;1045;p31"/>
                  <p:cNvCxnSpPr/>
                  <p:nvPr/>
                </p:nvCxnSpPr>
                <p:spPr>
                  <a:xfrm>
                    <a:off x="2947952" y="4013516"/>
                    <a:ext cx="1080244" cy="0"/>
                  </a:xfrm>
                  <a:prstGeom prst="straightConnector1">
                    <a:avLst/>
                  </a:prstGeom>
                  <a:noFill/>
                  <a:ln w="12700" cap="flat" cmpd="sng">
                    <a:solidFill>
                      <a:srgbClr val="7F7F7F"/>
                    </a:solidFill>
                    <a:prstDash val="solid"/>
                    <a:miter lim="800000"/>
                    <a:headEnd type="none" w="sm" len="sm"/>
                    <a:tailEnd type="triangle" w="med" len="med"/>
                  </a:ln>
                </p:spPr>
              </p:cxnSp>
            </p:grpSp>
            <p:sp>
              <p:nvSpPr>
                <p:cNvPr id="1046" name="Google Shape;1046;p31"/>
                <p:cNvSpPr/>
                <p:nvPr/>
              </p:nvSpPr>
              <p:spPr>
                <a:xfrm>
                  <a:off x="5736592" y="3722020"/>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7" name="Google Shape;1047;p31"/>
                <p:cNvSpPr/>
                <p:nvPr/>
              </p:nvSpPr>
              <p:spPr>
                <a:xfrm>
                  <a:off x="5833277" y="3762000"/>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8" name="Google Shape;1048;p31"/>
                <p:cNvSpPr/>
                <p:nvPr/>
              </p:nvSpPr>
              <p:spPr>
                <a:xfrm>
                  <a:off x="5884242" y="3721495"/>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9" name="Google Shape;1049;p31"/>
                <p:cNvSpPr/>
                <p:nvPr/>
              </p:nvSpPr>
              <p:spPr>
                <a:xfrm>
                  <a:off x="5917518" y="3667512"/>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050" name="Google Shape;1050;p31"/>
              <p:cNvGrpSpPr/>
              <p:nvPr/>
            </p:nvGrpSpPr>
            <p:grpSpPr>
              <a:xfrm>
                <a:off x="4650089" y="3969228"/>
                <a:ext cx="576064" cy="361712"/>
                <a:chOff x="5570004" y="3566028"/>
                <a:chExt cx="576064" cy="361712"/>
              </a:xfrm>
            </p:grpSpPr>
            <p:sp>
              <p:nvSpPr>
                <p:cNvPr id="1051" name="Google Shape;1051;p31"/>
                <p:cNvSpPr/>
                <p:nvPr/>
              </p:nvSpPr>
              <p:spPr>
                <a:xfrm>
                  <a:off x="5570004" y="3566028"/>
                  <a:ext cx="576064" cy="361712"/>
                </a:xfrm>
                <a:prstGeom prst="flowChartInputOutpu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52" name="Google Shape;1052;p31"/>
                <p:cNvGrpSpPr/>
                <p:nvPr/>
              </p:nvGrpSpPr>
              <p:grpSpPr>
                <a:xfrm>
                  <a:off x="5720429" y="3595483"/>
                  <a:ext cx="316837" cy="235499"/>
                  <a:chOff x="2947952" y="3490780"/>
                  <a:chExt cx="1080244" cy="522736"/>
                </a:xfrm>
              </p:grpSpPr>
              <p:cxnSp>
                <p:nvCxnSpPr>
                  <p:cNvPr id="1053" name="Google Shape;1053;p31"/>
                  <p:cNvCxnSpPr/>
                  <p:nvPr/>
                </p:nvCxnSpPr>
                <p:spPr>
                  <a:xfrm rot="10800000">
                    <a:off x="2948969" y="3490780"/>
                    <a:ext cx="0" cy="522736"/>
                  </a:xfrm>
                  <a:prstGeom prst="straightConnector1">
                    <a:avLst/>
                  </a:prstGeom>
                  <a:noFill/>
                  <a:ln w="12700" cap="flat" cmpd="sng">
                    <a:solidFill>
                      <a:srgbClr val="7F7F7F"/>
                    </a:solidFill>
                    <a:prstDash val="solid"/>
                    <a:miter lim="800000"/>
                    <a:headEnd type="none" w="sm" len="sm"/>
                    <a:tailEnd type="triangle" w="med" len="med"/>
                  </a:ln>
                </p:spPr>
              </p:cxnSp>
              <p:cxnSp>
                <p:nvCxnSpPr>
                  <p:cNvPr id="1054" name="Google Shape;1054;p31"/>
                  <p:cNvCxnSpPr/>
                  <p:nvPr/>
                </p:nvCxnSpPr>
                <p:spPr>
                  <a:xfrm>
                    <a:off x="2947952" y="4013516"/>
                    <a:ext cx="1080244" cy="0"/>
                  </a:xfrm>
                  <a:prstGeom prst="straightConnector1">
                    <a:avLst/>
                  </a:prstGeom>
                  <a:noFill/>
                  <a:ln w="12700" cap="flat" cmpd="sng">
                    <a:solidFill>
                      <a:srgbClr val="7F7F7F"/>
                    </a:solidFill>
                    <a:prstDash val="solid"/>
                    <a:miter lim="800000"/>
                    <a:headEnd type="none" w="sm" len="sm"/>
                    <a:tailEnd type="triangle" w="med" len="med"/>
                  </a:ln>
                </p:spPr>
              </p:cxnSp>
            </p:grpSp>
            <p:sp>
              <p:nvSpPr>
                <p:cNvPr id="1055" name="Google Shape;1055;p31"/>
                <p:cNvSpPr/>
                <p:nvPr/>
              </p:nvSpPr>
              <p:spPr>
                <a:xfrm>
                  <a:off x="5743563" y="3684451"/>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6" name="Google Shape;1056;p31"/>
                <p:cNvSpPr/>
                <p:nvPr/>
              </p:nvSpPr>
              <p:spPr>
                <a:xfrm>
                  <a:off x="5845082" y="3762000"/>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7" name="Google Shape;1057;p31"/>
                <p:cNvSpPr/>
                <p:nvPr/>
              </p:nvSpPr>
              <p:spPr>
                <a:xfrm>
                  <a:off x="5917518" y="3712957"/>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8" name="Google Shape;1058;p31"/>
                <p:cNvSpPr/>
                <p:nvPr/>
              </p:nvSpPr>
              <p:spPr>
                <a:xfrm>
                  <a:off x="5805921" y="3684451"/>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59" name="Google Shape;1059;p31"/>
              <p:cNvSpPr/>
              <p:nvPr/>
            </p:nvSpPr>
            <p:spPr>
              <a:xfrm>
                <a:off x="2589684" y="4749960"/>
                <a:ext cx="1048636" cy="546252"/>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Nghiên cứu vấn đề</a:t>
                </a:r>
                <a:endParaRPr sz="1300" b="1" i="0" u="none" strike="noStrike" cap="none">
                  <a:solidFill>
                    <a:schemeClr val="dk1"/>
                  </a:solidFill>
                  <a:latin typeface="Arial"/>
                  <a:ea typeface="Arial"/>
                  <a:cs typeface="Arial"/>
                  <a:sym typeface="Arial"/>
                </a:endParaRPr>
              </a:p>
            </p:txBody>
          </p:sp>
          <p:sp>
            <p:nvSpPr>
              <p:cNvPr id="1060" name="Google Shape;1060;p31"/>
              <p:cNvSpPr/>
              <p:nvPr/>
            </p:nvSpPr>
            <p:spPr>
              <a:xfrm>
                <a:off x="4180579" y="4749960"/>
                <a:ext cx="1547822" cy="546252"/>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Đào tạo thuật toán học máy trực tuyến</a:t>
                </a:r>
                <a:endParaRPr sz="1200" b="1" i="0" u="none" strike="noStrike" cap="none">
                  <a:solidFill>
                    <a:schemeClr val="dk1"/>
                  </a:solidFill>
                  <a:latin typeface="Arial"/>
                  <a:ea typeface="Arial"/>
                  <a:cs typeface="Arial"/>
                  <a:sym typeface="Arial"/>
                </a:endParaRPr>
              </a:p>
            </p:txBody>
          </p:sp>
          <p:sp>
            <p:nvSpPr>
              <p:cNvPr id="1061" name="Google Shape;1061;p31"/>
              <p:cNvSpPr/>
              <p:nvPr/>
            </p:nvSpPr>
            <p:spPr>
              <a:xfrm>
                <a:off x="3968147" y="5641302"/>
                <a:ext cx="929588" cy="546252"/>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Phân tích lỗi</a:t>
                </a:r>
                <a:endParaRPr sz="1300" b="1" i="0" u="none" strike="noStrike" cap="none">
                  <a:solidFill>
                    <a:schemeClr val="dk1"/>
                  </a:solidFill>
                  <a:latin typeface="Arial"/>
                  <a:ea typeface="Arial"/>
                  <a:cs typeface="Arial"/>
                  <a:sym typeface="Arial"/>
                </a:endParaRPr>
              </a:p>
            </p:txBody>
          </p:sp>
          <p:sp>
            <p:nvSpPr>
              <p:cNvPr id="1062" name="Google Shape;1062;p31"/>
              <p:cNvSpPr/>
              <p:nvPr/>
            </p:nvSpPr>
            <p:spPr>
              <a:xfrm>
                <a:off x="6475343" y="3628127"/>
                <a:ext cx="1178568" cy="546252"/>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Ra mắt</a:t>
                </a:r>
                <a:endParaRPr sz="1400" b="1" i="0" u="none" strike="noStrike" cap="none">
                  <a:solidFill>
                    <a:schemeClr val="dk1"/>
                  </a:solidFill>
                  <a:latin typeface="Arial"/>
                  <a:ea typeface="Arial"/>
                  <a:cs typeface="Arial"/>
                  <a:sym typeface="Arial"/>
                </a:endParaRPr>
              </a:p>
            </p:txBody>
          </p:sp>
          <p:sp>
            <p:nvSpPr>
              <p:cNvPr id="1063" name="Google Shape;1063;p31"/>
              <p:cNvSpPr/>
              <p:nvPr/>
            </p:nvSpPr>
            <p:spPr>
              <a:xfrm>
                <a:off x="6040626" y="4642251"/>
                <a:ext cx="2043342" cy="761670"/>
              </a:xfrm>
              <a:prstGeom prst="flowChartDecision">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Đánh giá giải pháp</a:t>
                </a:r>
                <a:endParaRPr sz="1300" b="1" i="0" u="none" strike="noStrike" cap="none">
                  <a:solidFill>
                    <a:schemeClr val="dk1"/>
                  </a:solidFill>
                  <a:latin typeface="Arial"/>
                  <a:ea typeface="Arial"/>
                  <a:cs typeface="Arial"/>
                  <a:sym typeface="Arial"/>
                </a:endParaRPr>
              </a:p>
            </p:txBody>
          </p:sp>
          <p:cxnSp>
            <p:nvCxnSpPr>
              <p:cNvPr id="1064" name="Google Shape;1064;p31"/>
              <p:cNvCxnSpPr>
                <a:stCxn id="1012" idx="5"/>
              </p:cNvCxnSpPr>
              <p:nvPr/>
            </p:nvCxnSpPr>
            <p:spPr>
              <a:xfrm>
                <a:off x="3796978" y="3744083"/>
                <a:ext cx="735300" cy="0"/>
              </a:xfrm>
              <a:prstGeom prst="straightConnector1">
                <a:avLst/>
              </a:prstGeom>
              <a:noFill/>
              <a:ln w="28575" cap="flat" cmpd="sng">
                <a:solidFill>
                  <a:schemeClr val="accent5"/>
                </a:solidFill>
                <a:prstDash val="dash"/>
                <a:miter lim="800000"/>
                <a:headEnd type="none" w="sm" len="sm"/>
                <a:tailEnd type="triangle" w="med" len="med"/>
              </a:ln>
            </p:spPr>
          </p:cxnSp>
          <p:cxnSp>
            <p:nvCxnSpPr>
              <p:cNvPr id="1065" name="Google Shape;1065;p31"/>
              <p:cNvCxnSpPr>
                <a:stCxn id="1059" idx="3"/>
                <a:endCxn id="1060" idx="1"/>
              </p:cNvCxnSpPr>
              <p:nvPr/>
            </p:nvCxnSpPr>
            <p:spPr>
              <a:xfrm>
                <a:off x="3638320" y="5023086"/>
                <a:ext cx="542400" cy="0"/>
              </a:xfrm>
              <a:prstGeom prst="straightConnector1">
                <a:avLst/>
              </a:prstGeom>
              <a:noFill/>
              <a:ln w="28575" cap="flat" cmpd="sng">
                <a:solidFill>
                  <a:schemeClr val="accent5"/>
                </a:solidFill>
                <a:prstDash val="solid"/>
                <a:miter lim="800000"/>
                <a:headEnd type="none" w="sm" len="sm"/>
                <a:tailEnd type="triangle" w="med" len="med"/>
              </a:ln>
            </p:spPr>
          </p:cxnSp>
          <p:cxnSp>
            <p:nvCxnSpPr>
              <p:cNvPr id="1066" name="Google Shape;1066;p31"/>
              <p:cNvCxnSpPr>
                <a:stCxn id="1060" idx="3"/>
                <a:endCxn id="1063" idx="1"/>
              </p:cNvCxnSpPr>
              <p:nvPr/>
            </p:nvCxnSpPr>
            <p:spPr>
              <a:xfrm>
                <a:off x="5728401" y="5023086"/>
                <a:ext cx="312300" cy="0"/>
              </a:xfrm>
              <a:prstGeom prst="straightConnector1">
                <a:avLst/>
              </a:prstGeom>
              <a:noFill/>
              <a:ln w="28575" cap="flat" cmpd="sng">
                <a:solidFill>
                  <a:schemeClr val="accent5"/>
                </a:solidFill>
                <a:prstDash val="solid"/>
                <a:miter lim="800000"/>
                <a:headEnd type="none" w="sm" len="sm"/>
                <a:tailEnd type="triangle" w="med" len="med"/>
              </a:ln>
            </p:spPr>
          </p:cxnSp>
          <p:cxnSp>
            <p:nvCxnSpPr>
              <p:cNvPr id="1067" name="Google Shape;1067;p31"/>
              <p:cNvCxnSpPr>
                <a:stCxn id="1063" idx="0"/>
                <a:endCxn id="1062" idx="2"/>
              </p:cNvCxnSpPr>
              <p:nvPr/>
            </p:nvCxnSpPr>
            <p:spPr>
              <a:xfrm rot="10800000" flipH="1">
                <a:off x="7062297" y="4174251"/>
                <a:ext cx="2400" cy="468000"/>
              </a:xfrm>
              <a:prstGeom prst="straightConnector1">
                <a:avLst/>
              </a:prstGeom>
              <a:noFill/>
              <a:ln w="28575" cap="flat" cmpd="sng">
                <a:solidFill>
                  <a:schemeClr val="accent5"/>
                </a:solidFill>
                <a:prstDash val="solid"/>
                <a:miter lim="800000"/>
                <a:headEnd type="none" w="sm" len="sm"/>
                <a:tailEnd type="triangle" w="med" len="med"/>
              </a:ln>
            </p:spPr>
          </p:cxnSp>
          <p:cxnSp>
            <p:nvCxnSpPr>
              <p:cNvPr id="1068" name="Google Shape;1068;p31"/>
              <p:cNvCxnSpPr>
                <a:stCxn id="1063" idx="2"/>
                <a:endCxn id="1061" idx="3"/>
              </p:cNvCxnSpPr>
              <p:nvPr/>
            </p:nvCxnSpPr>
            <p:spPr>
              <a:xfrm rot="5400000">
                <a:off x="5724747" y="4576971"/>
                <a:ext cx="510600" cy="2164500"/>
              </a:xfrm>
              <a:prstGeom prst="bentConnector2">
                <a:avLst/>
              </a:prstGeom>
              <a:noFill/>
              <a:ln w="28575" cap="flat" cmpd="sng">
                <a:solidFill>
                  <a:schemeClr val="accent5"/>
                </a:solidFill>
                <a:prstDash val="solid"/>
                <a:miter lim="800000"/>
                <a:headEnd type="none" w="sm" len="sm"/>
                <a:tailEnd type="triangle" w="med" len="med"/>
              </a:ln>
            </p:spPr>
          </p:cxnSp>
          <p:cxnSp>
            <p:nvCxnSpPr>
              <p:cNvPr id="1069" name="Google Shape;1069;p31"/>
              <p:cNvCxnSpPr>
                <a:stCxn id="1061" idx="1"/>
                <a:endCxn id="1059" idx="2"/>
              </p:cNvCxnSpPr>
              <p:nvPr/>
            </p:nvCxnSpPr>
            <p:spPr>
              <a:xfrm rot="10800000">
                <a:off x="3114047" y="5296128"/>
                <a:ext cx="854100" cy="618300"/>
              </a:xfrm>
              <a:prstGeom prst="bentConnector2">
                <a:avLst/>
              </a:prstGeom>
              <a:noFill/>
              <a:ln w="28575" cap="flat" cmpd="sng">
                <a:solidFill>
                  <a:schemeClr val="accent5"/>
                </a:solidFill>
                <a:prstDash val="solid"/>
                <a:miter lim="800000"/>
                <a:headEnd type="none" w="sm" len="sm"/>
                <a:tailEnd type="triangle" w="med" len="med"/>
              </a:ln>
            </p:spPr>
          </p:cxnSp>
          <p:cxnSp>
            <p:nvCxnSpPr>
              <p:cNvPr id="1070" name="Google Shape;1070;p31"/>
              <p:cNvCxnSpPr>
                <a:endCxn id="1060" idx="0"/>
              </p:cNvCxnSpPr>
              <p:nvPr/>
            </p:nvCxnSpPr>
            <p:spPr>
              <a:xfrm>
                <a:off x="4954490" y="4333560"/>
                <a:ext cx="0" cy="416400"/>
              </a:xfrm>
              <a:prstGeom prst="straightConnector1">
                <a:avLst/>
              </a:prstGeom>
              <a:noFill/>
              <a:ln w="28575" cap="flat" cmpd="sng">
                <a:solidFill>
                  <a:schemeClr val="accent5"/>
                </a:solidFill>
                <a:prstDash val="dash"/>
                <a:miter lim="800000"/>
                <a:headEnd type="none" w="sm" len="sm"/>
                <a:tailEnd type="triangle" w="med" len="med"/>
              </a:ln>
            </p:spPr>
          </p:cxnSp>
          <p:pic>
            <p:nvPicPr>
              <p:cNvPr id="1071" name="Google Shape;1071;p31"/>
              <p:cNvPicPr preferRelativeResize="0"/>
              <p:nvPr/>
            </p:nvPicPr>
            <p:blipFill rotWithShape="1">
              <a:blip r:embed="rId3">
                <a:alphaModFix/>
              </a:blip>
              <a:srcRect/>
              <a:stretch/>
            </p:blipFill>
            <p:spPr>
              <a:xfrm>
                <a:off x="7194523" y="5474876"/>
                <a:ext cx="360000" cy="360000"/>
              </a:xfrm>
              <a:prstGeom prst="rect">
                <a:avLst/>
              </a:prstGeom>
              <a:noFill/>
              <a:ln>
                <a:noFill/>
              </a:ln>
            </p:spPr>
          </p:pic>
          <p:pic>
            <p:nvPicPr>
              <p:cNvPr id="1072" name="Google Shape;1072;p31"/>
              <p:cNvPicPr preferRelativeResize="0"/>
              <p:nvPr/>
            </p:nvPicPr>
            <p:blipFill rotWithShape="1">
              <a:blip r:embed="rId4">
                <a:alphaModFix/>
              </a:blip>
              <a:srcRect/>
              <a:stretch/>
            </p:blipFill>
            <p:spPr>
              <a:xfrm>
                <a:off x="7194523" y="4282044"/>
                <a:ext cx="360000" cy="360000"/>
              </a:xfrm>
              <a:prstGeom prst="rect">
                <a:avLst/>
              </a:prstGeom>
              <a:noFill/>
              <a:ln>
                <a:noFill/>
              </a:ln>
            </p:spPr>
          </p:pic>
        </p:grpSp>
      </p:grpSp>
      <p:sp>
        <p:nvSpPr>
          <p:cNvPr id="1073" name="Google Shape;1073;p31"/>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hàng loạt và học trực tuyến</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32"/>
          <p:cNvSpPr/>
          <p:nvPr/>
        </p:nvSpPr>
        <p:spPr>
          <a:xfrm>
            <a:off x="702940" y="1700808"/>
            <a:ext cx="8632825" cy="848163"/>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1" i="0" u="none" strike="noStrike" cap="none">
                <a:solidFill>
                  <a:srgbClr val="1429A0"/>
                </a:solidFill>
                <a:latin typeface="Arial"/>
                <a:ea typeface="Arial"/>
                <a:cs typeface="Arial"/>
                <a:sym typeface="Arial"/>
              </a:rPr>
              <a:t>Học tập dựa trên mẫu</a:t>
            </a:r>
            <a:r>
              <a:rPr lang="en-US" sz="1300" b="0" i="0" u="none" strike="noStrike" cap="none">
                <a:solidFill>
                  <a:schemeClr val="dk1"/>
                </a:solidFill>
                <a:latin typeface="Arial"/>
                <a:ea typeface="Arial"/>
                <a:cs typeface="Arial"/>
                <a:sym typeface="Arial"/>
              </a:rPr>
              <a:t>: Hệ thống học bằng cách ghi nhớ các mẫu huấn luyện. Nó được khái quát hóa bằng cách so sánh dữ liệu mới và các mẫu đã học bằng cách sử dụng các phép đo tương tự.</a:t>
            </a:r>
            <a:endParaRPr sz="1300" b="0" i="0" u="none" strike="noStrike" cap="none">
              <a:solidFill>
                <a:schemeClr val="dk1"/>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a:solidFill>
                  <a:srgbClr val="1429A0"/>
                </a:solidFill>
                <a:latin typeface="Arial"/>
                <a:ea typeface="Arial"/>
                <a:cs typeface="Arial"/>
                <a:sym typeface="Arial"/>
              </a:rPr>
              <a:t>Học tập dựa trên mô hình</a:t>
            </a:r>
            <a:r>
              <a:rPr lang="en-US" sz="1300" b="0" i="0" u="none" strike="noStrike" cap="none">
                <a:solidFill>
                  <a:schemeClr val="dk1"/>
                </a:solidFill>
                <a:latin typeface="Arial"/>
                <a:ea typeface="Arial"/>
                <a:cs typeface="Arial"/>
                <a:sym typeface="Arial"/>
              </a:rPr>
              <a:t>: Hệ thống tạo một mô hình từ các mẫu và sử dụng nó để dự đoán.</a:t>
            </a:r>
            <a:endParaRPr sz="1300" b="0" i="0" u="none" strike="noStrike" cap="none">
              <a:solidFill>
                <a:schemeClr val="dk1"/>
              </a:solidFill>
              <a:latin typeface="Arial"/>
              <a:ea typeface="Arial"/>
              <a:cs typeface="Arial"/>
              <a:sym typeface="Arial"/>
            </a:endParaRPr>
          </a:p>
        </p:txBody>
      </p:sp>
      <p:grpSp>
        <p:nvGrpSpPr>
          <p:cNvPr id="1083" name="Google Shape;1083;p32"/>
          <p:cNvGrpSpPr/>
          <p:nvPr/>
        </p:nvGrpSpPr>
        <p:grpSpPr>
          <a:xfrm>
            <a:off x="702940" y="2708920"/>
            <a:ext cx="8635058" cy="2673588"/>
            <a:chOff x="702940" y="3131676"/>
            <a:chExt cx="8635058" cy="2673588"/>
          </a:xfrm>
        </p:grpSpPr>
        <p:grpSp>
          <p:nvGrpSpPr>
            <p:cNvPr id="1084" name="Google Shape;1084;p32"/>
            <p:cNvGrpSpPr/>
            <p:nvPr/>
          </p:nvGrpSpPr>
          <p:grpSpPr>
            <a:xfrm>
              <a:off x="702940" y="3131676"/>
              <a:ext cx="8635058" cy="2673588"/>
              <a:chOff x="702940" y="2627620"/>
              <a:chExt cx="8635058" cy="2673588"/>
            </a:xfrm>
          </p:grpSpPr>
          <p:sp>
            <p:nvSpPr>
              <p:cNvPr id="1085" name="Google Shape;1085;p32"/>
              <p:cNvSpPr/>
              <p:nvPr/>
            </p:nvSpPr>
            <p:spPr>
              <a:xfrm>
                <a:off x="5198325" y="2788512"/>
                <a:ext cx="4139673" cy="2512696"/>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6" name="Google Shape;1086;p32"/>
              <p:cNvSpPr/>
              <p:nvPr/>
            </p:nvSpPr>
            <p:spPr>
              <a:xfrm>
                <a:off x="6103539" y="2627620"/>
                <a:ext cx="2375247"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1429A0"/>
                    </a:solidFill>
                    <a:latin typeface="Arial"/>
                    <a:ea typeface="Arial"/>
                    <a:cs typeface="Arial"/>
                    <a:sym typeface="Arial"/>
                  </a:rPr>
                  <a:t>Học tập dựa trên mô hình</a:t>
                </a:r>
                <a:endParaRPr sz="1600" b="1" i="0" u="none" strike="noStrike" cap="none">
                  <a:solidFill>
                    <a:srgbClr val="1429A0"/>
                  </a:solidFill>
                  <a:latin typeface="Arial"/>
                  <a:ea typeface="Arial"/>
                  <a:cs typeface="Arial"/>
                  <a:sym typeface="Arial"/>
                </a:endParaRPr>
              </a:p>
            </p:txBody>
          </p:sp>
          <p:sp>
            <p:nvSpPr>
              <p:cNvPr id="1087" name="Google Shape;1087;p32"/>
              <p:cNvSpPr/>
              <p:nvPr/>
            </p:nvSpPr>
            <p:spPr>
              <a:xfrm>
                <a:off x="702940" y="2788512"/>
                <a:ext cx="4139673" cy="2512695"/>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8" name="Google Shape;1088;p32"/>
              <p:cNvSpPr/>
              <p:nvPr/>
            </p:nvSpPr>
            <p:spPr>
              <a:xfrm>
                <a:off x="1568052" y="2627620"/>
                <a:ext cx="2375248"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1429A0"/>
                    </a:solidFill>
                    <a:latin typeface="Arial"/>
                    <a:ea typeface="Arial"/>
                    <a:cs typeface="Arial"/>
                    <a:sym typeface="Arial"/>
                  </a:rPr>
                  <a:t>Học tập dựa trên sơ thẩm </a:t>
                </a:r>
                <a:endParaRPr sz="1600" b="1" i="0" u="none" strike="noStrike" cap="none">
                  <a:solidFill>
                    <a:srgbClr val="1429A0"/>
                  </a:solidFill>
                  <a:latin typeface="Arial"/>
                  <a:ea typeface="Arial"/>
                  <a:cs typeface="Arial"/>
                  <a:sym typeface="Arial"/>
                </a:endParaRPr>
              </a:p>
            </p:txBody>
          </p:sp>
          <p:pic>
            <p:nvPicPr>
              <p:cNvPr id="1089" name="Google Shape;1089;p32"/>
              <p:cNvPicPr preferRelativeResize="0"/>
              <p:nvPr/>
            </p:nvPicPr>
            <p:blipFill rotWithShape="1">
              <a:blip r:embed="rId3">
                <a:alphaModFix/>
              </a:blip>
              <a:srcRect l="8101" t="26179" r="55118" b="19039"/>
              <a:stretch/>
            </p:blipFill>
            <p:spPr>
              <a:xfrm>
                <a:off x="846956" y="3216096"/>
                <a:ext cx="3857391" cy="1956698"/>
              </a:xfrm>
              <a:prstGeom prst="rect">
                <a:avLst/>
              </a:prstGeom>
              <a:noFill/>
              <a:ln>
                <a:noFill/>
              </a:ln>
            </p:spPr>
          </p:pic>
          <p:sp>
            <p:nvSpPr>
              <p:cNvPr id="1090" name="Google Shape;1090;p32"/>
              <p:cNvSpPr txBox="1"/>
              <p:nvPr/>
            </p:nvSpPr>
            <p:spPr>
              <a:xfrm>
                <a:off x="829822" y="3271429"/>
                <a:ext cx="1241269" cy="200055"/>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Đặc điểm 2</a:t>
                </a:r>
                <a:endParaRPr sz="1300" b="1" i="0" u="none" strike="noStrike" cap="none">
                  <a:solidFill>
                    <a:srgbClr val="262626"/>
                  </a:solidFill>
                  <a:latin typeface="Arial"/>
                  <a:ea typeface="Arial"/>
                  <a:cs typeface="Arial"/>
                  <a:sym typeface="Arial"/>
                </a:endParaRPr>
              </a:p>
            </p:txBody>
          </p:sp>
          <p:sp>
            <p:nvSpPr>
              <p:cNvPr id="1091" name="Google Shape;1091;p32"/>
              <p:cNvSpPr txBox="1"/>
              <p:nvPr/>
            </p:nvSpPr>
            <p:spPr>
              <a:xfrm>
                <a:off x="3427811" y="5030676"/>
                <a:ext cx="1276536" cy="200055"/>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Đặc điểm 1</a:t>
                </a:r>
                <a:endParaRPr sz="1300" b="1" i="0" u="none" strike="noStrike" cap="none">
                  <a:solidFill>
                    <a:srgbClr val="262626"/>
                  </a:solidFill>
                  <a:latin typeface="Arial"/>
                  <a:ea typeface="Arial"/>
                  <a:cs typeface="Arial"/>
                  <a:sym typeface="Arial"/>
                </a:endParaRPr>
              </a:p>
            </p:txBody>
          </p:sp>
          <p:sp>
            <p:nvSpPr>
              <p:cNvPr id="1092" name="Google Shape;1092;p32"/>
              <p:cNvSpPr txBox="1"/>
              <p:nvPr/>
            </p:nvSpPr>
            <p:spPr>
              <a:xfrm>
                <a:off x="1999084" y="4477782"/>
                <a:ext cx="792088" cy="175354"/>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262626"/>
                    </a:solidFill>
                    <a:latin typeface="Arial"/>
                    <a:ea typeface="Arial"/>
                    <a:cs typeface="Arial"/>
                    <a:sym typeface="Arial"/>
                  </a:rPr>
                  <a:t>Mẫu mới</a:t>
                </a:r>
                <a:endParaRPr sz="1100" b="1" i="0" u="none" strike="noStrike" cap="none">
                  <a:solidFill>
                    <a:srgbClr val="262626"/>
                  </a:solidFill>
                  <a:latin typeface="Arial"/>
                  <a:ea typeface="Arial"/>
                  <a:cs typeface="Arial"/>
                  <a:sym typeface="Arial"/>
                </a:endParaRPr>
              </a:p>
            </p:txBody>
          </p:sp>
          <p:sp>
            <p:nvSpPr>
              <p:cNvPr id="1093" name="Google Shape;1093;p32"/>
              <p:cNvSpPr txBox="1"/>
              <p:nvPr/>
            </p:nvSpPr>
            <p:spPr>
              <a:xfrm>
                <a:off x="2755676" y="4108637"/>
                <a:ext cx="792088" cy="338554"/>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262626"/>
                    </a:solidFill>
                    <a:latin typeface="Arial"/>
                    <a:ea typeface="Arial"/>
                    <a:cs typeface="Arial"/>
                    <a:sym typeface="Arial"/>
                  </a:rPr>
                  <a:t>Tập huấn mẫu</a:t>
                </a:r>
                <a:endParaRPr sz="1100" b="1" i="0" u="none" strike="noStrike" cap="none">
                  <a:solidFill>
                    <a:srgbClr val="262626"/>
                  </a:solidFill>
                  <a:latin typeface="Arial"/>
                  <a:ea typeface="Arial"/>
                  <a:cs typeface="Arial"/>
                  <a:sym typeface="Arial"/>
                </a:endParaRPr>
              </a:p>
            </p:txBody>
          </p:sp>
          <p:pic>
            <p:nvPicPr>
              <p:cNvPr id="1094" name="Google Shape;1094;p32"/>
              <p:cNvPicPr preferRelativeResize="0"/>
              <p:nvPr/>
            </p:nvPicPr>
            <p:blipFill rotWithShape="1">
              <a:blip r:embed="rId3">
                <a:alphaModFix/>
              </a:blip>
              <a:srcRect l="61942" t="27848" r="3515" b="18350"/>
              <a:stretch/>
            </p:blipFill>
            <p:spPr>
              <a:xfrm>
                <a:off x="5268211" y="3196102"/>
                <a:ext cx="3787658" cy="2009252"/>
              </a:xfrm>
              <a:prstGeom prst="rect">
                <a:avLst/>
              </a:prstGeom>
              <a:noFill/>
              <a:ln>
                <a:noFill/>
              </a:ln>
            </p:spPr>
          </p:pic>
          <p:sp>
            <p:nvSpPr>
              <p:cNvPr id="1095" name="Google Shape;1095;p32"/>
              <p:cNvSpPr txBox="1"/>
              <p:nvPr/>
            </p:nvSpPr>
            <p:spPr>
              <a:xfrm>
                <a:off x="6853067" y="4125864"/>
                <a:ext cx="792088" cy="169277"/>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262626"/>
                    </a:solidFill>
                    <a:latin typeface="Arial"/>
                    <a:ea typeface="Arial"/>
                    <a:cs typeface="Arial"/>
                    <a:sym typeface="Arial"/>
                  </a:rPr>
                  <a:t>Mẫu mới</a:t>
                </a:r>
                <a:endParaRPr sz="1100" b="1" i="0" u="none" strike="noStrike" cap="none">
                  <a:solidFill>
                    <a:srgbClr val="262626"/>
                  </a:solidFill>
                  <a:latin typeface="Arial"/>
                  <a:ea typeface="Arial"/>
                  <a:cs typeface="Arial"/>
                  <a:sym typeface="Arial"/>
                </a:endParaRPr>
              </a:p>
            </p:txBody>
          </p:sp>
          <p:sp>
            <p:nvSpPr>
              <p:cNvPr id="1096" name="Google Shape;1096;p32"/>
              <p:cNvSpPr txBox="1"/>
              <p:nvPr/>
            </p:nvSpPr>
            <p:spPr>
              <a:xfrm>
                <a:off x="6662068" y="3196102"/>
                <a:ext cx="521592" cy="169277"/>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262626"/>
                    </a:solidFill>
                    <a:latin typeface="Arial"/>
                    <a:ea typeface="Arial"/>
                    <a:cs typeface="Arial"/>
                    <a:sym typeface="Arial"/>
                  </a:rPr>
                  <a:t>Mô hình</a:t>
                </a:r>
                <a:endParaRPr sz="1100" b="1" i="0" u="none" strike="noStrike" cap="none">
                  <a:solidFill>
                    <a:srgbClr val="262626"/>
                  </a:solidFill>
                  <a:latin typeface="Arial"/>
                  <a:ea typeface="Arial"/>
                  <a:cs typeface="Arial"/>
                  <a:sym typeface="Arial"/>
                </a:endParaRPr>
              </a:p>
            </p:txBody>
          </p:sp>
        </p:grpSp>
        <p:sp>
          <p:nvSpPr>
            <p:cNvPr id="1097" name="Google Shape;1097;p32"/>
            <p:cNvSpPr txBox="1"/>
            <p:nvPr/>
          </p:nvSpPr>
          <p:spPr>
            <a:xfrm>
              <a:off x="5324320" y="3735126"/>
              <a:ext cx="1241269" cy="200055"/>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Đặc điểm 2</a:t>
              </a:r>
              <a:endParaRPr sz="1300" b="1" i="0" u="none" strike="noStrike" cap="none">
                <a:solidFill>
                  <a:srgbClr val="262626"/>
                </a:solidFill>
                <a:latin typeface="Arial"/>
                <a:ea typeface="Arial"/>
                <a:cs typeface="Arial"/>
                <a:sym typeface="Arial"/>
              </a:endParaRPr>
            </a:p>
          </p:txBody>
        </p:sp>
        <p:sp>
          <p:nvSpPr>
            <p:cNvPr id="1098" name="Google Shape;1098;p32"/>
            <p:cNvSpPr txBox="1"/>
            <p:nvPr/>
          </p:nvSpPr>
          <p:spPr>
            <a:xfrm>
              <a:off x="7759724" y="5512232"/>
              <a:ext cx="1296145" cy="200055"/>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Đặc điểm 1</a:t>
              </a:r>
              <a:endParaRPr sz="1300" b="1" i="0" u="none" strike="noStrike" cap="none">
                <a:solidFill>
                  <a:srgbClr val="262626"/>
                </a:solidFill>
                <a:latin typeface="Arial"/>
                <a:ea typeface="Arial"/>
                <a:cs typeface="Arial"/>
                <a:sym typeface="Arial"/>
              </a:endParaRPr>
            </a:p>
          </p:txBody>
        </p:sp>
      </p:grpSp>
      <p:sp>
        <p:nvSpPr>
          <p:cNvPr id="1099" name="Google Shape;1099;p32"/>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tập dựa trên mẫu và Học tập dựa trên mô hình</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4A941C14-6282-BD95-C583-3F18F3BC6531}"/>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F6ED90E9-0CE7-CAC2-B197-CA43C84611EC}"/>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D73E5D75-4B1D-92AC-E7B2-B37ED6A6CE7E}"/>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71D235A2-01BF-26CF-2347-BE2672006571}"/>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indent="-176213">
              <a:spcBef>
                <a:spcPts val="1000"/>
              </a:spcBef>
              <a:buClr>
                <a:srgbClr val="A6A6A6"/>
              </a:buClr>
              <a:buSzPts val="2160"/>
              <a:buFont typeface="Arial"/>
              <a:buChar char="•"/>
            </a:pPr>
            <a:r>
              <a:rPr lang="en-US" sz="1800" dirty="0">
                <a:solidFill>
                  <a:schemeClr val="tx1"/>
                </a:solidFill>
              </a:rPr>
              <a:t>1.6. Quy </a:t>
            </a:r>
            <a:r>
              <a:rPr lang="en-US" sz="1800" dirty="0" err="1">
                <a:solidFill>
                  <a:schemeClr val="tx1"/>
                </a:solidFill>
              </a:rPr>
              <a:t>trình</a:t>
            </a:r>
            <a:r>
              <a:rPr lang="en-US" sz="1800" dirty="0">
                <a:solidFill>
                  <a:schemeClr val="tx1"/>
                </a:solidFill>
              </a:rPr>
              <a:t> </a:t>
            </a:r>
            <a:r>
              <a:rPr lang="en-US" sz="1800" dirty="0" err="1">
                <a:solidFill>
                  <a:schemeClr val="tx1"/>
                </a:solidFill>
              </a:rPr>
              <a:t>phân</a:t>
            </a:r>
            <a:r>
              <a:rPr lang="en-US" sz="1800" dirty="0">
                <a:solidFill>
                  <a:schemeClr val="tx1"/>
                </a:solidFill>
              </a:rPr>
              <a:t> </a:t>
            </a:r>
            <a:r>
              <a:rPr lang="en-US" sz="1800" dirty="0" err="1">
                <a:solidFill>
                  <a:schemeClr val="tx1"/>
                </a:solidFill>
              </a:rPr>
              <a:t>tích</a:t>
            </a:r>
            <a:r>
              <a:rPr lang="en-US" sz="1800" dirty="0">
                <a:solidFill>
                  <a:schemeClr val="tx1"/>
                </a:solidFill>
              </a:rPr>
              <a:t> </a:t>
            </a:r>
            <a:r>
              <a:rPr lang="en-US" sz="1800" dirty="0" err="1">
                <a:solidFill>
                  <a:schemeClr val="tx1"/>
                </a:solidFill>
              </a:rPr>
              <a:t>dữ</a:t>
            </a:r>
            <a:r>
              <a:rPr lang="en-US" sz="1800" dirty="0">
                <a:solidFill>
                  <a:schemeClr val="tx1"/>
                </a:solidFill>
              </a:rPr>
              <a:t> </a:t>
            </a:r>
            <a:r>
              <a:rPr lang="en-US" sz="1800" dirty="0" err="1">
                <a:solidFill>
                  <a:schemeClr val="tx1"/>
                </a:solidFill>
              </a:rPr>
              <a:t>liệu</a:t>
            </a:r>
            <a:r>
              <a:rPr lang="en-US" sz="1800" dirty="0">
                <a:solidFill>
                  <a:schemeClr val="tx1"/>
                </a:solidFill>
              </a:rPr>
              <a:t> </a:t>
            </a:r>
            <a:r>
              <a:rPr lang="en-US" sz="1800" dirty="0" err="1">
                <a:solidFill>
                  <a:schemeClr val="tx1"/>
                </a:solidFill>
              </a:rPr>
              <a:t>dựa</a:t>
            </a:r>
            <a:r>
              <a:rPr lang="en-US" sz="1800" dirty="0">
                <a:solidFill>
                  <a:schemeClr val="tx1"/>
                </a:solidFill>
              </a:rPr>
              <a:t> </a:t>
            </a:r>
            <a:r>
              <a:rPr lang="en-US" sz="1800" dirty="0" err="1">
                <a:solidFill>
                  <a:schemeClr val="tx1"/>
                </a:solidFill>
              </a:rPr>
              <a:t>trên</a:t>
            </a:r>
            <a:r>
              <a:rPr lang="en-US" sz="1800" dirty="0">
                <a:solidFill>
                  <a:schemeClr val="tx1"/>
                </a:solidFill>
              </a:rPr>
              <a:t> </a:t>
            </a:r>
            <a:r>
              <a:rPr lang="en-US" sz="1800" dirty="0" err="1">
                <a:solidFill>
                  <a:schemeClr val="tx1"/>
                </a:solidFill>
              </a:rPr>
              <a:t>học</a:t>
            </a:r>
            <a:r>
              <a:rPr lang="en-US" sz="1800" dirty="0">
                <a:solidFill>
                  <a:schemeClr val="tx1"/>
                </a:solidFill>
              </a:rPr>
              <a:t> </a:t>
            </a:r>
            <a:r>
              <a:rPr lang="en-US" sz="1800" dirty="0" err="1">
                <a:solidFill>
                  <a:schemeClr val="tx1"/>
                </a:solidFill>
              </a:rPr>
              <a:t>máy</a:t>
            </a:r>
            <a:endParaRPr sz="1800" dirty="0">
              <a:solidFill>
                <a:schemeClr val="tx1"/>
              </a:solidFil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759376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grpSp>
        <p:nvGrpSpPr>
          <p:cNvPr id="1116" name="Google Shape;1116;p34"/>
          <p:cNvGrpSpPr/>
          <p:nvPr/>
        </p:nvGrpSpPr>
        <p:grpSpPr>
          <a:xfrm>
            <a:off x="774948" y="2322586"/>
            <a:ext cx="6715579" cy="3813454"/>
            <a:chOff x="900129" y="2189545"/>
            <a:chExt cx="6715579" cy="3813454"/>
          </a:xfrm>
        </p:grpSpPr>
        <p:grpSp>
          <p:nvGrpSpPr>
            <p:cNvPr id="1117" name="Google Shape;1117;p34"/>
            <p:cNvGrpSpPr/>
            <p:nvPr/>
          </p:nvGrpSpPr>
          <p:grpSpPr>
            <a:xfrm>
              <a:off x="900129" y="2226805"/>
              <a:ext cx="185994" cy="574783"/>
              <a:chOff x="900129" y="2611950"/>
              <a:chExt cx="185994" cy="574783"/>
            </a:xfrm>
          </p:grpSpPr>
          <p:sp>
            <p:nvSpPr>
              <p:cNvPr id="1118" name="Google Shape;1118;p34"/>
              <p:cNvSpPr/>
              <p:nvPr/>
            </p:nvSpPr>
            <p:spPr>
              <a:xfrm>
                <a:off x="900129" y="2611950"/>
                <a:ext cx="185994" cy="574783"/>
              </a:xfrm>
              <a:prstGeom prst="downArrow">
                <a:avLst>
                  <a:gd name="adj1" fmla="val 50000"/>
                  <a:gd name="adj2" fmla="val 50000"/>
                </a:avLst>
              </a:prstGeom>
              <a:solidFill>
                <a:srgbClr val="9999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19" name="Google Shape;1119;p34"/>
              <p:cNvSpPr/>
              <p:nvPr/>
            </p:nvSpPr>
            <p:spPr>
              <a:xfrm>
                <a:off x="900129" y="2814798"/>
                <a:ext cx="185994" cy="169085"/>
              </a:xfrm>
              <a:prstGeom prst="ellipse">
                <a:avLst/>
              </a:prstGeom>
              <a:solidFill>
                <a:schemeClr val="lt1"/>
              </a:solidFill>
              <a:ln w="76200" cap="flat" cmpd="sng">
                <a:solidFill>
                  <a:srgbClr val="9999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120" name="Google Shape;1120;p34"/>
            <p:cNvGrpSpPr/>
            <p:nvPr/>
          </p:nvGrpSpPr>
          <p:grpSpPr>
            <a:xfrm>
              <a:off x="900129" y="2836568"/>
              <a:ext cx="185994" cy="574783"/>
              <a:chOff x="870099" y="2590855"/>
              <a:chExt cx="216024" cy="734343"/>
            </a:xfrm>
          </p:grpSpPr>
          <p:sp>
            <p:nvSpPr>
              <p:cNvPr id="1121" name="Google Shape;1121;p34"/>
              <p:cNvSpPr/>
              <p:nvPr/>
            </p:nvSpPr>
            <p:spPr>
              <a:xfrm>
                <a:off x="870099" y="2590855"/>
                <a:ext cx="216024" cy="734343"/>
              </a:xfrm>
              <a:prstGeom prst="downArrow">
                <a:avLst>
                  <a:gd name="adj1" fmla="val 50000"/>
                  <a:gd name="adj2" fmla="val 50000"/>
                </a:avLst>
              </a:prstGeom>
              <a:solidFill>
                <a:srgbClr val="9C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22" name="Google Shape;1122;p34"/>
              <p:cNvSpPr/>
              <p:nvPr/>
            </p:nvSpPr>
            <p:spPr>
              <a:xfrm>
                <a:off x="870099" y="2838698"/>
                <a:ext cx="216024" cy="216024"/>
              </a:xfrm>
              <a:prstGeom prst="ellipse">
                <a:avLst/>
              </a:prstGeom>
              <a:solidFill>
                <a:schemeClr val="lt1"/>
              </a:solidFill>
              <a:ln w="76200"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123" name="Google Shape;1123;p34"/>
            <p:cNvGrpSpPr/>
            <p:nvPr/>
          </p:nvGrpSpPr>
          <p:grpSpPr>
            <a:xfrm>
              <a:off x="900129" y="3449218"/>
              <a:ext cx="185994" cy="574783"/>
              <a:chOff x="870099" y="3336886"/>
              <a:chExt cx="216024" cy="734343"/>
            </a:xfrm>
          </p:grpSpPr>
          <p:sp>
            <p:nvSpPr>
              <p:cNvPr id="1124" name="Google Shape;1124;p34"/>
              <p:cNvSpPr/>
              <p:nvPr/>
            </p:nvSpPr>
            <p:spPr>
              <a:xfrm>
                <a:off x="870099" y="3336886"/>
                <a:ext cx="216024" cy="734343"/>
              </a:xfrm>
              <a:prstGeom prst="downArrow">
                <a:avLst>
                  <a:gd name="adj1" fmla="val 50000"/>
                  <a:gd name="adj2" fmla="val 50000"/>
                </a:avLst>
              </a:prstGeom>
              <a:solidFill>
                <a:srgbClr val="2E75B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25" name="Google Shape;1125;p34"/>
              <p:cNvSpPr/>
              <p:nvPr/>
            </p:nvSpPr>
            <p:spPr>
              <a:xfrm>
                <a:off x="870099" y="3554012"/>
                <a:ext cx="216024" cy="216024"/>
              </a:xfrm>
              <a:prstGeom prst="ellipse">
                <a:avLst/>
              </a:prstGeom>
              <a:solidFill>
                <a:schemeClr val="lt1"/>
              </a:solidFill>
              <a:ln w="762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126" name="Google Shape;1126;p34"/>
            <p:cNvGrpSpPr/>
            <p:nvPr/>
          </p:nvGrpSpPr>
          <p:grpSpPr>
            <a:xfrm>
              <a:off x="900129" y="4098947"/>
              <a:ext cx="185994" cy="574783"/>
              <a:chOff x="870099" y="4082917"/>
              <a:chExt cx="216024" cy="734343"/>
            </a:xfrm>
          </p:grpSpPr>
          <p:sp>
            <p:nvSpPr>
              <p:cNvPr id="1127" name="Google Shape;1127;p34"/>
              <p:cNvSpPr/>
              <p:nvPr/>
            </p:nvSpPr>
            <p:spPr>
              <a:xfrm>
                <a:off x="870099" y="4082917"/>
                <a:ext cx="216024" cy="734343"/>
              </a:xfrm>
              <a:prstGeom prst="downArrow">
                <a:avLst>
                  <a:gd name="adj1" fmla="val 50000"/>
                  <a:gd name="adj2" fmla="val 50000"/>
                </a:avLst>
              </a:prstGeom>
              <a:solidFill>
                <a:srgbClr val="FF7C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28" name="Google Shape;1128;p34"/>
              <p:cNvSpPr/>
              <p:nvPr/>
            </p:nvSpPr>
            <p:spPr>
              <a:xfrm>
                <a:off x="870099" y="4342076"/>
                <a:ext cx="216024" cy="216024"/>
              </a:xfrm>
              <a:prstGeom prst="ellipse">
                <a:avLst/>
              </a:prstGeom>
              <a:solidFill>
                <a:schemeClr val="lt1"/>
              </a:solidFill>
              <a:ln w="76200" cap="flat" cmpd="sng">
                <a:solidFill>
                  <a:srgbClr val="FF7C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129" name="Google Shape;1129;p34"/>
            <p:cNvGrpSpPr/>
            <p:nvPr/>
          </p:nvGrpSpPr>
          <p:grpSpPr>
            <a:xfrm>
              <a:off x="900129" y="4750007"/>
              <a:ext cx="185994" cy="574783"/>
              <a:chOff x="870099" y="4828948"/>
              <a:chExt cx="216024" cy="734343"/>
            </a:xfrm>
          </p:grpSpPr>
          <p:sp>
            <p:nvSpPr>
              <p:cNvPr id="1130" name="Google Shape;1130;p34"/>
              <p:cNvSpPr/>
              <p:nvPr/>
            </p:nvSpPr>
            <p:spPr>
              <a:xfrm>
                <a:off x="870099" y="4828948"/>
                <a:ext cx="216024" cy="734343"/>
              </a:xfrm>
              <a:prstGeom prst="downArrow">
                <a:avLst>
                  <a:gd name="adj1" fmla="val 50000"/>
                  <a:gd name="adj2" fmla="val 50000"/>
                </a:avLst>
              </a:prstGeom>
              <a:solidFill>
                <a:srgbClr val="FF99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1" name="Google Shape;1131;p34"/>
              <p:cNvSpPr/>
              <p:nvPr/>
            </p:nvSpPr>
            <p:spPr>
              <a:xfrm>
                <a:off x="870099" y="5088107"/>
                <a:ext cx="216024" cy="216024"/>
              </a:xfrm>
              <a:prstGeom prst="ellipse">
                <a:avLst/>
              </a:prstGeom>
              <a:solidFill>
                <a:schemeClr val="lt1"/>
              </a:solidFill>
              <a:ln w="762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132" name="Google Shape;1132;p34"/>
            <p:cNvGrpSpPr/>
            <p:nvPr/>
          </p:nvGrpSpPr>
          <p:grpSpPr>
            <a:xfrm>
              <a:off x="900129" y="5401067"/>
              <a:ext cx="185994" cy="574783"/>
              <a:chOff x="900129" y="5531606"/>
              <a:chExt cx="185994" cy="574783"/>
            </a:xfrm>
          </p:grpSpPr>
          <p:sp>
            <p:nvSpPr>
              <p:cNvPr id="1133" name="Google Shape;1133;p34"/>
              <p:cNvSpPr/>
              <p:nvPr/>
            </p:nvSpPr>
            <p:spPr>
              <a:xfrm>
                <a:off x="900129" y="5531606"/>
                <a:ext cx="185994" cy="574783"/>
              </a:xfrm>
              <a:prstGeom prst="downArrow">
                <a:avLst>
                  <a:gd name="adj1" fmla="val 50000"/>
                  <a:gd name="adj2" fmla="val 50000"/>
                </a:avLst>
              </a:prstGeom>
              <a:solidFill>
                <a:srgbClr val="00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4" name="Google Shape;1134;p34"/>
              <p:cNvSpPr/>
              <p:nvPr/>
            </p:nvSpPr>
            <p:spPr>
              <a:xfrm>
                <a:off x="900129" y="5734455"/>
                <a:ext cx="185994" cy="169085"/>
              </a:xfrm>
              <a:prstGeom prst="ellipse">
                <a:avLst/>
              </a:prstGeom>
              <a:solidFill>
                <a:schemeClr val="lt1"/>
              </a:solidFill>
              <a:ln w="76200" cap="flat" cmpd="sng">
                <a:solidFill>
                  <a:srgbClr val="0099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35" name="Google Shape;1135;p34"/>
            <p:cNvSpPr/>
            <p:nvPr/>
          </p:nvSpPr>
          <p:spPr>
            <a:xfrm>
              <a:off x="1247108" y="2189545"/>
              <a:ext cx="6368600"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999FF"/>
                  </a:solidFill>
                  <a:latin typeface="Arial"/>
                  <a:ea typeface="Arial"/>
                  <a:cs typeface="Arial"/>
                  <a:sym typeface="Arial"/>
                </a:rPr>
                <a:t>01. </a:t>
              </a:r>
              <a:r>
                <a:rPr lang="en-US" sz="1400" b="0" i="0" u="none" strike="noStrike" cap="none">
                  <a:solidFill>
                    <a:schemeClr val="dk1"/>
                  </a:solidFill>
                  <a:latin typeface="Arial"/>
                  <a:ea typeface="Arial"/>
                  <a:cs typeface="Arial"/>
                  <a:sym typeface="Arial"/>
                </a:rPr>
                <a:t>Tìm hiểu doanh nghiệp và xác định vấn đề</a:t>
              </a:r>
              <a:endParaRPr sz="1400" b="0" i="0" u="none" strike="noStrike" cap="none">
                <a:solidFill>
                  <a:schemeClr val="dk1"/>
                </a:solidFill>
                <a:latin typeface="Arial"/>
                <a:ea typeface="Arial"/>
                <a:cs typeface="Arial"/>
                <a:sym typeface="Arial"/>
              </a:endParaRPr>
            </a:p>
          </p:txBody>
        </p:sp>
        <p:sp>
          <p:nvSpPr>
            <p:cNvPr id="1136" name="Google Shape;1136;p34"/>
            <p:cNvSpPr/>
            <p:nvPr/>
          </p:nvSpPr>
          <p:spPr>
            <a:xfrm>
              <a:off x="1247108" y="2867755"/>
              <a:ext cx="6368600"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CC2E5"/>
                  </a:solidFill>
                  <a:latin typeface="Arial"/>
                  <a:ea typeface="Arial"/>
                  <a:cs typeface="Arial"/>
                  <a:sym typeface="Arial"/>
                </a:rPr>
                <a:t>02. </a:t>
              </a:r>
              <a:r>
                <a:rPr lang="en-US" sz="1400" b="0" i="0" u="none" strike="noStrike" cap="none">
                  <a:solidFill>
                    <a:schemeClr val="dk1"/>
                  </a:solidFill>
                  <a:latin typeface="Arial"/>
                  <a:ea typeface="Arial"/>
                  <a:cs typeface="Arial"/>
                  <a:sym typeface="Arial"/>
                </a:rPr>
                <a:t>Thu thập dữ liệu</a:t>
              </a:r>
              <a:endParaRPr sz="1400" b="0" i="0" u="none" strike="noStrike" cap="none">
                <a:solidFill>
                  <a:schemeClr val="dk1"/>
                </a:solidFill>
                <a:latin typeface="Arial"/>
                <a:ea typeface="Arial"/>
                <a:cs typeface="Arial"/>
                <a:sym typeface="Arial"/>
              </a:endParaRPr>
            </a:p>
          </p:txBody>
        </p:sp>
        <p:sp>
          <p:nvSpPr>
            <p:cNvPr id="1137" name="Google Shape;1137;p34"/>
            <p:cNvSpPr/>
            <p:nvPr/>
          </p:nvSpPr>
          <p:spPr>
            <a:xfrm>
              <a:off x="1247108" y="3507753"/>
              <a:ext cx="6368600"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2E75B5"/>
                  </a:solidFill>
                  <a:latin typeface="Arial"/>
                  <a:ea typeface="Arial"/>
                  <a:cs typeface="Arial"/>
                  <a:sym typeface="Arial"/>
                </a:rPr>
                <a:t>03. </a:t>
              </a:r>
              <a:r>
                <a:rPr lang="en-US" sz="1400" b="0" i="0" u="none" strike="noStrike" cap="none">
                  <a:solidFill>
                    <a:schemeClr val="dk1"/>
                  </a:solidFill>
                  <a:latin typeface="Arial"/>
                  <a:ea typeface="Arial"/>
                  <a:cs typeface="Arial"/>
                  <a:sym typeface="Arial"/>
                </a:rPr>
                <a:t>Tiền xử lý và tìm kiếm dữ liệu</a:t>
              </a:r>
              <a:endParaRPr sz="1400" b="0" i="0" u="none" strike="noStrike" cap="none">
                <a:solidFill>
                  <a:schemeClr val="dk1"/>
                </a:solidFill>
                <a:latin typeface="Arial"/>
                <a:ea typeface="Arial"/>
                <a:cs typeface="Arial"/>
                <a:sym typeface="Arial"/>
              </a:endParaRPr>
            </a:p>
          </p:txBody>
        </p:sp>
        <p:sp>
          <p:nvSpPr>
            <p:cNvPr id="1138" name="Google Shape;1138;p34"/>
            <p:cNvSpPr/>
            <p:nvPr/>
          </p:nvSpPr>
          <p:spPr>
            <a:xfrm>
              <a:off x="1247108" y="4224175"/>
              <a:ext cx="6368600"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7C80"/>
                  </a:solidFill>
                  <a:latin typeface="Arial"/>
                  <a:ea typeface="Arial"/>
                  <a:cs typeface="Arial"/>
                  <a:sym typeface="Arial"/>
                </a:rPr>
                <a:t>04. </a:t>
              </a:r>
              <a:r>
                <a:rPr lang="en-US" sz="1400" b="0" i="0" u="none" strike="noStrike" cap="none">
                  <a:solidFill>
                    <a:schemeClr val="dk1"/>
                  </a:solidFill>
                  <a:latin typeface="Arial"/>
                  <a:ea typeface="Arial"/>
                  <a:cs typeface="Arial"/>
                  <a:sym typeface="Arial"/>
                </a:rPr>
                <a:t>Dữ liệu cho tập huấn mô hình</a:t>
              </a:r>
              <a:endParaRPr sz="1400" b="0" i="0" u="none" strike="noStrike" cap="none">
                <a:solidFill>
                  <a:schemeClr val="dk1"/>
                </a:solidFill>
                <a:latin typeface="Arial"/>
                <a:ea typeface="Arial"/>
                <a:cs typeface="Arial"/>
                <a:sym typeface="Arial"/>
              </a:endParaRPr>
            </a:p>
          </p:txBody>
        </p:sp>
        <p:sp>
          <p:nvSpPr>
            <p:cNvPr id="1139" name="Google Shape;1139;p34"/>
            <p:cNvSpPr/>
            <p:nvPr/>
          </p:nvSpPr>
          <p:spPr>
            <a:xfrm>
              <a:off x="1247108" y="4902385"/>
              <a:ext cx="6368600"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9933"/>
                  </a:solidFill>
                  <a:latin typeface="Arial"/>
                  <a:ea typeface="Arial"/>
                  <a:cs typeface="Arial"/>
                  <a:sym typeface="Arial"/>
                </a:rPr>
                <a:t>05. </a:t>
              </a:r>
              <a:r>
                <a:rPr lang="en-US" sz="1400" b="0" i="0" u="none" strike="noStrike" cap="none">
                  <a:solidFill>
                    <a:schemeClr val="dk1"/>
                  </a:solidFill>
                  <a:latin typeface="Arial"/>
                  <a:ea typeface="Arial"/>
                  <a:cs typeface="Arial"/>
                  <a:sym typeface="Arial"/>
                </a:rPr>
                <a:t>Đánh giá hoạt động của mô hình</a:t>
              </a:r>
              <a:endParaRPr sz="1400" b="0" i="0" u="none" strike="noStrike" cap="none">
                <a:solidFill>
                  <a:schemeClr val="dk1"/>
                </a:solidFill>
                <a:latin typeface="Arial"/>
                <a:ea typeface="Arial"/>
                <a:cs typeface="Arial"/>
                <a:sym typeface="Arial"/>
              </a:endParaRPr>
            </a:p>
          </p:txBody>
        </p:sp>
        <p:sp>
          <p:nvSpPr>
            <p:cNvPr id="1140" name="Google Shape;1140;p34"/>
            <p:cNvSpPr/>
            <p:nvPr/>
          </p:nvSpPr>
          <p:spPr>
            <a:xfrm>
              <a:off x="1247108" y="5580594"/>
              <a:ext cx="6368600"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9999"/>
                  </a:solidFill>
                  <a:latin typeface="Arial"/>
                  <a:ea typeface="Arial"/>
                  <a:cs typeface="Arial"/>
                  <a:sym typeface="Arial"/>
                </a:rPr>
                <a:t>06. </a:t>
              </a:r>
              <a:r>
                <a:rPr lang="en-US" sz="1400" b="0" i="0" u="none" strike="noStrike" cap="none">
                  <a:solidFill>
                    <a:schemeClr val="dk1"/>
                  </a:solidFill>
                  <a:latin typeface="Arial"/>
                  <a:ea typeface="Arial"/>
                  <a:cs typeface="Arial"/>
                  <a:sym typeface="Arial"/>
                </a:rPr>
                <a:t>Cải thiện hoạt động của mô hình và ứng dụng trên thị trường</a:t>
              </a:r>
              <a:endParaRPr sz="1400" b="0" i="0" u="none" strike="noStrike" cap="none">
                <a:solidFill>
                  <a:schemeClr val="dk1"/>
                </a:solidFill>
                <a:latin typeface="Arial"/>
                <a:ea typeface="Arial"/>
                <a:cs typeface="Arial"/>
                <a:sym typeface="Arial"/>
              </a:endParaRPr>
            </a:p>
          </p:txBody>
        </p:sp>
      </p:grpSp>
      <p:sp>
        <p:nvSpPr>
          <p:cNvPr id="1141" name="Google Shape;1141;p34"/>
          <p:cNvSpPr/>
          <p:nvPr/>
        </p:nvSpPr>
        <p:spPr>
          <a:xfrm>
            <a:off x="449998" y="1375101"/>
            <a:ext cx="9004986" cy="33855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rgbClr val="0C0C0C"/>
                </a:solidFill>
                <a:latin typeface="Arial"/>
                <a:ea typeface="Arial"/>
                <a:cs typeface="Arial"/>
                <a:sym typeface="Arial"/>
              </a:rPr>
              <a:t>Phân tích dữ liệu dựa trên học máy: Kế hoạch và quy trình</a:t>
            </a:r>
            <a:endParaRPr sz="2200" b="1" i="0" u="none" strike="noStrike" cap="none">
              <a:solidFill>
                <a:srgbClr val="0C0C0C"/>
              </a:solidFill>
              <a:latin typeface="Arial"/>
              <a:ea typeface="Arial"/>
              <a:cs typeface="Arial"/>
              <a:sym typeface="Arial"/>
            </a:endParaRPr>
          </a:p>
        </p:txBody>
      </p:sp>
      <p:sp>
        <p:nvSpPr>
          <p:cNvPr id="1142" name="Google Shape;1142;p34"/>
          <p:cNvSpPr/>
          <p:nvPr/>
        </p:nvSpPr>
        <p:spPr>
          <a:xfrm>
            <a:off x="558924" y="186130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Khi thực hiện phân tích dữ liệu dựa trên học máy, quy trình sau đây thường được tuân theo.</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grpSp>
        <p:nvGrpSpPr>
          <p:cNvPr id="1151" name="Google Shape;1151;p35"/>
          <p:cNvGrpSpPr/>
          <p:nvPr/>
        </p:nvGrpSpPr>
        <p:grpSpPr>
          <a:xfrm>
            <a:off x="661019" y="1371428"/>
            <a:ext cx="151796" cy="516008"/>
            <a:chOff x="577891" y="1266449"/>
            <a:chExt cx="216024" cy="734343"/>
          </a:xfrm>
        </p:grpSpPr>
        <p:sp>
          <p:nvSpPr>
            <p:cNvPr id="1152" name="Google Shape;1152;p35"/>
            <p:cNvSpPr/>
            <p:nvPr/>
          </p:nvSpPr>
          <p:spPr>
            <a:xfrm>
              <a:off x="577891" y="1266449"/>
              <a:ext cx="216024" cy="734343"/>
            </a:xfrm>
            <a:prstGeom prst="downArrow">
              <a:avLst>
                <a:gd name="adj1" fmla="val 50000"/>
                <a:gd name="adj2" fmla="val 50000"/>
              </a:avLst>
            </a:prstGeom>
            <a:solidFill>
              <a:srgbClr val="9999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3" name="Google Shape;1153;p35"/>
            <p:cNvSpPr/>
            <p:nvPr/>
          </p:nvSpPr>
          <p:spPr>
            <a:xfrm>
              <a:off x="577891" y="1525608"/>
              <a:ext cx="216024" cy="216024"/>
            </a:xfrm>
            <a:prstGeom prst="ellipse">
              <a:avLst/>
            </a:prstGeom>
            <a:solidFill>
              <a:schemeClr val="lt1"/>
            </a:solidFill>
            <a:ln w="76200" cap="flat" cmpd="sng">
              <a:solidFill>
                <a:srgbClr val="9999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54" name="Google Shape;1154;p35"/>
          <p:cNvSpPr/>
          <p:nvPr/>
        </p:nvSpPr>
        <p:spPr>
          <a:xfrm>
            <a:off x="954900" y="1422417"/>
            <a:ext cx="5580688"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999FF"/>
                </a:solidFill>
                <a:latin typeface="Arial"/>
                <a:ea typeface="Arial"/>
                <a:cs typeface="Arial"/>
                <a:sym typeface="Arial"/>
              </a:rPr>
              <a:t>01. </a:t>
            </a:r>
            <a:r>
              <a:rPr lang="en-US" sz="1400" b="0" i="0" u="none" strike="noStrike" cap="none">
                <a:solidFill>
                  <a:schemeClr val="dk1"/>
                </a:solidFill>
                <a:latin typeface="Arial"/>
                <a:ea typeface="Arial"/>
                <a:cs typeface="Arial"/>
                <a:sym typeface="Arial"/>
              </a:rPr>
              <a:t>Tìm hiểu doanh nghiệp và xác định vấn đề</a:t>
            </a:r>
            <a:endParaRPr sz="1400" b="0" i="0" u="none" strike="noStrike" cap="none">
              <a:solidFill>
                <a:schemeClr val="dk1"/>
              </a:solidFill>
              <a:latin typeface="Arial"/>
              <a:ea typeface="Arial"/>
              <a:cs typeface="Arial"/>
              <a:sym typeface="Arial"/>
            </a:endParaRPr>
          </a:p>
        </p:txBody>
      </p:sp>
      <p:sp>
        <p:nvSpPr>
          <p:cNvPr id="1155" name="Google Shape;1155;p35"/>
          <p:cNvSpPr/>
          <p:nvPr/>
        </p:nvSpPr>
        <p:spPr>
          <a:xfrm>
            <a:off x="702940" y="1916832"/>
            <a:ext cx="8632825" cy="1550919"/>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Ưu tiên hàng đầu trong phân tích dữ liệu dựa trên máy học là </a:t>
            </a:r>
            <a:r>
              <a:rPr lang="en-US" sz="1300" b="1" i="0" u="none" strike="noStrike" cap="none">
                <a:solidFill>
                  <a:srgbClr val="1429A0"/>
                </a:solidFill>
                <a:latin typeface="Arial"/>
                <a:ea typeface="Arial"/>
                <a:cs typeface="Arial"/>
                <a:sym typeface="Arial"/>
              </a:rPr>
              <a:t>xác định vấn đề cần giải quyết</a:t>
            </a:r>
            <a:r>
              <a:rPr lang="en-US" sz="1300" b="0" i="0" u="none" strike="noStrike" cap="none">
                <a:solidFill>
                  <a:srgbClr val="262626"/>
                </a:solidFill>
                <a:latin typeface="Arial"/>
                <a:ea typeface="Arial"/>
                <a:cs typeface="Arial"/>
                <a:sym typeface="Arial"/>
              </a:rPr>
              <a:t>.</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Xác định vấn đề bằng cách lặp lại quá trình tìm hiểu vấn đề mà bạn đang cố gắng giải quyết, hiểu lĩnh vực kinh doanh và nắm bắt các khái niệm của vấn đề. Thông qua việc liên tục xác định lại vấn đề và tìm giải pháp, sự hiểu biết của bạn về mục đích cụ thể và dữ liệu cần thiết sẽ trở nên rõ ràng.</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Ngoài ra, trong quá trình xác định vấn đề và động não tìm các loại dữ liệu cần thiết</a:t>
            </a:r>
            <a:r>
              <a:rPr lang="en-US" sz="1300" b="1" i="0" u="none" strike="noStrike" cap="none">
                <a:solidFill>
                  <a:srgbClr val="1429A0"/>
                </a:solidFill>
                <a:latin typeface="Arial"/>
                <a:ea typeface="Arial"/>
                <a:cs typeface="Arial"/>
                <a:sym typeface="Arial"/>
              </a:rPr>
              <a:t>, điều này sẽ tự nhiên dẫn đến một quy trình ra quyết định tạm thời về việc áp dụng các kỹ thuật học máy nào</a:t>
            </a:r>
            <a:r>
              <a:rPr lang="en-US" sz="1300" b="0" i="0" u="none" strike="noStrike" cap="none">
                <a:solidFill>
                  <a:srgbClr val="262626"/>
                </a:solidFill>
                <a:latin typeface="Arial"/>
                <a:ea typeface="Arial"/>
                <a:cs typeface="Arial"/>
                <a:sym typeface="Arial"/>
              </a:rPr>
              <a:t>.</a:t>
            </a:r>
            <a:endParaRPr sz="1300" b="0" i="0" u="none" strike="noStrike" cap="none">
              <a:solidFill>
                <a:srgbClr val="262626"/>
              </a:solidFill>
              <a:latin typeface="Arial"/>
              <a:ea typeface="Arial"/>
              <a:cs typeface="Arial"/>
              <a:sym typeface="Arial"/>
            </a:endParaRPr>
          </a:p>
        </p:txBody>
      </p:sp>
      <p:pic>
        <p:nvPicPr>
          <p:cNvPr id="1156" name="Google Shape;1156;p35"/>
          <p:cNvPicPr preferRelativeResize="0"/>
          <p:nvPr/>
        </p:nvPicPr>
        <p:blipFill rotWithShape="1">
          <a:blip r:embed="rId3">
            <a:alphaModFix/>
          </a:blip>
          <a:srcRect/>
          <a:stretch/>
        </p:blipFill>
        <p:spPr>
          <a:xfrm>
            <a:off x="3988995" y="3861048"/>
            <a:ext cx="1707236" cy="216453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5" name="Google Shape;1165;p36"/>
          <p:cNvSpPr/>
          <p:nvPr/>
        </p:nvSpPr>
        <p:spPr>
          <a:xfrm>
            <a:off x="954900" y="1422417"/>
            <a:ext cx="3780488"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CC2E5"/>
                </a:solidFill>
                <a:latin typeface="Arial"/>
                <a:ea typeface="Arial"/>
                <a:cs typeface="Arial"/>
                <a:sym typeface="Arial"/>
              </a:rPr>
              <a:t>02. </a:t>
            </a:r>
            <a:r>
              <a:rPr lang="en-US" sz="1400" b="0" i="0" u="none" strike="noStrike" cap="none">
                <a:solidFill>
                  <a:schemeClr val="dk1"/>
                </a:solidFill>
                <a:latin typeface="Arial"/>
                <a:ea typeface="Arial"/>
                <a:cs typeface="Arial"/>
                <a:sym typeface="Arial"/>
              </a:rPr>
              <a:t>Thu thập dữ liệu</a:t>
            </a:r>
            <a:endParaRPr sz="1400" b="0" i="0" u="none" strike="noStrike" cap="none">
              <a:solidFill>
                <a:schemeClr val="dk1"/>
              </a:solidFill>
              <a:latin typeface="Arial"/>
              <a:ea typeface="Arial"/>
              <a:cs typeface="Arial"/>
              <a:sym typeface="Arial"/>
            </a:endParaRPr>
          </a:p>
        </p:txBody>
      </p:sp>
      <p:sp>
        <p:nvSpPr>
          <p:cNvPr id="1166" name="Google Shape;1166;p36"/>
          <p:cNvSpPr/>
          <p:nvPr/>
        </p:nvSpPr>
        <p:spPr>
          <a:xfrm>
            <a:off x="702941" y="1916832"/>
            <a:ext cx="5184576" cy="2551193"/>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Nếu vấn đề phân tích rõ ràng thì phải </a:t>
            </a:r>
            <a:r>
              <a:rPr lang="en-US" sz="1300" b="1" i="0" u="none" strike="noStrike" cap="none">
                <a:solidFill>
                  <a:srgbClr val="1429A0"/>
                </a:solidFill>
                <a:latin typeface="Arial"/>
                <a:ea typeface="Arial"/>
                <a:cs typeface="Arial"/>
                <a:sym typeface="Arial"/>
              </a:rPr>
              <a:t>thu thập các dữ liệu cần thiết cho việc phân tích</a:t>
            </a:r>
            <a:r>
              <a:rPr lang="en-US" sz="1300" b="0" i="0" u="none" strike="noStrike" cap="none">
                <a:solidFill>
                  <a:srgbClr val="262626"/>
                </a:solidFill>
                <a:latin typeface="Arial"/>
                <a:ea typeface="Arial"/>
                <a:cs typeface="Arial"/>
                <a:sym typeface="Arial"/>
              </a:rPr>
              <a:t>.</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Nếu dữ liệu đã được cung cấp, bạn có thể nghĩ ngay đến cách phân tích phù hợp. Nhưng ngay cả trong những trường hợp đó, dữ liệu bổ sung vẫn có thể được tạo ra. Việc thu thập dữ liệu cần thiết luôn cần được cân nhắc để đảm bảo phân tích chính xác.</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Việc trích xuất dữ liệu từ kho lưu trữ dữ liệu nội bộ (kho dữ liệu hoặc siêu thị dữ liệu) thông qua SQL hoặc từ nền tảng dữ liệu lớn dựa trên Hadoop là điều phổ biến. Nhưng trong một số trường hợp, dữ liệu bên ngoài có thể được yêu cầu, vì vậy có thể cần phải thu thập dữ liệu thông qua quét web hoặc API.</a:t>
            </a:r>
            <a:endParaRPr sz="1300" b="0" i="0" u="none" strike="noStrike" cap="none">
              <a:solidFill>
                <a:srgbClr val="262626"/>
              </a:solidFill>
              <a:latin typeface="Arial"/>
              <a:ea typeface="Arial"/>
              <a:cs typeface="Arial"/>
              <a:sym typeface="Arial"/>
            </a:endParaRPr>
          </a:p>
        </p:txBody>
      </p:sp>
      <p:grpSp>
        <p:nvGrpSpPr>
          <p:cNvPr id="1167" name="Google Shape;1167;p36"/>
          <p:cNvGrpSpPr/>
          <p:nvPr/>
        </p:nvGrpSpPr>
        <p:grpSpPr>
          <a:xfrm>
            <a:off x="5879935" y="1844822"/>
            <a:ext cx="3355291" cy="4332030"/>
            <a:chOff x="6112709" y="2014256"/>
            <a:chExt cx="3355291" cy="4332030"/>
          </a:xfrm>
        </p:grpSpPr>
        <p:sp>
          <p:nvSpPr>
            <p:cNvPr id="1168" name="Google Shape;1168;p36"/>
            <p:cNvSpPr/>
            <p:nvPr/>
          </p:nvSpPr>
          <p:spPr>
            <a:xfrm>
              <a:off x="6391572" y="2014256"/>
              <a:ext cx="3076428" cy="4332030"/>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69" name="Google Shape;1169;p36"/>
            <p:cNvGrpSpPr/>
            <p:nvPr/>
          </p:nvGrpSpPr>
          <p:grpSpPr>
            <a:xfrm>
              <a:off x="6112709" y="2130220"/>
              <a:ext cx="3129172" cy="4216066"/>
              <a:chOff x="6112709" y="2130220"/>
              <a:chExt cx="3129172" cy="4216066"/>
            </a:xfrm>
          </p:grpSpPr>
          <p:pic>
            <p:nvPicPr>
              <p:cNvPr id="1170" name="Google Shape;1170;p36"/>
              <p:cNvPicPr preferRelativeResize="0"/>
              <p:nvPr/>
            </p:nvPicPr>
            <p:blipFill rotWithShape="1">
              <a:blip r:embed="rId3">
                <a:alphaModFix/>
              </a:blip>
              <a:srcRect l="3721" t="16364" r="71431" b="6442"/>
              <a:stretch/>
            </p:blipFill>
            <p:spPr>
              <a:xfrm>
                <a:off x="7160483" y="2564904"/>
                <a:ext cx="2019378" cy="3781382"/>
              </a:xfrm>
              <a:prstGeom prst="rect">
                <a:avLst/>
              </a:prstGeom>
              <a:noFill/>
              <a:ln>
                <a:noFill/>
              </a:ln>
            </p:spPr>
          </p:pic>
          <p:sp>
            <p:nvSpPr>
              <p:cNvPr id="1171" name="Google Shape;1171;p36"/>
              <p:cNvSpPr/>
              <p:nvPr/>
            </p:nvSpPr>
            <p:spPr>
              <a:xfrm>
                <a:off x="6704429" y="2130220"/>
                <a:ext cx="1080000" cy="369332"/>
              </a:xfrm>
              <a:prstGeom prst="homePlate">
                <a:avLst>
                  <a:gd name="adj" fmla="val 50000"/>
                </a:avLst>
              </a:prstGeom>
              <a:solidFill>
                <a:srgbClr val="CDE6B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Nguồn dữ liệu</a:t>
                </a:r>
                <a:endParaRPr sz="1200" b="0" i="0" u="none" strike="noStrike" cap="none">
                  <a:solidFill>
                    <a:schemeClr val="dk1"/>
                  </a:solidFill>
                  <a:latin typeface="Arial"/>
                  <a:ea typeface="Arial"/>
                  <a:cs typeface="Arial"/>
                  <a:sym typeface="Arial"/>
                </a:endParaRPr>
              </a:p>
            </p:txBody>
          </p:sp>
          <p:sp>
            <p:nvSpPr>
              <p:cNvPr id="1172" name="Google Shape;1172;p36"/>
              <p:cNvSpPr txBox="1"/>
              <p:nvPr/>
            </p:nvSpPr>
            <p:spPr>
              <a:xfrm>
                <a:off x="6596834" y="3007876"/>
                <a:ext cx="513054"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Dữ liệu nội bộ</a:t>
                </a:r>
                <a:endParaRPr sz="1100" b="0" i="0" u="none" strike="noStrike" cap="none">
                  <a:solidFill>
                    <a:schemeClr val="dk1"/>
                  </a:solidFill>
                  <a:latin typeface="Arial"/>
                  <a:ea typeface="Arial"/>
                  <a:cs typeface="Arial"/>
                  <a:sym typeface="Arial"/>
                </a:endParaRPr>
              </a:p>
            </p:txBody>
          </p:sp>
          <p:sp>
            <p:nvSpPr>
              <p:cNvPr id="1173" name="Google Shape;1173;p36"/>
              <p:cNvSpPr txBox="1"/>
              <p:nvPr/>
            </p:nvSpPr>
            <p:spPr>
              <a:xfrm>
                <a:off x="6480330" y="4073884"/>
                <a:ext cx="639277" cy="338554"/>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Dữ liệu bên ngoài</a:t>
                </a:r>
                <a:endParaRPr sz="1100" b="0" i="0" u="none" strike="noStrike" cap="none">
                  <a:solidFill>
                    <a:schemeClr val="dk1"/>
                  </a:solidFill>
                  <a:latin typeface="Arial"/>
                  <a:ea typeface="Arial"/>
                  <a:cs typeface="Arial"/>
                  <a:sym typeface="Arial"/>
                </a:endParaRPr>
              </a:p>
            </p:txBody>
          </p:sp>
          <p:sp>
            <p:nvSpPr>
              <p:cNvPr id="1174" name="Google Shape;1174;p36"/>
              <p:cNvSpPr/>
              <p:nvPr/>
            </p:nvSpPr>
            <p:spPr>
              <a:xfrm>
                <a:off x="8629705" y="3386914"/>
                <a:ext cx="612176" cy="369332"/>
              </a:xfrm>
              <a:prstGeom prst="roundRect">
                <a:avLst>
                  <a:gd name="adj" fmla="val 16667"/>
                </a:avLst>
              </a:prstGeom>
              <a:solidFill>
                <a:srgbClr val="FFE5B8"/>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Trình thu thập</a:t>
                </a:r>
                <a:endParaRPr sz="7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nhật ký</a:t>
                </a:r>
                <a:endParaRPr sz="700" b="0" i="0" u="none" strike="noStrike" cap="none">
                  <a:solidFill>
                    <a:schemeClr val="dk1"/>
                  </a:solidFill>
                  <a:latin typeface="Arial"/>
                  <a:ea typeface="Arial"/>
                  <a:cs typeface="Arial"/>
                  <a:sym typeface="Arial"/>
                </a:endParaRPr>
              </a:p>
            </p:txBody>
          </p:sp>
          <p:sp>
            <p:nvSpPr>
              <p:cNvPr id="1175" name="Google Shape;1175;p36"/>
              <p:cNvSpPr txBox="1"/>
              <p:nvPr/>
            </p:nvSpPr>
            <p:spPr>
              <a:xfrm>
                <a:off x="8607263" y="4551724"/>
                <a:ext cx="537006" cy="169277"/>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Cảm biến</a:t>
                </a:r>
                <a:endParaRPr sz="1100" b="0" i="0" u="none" strike="noStrike" cap="none">
                  <a:solidFill>
                    <a:schemeClr val="dk1"/>
                  </a:solidFill>
                  <a:latin typeface="Arial"/>
                  <a:ea typeface="Arial"/>
                  <a:cs typeface="Arial"/>
                  <a:sym typeface="Arial"/>
                </a:endParaRPr>
              </a:p>
            </p:txBody>
          </p:sp>
          <p:sp>
            <p:nvSpPr>
              <p:cNvPr id="1176" name="Google Shape;1176;p36"/>
              <p:cNvSpPr txBox="1"/>
              <p:nvPr/>
            </p:nvSpPr>
            <p:spPr>
              <a:xfrm>
                <a:off x="6112709" y="5320985"/>
                <a:ext cx="1131720" cy="369332"/>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Các phương tiện </a:t>
                </a:r>
                <a:br>
                  <a:rPr lang="en-US" sz="1200" b="0" i="0" u="none" strike="noStrike" cap="none">
                    <a:solidFill>
                      <a:schemeClr val="dk1"/>
                    </a:solidFill>
                    <a:latin typeface="Arial"/>
                    <a:ea typeface="Arial"/>
                    <a:cs typeface="Arial"/>
                    <a:sym typeface="Arial"/>
                  </a:rPr>
                </a:br>
                <a:r>
                  <a:rPr lang="en-US" sz="1200" b="0" i="0" u="none" strike="noStrike" cap="none">
                    <a:solidFill>
                      <a:schemeClr val="dk1"/>
                    </a:solidFill>
                    <a:latin typeface="Arial"/>
                    <a:ea typeface="Arial"/>
                    <a:cs typeface="Arial"/>
                    <a:sym typeface="Arial"/>
                  </a:rPr>
                  <a:t>truyền thông</a:t>
                </a:r>
                <a:endParaRPr sz="1200" b="0" i="0" u="none" strike="noStrike" cap="none">
                  <a:solidFill>
                    <a:schemeClr val="dk1"/>
                  </a:solidFill>
                  <a:latin typeface="Arial"/>
                  <a:ea typeface="Arial"/>
                  <a:cs typeface="Arial"/>
                  <a:sym typeface="Arial"/>
                </a:endParaRPr>
              </a:p>
            </p:txBody>
          </p:sp>
          <p:sp>
            <p:nvSpPr>
              <p:cNvPr id="1177" name="Google Shape;1177;p36"/>
              <p:cNvSpPr/>
              <p:nvPr/>
            </p:nvSpPr>
            <p:spPr>
              <a:xfrm>
                <a:off x="8161881" y="2130220"/>
                <a:ext cx="1080000" cy="369332"/>
              </a:xfrm>
              <a:prstGeom prst="homePlate">
                <a:avLst>
                  <a:gd name="adj" fmla="val 50000"/>
                </a:avLst>
              </a:prstGeom>
              <a:solidFill>
                <a:srgbClr val="CDE6B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Thu thập</a:t>
                </a:r>
                <a:endParaRPr sz="1200" b="0" i="0" u="none" strike="noStrike" cap="none">
                  <a:solidFill>
                    <a:schemeClr val="dk1"/>
                  </a:solidFill>
                  <a:latin typeface="Arial"/>
                  <a:ea typeface="Arial"/>
                  <a:cs typeface="Arial"/>
                  <a:sym typeface="Arial"/>
                </a:endParaRPr>
              </a:p>
            </p:txBody>
          </p:sp>
          <p:sp>
            <p:nvSpPr>
              <p:cNvPr id="1178" name="Google Shape;1178;p36"/>
              <p:cNvSpPr txBox="1"/>
              <p:nvPr/>
            </p:nvSpPr>
            <p:spPr>
              <a:xfrm>
                <a:off x="8380321" y="2753261"/>
                <a:ext cx="227139" cy="395863"/>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1179" name="Google Shape;1179;p36"/>
              <p:cNvSpPr txBox="1"/>
              <p:nvPr/>
            </p:nvSpPr>
            <p:spPr>
              <a:xfrm>
                <a:off x="8380321" y="3713203"/>
                <a:ext cx="227139" cy="395863"/>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1180" name="Google Shape;1180;p36"/>
              <p:cNvSpPr txBox="1"/>
              <p:nvPr/>
            </p:nvSpPr>
            <p:spPr>
              <a:xfrm>
                <a:off x="8080927" y="2899666"/>
                <a:ext cx="520976" cy="169277"/>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Thủ công</a:t>
                </a:r>
                <a:endParaRPr sz="1100" b="0" i="0" u="none" strike="noStrike" cap="none">
                  <a:solidFill>
                    <a:schemeClr val="dk1"/>
                  </a:solidFill>
                  <a:latin typeface="Arial"/>
                  <a:ea typeface="Arial"/>
                  <a:cs typeface="Arial"/>
                  <a:sym typeface="Arial"/>
                </a:endParaRPr>
              </a:p>
            </p:txBody>
          </p:sp>
          <p:sp>
            <p:nvSpPr>
              <p:cNvPr id="1181" name="Google Shape;1181;p36"/>
              <p:cNvSpPr txBox="1"/>
              <p:nvPr/>
            </p:nvSpPr>
            <p:spPr>
              <a:xfrm>
                <a:off x="8079453" y="3699772"/>
                <a:ext cx="477696" cy="169277"/>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Tự động</a:t>
                </a:r>
                <a:endParaRPr sz="1100" b="0" i="0" u="none" strike="noStrike" cap="none">
                  <a:solidFill>
                    <a:schemeClr val="dk1"/>
                  </a:solidFill>
                  <a:latin typeface="Arial"/>
                  <a:ea typeface="Arial"/>
                  <a:cs typeface="Arial"/>
                  <a:sym typeface="Arial"/>
                </a:endParaRPr>
              </a:p>
            </p:txBody>
          </p:sp>
          <p:sp>
            <p:nvSpPr>
              <p:cNvPr id="1182" name="Google Shape;1182;p36"/>
              <p:cNvSpPr/>
              <p:nvPr/>
            </p:nvSpPr>
            <p:spPr>
              <a:xfrm>
                <a:off x="8629705" y="3785012"/>
                <a:ext cx="612176" cy="332028"/>
              </a:xfrm>
              <a:prstGeom prst="roundRect">
                <a:avLst>
                  <a:gd name="adj" fmla="val 16667"/>
                </a:avLst>
              </a:prstGeom>
              <a:solidFill>
                <a:srgbClr val="92D5E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Thu thập thông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Arial"/>
                    <a:ea typeface="Arial"/>
                    <a:cs typeface="Arial"/>
                    <a:sym typeface="Arial"/>
                  </a:rPr>
                  <a:t>tin trên web</a:t>
                </a:r>
                <a:endParaRPr sz="700" b="0" i="0" u="none" strike="noStrike" cap="none">
                  <a:solidFill>
                    <a:schemeClr val="dk1"/>
                  </a:solidFill>
                  <a:latin typeface="Arial"/>
                  <a:ea typeface="Arial"/>
                  <a:cs typeface="Arial"/>
                  <a:sym typeface="Arial"/>
                </a:endParaRPr>
              </a:p>
            </p:txBody>
          </p:sp>
        </p:grpSp>
      </p:grpSp>
      <p:grpSp>
        <p:nvGrpSpPr>
          <p:cNvPr id="1183" name="Google Shape;1183;p36"/>
          <p:cNvGrpSpPr/>
          <p:nvPr/>
        </p:nvGrpSpPr>
        <p:grpSpPr>
          <a:xfrm>
            <a:off x="661019" y="1371428"/>
            <a:ext cx="151796" cy="516008"/>
            <a:chOff x="661019" y="1371428"/>
            <a:chExt cx="151796" cy="516008"/>
          </a:xfrm>
        </p:grpSpPr>
        <p:sp>
          <p:nvSpPr>
            <p:cNvPr id="1184" name="Google Shape;1184;p36"/>
            <p:cNvSpPr/>
            <p:nvPr/>
          </p:nvSpPr>
          <p:spPr>
            <a:xfrm>
              <a:off x="661019" y="1371428"/>
              <a:ext cx="151796" cy="516008"/>
            </a:xfrm>
            <a:prstGeom prst="downArrow">
              <a:avLst>
                <a:gd name="adj1" fmla="val 50000"/>
                <a:gd name="adj2" fmla="val 50000"/>
              </a:avLst>
            </a:prstGeom>
            <a:solidFill>
              <a:srgbClr val="9DC3E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85" name="Google Shape;1185;p36"/>
            <p:cNvSpPr/>
            <p:nvPr/>
          </p:nvSpPr>
          <p:spPr>
            <a:xfrm>
              <a:off x="661019" y="1553534"/>
              <a:ext cx="151796" cy="151796"/>
            </a:xfrm>
            <a:prstGeom prst="ellipse">
              <a:avLst/>
            </a:prstGeom>
            <a:solidFill>
              <a:schemeClr val="lt1"/>
            </a:solidFill>
            <a:ln w="76200" cap="flat" cmpd="sng">
              <a:solidFill>
                <a:srgbClr val="9DC3E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4" name="Google Shape;1194;p37"/>
          <p:cNvSpPr/>
          <p:nvPr/>
        </p:nvSpPr>
        <p:spPr>
          <a:xfrm>
            <a:off x="954900" y="1422417"/>
            <a:ext cx="4356552"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2E75B5"/>
                </a:solidFill>
                <a:latin typeface="Arial"/>
                <a:ea typeface="Arial"/>
                <a:cs typeface="Arial"/>
                <a:sym typeface="Arial"/>
              </a:rPr>
              <a:t>03. </a:t>
            </a:r>
            <a:r>
              <a:rPr lang="en-US" sz="1400" b="0" i="0" u="none" strike="noStrike" cap="none">
                <a:solidFill>
                  <a:schemeClr val="dk1"/>
                </a:solidFill>
                <a:latin typeface="Arial"/>
                <a:ea typeface="Arial"/>
                <a:cs typeface="Arial"/>
                <a:sym typeface="Arial"/>
              </a:rPr>
              <a:t>Tiền xử lý và tìm kiếm dữ liệu</a:t>
            </a:r>
            <a:endParaRPr sz="1400" b="0" i="0" u="none" strike="noStrike" cap="none">
              <a:solidFill>
                <a:schemeClr val="dk1"/>
              </a:solidFill>
              <a:latin typeface="Arial"/>
              <a:ea typeface="Arial"/>
              <a:cs typeface="Arial"/>
              <a:sym typeface="Arial"/>
            </a:endParaRPr>
          </a:p>
        </p:txBody>
      </p:sp>
      <p:sp>
        <p:nvSpPr>
          <p:cNvPr id="1195" name="Google Shape;1195;p37"/>
          <p:cNvSpPr/>
          <p:nvPr/>
        </p:nvSpPr>
        <p:spPr>
          <a:xfrm>
            <a:off x="702940" y="1916832"/>
            <a:ext cx="8632825" cy="1448327"/>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Sau khi dữ liệu cần thiết được thu thập, chúng sẽ được tiền xử lý và chuyển đổi thành dạng phù hợp để áp dụng học máy. Chất lượng của kết quả phân tích dữ liệu dựa trên học máy phụ thuộc vào các kỹ thuật hoặc thuật toán được sử dụng, nhưng các bước </a:t>
            </a:r>
            <a:r>
              <a:rPr lang="en-US" sz="1300" b="1" i="0" u="none" strike="noStrike" cap="none">
                <a:solidFill>
                  <a:srgbClr val="1429A0"/>
                </a:solidFill>
                <a:latin typeface="Arial"/>
                <a:ea typeface="Arial"/>
                <a:cs typeface="Arial"/>
                <a:sym typeface="Arial"/>
              </a:rPr>
              <a:t>tiền xử lý, chuyển đổi và tìm kiếm dữ liệu là rất quan trọng vì chúng ảnh hưởng đến chất lượng của dữ liệu</a:t>
            </a:r>
            <a:r>
              <a:rPr lang="en-US" sz="1300" b="0" i="0" u="none" strike="noStrike" cap="none">
                <a:solidFill>
                  <a:srgbClr val="262626"/>
                </a:solidFill>
                <a:latin typeface="Arial"/>
                <a:ea typeface="Arial"/>
                <a:cs typeface="Arial"/>
                <a:sym typeface="Arial"/>
              </a:rPr>
              <a:t>.</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Trên thực tế, giống như hầu hết các phân tích, giai đoạn này có thể nói là giai đoạn tốn nhiều thời gian và công sức nhất trong các quy trình phân tích dữ liệu dựa trên máy học.</a:t>
            </a:r>
            <a:endParaRPr sz="1300" b="0" i="0" u="none" strike="noStrike" cap="none">
              <a:solidFill>
                <a:srgbClr val="262626"/>
              </a:solidFill>
              <a:latin typeface="Arial"/>
              <a:ea typeface="Arial"/>
              <a:cs typeface="Arial"/>
              <a:sym typeface="Arial"/>
            </a:endParaRPr>
          </a:p>
        </p:txBody>
      </p:sp>
      <p:pic>
        <p:nvPicPr>
          <p:cNvPr id="1196" name="Google Shape;1196;p37"/>
          <p:cNvPicPr preferRelativeResize="0"/>
          <p:nvPr/>
        </p:nvPicPr>
        <p:blipFill rotWithShape="1">
          <a:blip r:embed="rId3">
            <a:alphaModFix/>
          </a:blip>
          <a:srcRect/>
          <a:stretch/>
        </p:blipFill>
        <p:spPr>
          <a:xfrm>
            <a:off x="2779385" y="3645024"/>
            <a:ext cx="4479934" cy="2477539"/>
          </a:xfrm>
          <a:prstGeom prst="rect">
            <a:avLst/>
          </a:prstGeom>
          <a:noFill/>
          <a:ln>
            <a:noFill/>
          </a:ln>
        </p:spPr>
      </p:pic>
      <p:grpSp>
        <p:nvGrpSpPr>
          <p:cNvPr id="1197" name="Google Shape;1197;p37"/>
          <p:cNvGrpSpPr/>
          <p:nvPr/>
        </p:nvGrpSpPr>
        <p:grpSpPr>
          <a:xfrm>
            <a:off x="661019" y="1371428"/>
            <a:ext cx="151796" cy="516008"/>
            <a:chOff x="577891" y="1266449"/>
            <a:chExt cx="216024" cy="734343"/>
          </a:xfrm>
        </p:grpSpPr>
        <p:sp>
          <p:nvSpPr>
            <p:cNvPr id="1198" name="Google Shape;1198;p37"/>
            <p:cNvSpPr/>
            <p:nvPr/>
          </p:nvSpPr>
          <p:spPr>
            <a:xfrm>
              <a:off x="577891" y="1266449"/>
              <a:ext cx="216024" cy="734343"/>
            </a:xfrm>
            <a:prstGeom prst="downArrow">
              <a:avLst>
                <a:gd name="adj1" fmla="val 50000"/>
                <a:gd name="adj2" fmla="val 50000"/>
              </a:avLst>
            </a:prstGeom>
            <a:solidFill>
              <a:srgbClr val="2E75B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99" name="Google Shape;1199;p37"/>
            <p:cNvSpPr/>
            <p:nvPr/>
          </p:nvSpPr>
          <p:spPr>
            <a:xfrm>
              <a:off x="577891" y="1525608"/>
              <a:ext cx="216024" cy="216024"/>
            </a:xfrm>
            <a:prstGeom prst="ellipse">
              <a:avLst/>
            </a:prstGeom>
            <a:solidFill>
              <a:schemeClr val="lt1"/>
            </a:solidFill>
            <a:ln w="76200" cap="flat" cmpd="sng">
              <a:solidFill>
                <a:srgbClr val="2E75B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grpSp>
        <p:nvGrpSpPr>
          <p:cNvPr id="1208" name="Google Shape;1208;p38"/>
          <p:cNvGrpSpPr/>
          <p:nvPr/>
        </p:nvGrpSpPr>
        <p:grpSpPr>
          <a:xfrm>
            <a:off x="963198" y="2276872"/>
            <a:ext cx="7987509" cy="3031165"/>
            <a:chOff x="845381" y="2131600"/>
            <a:chExt cx="7987509" cy="3031165"/>
          </a:xfrm>
        </p:grpSpPr>
        <p:grpSp>
          <p:nvGrpSpPr>
            <p:cNvPr id="1209" name="Google Shape;1209;p38"/>
            <p:cNvGrpSpPr/>
            <p:nvPr/>
          </p:nvGrpSpPr>
          <p:grpSpPr>
            <a:xfrm>
              <a:off x="845381" y="2131600"/>
              <a:ext cx="7987509" cy="3031165"/>
              <a:chOff x="1051509" y="3211720"/>
              <a:chExt cx="7987509" cy="3031165"/>
            </a:xfrm>
          </p:grpSpPr>
          <p:sp>
            <p:nvSpPr>
              <p:cNvPr id="1210" name="Google Shape;1210;p38"/>
              <p:cNvSpPr/>
              <p:nvPr/>
            </p:nvSpPr>
            <p:spPr>
              <a:xfrm>
                <a:off x="4219862" y="4004276"/>
                <a:ext cx="1657758" cy="1657758"/>
              </a:xfrm>
              <a:prstGeom prst="ellipse">
                <a:avLst/>
              </a:prstGeom>
              <a:solidFill>
                <a:srgbClr val="D8E2F3"/>
              </a:solidFill>
              <a:ln w="12700" cap="flat" cmpd="sng">
                <a:solidFill>
                  <a:srgbClr val="42719B"/>
                </a:solidFill>
                <a:prstDash val="solid"/>
                <a:miter lim="800000"/>
                <a:headEnd type="none" w="sm" len="sm"/>
                <a:tailEnd type="none" w="sm" len="sm"/>
              </a:ln>
            </p:spPr>
            <p:txBody>
              <a:bodyPr spcFirstLastPara="1" wrap="square" lIns="0" tIns="36000" rIns="0" bIns="360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Chuyển đổi</a:t>
                </a:r>
                <a:endParaRPr sz="1300" b="1" i="0" u="none" strike="noStrike" cap="none">
                  <a:solidFill>
                    <a:srgbClr val="262626"/>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262626"/>
                    </a:solidFill>
                    <a:latin typeface="Arial"/>
                    <a:ea typeface="Arial"/>
                    <a:cs typeface="Arial"/>
                    <a:sym typeface="Arial"/>
                  </a:rPr>
                  <a:t>dữ liệu</a:t>
                </a:r>
                <a:endParaRPr sz="1300" b="1" i="0" u="none" strike="noStrike" cap="none">
                  <a:solidFill>
                    <a:srgbClr val="262626"/>
                  </a:solidFill>
                  <a:latin typeface="Arial"/>
                  <a:ea typeface="Arial"/>
                  <a:cs typeface="Arial"/>
                  <a:sym typeface="Arial"/>
                </a:endParaRPr>
              </a:p>
            </p:txBody>
          </p:sp>
          <p:grpSp>
            <p:nvGrpSpPr>
              <p:cNvPr id="1211" name="Google Shape;1211;p38"/>
              <p:cNvGrpSpPr/>
              <p:nvPr/>
            </p:nvGrpSpPr>
            <p:grpSpPr>
              <a:xfrm>
                <a:off x="6466522" y="3211720"/>
                <a:ext cx="2572496" cy="3031165"/>
                <a:chOff x="6466522" y="3211720"/>
                <a:chExt cx="2572496" cy="3031165"/>
              </a:xfrm>
            </p:grpSpPr>
            <p:sp>
              <p:nvSpPr>
                <p:cNvPr id="1212" name="Google Shape;1212;p38"/>
                <p:cNvSpPr/>
                <p:nvPr/>
              </p:nvSpPr>
              <p:spPr>
                <a:xfrm>
                  <a:off x="6466522" y="3211720"/>
                  <a:ext cx="2572496" cy="1042035"/>
                </a:xfrm>
                <a:prstGeom prst="roundRect">
                  <a:avLst>
                    <a:gd name="adj" fmla="val 10368"/>
                  </a:avLst>
                </a:prstGeom>
                <a:solidFill>
                  <a:srgbClr val="FFF2CC"/>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Lấy mẫu</a:t>
                  </a:r>
                  <a:endParaRPr sz="1400" b="1" i="0" u="none" strike="noStrike" cap="none">
                    <a:solidFill>
                      <a:srgbClr val="1429A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Lấy mẫu ngẫu nhiên</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Lấy mẫu phân tầng</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Lấy mẫu cụm</a:t>
                  </a:r>
                  <a:endParaRPr sz="1300" b="0" i="0" u="none" strike="noStrike" cap="none">
                    <a:solidFill>
                      <a:srgbClr val="262626"/>
                    </a:solidFill>
                    <a:latin typeface="Arial"/>
                    <a:ea typeface="Arial"/>
                    <a:cs typeface="Arial"/>
                    <a:sym typeface="Arial"/>
                  </a:endParaRPr>
                </a:p>
              </p:txBody>
            </p:sp>
            <p:sp>
              <p:nvSpPr>
                <p:cNvPr id="1213" name="Google Shape;1213;p38"/>
                <p:cNvSpPr/>
                <p:nvPr/>
              </p:nvSpPr>
              <p:spPr>
                <a:xfrm>
                  <a:off x="6466522" y="4431537"/>
                  <a:ext cx="2572496" cy="803235"/>
                </a:xfrm>
                <a:prstGeom prst="roundRect">
                  <a:avLst>
                    <a:gd name="adj" fmla="val 10254"/>
                  </a:avLst>
                </a:prstGeom>
                <a:solidFill>
                  <a:srgbClr val="FFF2CC"/>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Giảm kích thước</a:t>
                  </a:r>
                  <a:endParaRPr sz="1400" b="1" i="0" u="none" strike="noStrike" cap="none">
                    <a:solidFill>
                      <a:srgbClr val="1429A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Phân tích thành tố</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PCA</a:t>
                  </a:r>
                  <a:endParaRPr sz="1400" b="0" i="0" u="none" strike="noStrike" cap="none">
                    <a:solidFill>
                      <a:srgbClr val="000000"/>
                    </a:solidFill>
                    <a:latin typeface="Arial"/>
                    <a:ea typeface="Arial"/>
                    <a:cs typeface="Arial"/>
                    <a:sym typeface="Arial"/>
                  </a:endParaRPr>
                </a:p>
              </p:txBody>
            </p:sp>
            <p:sp>
              <p:nvSpPr>
                <p:cNvPr id="1214" name="Google Shape;1214;p38"/>
                <p:cNvSpPr/>
                <p:nvPr/>
              </p:nvSpPr>
              <p:spPr>
                <a:xfrm>
                  <a:off x="6466522" y="5439650"/>
                  <a:ext cx="2572496" cy="803235"/>
                </a:xfrm>
                <a:prstGeom prst="roundRect">
                  <a:avLst>
                    <a:gd name="adj" fmla="val 10254"/>
                  </a:avLst>
                </a:prstGeom>
                <a:solidFill>
                  <a:srgbClr val="FFF2CC"/>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Nén dữ liệu tín hiệu</a:t>
                  </a:r>
                  <a:endParaRPr sz="1400" b="1" i="0" u="none" strike="noStrike" cap="none">
                    <a:solidFill>
                      <a:srgbClr val="1429A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Biến đổi Fourier</a:t>
                  </a:r>
                  <a:endParaRPr sz="1400" b="0" i="0" u="none" strike="noStrike" cap="none">
                    <a:solidFill>
                      <a:srgbClr val="00000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Biến Wavelet</a:t>
                  </a:r>
                  <a:endParaRPr sz="1300" b="0" i="0" u="none" strike="noStrike" cap="none">
                    <a:solidFill>
                      <a:srgbClr val="262626"/>
                    </a:solidFill>
                    <a:latin typeface="Arial"/>
                    <a:ea typeface="Arial"/>
                    <a:cs typeface="Arial"/>
                    <a:sym typeface="Arial"/>
                  </a:endParaRPr>
                </a:p>
              </p:txBody>
            </p:sp>
          </p:grpSp>
          <p:grpSp>
            <p:nvGrpSpPr>
              <p:cNvPr id="1215" name="Google Shape;1215;p38"/>
              <p:cNvGrpSpPr/>
              <p:nvPr/>
            </p:nvGrpSpPr>
            <p:grpSpPr>
              <a:xfrm>
                <a:off x="1051509" y="3211720"/>
                <a:ext cx="2572496" cy="3031121"/>
                <a:chOff x="1051509" y="3211764"/>
                <a:chExt cx="2572496" cy="3031121"/>
              </a:xfrm>
            </p:grpSpPr>
            <p:sp>
              <p:nvSpPr>
                <p:cNvPr id="1216" name="Google Shape;1216;p38"/>
                <p:cNvSpPr/>
                <p:nvPr/>
              </p:nvSpPr>
              <p:spPr>
                <a:xfrm>
                  <a:off x="1051509" y="3211764"/>
                  <a:ext cx="2572496" cy="1014899"/>
                </a:xfrm>
                <a:prstGeom prst="roundRect">
                  <a:avLst>
                    <a:gd name="adj" fmla="val 10368"/>
                  </a:avLst>
                </a:prstGeom>
                <a:solidFill>
                  <a:srgbClr val="FFF2CC"/>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Chuẩn hóa</a:t>
                  </a:r>
                  <a:endParaRPr sz="1400" b="1" i="0" u="none" strike="noStrike" cap="none">
                    <a:solidFill>
                      <a:srgbClr val="1429A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Biến đổi Z</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Chuẩn hóa</a:t>
                  </a:r>
                  <a:br>
                    <a:rPr lang="en-US" sz="1300" b="0" i="0" u="none" strike="noStrike" cap="none">
                      <a:solidFill>
                        <a:srgbClr val="262626"/>
                      </a:solidFill>
                      <a:latin typeface="Arial"/>
                      <a:ea typeface="Arial"/>
                      <a:cs typeface="Arial"/>
                      <a:sym typeface="Arial"/>
                    </a:rPr>
                  </a:br>
                  <a:r>
                    <a:rPr lang="en-US" sz="1300" b="0" i="0" u="none" strike="noStrike" cap="none">
                      <a:solidFill>
                        <a:srgbClr val="262626"/>
                      </a:solidFill>
                      <a:latin typeface="Arial"/>
                      <a:ea typeface="Arial"/>
                      <a:cs typeface="Arial"/>
                      <a:sym typeface="Arial"/>
                    </a:rPr>
                    <a:t>(Điều chỉnh tỷ lệ đặc trưng)</a:t>
                  </a:r>
                  <a:endParaRPr sz="1400" b="0" i="0" u="none" strike="noStrike" cap="none">
                    <a:solidFill>
                      <a:srgbClr val="000000"/>
                    </a:solidFill>
                    <a:latin typeface="Arial"/>
                    <a:ea typeface="Arial"/>
                    <a:cs typeface="Arial"/>
                    <a:sym typeface="Arial"/>
                  </a:endParaRPr>
                </a:p>
              </p:txBody>
            </p:sp>
            <p:sp>
              <p:nvSpPr>
                <p:cNvPr id="1217" name="Google Shape;1217;p38"/>
                <p:cNvSpPr/>
                <p:nvPr/>
              </p:nvSpPr>
              <p:spPr>
                <a:xfrm>
                  <a:off x="1051509" y="4431539"/>
                  <a:ext cx="2572496" cy="803235"/>
                </a:xfrm>
                <a:prstGeom prst="roundRect">
                  <a:avLst>
                    <a:gd name="adj" fmla="val 10254"/>
                  </a:avLst>
                </a:prstGeom>
                <a:solidFill>
                  <a:srgbClr val="FFF2CC"/>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Phân phối chuẩn</a:t>
                  </a:r>
                  <a:endParaRPr sz="1400" b="1" i="0" u="none" strike="noStrike" cap="none">
                    <a:solidFill>
                      <a:srgbClr val="1429A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Phép biến đổi log</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Phép biến đổi căn bậc hai</a:t>
                  </a:r>
                  <a:endParaRPr sz="1300" b="0" i="0" u="none" strike="noStrike" cap="none">
                    <a:solidFill>
                      <a:srgbClr val="262626"/>
                    </a:solidFill>
                    <a:latin typeface="Arial"/>
                    <a:ea typeface="Arial"/>
                    <a:cs typeface="Arial"/>
                    <a:sym typeface="Arial"/>
                  </a:endParaRPr>
                </a:p>
              </p:txBody>
            </p:sp>
            <p:sp>
              <p:nvSpPr>
                <p:cNvPr id="1218" name="Google Shape;1218;p38"/>
                <p:cNvSpPr/>
                <p:nvPr/>
              </p:nvSpPr>
              <p:spPr>
                <a:xfrm>
                  <a:off x="1051509" y="5439650"/>
                  <a:ext cx="2572496" cy="803235"/>
                </a:xfrm>
                <a:prstGeom prst="roundRect">
                  <a:avLst>
                    <a:gd name="adj" fmla="val 10254"/>
                  </a:avLst>
                </a:prstGeom>
                <a:solidFill>
                  <a:srgbClr val="FFF2CC"/>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Phân loại</a:t>
                  </a:r>
                  <a:endParaRPr sz="1400" b="1" i="0" u="none" strike="noStrike" cap="none">
                    <a:solidFill>
                      <a:srgbClr val="1429A0"/>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Rời rạc hóa</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2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Nhị phân hóa</a:t>
                  </a:r>
                  <a:endParaRPr sz="1300" b="0" i="0" u="none" strike="noStrike" cap="none">
                    <a:solidFill>
                      <a:srgbClr val="262626"/>
                    </a:solidFill>
                    <a:latin typeface="Arial"/>
                    <a:ea typeface="Arial"/>
                    <a:cs typeface="Arial"/>
                    <a:sym typeface="Arial"/>
                  </a:endParaRPr>
                </a:p>
              </p:txBody>
            </p:sp>
          </p:grpSp>
          <p:cxnSp>
            <p:nvCxnSpPr>
              <p:cNvPr id="1219" name="Google Shape;1219;p38"/>
              <p:cNvCxnSpPr>
                <a:stCxn id="1210" idx="6"/>
                <a:endCxn id="1212" idx="1"/>
              </p:cNvCxnSpPr>
              <p:nvPr/>
            </p:nvCxnSpPr>
            <p:spPr>
              <a:xfrm rot="10800000" flipH="1">
                <a:off x="5877620" y="3732755"/>
                <a:ext cx="588900" cy="1100400"/>
              </a:xfrm>
              <a:prstGeom prst="bentConnector3">
                <a:avLst>
                  <a:gd name="adj1" fmla="val 85002"/>
                </a:avLst>
              </a:prstGeom>
              <a:noFill/>
              <a:ln w="9525" cap="flat" cmpd="sng">
                <a:solidFill>
                  <a:schemeClr val="dk1"/>
                </a:solidFill>
                <a:prstDash val="solid"/>
                <a:miter lim="800000"/>
                <a:headEnd type="none" w="sm" len="sm"/>
                <a:tailEnd type="none" w="sm" len="sm"/>
              </a:ln>
            </p:spPr>
          </p:cxnSp>
          <p:cxnSp>
            <p:nvCxnSpPr>
              <p:cNvPr id="1220" name="Google Shape;1220;p38"/>
              <p:cNvCxnSpPr>
                <a:stCxn id="1210" idx="6"/>
                <a:endCxn id="1214" idx="1"/>
              </p:cNvCxnSpPr>
              <p:nvPr/>
            </p:nvCxnSpPr>
            <p:spPr>
              <a:xfrm>
                <a:off x="5877620" y="4833155"/>
                <a:ext cx="588900" cy="1008000"/>
              </a:xfrm>
              <a:prstGeom prst="bentConnector3">
                <a:avLst>
                  <a:gd name="adj1" fmla="val 85002"/>
                </a:avLst>
              </a:prstGeom>
              <a:noFill/>
              <a:ln w="9525" cap="flat" cmpd="sng">
                <a:solidFill>
                  <a:schemeClr val="dk1"/>
                </a:solidFill>
                <a:prstDash val="solid"/>
                <a:miter lim="800000"/>
                <a:headEnd type="none" w="sm" len="sm"/>
                <a:tailEnd type="none" w="sm" len="sm"/>
              </a:ln>
            </p:spPr>
          </p:cxnSp>
          <p:cxnSp>
            <p:nvCxnSpPr>
              <p:cNvPr id="1221" name="Google Shape;1221;p38"/>
              <p:cNvCxnSpPr>
                <a:stCxn id="1210" idx="2"/>
                <a:endCxn id="1216" idx="3"/>
              </p:cNvCxnSpPr>
              <p:nvPr/>
            </p:nvCxnSpPr>
            <p:spPr>
              <a:xfrm rot="10800000">
                <a:off x="3624062" y="3719255"/>
                <a:ext cx="595800" cy="1113900"/>
              </a:xfrm>
              <a:prstGeom prst="bentConnector3">
                <a:avLst>
                  <a:gd name="adj1" fmla="val 15403"/>
                </a:avLst>
              </a:prstGeom>
              <a:noFill/>
              <a:ln w="9525" cap="flat" cmpd="sng">
                <a:solidFill>
                  <a:schemeClr val="dk1"/>
                </a:solidFill>
                <a:prstDash val="solid"/>
                <a:miter lim="800000"/>
                <a:headEnd type="none" w="sm" len="sm"/>
                <a:tailEnd type="none" w="sm" len="sm"/>
              </a:ln>
            </p:spPr>
          </p:cxnSp>
          <p:cxnSp>
            <p:nvCxnSpPr>
              <p:cNvPr id="1222" name="Google Shape;1222;p38"/>
              <p:cNvCxnSpPr>
                <a:stCxn id="1210" idx="2"/>
                <a:endCxn id="1218" idx="3"/>
              </p:cNvCxnSpPr>
              <p:nvPr/>
            </p:nvCxnSpPr>
            <p:spPr>
              <a:xfrm flipH="1">
                <a:off x="3624062" y="4833155"/>
                <a:ext cx="595800" cy="1008000"/>
              </a:xfrm>
              <a:prstGeom prst="bentConnector3">
                <a:avLst>
                  <a:gd name="adj1" fmla="val 15403"/>
                </a:avLst>
              </a:prstGeom>
              <a:noFill/>
              <a:ln w="9525" cap="flat" cmpd="sng">
                <a:solidFill>
                  <a:schemeClr val="dk1"/>
                </a:solidFill>
                <a:prstDash val="solid"/>
                <a:miter lim="800000"/>
                <a:headEnd type="none" w="sm" len="sm"/>
                <a:tailEnd type="none" w="sm" len="sm"/>
              </a:ln>
            </p:spPr>
          </p:cxnSp>
        </p:grpSp>
        <p:cxnSp>
          <p:nvCxnSpPr>
            <p:cNvPr id="1223" name="Google Shape;1223;p38"/>
            <p:cNvCxnSpPr>
              <a:stCxn id="1210" idx="2"/>
              <a:endCxn id="1217" idx="3"/>
            </p:cNvCxnSpPr>
            <p:nvPr/>
          </p:nvCxnSpPr>
          <p:spPr>
            <a:xfrm rot="10800000">
              <a:off x="3417934" y="3753035"/>
              <a:ext cx="595800" cy="0"/>
            </a:xfrm>
            <a:prstGeom prst="straightConnector1">
              <a:avLst/>
            </a:prstGeom>
            <a:noFill/>
            <a:ln w="9525" cap="flat" cmpd="sng">
              <a:solidFill>
                <a:schemeClr val="dk1"/>
              </a:solidFill>
              <a:prstDash val="solid"/>
              <a:miter lim="800000"/>
              <a:headEnd type="none" w="sm" len="sm"/>
              <a:tailEnd type="none" w="sm" len="sm"/>
            </a:ln>
          </p:spPr>
        </p:cxnSp>
        <p:cxnSp>
          <p:nvCxnSpPr>
            <p:cNvPr id="1224" name="Google Shape;1224;p38"/>
            <p:cNvCxnSpPr>
              <a:stCxn id="1210" idx="6"/>
              <a:endCxn id="1213" idx="1"/>
            </p:cNvCxnSpPr>
            <p:nvPr/>
          </p:nvCxnSpPr>
          <p:spPr>
            <a:xfrm>
              <a:off x="5671492" y="3753035"/>
              <a:ext cx="588900" cy="0"/>
            </a:xfrm>
            <a:prstGeom prst="straightConnector1">
              <a:avLst/>
            </a:prstGeom>
            <a:noFill/>
            <a:ln w="9525" cap="flat" cmpd="sng">
              <a:solidFill>
                <a:schemeClr val="dk1"/>
              </a:solidFill>
              <a:prstDash val="solid"/>
              <a:miter lim="800000"/>
              <a:headEnd type="none" w="sm" len="sm"/>
              <a:tailEnd type="none" w="sm" len="sm"/>
            </a:ln>
          </p:spPr>
        </p:cxnSp>
      </p:grpSp>
      <p:sp>
        <p:nvSpPr>
          <p:cNvPr id="1225" name="Google Shape;1225;p38"/>
          <p:cNvSpPr/>
          <p:nvPr/>
        </p:nvSpPr>
        <p:spPr>
          <a:xfrm>
            <a:off x="954900" y="1422417"/>
            <a:ext cx="4356552"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2E75B5"/>
                </a:solidFill>
                <a:latin typeface="Arial"/>
                <a:ea typeface="Arial"/>
                <a:cs typeface="Arial"/>
                <a:sym typeface="Arial"/>
              </a:rPr>
              <a:t>03. </a:t>
            </a:r>
            <a:r>
              <a:rPr lang="en-US" sz="1400" b="0" i="0" u="none" strike="noStrike" cap="none">
                <a:solidFill>
                  <a:schemeClr val="dk1"/>
                </a:solidFill>
                <a:latin typeface="Arial"/>
                <a:ea typeface="Arial"/>
                <a:cs typeface="Arial"/>
                <a:sym typeface="Arial"/>
              </a:rPr>
              <a:t>Tiền xử lý và tìm kiếm dữ liệu</a:t>
            </a:r>
            <a:endParaRPr sz="1400" b="0" i="0" u="none" strike="noStrike" cap="none">
              <a:solidFill>
                <a:schemeClr val="dk1"/>
              </a:solidFill>
              <a:latin typeface="Arial"/>
              <a:ea typeface="Arial"/>
              <a:cs typeface="Arial"/>
              <a:sym typeface="Arial"/>
            </a:endParaRPr>
          </a:p>
        </p:txBody>
      </p:sp>
      <p:grpSp>
        <p:nvGrpSpPr>
          <p:cNvPr id="1226" name="Google Shape;1226;p38"/>
          <p:cNvGrpSpPr/>
          <p:nvPr/>
        </p:nvGrpSpPr>
        <p:grpSpPr>
          <a:xfrm>
            <a:off x="661019" y="1371428"/>
            <a:ext cx="151796" cy="516008"/>
            <a:chOff x="577891" y="1266449"/>
            <a:chExt cx="216024" cy="734343"/>
          </a:xfrm>
        </p:grpSpPr>
        <p:sp>
          <p:nvSpPr>
            <p:cNvPr id="1227" name="Google Shape;1227;p38"/>
            <p:cNvSpPr/>
            <p:nvPr/>
          </p:nvSpPr>
          <p:spPr>
            <a:xfrm>
              <a:off x="577891" y="1266449"/>
              <a:ext cx="216024" cy="734343"/>
            </a:xfrm>
            <a:prstGeom prst="downArrow">
              <a:avLst>
                <a:gd name="adj1" fmla="val 50000"/>
                <a:gd name="adj2" fmla="val 50000"/>
              </a:avLst>
            </a:prstGeom>
            <a:solidFill>
              <a:srgbClr val="2E75B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28" name="Google Shape;1228;p38"/>
            <p:cNvSpPr/>
            <p:nvPr/>
          </p:nvSpPr>
          <p:spPr>
            <a:xfrm>
              <a:off x="577891" y="1525608"/>
              <a:ext cx="216024" cy="216024"/>
            </a:xfrm>
            <a:prstGeom prst="ellipse">
              <a:avLst/>
            </a:prstGeom>
            <a:solidFill>
              <a:schemeClr val="lt1"/>
            </a:solidFill>
            <a:ln w="76200" cap="flat" cmpd="sng">
              <a:solidFill>
                <a:srgbClr val="2E75B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7" name="Google Shape;1237;p39"/>
          <p:cNvSpPr/>
          <p:nvPr/>
        </p:nvSpPr>
        <p:spPr>
          <a:xfrm>
            <a:off x="954900" y="563434"/>
            <a:ext cx="4500568"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2E75B5"/>
                </a:solidFill>
                <a:latin typeface="Arial"/>
                <a:ea typeface="Arial"/>
                <a:cs typeface="Arial"/>
                <a:sym typeface="Arial"/>
              </a:rPr>
              <a:t>03. </a:t>
            </a:r>
            <a:r>
              <a:rPr lang="en-US" sz="1800" b="0" i="0" u="none" strike="noStrike" cap="none" dirty="0" err="1">
                <a:solidFill>
                  <a:schemeClr val="dk1"/>
                </a:solidFill>
                <a:latin typeface="Arial"/>
                <a:ea typeface="Arial"/>
                <a:cs typeface="Arial"/>
                <a:sym typeface="Arial"/>
              </a:rPr>
              <a:t>Tiền</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xử</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lý</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và</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tìm</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kiếm</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dữ</a:t>
            </a:r>
            <a:r>
              <a:rPr lang="en-US" sz="1800" b="0" i="0" u="none" strike="noStrike" cap="none" dirty="0">
                <a:solidFill>
                  <a:schemeClr val="dk1"/>
                </a:solidFill>
                <a:latin typeface="Arial"/>
                <a:ea typeface="Arial"/>
                <a:cs typeface="Arial"/>
                <a:sym typeface="Arial"/>
              </a:rPr>
              <a:t> </a:t>
            </a:r>
            <a:r>
              <a:rPr lang="en-US" sz="1800" b="0" i="0" u="none" strike="noStrike" cap="none" dirty="0" err="1">
                <a:solidFill>
                  <a:schemeClr val="dk1"/>
                </a:solidFill>
                <a:latin typeface="Arial"/>
                <a:ea typeface="Arial"/>
                <a:cs typeface="Arial"/>
                <a:sym typeface="Arial"/>
              </a:rPr>
              <a:t>liệu</a:t>
            </a:r>
            <a:endParaRPr sz="1800" b="0" i="0" u="none" strike="noStrike" cap="none" dirty="0">
              <a:solidFill>
                <a:schemeClr val="dk1"/>
              </a:solidFill>
              <a:latin typeface="Arial"/>
              <a:ea typeface="Arial"/>
              <a:cs typeface="Arial"/>
              <a:sym typeface="Arial"/>
            </a:endParaRPr>
          </a:p>
        </p:txBody>
      </p:sp>
      <p:sp>
        <p:nvSpPr>
          <p:cNvPr id="1238" name="Google Shape;1238;p39"/>
          <p:cNvSpPr/>
          <p:nvPr/>
        </p:nvSpPr>
        <p:spPr>
          <a:xfrm>
            <a:off x="702940" y="1057849"/>
            <a:ext cx="8632825" cy="3168625"/>
          </a:xfrm>
          <a:prstGeom prst="rect">
            <a:avLst/>
          </a:prstGeom>
          <a:noFill/>
          <a:ln>
            <a:noFill/>
          </a:ln>
        </p:spPr>
        <p:txBody>
          <a:bodyPr spcFirstLastPara="1" wrap="square" lIns="0" tIns="72000" rIns="144000" bIns="72000" anchor="t" anchorCtr="0">
            <a:no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1" i="0" u="none" strike="noStrike" cap="none" dirty="0" err="1">
                <a:solidFill>
                  <a:srgbClr val="1429A0"/>
                </a:solidFill>
                <a:latin typeface="Arial"/>
                <a:ea typeface="Arial"/>
                <a:cs typeface="Arial"/>
                <a:sym typeface="Arial"/>
              </a:rPr>
              <a:t>Phân</a:t>
            </a:r>
            <a:r>
              <a:rPr lang="en-US" sz="1300" b="1" i="0" u="none" strike="noStrike" cap="none" dirty="0">
                <a:solidFill>
                  <a:srgbClr val="1429A0"/>
                </a:solidFill>
                <a:latin typeface="Arial"/>
                <a:ea typeface="Arial"/>
                <a:cs typeface="Arial"/>
                <a:sym typeface="Arial"/>
              </a:rPr>
              <a:t> </a:t>
            </a:r>
            <a:r>
              <a:rPr lang="en-US" sz="1300" b="1" i="0" u="none" strike="noStrike" cap="none" dirty="0" err="1">
                <a:solidFill>
                  <a:srgbClr val="1429A0"/>
                </a:solidFill>
                <a:latin typeface="Arial"/>
                <a:ea typeface="Arial"/>
                <a:cs typeface="Arial"/>
                <a:sym typeface="Arial"/>
              </a:rPr>
              <a:t>phối</a:t>
            </a:r>
            <a:r>
              <a:rPr lang="en-US" sz="1300" b="1" i="0" u="none" strike="noStrike" cap="none" dirty="0">
                <a:solidFill>
                  <a:srgbClr val="1429A0"/>
                </a:solidFill>
                <a:latin typeface="Arial"/>
                <a:ea typeface="Arial"/>
                <a:cs typeface="Arial"/>
                <a:sym typeface="Arial"/>
              </a:rPr>
              <a:t> </a:t>
            </a:r>
            <a:r>
              <a:rPr lang="en-US" sz="1300" b="1" i="0" u="none" strike="noStrike" cap="none" dirty="0" err="1">
                <a:solidFill>
                  <a:srgbClr val="1429A0"/>
                </a:solidFill>
                <a:latin typeface="Arial"/>
                <a:ea typeface="Arial"/>
                <a:cs typeface="Arial"/>
                <a:sym typeface="Arial"/>
              </a:rPr>
              <a:t>chuẩn</a:t>
            </a:r>
            <a:endParaRPr sz="1300" b="1" i="0" u="none" strike="noStrike" cap="none" dirty="0">
              <a:solidFill>
                <a:srgbClr val="1429A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dirty="0" err="1">
                <a:solidFill>
                  <a:srgbClr val="262626"/>
                </a:solidFill>
                <a:latin typeface="Arial"/>
                <a:ea typeface="Arial"/>
                <a:cs typeface="Arial"/>
                <a:sym typeface="Arial"/>
              </a:rPr>
              <a:t>Phép</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biến</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đổi</a:t>
            </a:r>
            <a:r>
              <a:rPr lang="en-US" sz="1300" b="1" i="0" u="none" strike="noStrike" cap="none" dirty="0">
                <a:solidFill>
                  <a:srgbClr val="262626"/>
                </a:solidFill>
                <a:latin typeface="Arial"/>
                <a:ea typeface="Arial"/>
                <a:cs typeface="Arial"/>
                <a:sym typeface="Arial"/>
              </a:rPr>
              <a:t> log: </a:t>
            </a:r>
            <a:r>
              <a:rPr lang="en-US" sz="1300" b="0" i="0" u="none" strike="noStrike" cap="none" dirty="0" err="1">
                <a:solidFill>
                  <a:srgbClr val="262626"/>
                </a:solidFill>
                <a:latin typeface="Arial"/>
                <a:ea typeface="Arial"/>
                <a:cs typeface="Arial"/>
                <a:sym typeface="Arial"/>
              </a:rPr>
              <a:t>Nếu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dữ</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liệu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đầu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vào</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biểu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diễn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phối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của</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một</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hàm</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nghịch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đảo</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hãy</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chuyển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đổi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nó</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thành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phối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chuẩn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bằng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cách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sử</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dụng</a:t>
            </a:r>
            <a:r>
              <a:rPr lang="en-US" sz="1300" b="0" i="0" u="none" strike="noStrike" cap="none" dirty="0">
                <a:solidFill>
                  <a:srgbClr val="262626"/>
                </a:solidFill>
                <a:latin typeface="Arial"/>
                <a:ea typeface="Arial"/>
                <a:cs typeface="Arial"/>
                <a:sym typeface="Arial"/>
              </a:rPr>
              <a:t> log.</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dirty="0" err="1">
                <a:solidFill>
                  <a:srgbClr val="262626"/>
                </a:solidFill>
                <a:latin typeface="Arial"/>
                <a:ea typeface="Arial"/>
                <a:cs typeface="Arial"/>
                <a:sym typeface="Arial"/>
              </a:rPr>
              <a:t>Phép</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biến</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đổi</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căn</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bậc</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hai</a:t>
            </a:r>
            <a:r>
              <a:rPr lang="en-US" sz="1300" b="1"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chuyển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đổi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dữ</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liệu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phối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không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chuẩn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thành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phối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chuẩn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bằng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cách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sử</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dụng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căn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bậc</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hai</a:t>
            </a:r>
            <a:r>
              <a:rPr lang="en-US" sz="1300" b="0" i="0" u="none" strike="noStrike" cap="none" dirty="0">
                <a:solidFill>
                  <a:srgbClr val="262626"/>
                </a:solidFill>
                <a:latin typeface="Arial"/>
                <a:ea typeface="Arial"/>
                <a:cs typeface="Arial"/>
                <a:sym typeface="Arial"/>
              </a:rPr>
              <a:t>.</a:t>
            </a:r>
            <a:endParaRPr sz="1300" b="0" i="0" u="none" strike="noStrike" cap="none" dirty="0">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dirty="0" err="1">
                <a:solidFill>
                  <a:srgbClr val="1429A0"/>
                </a:solidFill>
                <a:latin typeface="Arial"/>
                <a:ea typeface="Arial"/>
                <a:cs typeface="Arial"/>
                <a:sym typeface="Arial"/>
              </a:rPr>
              <a:t>Phân</a:t>
            </a:r>
            <a:r>
              <a:rPr lang="en-US" sz="1300" b="1" i="0" u="none" strike="noStrike" cap="none" dirty="0">
                <a:solidFill>
                  <a:srgbClr val="1429A0"/>
                </a:solidFill>
                <a:latin typeface="Arial"/>
                <a:ea typeface="Arial"/>
                <a:cs typeface="Arial"/>
                <a:sym typeface="Arial"/>
              </a:rPr>
              <a:t> </a:t>
            </a:r>
            <a:r>
              <a:rPr lang="en-US" sz="1300" b="1" i="0" u="none" strike="noStrike" cap="none" dirty="0" err="1">
                <a:solidFill>
                  <a:srgbClr val="1429A0"/>
                </a:solidFill>
                <a:latin typeface="Arial"/>
                <a:ea typeface="Arial"/>
                <a:cs typeface="Arial"/>
                <a:sym typeface="Arial"/>
              </a:rPr>
              <a:t>loại</a:t>
            </a:r>
            <a:endParaRPr sz="1300" b="1" i="0" u="none" strike="noStrike" cap="none" dirty="0">
              <a:solidFill>
                <a:srgbClr val="1429A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dirty="0" err="1">
                <a:solidFill>
                  <a:srgbClr val="262626"/>
                </a:solidFill>
                <a:latin typeface="Arial"/>
                <a:ea typeface="Arial"/>
                <a:cs typeface="Arial"/>
                <a:sym typeface="Arial"/>
              </a:rPr>
              <a:t>Rời</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rạc</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hóa</a:t>
            </a:r>
            <a:r>
              <a:rPr lang="en-US" sz="1300" b="1"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loại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các</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biến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liên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tục</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thành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nhiều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phần</a:t>
            </a:r>
            <a:r>
              <a:rPr lang="en-US" sz="1300" b="0" i="0" u="none" strike="noStrike" cap="none" dirty="0">
                <a:solidFill>
                  <a:srgbClr val="262626"/>
                </a:solidFill>
                <a:latin typeface="Arial"/>
                <a:ea typeface="Arial"/>
                <a:cs typeface="Arial"/>
                <a:sym typeface="Arial"/>
              </a:rPr>
              <a:t>.</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dirty="0">
                <a:solidFill>
                  <a:srgbClr val="262626"/>
                </a:solidFill>
                <a:latin typeface="Arial"/>
                <a:ea typeface="Arial"/>
                <a:cs typeface="Arial"/>
                <a:sym typeface="Arial"/>
              </a:rPr>
              <a:t>Nhị </a:t>
            </a:r>
            <a:r>
              <a:rPr lang="en-US" sz="1300" b="1" i="0" u="none" strike="noStrike" cap="none" dirty="0" err="1">
                <a:solidFill>
                  <a:srgbClr val="262626"/>
                </a:solidFill>
                <a:latin typeface="Arial"/>
                <a:ea typeface="Arial"/>
                <a:cs typeface="Arial"/>
                <a:sym typeface="Arial"/>
              </a:rPr>
              <a:t>phân</a:t>
            </a:r>
            <a:r>
              <a:rPr lang="en-US" sz="1300" b="1" i="0" u="none" strike="noStrike" cap="none" dirty="0">
                <a:solidFill>
                  <a:srgbClr val="262626"/>
                </a:solidFill>
                <a:latin typeface="Arial"/>
                <a:ea typeface="Arial"/>
                <a:cs typeface="Arial"/>
                <a:sym typeface="Arial"/>
              </a:rPr>
              <a:t> </a:t>
            </a:r>
            <a:r>
              <a:rPr lang="en-US" sz="1300" b="1" i="0" u="none" strike="noStrike" cap="none" dirty="0" err="1">
                <a:solidFill>
                  <a:srgbClr val="262626"/>
                </a:solidFill>
                <a:latin typeface="Arial"/>
                <a:ea typeface="Arial"/>
                <a:cs typeface="Arial"/>
                <a:sym typeface="Arial"/>
              </a:rPr>
              <a:t>hóa</a:t>
            </a:r>
            <a:r>
              <a:rPr lang="en-US" sz="1300" b="1"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Biến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đổi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thành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biến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giả</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có</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hai</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giá</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trị</a:t>
            </a:r>
            <a:r>
              <a:rPr lang="en-US" sz="1300" b="0" i="0" u="none" strike="noStrike" cap="none" dirty="0">
                <a:solidFill>
                  <a:srgbClr val="262626"/>
                </a:solidFill>
                <a:latin typeface="Arial"/>
                <a:ea typeface="Arial"/>
                <a:cs typeface="Arial"/>
                <a:sym typeface="Arial"/>
              </a:rPr>
              <a:t> 0 </a:t>
            </a:r>
            <a:r>
              <a:rPr lang="en-US" sz="1300" b="0" i="0" u="none" strike="noStrike" cap="none" dirty="0" err="1">
                <a:solidFill>
                  <a:srgbClr val="262626"/>
                </a:solidFill>
                <a:latin typeface="Arial"/>
                <a:ea typeface="Arial"/>
                <a:cs typeface="Arial"/>
                <a:sym typeface="Arial"/>
              </a:rPr>
              <a:t>và</a:t>
            </a:r>
            <a:r>
              <a:rPr lang="en-US" sz="1300" b="0" i="0" u="none" strike="noStrike" cap="none" dirty="0">
                <a:solidFill>
                  <a:srgbClr val="262626"/>
                </a:solidFill>
                <a:latin typeface="Arial"/>
                <a:ea typeface="Arial"/>
                <a:cs typeface="Arial"/>
                <a:sym typeface="Arial"/>
              </a:rPr>
              <a:t> 1.</a:t>
            </a:r>
            <a:endParaRPr sz="1400" b="0" i="0" u="none" strike="noStrike" cap="none" dirty="0">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dirty="0" err="1">
                <a:solidFill>
                  <a:srgbClr val="1429A0"/>
                </a:solidFill>
                <a:latin typeface="Arial"/>
                <a:ea typeface="Arial"/>
                <a:cs typeface="Arial"/>
                <a:sym typeface="Arial"/>
              </a:rPr>
              <a:t>Lấy</a:t>
            </a:r>
            <a:r>
              <a:rPr lang="en-US" sz="1300" b="1" i="0" u="none" strike="noStrike" cap="none" dirty="0">
                <a:solidFill>
                  <a:srgbClr val="1429A0"/>
                </a:solidFill>
                <a:latin typeface="Arial"/>
                <a:ea typeface="Arial"/>
                <a:cs typeface="Arial"/>
                <a:sym typeface="Arial"/>
              </a:rPr>
              <a:t> </a:t>
            </a:r>
            <a:r>
              <a:rPr lang="en-US" sz="1300" b="1" i="0" u="none" strike="noStrike" cap="none" dirty="0" err="1">
                <a:solidFill>
                  <a:srgbClr val="1429A0"/>
                </a:solidFill>
                <a:latin typeface="Arial"/>
                <a:ea typeface="Arial"/>
                <a:cs typeface="Arial"/>
                <a:sym typeface="Arial"/>
              </a:rPr>
              <a:t>mẫu</a:t>
            </a:r>
            <a:endParaRPr sz="1300" b="1" i="0" u="none" strike="noStrike" cap="none" dirty="0">
              <a:solidFill>
                <a:srgbClr val="1429A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Ngẫu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nhiên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đơn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giản</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Lấy</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mẫu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hệ</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thống</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Ngẫu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nhiên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tầng</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Lấy</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mẫu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cụm</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Lấy</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mẫu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nhiều</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tầng</a:t>
            </a:r>
            <a:endParaRPr sz="1300" b="0" i="0" u="none" strike="noStrike" cap="none" dirty="0">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dirty="0" err="1">
                <a:solidFill>
                  <a:srgbClr val="1429A0"/>
                </a:solidFill>
                <a:latin typeface="Arial"/>
                <a:ea typeface="Arial"/>
                <a:cs typeface="Arial"/>
                <a:sym typeface="Arial"/>
              </a:rPr>
              <a:t>Giảm</a:t>
            </a:r>
            <a:r>
              <a:rPr lang="en-US" sz="1300" b="1" i="0" u="none" strike="noStrike" cap="none" dirty="0">
                <a:solidFill>
                  <a:srgbClr val="1429A0"/>
                </a:solidFill>
                <a:latin typeface="Arial"/>
                <a:ea typeface="Arial"/>
                <a:cs typeface="Arial"/>
                <a:sym typeface="Arial"/>
              </a:rPr>
              <a:t> </a:t>
            </a:r>
            <a:r>
              <a:rPr lang="en-US" sz="1300" b="1" i="0" u="none" strike="noStrike" cap="none" dirty="0" err="1">
                <a:solidFill>
                  <a:srgbClr val="1429A0"/>
                </a:solidFill>
                <a:latin typeface="Arial"/>
                <a:ea typeface="Arial"/>
                <a:cs typeface="Arial"/>
                <a:sym typeface="Arial"/>
              </a:rPr>
              <a:t>kích</a:t>
            </a:r>
            <a:r>
              <a:rPr lang="en-US" sz="1300" b="1" i="0" u="none" strike="noStrike" cap="none" dirty="0">
                <a:solidFill>
                  <a:srgbClr val="1429A0"/>
                </a:solidFill>
                <a:latin typeface="Arial"/>
                <a:ea typeface="Arial"/>
                <a:cs typeface="Arial"/>
                <a:sym typeface="Arial"/>
              </a:rPr>
              <a:t> </a:t>
            </a:r>
            <a:r>
              <a:rPr lang="en-US" sz="1300" b="1" i="0" u="none" strike="noStrike" cap="none" dirty="0" err="1">
                <a:solidFill>
                  <a:srgbClr val="1429A0"/>
                </a:solidFill>
                <a:latin typeface="Arial"/>
                <a:ea typeface="Arial"/>
                <a:cs typeface="Arial"/>
                <a:sym typeface="Arial"/>
              </a:rPr>
              <a:t>thước</a:t>
            </a:r>
            <a:endParaRPr sz="1300" b="1" i="0" u="none" strike="noStrike" cap="none" dirty="0">
              <a:solidFill>
                <a:srgbClr val="1429A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tích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tố</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Tìm</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tố</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chung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bằng</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cách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tìm</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biến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tiềm</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năng</a:t>
            </a:r>
            <a:endParaRPr sz="1300" b="0" i="0" u="none" strike="noStrike" cap="none" dirty="0">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dirty="0" err="1">
                <a:solidFill>
                  <a:srgbClr val="262626"/>
                </a:solidFill>
                <a:latin typeface="Arial"/>
                <a:ea typeface="Arial"/>
                <a:cs typeface="Arial"/>
                <a:sym typeface="Arial"/>
              </a:rPr>
              <a:t>Phân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tích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thành</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phần</a:t>
            </a:r>
            <a:r>
              <a:rPr lang="en-US" sz="1300" b="0" i="0" u="none" strike="noStrike" cap="none" dirty="0">
                <a:solidFill>
                  <a:srgbClr val="262626"/>
                </a:solidFill>
                <a:latin typeface="Arial"/>
                <a:ea typeface="Arial"/>
                <a:cs typeface="Arial"/>
                <a:sym typeface="Arial"/>
              </a:rPr>
              <a:t> </a:t>
            </a:r>
            <a:r>
              <a:rPr lang="en-US" sz="1300" b="0" i="0" u="none" strike="noStrike" cap="none" dirty="0" err="1">
                <a:solidFill>
                  <a:srgbClr val="262626"/>
                </a:solidFill>
                <a:latin typeface="Arial"/>
                <a:ea typeface="Arial"/>
                <a:cs typeface="Arial"/>
                <a:sym typeface="Arial"/>
              </a:rPr>
              <a:t>chính</a:t>
            </a:r>
            <a:r>
              <a:rPr lang="en-US" sz="1300" b="0" i="0" u="none" strike="noStrike" cap="none" dirty="0">
                <a:solidFill>
                  <a:srgbClr val="262626"/>
                </a:solidFill>
                <a:latin typeface="Arial"/>
                <a:ea typeface="Arial"/>
                <a:cs typeface="Arial"/>
                <a:sym typeface="Arial"/>
              </a:rPr>
              <a:t> (PCA)</a:t>
            </a:r>
            <a:endParaRPr sz="1300" b="0" i="0" u="none" strike="noStrike" cap="none" dirty="0">
              <a:solidFill>
                <a:srgbClr val="262626"/>
              </a:solidFill>
              <a:latin typeface="Arial"/>
              <a:ea typeface="Arial"/>
              <a:cs typeface="Arial"/>
              <a:sym typeface="Arial"/>
            </a:endParaRPr>
          </a:p>
        </p:txBody>
      </p:sp>
      <p:grpSp>
        <p:nvGrpSpPr>
          <p:cNvPr id="1239" name="Google Shape;1239;p39"/>
          <p:cNvGrpSpPr/>
          <p:nvPr/>
        </p:nvGrpSpPr>
        <p:grpSpPr>
          <a:xfrm>
            <a:off x="661019" y="512445"/>
            <a:ext cx="151796" cy="516008"/>
            <a:chOff x="577891" y="1266449"/>
            <a:chExt cx="216024" cy="734343"/>
          </a:xfrm>
        </p:grpSpPr>
        <p:sp>
          <p:nvSpPr>
            <p:cNvPr id="1240" name="Google Shape;1240;p39"/>
            <p:cNvSpPr/>
            <p:nvPr/>
          </p:nvSpPr>
          <p:spPr>
            <a:xfrm>
              <a:off x="577891" y="1266449"/>
              <a:ext cx="216024" cy="734343"/>
            </a:xfrm>
            <a:prstGeom prst="downArrow">
              <a:avLst>
                <a:gd name="adj1" fmla="val 50000"/>
                <a:gd name="adj2" fmla="val 50000"/>
              </a:avLst>
            </a:prstGeom>
            <a:solidFill>
              <a:srgbClr val="2E75B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41" name="Google Shape;1241;p39"/>
            <p:cNvSpPr/>
            <p:nvPr/>
          </p:nvSpPr>
          <p:spPr>
            <a:xfrm>
              <a:off x="577891" y="1525608"/>
              <a:ext cx="216024" cy="216024"/>
            </a:xfrm>
            <a:prstGeom prst="ellipse">
              <a:avLst/>
            </a:prstGeom>
            <a:solidFill>
              <a:schemeClr val="lt1"/>
            </a:solidFill>
            <a:ln w="76200" cap="flat" cmpd="sng">
              <a:solidFill>
                <a:srgbClr val="2E75B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250" name="Google Shape;1250;p40"/>
          <p:cNvSpPr/>
          <p:nvPr/>
        </p:nvSpPr>
        <p:spPr>
          <a:xfrm>
            <a:off x="954900" y="1422417"/>
            <a:ext cx="3780488"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7C80"/>
                </a:solidFill>
                <a:latin typeface="Arial"/>
                <a:ea typeface="Arial"/>
                <a:cs typeface="Arial"/>
                <a:sym typeface="Arial"/>
              </a:rPr>
              <a:t>04. </a:t>
            </a:r>
            <a:r>
              <a:rPr lang="en-US" sz="1400" b="0" i="0" u="none" strike="noStrike" cap="none">
                <a:solidFill>
                  <a:schemeClr val="dk1"/>
                </a:solidFill>
                <a:latin typeface="Arial"/>
                <a:ea typeface="Arial"/>
                <a:cs typeface="Arial"/>
                <a:sym typeface="Arial"/>
              </a:rPr>
              <a:t>Dữ liệu để huấn luyện mô hình</a:t>
            </a:r>
            <a:endParaRPr sz="1400" b="0" i="0" u="none" strike="noStrike" cap="none">
              <a:solidFill>
                <a:schemeClr val="dk1"/>
              </a:solidFill>
              <a:latin typeface="Arial"/>
              <a:ea typeface="Arial"/>
              <a:cs typeface="Arial"/>
              <a:sym typeface="Arial"/>
            </a:endParaRPr>
          </a:p>
        </p:txBody>
      </p:sp>
      <p:sp>
        <p:nvSpPr>
          <p:cNvPr id="1251" name="Google Shape;1251;p40"/>
          <p:cNvSpPr/>
          <p:nvPr/>
        </p:nvSpPr>
        <p:spPr>
          <a:xfrm>
            <a:off x="702940" y="1916832"/>
            <a:ext cx="8632825" cy="1550919"/>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Sau quá trình tìm kiếm và tiền xử lý dữ liệu, </a:t>
            </a:r>
            <a:r>
              <a:rPr lang="en-US" sz="1300" b="1" i="0" u="none" strike="noStrike" cap="none">
                <a:solidFill>
                  <a:srgbClr val="1429A0"/>
                </a:solidFill>
                <a:latin typeface="Arial"/>
                <a:ea typeface="Arial"/>
                <a:cs typeface="Arial"/>
                <a:sym typeface="Arial"/>
              </a:rPr>
              <a:t>bước này học dựa trên dữ liệu bằng các kỹ thuật học máy dự kiến</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trường hợp học có giám sát, dữ liệu có thể được chia thành dữ liệu học và dữ liệu xác minh/đánh giá để huấn luyện mô hình. Nếu không, việc huấn luyện mô hình có thể được thực hiện sau khi thiết kế để kiểm tra chéo (cross-validation)</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trường hợp tự học (hoặc học không giám sát), đây là quá trình rút ra các mẫu thông qua phân tích thay vì huấn luyện mô hình vì nó không có giá trị mục tiêu.</a:t>
            </a:r>
            <a:endParaRPr sz="1300" b="0" i="0" u="none" strike="noStrike" cap="none">
              <a:solidFill>
                <a:srgbClr val="262626"/>
              </a:solidFill>
              <a:latin typeface="Arial"/>
              <a:ea typeface="Arial"/>
              <a:cs typeface="Arial"/>
              <a:sym typeface="Arial"/>
            </a:endParaRPr>
          </a:p>
        </p:txBody>
      </p:sp>
      <p:grpSp>
        <p:nvGrpSpPr>
          <p:cNvPr id="1252" name="Google Shape;1252;p40"/>
          <p:cNvGrpSpPr/>
          <p:nvPr/>
        </p:nvGrpSpPr>
        <p:grpSpPr>
          <a:xfrm>
            <a:off x="2720197" y="3645024"/>
            <a:ext cx="4462430" cy="2397566"/>
            <a:chOff x="2472459" y="3541224"/>
            <a:chExt cx="4462430" cy="2397566"/>
          </a:xfrm>
        </p:grpSpPr>
        <p:sp>
          <p:nvSpPr>
            <p:cNvPr id="1253" name="Google Shape;1253;p40"/>
            <p:cNvSpPr/>
            <p:nvPr/>
          </p:nvSpPr>
          <p:spPr>
            <a:xfrm>
              <a:off x="2472459" y="3541224"/>
              <a:ext cx="4462430" cy="2397566"/>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Calibri"/>
                <a:ea typeface="Calibri"/>
                <a:cs typeface="Calibri"/>
                <a:sym typeface="Calibri"/>
              </a:endParaRPr>
            </a:p>
          </p:txBody>
        </p:sp>
        <p:grpSp>
          <p:nvGrpSpPr>
            <p:cNvPr id="1254" name="Google Shape;1254;p40"/>
            <p:cNvGrpSpPr/>
            <p:nvPr/>
          </p:nvGrpSpPr>
          <p:grpSpPr>
            <a:xfrm>
              <a:off x="2626561" y="3627790"/>
              <a:ext cx="4053043" cy="2224434"/>
              <a:chOff x="2626561" y="3627790"/>
              <a:chExt cx="4053043" cy="2224434"/>
            </a:xfrm>
          </p:grpSpPr>
          <p:pic>
            <p:nvPicPr>
              <p:cNvPr id="1255" name="Google Shape;1255;p40"/>
              <p:cNvPicPr preferRelativeResize="0"/>
              <p:nvPr/>
            </p:nvPicPr>
            <p:blipFill rotWithShape="1">
              <a:blip r:embed="rId3">
                <a:alphaModFix/>
              </a:blip>
              <a:srcRect r="6467"/>
              <a:stretch/>
            </p:blipFill>
            <p:spPr>
              <a:xfrm>
                <a:off x="2732733" y="3627790"/>
                <a:ext cx="3946871" cy="2224434"/>
              </a:xfrm>
              <a:prstGeom prst="rect">
                <a:avLst/>
              </a:prstGeom>
              <a:noFill/>
              <a:ln>
                <a:noFill/>
              </a:ln>
            </p:spPr>
          </p:pic>
          <p:sp>
            <p:nvSpPr>
              <p:cNvPr id="1256" name="Google Shape;1256;p40"/>
              <p:cNvSpPr txBox="1"/>
              <p:nvPr/>
            </p:nvSpPr>
            <p:spPr>
              <a:xfrm>
                <a:off x="2626561" y="4321696"/>
                <a:ext cx="996994" cy="400110"/>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Toàn bộ </a:t>
                </a:r>
                <a:br>
                  <a:rPr lang="en-US" sz="1300" b="0" i="0" u="none" strike="noStrike" cap="none">
                    <a:solidFill>
                      <a:schemeClr val="dk1"/>
                    </a:solidFill>
                    <a:latin typeface="Arial"/>
                    <a:ea typeface="Arial"/>
                    <a:cs typeface="Arial"/>
                    <a:sym typeface="Arial"/>
                  </a:rPr>
                </a:br>
                <a:r>
                  <a:rPr lang="en-US" sz="1300" b="0" i="0" u="none" strike="noStrike" cap="none">
                    <a:solidFill>
                      <a:schemeClr val="dk1"/>
                    </a:solidFill>
                    <a:latin typeface="Arial"/>
                    <a:ea typeface="Arial"/>
                    <a:cs typeface="Arial"/>
                    <a:sym typeface="Arial"/>
                  </a:rPr>
                  <a:t>dữ liệu</a:t>
                </a:r>
                <a:endParaRPr sz="1300" b="0" i="0" u="none" strike="noStrike" cap="none">
                  <a:solidFill>
                    <a:schemeClr val="dk1"/>
                  </a:solidFill>
                  <a:latin typeface="Arial"/>
                  <a:ea typeface="Arial"/>
                  <a:cs typeface="Arial"/>
                  <a:sym typeface="Arial"/>
                </a:endParaRPr>
              </a:p>
            </p:txBody>
          </p:sp>
          <p:sp>
            <p:nvSpPr>
              <p:cNvPr id="1257" name="Google Shape;1257;p40"/>
              <p:cNvSpPr txBox="1"/>
              <p:nvPr/>
            </p:nvSpPr>
            <p:spPr>
              <a:xfrm>
                <a:off x="3648690" y="3717032"/>
                <a:ext cx="1178853" cy="281024"/>
              </a:xfrm>
              <a:prstGeom prst="rect">
                <a:avLst/>
              </a:prstGeom>
              <a:solidFill>
                <a:schemeClr val="lt1"/>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Huấn luyện</a:t>
                </a:r>
                <a:br>
                  <a:rPr lang="en-US" sz="1300" b="0" i="0" u="none" strike="noStrike" cap="none">
                    <a:solidFill>
                      <a:schemeClr val="dk1"/>
                    </a:solidFill>
                    <a:latin typeface="Arial"/>
                    <a:ea typeface="Arial"/>
                    <a:cs typeface="Arial"/>
                    <a:sym typeface="Arial"/>
                  </a:rPr>
                </a:br>
                <a:r>
                  <a:rPr lang="en-US" sz="1300" b="0" i="0" u="none" strike="noStrike" cap="none">
                    <a:solidFill>
                      <a:schemeClr val="dk1"/>
                    </a:solidFill>
                    <a:latin typeface="Arial"/>
                    <a:ea typeface="Arial"/>
                    <a:cs typeface="Arial"/>
                    <a:sym typeface="Arial"/>
                  </a:rPr>
                  <a:t>mô hình </a:t>
                </a:r>
                <a:endParaRPr sz="1400" b="0" i="0" u="none" strike="noStrike" cap="none">
                  <a:solidFill>
                    <a:srgbClr val="000000"/>
                  </a:solidFill>
                  <a:latin typeface="Arial"/>
                  <a:ea typeface="Arial"/>
                  <a:cs typeface="Arial"/>
                  <a:sym typeface="Arial"/>
                </a:endParaRPr>
              </a:p>
            </p:txBody>
          </p:sp>
          <p:sp>
            <p:nvSpPr>
              <p:cNvPr id="1258" name="Google Shape;1258;p40"/>
              <p:cNvSpPr txBox="1"/>
              <p:nvPr/>
            </p:nvSpPr>
            <p:spPr>
              <a:xfrm>
                <a:off x="3740845" y="4503604"/>
                <a:ext cx="994544" cy="281024"/>
              </a:xfrm>
              <a:prstGeom prst="rect">
                <a:avLst/>
              </a:prstGeom>
              <a:solidFill>
                <a:schemeClr val="lt1"/>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Chọn mô hình</a:t>
                </a:r>
                <a:endParaRPr sz="1300" b="0" i="0" u="none" strike="noStrike" cap="none">
                  <a:solidFill>
                    <a:schemeClr val="dk1"/>
                  </a:solidFill>
                  <a:latin typeface="Arial"/>
                  <a:ea typeface="Arial"/>
                  <a:cs typeface="Arial"/>
                  <a:sym typeface="Arial"/>
                </a:endParaRPr>
              </a:p>
            </p:txBody>
          </p:sp>
          <p:sp>
            <p:nvSpPr>
              <p:cNvPr id="1259" name="Google Shape;1259;p40"/>
              <p:cNvSpPr txBox="1"/>
              <p:nvPr/>
            </p:nvSpPr>
            <p:spPr>
              <a:xfrm>
                <a:off x="3740845" y="5154559"/>
                <a:ext cx="994544" cy="281024"/>
              </a:xfrm>
              <a:prstGeom prst="rect">
                <a:avLst/>
              </a:prstGeom>
              <a:solidFill>
                <a:schemeClr val="lt1"/>
              </a:solid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Arial"/>
                    <a:ea typeface="Arial"/>
                    <a:cs typeface="Arial"/>
                    <a:sym typeface="Arial"/>
                  </a:rPr>
                  <a:t>Thử nghiệm</a:t>
                </a:r>
                <a:br>
                  <a:rPr lang="en-US" sz="1300" b="0" i="0" u="none" strike="noStrike" cap="none">
                    <a:solidFill>
                      <a:schemeClr val="dk1"/>
                    </a:solidFill>
                    <a:latin typeface="Arial"/>
                    <a:ea typeface="Arial"/>
                    <a:cs typeface="Arial"/>
                    <a:sym typeface="Arial"/>
                  </a:rPr>
                </a:br>
                <a:r>
                  <a:rPr lang="en-US" sz="1300" b="0" i="0" u="none" strike="noStrike" cap="none">
                    <a:solidFill>
                      <a:schemeClr val="dk1"/>
                    </a:solidFill>
                    <a:latin typeface="Arial"/>
                    <a:ea typeface="Arial"/>
                    <a:cs typeface="Arial"/>
                    <a:sym typeface="Arial"/>
                  </a:rPr>
                  <a:t>mô hình</a:t>
                </a:r>
                <a:endParaRPr sz="1300" b="0" i="0" u="none" strike="noStrike" cap="none">
                  <a:solidFill>
                    <a:schemeClr val="dk1"/>
                  </a:solidFill>
                  <a:latin typeface="Arial"/>
                  <a:ea typeface="Arial"/>
                  <a:cs typeface="Arial"/>
                  <a:sym typeface="Arial"/>
                </a:endParaRPr>
              </a:p>
            </p:txBody>
          </p:sp>
        </p:grpSp>
      </p:grpSp>
      <p:grpSp>
        <p:nvGrpSpPr>
          <p:cNvPr id="1260" name="Google Shape;1260;p40"/>
          <p:cNvGrpSpPr/>
          <p:nvPr/>
        </p:nvGrpSpPr>
        <p:grpSpPr>
          <a:xfrm>
            <a:off x="661019" y="1371428"/>
            <a:ext cx="151796" cy="516008"/>
            <a:chOff x="577891" y="1266449"/>
            <a:chExt cx="216024" cy="734343"/>
          </a:xfrm>
        </p:grpSpPr>
        <p:sp>
          <p:nvSpPr>
            <p:cNvPr id="1261" name="Google Shape;1261;p40"/>
            <p:cNvSpPr/>
            <p:nvPr/>
          </p:nvSpPr>
          <p:spPr>
            <a:xfrm>
              <a:off x="577891" y="1266449"/>
              <a:ext cx="216024" cy="734343"/>
            </a:xfrm>
            <a:prstGeom prst="downArrow">
              <a:avLst>
                <a:gd name="adj1" fmla="val 50000"/>
                <a:gd name="adj2" fmla="val 50000"/>
              </a:avLst>
            </a:prstGeom>
            <a:solidFill>
              <a:srgbClr val="FF7C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2" name="Google Shape;1262;p40"/>
            <p:cNvSpPr/>
            <p:nvPr/>
          </p:nvSpPr>
          <p:spPr>
            <a:xfrm>
              <a:off x="577891" y="1525608"/>
              <a:ext cx="216024" cy="216024"/>
            </a:xfrm>
            <a:prstGeom prst="ellipse">
              <a:avLst/>
            </a:prstGeom>
            <a:solidFill>
              <a:schemeClr val="lt1"/>
            </a:solidFill>
            <a:ln w="76200" cap="flat" cmpd="sng">
              <a:solidFill>
                <a:srgbClr val="FF7C8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71" name="Google Shape;1271;p41"/>
          <p:cNvSpPr/>
          <p:nvPr/>
        </p:nvSpPr>
        <p:spPr>
          <a:xfrm>
            <a:off x="954900" y="1422417"/>
            <a:ext cx="3780488"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9933"/>
                </a:solidFill>
                <a:latin typeface="Arial"/>
                <a:ea typeface="Arial"/>
                <a:cs typeface="Arial"/>
                <a:sym typeface="Arial"/>
              </a:rPr>
              <a:t>05. </a:t>
            </a:r>
            <a:r>
              <a:rPr lang="en-US" sz="1400" b="0" i="0" u="none" strike="noStrike" cap="none">
                <a:solidFill>
                  <a:schemeClr val="dk1"/>
                </a:solidFill>
                <a:latin typeface="Arial"/>
                <a:ea typeface="Arial"/>
                <a:cs typeface="Arial"/>
                <a:sym typeface="Arial"/>
              </a:rPr>
              <a:t>Đánh giá hiệu suất của mô hình</a:t>
            </a:r>
            <a:endParaRPr sz="1400" b="0" i="0" u="none" strike="noStrike" cap="none">
              <a:solidFill>
                <a:schemeClr val="dk1"/>
              </a:solidFill>
              <a:latin typeface="Arial"/>
              <a:ea typeface="Arial"/>
              <a:cs typeface="Arial"/>
              <a:sym typeface="Arial"/>
            </a:endParaRPr>
          </a:p>
        </p:txBody>
      </p:sp>
      <p:sp>
        <p:nvSpPr>
          <p:cNvPr id="1272" name="Google Shape;1272;p41"/>
          <p:cNvSpPr/>
          <p:nvPr/>
        </p:nvSpPr>
        <p:spPr>
          <a:xfrm>
            <a:off x="702940" y="1916832"/>
            <a:ext cx="8632825" cy="1048218"/>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Nhìn chung, các mô hình học máy có xu hướng tạo ra kết quả thiên lệch theo dữ liệu </a:t>
            </a:r>
            <a:r>
              <a:rPr lang="en-US" sz="1300" b="0" i="0" u="none" strike="noStrike" cap="none">
                <a:solidFill>
                  <a:schemeClr val="dk1"/>
                </a:solidFill>
                <a:latin typeface="Arial"/>
                <a:ea typeface="Arial"/>
                <a:cs typeface="Arial"/>
                <a:sym typeface="Arial"/>
              </a:rPr>
              <a:t>huấn luyện. Do đó</a:t>
            </a:r>
            <a:r>
              <a:rPr lang="en-US" sz="1300" b="1" i="0" u="none" strike="noStrike" cap="none">
                <a:solidFill>
                  <a:schemeClr val="dk1"/>
                </a:solidFill>
                <a:latin typeface="Arial"/>
                <a:ea typeface="Arial"/>
                <a:cs typeface="Arial"/>
                <a:sym typeface="Arial"/>
              </a:rPr>
              <a:t>, </a:t>
            </a:r>
            <a:r>
              <a:rPr lang="en-US" sz="1300" b="0" i="0" u="none" strike="noStrike" cap="none">
                <a:solidFill>
                  <a:schemeClr val="dk1"/>
                </a:solidFill>
                <a:latin typeface="Arial"/>
                <a:ea typeface="Arial"/>
                <a:cs typeface="Arial"/>
                <a:sym typeface="Arial"/>
              </a:rPr>
              <a:t>các thuật toán học máy sử dụng bộ </a:t>
            </a:r>
            <a:r>
              <a:rPr lang="en-US" sz="1300" b="1" i="0" u="none" strike="noStrike" cap="none">
                <a:solidFill>
                  <a:srgbClr val="1429A0"/>
                </a:solidFill>
                <a:latin typeface="Arial"/>
                <a:ea typeface="Arial"/>
                <a:cs typeface="Arial"/>
                <a:sym typeface="Arial"/>
              </a:rPr>
              <a:t>dữ liệu đánh giá </a:t>
            </a:r>
            <a:r>
              <a:rPr lang="en-US" sz="1300" b="0" i="0" u="none" strike="noStrike" cap="none">
                <a:solidFill>
                  <a:schemeClr val="dk1"/>
                </a:solidFill>
                <a:latin typeface="Arial"/>
                <a:ea typeface="Arial"/>
                <a:cs typeface="Arial"/>
                <a:sym typeface="Arial"/>
              </a:rPr>
              <a:t>để đánh giá độ chính xác của mô hình.</a:t>
            </a:r>
            <a:endParaRPr sz="1300" b="0" i="0" u="none" strike="noStrike" cap="none">
              <a:solidFill>
                <a:schemeClr val="dk1"/>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Trong trường hợp tự học, thường không có tập dữ liệu đánh giá. Thay vì kiểm tra chéo, hiệu suất được đánh giá bằng cách tập trung vào khả năng diễn giải của số liệu thống kê hoặc quy tắc thu được từ quá trình phân tích.</a:t>
            </a:r>
            <a:endParaRPr sz="1300" b="0" i="0" u="none" strike="noStrike" cap="none">
              <a:solidFill>
                <a:srgbClr val="262626"/>
              </a:solidFill>
              <a:latin typeface="Arial"/>
              <a:ea typeface="Arial"/>
              <a:cs typeface="Arial"/>
              <a:sym typeface="Arial"/>
            </a:endParaRPr>
          </a:p>
        </p:txBody>
      </p:sp>
      <p:sp>
        <p:nvSpPr>
          <p:cNvPr id="1273" name="Google Shape;1273;p41"/>
          <p:cNvSpPr/>
          <p:nvPr/>
        </p:nvSpPr>
        <p:spPr>
          <a:xfrm>
            <a:off x="2301277" y="5372945"/>
            <a:ext cx="4810375" cy="360311"/>
          </a:xfrm>
          <a:prstGeom prst="roundRect">
            <a:avLst>
              <a:gd name="adj" fmla="val 50000"/>
            </a:avLst>
          </a:prstGeom>
          <a:solidFill>
            <a:srgbClr val="193EB0"/>
          </a:solidFill>
          <a:ln>
            <a:noFill/>
          </a:ln>
        </p:spPr>
        <p:txBody>
          <a:bodyPr spcFirstLastPara="1" wrap="square" lIns="0" tIns="0" rIns="0" bIns="0" anchor="ctr" anchorCtr="0">
            <a:noAutofit/>
          </a:bodyPr>
          <a:lstStyle/>
          <a:p>
            <a:pPr marL="84138" marR="0" lvl="0" indent="0" algn="l"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https://towardsdatascience.com/multi-class-metrics-made-simple-prat-i-precision-and-recall-9250280bddc2</a:t>
            </a:r>
            <a:endParaRPr sz="1400" b="0" i="0" u="none" strike="noStrike" cap="none">
              <a:solidFill>
                <a:srgbClr val="000000"/>
              </a:solidFill>
              <a:latin typeface="Arial"/>
              <a:ea typeface="Arial"/>
              <a:cs typeface="Arial"/>
              <a:sym typeface="Arial"/>
            </a:endParaRPr>
          </a:p>
        </p:txBody>
      </p:sp>
      <p:grpSp>
        <p:nvGrpSpPr>
          <p:cNvPr id="1274" name="Google Shape;1274;p41"/>
          <p:cNvGrpSpPr/>
          <p:nvPr/>
        </p:nvGrpSpPr>
        <p:grpSpPr>
          <a:xfrm>
            <a:off x="2215107" y="3371719"/>
            <a:ext cx="4896545" cy="1955951"/>
            <a:chOff x="2215107" y="3273249"/>
            <a:chExt cx="4896545" cy="1955951"/>
          </a:xfrm>
        </p:grpSpPr>
        <p:grpSp>
          <p:nvGrpSpPr>
            <p:cNvPr id="1275" name="Google Shape;1275;p41"/>
            <p:cNvGrpSpPr/>
            <p:nvPr/>
          </p:nvGrpSpPr>
          <p:grpSpPr>
            <a:xfrm>
              <a:off x="2215107" y="3273249"/>
              <a:ext cx="4896545" cy="1955951"/>
              <a:chOff x="2215107" y="3273249"/>
              <a:chExt cx="4896545" cy="1955951"/>
            </a:xfrm>
          </p:grpSpPr>
          <p:pic>
            <p:nvPicPr>
              <p:cNvPr id="1276" name="Google Shape;1276;p41"/>
              <p:cNvPicPr preferRelativeResize="0"/>
              <p:nvPr/>
            </p:nvPicPr>
            <p:blipFill rotWithShape="1">
              <a:blip r:embed="rId3">
                <a:alphaModFix/>
              </a:blip>
              <a:srcRect l="14269" t="6539" r="23341" b="11455"/>
              <a:stretch/>
            </p:blipFill>
            <p:spPr>
              <a:xfrm>
                <a:off x="2215107" y="3273249"/>
                <a:ext cx="4896545" cy="1955951"/>
              </a:xfrm>
              <a:prstGeom prst="rect">
                <a:avLst/>
              </a:prstGeom>
              <a:noFill/>
              <a:ln>
                <a:noFill/>
              </a:ln>
            </p:spPr>
          </p:pic>
          <p:sp>
            <p:nvSpPr>
              <p:cNvPr id="1277" name="Google Shape;1277;p41"/>
              <p:cNvSpPr txBox="1"/>
              <p:nvPr/>
            </p:nvSpPr>
            <p:spPr>
              <a:xfrm>
                <a:off x="2580705" y="4020540"/>
                <a:ext cx="354483" cy="215444"/>
              </a:xfrm>
              <a:prstGeom prst="rect">
                <a:avLst/>
              </a:prstGeom>
              <a:solidFill>
                <a:srgbClr val="DAE3F3"/>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Mèo</a:t>
                </a:r>
                <a:endParaRPr sz="1400" b="1" i="0" u="none" strike="noStrike" cap="none">
                  <a:solidFill>
                    <a:schemeClr val="dk1"/>
                  </a:solidFill>
                  <a:latin typeface="Arial"/>
                  <a:ea typeface="Arial"/>
                  <a:cs typeface="Arial"/>
                  <a:sym typeface="Arial"/>
                </a:endParaRPr>
              </a:p>
            </p:txBody>
          </p:sp>
          <p:sp>
            <p:nvSpPr>
              <p:cNvPr id="1278" name="Google Shape;1278;p41"/>
              <p:cNvSpPr txBox="1"/>
              <p:nvPr/>
            </p:nvSpPr>
            <p:spPr>
              <a:xfrm>
                <a:off x="2652713" y="4422782"/>
                <a:ext cx="354483" cy="215444"/>
              </a:xfrm>
              <a:prstGeom prst="rect">
                <a:avLst/>
              </a:prstGeom>
              <a:solidFill>
                <a:srgbClr val="DAE3F3"/>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Cá</a:t>
                </a:r>
                <a:endParaRPr sz="1400" b="1" i="0" u="none" strike="noStrike" cap="none">
                  <a:solidFill>
                    <a:schemeClr val="dk1"/>
                  </a:solidFill>
                  <a:latin typeface="Arial"/>
                  <a:ea typeface="Arial"/>
                  <a:cs typeface="Arial"/>
                  <a:sym typeface="Arial"/>
                </a:endParaRPr>
              </a:p>
            </p:txBody>
          </p:sp>
          <p:sp>
            <p:nvSpPr>
              <p:cNvPr id="1279" name="Google Shape;1279;p41"/>
              <p:cNvSpPr txBox="1"/>
              <p:nvPr/>
            </p:nvSpPr>
            <p:spPr>
              <a:xfrm>
                <a:off x="2652713" y="4853920"/>
                <a:ext cx="354483" cy="215444"/>
              </a:xfrm>
              <a:prstGeom prst="rect">
                <a:avLst/>
              </a:prstGeom>
              <a:solidFill>
                <a:srgbClr val="DAE3F3"/>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Gà</a:t>
                </a:r>
                <a:endParaRPr sz="1400" b="1" i="0" u="none" strike="noStrike" cap="none">
                  <a:solidFill>
                    <a:schemeClr val="dk1"/>
                  </a:solidFill>
                  <a:latin typeface="Arial"/>
                  <a:ea typeface="Arial"/>
                  <a:cs typeface="Arial"/>
                  <a:sym typeface="Arial"/>
                </a:endParaRPr>
              </a:p>
            </p:txBody>
          </p:sp>
          <p:sp>
            <p:nvSpPr>
              <p:cNvPr id="1280" name="Google Shape;1280;p41"/>
              <p:cNvSpPr txBox="1"/>
              <p:nvPr/>
            </p:nvSpPr>
            <p:spPr>
              <a:xfrm>
                <a:off x="5060633" y="3670942"/>
                <a:ext cx="354483" cy="215444"/>
              </a:xfrm>
              <a:prstGeom prst="rect">
                <a:avLst/>
              </a:prstGeom>
              <a:solidFill>
                <a:srgbClr val="CFD5EA"/>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Cá</a:t>
                </a:r>
                <a:endParaRPr sz="1400" b="1" i="0" u="none" strike="noStrike" cap="none">
                  <a:solidFill>
                    <a:schemeClr val="dk1"/>
                  </a:solidFill>
                  <a:latin typeface="Arial"/>
                  <a:ea typeface="Arial"/>
                  <a:cs typeface="Arial"/>
                  <a:sym typeface="Arial"/>
                </a:endParaRPr>
              </a:p>
            </p:txBody>
          </p:sp>
          <p:sp>
            <p:nvSpPr>
              <p:cNvPr id="1281" name="Google Shape;1281;p41"/>
              <p:cNvSpPr txBox="1"/>
              <p:nvPr/>
            </p:nvSpPr>
            <p:spPr>
              <a:xfrm>
                <a:off x="6173153" y="3665200"/>
                <a:ext cx="354483" cy="215444"/>
              </a:xfrm>
              <a:prstGeom prst="rect">
                <a:avLst/>
              </a:prstGeom>
              <a:solidFill>
                <a:srgbClr val="CFD5EA"/>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Gà</a:t>
                </a:r>
                <a:endParaRPr sz="1400" b="1" i="0" u="none" strike="noStrike" cap="none">
                  <a:solidFill>
                    <a:schemeClr val="dk1"/>
                  </a:solidFill>
                  <a:latin typeface="Arial"/>
                  <a:ea typeface="Arial"/>
                  <a:cs typeface="Arial"/>
                  <a:sym typeface="Arial"/>
                </a:endParaRPr>
              </a:p>
            </p:txBody>
          </p:sp>
          <p:sp>
            <p:nvSpPr>
              <p:cNvPr id="1282" name="Google Shape;1282;p41"/>
              <p:cNvSpPr txBox="1"/>
              <p:nvPr/>
            </p:nvSpPr>
            <p:spPr>
              <a:xfrm>
                <a:off x="3973488" y="3666812"/>
                <a:ext cx="401860" cy="215444"/>
              </a:xfrm>
              <a:prstGeom prst="rect">
                <a:avLst/>
              </a:prstGeom>
              <a:solidFill>
                <a:srgbClr val="CFD5EA"/>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Mèo</a:t>
                </a:r>
                <a:endParaRPr sz="1400" b="1" i="0" u="none" strike="noStrike" cap="none">
                  <a:solidFill>
                    <a:schemeClr val="dk1"/>
                  </a:solidFill>
                  <a:latin typeface="Arial"/>
                  <a:ea typeface="Arial"/>
                  <a:cs typeface="Arial"/>
                  <a:sym typeface="Arial"/>
                </a:endParaRPr>
              </a:p>
            </p:txBody>
          </p:sp>
          <p:sp>
            <p:nvSpPr>
              <p:cNvPr id="1283" name="Google Shape;1283;p41"/>
              <p:cNvSpPr txBox="1"/>
              <p:nvPr/>
            </p:nvSpPr>
            <p:spPr>
              <a:xfrm>
                <a:off x="4807397" y="3337255"/>
                <a:ext cx="1245856" cy="215444"/>
              </a:xfrm>
              <a:prstGeom prst="rect">
                <a:avLst/>
              </a:prstGeom>
              <a:solidFill>
                <a:srgbClr val="D7B740"/>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Đúng/Thực tế</a:t>
                </a:r>
                <a:endParaRPr sz="1400" b="1" i="0" u="none" strike="noStrike" cap="none">
                  <a:solidFill>
                    <a:schemeClr val="lt1"/>
                  </a:solidFill>
                  <a:latin typeface="Arial"/>
                  <a:ea typeface="Arial"/>
                  <a:cs typeface="Arial"/>
                  <a:sym typeface="Arial"/>
                </a:endParaRPr>
              </a:p>
            </p:txBody>
          </p:sp>
          <p:sp>
            <p:nvSpPr>
              <p:cNvPr id="1284" name="Google Shape;1284;p41"/>
              <p:cNvSpPr txBox="1"/>
              <p:nvPr/>
            </p:nvSpPr>
            <p:spPr>
              <a:xfrm rot="5400000">
                <a:off x="1905795" y="4440687"/>
                <a:ext cx="1080121" cy="215444"/>
              </a:xfrm>
              <a:prstGeom prst="rect">
                <a:avLst/>
              </a:prstGeom>
              <a:solidFill>
                <a:srgbClr val="D7B740"/>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Dự đoán</a:t>
                </a:r>
                <a:endParaRPr sz="1400" b="1" i="0" u="none" strike="noStrike" cap="none">
                  <a:solidFill>
                    <a:schemeClr val="lt1"/>
                  </a:solidFill>
                  <a:latin typeface="Arial"/>
                  <a:ea typeface="Arial"/>
                  <a:cs typeface="Arial"/>
                  <a:sym typeface="Arial"/>
                </a:endParaRPr>
              </a:p>
            </p:txBody>
          </p:sp>
          <p:sp>
            <p:nvSpPr>
              <p:cNvPr id="1285" name="Google Shape;1285;p41"/>
              <p:cNvSpPr txBox="1"/>
              <p:nvPr/>
            </p:nvSpPr>
            <p:spPr>
              <a:xfrm>
                <a:off x="4282350" y="4031283"/>
                <a:ext cx="215445" cy="200055"/>
              </a:xfrm>
              <a:prstGeom prst="rect">
                <a:avLst/>
              </a:prstGeom>
              <a:solidFill>
                <a:srgbClr val="C5E0B4"/>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286" name="Google Shape;1286;p41"/>
              <p:cNvSpPr txBox="1"/>
              <p:nvPr/>
            </p:nvSpPr>
            <p:spPr>
              <a:xfrm>
                <a:off x="5307393" y="4031283"/>
                <a:ext cx="215445" cy="200055"/>
              </a:xfrm>
              <a:prstGeom prst="rect">
                <a:avLst/>
              </a:prstGeom>
              <a:solidFill>
                <a:srgbClr val="FBE5D6"/>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6</a:t>
                </a:r>
                <a:endParaRPr sz="1300" b="1" i="0" u="none" strike="noStrike" cap="none">
                  <a:solidFill>
                    <a:schemeClr val="dk1"/>
                  </a:solidFill>
                  <a:latin typeface="Arial"/>
                  <a:ea typeface="Arial"/>
                  <a:cs typeface="Arial"/>
                  <a:sym typeface="Arial"/>
                </a:endParaRPr>
              </a:p>
            </p:txBody>
          </p:sp>
          <p:sp>
            <p:nvSpPr>
              <p:cNvPr id="1287" name="Google Shape;1287;p41"/>
              <p:cNvSpPr txBox="1"/>
              <p:nvPr/>
            </p:nvSpPr>
            <p:spPr>
              <a:xfrm>
                <a:off x="6419913" y="4031283"/>
                <a:ext cx="215445" cy="200055"/>
              </a:xfrm>
              <a:prstGeom prst="rect">
                <a:avLst/>
              </a:prstGeom>
              <a:solidFill>
                <a:srgbClr val="FBE5D6"/>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288" name="Google Shape;1288;p41"/>
              <p:cNvSpPr txBox="1"/>
              <p:nvPr/>
            </p:nvSpPr>
            <p:spPr>
              <a:xfrm>
                <a:off x="4282350" y="4428594"/>
                <a:ext cx="215445" cy="200055"/>
              </a:xfrm>
              <a:prstGeom prst="rect">
                <a:avLst/>
              </a:prstGeom>
              <a:solidFill>
                <a:srgbClr val="FBE5D6"/>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289" name="Google Shape;1289;p41"/>
              <p:cNvSpPr txBox="1"/>
              <p:nvPr/>
            </p:nvSpPr>
            <p:spPr>
              <a:xfrm>
                <a:off x="5307393" y="4428594"/>
                <a:ext cx="215445" cy="200055"/>
              </a:xfrm>
              <a:prstGeom prst="rect">
                <a:avLst/>
              </a:prstGeom>
              <a:solidFill>
                <a:srgbClr val="C5E0B4"/>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290" name="Google Shape;1290;p41"/>
              <p:cNvSpPr txBox="1"/>
              <p:nvPr/>
            </p:nvSpPr>
            <p:spPr>
              <a:xfrm>
                <a:off x="6419913" y="4428594"/>
                <a:ext cx="215445" cy="200055"/>
              </a:xfrm>
              <a:prstGeom prst="rect">
                <a:avLst/>
              </a:prstGeom>
              <a:solidFill>
                <a:srgbClr val="FBE5D6"/>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291" name="Google Shape;1291;p41"/>
              <p:cNvSpPr txBox="1"/>
              <p:nvPr/>
            </p:nvSpPr>
            <p:spPr>
              <a:xfrm>
                <a:off x="4282350" y="4854080"/>
                <a:ext cx="215445" cy="200055"/>
              </a:xfrm>
              <a:prstGeom prst="rect">
                <a:avLst/>
              </a:prstGeom>
              <a:solidFill>
                <a:srgbClr val="FBE5D6"/>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292" name="Google Shape;1292;p41"/>
              <p:cNvSpPr txBox="1"/>
              <p:nvPr/>
            </p:nvSpPr>
            <p:spPr>
              <a:xfrm>
                <a:off x="5307393" y="4854080"/>
                <a:ext cx="215445" cy="200055"/>
              </a:xfrm>
              <a:prstGeom prst="rect">
                <a:avLst/>
              </a:prstGeom>
              <a:solidFill>
                <a:srgbClr val="FBE5D6"/>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293" name="Google Shape;1293;p41"/>
              <p:cNvSpPr txBox="1"/>
              <p:nvPr/>
            </p:nvSpPr>
            <p:spPr>
              <a:xfrm>
                <a:off x="6419913" y="4854080"/>
                <a:ext cx="215445" cy="200055"/>
              </a:xfrm>
              <a:prstGeom prst="rect">
                <a:avLst/>
              </a:prstGeom>
              <a:solidFill>
                <a:srgbClr val="C5E0B4"/>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grpSp>
        <p:sp>
          <p:nvSpPr>
            <p:cNvPr id="1294" name="Google Shape;1294;p41"/>
            <p:cNvSpPr/>
            <p:nvPr/>
          </p:nvSpPr>
          <p:spPr>
            <a:xfrm>
              <a:off x="2991789" y="3978111"/>
              <a:ext cx="401860" cy="260368"/>
            </a:xfrm>
            <a:prstGeom prst="rect">
              <a:avLst/>
            </a:prstGeom>
            <a:solidFill>
              <a:srgbClr val="DAE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5" name="Google Shape;1295;p41"/>
            <p:cNvSpPr/>
            <p:nvPr/>
          </p:nvSpPr>
          <p:spPr>
            <a:xfrm>
              <a:off x="3025879" y="4377858"/>
              <a:ext cx="401860" cy="260368"/>
            </a:xfrm>
            <a:prstGeom prst="rect">
              <a:avLst/>
            </a:prstGeom>
            <a:solidFill>
              <a:srgbClr val="DAE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6" name="Google Shape;1296;p41"/>
            <p:cNvSpPr/>
            <p:nvPr/>
          </p:nvSpPr>
          <p:spPr>
            <a:xfrm>
              <a:off x="3031657" y="4823365"/>
              <a:ext cx="401860" cy="260368"/>
            </a:xfrm>
            <a:prstGeom prst="rect">
              <a:avLst/>
            </a:prstGeom>
            <a:solidFill>
              <a:srgbClr val="DAE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7" name="Google Shape;1297;p41"/>
            <p:cNvSpPr/>
            <p:nvPr/>
          </p:nvSpPr>
          <p:spPr>
            <a:xfrm>
              <a:off x="4314289" y="3638747"/>
              <a:ext cx="417967" cy="263950"/>
            </a:xfrm>
            <a:prstGeom prst="rect">
              <a:avLst/>
            </a:prstGeom>
            <a:solidFill>
              <a:srgbClr val="CFD5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8" name="Google Shape;1298;p41"/>
            <p:cNvSpPr/>
            <p:nvPr/>
          </p:nvSpPr>
          <p:spPr>
            <a:xfrm>
              <a:off x="5411989" y="3657601"/>
              <a:ext cx="413596" cy="242278"/>
            </a:xfrm>
            <a:prstGeom prst="rect">
              <a:avLst/>
            </a:prstGeom>
            <a:solidFill>
              <a:srgbClr val="CFD5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9" name="Google Shape;1299;p41"/>
            <p:cNvSpPr/>
            <p:nvPr/>
          </p:nvSpPr>
          <p:spPr>
            <a:xfrm>
              <a:off x="6527635" y="3649681"/>
              <a:ext cx="413596" cy="242081"/>
            </a:xfrm>
            <a:prstGeom prst="rect">
              <a:avLst/>
            </a:prstGeom>
            <a:solidFill>
              <a:srgbClr val="CFD5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00" name="Google Shape;1300;p41"/>
            <p:cNvPicPr preferRelativeResize="0"/>
            <p:nvPr/>
          </p:nvPicPr>
          <p:blipFill rotWithShape="1">
            <a:blip r:embed="rId4">
              <a:alphaModFix/>
            </a:blip>
            <a:srcRect/>
            <a:stretch/>
          </p:blipFill>
          <p:spPr>
            <a:xfrm>
              <a:off x="2992628" y="4000296"/>
              <a:ext cx="223060" cy="223060"/>
            </a:xfrm>
            <a:prstGeom prst="rect">
              <a:avLst/>
            </a:prstGeom>
            <a:noFill/>
            <a:ln>
              <a:noFill/>
            </a:ln>
          </p:spPr>
        </p:pic>
        <p:pic>
          <p:nvPicPr>
            <p:cNvPr id="1301" name="Google Shape;1301;p41"/>
            <p:cNvPicPr preferRelativeResize="0"/>
            <p:nvPr/>
          </p:nvPicPr>
          <p:blipFill rotWithShape="1">
            <a:blip r:embed="rId5">
              <a:alphaModFix/>
            </a:blip>
            <a:srcRect/>
            <a:stretch/>
          </p:blipFill>
          <p:spPr>
            <a:xfrm>
              <a:off x="3039914" y="4383464"/>
              <a:ext cx="295782" cy="295782"/>
            </a:xfrm>
            <a:prstGeom prst="rect">
              <a:avLst/>
            </a:prstGeom>
            <a:noFill/>
            <a:ln>
              <a:noFill/>
            </a:ln>
          </p:spPr>
        </p:pic>
        <p:pic>
          <p:nvPicPr>
            <p:cNvPr id="1302" name="Google Shape;1302;p41"/>
            <p:cNvPicPr preferRelativeResize="0"/>
            <p:nvPr/>
          </p:nvPicPr>
          <p:blipFill rotWithShape="1">
            <a:blip r:embed="rId6">
              <a:alphaModFix/>
            </a:blip>
            <a:srcRect/>
            <a:stretch/>
          </p:blipFill>
          <p:spPr>
            <a:xfrm>
              <a:off x="2978672" y="4788724"/>
              <a:ext cx="303905" cy="303905"/>
            </a:xfrm>
            <a:prstGeom prst="rect">
              <a:avLst/>
            </a:prstGeom>
            <a:noFill/>
            <a:ln>
              <a:noFill/>
            </a:ln>
          </p:spPr>
        </p:pic>
        <p:pic>
          <p:nvPicPr>
            <p:cNvPr id="1303" name="Google Shape;1303;p41"/>
            <p:cNvPicPr preferRelativeResize="0"/>
            <p:nvPr/>
          </p:nvPicPr>
          <p:blipFill rotWithShape="1">
            <a:blip r:embed="rId4">
              <a:alphaModFix/>
            </a:blip>
            <a:srcRect/>
            <a:stretch/>
          </p:blipFill>
          <p:spPr>
            <a:xfrm>
              <a:off x="4353505" y="3663326"/>
              <a:ext cx="223060" cy="223060"/>
            </a:xfrm>
            <a:prstGeom prst="rect">
              <a:avLst/>
            </a:prstGeom>
            <a:noFill/>
            <a:ln>
              <a:noFill/>
            </a:ln>
          </p:spPr>
        </p:pic>
        <p:pic>
          <p:nvPicPr>
            <p:cNvPr id="1304" name="Google Shape;1304;p41"/>
            <p:cNvPicPr preferRelativeResize="0"/>
            <p:nvPr/>
          </p:nvPicPr>
          <p:blipFill rotWithShape="1">
            <a:blip r:embed="rId5">
              <a:alphaModFix/>
            </a:blip>
            <a:srcRect/>
            <a:stretch/>
          </p:blipFill>
          <p:spPr>
            <a:xfrm>
              <a:off x="5435992" y="3630773"/>
              <a:ext cx="295782" cy="295782"/>
            </a:xfrm>
            <a:prstGeom prst="rect">
              <a:avLst/>
            </a:prstGeom>
            <a:noFill/>
            <a:ln>
              <a:noFill/>
            </a:ln>
          </p:spPr>
        </p:pic>
        <p:pic>
          <p:nvPicPr>
            <p:cNvPr id="1305" name="Google Shape;1305;p41"/>
            <p:cNvPicPr preferRelativeResize="0"/>
            <p:nvPr/>
          </p:nvPicPr>
          <p:blipFill rotWithShape="1">
            <a:blip r:embed="rId6">
              <a:alphaModFix/>
            </a:blip>
            <a:srcRect/>
            <a:stretch/>
          </p:blipFill>
          <p:spPr>
            <a:xfrm>
              <a:off x="6505868" y="3621372"/>
              <a:ext cx="303905" cy="303905"/>
            </a:xfrm>
            <a:prstGeom prst="rect">
              <a:avLst/>
            </a:prstGeom>
            <a:noFill/>
            <a:ln>
              <a:noFill/>
            </a:ln>
          </p:spPr>
        </p:pic>
      </p:grpSp>
      <p:grpSp>
        <p:nvGrpSpPr>
          <p:cNvPr id="1306" name="Google Shape;1306;p41"/>
          <p:cNvGrpSpPr/>
          <p:nvPr/>
        </p:nvGrpSpPr>
        <p:grpSpPr>
          <a:xfrm>
            <a:off x="661019" y="1371428"/>
            <a:ext cx="151796" cy="516008"/>
            <a:chOff x="577891" y="1266449"/>
            <a:chExt cx="216024" cy="734343"/>
          </a:xfrm>
        </p:grpSpPr>
        <p:sp>
          <p:nvSpPr>
            <p:cNvPr id="1307" name="Google Shape;1307;p41"/>
            <p:cNvSpPr/>
            <p:nvPr/>
          </p:nvSpPr>
          <p:spPr>
            <a:xfrm>
              <a:off x="577891" y="1266449"/>
              <a:ext cx="216024" cy="734343"/>
            </a:xfrm>
            <a:prstGeom prst="downArrow">
              <a:avLst>
                <a:gd name="adj1" fmla="val 50000"/>
                <a:gd name="adj2" fmla="val 50000"/>
              </a:avLst>
            </a:prstGeom>
            <a:solidFill>
              <a:srgbClr val="FF993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8" name="Google Shape;1308;p41"/>
            <p:cNvSpPr/>
            <p:nvPr/>
          </p:nvSpPr>
          <p:spPr>
            <a:xfrm>
              <a:off x="577891" y="1525608"/>
              <a:ext cx="216024" cy="216024"/>
            </a:xfrm>
            <a:prstGeom prst="ellipse">
              <a:avLst/>
            </a:prstGeom>
            <a:solidFill>
              <a:schemeClr val="lt1"/>
            </a:solidFill>
            <a:ln w="762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7" name="Google Shape;1317;p42"/>
          <p:cNvSpPr/>
          <p:nvPr/>
        </p:nvSpPr>
        <p:spPr>
          <a:xfrm>
            <a:off x="954900" y="1422417"/>
            <a:ext cx="6300768" cy="422405"/>
          </a:xfrm>
          <a:prstGeom prst="rect">
            <a:avLst/>
          </a:prstGeom>
          <a:noFill/>
          <a:ln>
            <a:noFill/>
          </a:ln>
        </p:spPr>
        <p:txBody>
          <a:bodyPr spcFirstLastPara="1" wrap="square" lIns="0" tIns="72000" rIns="144000" bIns="72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9999"/>
                </a:solidFill>
                <a:latin typeface="Arial"/>
                <a:ea typeface="Arial"/>
                <a:cs typeface="Arial"/>
                <a:sym typeface="Arial"/>
              </a:rPr>
              <a:t>06. </a:t>
            </a:r>
            <a:r>
              <a:rPr lang="en-US" sz="1400" b="0" i="0" u="none" strike="noStrike" cap="none">
                <a:solidFill>
                  <a:schemeClr val="dk1"/>
                </a:solidFill>
                <a:latin typeface="Arial"/>
                <a:ea typeface="Arial"/>
                <a:cs typeface="Arial"/>
                <a:sym typeface="Arial"/>
              </a:rPr>
              <a:t>Cải thiện hiệu suất của mô hình và tính ứng dụng trên thị trường</a:t>
            </a:r>
            <a:endParaRPr sz="1400" b="0" i="0" u="none" strike="noStrike" cap="none">
              <a:solidFill>
                <a:schemeClr val="dk1"/>
              </a:solidFill>
              <a:latin typeface="Arial"/>
              <a:ea typeface="Arial"/>
              <a:cs typeface="Arial"/>
              <a:sym typeface="Arial"/>
            </a:endParaRPr>
          </a:p>
        </p:txBody>
      </p:sp>
      <p:sp>
        <p:nvSpPr>
          <p:cNvPr id="1318" name="Google Shape;1318;p42"/>
          <p:cNvSpPr/>
          <p:nvPr/>
        </p:nvSpPr>
        <p:spPr>
          <a:xfrm>
            <a:off x="702940" y="1916832"/>
            <a:ext cx="8632825" cy="2956432"/>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Một quá trình phân tích học máy đơn lẻ hiếm khi được giải quyết chỉ qua một lần thử. </a:t>
            </a:r>
            <a:r>
              <a:rPr lang="en-US" sz="1300" b="1" i="0" u="none" strike="noStrike" cap="none">
                <a:solidFill>
                  <a:srgbClr val="1429A0"/>
                </a:solidFill>
                <a:latin typeface="Arial"/>
                <a:ea typeface="Arial"/>
                <a:cs typeface="Arial"/>
                <a:sym typeface="Arial"/>
              </a:rPr>
              <a:t>Hiệu suất của mô hình được cải thiện bằng cách liên tục thay đổi các tham số mô hình và phương pháp dự đoán. </a:t>
            </a:r>
            <a:endParaRPr sz="1400" b="0" i="0" u="none" strike="noStrike" cap="none">
              <a:solidFill>
                <a:srgbClr val="000000"/>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Để so sánh hiệu suất với các thuật toán ban đầu, các thuật toán khác đôi khi được áp dụng.</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a:solidFill>
                  <a:srgbClr val="1429A0"/>
                </a:solidFill>
                <a:latin typeface="Arial"/>
                <a:ea typeface="Arial"/>
                <a:cs typeface="Arial"/>
                <a:sym typeface="Arial"/>
              </a:rPr>
              <a:t>Đánh giá hiệu suất mô hình</a:t>
            </a:r>
            <a:r>
              <a:rPr lang="en-US" sz="1300" b="0" i="0" u="none" strike="noStrike" cap="none">
                <a:solidFill>
                  <a:srgbClr val="262626"/>
                </a:solidFill>
                <a:latin typeface="Arial"/>
                <a:ea typeface="Arial"/>
                <a:cs typeface="Arial"/>
                <a:sym typeface="Arial"/>
              </a:rPr>
              <a:t>: Đánh giá về mức độ hài lòng của hiệu suất mô hình có thể khác nhau tùy thuộc vào vấn đề hoặc lĩnh vực kinh doanh cần phân tích. Trong mọi trường hợp, không có tiêu chí tuyệt đối để đánh giá rằng hiệu suất của mô hình đã được cải thiện đầy đủ.</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a:solidFill>
                  <a:srgbClr val="1429A0"/>
                </a:solidFill>
                <a:latin typeface="Arial"/>
                <a:ea typeface="Arial"/>
                <a:cs typeface="Arial"/>
                <a:sym typeface="Arial"/>
              </a:rPr>
              <a:t>Cải thiện hiệu suất của mô hình</a:t>
            </a:r>
            <a:r>
              <a:rPr lang="en-US" sz="1300" b="0" i="0" u="none" strike="noStrike" cap="none">
                <a:solidFill>
                  <a:srgbClr val="262626"/>
                </a:solidFill>
                <a:latin typeface="Arial"/>
                <a:ea typeface="Arial"/>
                <a:cs typeface="Arial"/>
                <a:sym typeface="Arial"/>
              </a:rPr>
              <a:t>: Các nhà phân tích cần so sánh và áp dụng các thuật toán khác nhau, thay đổi các tham số và phương pháp ước tính ngay cả trong cùng một thuật toán và tìm cách cải thiện hiệu suất của mô hình cho đến khi chúng được đánh giá là đạt yêu cầu.</a:t>
            </a:r>
            <a:endParaRPr sz="1300" b="0" i="0" u="none" strike="noStrike" cap="none">
              <a:solidFill>
                <a:srgbClr val="262626"/>
              </a:solidFill>
              <a:latin typeface="Arial"/>
              <a:ea typeface="Arial"/>
              <a:cs typeface="Arial"/>
              <a:sym typeface="Arial"/>
            </a:endParaRPr>
          </a:p>
          <a:p>
            <a:pPr marL="361950" marR="0" lvl="1" indent="-180975" algn="l" rtl="0">
              <a:lnSpc>
                <a:spcPct val="100000"/>
              </a:lnSpc>
              <a:spcBef>
                <a:spcPts val="800"/>
              </a:spcBef>
              <a:spcAft>
                <a:spcPts val="0"/>
              </a:spcAft>
              <a:buClr>
                <a:srgbClr val="193EB0"/>
              </a:buClr>
              <a:buSzPts val="1300"/>
              <a:buFont typeface="Arial"/>
              <a:buChar char="•"/>
            </a:pPr>
            <a:r>
              <a:rPr lang="en-US" sz="1300" b="1" i="0" u="none" strike="noStrike" cap="none">
                <a:solidFill>
                  <a:srgbClr val="1429A0"/>
                </a:solidFill>
                <a:latin typeface="Arial"/>
                <a:ea typeface="Arial"/>
                <a:cs typeface="Arial"/>
                <a:sym typeface="Arial"/>
              </a:rPr>
              <a:t>Áp dụng mô hình đã hài lòng vào thị trường</a:t>
            </a:r>
            <a:r>
              <a:rPr lang="en-US" sz="1300" b="0" i="0" u="none" strike="noStrike" cap="none">
                <a:solidFill>
                  <a:srgbClr val="262626"/>
                </a:solidFill>
                <a:latin typeface="Arial"/>
                <a:ea typeface="Arial"/>
                <a:cs typeface="Arial"/>
                <a:sym typeface="Arial"/>
              </a:rPr>
              <a:t>: Nếu kết quả thu được đạt yêu cầu sau bước này, mô hình có thể được áp dụng vào vấn đề kinh doanh dự định ban đầu. Trong một số trường hợp, công việc phát triển bổ sung cho phép tự động hóa hoặc liên kết hệ thống có thể được yêu cầu.</a:t>
            </a:r>
            <a:endParaRPr sz="1300" b="0" i="0" u="none" strike="noStrike" cap="none">
              <a:solidFill>
                <a:srgbClr val="262626"/>
              </a:solidFill>
              <a:latin typeface="Arial"/>
              <a:ea typeface="Arial"/>
              <a:cs typeface="Arial"/>
              <a:sym typeface="Arial"/>
            </a:endParaRPr>
          </a:p>
        </p:txBody>
      </p:sp>
      <p:pic>
        <p:nvPicPr>
          <p:cNvPr id="1319" name="Google Shape;1319;p42"/>
          <p:cNvPicPr preferRelativeResize="0"/>
          <p:nvPr/>
        </p:nvPicPr>
        <p:blipFill rotWithShape="1">
          <a:blip r:embed="rId3">
            <a:alphaModFix/>
          </a:blip>
          <a:srcRect/>
          <a:stretch/>
        </p:blipFill>
        <p:spPr>
          <a:xfrm>
            <a:off x="3947330" y="4725144"/>
            <a:ext cx="2144044" cy="1584176"/>
          </a:xfrm>
          <a:prstGeom prst="rect">
            <a:avLst/>
          </a:prstGeom>
          <a:noFill/>
          <a:ln>
            <a:noFill/>
          </a:ln>
        </p:spPr>
      </p:pic>
      <p:grpSp>
        <p:nvGrpSpPr>
          <p:cNvPr id="1320" name="Google Shape;1320;p42"/>
          <p:cNvGrpSpPr/>
          <p:nvPr/>
        </p:nvGrpSpPr>
        <p:grpSpPr>
          <a:xfrm>
            <a:off x="661019" y="1371428"/>
            <a:ext cx="151796" cy="516008"/>
            <a:chOff x="577891" y="1266449"/>
            <a:chExt cx="216024" cy="734343"/>
          </a:xfrm>
        </p:grpSpPr>
        <p:sp>
          <p:nvSpPr>
            <p:cNvPr id="1321" name="Google Shape;1321;p42"/>
            <p:cNvSpPr/>
            <p:nvPr/>
          </p:nvSpPr>
          <p:spPr>
            <a:xfrm>
              <a:off x="577891" y="1266449"/>
              <a:ext cx="216024" cy="734343"/>
            </a:xfrm>
            <a:prstGeom prst="downArrow">
              <a:avLst>
                <a:gd name="adj1" fmla="val 50000"/>
                <a:gd name="adj2" fmla="val 50000"/>
              </a:avLst>
            </a:prstGeom>
            <a:solidFill>
              <a:srgbClr val="0099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2" name="Google Shape;1322;p42"/>
            <p:cNvSpPr/>
            <p:nvPr/>
          </p:nvSpPr>
          <p:spPr>
            <a:xfrm>
              <a:off x="577891" y="1525608"/>
              <a:ext cx="216024" cy="216024"/>
            </a:xfrm>
            <a:prstGeom prst="ellipse">
              <a:avLst/>
            </a:prstGeom>
            <a:solidFill>
              <a:schemeClr val="lt1"/>
            </a:solidFill>
            <a:ln w="76200" cap="flat" cmpd="sng">
              <a:solidFill>
                <a:srgbClr val="00999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D0FA2C24-4318-BB5F-A45F-03CCDDF80212}"/>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32D84CCC-2B9E-80C4-9A26-0272A1B5D370}"/>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1B462D35-8AEC-3BED-2193-BCC521A371B4}"/>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86F33BD9-80FD-9C37-FE46-C26F96ADE30C}"/>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indent="-176213">
              <a:spcBef>
                <a:spcPts val="1000"/>
              </a:spcBef>
              <a:buClr>
                <a:srgbClr val="A6A6A6"/>
              </a:buClr>
              <a:buSzPts val="2160"/>
              <a:buFont typeface="Arial"/>
              <a:buChar char="•"/>
            </a:pPr>
            <a:r>
              <a:rPr lang="en-US" sz="1800" dirty="0">
                <a:solidFill>
                  <a:schemeClr val="tx1"/>
                </a:solidFill>
              </a:rPr>
              <a:t>1.7. Lý do </a:t>
            </a:r>
            <a:r>
              <a:rPr lang="en-US" sz="1800" dirty="0" err="1">
                <a:solidFill>
                  <a:schemeClr val="tx1"/>
                </a:solidFill>
              </a:rPr>
              <a:t>cần</a:t>
            </a:r>
            <a:r>
              <a:rPr lang="en-US" sz="1800" dirty="0">
                <a:solidFill>
                  <a:schemeClr val="tx1"/>
                </a:solidFill>
              </a:rPr>
              <a:t> </a:t>
            </a:r>
            <a:r>
              <a:rPr lang="en-US" sz="1800" dirty="0" err="1">
                <a:solidFill>
                  <a:schemeClr val="tx1"/>
                </a:solidFill>
              </a:rPr>
              <a:t>học</a:t>
            </a:r>
            <a:r>
              <a:rPr lang="en-US" sz="1800" dirty="0">
                <a:solidFill>
                  <a:schemeClr val="tx1"/>
                </a:solidFill>
              </a:rPr>
              <a:t> </a:t>
            </a:r>
            <a:r>
              <a:rPr lang="en-US" sz="1800" dirty="0" err="1">
                <a:solidFill>
                  <a:schemeClr val="tx1"/>
                </a:solidFill>
              </a:rPr>
              <a:t>máy</a:t>
            </a:r>
            <a:endParaRPr sz="1800" dirty="0">
              <a:solidFill>
                <a:schemeClr val="tx1"/>
              </a:solidFil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1.8. </a:t>
            </a:r>
            <a:r>
              <a:rPr lang="en-US" sz="1800" b="0" i="0" u="none" strike="noStrike" cap="none" dirty="0" err="1">
                <a:solidFill>
                  <a:srgbClr val="A6A6A6"/>
                </a:solidFill>
                <a:latin typeface="Arial"/>
                <a:ea typeface="Arial"/>
                <a:cs typeface="Arial"/>
                <a:sym typeface="Arial"/>
              </a:rPr>
              <a:t>Những</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hạn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chế</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của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2297403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35"/>
        <p:cNvGrpSpPr/>
        <p:nvPr/>
      </p:nvGrpSpPr>
      <p:grpSpPr>
        <a:xfrm>
          <a:off x="0" y="0"/>
          <a:ext cx="0" cy="0"/>
          <a:chOff x="0" y="0"/>
          <a:chExt cx="0" cy="0"/>
        </a:xfrm>
      </p:grpSpPr>
      <p:grpSp>
        <p:nvGrpSpPr>
          <p:cNvPr id="1339" name="Google Shape;1339;p44"/>
          <p:cNvGrpSpPr/>
          <p:nvPr/>
        </p:nvGrpSpPr>
        <p:grpSpPr>
          <a:xfrm>
            <a:off x="2071092" y="3610372"/>
            <a:ext cx="6048672" cy="2626940"/>
            <a:chOff x="1782615" y="3206996"/>
            <a:chExt cx="6480720" cy="2814579"/>
          </a:xfrm>
        </p:grpSpPr>
        <p:sp>
          <p:nvSpPr>
            <p:cNvPr id="1340" name="Google Shape;1340;p44"/>
            <p:cNvSpPr/>
            <p:nvPr/>
          </p:nvSpPr>
          <p:spPr>
            <a:xfrm>
              <a:off x="1782615" y="3360550"/>
              <a:ext cx="6480720" cy="2661025"/>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1" name="Google Shape;1341;p44"/>
            <p:cNvSpPr/>
            <p:nvPr/>
          </p:nvSpPr>
          <p:spPr>
            <a:xfrm>
              <a:off x="3557098" y="3206996"/>
              <a:ext cx="2931754" cy="362736"/>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1429A0"/>
                  </a:solidFill>
                  <a:latin typeface="Arial"/>
                  <a:ea typeface="Arial"/>
                  <a:cs typeface="Arial"/>
                  <a:sym typeface="Arial"/>
                </a:rPr>
                <a:t>Cách tiếp cận truyền thống</a:t>
              </a:r>
              <a:endParaRPr sz="1600" b="1" i="0" u="none" strike="noStrike" cap="none">
                <a:solidFill>
                  <a:srgbClr val="1429A0"/>
                </a:solidFill>
                <a:latin typeface="Arial"/>
                <a:ea typeface="Arial"/>
                <a:cs typeface="Arial"/>
                <a:sym typeface="Arial"/>
              </a:endParaRPr>
            </a:p>
          </p:txBody>
        </p:sp>
        <p:grpSp>
          <p:nvGrpSpPr>
            <p:cNvPr id="1342" name="Google Shape;1342;p44"/>
            <p:cNvGrpSpPr/>
            <p:nvPr/>
          </p:nvGrpSpPr>
          <p:grpSpPr>
            <a:xfrm>
              <a:off x="1926630" y="3561716"/>
              <a:ext cx="6254541" cy="2248039"/>
              <a:chOff x="1926630" y="3561716"/>
              <a:chExt cx="6254541" cy="2248039"/>
            </a:xfrm>
          </p:grpSpPr>
          <p:sp>
            <p:nvSpPr>
              <p:cNvPr id="1343" name="Google Shape;1343;p44"/>
              <p:cNvSpPr/>
              <p:nvPr/>
            </p:nvSpPr>
            <p:spPr>
              <a:xfrm>
                <a:off x="6564002" y="3561716"/>
                <a:ext cx="1146107" cy="396794"/>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Triển khai</a:t>
                </a:r>
                <a:endParaRPr sz="1400" b="1" i="0" u="none" strike="noStrike" cap="none">
                  <a:solidFill>
                    <a:schemeClr val="dk1"/>
                  </a:solidFill>
                  <a:latin typeface="Arial"/>
                  <a:ea typeface="Arial"/>
                  <a:cs typeface="Arial"/>
                  <a:sym typeface="Arial"/>
                </a:endParaRPr>
              </a:p>
            </p:txBody>
          </p:sp>
          <p:sp>
            <p:nvSpPr>
              <p:cNvPr id="1344" name="Google Shape;1344;p44"/>
              <p:cNvSpPr/>
              <p:nvPr/>
            </p:nvSpPr>
            <p:spPr>
              <a:xfrm>
                <a:off x="6092940" y="4562822"/>
                <a:ext cx="2088231" cy="546252"/>
              </a:xfrm>
              <a:prstGeom prst="flowChartDecision">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Đánh giá giải pháp</a:t>
                </a:r>
                <a:endParaRPr sz="1300" b="1" i="0" u="none" strike="noStrike" cap="none">
                  <a:solidFill>
                    <a:schemeClr val="dk1"/>
                  </a:solidFill>
                  <a:latin typeface="Arial"/>
                  <a:ea typeface="Arial"/>
                  <a:cs typeface="Arial"/>
                  <a:sym typeface="Arial"/>
                </a:endParaRPr>
              </a:p>
            </p:txBody>
          </p:sp>
          <p:cxnSp>
            <p:nvCxnSpPr>
              <p:cNvPr id="1345" name="Google Shape;1345;p44"/>
              <p:cNvCxnSpPr>
                <a:stCxn id="1344" idx="0"/>
                <a:endCxn id="1343" idx="2"/>
              </p:cNvCxnSpPr>
              <p:nvPr/>
            </p:nvCxnSpPr>
            <p:spPr>
              <a:xfrm rot="10800000">
                <a:off x="7137055" y="3958622"/>
                <a:ext cx="0" cy="604200"/>
              </a:xfrm>
              <a:prstGeom prst="straightConnector1">
                <a:avLst/>
              </a:prstGeom>
              <a:noFill/>
              <a:ln w="28575" cap="flat" cmpd="sng">
                <a:solidFill>
                  <a:schemeClr val="accent5"/>
                </a:solidFill>
                <a:prstDash val="solid"/>
                <a:miter lim="800000"/>
                <a:headEnd type="none" w="sm" len="sm"/>
                <a:tailEnd type="triangle" w="med" len="med"/>
              </a:ln>
            </p:spPr>
          </p:cxnSp>
          <p:pic>
            <p:nvPicPr>
              <p:cNvPr id="1346" name="Google Shape;1346;p44"/>
              <p:cNvPicPr preferRelativeResize="0"/>
              <p:nvPr/>
            </p:nvPicPr>
            <p:blipFill rotWithShape="1">
              <a:blip r:embed="rId3">
                <a:alphaModFix/>
              </a:blip>
              <a:srcRect/>
              <a:stretch/>
            </p:blipFill>
            <p:spPr>
              <a:xfrm>
                <a:off x="7234223" y="5189414"/>
                <a:ext cx="360000" cy="360000"/>
              </a:xfrm>
              <a:prstGeom prst="rect">
                <a:avLst/>
              </a:prstGeom>
              <a:noFill/>
              <a:ln>
                <a:noFill/>
              </a:ln>
            </p:spPr>
          </p:pic>
          <p:pic>
            <p:nvPicPr>
              <p:cNvPr id="1347" name="Google Shape;1347;p44"/>
              <p:cNvPicPr preferRelativeResize="0"/>
              <p:nvPr/>
            </p:nvPicPr>
            <p:blipFill rotWithShape="1">
              <a:blip r:embed="rId4">
                <a:alphaModFix/>
              </a:blip>
              <a:srcRect/>
              <a:stretch/>
            </p:blipFill>
            <p:spPr>
              <a:xfrm>
                <a:off x="7234223" y="4133076"/>
                <a:ext cx="360000" cy="360000"/>
              </a:xfrm>
              <a:prstGeom prst="rect">
                <a:avLst/>
              </a:prstGeom>
              <a:noFill/>
              <a:ln>
                <a:noFill/>
              </a:ln>
            </p:spPr>
          </p:pic>
          <p:sp>
            <p:nvSpPr>
              <p:cNvPr id="1348" name="Google Shape;1348;p44"/>
              <p:cNvSpPr/>
              <p:nvPr/>
            </p:nvSpPr>
            <p:spPr>
              <a:xfrm>
                <a:off x="4248536" y="5449755"/>
                <a:ext cx="1459370" cy="360000"/>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Phân tích lỗi</a:t>
                </a:r>
                <a:endParaRPr sz="1400" b="1" i="0" u="none" strike="noStrike" cap="none">
                  <a:solidFill>
                    <a:schemeClr val="dk1"/>
                  </a:solidFill>
                  <a:latin typeface="Arial"/>
                  <a:ea typeface="Arial"/>
                  <a:cs typeface="Arial"/>
                  <a:sym typeface="Arial"/>
                </a:endParaRPr>
              </a:p>
            </p:txBody>
          </p:sp>
          <p:sp>
            <p:nvSpPr>
              <p:cNvPr id="1349" name="Google Shape;1349;p44"/>
              <p:cNvSpPr/>
              <p:nvPr/>
            </p:nvSpPr>
            <p:spPr>
              <a:xfrm>
                <a:off x="1926630" y="4562822"/>
                <a:ext cx="1710053" cy="546252"/>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Nghiên cứu </a:t>
                </a:r>
                <a:br>
                  <a:rPr lang="en-US" sz="1400" b="1" i="0" u="none" strike="noStrike" cap="none">
                    <a:solidFill>
                      <a:schemeClr val="dk1"/>
                    </a:solidFill>
                    <a:latin typeface="Arial"/>
                    <a:ea typeface="Arial"/>
                    <a:cs typeface="Arial"/>
                    <a:sym typeface="Arial"/>
                  </a:rPr>
                </a:br>
                <a:r>
                  <a:rPr lang="en-US" sz="1400" b="1" i="0" u="none" strike="noStrike" cap="none">
                    <a:solidFill>
                      <a:schemeClr val="dk1"/>
                    </a:solidFill>
                    <a:latin typeface="Arial"/>
                    <a:ea typeface="Arial"/>
                    <a:cs typeface="Arial"/>
                    <a:sym typeface="Arial"/>
                  </a:rPr>
                  <a:t>vấn đề</a:t>
                </a:r>
                <a:endParaRPr sz="1400" b="1" i="0" u="none" strike="noStrike" cap="none">
                  <a:solidFill>
                    <a:schemeClr val="dk1"/>
                  </a:solidFill>
                  <a:latin typeface="Arial"/>
                  <a:ea typeface="Arial"/>
                  <a:cs typeface="Arial"/>
                  <a:sym typeface="Arial"/>
                </a:endParaRPr>
              </a:p>
            </p:txBody>
          </p:sp>
          <p:sp>
            <p:nvSpPr>
              <p:cNvPr id="1350" name="Google Shape;1350;p44"/>
              <p:cNvSpPr/>
              <p:nvPr/>
            </p:nvSpPr>
            <p:spPr>
              <a:xfrm>
                <a:off x="4239018" y="4562822"/>
                <a:ext cx="1459370" cy="546252"/>
              </a:xfrm>
              <a:prstGeom prst="rect">
                <a:avLst/>
              </a:prstGeom>
              <a:solidFill>
                <a:srgbClr val="FFF2CC"/>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Thiết lập </a:t>
                </a:r>
                <a:br>
                  <a:rPr lang="en-US" sz="1400" b="1" i="0" u="none" strike="noStrike" cap="none">
                    <a:solidFill>
                      <a:schemeClr val="dk1"/>
                    </a:solidFill>
                    <a:latin typeface="Arial"/>
                    <a:ea typeface="Arial"/>
                    <a:cs typeface="Arial"/>
                    <a:sym typeface="Arial"/>
                  </a:rPr>
                </a:br>
                <a:r>
                  <a:rPr lang="en-US" sz="1400" b="1" i="0" u="none" strike="noStrike" cap="none">
                    <a:solidFill>
                      <a:schemeClr val="dk1"/>
                    </a:solidFill>
                    <a:latin typeface="Arial"/>
                    <a:ea typeface="Arial"/>
                    <a:cs typeface="Arial"/>
                    <a:sym typeface="Arial"/>
                  </a:rPr>
                  <a:t>quy tắc</a:t>
                </a:r>
                <a:endParaRPr sz="1400" b="1" i="0" u="none" strike="noStrike" cap="none">
                  <a:solidFill>
                    <a:schemeClr val="dk1"/>
                  </a:solidFill>
                  <a:latin typeface="Arial"/>
                  <a:ea typeface="Arial"/>
                  <a:cs typeface="Arial"/>
                  <a:sym typeface="Arial"/>
                </a:endParaRPr>
              </a:p>
            </p:txBody>
          </p:sp>
          <p:cxnSp>
            <p:nvCxnSpPr>
              <p:cNvPr id="1351" name="Google Shape;1351;p44"/>
              <p:cNvCxnSpPr>
                <a:stCxn id="1344" idx="2"/>
                <a:endCxn id="1348" idx="3"/>
              </p:cNvCxnSpPr>
              <p:nvPr/>
            </p:nvCxnSpPr>
            <p:spPr>
              <a:xfrm rot="5400000">
                <a:off x="6162055" y="4654874"/>
                <a:ext cx="520800" cy="1429200"/>
              </a:xfrm>
              <a:prstGeom prst="bentConnector2">
                <a:avLst/>
              </a:prstGeom>
              <a:noFill/>
              <a:ln w="28575" cap="flat" cmpd="sng">
                <a:solidFill>
                  <a:schemeClr val="accent5"/>
                </a:solidFill>
                <a:prstDash val="solid"/>
                <a:miter lim="800000"/>
                <a:headEnd type="none" w="sm" len="sm"/>
                <a:tailEnd type="triangle" w="med" len="med"/>
              </a:ln>
            </p:spPr>
          </p:cxnSp>
          <p:cxnSp>
            <p:nvCxnSpPr>
              <p:cNvPr id="1352" name="Google Shape;1352;p44"/>
              <p:cNvCxnSpPr>
                <a:stCxn id="1348" idx="1"/>
                <a:endCxn id="1349" idx="2"/>
              </p:cNvCxnSpPr>
              <p:nvPr/>
            </p:nvCxnSpPr>
            <p:spPr>
              <a:xfrm rot="10800000">
                <a:off x="2781536" y="5108955"/>
                <a:ext cx="1467000" cy="520800"/>
              </a:xfrm>
              <a:prstGeom prst="bentConnector2">
                <a:avLst/>
              </a:prstGeom>
              <a:noFill/>
              <a:ln w="28575" cap="flat" cmpd="sng">
                <a:solidFill>
                  <a:schemeClr val="accent5"/>
                </a:solidFill>
                <a:prstDash val="solid"/>
                <a:miter lim="800000"/>
                <a:headEnd type="none" w="sm" len="sm"/>
                <a:tailEnd type="triangle" w="med" len="med"/>
              </a:ln>
            </p:spPr>
          </p:cxnSp>
          <p:cxnSp>
            <p:nvCxnSpPr>
              <p:cNvPr id="1353" name="Google Shape;1353;p44"/>
              <p:cNvCxnSpPr>
                <a:stCxn id="1349" idx="3"/>
                <a:endCxn id="1350" idx="1"/>
              </p:cNvCxnSpPr>
              <p:nvPr/>
            </p:nvCxnSpPr>
            <p:spPr>
              <a:xfrm>
                <a:off x="3636683" y="4835948"/>
                <a:ext cx="602400" cy="0"/>
              </a:xfrm>
              <a:prstGeom prst="straightConnector1">
                <a:avLst/>
              </a:prstGeom>
              <a:noFill/>
              <a:ln w="28575" cap="flat" cmpd="sng">
                <a:solidFill>
                  <a:schemeClr val="accent5"/>
                </a:solidFill>
                <a:prstDash val="solid"/>
                <a:miter lim="800000"/>
                <a:headEnd type="none" w="sm" len="sm"/>
                <a:tailEnd type="triangle" w="med" len="med"/>
              </a:ln>
            </p:spPr>
          </p:cxnSp>
          <p:cxnSp>
            <p:nvCxnSpPr>
              <p:cNvPr id="1354" name="Google Shape;1354;p44"/>
              <p:cNvCxnSpPr>
                <a:stCxn id="1350" idx="3"/>
                <a:endCxn id="1344" idx="1"/>
              </p:cNvCxnSpPr>
              <p:nvPr/>
            </p:nvCxnSpPr>
            <p:spPr>
              <a:xfrm>
                <a:off x="5698388" y="4835948"/>
                <a:ext cx="394500" cy="0"/>
              </a:xfrm>
              <a:prstGeom prst="straightConnector1">
                <a:avLst/>
              </a:prstGeom>
              <a:noFill/>
              <a:ln w="28575" cap="flat" cmpd="sng">
                <a:solidFill>
                  <a:schemeClr val="accent5"/>
                </a:solidFill>
                <a:prstDash val="solid"/>
                <a:miter lim="800000"/>
                <a:headEnd type="none" w="sm" len="sm"/>
                <a:tailEnd type="triangle" w="med" len="med"/>
              </a:ln>
            </p:spPr>
          </p:cxnSp>
        </p:grpSp>
      </p:grpSp>
      <p:grpSp>
        <p:nvGrpSpPr>
          <p:cNvPr id="1355" name="Google Shape;1355;p44"/>
          <p:cNvGrpSpPr/>
          <p:nvPr/>
        </p:nvGrpSpPr>
        <p:grpSpPr>
          <a:xfrm>
            <a:off x="558924" y="1879047"/>
            <a:ext cx="9180558" cy="1696574"/>
            <a:chOff x="558924" y="1816596"/>
            <a:chExt cx="9180558" cy="1696574"/>
          </a:xfrm>
        </p:grpSpPr>
        <p:sp>
          <p:nvSpPr>
            <p:cNvPr id="1356" name="Google Shape;1356;p44"/>
            <p:cNvSpPr/>
            <p:nvPr/>
          </p:nvSpPr>
          <p:spPr>
            <a:xfrm>
              <a:off x="702940" y="2064843"/>
              <a:ext cx="8632825" cy="1448327"/>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Khi xây dựng bộ lọc thư rác với các kỹ thuật lập trình truyền thống, các quy tắc trở nên dài và phức tạp, khiến việc duy trì chúng trở nên rất khó khăn. Thay vì vậy, các kỹ thuật học máy sẽ phát hiện các mẫu (patterns) xuất hiện thường xuyên hơn trong các thư rác so với thư thông thường. Chúng sẽ tự động tìm hiểu những từ và cụm từ nào là tiêu chí tốt để đánh giá thư rác.</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Học máy phù hợp với các lĩnh vực quá phức tạp hoặc không có thuật toán nào theo cách truyền thống đã biết có thể giải quyết (ví dụ: nhận dạng giọng nói).</a:t>
              </a:r>
              <a:endParaRPr sz="1300" b="0" i="0" u="none" strike="noStrike" cap="none">
                <a:solidFill>
                  <a:srgbClr val="262626"/>
                </a:solidFill>
                <a:latin typeface="Arial"/>
                <a:ea typeface="Arial"/>
                <a:cs typeface="Arial"/>
                <a:sym typeface="Arial"/>
              </a:endParaRPr>
            </a:p>
          </p:txBody>
        </p:sp>
        <p:sp>
          <p:nvSpPr>
            <p:cNvPr id="1357" name="Google Shape;1357;p44"/>
            <p:cNvSpPr/>
            <p:nvPr/>
          </p:nvSpPr>
          <p:spPr>
            <a:xfrm>
              <a:off x="558924" y="1816596"/>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Tại sao cần sử dụng học máy?</a:t>
              </a:r>
              <a:endParaRPr sz="1400" b="0" i="0" u="none" strike="noStrike" cap="none">
                <a:solidFill>
                  <a:srgbClr val="000000"/>
                </a:solidFill>
                <a:latin typeface="Arial"/>
                <a:ea typeface="Arial"/>
                <a:cs typeface="Arial"/>
                <a:sym typeface="Arial"/>
              </a:endParaRPr>
            </a:p>
          </p:txBody>
        </p:sp>
      </p:grpSp>
      <p:sp>
        <p:nvSpPr>
          <p:cNvPr id="1358" name="Google Shape;1358;p44"/>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Lý do cần học máy</a:t>
            </a:r>
            <a:endParaRPr sz="2400" b="1" i="0" u="none" strike="noStrike" cap="none">
              <a:solidFill>
                <a:srgbClr val="0C0C0C"/>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45"/>
          <p:cNvSpPr/>
          <p:nvPr/>
        </p:nvSpPr>
        <p:spPr>
          <a:xfrm>
            <a:off x="702940" y="1700808"/>
            <a:ext cx="8632825" cy="1653511"/>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Vấn đề: Các giải pháp hiện tại yêu cầu nhiều quy tắc và điều chỉnh thủ công. Học máy: Một mô hình học máy có thể đơn giản hóa mã lệnh và tăng hiệu suất so với các phương pháp truyền thống.</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Vấn đề: Các vấn đề phức tạp không có giải pháp theo cách truyền thống. Học máy: Các giải pháp có thể được tìm thấy bằng các kỹ thuật máy học tốt nhất.</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Môi trường linh hoạt: Hệ thống máy học có thể thích nghi với dữ liệu mới.</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Có được cái nhìn sâu sắc từ các vấn đề phức tạp và lượng lớn dữ liệu.</a:t>
            </a:r>
            <a:endParaRPr sz="1300" b="0" i="0" u="none" strike="noStrike" cap="none">
              <a:solidFill>
                <a:srgbClr val="262626"/>
              </a:solidFill>
              <a:latin typeface="Arial"/>
              <a:ea typeface="Arial"/>
              <a:cs typeface="Arial"/>
              <a:sym typeface="Arial"/>
            </a:endParaRPr>
          </a:p>
        </p:txBody>
      </p:sp>
      <p:grpSp>
        <p:nvGrpSpPr>
          <p:cNvPr id="1368" name="Google Shape;1368;p45"/>
          <p:cNvGrpSpPr/>
          <p:nvPr/>
        </p:nvGrpSpPr>
        <p:grpSpPr>
          <a:xfrm>
            <a:off x="1711052" y="3419573"/>
            <a:ext cx="6480720" cy="2836376"/>
            <a:chOff x="1711052" y="3212976"/>
            <a:chExt cx="6480720" cy="2836376"/>
          </a:xfrm>
        </p:grpSpPr>
        <p:sp>
          <p:nvSpPr>
            <p:cNvPr id="1369" name="Google Shape;1369;p45"/>
            <p:cNvSpPr/>
            <p:nvPr/>
          </p:nvSpPr>
          <p:spPr>
            <a:xfrm>
              <a:off x="1711052" y="3369352"/>
              <a:ext cx="6480720" cy="2680000"/>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70" name="Google Shape;1370;p45"/>
            <p:cNvSpPr/>
            <p:nvPr/>
          </p:nvSpPr>
          <p:spPr>
            <a:xfrm>
              <a:off x="3439244" y="3212976"/>
              <a:ext cx="2883838"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1429A0"/>
                  </a:solidFill>
                  <a:latin typeface="Arial"/>
                  <a:ea typeface="Arial"/>
                  <a:cs typeface="Arial"/>
                  <a:sym typeface="Arial"/>
                </a:rPr>
                <a:t>Cách tiếp cận học máy</a:t>
              </a:r>
              <a:endParaRPr sz="1600" b="1" i="0" u="none" strike="noStrike" cap="none">
                <a:solidFill>
                  <a:srgbClr val="1429A0"/>
                </a:solidFill>
                <a:latin typeface="Arial"/>
                <a:ea typeface="Arial"/>
                <a:cs typeface="Arial"/>
                <a:sym typeface="Arial"/>
              </a:endParaRPr>
            </a:p>
          </p:txBody>
        </p:sp>
        <p:sp>
          <p:nvSpPr>
            <p:cNvPr id="1371" name="Google Shape;1371;p45"/>
            <p:cNvSpPr/>
            <p:nvPr/>
          </p:nvSpPr>
          <p:spPr>
            <a:xfrm>
              <a:off x="6566182" y="3674828"/>
              <a:ext cx="1008112" cy="499705"/>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Triển khai</a:t>
              </a:r>
              <a:endParaRPr sz="1400" b="1" i="0" u="none" strike="noStrike" cap="none">
                <a:solidFill>
                  <a:schemeClr val="dk1"/>
                </a:solidFill>
                <a:latin typeface="Arial"/>
                <a:ea typeface="Arial"/>
                <a:cs typeface="Arial"/>
                <a:sym typeface="Arial"/>
              </a:endParaRPr>
            </a:p>
          </p:txBody>
        </p:sp>
        <p:sp>
          <p:nvSpPr>
            <p:cNvPr id="1372" name="Google Shape;1372;p45"/>
            <p:cNvSpPr/>
            <p:nvPr/>
          </p:nvSpPr>
          <p:spPr>
            <a:xfrm>
              <a:off x="6021377" y="4778846"/>
              <a:ext cx="2097724" cy="546252"/>
            </a:xfrm>
            <a:prstGeom prst="flowChartDecision">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Đánh giá giải pháp</a:t>
              </a:r>
              <a:endParaRPr sz="1300" b="1" i="0" u="none" strike="noStrike" cap="none">
                <a:solidFill>
                  <a:schemeClr val="dk1"/>
                </a:solidFill>
                <a:latin typeface="Arial"/>
                <a:ea typeface="Arial"/>
                <a:cs typeface="Arial"/>
                <a:sym typeface="Arial"/>
              </a:endParaRPr>
            </a:p>
          </p:txBody>
        </p:sp>
        <p:cxnSp>
          <p:nvCxnSpPr>
            <p:cNvPr id="1373" name="Google Shape;1373;p45"/>
            <p:cNvCxnSpPr>
              <a:stCxn id="1372" idx="0"/>
              <a:endCxn id="1371" idx="2"/>
            </p:cNvCxnSpPr>
            <p:nvPr/>
          </p:nvCxnSpPr>
          <p:spPr>
            <a:xfrm rot="10800000">
              <a:off x="7070239" y="4174646"/>
              <a:ext cx="0" cy="604200"/>
            </a:xfrm>
            <a:prstGeom prst="straightConnector1">
              <a:avLst/>
            </a:prstGeom>
            <a:noFill/>
            <a:ln w="28575" cap="flat" cmpd="sng">
              <a:solidFill>
                <a:schemeClr val="accent5"/>
              </a:solidFill>
              <a:prstDash val="solid"/>
              <a:miter lim="800000"/>
              <a:headEnd type="none" w="sm" len="sm"/>
              <a:tailEnd type="triangle" w="med" len="med"/>
            </a:ln>
          </p:spPr>
        </p:cxnSp>
        <p:pic>
          <p:nvPicPr>
            <p:cNvPr id="1374" name="Google Shape;1374;p45"/>
            <p:cNvPicPr preferRelativeResize="0"/>
            <p:nvPr/>
          </p:nvPicPr>
          <p:blipFill rotWithShape="1">
            <a:blip r:embed="rId3">
              <a:alphaModFix/>
            </a:blip>
            <a:srcRect/>
            <a:stretch/>
          </p:blipFill>
          <p:spPr>
            <a:xfrm>
              <a:off x="7169168" y="5381000"/>
              <a:ext cx="360000" cy="360000"/>
            </a:xfrm>
            <a:prstGeom prst="rect">
              <a:avLst/>
            </a:prstGeom>
            <a:noFill/>
            <a:ln>
              <a:noFill/>
            </a:ln>
          </p:spPr>
        </p:pic>
        <p:pic>
          <p:nvPicPr>
            <p:cNvPr id="1375" name="Google Shape;1375;p45"/>
            <p:cNvPicPr preferRelativeResize="0"/>
            <p:nvPr/>
          </p:nvPicPr>
          <p:blipFill rotWithShape="1">
            <a:blip r:embed="rId4">
              <a:alphaModFix/>
            </a:blip>
            <a:srcRect/>
            <a:stretch/>
          </p:blipFill>
          <p:spPr>
            <a:xfrm>
              <a:off x="7169168" y="4343896"/>
              <a:ext cx="360000" cy="360000"/>
            </a:xfrm>
            <a:prstGeom prst="rect">
              <a:avLst/>
            </a:prstGeom>
            <a:noFill/>
            <a:ln>
              <a:noFill/>
            </a:ln>
          </p:spPr>
        </p:pic>
        <p:sp>
          <p:nvSpPr>
            <p:cNvPr id="1376" name="Google Shape;1376;p45"/>
            <p:cNvSpPr/>
            <p:nvPr/>
          </p:nvSpPr>
          <p:spPr>
            <a:xfrm>
              <a:off x="4176973" y="5532783"/>
              <a:ext cx="1455758" cy="359293"/>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Phân tích lỗi</a:t>
              </a:r>
              <a:endParaRPr sz="1400" b="1" i="0" u="none" strike="noStrike" cap="none">
                <a:solidFill>
                  <a:schemeClr val="dk1"/>
                </a:solidFill>
                <a:latin typeface="Arial"/>
                <a:ea typeface="Arial"/>
                <a:cs typeface="Arial"/>
                <a:sym typeface="Arial"/>
              </a:endParaRPr>
            </a:p>
          </p:txBody>
        </p:sp>
        <p:sp>
          <p:nvSpPr>
            <p:cNvPr id="1377" name="Google Shape;1377;p45"/>
            <p:cNvSpPr/>
            <p:nvPr/>
          </p:nvSpPr>
          <p:spPr>
            <a:xfrm>
              <a:off x="1855067" y="4778846"/>
              <a:ext cx="1710053" cy="546252"/>
            </a:xfrm>
            <a:prstGeom prst="rect">
              <a:avLst/>
            </a:prstGeom>
            <a:solidFill>
              <a:srgbClr val="EEEEED"/>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Nghiên cứu vấn đề</a:t>
              </a:r>
              <a:endParaRPr sz="1400" b="1" i="0" u="none" strike="noStrike" cap="none">
                <a:solidFill>
                  <a:schemeClr val="dk1"/>
                </a:solidFill>
                <a:latin typeface="Arial"/>
                <a:ea typeface="Arial"/>
                <a:cs typeface="Arial"/>
                <a:sym typeface="Arial"/>
              </a:endParaRPr>
            </a:p>
          </p:txBody>
        </p:sp>
        <p:sp>
          <p:nvSpPr>
            <p:cNvPr id="1378" name="Google Shape;1378;p45"/>
            <p:cNvSpPr/>
            <p:nvPr/>
          </p:nvSpPr>
          <p:spPr>
            <a:xfrm>
              <a:off x="3902200" y="4778846"/>
              <a:ext cx="1724626" cy="546252"/>
            </a:xfrm>
            <a:prstGeom prst="rect">
              <a:avLst/>
            </a:prstGeom>
            <a:solidFill>
              <a:srgbClr val="E1EFD8"/>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Huấn luyện thuật toán học máy</a:t>
              </a:r>
              <a:endParaRPr sz="1400" b="1" i="0" u="none" strike="noStrike" cap="none">
                <a:solidFill>
                  <a:schemeClr val="dk1"/>
                </a:solidFill>
                <a:latin typeface="Arial"/>
                <a:ea typeface="Arial"/>
                <a:cs typeface="Arial"/>
                <a:sym typeface="Arial"/>
              </a:endParaRPr>
            </a:p>
          </p:txBody>
        </p:sp>
        <p:cxnSp>
          <p:nvCxnSpPr>
            <p:cNvPr id="1379" name="Google Shape;1379;p45"/>
            <p:cNvCxnSpPr>
              <a:stCxn id="1372" idx="2"/>
              <a:endCxn id="1376" idx="3"/>
            </p:cNvCxnSpPr>
            <p:nvPr/>
          </p:nvCxnSpPr>
          <p:spPr>
            <a:xfrm rot="5400000">
              <a:off x="6157789" y="4799948"/>
              <a:ext cx="387300" cy="1437600"/>
            </a:xfrm>
            <a:prstGeom prst="bentConnector2">
              <a:avLst/>
            </a:prstGeom>
            <a:noFill/>
            <a:ln w="28575" cap="flat" cmpd="sng">
              <a:solidFill>
                <a:schemeClr val="accent5"/>
              </a:solidFill>
              <a:prstDash val="solid"/>
              <a:miter lim="800000"/>
              <a:headEnd type="none" w="sm" len="sm"/>
              <a:tailEnd type="triangle" w="med" len="med"/>
            </a:ln>
          </p:spPr>
        </p:cxnSp>
        <p:cxnSp>
          <p:nvCxnSpPr>
            <p:cNvPr id="1380" name="Google Shape;1380;p45"/>
            <p:cNvCxnSpPr>
              <a:stCxn id="1376" idx="1"/>
              <a:endCxn id="1377" idx="2"/>
            </p:cNvCxnSpPr>
            <p:nvPr/>
          </p:nvCxnSpPr>
          <p:spPr>
            <a:xfrm rot="10800000">
              <a:off x="2709973" y="5325130"/>
              <a:ext cx="1467000" cy="387300"/>
            </a:xfrm>
            <a:prstGeom prst="bentConnector2">
              <a:avLst/>
            </a:prstGeom>
            <a:noFill/>
            <a:ln w="28575" cap="flat" cmpd="sng">
              <a:solidFill>
                <a:schemeClr val="accent5"/>
              </a:solidFill>
              <a:prstDash val="solid"/>
              <a:miter lim="800000"/>
              <a:headEnd type="none" w="sm" len="sm"/>
              <a:tailEnd type="triangle" w="med" len="med"/>
            </a:ln>
          </p:spPr>
        </p:cxnSp>
        <p:cxnSp>
          <p:nvCxnSpPr>
            <p:cNvPr id="1381" name="Google Shape;1381;p45"/>
            <p:cNvCxnSpPr>
              <a:stCxn id="1377" idx="3"/>
              <a:endCxn id="1378" idx="1"/>
            </p:cNvCxnSpPr>
            <p:nvPr/>
          </p:nvCxnSpPr>
          <p:spPr>
            <a:xfrm>
              <a:off x="3565120" y="5051972"/>
              <a:ext cx="337200" cy="0"/>
            </a:xfrm>
            <a:prstGeom prst="straightConnector1">
              <a:avLst/>
            </a:prstGeom>
            <a:noFill/>
            <a:ln w="28575" cap="flat" cmpd="sng">
              <a:solidFill>
                <a:schemeClr val="accent5"/>
              </a:solidFill>
              <a:prstDash val="solid"/>
              <a:miter lim="800000"/>
              <a:headEnd type="none" w="sm" len="sm"/>
              <a:tailEnd type="triangle" w="med" len="med"/>
            </a:ln>
          </p:spPr>
        </p:cxnSp>
        <p:cxnSp>
          <p:nvCxnSpPr>
            <p:cNvPr id="1382" name="Google Shape;1382;p45"/>
            <p:cNvCxnSpPr>
              <a:stCxn id="1378" idx="3"/>
              <a:endCxn id="1372" idx="1"/>
            </p:cNvCxnSpPr>
            <p:nvPr/>
          </p:nvCxnSpPr>
          <p:spPr>
            <a:xfrm>
              <a:off x="5626826" y="5051972"/>
              <a:ext cx="394500" cy="0"/>
            </a:xfrm>
            <a:prstGeom prst="straightConnector1">
              <a:avLst/>
            </a:prstGeom>
            <a:noFill/>
            <a:ln w="28575" cap="flat" cmpd="sng">
              <a:solidFill>
                <a:schemeClr val="accent5"/>
              </a:solidFill>
              <a:prstDash val="solid"/>
              <a:miter lim="800000"/>
              <a:headEnd type="none" w="sm" len="sm"/>
              <a:tailEnd type="triangle" w="med" len="med"/>
            </a:ln>
          </p:spPr>
        </p:cxnSp>
        <p:grpSp>
          <p:nvGrpSpPr>
            <p:cNvPr id="1383" name="Google Shape;1383;p45"/>
            <p:cNvGrpSpPr/>
            <p:nvPr/>
          </p:nvGrpSpPr>
          <p:grpSpPr>
            <a:xfrm>
              <a:off x="4061127" y="3674829"/>
              <a:ext cx="1406771" cy="823497"/>
              <a:chOff x="9573782" y="3466198"/>
              <a:chExt cx="1406771" cy="823497"/>
            </a:xfrm>
          </p:grpSpPr>
          <p:sp>
            <p:nvSpPr>
              <p:cNvPr id="1384" name="Google Shape;1384;p45"/>
              <p:cNvSpPr/>
              <p:nvPr/>
            </p:nvSpPr>
            <p:spPr>
              <a:xfrm>
                <a:off x="9573782" y="3466198"/>
                <a:ext cx="1406771" cy="823497"/>
              </a:xfrm>
              <a:prstGeom prst="flowChartInputOutput">
                <a:avLst/>
              </a:prstGeom>
              <a:solidFill>
                <a:srgbClr val="E1EFD8"/>
              </a:solidFill>
              <a:ln w="12700" cap="flat" cmpd="sng">
                <a:solidFill>
                  <a:srgbClr val="7F7F7F"/>
                </a:solidFill>
                <a:prstDash val="solid"/>
                <a:miter lim="800000"/>
                <a:headEnd type="none" w="sm" len="sm"/>
                <a:tailEnd type="none" w="sm" len="sm"/>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Dữ liệu</a:t>
                </a:r>
                <a:endParaRPr sz="1400" b="1" i="0" u="none" strike="noStrike" cap="none">
                  <a:solidFill>
                    <a:schemeClr val="dk1"/>
                  </a:solidFill>
                  <a:latin typeface="Arial"/>
                  <a:ea typeface="Arial"/>
                  <a:cs typeface="Arial"/>
                  <a:sym typeface="Arial"/>
                </a:endParaRPr>
              </a:p>
            </p:txBody>
          </p:sp>
          <p:cxnSp>
            <p:nvCxnSpPr>
              <p:cNvPr id="1385" name="Google Shape;1385;p45"/>
              <p:cNvCxnSpPr/>
              <p:nvPr/>
            </p:nvCxnSpPr>
            <p:spPr>
              <a:xfrm rot="10800000">
                <a:off x="9957546" y="3540410"/>
                <a:ext cx="0" cy="454194"/>
              </a:xfrm>
              <a:prstGeom prst="straightConnector1">
                <a:avLst/>
              </a:prstGeom>
              <a:noFill/>
              <a:ln w="12700" cap="flat" cmpd="sng">
                <a:solidFill>
                  <a:srgbClr val="7F7F7F"/>
                </a:solidFill>
                <a:prstDash val="solid"/>
                <a:miter lim="800000"/>
                <a:headEnd type="none" w="sm" len="sm"/>
                <a:tailEnd type="triangle" w="med" len="med"/>
              </a:ln>
            </p:spPr>
          </p:cxnSp>
          <p:cxnSp>
            <p:nvCxnSpPr>
              <p:cNvPr id="1386" name="Google Shape;1386;p45"/>
              <p:cNvCxnSpPr/>
              <p:nvPr/>
            </p:nvCxnSpPr>
            <p:spPr>
              <a:xfrm>
                <a:off x="9956971" y="3994604"/>
                <a:ext cx="611066" cy="0"/>
              </a:xfrm>
              <a:prstGeom prst="straightConnector1">
                <a:avLst/>
              </a:prstGeom>
              <a:noFill/>
              <a:ln w="12700" cap="flat" cmpd="sng">
                <a:solidFill>
                  <a:srgbClr val="7F7F7F"/>
                </a:solidFill>
                <a:prstDash val="solid"/>
                <a:miter lim="800000"/>
                <a:headEnd type="none" w="sm" len="sm"/>
                <a:tailEnd type="triangle" w="med" len="med"/>
              </a:ln>
            </p:spPr>
          </p:cxnSp>
          <p:sp>
            <p:nvSpPr>
              <p:cNvPr id="1387" name="Google Shape;1387;p45"/>
              <p:cNvSpPr/>
              <p:nvPr/>
            </p:nvSpPr>
            <p:spPr>
              <a:xfrm>
                <a:off x="10024562" y="3845005"/>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8" name="Google Shape;1388;p45"/>
              <p:cNvSpPr/>
              <p:nvPr/>
            </p:nvSpPr>
            <p:spPr>
              <a:xfrm>
                <a:off x="10129246" y="3708020"/>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9" name="Google Shape;1389;p45"/>
              <p:cNvSpPr/>
              <p:nvPr/>
            </p:nvSpPr>
            <p:spPr>
              <a:xfrm>
                <a:off x="10186796" y="3652935"/>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0" name="Google Shape;1390;p45"/>
              <p:cNvSpPr/>
              <p:nvPr/>
            </p:nvSpPr>
            <p:spPr>
              <a:xfrm>
                <a:off x="10070282" y="3684681"/>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1" name="Google Shape;1391;p45"/>
              <p:cNvSpPr/>
              <p:nvPr/>
            </p:nvSpPr>
            <p:spPr>
              <a:xfrm>
                <a:off x="10302166" y="3634296"/>
                <a:ext cx="45720" cy="45720"/>
              </a:xfrm>
              <a:prstGeom prst="ellipse">
                <a:avLst/>
              </a:prstGeom>
              <a:solidFill>
                <a:srgbClr val="294D9D"/>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1392" name="Google Shape;1392;p45"/>
            <p:cNvCxnSpPr>
              <a:stCxn id="1384" idx="4"/>
              <a:endCxn id="1378" idx="0"/>
            </p:cNvCxnSpPr>
            <p:nvPr/>
          </p:nvCxnSpPr>
          <p:spPr>
            <a:xfrm>
              <a:off x="4764513" y="4498326"/>
              <a:ext cx="0" cy="280500"/>
            </a:xfrm>
            <a:prstGeom prst="straightConnector1">
              <a:avLst/>
            </a:prstGeom>
            <a:noFill/>
            <a:ln w="28575" cap="flat" cmpd="sng">
              <a:solidFill>
                <a:schemeClr val="accent5"/>
              </a:solidFill>
              <a:prstDash val="dot"/>
              <a:miter lim="800000"/>
              <a:headEnd type="none" w="sm" len="sm"/>
              <a:tailEnd type="triangle" w="med" len="med"/>
            </a:ln>
          </p:spPr>
        </p:cxnSp>
      </p:grpSp>
      <p:sp>
        <p:nvSpPr>
          <p:cNvPr id="1393" name="Google Shape;1393;p45"/>
          <p:cNvSpPr/>
          <p:nvPr/>
        </p:nvSpPr>
        <p:spPr>
          <a:xfrm>
            <a:off x="558924" y="1439631"/>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Ưu điểm của học máy</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155952F9-E59F-AFDF-EF42-A098519CC4F3}"/>
            </a:ext>
          </a:extLst>
        </p:cNvPr>
        <p:cNvGrpSpPr/>
        <p:nvPr/>
      </p:nvGrpSpPr>
      <p:grpSpPr>
        <a:xfrm>
          <a:off x="0" y="0"/>
          <a:ext cx="0" cy="0"/>
          <a:chOff x="0" y="0"/>
          <a:chExt cx="0" cy="0"/>
        </a:xfrm>
      </p:grpSpPr>
      <p:sp>
        <p:nvSpPr>
          <p:cNvPr id="191" name="Google Shape;191;p4">
            <a:extLst>
              <a:ext uri="{FF2B5EF4-FFF2-40B4-BE49-F238E27FC236}">
                <a16:creationId xmlns:a16="http://schemas.microsoft.com/office/drawing/2014/main" id="{98574700-1FC8-7D57-0BBC-6E1EB8A5C434}"/>
              </a:ext>
            </a:extLst>
          </p:cNvPr>
          <p:cNvSpPr/>
          <p:nvPr/>
        </p:nvSpPr>
        <p:spPr>
          <a:xfrm>
            <a:off x="989683" y="1656684"/>
            <a:ext cx="835110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err="1">
                <a:solidFill>
                  <a:srgbClr val="000000"/>
                </a:solidFill>
                <a:latin typeface="Arial"/>
                <a:ea typeface="Arial"/>
                <a:cs typeface="Arial"/>
                <a:sym typeface="Arial"/>
              </a:rPr>
              <a:t>Giới</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thiệu</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tổng</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quan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về</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trí</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tuệ</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nhân</a:t>
            </a:r>
            <a:r>
              <a:rPr lang="en-US" sz="3200" b="1" i="0" u="none" strike="noStrike" cap="none" dirty="0">
                <a:solidFill>
                  <a:srgbClr val="000000"/>
                </a:solidFill>
                <a:latin typeface="Arial"/>
                <a:ea typeface="Arial"/>
                <a:cs typeface="Arial"/>
                <a:sym typeface="Arial"/>
              </a:rPr>
              <a:t> </a:t>
            </a:r>
            <a:r>
              <a:rPr lang="en-US" sz="3200" b="1" i="0" u="none" strike="noStrike" cap="none" dirty="0" err="1">
                <a:solidFill>
                  <a:srgbClr val="000000"/>
                </a:solidFill>
                <a:latin typeface="Arial"/>
                <a:ea typeface="Arial"/>
                <a:cs typeface="Arial"/>
                <a:sym typeface="Arial"/>
              </a:rPr>
              <a:t>tạo</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92" name="Google Shape;192;p4">
            <a:extLst>
              <a:ext uri="{FF2B5EF4-FFF2-40B4-BE49-F238E27FC236}">
                <a16:creationId xmlns:a16="http://schemas.microsoft.com/office/drawing/2014/main" id="{E8D851EF-1E2A-208D-CD12-7F13779F8441}"/>
              </a:ext>
            </a:extLst>
          </p:cNvPr>
          <p:cNvSpPr/>
          <p:nvPr/>
        </p:nvSpPr>
        <p:spPr>
          <a:xfrm>
            <a:off x="1054111" y="1259865"/>
            <a:ext cx="5477955" cy="30767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999"/>
              <a:buFont typeface="Arial"/>
              <a:buNone/>
            </a:pPr>
            <a:r>
              <a:rPr lang="en-US" sz="1999" b="1" i="0" u="none" strike="noStrike" cap="none" dirty="0">
                <a:solidFill>
                  <a:srgbClr val="7F7F7F"/>
                </a:solidFill>
                <a:latin typeface="Arial"/>
                <a:ea typeface="Arial"/>
                <a:cs typeface="Arial"/>
                <a:sym typeface="Arial"/>
              </a:rPr>
              <a:t>1. </a:t>
            </a:r>
            <a:endParaRPr sz="5398" b="1" i="0" u="none" strike="noStrike" cap="none" dirty="0">
              <a:solidFill>
                <a:srgbClr val="7F7F7F"/>
              </a:solidFill>
              <a:latin typeface="Arial"/>
              <a:ea typeface="Arial"/>
              <a:cs typeface="Arial"/>
              <a:sym typeface="Arial"/>
            </a:endParaRPr>
          </a:p>
        </p:txBody>
      </p:sp>
      <p:sp>
        <p:nvSpPr>
          <p:cNvPr id="193" name="Google Shape;193;p4">
            <a:extLst>
              <a:ext uri="{FF2B5EF4-FFF2-40B4-BE49-F238E27FC236}">
                <a16:creationId xmlns:a16="http://schemas.microsoft.com/office/drawing/2014/main" id="{2896C42E-375D-309E-A498-80868768757B}"/>
              </a:ext>
            </a:extLst>
          </p:cNvPr>
          <p:cNvSpPr/>
          <p:nvPr/>
        </p:nvSpPr>
        <p:spPr>
          <a:xfrm>
            <a:off x="1054111" y="2382866"/>
            <a:ext cx="8286680" cy="2092267"/>
          </a:xfrm>
          <a:prstGeom prst="rect">
            <a:avLst/>
          </a:prstGeom>
          <a:noFill/>
          <a:ln>
            <a:noFill/>
          </a:ln>
        </p:spPr>
        <p:txBody>
          <a:bodyPr spcFirstLastPara="1" wrap="square" lIns="0" tIns="0" rIns="0" bIns="0" anchor="t" anchorCtr="0">
            <a:noAutofit/>
          </a:bodyPr>
          <a:lstStyle/>
          <a:p>
            <a:pPr marL="176213" marR="0" lvl="0" indent="-176213" algn="l" rtl="0">
              <a:lnSpc>
                <a:spcPct val="100000"/>
              </a:lnSpc>
              <a:spcBef>
                <a:spcPts val="0"/>
              </a:spcBef>
              <a:spcAft>
                <a:spcPts val="0"/>
              </a:spcAft>
              <a:buClr>
                <a:srgbClr val="3F3F3F"/>
              </a:buClr>
              <a:buSzPts val="2160"/>
              <a:buFont typeface="Arial"/>
              <a:buChar char="•"/>
            </a:pPr>
            <a:r>
              <a:rPr lang="en-US" sz="1800" b="0" i="0" u="none" strike="noStrike" cap="none" dirty="0">
                <a:solidFill>
                  <a:schemeClr val="bg1">
                    <a:lumMod val="65000"/>
                  </a:schemeClr>
                </a:solidFill>
                <a:latin typeface="Arial"/>
                <a:ea typeface="Arial"/>
                <a:cs typeface="Arial"/>
                <a:sym typeface="Arial"/>
              </a:rPr>
              <a:t>1.1. </a:t>
            </a:r>
            <a:r>
              <a:rPr lang="en-US" sz="1800" b="0" i="0" u="none" strike="noStrike" cap="none" dirty="0" err="1">
                <a:solidFill>
                  <a:schemeClr val="bg1">
                    <a:lumMod val="65000"/>
                  </a:schemeClr>
                </a:solidFill>
                <a:latin typeface="Arial"/>
                <a:ea typeface="Arial"/>
                <a:cs typeface="Arial"/>
                <a:sym typeface="Arial"/>
              </a:rPr>
              <a:t>Khái</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niệm</a:t>
            </a:r>
            <a:r>
              <a:rPr lang="en-US" sz="1800" b="0" i="0" u="none" strike="noStrike" cap="none" dirty="0">
                <a:solidFill>
                  <a:schemeClr val="bg1">
                    <a:lumMod val="65000"/>
                  </a:schemeClr>
                </a:solidFill>
                <a:latin typeface="Arial"/>
                <a:ea typeface="Arial"/>
                <a:cs typeface="Arial"/>
                <a:sym typeface="Arial"/>
              </a:rPr>
              <a:t> Trí </a:t>
            </a:r>
            <a:r>
              <a:rPr lang="en-US" sz="1800" b="0" i="0" u="none" strike="noStrike" cap="none" dirty="0" err="1">
                <a:solidFill>
                  <a:schemeClr val="bg1">
                    <a:lumMod val="65000"/>
                  </a:schemeClr>
                </a:solidFill>
                <a:latin typeface="Arial"/>
                <a:ea typeface="Arial"/>
                <a:cs typeface="Arial"/>
                <a:sym typeface="Arial"/>
              </a:rPr>
              <a:t>tuệ</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nhân</a:t>
            </a:r>
            <a:r>
              <a:rPr lang="en-US" sz="1800" b="0" i="0" u="none" strike="noStrike" cap="none" dirty="0">
                <a:solidFill>
                  <a:schemeClr val="bg1">
                    <a:lumMod val="65000"/>
                  </a:schemeClr>
                </a:solidFill>
                <a:latin typeface="Arial"/>
                <a:ea typeface="Arial"/>
                <a:cs typeface="Arial"/>
                <a:sym typeface="Arial"/>
              </a:rPr>
              <a:t> </a:t>
            </a:r>
            <a:r>
              <a:rPr lang="en-US" sz="1800" b="0" i="0" u="none" strike="noStrike" cap="none" dirty="0" err="1">
                <a:solidFill>
                  <a:schemeClr val="bg1">
                    <a:lumMod val="65000"/>
                  </a:schemeClr>
                </a:solidFill>
                <a:latin typeface="Arial"/>
                <a:ea typeface="Arial"/>
                <a:cs typeface="Arial"/>
                <a:sym typeface="Arial"/>
              </a:rPr>
              <a:t>tạo</a:t>
            </a:r>
            <a:endParaRPr sz="1800" b="0" i="0" u="none" strike="noStrike" cap="none" dirty="0">
              <a:solidFill>
                <a:schemeClr val="bg1">
                  <a:lumMod val="65000"/>
                </a:schemeClr>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1.2.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Tập</a:t>
            </a:r>
            <a:r>
              <a:rPr lang="en-US" sz="1800" b="0" i="0" u="none" strike="noStrike" cap="none" dirty="0">
                <a:solidFill>
                  <a:srgbClr val="A6A6A6"/>
                </a:solidFill>
                <a:latin typeface="Arial"/>
                <a:ea typeface="Arial"/>
                <a:cs typeface="Arial"/>
                <a:sym typeface="Arial"/>
              </a:rPr>
              <a:t> con Trí </a:t>
            </a:r>
            <a:r>
              <a:rPr lang="en-US" sz="1800" b="0" i="0" u="none" strike="noStrike" cap="none" dirty="0" err="1">
                <a:solidFill>
                  <a:srgbClr val="A6A6A6"/>
                </a:solidFill>
                <a:latin typeface="Arial"/>
                <a:ea typeface="Arial"/>
                <a:cs typeface="Arial"/>
                <a:sym typeface="Arial"/>
              </a:rPr>
              <a:t>tuệ</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tạo</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1.3. </a:t>
            </a:r>
            <a:r>
              <a:rPr lang="en-US" sz="1800" b="0" i="0" u="none" strike="noStrike" cap="none" dirty="0" err="1">
                <a:solidFill>
                  <a:srgbClr val="A6A6A6"/>
                </a:solidFill>
                <a:latin typeface="Arial"/>
                <a:ea typeface="Arial"/>
                <a:cs typeface="Arial"/>
                <a:sym typeface="Arial"/>
              </a:rPr>
              <a:t>Khái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niệm</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1.4. Các </a:t>
            </a:r>
            <a:r>
              <a:rPr lang="en-US" sz="1800" b="0" i="0" u="none" strike="noStrike" cap="none" dirty="0" err="1">
                <a:solidFill>
                  <a:srgbClr val="A6A6A6"/>
                </a:solidFill>
                <a:latin typeface="Arial"/>
                <a:ea typeface="Arial"/>
                <a:cs typeface="Arial"/>
                <a:sym typeface="Arial"/>
              </a:rPr>
              <a:t>ngành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quan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đến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1.5. Các </a:t>
            </a:r>
            <a:r>
              <a:rPr lang="en-US" sz="1800" b="0" i="0" u="none" strike="noStrike" cap="none" dirty="0" err="1">
                <a:solidFill>
                  <a:srgbClr val="A6A6A6"/>
                </a:solidFill>
                <a:latin typeface="Arial"/>
                <a:ea typeface="Arial"/>
                <a:cs typeface="Arial"/>
                <a:sym typeface="Arial"/>
              </a:rPr>
              <a:t>loại</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và</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chọn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1.6. Quy </a:t>
            </a:r>
            <a:r>
              <a:rPr lang="en-US" sz="1800" b="0" i="0" u="none" strike="noStrike" cap="none" dirty="0" err="1">
                <a:solidFill>
                  <a:srgbClr val="A6A6A6"/>
                </a:solidFill>
                <a:latin typeface="Arial"/>
                <a:ea typeface="Arial"/>
                <a:cs typeface="Arial"/>
                <a:sym typeface="Arial"/>
              </a:rPr>
              <a:t>trình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phân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tích</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dữ</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liệu</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dựa</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trên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marR="0" lvl="0" indent="-176213" algn="l" rtl="0">
              <a:lnSpc>
                <a:spcPct val="100000"/>
              </a:lnSpc>
              <a:spcBef>
                <a:spcPts val="1000"/>
              </a:spcBef>
              <a:spcAft>
                <a:spcPts val="0"/>
              </a:spcAft>
              <a:buClr>
                <a:srgbClr val="A6A6A6"/>
              </a:buClr>
              <a:buSzPts val="2160"/>
              <a:buFont typeface="Arial"/>
              <a:buChar char="•"/>
            </a:pPr>
            <a:r>
              <a:rPr lang="en-US" sz="1800" b="0" i="0" u="none" strike="noStrike" cap="none" dirty="0">
                <a:solidFill>
                  <a:srgbClr val="A6A6A6"/>
                </a:solidFill>
                <a:latin typeface="Arial"/>
                <a:ea typeface="Arial"/>
                <a:cs typeface="Arial"/>
                <a:sym typeface="Arial"/>
              </a:rPr>
              <a:t>1.7. Lý do </a:t>
            </a:r>
            <a:r>
              <a:rPr lang="en-US" sz="1800" b="0" i="0" u="none" strike="noStrike" cap="none" dirty="0" err="1">
                <a:solidFill>
                  <a:srgbClr val="A6A6A6"/>
                </a:solidFill>
                <a:latin typeface="Arial"/>
                <a:ea typeface="Arial"/>
                <a:cs typeface="Arial"/>
                <a:sym typeface="Arial"/>
              </a:rPr>
              <a:t>cần</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học</a:t>
            </a:r>
            <a:r>
              <a:rPr lang="en-US" sz="1800" b="0" i="0" u="none" strike="noStrike" cap="none" dirty="0">
                <a:solidFill>
                  <a:srgbClr val="A6A6A6"/>
                </a:solidFill>
                <a:latin typeface="Arial"/>
                <a:ea typeface="Arial"/>
                <a:cs typeface="Arial"/>
                <a:sym typeface="Arial"/>
              </a:rPr>
              <a:t> </a:t>
            </a:r>
            <a:r>
              <a:rPr lang="en-US" sz="1800" b="0" i="0" u="none" strike="noStrike" cap="none" dirty="0" err="1">
                <a:solidFill>
                  <a:srgbClr val="A6A6A6"/>
                </a:solidFill>
                <a:latin typeface="Arial"/>
                <a:ea typeface="Arial"/>
                <a:cs typeface="Arial"/>
                <a:sym typeface="Arial"/>
              </a:rPr>
              <a:t>máy</a:t>
            </a:r>
            <a:endParaRPr sz="1800" b="0" i="0" u="none" strike="noStrike" cap="none" dirty="0">
              <a:solidFill>
                <a:srgbClr val="A6A6A6"/>
              </a:solidFill>
              <a:latin typeface="Arial"/>
              <a:ea typeface="Arial"/>
              <a:cs typeface="Arial"/>
              <a:sym typeface="Arial"/>
            </a:endParaRPr>
          </a:p>
          <a:p>
            <a:pPr marL="176213" indent="-176213">
              <a:spcBef>
                <a:spcPts val="1000"/>
              </a:spcBef>
              <a:buClr>
                <a:srgbClr val="A6A6A6"/>
              </a:buClr>
              <a:buSzPts val="2160"/>
              <a:buFont typeface="Arial"/>
              <a:buChar char="•"/>
            </a:pPr>
            <a:r>
              <a:rPr lang="en-US" sz="1800" dirty="0">
                <a:solidFill>
                  <a:schemeClr val="tx1"/>
                </a:solidFill>
              </a:rPr>
              <a:t>1.8. </a:t>
            </a:r>
            <a:r>
              <a:rPr lang="en-US" sz="1800" dirty="0" err="1">
                <a:solidFill>
                  <a:schemeClr val="tx1"/>
                </a:solidFill>
              </a:rPr>
              <a:t>Những</a:t>
            </a:r>
            <a:r>
              <a:rPr lang="en-US" sz="1800" dirty="0">
                <a:solidFill>
                  <a:schemeClr val="tx1"/>
                </a:solidFill>
              </a:rPr>
              <a:t> </a:t>
            </a:r>
            <a:r>
              <a:rPr lang="en-US" sz="1800" dirty="0" err="1">
                <a:solidFill>
                  <a:schemeClr val="tx1"/>
                </a:solidFill>
              </a:rPr>
              <a:t>hạn</a:t>
            </a:r>
            <a:r>
              <a:rPr lang="en-US" sz="1800" dirty="0">
                <a:solidFill>
                  <a:schemeClr val="tx1"/>
                </a:solidFill>
              </a:rPr>
              <a:t> </a:t>
            </a:r>
            <a:r>
              <a:rPr lang="en-US" sz="1800" dirty="0" err="1">
                <a:solidFill>
                  <a:schemeClr val="tx1"/>
                </a:solidFill>
              </a:rPr>
              <a:t>chế</a:t>
            </a:r>
            <a:r>
              <a:rPr lang="en-US" sz="1800" dirty="0">
                <a:solidFill>
                  <a:schemeClr val="tx1"/>
                </a:solidFill>
              </a:rPr>
              <a:t> </a:t>
            </a:r>
            <a:r>
              <a:rPr lang="en-US" sz="1800" dirty="0" err="1">
                <a:solidFill>
                  <a:schemeClr val="tx1"/>
                </a:solidFill>
              </a:rPr>
              <a:t>của</a:t>
            </a:r>
            <a:r>
              <a:rPr lang="en-US" sz="1800" dirty="0">
                <a:solidFill>
                  <a:schemeClr val="tx1"/>
                </a:solidFill>
              </a:rPr>
              <a:t> </a:t>
            </a:r>
            <a:r>
              <a:rPr lang="en-US" sz="1800" dirty="0" err="1">
                <a:solidFill>
                  <a:schemeClr val="tx1"/>
                </a:solidFill>
              </a:rPr>
              <a:t>học</a:t>
            </a:r>
            <a:r>
              <a:rPr lang="en-US" sz="1800" dirty="0">
                <a:solidFill>
                  <a:schemeClr val="tx1"/>
                </a:solidFill>
              </a:rPr>
              <a:t> </a:t>
            </a:r>
            <a:r>
              <a:rPr lang="en-US" sz="1800" dirty="0" err="1">
                <a:solidFill>
                  <a:schemeClr val="tx1"/>
                </a:solidFill>
              </a:rPr>
              <a:t>máy</a:t>
            </a:r>
            <a:endParaRPr sz="1800" dirty="0">
              <a:solidFill>
                <a:schemeClr val="tx1"/>
              </a:solidFill>
            </a:endParaRPr>
          </a:p>
        </p:txBody>
      </p:sp>
    </p:spTree>
    <p:extLst>
      <p:ext uri="{BB962C8B-B14F-4D97-AF65-F5344CB8AC3E}">
        <p14:creationId xmlns:p14="http://schemas.microsoft.com/office/powerpoint/2010/main" val="2256291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grpSp>
        <p:nvGrpSpPr>
          <p:cNvPr id="1410" name="Google Shape;1410;p47"/>
          <p:cNvGrpSpPr/>
          <p:nvPr/>
        </p:nvGrpSpPr>
        <p:grpSpPr>
          <a:xfrm>
            <a:off x="558924" y="1875699"/>
            <a:ext cx="9180558" cy="1822982"/>
            <a:chOff x="558924" y="1428745"/>
            <a:chExt cx="9180558" cy="1822982"/>
          </a:xfrm>
        </p:grpSpPr>
        <p:sp>
          <p:nvSpPr>
            <p:cNvPr id="1411" name="Google Shape;1411;p47"/>
            <p:cNvSpPr/>
            <p:nvPr/>
          </p:nvSpPr>
          <p:spPr>
            <a:xfrm>
              <a:off x="702940" y="1700808"/>
              <a:ext cx="8632825" cy="1550919"/>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Hầu hết các thuật toán học máy đều yêu cầu nhiều dữ liệu để hoạt động tốt.</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Ngay cả trong những vấn đề rất đơn giản, cũng cần hàng nghìn dữ liệu và có thể cần hàng triệu cho các vấn đề phức tạp như nhận dạng hình ảnh hoặc giọng nói (Trong trường hợp bạn không thể sử dụng lại một mô hình đã được tạo).</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Vì việc thu thập dữ liệu huấn luyện bổ sung không phải lúc nào cũng dễ dàng hoặc rẻ, nên thiết kế hoặc lựa chọn thuật toán tốt vẫn không thể bị bỏ qua.</a:t>
              </a:r>
              <a:endParaRPr sz="1300" b="0" i="0" u="none" strike="noStrike" cap="none">
                <a:solidFill>
                  <a:srgbClr val="262626"/>
                </a:solidFill>
                <a:latin typeface="Arial"/>
                <a:ea typeface="Arial"/>
                <a:cs typeface="Arial"/>
                <a:sym typeface="Arial"/>
              </a:endParaRPr>
            </a:p>
          </p:txBody>
        </p:sp>
        <p:sp>
          <p:nvSpPr>
            <p:cNvPr id="1412" name="Google Shape;1412;p47"/>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Dữ liệu huấn luyện </a:t>
              </a:r>
              <a:r>
                <a:rPr lang="en-US" sz="1400" b="1" i="0" u="none" strike="noStrike" cap="none">
                  <a:solidFill>
                    <a:srgbClr val="1429A0"/>
                  </a:solidFill>
                  <a:latin typeface="Arial"/>
                  <a:ea typeface="Arial"/>
                  <a:cs typeface="Arial"/>
                  <a:sym typeface="Arial"/>
                </a:rPr>
                <a:t>không đủ</a:t>
              </a:r>
              <a:endParaRPr sz="1400" b="0" i="0" u="none" strike="noStrike" cap="none">
                <a:solidFill>
                  <a:schemeClr val="dk1"/>
                </a:solidFill>
                <a:latin typeface="Arial"/>
                <a:ea typeface="Arial"/>
                <a:cs typeface="Arial"/>
                <a:sym typeface="Arial"/>
              </a:endParaRPr>
            </a:p>
          </p:txBody>
        </p:sp>
      </p:grpSp>
      <p:grpSp>
        <p:nvGrpSpPr>
          <p:cNvPr id="1413" name="Google Shape;1413;p47"/>
          <p:cNvGrpSpPr/>
          <p:nvPr/>
        </p:nvGrpSpPr>
        <p:grpSpPr>
          <a:xfrm>
            <a:off x="2934474" y="3645024"/>
            <a:ext cx="4036033" cy="2329422"/>
            <a:chOff x="2895600" y="3406140"/>
            <a:chExt cx="4036033" cy="2329422"/>
          </a:xfrm>
        </p:grpSpPr>
        <p:sp>
          <p:nvSpPr>
            <p:cNvPr id="1414" name="Google Shape;1414;p47"/>
            <p:cNvSpPr txBox="1"/>
            <p:nvPr/>
          </p:nvSpPr>
          <p:spPr>
            <a:xfrm>
              <a:off x="2895600" y="5517231"/>
              <a:ext cx="4036033" cy="218331"/>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429A0"/>
                  </a:solidFill>
                  <a:latin typeface="Arial"/>
                  <a:ea typeface="Arial"/>
                  <a:cs typeface="Arial"/>
                  <a:sym typeface="Arial"/>
                </a:rPr>
                <a:t>Cơ sở dữ liệu hiếm trong một không gian rộng lớn</a:t>
              </a:r>
              <a:endParaRPr sz="1400" b="1" i="0" u="none" strike="noStrike" cap="none">
                <a:solidFill>
                  <a:srgbClr val="1429A0"/>
                </a:solidFill>
                <a:latin typeface="Arial"/>
                <a:ea typeface="Arial"/>
                <a:cs typeface="Arial"/>
                <a:sym typeface="Arial"/>
              </a:endParaRPr>
            </a:p>
          </p:txBody>
        </p:sp>
        <p:sp>
          <p:nvSpPr>
            <p:cNvPr id="1415" name="Google Shape;1415;p47"/>
            <p:cNvSpPr/>
            <p:nvPr/>
          </p:nvSpPr>
          <p:spPr>
            <a:xfrm>
              <a:off x="2895600" y="3406140"/>
              <a:ext cx="3939540" cy="1988820"/>
            </a:xfrm>
            <a:prstGeom prst="ellipse">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416" name="Google Shape;1416;p47"/>
            <p:cNvGrpSpPr/>
            <p:nvPr/>
          </p:nvGrpSpPr>
          <p:grpSpPr>
            <a:xfrm>
              <a:off x="3759971" y="3517365"/>
              <a:ext cx="1472662" cy="1720154"/>
              <a:chOff x="3759970" y="3517365"/>
              <a:chExt cx="1211389" cy="1720154"/>
            </a:xfrm>
          </p:grpSpPr>
          <p:sp>
            <p:nvSpPr>
              <p:cNvPr id="1417" name="Google Shape;1417;p47"/>
              <p:cNvSpPr txBox="1"/>
              <p:nvPr/>
            </p:nvSpPr>
            <p:spPr>
              <a:xfrm>
                <a:off x="3939232" y="4650443"/>
                <a:ext cx="432048" cy="369332"/>
              </a:xfrm>
              <a:prstGeom prst="rect">
                <a:avLst/>
              </a:prstGeom>
              <a:solidFill>
                <a:schemeClr val="lt1"/>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60000</a:t>
                </a:r>
                <a:endParaRPr sz="1200" b="0" i="0" u="none" strike="noStrike" cap="none">
                  <a:solidFill>
                    <a:schemeClr val="dk1"/>
                  </a:solidFill>
                  <a:latin typeface="Arial"/>
                  <a:ea typeface="Arial"/>
                  <a:cs typeface="Arial"/>
                  <a:sym typeface="Arial"/>
                </a:endParaRPr>
              </a:p>
            </p:txBody>
          </p:sp>
          <p:sp>
            <p:nvSpPr>
              <p:cNvPr id="1418" name="Google Shape;1418;p47"/>
              <p:cNvSpPr txBox="1"/>
              <p:nvPr/>
            </p:nvSpPr>
            <p:spPr>
              <a:xfrm>
                <a:off x="3858892" y="4991046"/>
                <a:ext cx="444972" cy="184666"/>
              </a:xfrm>
              <a:prstGeom prst="rect">
                <a:avLst/>
              </a:prstGeom>
              <a:solidFill>
                <a:schemeClr val="lt1"/>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Arial"/>
                    <a:ea typeface="Arial"/>
                    <a:cs typeface="Arial"/>
                    <a:sym typeface="Arial"/>
                  </a:rPr>
                  <a:t>MNIST</a:t>
                </a:r>
                <a:endParaRPr sz="1200" b="0" i="0" u="none" strike="noStrike" cap="none">
                  <a:solidFill>
                    <a:schemeClr val="dk1"/>
                  </a:solidFill>
                  <a:latin typeface="Arial"/>
                  <a:ea typeface="Arial"/>
                  <a:cs typeface="Arial"/>
                  <a:sym typeface="Arial"/>
                </a:endParaRPr>
              </a:p>
            </p:txBody>
          </p:sp>
          <p:sp>
            <p:nvSpPr>
              <p:cNvPr id="1419" name="Google Shape;1419;p47"/>
              <p:cNvSpPr/>
              <p:nvPr/>
            </p:nvSpPr>
            <p:spPr>
              <a:xfrm>
                <a:off x="3759970" y="5042505"/>
                <a:ext cx="36000" cy="36000"/>
              </a:xfrm>
              <a:prstGeom prst="ellipse">
                <a:avLst/>
              </a:prstGeom>
              <a:solidFill>
                <a:srgbClr val="FF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lt1"/>
                  </a:solidFill>
                  <a:latin typeface="Calibri"/>
                  <a:ea typeface="Calibri"/>
                  <a:cs typeface="Calibri"/>
                  <a:sym typeface="Calibri"/>
                </a:endParaRPr>
              </a:p>
            </p:txBody>
          </p:sp>
          <p:sp>
            <p:nvSpPr>
              <p:cNvPr id="1420" name="Google Shape;1420;p47"/>
              <p:cNvSpPr/>
              <p:nvPr/>
            </p:nvSpPr>
            <p:spPr>
              <a:xfrm rot="-5708734">
                <a:off x="3742030" y="4876101"/>
                <a:ext cx="382588" cy="313658"/>
              </a:xfrm>
              <a:prstGeom prst="arc">
                <a:avLst>
                  <a:gd name="adj1" fmla="val 16407016"/>
                  <a:gd name="adj2" fmla="val 0"/>
                </a:avLst>
              </a:prstGeom>
              <a:noFill/>
              <a:ln w="12700" cap="flat" cmpd="sng">
                <a:solidFill>
                  <a:schemeClr val="dk1"/>
                </a:solidFill>
                <a:prstDash val="solid"/>
                <a:miter lim="800000"/>
                <a:headEnd type="triangl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
            <p:nvSpPr>
              <p:cNvPr id="1421" name="Google Shape;1421;p47"/>
              <p:cNvSpPr txBox="1"/>
              <p:nvPr/>
            </p:nvSpPr>
            <p:spPr>
              <a:xfrm>
                <a:off x="4539311" y="3517365"/>
                <a:ext cx="432048" cy="21544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grpSp>
      <p:sp>
        <p:nvSpPr>
          <p:cNvPr id="1422" name="Google Shape;1422;p47"/>
          <p:cNvSpPr/>
          <p:nvPr/>
        </p:nvSpPr>
        <p:spPr>
          <a:xfrm>
            <a:off x="449998" y="1375101"/>
            <a:ext cx="9004986"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C0C0C"/>
                </a:solidFill>
                <a:latin typeface="Arial"/>
                <a:ea typeface="Arial"/>
                <a:cs typeface="Arial"/>
                <a:sym typeface="Arial"/>
              </a:rPr>
              <a:t>Những hạn chế của học máy</a:t>
            </a:r>
            <a:endParaRPr sz="2400" b="1" i="0" u="none" strike="noStrike" cap="none">
              <a:solidFill>
                <a:srgbClr val="0C0C0C"/>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31" name="Google Shape;1431;p48"/>
          <p:cNvSpPr/>
          <p:nvPr/>
        </p:nvSpPr>
        <p:spPr>
          <a:xfrm>
            <a:off x="702940" y="1700808"/>
            <a:ext cx="8632825" cy="648108"/>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1" i="0" u="none" strike="noStrike" cap="none">
                <a:solidFill>
                  <a:srgbClr val="262626"/>
                </a:solidFill>
                <a:latin typeface="Arial"/>
                <a:ea typeface="Arial"/>
                <a:cs typeface="Arial"/>
                <a:sym typeface="Arial"/>
              </a:rPr>
              <a:t>Lấy mẫu nhiễu: </a:t>
            </a:r>
            <a:r>
              <a:rPr lang="en-US" sz="1300" b="0" i="0" u="none" strike="noStrike" cap="none">
                <a:solidFill>
                  <a:srgbClr val="262626"/>
                </a:solidFill>
                <a:latin typeface="Arial"/>
                <a:ea typeface="Arial"/>
                <a:cs typeface="Arial"/>
                <a:sym typeface="Arial"/>
              </a:rPr>
              <a:t>dữ liệu ngẫu nhiên không có đại diện do tình cờ</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a:solidFill>
                  <a:srgbClr val="262626"/>
                </a:solidFill>
                <a:latin typeface="Arial"/>
                <a:ea typeface="Arial"/>
                <a:cs typeface="Arial"/>
                <a:sym typeface="Arial"/>
              </a:rPr>
              <a:t>Mẫu bị thiên kiến: </a:t>
            </a:r>
            <a:r>
              <a:rPr lang="en-US" sz="1300" b="0" i="0" u="none" strike="noStrike" cap="none">
                <a:solidFill>
                  <a:srgbClr val="262626"/>
                </a:solidFill>
                <a:latin typeface="Arial"/>
                <a:ea typeface="Arial"/>
                <a:cs typeface="Arial"/>
                <a:sym typeface="Arial"/>
              </a:rPr>
              <a:t>các mẫu rất lớn không có đại diện nếu phương pháp lấy mẫu sai</a:t>
            </a:r>
            <a:endParaRPr sz="1300" b="0" i="0" u="none" strike="noStrike" cap="none">
              <a:solidFill>
                <a:srgbClr val="262626"/>
              </a:solidFill>
              <a:latin typeface="Arial"/>
              <a:ea typeface="Arial"/>
              <a:cs typeface="Arial"/>
              <a:sym typeface="Arial"/>
            </a:endParaRPr>
          </a:p>
        </p:txBody>
      </p:sp>
      <p:sp>
        <p:nvSpPr>
          <p:cNvPr id="1432" name="Google Shape;1432;p48"/>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Dữ liệu huấn luyện không có </a:t>
            </a:r>
            <a:r>
              <a:rPr lang="en-US" sz="1400" b="1" i="0" u="none" strike="noStrike" cap="none">
                <a:solidFill>
                  <a:srgbClr val="1429A0"/>
                </a:solidFill>
                <a:latin typeface="Arial"/>
                <a:ea typeface="Arial"/>
                <a:cs typeface="Arial"/>
                <a:sym typeface="Arial"/>
              </a:rPr>
              <a:t>đại diện</a:t>
            </a:r>
            <a:endParaRPr sz="1400" b="1" i="0" u="none" strike="noStrike" cap="none">
              <a:solidFill>
                <a:srgbClr val="1429A0"/>
              </a:solidFill>
              <a:latin typeface="Arial"/>
              <a:ea typeface="Arial"/>
              <a:cs typeface="Arial"/>
              <a:sym typeface="Arial"/>
            </a:endParaRPr>
          </a:p>
        </p:txBody>
      </p:sp>
      <p:grpSp>
        <p:nvGrpSpPr>
          <p:cNvPr id="1433" name="Google Shape;1433;p48"/>
          <p:cNvGrpSpPr/>
          <p:nvPr/>
        </p:nvGrpSpPr>
        <p:grpSpPr>
          <a:xfrm>
            <a:off x="2779231" y="2610978"/>
            <a:ext cx="4126763" cy="1636044"/>
            <a:chOff x="2912880" y="3292200"/>
            <a:chExt cx="4126763" cy="1636044"/>
          </a:xfrm>
        </p:grpSpPr>
        <p:sp>
          <p:nvSpPr>
            <p:cNvPr id="1434" name="Google Shape;1434;p48"/>
            <p:cNvSpPr/>
            <p:nvPr/>
          </p:nvSpPr>
          <p:spPr>
            <a:xfrm>
              <a:off x="2912880" y="3292200"/>
              <a:ext cx="4126763" cy="1636044"/>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435" name="Google Shape;1435;p48"/>
            <p:cNvGrpSpPr/>
            <p:nvPr/>
          </p:nvGrpSpPr>
          <p:grpSpPr>
            <a:xfrm>
              <a:off x="2998684" y="3544045"/>
              <a:ext cx="3885892" cy="1293506"/>
              <a:chOff x="2863180" y="3573016"/>
              <a:chExt cx="3885892" cy="1293506"/>
            </a:xfrm>
          </p:grpSpPr>
          <p:pic>
            <p:nvPicPr>
              <p:cNvPr id="1436" name="Google Shape;1436;p48"/>
              <p:cNvPicPr preferRelativeResize="0"/>
              <p:nvPr/>
            </p:nvPicPr>
            <p:blipFill rotWithShape="1">
              <a:blip r:embed="rId3">
                <a:alphaModFix/>
              </a:blip>
              <a:srcRect l="10185" t="39469" r="10148" b="18024"/>
              <a:stretch/>
            </p:blipFill>
            <p:spPr>
              <a:xfrm>
                <a:off x="3157886" y="3858410"/>
                <a:ext cx="3384376" cy="1008112"/>
              </a:xfrm>
              <a:prstGeom prst="rect">
                <a:avLst/>
              </a:prstGeom>
              <a:noFill/>
              <a:ln>
                <a:noFill/>
              </a:ln>
            </p:spPr>
          </p:pic>
          <p:sp>
            <p:nvSpPr>
              <p:cNvPr id="1437" name="Google Shape;1437;p48"/>
              <p:cNvSpPr txBox="1"/>
              <p:nvPr/>
            </p:nvSpPr>
            <p:spPr>
              <a:xfrm>
                <a:off x="2863180" y="3573016"/>
                <a:ext cx="1678694" cy="215444"/>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Lẫy mẫu nhiễu</a:t>
                </a:r>
                <a:endParaRPr sz="1400" b="1" i="0" u="none" strike="noStrike" cap="none">
                  <a:solidFill>
                    <a:schemeClr val="dk1"/>
                  </a:solidFill>
                  <a:latin typeface="Arial"/>
                  <a:ea typeface="Arial"/>
                  <a:cs typeface="Arial"/>
                  <a:sym typeface="Arial"/>
                </a:endParaRPr>
              </a:p>
            </p:txBody>
          </p:sp>
          <p:sp>
            <p:nvSpPr>
              <p:cNvPr id="1438" name="Google Shape;1438;p48"/>
              <p:cNvSpPr txBox="1"/>
              <p:nvPr/>
            </p:nvSpPr>
            <p:spPr>
              <a:xfrm>
                <a:off x="5070378" y="3573016"/>
                <a:ext cx="1678694" cy="215444"/>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Mẫu bị thiên kiến</a:t>
                </a:r>
                <a:endParaRPr sz="1400" b="1" i="0" u="none" strike="noStrike" cap="none">
                  <a:solidFill>
                    <a:schemeClr val="dk1"/>
                  </a:solidFill>
                  <a:latin typeface="Arial"/>
                  <a:ea typeface="Arial"/>
                  <a:cs typeface="Arial"/>
                  <a:sym typeface="Arial"/>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43"/>
        <p:cNvGrpSpPr/>
        <p:nvPr/>
      </p:nvGrpSpPr>
      <p:grpSpPr>
        <a:xfrm>
          <a:off x="0" y="0"/>
          <a:ext cx="0" cy="0"/>
          <a:chOff x="0" y="0"/>
          <a:chExt cx="0" cy="0"/>
        </a:xfrm>
      </p:grpSpPr>
      <p:sp>
        <p:nvSpPr>
          <p:cNvPr id="1444" name="Google Shape;1444;p49"/>
          <p:cNvSpPr/>
          <p:nvPr/>
        </p:nvSpPr>
        <p:spPr>
          <a:xfrm>
            <a:off x="712182" y="1700808"/>
            <a:ext cx="8632825" cy="848163"/>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Nếu dữ liệu huấn luyện chứa đầy lỗi, ngoại lệ và nhiễu, hệ thống học máy sẽ không hoạt động tốt vì khó tìm thấy các mẫu (patterns) tiềm ẩn.</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1" i="0" u="none" strike="noStrike" cap="none">
                <a:solidFill>
                  <a:srgbClr val="262626"/>
                </a:solidFill>
                <a:latin typeface="Arial"/>
                <a:ea typeface="Arial"/>
                <a:cs typeface="Arial"/>
                <a:sym typeface="Arial"/>
              </a:rPr>
              <a:t>Khi cần làm sạch dữ liệu</a:t>
            </a:r>
            <a:r>
              <a:rPr lang="en-US" sz="1300" b="0" i="0" u="none" strike="noStrike" cap="none">
                <a:solidFill>
                  <a:srgbClr val="262626"/>
                </a:solidFill>
                <a:latin typeface="Arial"/>
                <a:ea typeface="Arial"/>
                <a:cs typeface="Arial"/>
                <a:sym typeface="Arial"/>
              </a:rPr>
              <a:t>: Nếu rõ ràng rằng một số mẫu là ngoại lệ, tốt hơn là xóa bỏ hoặc sửa chúng</a:t>
            </a:r>
            <a:endParaRPr sz="1300" b="0" i="0" u="none" strike="noStrike" cap="none">
              <a:solidFill>
                <a:srgbClr val="262626"/>
              </a:solidFill>
              <a:latin typeface="Arial"/>
              <a:ea typeface="Arial"/>
              <a:cs typeface="Arial"/>
              <a:sym typeface="Arial"/>
            </a:endParaRPr>
          </a:p>
        </p:txBody>
      </p:sp>
      <p:sp>
        <p:nvSpPr>
          <p:cNvPr id="1448" name="Google Shape;1448;p49"/>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Dữ liệu </a:t>
            </a:r>
            <a:r>
              <a:rPr lang="en-US" sz="1400" b="1" i="0" u="none" strike="noStrike" cap="none">
                <a:solidFill>
                  <a:srgbClr val="1429A0"/>
                </a:solidFill>
                <a:latin typeface="Arial"/>
                <a:ea typeface="Arial"/>
                <a:cs typeface="Arial"/>
                <a:sym typeface="Arial"/>
              </a:rPr>
              <a:t>chất lượng thấp</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7" name="Google Shape;1457;p50"/>
          <p:cNvSpPr/>
          <p:nvPr/>
        </p:nvSpPr>
        <p:spPr>
          <a:xfrm>
            <a:off x="702940" y="1700808"/>
            <a:ext cx="8632825" cy="1453457"/>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Hệ thống chỉ có thể học khi các đặc trưng và những yếu tố liên quan đến dữ liệu huấn luyện là đầy đủ.</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Một yếu tố quan trọng trong một dự án học máy thành công là tìm ra đặc trưng tốt để sử dụng cho việc huấn luyện, được gọi là kỹ thuật đặc trưng (feature engineering).</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Lựa chọn đặc trưng: chọn đặc trưng hữu ích nhất để huấn luyện.</a:t>
            </a:r>
            <a:endParaRPr sz="1400" b="0" i="0" u="none" strike="noStrike" cap="none">
              <a:solidFill>
                <a:srgbClr val="000000"/>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Trích xuất đặc trưng: Kết hợp các đặc trưng tạo ra các đặc trưng hữu ích hơn (giảm kích thước).</a:t>
            </a:r>
            <a:endParaRPr sz="1300" b="0" i="0" u="none" strike="noStrike" cap="none">
              <a:solidFill>
                <a:srgbClr val="262626"/>
              </a:solidFill>
              <a:latin typeface="Arial"/>
              <a:ea typeface="Arial"/>
              <a:cs typeface="Arial"/>
              <a:sym typeface="Arial"/>
            </a:endParaRPr>
          </a:p>
        </p:txBody>
      </p:sp>
      <p:sp>
        <p:nvSpPr>
          <p:cNvPr id="1458" name="Google Shape;1458;p50"/>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Những đặc trưng không phù hợp</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7" name="Google Shape;1467;p51"/>
          <p:cNvSpPr/>
          <p:nvPr/>
        </p:nvSpPr>
        <p:spPr>
          <a:xfrm>
            <a:off x="702940" y="1700808"/>
            <a:ext cx="8632825" cy="545516"/>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Chính quy hóa (Regularization): Đặt các ràng buộc vào mô hình để đơn giản hóa mô hình và giảm nguy cơ quá khớp (overfitting).</a:t>
            </a:r>
            <a:endParaRPr sz="1300" b="0" i="0" u="none" strike="noStrike" cap="none">
              <a:solidFill>
                <a:srgbClr val="262626"/>
              </a:solidFill>
              <a:latin typeface="Arial"/>
              <a:ea typeface="Arial"/>
              <a:cs typeface="Arial"/>
              <a:sym typeface="Arial"/>
            </a:endParaRPr>
          </a:p>
        </p:txBody>
      </p:sp>
      <p:sp>
        <p:nvSpPr>
          <p:cNvPr id="1468" name="Google Shape;1468;p51"/>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1" i="0" u="none" strike="noStrike" cap="none">
                <a:solidFill>
                  <a:srgbClr val="1429A0"/>
                </a:solidFill>
                <a:latin typeface="Arial"/>
                <a:ea typeface="Arial"/>
                <a:cs typeface="Arial"/>
                <a:sym typeface="Arial"/>
              </a:rPr>
              <a:t>Quá khớp </a:t>
            </a:r>
            <a:r>
              <a:rPr lang="en-US" sz="1400" b="0" i="0" u="none" strike="noStrike" cap="none">
                <a:solidFill>
                  <a:schemeClr val="dk1"/>
                </a:solidFill>
                <a:latin typeface="Arial"/>
                <a:ea typeface="Arial"/>
                <a:cs typeface="Arial"/>
                <a:sym typeface="Arial"/>
              </a:rPr>
              <a:t>với dữ liệu huấn luyện</a:t>
            </a:r>
            <a:endParaRPr sz="1400" b="0" i="0" u="none" strike="noStrike" cap="none">
              <a:solidFill>
                <a:schemeClr val="dk1"/>
              </a:solidFill>
              <a:latin typeface="Arial"/>
              <a:ea typeface="Arial"/>
              <a:cs typeface="Arial"/>
              <a:sym typeface="Arial"/>
            </a:endParaRPr>
          </a:p>
        </p:txBody>
      </p:sp>
      <p:grpSp>
        <p:nvGrpSpPr>
          <p:cNvPr id="1469" name="Google Shape;1469;p51"/>
          <p:cNvGrpSpPr/>
          <p:nvPr/>
        </p:nvGrpSpPr>
        <p:grpSpPr>
          <a:xfrm>
            <a:off x="2653256" y="2564904"/>
            <a:ext cx="4596311" cy="3034331"/>
            <a:chOff x="2847661" y="2846832"/>
            <a:chExt cx="4270852" cy="2819474"/>
          </a:xfrm>
        </p:grpSpPr>
        <p:grpSp>
          <p:nvGrpSpPr>
            <p:cNvPr id="1470" name="Google Shape;1470;p51"/>
            <p:cNvGrpSpPr/>
            <p:nvPr/>
          </p:nvGrpSpPr>
          <p:grpSpPr>
            <a:xfrm>
              <a:off x="3618638" y="2846832"/>
              <a:ext cx="2447951" cy="2410387"/>
              <a:chOff x="3696817" y="2846832"/>
              <a:chExt cx="2447951" cy="2410387"/>
            </a:xfrm>
          </p:grpSpPr>
          <p:sp>
            <p:nvSpPr>
              <p:cNvPr id="1471" name="Google Shape;1471;p51"/>
              <p:cNvSpPr txBox="1"/>
              <p:nvPr/>
            </p:nvSpPr>
            <p:spPr>
              <a:xfrm>
                <a:off x="4936183" y="5057164"/>
                <a:ext cx="193596" cy="20005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472" name="Google Shape;1472;p51"/>
              <p:cNvSpPr txBox="1"/>
              <p:nvPr/>
            </p:nvSpPr>
            <p:spPr>
              <a:xfrm>
                <a:off x="5296223" y="5057164"/>
                <a:ext cx="193596" cy="200055"/>
              </a:xfrm>
              <a:prstGeom prst="rect">
                <a:avLst/>
              </a:prstGeom>
              <a:blipFill rotWithShape="1">
                <a:blip r:embed="rId4">
                  <a:alphaModFix/>
                </a:blip>
                <a:stretch>
                  <a:fillRect l="-14703" r="-8820" b="-142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473" name="Google Shape;1473;p51"/>
              <p:cNvSpPr txBox="1"/>
              <p:nvPr/>
            </p:nvSpPr>
            <p:spPr>
              <a:xfrm rot="-5400000">
                <a:off x="3700046" y="3857818"/>
                <a:ext cx="193596" cy="200055"/>
              </a:xfrm>
              <a:prstGeom prst="rect">
                <a:avLst/>
              </a:prstGeom>
              <a:blipFill rotWithShape="1">
                <a:blip r:embed="rId5">
                  <a:alphaModFix/>
                </a:blip>
                <a:stretch>
                  <a:fillRect t="-3123" r="-28121" b="-624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474" name="Google Shape;1474;p51"/>
              <p:cNvSpPr/>
              <p:nvPr/>
            </p:nvSpPr>
            <p:spPr>
              <a:xfrm>
                <a:off x="3954780" y="3823985"/>
                <a:ext cx="54000" cy="54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75" name="Google Shape;1475;p51"/>
              <p:cNvPicPr preferRelativeResize="0"/>
              <p:nvPr/>
            </p:nvPicPr>
            <p:blipFill rotWithShape="1">
              <a:blip r:embed="rId6">
                <a:alphaModFix/>
              </a:blip>
              <a:srcRect/>
              <a:stretch/>
            </p:blipFill>
            <p:spPr>
              <a:xfrm>
                <a:off x="4067997" y="3541265"/>
                <a:ext cx="54869" cy="54869"/>
              </a:xfrm>
              <a:prstGeom prst="rect">
                <a:avLst/>
              </a:prstGeom>
              <a:noFill/>
              <a:ln>
                <a:noFill/>
              </a:ln>
            </p:spPr>
          </p:pic>
          <p:pic>
            <p:nvPicPr>
              <p:cNvPr id="1476" name="Google Shape;1476;p51"/>
              <p:cNvPicPr preferRelativeResize="0"/>
              <p:nvPr/>
            </p:nvPicPr>
            <p:blipFill rotWithShape="1">
              <a:blip r:embed="rId6">
                <a:alphaModFix/>
              </a:blip>
              <a:srcRect b="30948"/>
              <a:stretch/>
            </p:blipFill>
            <p:spPr>
              <a:xfrm>
                <a:off x="4189804" y="3451096"/>
                <a:ext cx="54000" cy="37287"/>
              </a:xfrm>
              <a:prstGeom prst="rect">
                <a:avLst/>
              </a:prstGeom>
              <a:noFill/>
              <a:ln>
                <a:noFill/>
              </a:ln>
            </p:spPr>
          </p:pic>
          <p:pic>
            <p:nvPicPr>
              <p:cNvPr id="1477" name="Google Shape;1477;p51"/>
              <p:cNvPicPr preferRelativeResize="0"/>
              <p:nvPr/>
            </p:nvPicPr>
            <p:blipFill rotWithShape="1">
              <a:blip r:embed="rId6">
                <a:alphaModFix/>
              </a:blip>
              <a:srcRect/>
              <a:stretch/>
            </p:blipFill>
            <p:spPr>
              <a:xfrm>
                <a:off x="4300407" y="3392675"/>
                <a:ext cx="54869" cy="54869"/>
              </a:xfrm>
              <a:prstGeom prst="rect">
                <a:avLst/>
              </a:prstGeom>
              <a:noFill/>
              <a:ln>
                <a:noFill/>
              </a:ln>
            </p:spPr>
          </p:pic>
          <p:pic>
            <p:nvPicPr>
              <p:cNvPr id="1478" name="Google Shape;1478;p51"/>
              <p:cNvPicPr preferRelativeResize="0"/>
              <p:nvPr/>
            </p:nvPicPr>
            <p:blipFill rotWithShape="1">
              <a:blip r:embed="rId6">
                <a:alphaModFix/>
              </a:blip>
              <a:srcRect/>
              <a:stretch/>
            </p:blipFill>
            <p:spPr>
              <a:xfrm>
                <a:off x="4344222" y="3392675"/>
                <a:ext cx="54869" cy="54869"/>
              </a:xfrm>
              <a:prstGeom prst="rect">
                <a:avLst/>
              </a:prstGeom>
              <a:noFill/>
              <a:ln>
                <a:noFill/>
              </a:ln>
            </p:spPr>
          </p:pic>
          <p:pic>
            <p:nvPicPr>
              <p:cNvPr id="1479" name="Google Shape;1479;p51"/>
              <p:cNvPicPr preferRelativeResize="0"/>
              <p:nvPr/>
            </p:nvPicPr>
            <p:blipFill rotWithShape="1">
              <a:blip r:embed="rId6">
                <a:alphaModFix/>
              </a:blip>
              <a:srcRect/>
              <a:stretch/>
            </p:blipFill>
            <p:spPr>
              <a:xfrm>
                <a:off x="4481382" y="3651755"/>
                <a:ext cx="54869" cy="54869"/>
              </a:xfrm>
              <a:prstGeom prst="rect">
                <a:avLst/>
              </a:prstGeom>
              <a:noFill/>
              <a:ln>
                <a:noFill/>
              </a:ln>
            </p:spPr>
          </p:pic>
          <p:pic>
            <p:nvPicPr>
              <p:cNvPr id="1480" name="Google Shape;1480;p51"/>
              <p:cNvPicPr preferRelativeResize="0"/>
              <p:nvPr/>
            </p:nvPicPr>
            <p:blipFill rotWithShape="1">
              <a:blip r:embed="rId6">
                <a:alphaModFix/>
              </a:blip>
              <a:srcRect/>
              <a:stretch/>
            </p:blipFill>
            <p:spPr>
              <a:xfrm>
                <a:off x="4559487" y="3769865"/>
                <a:ext cx="54869" cy="54869"/>
              </a:xfrm>
              <a:prstGeom prst="rect">
                <a:avLst/>
              </a:prstGeom>
              <a:noFill/>
              <a:ln>
                <a:noFill/>
              </a:ln>
            </p:spPr>
          </p:pic>
          <p:pic>
            <p:nvPicPr>
              <p:cNvPr id="1481" name="Google Shape;1481;p51"/>
              <p:cNvPicPr preferRelativeResize="0"/>
              <p:nvPr/>
            </p:nvPicPr>
            <p:blipFill rotWithShape="1">
              <a:blip r:embed="rId6">
                <a:alphaModFix/>
              </a:blip>
              <a:srcRect/>
              <a:stretch/>
            </p:blipFill>
            <p:spPr>
              <a:xfrm>
                <a:off x="4624257" y="3912740"/>
                <a:ext cx="54869" cy="54869"/>
              </a:xfrm>
              <a:prstGeom prst="rect">
                <a:avLst/>
              </a:prstGeom>
              <a:noFill/>
              <a:ln>
                <a:noFill/>
              </a:ln>
            </p:spPr>
          </p:pic>
          <p:pic>
            <p:nvPicPr>
              <p:cNvPr id="1482" name="Google Shape;1482;p51"/>
              <p:cNvPicPr preferRelativeResize="0"/>
              <p:nvPr/>
            </p:nvPicPr>
            <p:blipFill rotWithShape="1">
              <a:blip r:embed="rId6">
                <a:alphaModFix/>
              </a:blip>
              <a:srcRect b="30948"/>
              <a:stretch/>
            </p:blipFill>
            <p:spPr>
              <a:xfrm rot="10800000">
                <a:off x="4821495" y="4374629"/>
                <a:ext cx="54000" cy="37287"/>
              </a:xfrm>
              <a:prstGeom prst="rect">
                <a:avLst/>
              </a:prstGeom>
              <a:noFill/>
              <a:ln>
                <a:noFill/>
              </a:ln>
            </p:spPr>
          </p:pic>
          <p:pic>
            <p:nvPicPr>
              <p:cNvPr id="1483" name="Google Shape;1483;p51"/>
              <p:cNvPicPr preferRelativeResize="0"/>
              <p:nvPr/>
            </p:nvPicPr>
            <p:blipFill rotWithShape="1">
              <a:blip r:embed="rId6">
                <a:alphaModFix/>
              </a:blip>
              <a:srcRect/>
              <a:stretch/>
            </p:blipFill>
            <p:spPr>
              <a:xfrm>
                <a:off x="4856667" y="4423280"/>
                <a:ext cx="54869" cy="54869"/>
              </a:xfrm>
              <a:prstGeom prst="rect">
                <a:avLst/>
              </a:prstGeom>
              <a:noFill/>
              <a:ln>
                <a:noFill/>
              </a:ln>
            </p:spPr>
          </p:pic>
          <p:pic>
            <p:nvPicPr>
              <p:cNvPr id="1484" name="Google Shape;1484;p51"/>
              <p:cNvPicPr preferRelativeResize="0"/>
              <p:nvPr/>
            </p:nvPicPr>
            <p:blipFill rotWithShape="1">
              <a:blip r:embed="rId6">
                <a:alphaModFix/>
              </a:blip>
              <a:srcRect/>
              <a:stretch/>
            </p:blipFill>
            <p:spPr>
              <a:xfrm>
                <a:off x="4856667" y="4446140"/>
                <a:ext cx="54869" cy="54869"/>
              </a:xfrm>
              <a:prstGeom prst="rect">
                <a:avLst/>
              </a:prstGeom>
              <a:noFill/>
              <a:ln>
                <a:noFill/>
              </a:ln>
            </p:spPr>
          </p:pic>
          <p:pic>
            <p:nvPicPr>
              <p:cNvPr id="1485" name="Google Shape;1485;p51"/>
              <p:cNvPicPr preferRelativeResize="0"/>
              <p:nvPr/>
            </p:nvPicPr>
            <p:blipFill rotWithShape="1">
              <a:blip r:embed="rId6">
                <a:alphaModFix/>
              </a:blip>
              <a:srcRect/>
              <a:stretch/>
            </p:blipFill>
            <p:spPr>
              <a:xfrm>
                <a:off x="4982397" y="4476620"/>
                <a:ext cx="54869" cy="54869"/>
              </a:xfrm>
              <a:prstGeom prst="rect">
                <a:avLst/>
              </a:prstGeom>
              <a:noFill/>
              <a:ln>
                <a:noFill/>
              </a:ln>
            </p:spPr>
          </p:pic>
          <p:pic>
            <p:nvPicPr>
              <p:cNvPr id="1486" name="Google Shape;1486;p51"/>
              <p:cNvPicPr preferRelativeResize="0"/>
              <p:nvPr/>
            </p:nvPicPr>
            <p:blipFill rotWithShape="1">
              <a:blip r:embed="rId6">
                <a:alphaModFix/>
              </a:blip>
              <a:srcRect/>
              <a:stretch/>
            </p:blipFill>
            <p:spPr>
              <a:xfrm>
                <a:off x="5033832" y="4472810"/>
                <a:ext cx="54869" cy="54869"/>
              </a:xfrm>
              <a:prstGeom prst="rect">
                <a:avLst/>
              </a:prstGeom>
              <a:noFill/>
              <a:ln>
                <a:noFill/>
              </a:ln>
            </p:spPr>
          </p:pic>
          <p:pic>
            <p:nvPicPr>
              <p:cNvPr id="1487" name="Google Shape;1487;p51"/>
              <p:cNvPicPr preferRelativeResize="0"/>
              <p:nvPr/>
            </p:nvPicPr>
            <p:blipFill rotWithShape="1">
              <a:blip r:embed="rId6">
                <a:alphaModFix/>
              </a:blip>
              <a:srcRect/>
              <a:stretch/>
            </p:blipFill>
            <p:spPr>
              <a:xfrm>
                <a:off x="5110032" y="4537580"/>
                <a:ext cx="54869" cy="54869"/>
              </a:xfrm>
              <a:prstGeom prst="rect">
                <a:avLst/>
              </a:prstGeom>
              <a:noFill/>
              <a:ln>
                <a:noFill/>
              </a:ln>
            </p:spPr>
          </p:pic>
          <p:pic>
            <p:nvPicPr>
              <p:cNvPr id="1488" name="Google Shape;1488;p51"/>
              <p:cNvPicPr preferRelativeResize="0"/>
              <p:nvPr/>
            </p:nvPicPr>
            <p:blipFill rotWithShape="1">
              <a:blip r:embed="rId6">
                <a:alphaModFix/>
              </a:blip>
              <a:srcRect b="30948"/>
              <a:stretch/>
            </p:blipFill>
            <p:spPr>
              <a:xfrm>
                <a:off x="5066104" y="4331206"/>
                <a:ext cx="54000" cy="37287"/>
              </a:xfrm>
              <a:prstGeom prst="rect">
                <a:avLst/>
              </a:prstGeom>
              <a:noFill/>
              <a:ln>
                <a:noFill/>
              </a:ln>
            </p:spPr>
          </p:pic>
          <p:pic>
            <p:nvPicPr>
              <p:cNvPr id="1489" name="Google Shape;1489;p51"/>
              <p:cNvPicPr preferRelativeResize="0"/>
              <p:nvPr/>
            </p:nvPicPr>
            <p:blipFill rotWithShape="1">
              <a:blip r:embed="rId6">
                <a:alphaModFix/>
              </a:blip>
              <a:srcRect/>
              <a:stretch/>
            </p:blipFill>
            <p:spPr>
              <a:xfrm>
                <a:off x="5630097" y="3356480"/>
                <a:ext cx="54869" cy="54869"/>
              </a:xfrm>
              <a:prstGeom prst="rect">
                <a:avLst/>
              </a:prstGeom>
              <a:noFill/>
              <a:ln>
                <a:noFill/>
              </a:ln>
            </p:spPr>
          </p:pic>
          <p:pic>
            <p:nvPicPr>
              <p:cNvPr id="1490" name="Google Shape;1490;p51"/>
              <p:cNvPicPr preferRelativeResize="0"/>
              <p:nvPr/>
            </p:nvPicPr>
            <p:blipFill rotWithShape="1">
              <a:blip r:embed="rId6">
                <a:alphaModFix/>
              </a:blip>
              <a:srcRect/>
              <a:stretch/>
            </p:blipFill>
            <p:spPr>
              <a:xfrm>
                <a:off x="5772337" y="3356480"/>
                <a:ext cx="54869" cy="54869"/>
              </a:xfrm>
              <a:prstGeom prst="rect">
                <a:avLst/>
              </a:prstGeom>
              <a:noFill/>
              <a:ln>
                <a:noFill/>
              </a:ln>
            </p:spPr>
          </p:pic>
          <p:pic>
            <p:nvPicPr>
              <p:cNvPr id="1491" name="Google Shape;1491;p51"/>
              <p:cNvPicPr preferRelativeResize="0"/>
              <p:nvPr/>
            </p:nvPicPr>
            <p:blipFill rotWithShape="1">
              <a:blip r:embed="rId6">
                <a:alphaModFix/>
              </a:blip>
              <a:srcRect/>
              <a:stretch/>
            </p:blipFill>
            <p:spPr>
              <a:xfrm>
                <a:off x="5782497" y="3440300"/>
                <a:ext cx="54869" cy="54869"/>
              </a:xfrm>
              <a:prstGeom prst="rect">
                <a:avLst/>
              </a:prstGeom>
              <a:noFill/>
              <a:ln>
                <a:noFill/>
              </a:ln>
            </p:spPr>
          </p:pic>
          <p:pic>
            <p:nvPicPr>
              <p:cNvPr id="1492" name="Google Shape;1492;p51"/>
              <p:cNvPicPr preferRelativeResize="0"/>
              <p:nvPr/>
            </p:nvPicPr>
            <p:blipFill rotWithShape="1">
              <a:blip r:embed="rId7">
                <a:alphaModFix/>
              </a:blip>
              <a:srcRect t="5836"/>
              <a:stretch/>
            </p:blipFill>
            <p:spPr>
              <a:xfrm>
                <a:off x="3944972" y="2846832"/>
                <a:ext cx="1902117" cy="2187206"/>
              </a:xfrm>
              <a:prstGeom prst="rect">
                <a:avLst/>
              </a:prstGeom>
              <a:noFill/>
              <a:ln>
                <a:noFill/>
              </a:ln>
            </p:spPr>
          </p:pic>
          <p:sp>
            <p:nvSpPr>
              <p:cNvPr id="1493" name="Google Shape;1493;p51"/>
              <p:cNvSpPr/>
              <p:nvPr/>
            </p:nvSpPr>
            <p:spPr>
              <a:xfrm>
                <a:off x="3923188" y="2846832"/>
                <a:ext cx="2221580" cy="2194560"/>
              </a:xfrm>
              <a:prstGeom prst="rect">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94" name="Google Shape;1494;p51"/>
              <p:cNvPicPr preferRelativeResize="0"/>
              <p:nvPr/>
            </p:nvPicPr>
            <p:blipFill rotWithShape="1">
              <a:blip r:embed="rId6">
                <a:alphaModFix/>
              </a:blip>
              <a:srcRect/>
              <a:stretch/>
            </p:blipFill>
            <p:spPr>
              <a:xfrm>
                <a:off x="5256717" y="4156580"/>
                <a:ext cx="54869" cy="54869"/>
              </a:xfrm>
              <a:prstGeom prst="rect">
                <a:avLst/>
              </a:prstGeom>
              <a:noFill/>
              <a:ln>
                <a:noFill/>
              </a:ln>
            </p:spPr>
          </p:pic>
          <p:pic>
            <p:nvPicPr>
              <p:cNvPr id="1495" name="Google Shape;1495;p51"/>
              <p:cNvPicPr preferRelativeResize="0"/>
              <p:nvPr/>
            </p:nvPicPr>
            <p:blipFill rotWithShape="1">
              <a:blip r:embed="rId6">
                <a:alphaModFix/>
              </a:blip>
              <a:srcRect/>
              <a:stretch/>
            </p:blipFill>
            <p:spPr>
              <a:xfrm>
                <a:off x="5268147" y="4128005"/>
                <a:ext cx="54869" cy="54869"/>
              </a:xfrm>
              <a:prstGeom prst="rect">
                <a:avLst/>
              </a:prstGeom>
              <a:noFill/>
              <a:ln>
                <a:noFill/>
              </a:ln>
            </p:spPr>
          </p:pic>
          <p:sp>
            <p:nvSpPr>
              <p:cNvPr id="1496" name="Google Shape;1496;p51"/>
              <p:cNvSpPr/>
              <p:nvPr/>
            </p:nvSpPr>
            <p:spPr>
              <a:xfrm>
                <a:off x="5359400" y="3285505"/>
                <a:ext cx="54000" cy="54000"/>
              </a:xfrm>
              <a:prstGeom prst="ellipse">
                <a:avLst/>
              </a:prstGeom>
              <a:solidFill>
                <a:srgbClr val="FF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497" name="Google Shape;1497;p51"/>
              <p:cNvCxnSpPr/>
              <p:nvPr/>
            </p:nvCxnSpPr>
            <p:spPr>
              <a:xfrm>
                <a:off x="5388305" y="3339505"/>
                <a:ext cx="0" cy="1701887"/>
              </a:xfrm>
              <a:prstGeom prst="straightConnector1">
                <a:avLst/>
              </a:prstGeom>
              <a:noFill/>
              <a:ln w="12700" cap="flat" cmpd="sng">
                <a:solidFill>
                  <a:schemeClr val="dk1"/>
                </a:solidFill>
                <a:prstDash val="solid"/>
                <a:miter lim="800000"/>
                <a:headEnd type="none" w="sm" len="sm"/>
                <a:tailEnd type="none" w="sm" len="sm"/>
              </a:ln>
            </p:spPr>
          </p:cxnSp>
          <p:sp>
            <p:nvSpPr>
              <p:cNvPr id="1498" name="Google Shape;1498;p51"/>
              <p:cNvSpPr/>
              <p:nvPr/>
            </p:nvSpPr>
            <p:spPr>
              <a:xfrm>
                <a:off x="5372735" y="3808744"/>
                <a:ext cx="36000" cy="216000"/>
              </a:xfrm>
              <a:prstGeom prst="roundRect">
                <a:avLst>
                  <a:gd name="adj" fmla="val 16667"/>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499" name="Google Shape;1499;p51"/>
            <p:cNvSpPr txBox="1"/>
            <p:nvPr/>
          </p:nvSpPr>
          <p:spPr>
            <a:xfrm>
              <a:off x="2847661" y="5394622"/>
              <a:ext cx="4270852" cy="27168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Biểu đồ dự đoán không chính xác do hiện tượng quá khớp</a:t>
              </a:r>
              <a:endParaRPr sz="1300" b="0" i="0" u="none" strike="noStrike" cap="none">
                <a:solidFill>
                  <a:srgbClr val="262626"/>
                </a:solidFill>
                <a:latin typeface="Arial"/>
                <a:ea typeface="Arial"/>
                <a:cs typeface="Arial"/>
                <a:sym typeface="Arial"/>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04"/>
        <p:cNvGrpSpPr/>
        <p:nvPr/>
      </p:nvGrpSpPr>
      <p:grpSpPr>
        <a:xfrm>
          <a:off x="0" y="0"/>
          <a:ext cx="0" cy="0"/>
          <a:chOff x="0" y="0"/>
          <a:chExt cx="0" cy="0"/>
        </a:xfrm>
      </p:grpSpPr>
      <p:sp>
        <p:nvSpPr>
          <p:cNvPr id="1508" name="Google Shape;1508;p52"/>
          <p:cNvSpPr/>
          <p:nvPr/>
        </p:nvSpPr>
        <p:spPr>
          <a:xfrm>
            <a:off x="702940" y="1700808"/>
            <a:ext cx="8632825" cy="950755"/>
          </a:xfrm>
          <a:prstGeom prst="rect">
            <a:avLst/>
          </a:prstGeom>
          <a:noFill/>
          <a:ln>
            <a:noFill/>
          </a:ln>
        </p:spPr>
        <p:txBody>
          <a:bodyPr spcFirstLastPara="1" wrap="square" lIns="0" tIns="72000" rIns="144000" bIns="72000" anchor="t" anchorCtr="0">
            <a:spAutoFit/>
          </a:bodyPr>
          <a:lstStyle/>
          <a:p>
            <a:pPr marL="182563" marR="0" lvl="0" indent="-182563" algn="l" rtl="0">
              <a:lnSpc>
                <a:spcPct val="100000"/>
              </a:lnSpc>
              <a:spcBef>
                <a:spcPts val="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Chọn một mô hình mạnh mẽ hơn với nhiều tham số mô hình hơn.</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Cung cấp các đặc trưng tốt hơn trong việc học thuật toán (feature engineering).</a:t>
            </a:r>
            <a:endParaRPr sz="1300" b="0" i="0" u="none" strike="noStrike" cap="none">
              <a:solidFill>
                <a:srgbClr val="262626"/>
              </a:solidFill>
              <a:latin typeface="Arial"/>
              <a:ea typeface="Arial"/>
              <a:cs typeface="Arial"/>
              <a:sym typeface="Arial"/>
            </a:endParaRPr>
          </a:p>
          <a:p>
            <a:pPr marL="182563" marR="0" lvl="0" indent="-182563" algn="l" rtl="0">
              <a:lnSpc>
                <a:spcPct val="100000"/>
              </a:lnSpc>
              <a:spcBef>
                <a:spcPts val="800"/>
              </a:spcBef>
              <a:spcAft>
                <a:spcPts val="0"/>
              </a:spcAft>
              <a:buClr>
                <a:srgbClr val="193EB0"/>
              </a:buClr>
              <a:buSzPts val="1300"/>
              <a:buFont typeface="Arial"/>
              <a:buChar char="‣"/>
            </a:pPr>
            <a:r>
              <a:rPr lang="en-US" sz="1300" b="0" i="0" u="none" strike="noStrike" cap="none">
                <a:solidFill>
                  <a:srgbClr val="262626"/>
                </a:solidFill>
                <a:latin typeface="Arial"/>
                <a:ea typeface="Arial"/>
                <a:cs typeface="Arial"/>
                <a:sym typeface="Arial"/>
              </a:rPr>
              <a:t>Giảm các ràng buộc của mô hình (giảm các siêu tham số quy định).</a:t>
            </a:r>
            <a:endParaRPr sz="1300" b="0" i="0" u="none" strike="noStrike" cap="none">
              <a:solidFill>
                <a:srgbClr val="262626"/>
              </a:solidFill>
              <a:latin typeface="Arial"/>
              <a:ea typeface="Arial"/>
              <a:cs typeface="Arial"/>
              <a:sym typeface="Arial"/>
            </a:endParaRPr>
          </a:p>
        </p:txBody>
      </p:sp>
      <p:sp>
        <p:nvSpPr>
          <p:cNvPr id="1509" name="Google Shape;1509;p52"/>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1" i="0" u="none" strike="noStrike" cap="none">
                <a:solidFill>
                  <a:srgbClr val="1429A0"/>
                </a:solidFill>
                <a:latin typeface="Arial"/>
                <a:ea typeface="Arial"/>
                <a:cs typeface="Arial"/>
                <a:sym typeface="Arial"/>
              </a:rPr>
              <a:t>Thiếu khớp </a:t>
            </a:r>
            <a:r>
              <a:rPr lang="en-US" sz="1400" b="0" i="0" u="none" strike="noStrike" cap="none">
                <a:solidFill>
                  <a:schemeClr val="dk1"/>
                </a:solidFill>
                <a:latin typeface="Arial"/>
                <a:ea typeface="Arial"/>
                <a:cs typeface="Arial"/>
                <a:sym typeface="Arial"/>
              </a:rPr>
              <a:t>dữ liệu huấn luyện</a:t>
            </a:r>
            <a:endParaRPr sz="1400" b="0" i="0" u="none" strike="noStrike" cap="none">
              <a:solidFill>
                <a:schemeClr val="dk1"/>
              </a:solidFill>
              <a:latin typeface="Arial"/>
              <a:ea typeface="Arial"/>
              <a:cs typeface="Arial"/>
              <a:sym typeface="Arial"/>
            </a:endParaRPr>
          </a:p>
        </p:txBody>
      </p:sp>
      <p:grpSp>
        <p:nvGrpSpPr>
          <p:cNvPr id="1510" name="Google Shape;1510;p52"/>
          <p:cNvGrpSpPr/>
          <p:nvPr/>
        </p:nvGrpSpPr>
        <p:grpSpPr>
          <a:xfrm>
            <a:off x="3421921" y="2814047"/>
            <a:ext cx="2841385" cy="2784781"/>
            <a:chOff x="3315576" y="2814047"/>
            <a:chExt cx="2841385" cy="2784781"/>
          </a:xfrm>
        </p:grpSpPr>
        <p:grpSp>
          <p:nvGrpSpPr>
            <p:cNvPr id="1511" name="Google Shape;1511;p52"/>
            <p:cNvGrpSpPr/>
            <p:nvPr/>
          </p:nvGrpSpPr>
          <p:grpSpPr>
            <a:xfrm>
              <a:off x="3315576" y="3929791"/>
              <a:ext cx="1634256" cy="1669038"/>
              <a:chOff x="3315576" y="4212233"/>
              <a:chExt cx="1634256" cy="1669038"/>
            </a:xfrm>
          </p:grpSpPr>
          <p:sp>
            <p:nvSpPr>
              <p:cNvPr id="1512" name="Google Shape;1512;p52"/>
              <p:cNvSpPr txBox="1"/>
              <p:nvPr/>
            </p:nvSpPr>
            <p:spPr>
              <a:xfrm>
                <a:off x="4756236" y="5681215"/>
                <a:ext cx="193596" cy="20005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513" name="Google Shape;1513;p52"/>
              <p:cNvSpPr txBox="1"/>
              <p:nvPr/>
            </p:nvSpPr>
            <p:spPr>
              <a:xfrm rot="-5400000">
                <a:off x="3318805" y="4209003"/>
                <a:ext cx="193596" cy="200055"/>
              </a:xfrm>
              <a:prstGeom prst="rect">
                <a:avLst/>
              </a:prstGeom>
              <a:blipFill rotWithShape="1">
                <a:blip r:embed="rId4">
                  <a:alphaModFix/>
                </a:blip>
                <a:stretch>
                  <a:fillRect t="-6449" r="-24235" b="-644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grpSp>
        <p:sp>
          <p:nvSpPr>
            <p:cNvPr id="1514" name="Google Shape;1514;p52"/>
            <p:cNvSpPr/>
            <p:nvPr/>
          </p:nvSpPr>
          <p:spPr>
            <a:xfrm>
              <a:off x="3595114" y="3954491"/>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15" name="Google Shape;1515;p52"/>
            <p:cNvSpPr/>
            <p:nvPr/>
          </p:nvSpPr>
          <p:spPr>
            <a:xfrm>
              <a:off x="3541072" y="2814047"/>
              <a:ext cx="2615888" cy="2565172"/>
            </a:xfrm>
            <a:prstGeom prst="rect">
              <a:avLst/>
            </a:prstGeom>
            <a:no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516" name="Google Shape;1516;p52"/>
            <p:cNvCxnSpPr/>
            <p:nvPr/>
          </p:nvCxnSpPr>
          <p:spPr>
            <a:xfrm>
              <a:off x="3541072" y="3967388"/>
              <a:ext cx="2608268" cy="270915"/>
            </a:xfrm>
            <a:prstGeom prst="straightConnector1">
              <a:avLst/>
            </a:prstGeom>
            <a:noFill/>
            <a:ln w="12700" cap="flat" cmpd="sng">
              <a:solidFill>
                <a:schemeClr val="accent1"/>
              </a:solidFill>
              <a:prstDash val="solid"/>
              <a:miter lim="800000"/>
              <a:headEnd type="none" w="sm" len="sm"/>
              <a:tailEnd type="none" w="sm" len="sm"/>
            </a:ln>
          </p:spPr>
        </p:cxnSp>
        <p:sp>
          <p:nvSpPr>
            <p:cNvPr id="1517" name="Google Shape;1517;p52"/>
            <p:cNvSpPr/>
            <p:nvPr/>
          </p:nvSpPr>
          <p:spPr>
            <a:xfrm>
              <a:off x="3722114" y="363038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18" name="Google Shape;1518;p52"/>
            <p:cNvSpPr/>
            <p:nvPr/>
          </p:nvSpPr>
          <p:spPr>
            <a:xfrm>
              <a:off x="3869434" y="350846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19" name="Google Shape;1519;p52"/>
            <p:cNvSpPr/>
            <p:nvPr/>
          </p:nvSpPr>
          <p:spPr>
            <a:xfrm>
              <a:off x="3998974" y="343734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0" name="Google Shape;1520;p52"/>
            <p:cNvSpPr/>
            <p:nvPr/>
          </p:nvSpPr>
          <p:spPr>
            <a:xfrm>
              <a:off x="4049774" y="344496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1" name="Google Shape;1521;p52"/>
            <p:cNvSpPr/>
            <p:nvPr/>
          </p:nvSpPr>
          <p:spPr>
            <a:xfrm>
              <a:off x="4214874" y="375484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2" name="Google Shape;1522;p52"/>
            <p:cNvSpPr/>
            <p:nvPr/>
          </p:nvSpPr>
          <p:spPr>
            <a:xfrm>
              <a:off x="4303774" y="389200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3" name="Google Shape;1523;p52"/>
            <p:cNvSpPr/>
            <p:nvPr/>
          </p:nvSpPr>
          <p:spPr>
            <a:xfrm>
              <a:off x="4382514" y="4061171"/>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4" name="Google Shape;1524;p52"/>
            <p:cNvSpPr/>
            <p:nvPr/>
          </p:nvSpPr>
          <p:spPr>
            <a:xfrm>
              <a:off x="5576314" y="339924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5" name="Google Shape;1525;p52"/>
            <p:cNvSpPr/>
            <p:nvPr/>
          </p:nvSpPr>
          <p:spPr>
            <a:xfrm>
              <a:off x="5731254" y="339924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6" name="Google Shape;1526;p52"/>
            <p:cNvSpPr/>
            <p:nvPr/>
          </p:nvSpPr>
          <p:spPr>
            <a:xfrm>
              <a:off x="5746494" y="349322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7" name="Google Shape;1527;p52"/>
            <p:cNvSpPr/>
            <p:nvPr/>
          </p:nvSpPr>
          <p:spPr>
            <a:xfrm>
              <a:off x="5144514" y="431110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8" name="Google Shape;1528;p52"/>
            <p:cNvSpPr/>
            <p:nvPr/>
          </p:nvSpPr>
          <p:spPr>
            <a:xfrm>
              <a:off x="5131814" y="434412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29" name="Google Shape;1529;p52"/>
            <p:cNvSpPr/>
            <p:nvPr/>
          </p:nvSpPr>
          <p:spPr>
            <a:xfrm>
              <a:off x="4903214" y="453970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0" name="Google Shape;1530;p52"/>
            <p:cNvSpPr/>
            <p:nvPr/>
          </p:nvSpPr>
          <p:spPr>
            <a:xfrm>
              <a:off x="4608574" y="457780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1" name="Google Shape;1531;p52"/>
            <p:cNvSpPr/>
            <p:nvPr/>
          </p:nvSpPr>
          <p:spPr>
            <a:xfrm>
              <a:off x="4651754" y="466670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2" name="Google Shape;1532;p52"/>
            <p:cNvSpPr/>
            <p:nvPr/>
          </p:nvSpPr>
          <p:spPr>
            <a:xfrm>
              <a:off x="4651754" y="469972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3" name="Google Shape;1533;p52"/>
            <p:cNvSpPr/>
            <p:nvPr/>
          </p:nvSpPr>
          <p:spPr>
            <a:xfrm>
              <a:off x="4804154" y="472512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4" name="Google Shape;1534;p52"/>
            <p:cNvSpPr/>
            <p:nvPr/>
          </p:nvSpPr>
          <p:spPr>
            <a:xfrm>
              <a:off x="4857494" y="472512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5" name="Google Shape;1535;p52"/>
            <p:cNvSpPr/>
            <p:nvPr/>
          </p:nvSpPr>
          <p:spPr>
            <a:xfrm>
              <a:off x="4946394" y="4798787"/>
              <a:ext cx="61200" cy="61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CC87CE2-C3C1-2B38-B905-237937B24120}"/>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65541790-4B06-8CA3-27C9-5D97BCFD9AAB}"/>
              </a:ext>
            </a:extLst>
          </p:cNvPr>
          <p:cNvSpPr/>
          <p:nvPr/>
        </p:nvSpPr>
        <p:spPr>
          <a:xfrm>
            <a:off x="918081" y="990736"/>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Học máy và Học sâu</a:t>
            </a:r>
          </a:p>
        </p:txBody>
      </p:sp>
      <p:sp>
        <p:nvSpPr>
          <p:cNvPr id="177" name="Google Shape;177;p4">
            <a:extLst>
              <a:ext uri="{FF2B5EF4-FFF2-40B4-BE49-F238E27FC236}">
                <a16:creationId xmlns:a16="http://schemas.microsoft.com/office/drawing/2014/main" id="{9D3365BB-DEC0-58CB-6494-60EFAC2839CD}"/>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rPr>
              <a:t>2</a:t>
            </a:r>
            <a:r>
              <a:rPr lang="en-US" sz="2000" b="1" dirty="0">
                <a:solidFill>
                  <a:srgbClr val="7F7F7F"/>
                </a:solidFill>
                <a:latin typeface="Arial"/>
                <a:ea typeface="Arial"/>
                <a:cs typeface="Arial"/>
                <a:sym typeface="Arial"/>
              </a:rPr>
              <a:t>.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3674831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grpSp>
        <p:nvGrpSpPr>
          <p:cNvPr id="444" name="Google Shape;444;p19"/>
          <p:cNvGrpSpPr/>
          <p:nvPr/>
        </p:nvGrpSpPr>
        <p:grpSpPr>
          <a:xfrm>
            <a:off x="558800" y="2132856"/>
            <a:ext cx="8784209" cy="4176464"/>
            <a:chOff x="558800" y="1916832"/>
            <a:chExt cx="8784209" cy="4176464"/>
          </a:xfrm>
        </p:grpSpPr>
        <p:sp>
          <p:nvSpPr>
            <p:cNvPr id="445" name="Google Shape;445;p19"/>
            <p:cNvSpPr/>
            <p:nvPr/>
          </p:nvSpPr>
          <p:spPr>
            <a:xfrm>
              <a:off x="558800" y="2081312"/>
              <a:ext cx="8784209" cy="4011984"/>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 name="Google Shape;446;p19"/>
            <p:cNvSpPr/>
            <p:nvPr/>
          </p:nvSpPr>
          <p:spPr>
            <a:xfrm>
              <a:off x="3438228" y="1916832"/>
              <a:ext cx="3025352"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1429A0"/>
                  </a:solidFill>
                  <a:latin typeface="Arial"/>
                  <a:ea typeface="Arial"/>
                  <a:cs typeface="Arial"/>
                  <a:sym typeface="Arial"/>
                </a:rPr>
                <a:t>Quy trình học máy</a:t>
              </a:r>
              <a:endParaRPr sz="1800" b="1" i="0" u="none" strike="noStrike" cap="none">
                <a:solidFill>
                  <a:srgbClr val="1429A0"/>
                </a:solidFill>
                <a:latin typeface="Arial"/>
                <a:ea typeface="Arial"/>
                <a:cs typeface="Arial"/>
                <a:sym typeface="Arial"/>
              </a:endParaRPr>
            </a:p>
          </p:txBody>
        </p:sp>
        <p:sp>
          <p:nvSpPr>
            <p:cNvPr id="447" name="Google Shape;447;p19"/>
            <p:cNvSpPr/>
            <p:nvPr/>
          </p:nvSpPr>
          <p:spPr>
            <a:xfrm>
              <a:off x="8014847" y="5805264"/>
              <a:ext cx="1196539" cy="212364"/>
            </a:xfrm>
            <a:prstGeom prst="roundRect">
              <a:avLst>
                <a:gd name="adj" fmla="val 50000"/>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MathWorks</a:t>
              </a:r>
              <a:endParaRPr sz="1400" b="0" i="0" u="none" strike="noStrike" cap="none">
                <a:solidFill>
                  <a:srgbClr val="000000"/>
                </a:solidFill>
                <a:latin typeface="Arial"/>
                <a:ea typeface="Arial"/>
                <a:cs typeface="Arial"/>
                <a:sym typeface="Arial"/>
              </a:endParaRPr>
            </a:p>
          </p:txBody>
        </p:sp>
        <p:sp>
          <p:nvSpPr>
            <p:cNvPr id="448" name="Google Shape;448;p19"/>
            <p:cNvSpPr/>
            <p:nvPr/>
          </p:nvSpPr>
          <p:spPr>
            <a:xfrm>
              <a:off x="6771235" y="3231683"/>
              <a:ext cx="1384028" cy="1384026"/>
            </a:xfrm>
            <a:prstGeom prst="rect">
              <a:avLst/>
            </a:prstGeom>
            <a:solidFill>
              <a:schemeClr val="lt1"/>
            </a:solidFill>
            <a:ln w="1905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49" name="Google Shape;449;p19"/>
            <p:cNvGrpSpPr/>
            <p:nvPr/>
          </p:nvGrpSpPr>
          <p:grpSpPr>
            <a:xfrm>
              <a:off x="6947598" y="3381690"/>
              <a:ext cx="1060555" cy="1060555"/>
              <a:chOff x="6851314" y="3334131"/>
              <a:chExt cx="1216948" cy="1216948"/>
            </a:xfrm>
          </p:grpSpPr>
          <p:pic>
            <p:nvPicPr>
              <p:cNvPr id="450" name="Google Shape;450;p19" descr="C:\Users\USER\Downloads\kitten.png"/>
              <p:cNvPicPr preferRelativeResize="0"/>
              <p:nvPr/>
            </p:nvPicPr>
            <p:blipFill rotWithShape="1">
              <a:blip r:embed="rId3">
                <a:alphaModFix/>
              </a:blip>
              <a:srcRect/>
              <a:stretch/>
            </p:blipFill>
            <p:spPr>
              <a:xfrm>
                <a:off x="6851314" y="3334131"/>
                <a:ext cx="1216948" cy="1216948"/>
              </a:xfrm>
              <a:prstGeom prst="rect">
                <a:avLst/>
              </a:prstGeom>
              <a:noFill/>
              <a:ln>
                <a:noFill/>
              </a:ln>
            </p:spPr>
          </p:pic>
          <p:sp>
            <p:nvSpPr>
              <p:cNvPr id="451" name="Google Shape;451;p19"/>
              <p:cNvSpPr/>
              <p:nvPr/>
            </p:nvSpPr>
            <p:spPr>
              <a:xfrm>
                <a:off x="6914547" y="3418579"/>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p19"/>
              <p:cNvSpPr/>
              <p:nvPr/>
            </p:nvSpPr>
            <p:spPr>
              <a:xfrm>
                <a:off x="7604259" y="3432785"/>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 name="Google Shape;453;p19"/>
              <p:cNvSpPr/>
              <p:nvPr/>
            </p:nvSpPr>
            <p:spPr>
              <a:xfrm>
                <a:off x="7111683" y="3585185"/>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 name="Google Shape;454;p19"/>
              <p:cNvSpPr/>
              <p:nvPr/>
            </p:nvSpPr>
            <p:spPr>
              <a:xfrm>
                <a:off x="7465653" y="3585185"/>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 name="Google Shape;455;p19"/>
              <p:cNvSpPr/>
              <p:nvPr/>
            </p:nvSpPr>
            <p:spPr>
              <a:xfrm>
                <a:off x="7530468" y="3816168"/>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6" name="Google Shape;456;p19"/>
              <p:cNvSpPr/>
              <p:nvPr/>
            </p:nvSpPr>
            <p:spPr>
              <a:xfrm>
                <a:off x="7075683" y="3887390"/>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 name="Google Shape;457;p19"/>
              <p:cNvSpPr/>
              <p:nvPr/>
            </p:nvSpPr>
            <p:spPr>
              <a:xfrm>
                <a:off x="7313572" y="3851390"/>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 name="Google Shape;458;p19"/>
              <p:cNvSpPr/>
              <p:nvPr/>
            </p:nvSpPr>
            <p:spPr>
              <a:xfrm>
                <a:off x="7604259" y="4423516"/>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 name="Google Shape;459;p19"/>
              <p:cNvSpPr/>
              <p:nvPr/>
            </p:nvSpPr>
            <p:spPr>
              <a:xfrm>
                <a:off x="7147683" y="4343154"/>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0" name="Google Shape;460;p19"/>
              <p:cNvSpPr/>
              <p:nvPr/>
            </p:nvSpPr>
            <p:spPr>
              <a:xfrm>
                <a:off x="7411952" y="4415154"/>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 name="Google Shape;461;p19"/>
              <p:cNvSpPr/>
              <p:nvPr/>
            </p:nvSpPr>
            <p:spPr>
              <a:xfrm>
                <a:off x="7926247" y="4011358"/>
                <a:ext cx="72000" cy="72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462" name="Google Shape;462;p19"/>
            <p:cNvGrpSpPr/>
            <p:nvPr/>
          </p:nvGrpSpPr>
          <p:grpSpPr>
            <a:xfrm>
              <a:off x="2904396" y="2671173"/>
              <a:ext cx="831653" cy="823143"/>
              <a:chOff x="2987853" y="2557926"/>
              <a:chExt cx="831653" cy="823143"/>
            </a:xfrm>
          </p:grpSpPr>
          <p:grpSp>
            <p:nvGrpSpPr>
              <p:cNvPr id="463" name="Google Shape;463;p19"/>
              <p:cNvGrpSpPr/>
              <p:nvPr/>
            </p:nvGrpSpPr>
            <p:grpSpPr>
              <a:xfrm>
                <a:off x="2987853" y="2557926"/>
                <a:ext cx="831653" cy="823143"/>
                <a:chOff x="2987853" y="2557926"/>
                <a:chExt cx="831653" cy="823143"/>
              </a:xfrm>
            </p:grpSpPr>
            <p:sp>
              <p:nvSpPr>
                <p:cNvPr id="464" name="Google Shape;464;p19"/>
                <p:cNvSpPr/>
                <p:nvPr/>
              </p:nvSpPr>
              <p:spPr>
                <a:xfrm>
                  <a:off x="3114371" y="255792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 name="Google Shape;465;p19"/>
                <p:cNvSpPr/>
                <p:nvPr/>
              </p:nvSpPr>
              <p:spPr>
                <a:xfrm>
                  <a:off x="3051112" y="2616931"/>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 name="Google Shape;466;p19"/>
                <p:cNvSpPr/>
                <p:nvPr/>
              </p:nvSpPr>
              <p:spPr>
                <a:xfrm>
                  <a:off x="2987853" y="2675935"/>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67" name="Google Shape;467;p19" descr="C:\Users\USER\Downloads\cat.png"/>
              <p:cNvPicPr preferRelativeResize="0"/>
              <p:nvPr/>
            </p:nvPicPr>
            <p:blipFill rotWithShape="1">
              <a:blip r:embed="rId4">
                <a:alphaModFix/>
              </a:blip>
              <a:srcRect/>
              <a:stretch/>
            </p:blipFill>
            <p:spPr>
              <a:xfrm>
                <a:off x="3082703" y="2775526"/>
                <a:ext cx="513480" cy="513480"/>
              </a:xfrm>
              <a:prstGeom prst="rect">
                <a:avLst/>
              </a:prstGeom>
              <a:noFill/>
              <a:ln>
                <a:noFill/>
              </a:ln>
            </p:spPr>
          </p:pic>
        </p:grpSp>
        <p:grpSp>
          <p:nvGrpSpPr>
            <p:cNvPr id="468" name="Google Shape;468;p19"/>
            <p:cNvGrpSpPr/>
            <p:nvPr/>
          </p:nvGrpSpPr>
          <p:grpSpPr>
            <a:xfrm>
              <a:off x="2904396" y="4444886"/>
              <a:ext cx="831653" cy="823143"/>
              <a:chOff x="1242272" y="4698669"/>
              <a:chExt cx="831653" cy="823143"/>
            </a:xfrm>
          </p:grpSpPr>
          <p:sp>
            <p:nvSpPr>
              <p:cNvPr id="469" name="Google Shape;469;p19"/>
              <p:cNvSpPr/>
              <p:nvPr/>
            </p:nvSpPr>
            <p:spPr>
              <a:xfrm>
                <a:off x="1368790" y="4698669"/>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 name="Google Shape;470;p19"/>
              <p:cNvSpPr/>
              <p:nvPr/>
            </p:nvSpPr>
            <p:spPr>
              <a:xfrm>
                <a:off x="1305531" y="4757674"/>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1" name="Google Shape;471;p19"/>
              <p:cNvSpPr/>
              <p:nvPr/>
            </p:nvSpPr>
            <p:spPr>
              <a:xfrm>
                <a:off x="1242272" y="4816678"/>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72" name="Google Shape;472;p19" descr="C:\Users\USER\Downloads\parrot.png"/>
            <p:cNvPicPr preferRelativeResize="0"/>
            <p:nvPr/>
          </p:nvPicPr>
          <p:blipFill rotWithShape="1">
            <a:blip r:embed="rId5">
              <a:alphaModFix/>
            </a:blip>
            <a:srcRect/>
            <a:stretch/>
          </p:blipFill>
          <p:spPr>
            <a:xfrm>
              <a:off x="3000059" y="4634915"/>
              <a:ext cx="561094" cy="561094"/>
            </a:xfrm>
            <a:prstGeom prst="rect">
              <a:avLst/>
            </a:prstGeom>
            <a:noFill/>
            <a:ln>
              <a:noFill/>
            </a:ln>
          </p:spPr>
        </p:pic>
        <p:sp>
          <p:nvSpPr>
            <p:cNvPr id="473" name="Google Shape;473;p19"/>
            <p:cNvSpPr/>
            <p:nvPr/>
          </p:nvSpPr>
          <p:spPr>
            <a:xfrm>
              <a:off x="3075081" y="4735832"/>
              <a:ext cx="36000" cy="36000"/>
            </a:xfrm>
            <a:prstGeom prst="ellipse">
              <a:avLst/>
            </a:prstGeom>
            <a:solidFill>
              <a:srgbClr val="00C3B2">
                <a:alpha val="6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 name="Google Shape;474;p19"/>
            <p:cNvSpPr/>
            <p:nvPr/>
          </p:nvSpPr>
          <p:spPr>
            <a:xfrm>
              <a:off x="3142192" y="4708673"/>
              <a:ext cx="36000" cy="36000"/>
            </a:xfrm>
            <a:prstGeom prst="ellipse">
              <a:avLst/>
            </a:prstGeom>
            <a:solidFill>
              <a:srgbClr val="00C3B2">
                <a:alpha val="6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 name="Google Shape;475;p19"/>
            <p:cNvSpPr/>
            <p:nvPr/>
          </p:nvSpPr>
          <p:spPr>
            <a:xfrm>
              <a:off x="3173881" y="4800199"/>
              <a:ext cx="36000" cy="36000"/>
            </a:xfrm>
            <a:prstGeom prst="ellipse">
              <a:avLst/>
            </a:prstGeom>
            <a:solidFill>
              <a:srgbClr val="00C3B2">
                <a:alpha val="6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6" name="Google Shape;476;p19"/>
            <p:cNvSpPr/>
            <p:nvPr/>
          </p:nvSpPr>
          <p:spPr>
            <a:xfrm>
              <a:off x="3169165" y="4856458"/>
              <a:ext cx="36000" cy="36000"/>
            </a:xfrm>
            <a:prstGeom prst="ellipse">
              <a:avLst/>
            </a:prstGeom>
            <a:solidFill>
              <a:srgbClr val="00C3B2">
                <a:alpha val="6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 name="Google Shape;477;p19"/>
            <p:cNvSpPr/>
            <p:nvPr/>
          </p:nvSpPr>
          <p:spPr>
            <a:xfrm>
              <a:off x="3209211" y="5051283"/>
              <a:ext cx="36000" cy="36000"/>
            </a:xfrm>
            <a:prstGeom prst="ellipse">
              <a:avLst/>
            </a:prstGeom>
            <a:solidFill>
              <a:srgbClr val="00C3B2">
                <a:alpha val="6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 name="Google Shape;478;p19"/>
            <p:cNvSpPr/>
            <p:nvPr/>
          </p:nvSpPr>
          <p:spPr>
            <a:xfrm>
              <a:off x="3280606" y="4920964"/>
              <a:ext cx="36000" cy="36000"/>
            </a:xfrm>
            <a:prstGeom prst="ellipse">
              <a:avLst/>
            </a:prstGeom>
            <a:solidFill>
              <a:srgbClr val="00C3B2">
                <a:alpha val="6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79" name="Google Shape;479;p19"/>
            <p:cNvGrpSpPr/>
            <p:nvPr/>
          </p:nvGrpSpPr>
          <p:grpSpPr>
            <a:xfrm>
              <a:off x="2904396" y="3558029"/>
              <a:ext cx="831653" cy="823143"/>
              <a:chOff x="1242272" y="3783237"/>
              <a:chExt cx="831653" cy="823143"/>
            </a:xfrm>
          </p:grpSpPr>
          <p:sp>
            <p:nvSpPr>
              <p:cNvPr id="480" name="Google Shape;480;p19"/>
              <p:cNvSpPr/>
              <p:nvPr/>
            </p:nvSpPr>
            <p:spPr>
              <a:xfrm>
                <a:off x="1368790" y="3783237"/>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 name="Google Shape;481;p19"/>
              <p:cNvSpPr/>
              <p:nvPr/>
            </p:nvSpPr>
            <p:spPr>
              <a:xfrm>
                <a:off x="1305531" y="3842242"/>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 name="Google Shape;482;p19"/>
              <p:cNvSpPr/>
              <p:nvPr/>
            </p:nvSpPr>
            <p:spPr>
              <a:xfrm>
                <a:off x="1242272" y="390124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83" name="Google Shape;483;p19" descr="C:\Users\USER\Downloads\shiba.png"/>
            <p:cNvPicPr preferRelativeResize="0"/>
            <p:nvPr/>
          </p:nvPicPr>
          <p:blipFill rotWithShape="1">
            <a:blip r:embed="rId6">
              <a:alphaModFix/>
            </a:blip>
            <a:srcRect/>
            <a:stretch/>
          </p:blipFill>
          <p:spPr>
            <a:xfrm>
              <a:off x="2981843" y="3746198"/>
              <a:ext cx="550240" cy="550240"/>
            </a:xfrm>
            <a:prstGeom prst="rect">
              <a:avLst/>
            </a:prstGeom>
            <a:noFill/>
            <a:ln>
              <a:noFill/>
            </a:ln>
          </p:spPr>
        </p:pic>
        <p:grpSp>
          <p:nvGrpSpPr>
            <p:cNvPr id="484" name="Google Shape;484;p19"/>
            <p:cNvGrpSpPr/>
            <p:nvPr/>
          </p:nvGrpSpPr>
          <p:grpSpPr>
            <a:xfrm>
              <a:off x="1588153" y="3558029"/>
              <a:ext cx="831653" cy="823143"/>
              <a:chOff x="129476" y="3783237"/>
              <a:chExt cx="831653" cy="823143"/>
            </a:xfrm>
          </p:grpSpPr>
          <p:sp>
            <p:nvSpPr>
              <p:cNvPr id="485" name="Google Shape;485;p19"/>
              <p:cNvSpPr/>
              <p:nvPr/>
            </p:nvSpPr>
            <p:spPr>
              <a:xfrm>
                <a:off x="255994" y="3783237"/>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 name="Google Shape;486;p19"/>
              <p:cNvSpPr/>
              <p:nvPr/>
            </p:nvSpPr>
            <p:spPr>
              <a:xfrm>
                <a:off x="192735" y="3842242"/>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7" name="Google Shape;487;p19"/>
              <p:cNvSpPr/>
              <p:nvPr/>
            </p:nvSpPr>
            <p:spPr>
              <a:xfrm>
                <a:off x="129476" y="390124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488" name="Google Shape;488;p19"/>
            <p:cNvGrpSpPr/>
            <p:nvPr/>
          </p:nvGrpSpPr>
          <p:grpSpPr>
            <a:xfrm>
              <a:off x="1588153" y="2671173"/>
              <a:ext cx="831653" cy="823143"/>
              <a:chOff x="129476" y="2867806"/>
              <a:chExt cx="831653" cy="823143"/>
            </a:xfrm>
          </p:grpSpPr>
          <p:sp>
            <p:nvSpPr>
              <p:cNvPr id="489" name="Google Shape;489;p19"/>
              <p:cNvSpPr/>
              <p:nvPr/>
            </p:nvSpPr>
            <p:spPr>
              <a:xfrm>
                <a:off x="255994" y="286780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 name="Google Shape;490;p19"/>
              <p:cNvSpPr/>
              <p:nvPr/>
            </p:nvSpPr>
            <p:spPr>
              <a:xfrm>
                <a:off x="192735" y="2926811"/>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1" name="Google Shape;491;p19"/>
              <p:cNvSpPr/>
              <p:nvPr/>
            </p:nvSpPr>
            <p:spPr>
              <a:xfrm>
                <a:off x="129476" y="2985815"/>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92" name="Google Shape;492;p19"/>
            <p:cNvSpPr/>
            <p:nvPr/>
          </p:nvSpPr>
          <p:spPr>
            <a:xfrm>
              <a:off x="3852376" y="2760607"/>
              <a:ext cx="236719" cy="2326676"/>
            </a:xfrm>
            <a:custGeom>
              <a:avLst/>
              <a:gdLst/>
              <a:ahLst/>
              <a:cxnLst/>
              <a:rect l="l" t="t" r="r" b="b"/>
              <a:pathLst>
                <a:path w="236719" h="2326676" extrusionOk="0">
                  <a:moveTo>
                    <a:pt x="1" y="2326676"/>
                  </a:moveTo>
                  <a:cubicBezTo>
                    <a:pt x="1" y="1551117"/>
                    <a:pt x="0" y="775559"/>
                    <a:pt x="0" y="0"/>
                  </a:cubicBezTo>
                  <a:cubicBezTo>
                    <a:pt x="65368" y="0"/>
                    <a:pt x="118359" y="52991"/>
                    <a:pt x="118359" y="118359"/>
                  </a:cubicBezTo>
                  <a:cubicBezTo>
                    <a:pt x="118359" y="427232"/>
                    <a:pt x="118360" y="736106"/>
                    <a:pt x="118360" y="1044979"/>
                  </a:cubicBezTo>
                  <a:cubicBezTo>
                    <a:pt x="118360" y="1110347"/>
                    <a:pt x="171351" y="1163338"/>
                    <a:pt x="236719" y="1163338"/>
                  </a:cubicBezTo>
                  <a:cubicBezTo>
                    <a:pt x="171351" y="1163338"/>
                    <a:pt x="118360" y="1216329"/>
                    <a:pt x="118360" y="1281697"/>
                  </a:cubicBezTo>
                  <a:lnTo>
                    <a:pt x="118360" y="2208317"/>
                  </a:lnTo>
                  <a:cubicBezTo>
                    <a:pt x="118360" y="2273685"/>
                    <a:pt x="65369" y="2326676"/>
                    <a:pt x="1" y="2326676"/>
                  </a:cubicBezTo>
                  <a:close/>
                </a:path>
                <a:path w="236719" h="2326676" fill="none" extrusionOk="0">
                  <a:moveTo>
                    <a:pt x="0" y="0"/>
                  </a:moveTo>
                  <a:cubicBezTo>
                    <a:pt x="65368" y="0"/>
                    <a:pt x="118359" y="52991"/>
                    <a:pt x="118359" y="118359"/>
                  </a:cubicBezTo>
                  <a:cubicBezTo>
                    <a:pt x="118359" y="427232"/>
                    <a:pt x="118360" y="736106"/>
                    <a:pt x="118360" y="1044979"/>
                  </a:cubicBezTo>
                  <a:cubicBezTo>
                    <a:pt x="118360" y="1110347"/>
                    <a:pt x="171351" y="1163338"/>
                    <a:pt x="236719" y="1163338"/>
                  </a:cubicBezTo>
                  <a:cubicBezTo>
                    <a:pt x="171351" y="1163338"/>
                    <a:pt x="118360" y="1216329"/>
                    <a:pt x="118360" y="1281697"/>
                  </a:cubicBezTo>
                  <a:lnTo>
                    <a:pt x="118360" y="2208317"/>
                  </a:lnTo>
                  <a:cubicBezTo>
                    <a:pt x="118360" y="2273685"/>
                    <a:pt x="65369" y="2326676"/>
                    <a:pt x="1" y="2326676"/>
                  </a:cubicBezTo>
                </a:path>
              </a:pathLst>
            </a:custGeom>
            <a:noFill/>
            <a:ln w="1905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3" name="Google Shape;493;p19"/>
            <p:cNvSpPr/>
            <p:nvPr/>
          </p:nvSpPr>
          <p:spPr>
            <a:xfrm>
              <a:off x="1600172" y="2226856"/>
              <a:ext cx="814325" cy="400110"/>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Dữ liệu </a:t>
              </a:r>
              <a:endParaRPr sz="1400" b="0" i="0" u="none" strike="noStrike" cap="none">
                <a:solidFill>
                  <a:srgbClr val="000000"/>
                </a:solidFill>
                <a:latin typeface="Arial"/>
                <a:ea typeface="Arial"/>
                <a:cs typeface="Arial"/>
                <a:sym typeface="Arial"/>
              </a:endParaRPr>
            </a:p>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huấn luyện</a:t>
              </a:r>
              <a:endParaRPr sz="1300" b="0" i="0" u="none" strike="noStrike" cap="none">
                <a:solidFill>
                  <a:srgbClr val="262626"/>
                </a:solidFill>
                <a:latin typeface="Arial"/>
                <a:ea typeface="Arial"/>
                <a:cs typeface="Arial"/>
                <a:sym typeface="Arial"/>
              </a:endParaRPr>
            </a:p>
          </p:txBody>
        </p:sp>
        <p:sp>
          <p:nvSpPr>
            <p:cNvPr id="494" name="Google Shape;494;p19"/>
            <p:cNvSpPr/>
            <p:nvPr/>
          </p:nvSpPr>
          <p:spPr>
            <a:xfrm>
              <a:off x="3005794" y="2233798"/>
              <a:ext cx="763029" cy="400110"/>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Trích xuất </a:t>
              </a:r>
              <a:endParaRPr sz="1400" b="0" i="0" u="none" strike="noStrike" cap="none">
                <a:solidFill>
                  <a:srgbClr val="000000"/>
                </a:solidFill>
                <a:latin typeface="Arial"/>
                <a:ea typeface="Arial"/>
                <a:cs typeface="Arial"/>
                <a:sym typeface="Arial"/>
              </a:endParaRPr>
            </a:p>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đặc trưng</a:t>
              </a:r>
              <a:endParaRPr sz="1300" b="0" i="0" u="none" strike="noStrike" cap="none">
                <a:solidFill>
                  <a:srgbClr val="262626"/>
                </a:solidFill>
                <a:latin typeface="Arial"/>
                <a:ea typeface="Arial"/>
                <a:cs typeface="Arial"/>
                <a:sym typeface="Arial"/>
              </a:endParaRPr>
            </a:p>
          </p:txBody>
        </p:sp>
        <p:sp>
          <p:nvSpPr>
            <p:cNvPr id="495" name="Google Shape;495;p19"/>
            <p:cNvSpPr/>
            <p:nvPr/>
          </p:nvSpPr>
          <p:spPr>
            <a:xfrm>
              <a:off x="2370412" y="5436269"/>
              <a:ext cx="305960" cy="109699"/>
            </a:xfrm>
            <a:prstGeom prst="rightArrow">
              <a:avLst>
                <a:gd name="adj1" fmla="val 50000"/>
                <a:gd name="adj2" fmla="val 50000"/>
              </a:avLst>
            </a:prstGeom>
            <a:solidFill>
              <a:srgbClr val="3366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 name="Google Shape;496;p19"/>
            <p:cNvSpPr/>
            <p:nvPr/>
          </p:nvSpPr>
          <p:spPr>
            <a:xfrm>
              <a:off x="3776886" y="5436269"/>
              <a:ext cx="305960" cy="109699"/>
            </a:xfrm>
            <a:prstGeom prst="rightArrow">
              <a:avLst>
                <a:gd name="adj1" fmla="val 50000"/>
                <a:gd name="adj2" fmla="val 50000"/>
              </a:avLst>
            </a:prstGeom>
            <a:solidFill>
              <a:srgbClr val="3366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 name="Google Shape;497;p19"/>
            <p:cNvSpPr/>
            <p:nvPr/>
          </p:nvSpPr>
          <p:spPr>
            <a:xfrm>
              <a:off x="6054163" y="5436269"/>
              <a:ext cx="305960" cy="109699"/>
            </a:xfrm>
            <a:prstGeom prst="rightArrow">
              <a:avLst>
                <a:gd name="adj1" fmla="val 50000"/>
                <a:gd name="adj2" fmla="val 50000"/>
              </a:avLst>
            </a:prstGeom>
            <a:solidFill>
              <a:srgbClr val="3366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 name="Google Shape;498;p19"/>
            <p:cNvSpPr/>
            <p:nvPr/>
          </p:nvSpPr>
          <p:spPr>
            <a:xfrm>
              <a:off x="1440069" y="5365118"/>
              <a:ext cx="1138501" cy="252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1" i="0" u="none" strike="noStrike" cap="none">
                  <a:solidFill>
                    <a:srgbClr val="3F3F3F"/>
                  </a:solidFill>
                  <a:latin typeface="Arial"/>
                  <a:ea typeface="Arial"/>
                  <a:cs typeface="Arial"/>
                  <a:sym typeface="Arial"/>
                </a:rPr>
                <a:t>HÌNH ẢNH</a:t>
              </a:r>
              <a:endParaRPr sz="1400" b="1" i="0" u="none" strike="noStrike" cap="none">
                <a:solidFill>
                  <a:srgbClr val="3F3F3F"/>
                </a:solidFill>
                <a:latin typeface="Arial"/>
                <a:ea typeface="Arial"/>
                <a:cs typeface="Arial"/>
                <a:sym typeface="Arial"/>
              </a:endParaRPr>
            </a:p>
          </p:txBody>
        </p:sp>
        <p:sp>
          <p:nvSpPr>
            <p:cNvPr id="499" name="Google Shape;499;p19"/>
            <p:cNvSpPr/>
            <p:nvPr/>
          </p:nvSpPr>
          <p:spPr>
            <a:xfrm>
              <a:off x="2681005" y="5365118"/>
              <a:ext cx="1277901" cy="252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7938" marR="0" lvl="1" indent="0" algn="ctr" rtl="0">
                <a:lnSpc>
                  <a:spcPct val="100000"/>
                </a:lnSpc>
                <a:spcBef>
                  <a:spcPts val="0"/>
                </a:spcBef>
                <a:spcAft>
                  <a:spcPts val="0"/>
                </a:spcAft>
                <a:buClr>
                  <a:srgbClr val="000000"/>
                </a:buClr>
                <a:buSzPts val="1400"/>
                <a:buFont typeface="Arial"/>
                <a:buNone/>
              </a:pPr>
              <a:r>
                <a:rPr lang="en-US" sz="1400" b="1" i="0" u="none" strike="noStrike" cap="none">
                  <a:solidFill>
                    <a:srgbClr val="3F3F3F"/>
                  </a:solidFill>
                  <a:latin typeface="Arial"/>
                  <a:ea typeface="Arial"/>
                  <a:cs typeface="Arial"/>
                  <a:sym typeface="Arial"/>
                </a:rPr>
                <a:t>ĐẶC TRƯNG</a:t>
              </a:r>
              <a:endParaRPr sz="1400" b="1" i="0" u="none" strike="noStrike" cap="none">
                <a:solidFill>
                  <a:srgbClr val="3F3F3F"/>
                </a:solidFill>
                <a:latin typeface="Arial"/>
                <a:ea typeface="Arial"/>
                <a:cs typeface="Arial"/>
                <a:sym typeface="Arial"/>
              </a:endParaRPr>
            </a:p>
          </p:txBody>
        </p:sp>
        <p:sp>
          <p:nvSpPr>
            <p:cNvPr id="500" name="Google Shape;500;p19"/>
            <p:cNvSpPr/>
            <p:nvPr/>
          </p:nvSpPr>
          <p:spPr>
            <a:xfrm>
              <a:off x="4185281" y="5248980"/>
              <a:ext cx="1948467" cy="484276"/>
            </a:xfrm>
            <a:prstGeom prst="roundRect">
              <a:avLst>
                <a:gd name="adj" fmla="val 16667"/>
              </a:avLst>
            </a:prstGeom>
            <a:solidFill>
              <a:schemeClr val="lt1"/>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0" i="0" u="none" strike="noStrike" cap="none">
                  <a:solidFill>
                    <a:srgbClr val="3F3F3F"/>
                  </a:solidFill>
                  <a:latin typeface="Arial"/>
                  <a:ea typeface="Arial"/>
                  <a:cs typeface="Arial"/>
                  <a:sym typeface="Arial"/>
                </a:rPr>
                <a:t>HỌC MÁY</a:t>
              </a:r>
              <a:endParaRPr sz="1400" b="0" i="0" u="none" strike="noStrike" cap="none">
                <a:solidFill>
                  <a:srgbClr val="3F3F3F"/>
                </a:solidFill>
                <a:latin typeface="Arial"/>
                <a:ea typeface="Arial"/>
                <a:cs typeface="Arial"/>
                <a:sym typeface="Arial"/>
              </a:endParaRPr>
            </a:p>
          </p:txBody>
        </p:sp>
        <p:sp>
          <p:nvSpPr>
            <p:cNvPr id="501" name="Google Shape;501;p19"/>
            <p:cNvSpPr/>
            <p:nvPr/>
          </p:nvSpPr>
          <p:spPr>
            <a:xfrm>
              <a:off x="6494840" y="5365118"/>
              <a:ext cx="1894966" cy="252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398463" marR="0" lvl="0" indent="-398463" algn="ctr" rtl="0">
                <a:lnSpc>
                  <a:spcPct val="100000"/>
                </a:lnSpc>
                <a:spcBef>
                  <a:spcPts val="0"/>
                </a:spcBef>
                <a:spcAft>
                  <a:spcPts val="0"/>
                </a:spcAft>
                <a:buClr>
                  <a:srgbClr val="000000"/>
                </a:buClr>
                <a:buSzPts val="1400"/>
                <a:buFont typeface="Arial"/>
                <a:buNone/>
              </a:pPr>
              <a:r>
                <a:rPr lang="en-US" sz="1400" b="1" i="0" u="none" strike="noStrike" cap="none">
                  <a:solidFill>
                    <a:srgbClr val="3F3F3F"/>
                  </a:solidFill>
                  <a:latin typeface="Arial"/>
                  <a:ea typeface="Arial"/>
                  <a:cs typeface="Arial"/>
                  <a:sym typeface="Arial"/>
                </a:rPr>
                <a:t>ĐỐI TƯỢNG LÀ GÌ</a:t>
              </a:r>
              <a:endParaRPr sz="1400" b="1" i="0" u="none" strike="noStrike" cap="none">
                <a:solidFill>
                  <a:srgbClr val="3F3F3F"/>
                </a:solidFill>
                <a:latin typeface="Arial"/>
                <a:ea typeface="Arial"/>
                <a:cs typeface="Arial"/>
                <a:sym typeface="Arial"/>
              </a:endParaRPr>
            </a:p>
          </p:txBody>
        </p:sp>
        <p:sp>
          <p:nvSpPr>
            <p:cNvPr id="502" name="Google Shape;502;p19"/>
            <p:cNvSpPr/>
            <p:nvPr/>
          </p:nvSpPr>
          <p:spPr>
            <a:xfrm>
              <a:off x="6883450" y="2997455"/>
              <a:ext cx="1188850"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Dữ liệu kiểm tra</a:t>
              </a:r>
              <a:endParaRPr sz="1300" b="0" i="0" u="none" strike="noStrike" cap="none">
                <a:solidFill>
                  <a:srgbClr val="262626"/>
                </a:solidFill>
                <a:latin typeface="Arial"/>
                <a:ea typeface="Arial"/>
                <a:cs typeface="Arial"/>
                <a:sym typeface="Arial"/>
              </a:endParaRPr>
            </a:p>
          </p:txBody>
        </p:sp>
        <p:sp>
          <p:nvSpPr>
            <p:cNvPr id="503" name="Google Shape;503;p19"/>
            <p:cNvSpPr/>
            <p:nvPr/>
          </p:nvSpPr>
          <p:spPr>
            <a:xfrm>
              <a:off x="6999303" y="4667368"/>
              <a:ext cx="927893"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Mèo</a:t>
              </a:r>
              <a:endParaRPr sz="1300" b="0" i="0" u="none" strike="noStrike" cap="none">
                <a:solidFill>
                  <a:srgbClr val="262626"/>
                </a:solidFill>
                <a:latin typeface="Arial"/>
                <a:ea typeface="Arial"/>
                <a:cs typeface="Arial"/>
                <a:sym typeface="Arial"/>
              </a:endParaRPr>
            </a:p>
          </p:txBody>
        </p:sp>
        <p:sp>
          <p:nvSpPr>
            <p:cNvPr id="504" name="Google Shape;504;p19"/>
            <p:cNvSpPr/>
            <p:nvPr/>
          </p:nvSpPr>
          <p:spPr>
            <a:xfrm>
              <a:off x="6095648" y="3673097"/>
              <a:ext cx="399192" cy="501199"/>
            </a:xfrm>
            <a:prstGeom prst="chevron">
              <a:avLst>
                <a:gd name="adj" fmla="val 50000"/>
              </a:avLst>
            </a:prstGeom>
            <a:solidFill>
              <a:srgbClr val="3366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05" name="Google Shape;505;p19"/>
            <p:cNvGrpSpPr/>
            <p:nvPr/>
          </p:nvGrpSpPr>
          <p:grpSpPr>
            <a:xfrm>
              <a:off x="4069595" y="2789182"/>
              <a:ext cx="1984568" cy="2058302"/>
              <a:chOff x="4357064" y="3174154"/>
              <a:chExt cx="1984568" cy="2058302"/>
            </a:xfrm>
          </p:grpSpPr>
          <p:sp>
            <p:nvSpPr>
              <p:cNvPr id="506" name="Google Shape;506;p19"/>
              <p:cNvSpPr/>
              <p:nvPr/>
            </p:nvSpPr>
            <p:spPr>
              <a:xfrm>
                <a:off x="4357064" y="3174154"/>
                <a:ext cx="1984568" cy="400110"/>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Học máy</a:t>
                </a:r>
                <a:endParaRPr sz="1300" b="0" i="0" u="none" strike="noStrike" cap="none">
                  <a:solidFill>
                    <a:srgbClr val="262626"/>
                  </a:solidFill>
                  <a:latin typeface="Arial"/>
                  <a:ea typeface="Arial"/>
                  <a:cs typeface="Arial"/>
                  <a:sym typeface="Arial"/>
                </a:endParaRPr>
              </a:p>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Mô hình phân loại</a:t>
                </a:r>
                <a:endParaRPr sz="1300" b="0" i="0" u="none" strike="noStrike" cap="none">
                  <a:solidFill>
                    <a:srgbClr val="262626"/>
                  </a:solidFill>
                  <a:latin typeface="Arial"/>
                  <a:ea typeface="Arial"/>
                  <a:cs typeface="Arial"/>
                  <a:sym typeface="Arial"/>
                </a:endParaRPr>
              </a:p>
            </p:txBody>
          </p:sp>
          <p:grpSp>
            <p:nvGrpSpPr>
              <p:cNvPr id="507" name="Google Shape;507;p19"/>
              <p:cNvGrpSpPr/>
              <p:nvPr/>
            </p:nvGrpSpPr>
            <p:grpSpPr>
              <a:xfrm>
                <a:off x="4677891" y="3564934"/>
                <a:ext cx="1476773" cy="1667522"/>
                <a:chOff x="4677891" y="3564934"/>
                <a:chExt cx="1476773" cy="1667522"/>
              </a:xfrm>
            </p:grpSpPr>
            <p:sp>
              <p:nvSpPr>
                <p:cNvPr id="508" name="Google Shape;508;p19"/>
                <p:cNvSpPr/>
                <p:nvPr/>
              </p:nvSpPr>
              <p:spPr>
                <a:xfrm>
                  <a:off x="4926788" y="3618830"/>
                  <a:ext cx="948716" cy="1385470"/>
                </a:xfrm>
                <a:prstGeom prst="rect">
                  <a:avLst/>
                </a:prstGeom>
                <a:solidFill>
                  <a:srgbClr val="00B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 name="Google Shape;509;p19"/>
                <p:cNvSpPr/>
                <p:nvPr/>
              </p:nvSpPr>
              <p:spPr>
                <a:xfrm>
                  <a:off x="4677891" y="3618830"/>
                  <a:ext cx="506985" cy="1381971"/>
                </a:xfrm>
                <a:custGeom>
                  <a:avLst/>
                  <a:gdLst/>
                  <a:ahLst/>
                  <a:cxnLst/>
                  <a:rect l="l" t="t" r="r" b="b"/>
                  <a:pathLst>
                    <a:path w="506985" h="1381971" extrusionOk="0">
                      <a:moveTo>
                        <a:pt x="0" y="0"/>
                      </a:moveTo>
                      <a:lnTo>
                        <a:pt x="349822" y="0"/>
                      </a:lnTo>
                      <a:lnTo>
                        <a:pt x="506985" y="1381971"/>
                      </a:lnTo>
                      <a:lnTo>
                        <a:pt x="0" y="1381971"/>
                      </a:lnTo>
                      <a:lnTo>
                        <a:pt x="0" y="0"/>
                      </a:lnTo>
                      <a:close/>
                    </a:path>
                  </a:pathLst>
                </a:custGeom>
                <a:solidFill>
                  <a:srgbClr val="0077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 name="Google Shape;510;p19"/>
                <p:cNvSpPr/>
                <p:nvPr/>
              </p:nvSpPr>
              <p:spPr>
                <a:xfrm rot="10800000">
                  <a:off x="5543153" y="3618830"/>
                  <a:ext cx="506985" cy="1381971"/>
                </a:xfrm>
                <a:custGeom>
                  <a:avLst/>
                  <a:gdLst/>
                  <a:ahLst/>
                  <a:cxnLst/>
                  <a:rect l="l" t="t" r="r" b="b"/>
                  <a:pathLst>
                    <a:path w="506985" h="1381971" extrusionOk="0">
                      <a:moveTo>
                        <a:pt x="0" y="0"/>
                      </a:moveTo>
                      <a:lnTo>
                        <a:pt x="349822" y="0"/>
                      </a:lnTo>
                      <a:lnTo>
                        <a:pt x="506985" y="1381971"/>
                      </a:lnTo>
                      <a:lnTo>
                        <a:pt x="0" y="1381971"/>
                      </a:lnTo>
                      <a:lnTo>
                        <a:pt x="0" y="0"/>
                      </a:lnTo>
                      <a:close/>
                    </a:path>
                  </a:pathLst>
                </a:custGeom>
                <a:solidFill>
                  <a:srgbClr val="00C3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511" name="Google Shape;511;p19"/>
                <p:cNvCxnSpPr/>
                <p:nvPr/>
              </p:nvCxnSpPr>
              <p:spPr>
                <a:xfrm>
                  <a:off x="4677891" y="3564934"/>
                  <a:ext cx="0" cy="1440000"/>
                </a:xfrm>
                <a:prstGeom prst="straightConnector1">
                  <a:avLst/>
                </a:prstGeom>
                <a:noFill/>
                <a:ln w="19050" cap="flat" cmpd="sng">
                  <a:solidFill>
                    <a:srgbClr val="A5A5A5"/>
                  </a:solidFill>
                  <a:prstDash val="solid"/>
                  <a:miter lim="800000"/>
                  <a:headEnd type="none" w="sm" len="sm"/>
                  <a:tailEnd type="none" w="sm" len="sm"/>
                </a:ln>
              </p:spPr>
            </p:cxnSp>
            <p:cxnSp>
              <p:nvCxnSpPr>
                <p:cNvPr id="512" name="Google Shape;512;p19"/>
                <p:cNvCxnSpPr/>
                <p:nvPr/>
              </p:nvCxnSpPr>
              <p:spPr>
                <a:xfrm>
                  <a:off x="4677891" y="5004300"/>
                  <a:ext cx="1440000" cy="0"/>
                </a:xfrm>
                <a:prstGeom prst="straightConnector1">
                  <a:avLst/>
                </a:prstGeom>
                <a:noFill/>
                <a:ln w="19050" cap="flat" cmpd="sng">
                  <a:solidFill>
                    <a:srgbClr val="A5A5A5"/>
                  </a:solidFill>
                  <a:prstDash val="solid"/>
                  <a:miter lim="800000"/>
                  <a:headEnd type="none" w="sm" len="sm"/>
                  <a:tailEnd type="none" w="sm" len="sm"/>
                </a:ln>
              </p:spPr>
            </p:cxnSp>
            <p:sp>
              <p:nvSpPr>
                <p:cNvPr id="513" name="Google Shape;513;p19"/>
                <p:cNvSpPr/>
                <p:nvPr/>
              </p:nvSpPr>
              <p:spPr>
                <a:xfrm>
                  <a:off x="4778403" y="4779327"/>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 name="Google Shape;514;p19"/>
                <p:cNvSpPr/>
                <p:nvPr/>
              </p:nvSpPr>
              <p:spPr>
                <a:xfrm>
                  <a:off x="4882412" y="4755217"/>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 name="Google Shape;515;p19"/>
                <p:cNvSpPr/>
                <p:nvPr/>
              </p:nvSpPr>
              <p:spPr>
                <a:xfrm>
                  <a:off x="4990412" y="4774424"/>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6" name="Google Shape;516;p19"/>
                <p:cNvSpPr/>
                <p:nvPr/>
              </p:nvSpPr>
              <p:spPr>
                <a:xfrm>
                  <a:off x="4753852" y="488103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7" name="Google Shape;517;p19"/>
                <p:cNvSpPr/>
                <p:nvPr/>
              </p:nvSpPr>
              <p:spPr>
                <a:xfrm>
                  <a:off x="4866818" y="485773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 name="Google Shape;518;p19"/>
                <p:cNvSpPr/>
                <p:nvPr/>
              </p:nvSpPr>
              <p:spPr>
                <a:xfrm>
                  <a:off x="4974130" y="488434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 name="Google Shape;519;p19"/>
                <p:cNvSpPr/>
                <p:nvPr/>
              </p:nvSpPr>
              <p:spPr>
                <a:xfrm>
                  <a:off x="5261527" y="438510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 name="Google Shape;520;p19"/>
                <p:cNvSpPr/>
                <p:nvPr/>
              </p:nvSpPr>
              <p:spPr>
                <a:xfrm>
                  <a:off x="5358685" y="4397479"/>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1" name="Google Shape;521;p19"/>
                <p:cNvSpPr/>
                <p:nvPr/>
              </p:nvSpPr>
              <p:spPr>
                <a:xfrm>
                  <a:off x="5486323" y="436033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 name="Google Shape;522;p19"/>
                <p:cNvSpPr/>
                <p:nvPr/>
              </p:nvSpPr>
              <p:spPr>
                <a:xfrm>
                  <a:off x="5412976" y="3999329"/>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 name="Google Shape;523;p19"/>
                <p:cNvSpPr/>
                <p:nvPr/>
              </p:nvSpPr>
              <p:spPr>
                <a:xfrm>
                  <a:off x="5445560" y="4127983"/>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 name="Google Shape;524;p19"/>
                <p:cNvSpPr/>
                <p:nvPr/>
              </p:nvSpPr>
              <p:spPr>
                <a:xfrm>
                  <a:off x="5501786" y="422077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5" name="Google Shape;525;p19"/>
                <p:cNvSpPr/>
                <p:nvPr/>
              </p:nvSpPr>
              <p:spPr>
                <a:xfrm>
                  <a:off x="5404211" y="426547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 name="Google Shape;526;p19"/>
                <p:cNvSpPr/>
                <p:nvPr/>
              </p:nvSpPr>
              <p:spPr>
                <a:xfrm>
                  <a:off x="5287462" y="4268181"/>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p19"/>
                <p:cNvSpPr/>
                <p:nvPr/>
              </p:nvSpPr>
              <p:spPr>
                <a:xfrm>
                  <a:off x="5349348" y="4172423"/>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 name="Google Shape;528;p19"/>
                <p:cNvSpPr/>
                <p:nvPr/>
              </p:nvSpPr>
              <p:spPr>
                <a:xfrm>
                  <a:off x="5339822" y="4057038"/>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9" name="Google Shape;529;p19"/>
                <p:cNvSpPr/>
                <p:nvPr/>
              </p:nvSpPr>
              <p:spPr>
                <a:xfrm>
                  <a:off x="5619557" y="3981336"/>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 name="Google Shape;530;p19"/>
                <p:cNvSpPr/>
                <p:nvPr/>
              </p:nvSpPr>
              <p:spPr>
                <a:xfrm>
                  <a:off x="5648500" y="4077291"/>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 name="Google Shape;531;p19"/>
                <p:cNvSpPr/>
                <p:nvPr/>
              </p:nvSpPr>
              <p:spPr>
                <a:xfrm>
                  <a:off x="5641268" y="4172423"/>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 name="Google Shape;532;p19"/>
                <p:cNvSpPr/>
                <p:nvPr/>
              </p:nvSpPr>
              <p:spPr>
                <a:xfrm>
                  <a:off x="5667552" y="428059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3" name="Google Shape;533;p19"/>
                <p:cNvSpPr/>
                <p:nvPr/>
              </p:nvSpPr>
              <p:spPr>
                <a:xfrm>
                  <a:off x="5724645" y="3980910"/>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4" name="Google Shape;534;p19"/>
                <p:cNvSpPr/>
                <p:nvPr/>
              </p:nvSpPr>
              <p:spPr>
                <a:xfrm>
                  <a:off x="5809808" y="4019506"/>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 name="Google Shape;535;p19"/>
                <p:cNvSpPr/>
                <p:nvPr/>
              </p:nvSpPr>
              <p:spPr>
                <a:xfrm>
                  <a:off x="5819452" y="4116693"/>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 name="Google Shape;536;p19"/>
                <p:cNvSpPr/>
                <p:nvPr/>
              </p:nvSpPr>
              <p:spPr>
                <a:xfrm>
                  <a:off x="5891452" y="4188693"/>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7" name="Google Shape;537;p19"/>
                <p:cNvSpPr/>
                <p:nvPr/>
              </p:nvSpPr>
              <p:spPr>
                <a:xfrm>
                  <a:off x="5740829" y="4093038"/>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8" name="Google Shape;538;p19"/>
                <p:cNvSpPr/>
                <p:nvPr/>
              </p:nvSpPr>
              <p:spPr>
                <a:xfrm>
                  <a:off x="5747452" y="4193055"/>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 name="Google Shape;539;p19"/>
                <p:cNvSpPr/>
                <p:nvPr/>
              </p:nvSpPr>
              <p:spPr>
                <a:xfrm>
                  <a:off x="5819452" y="4260667"/>
                  <a:ext cx="72000" cy="720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 name="Google Shape;540;p19"/>
                <p:cNvSpPr/>
                <p:nvPr/>
              </p:nvSpPr>
              <p:spPr>
                <a:xfrm>
                  <a:off x="4693131" y="5032401"/>
                  <a:ext cx="506985"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Mèo</a:t>
                  </a:r>
                  <a:endParaRPr sz="1300" b="0" i="0" u="none" strike="noStrike" cap="none">
                    <a:solidFill>
                      <a:srgbClr val="262626"/>
                    </a:solidFill>
                    <a:latin typeface="Arial"/>
                    <a:ea typeface="Arial"/>
                    <a:cs typeface="Arial"/>
                    <a:sym typeface="Arial"/>
                  </a:endParaRPr>
                </a:p>
              </p:txBody>
            </p:sp>
            <p:sp>
              <p:nvSpPr>
                <p:cNvPr id="541" name="Google Shape;541;p19"/>
                <p:cNvSpPr/>
                <p:nvPr/>
              </p:nvSpPr>
              <p:spPr>
                <a:xfrm>
                  <a:off x="5178025" y="5032400"/>
                  <a:ext cx="506985"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Chó</a:t>
                  </a:r>
                  <a:endParaRPr sz="1300" b="0" i="0" u="none" strike="noStrike" cap="none">
                    <a:solidFill>
                      <a:srgbClr val="262626"/>
                    </a:solidFill>
                    <a:latin typeface="Arial"/>
                    <a:ea typeface="Arial"/>
                    <a:cs typeface="Arial"/>
                    <a:sym typeface="Arial"/>
                  </a:endParaRPr>
                </a:p>
              </p:txBody>
            </p:sp>
            <p:sp>
              <p:nvSpPr>
                <p:cNvPr id="542" name="Google Shape;542;p19"/>
                <p:cNvSpPr/>
                <p:nvPr/>
              </p:nvSpPr>
              <p:spPr>
                <a:xfrm>
                  <a:off x="5647679" y="5032400"/>
                  <a:ext cx="506985"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Vẹt</a:t>
                  </a:r>
                  <a:endParaRPr sz="1300" b="0" i="0" u="none" strike="noStrike" cap="none">
                    <a:solidFill>
                      <a:srgbClr val="262626"/>
                    </a:solidFill>
                    <a:latin typeface="Arial"/>
                    <a:ea typeface="Arial"/>
                    <a:cs typeface="Arial"/>
                    <a:sym typeface="Arial"/>
                  </a:endParaRPr>
                </a:p>
              </p:txBody>
            </p:sp>
          </p:grpSp>
        </p:grpSp>
        <p:sp>
          <p:nvSpPr>
            <p:cNvPr id="543" name="Google Shape;543;p19"/>
            <p:cNvSpPr/>
            <p:nvPr/>
          </p:nvSpPr>
          <p:spPr>
            <a:xfrm>
              <a:off x="3369271" y="2935898"/>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4" name="Google Shape;544;p19"/>
            <p:cNvSpPr/>
            <p:nvPr/>
          </p:nvSpPr>
          <p:spPr>
            <a:xfrm>
              <a:off x="3217050" y="2957074"/>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5" name="Google Shape;545;p19"/>
            <p:cNvSpPr/>
            <p:nvPr/>
          </p:nvSpPr>
          <p:spPr>
            <a:xfrm>
              <a:off x="3367100" y="3023749"/>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6" name="Google Shape;546;p19"/>
            <p:cNvSpPr/>
            <p:nvPr/>
          </p:nvSpPr>
          <p:spPr>
            <a:xfrm>
              <a:off x="3074057" y="2888773"/>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7" name="Google Shape;547;p19"/>
            <p:cNvSpPr/>
            <p:nvPr/>
          </p:nvSpPr>
          <p:spPr>
            <a:xfrm>
              <a:off x="3165489" y="2924773"/>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8" name="Google Shape;548;p19"/>
            <p:cNvSpPr/>
            <p:nvPr/>
          </p:nvSpPr>
          <p:spPr>
            <a:xfrm>
              <a:off x="3079352" y="2942043"/>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9" name="Google Shape;549;p19"/>
            <p:cNvSpPr/>
            <p:nvPr/>
          </p:nvSpPr>
          <p:spPr>
            <a:xfrm>
              <a:off x="3078804" y="3041173"/>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0" name="Google Shape;550;p19"/>
            <p:cNvSpPr/>
            <p:nvPr/>
          </p:nvSpPr>
          <p:spPr>
            <a:xfrm>
              <a:off x="3250256" y="3160232"/>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1" name="Google Shape;551;p19"/>
            <p:cNvSpPr/>
            <p:nvPr/>
          </p:nvSpPr>
          <p:spPr>
            <a:xfrm>
              <a:off x="3387306" y="3198444"/>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2" name="Google Shape;552;p19"/>
            <p:cNvSpPr/>
            <p:nvPr/>
          </p:nvSpPr>
          <p:spPr>
            <a:xfrm>
              <a:off x="3154996" y="3369804"/>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3" name="Google Shape;553;p19"/>
            <p:cNvSpPr/>
            <p:nvPr/>
          </p:nvSpPr>
          <p:spPr>
            <a:xfrm>
              <a:off x="3106192" y="3258151"/>
              <a:ext cx="36000" cy="36000"/>
            </a:xfrm>
            <a:prstGeom prst="ellipse">
              <a:avLst/>
            </a:prstGeom>
            <a:solidFill>
              <a:srgbClr val="0077C8">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4" name="Google Shape;554;p19"/>
            <p:cNvSpPr/>
            <p:nvPr/>
          </p:nvSpPr>
          <p:spPr>
            <a:xfrm>
              <a:off x="3403100" y="3725115"/>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5" name="Google Shape;555;p19"/>
            <p:cNvSpPr/>
            <p:nvPr/>
          </p:nvSpPr>
          <p:spPr>
            <a:xfrm>
              <a:off x="3135262" y="3810840"/>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6" name="Google Shape;556;p19"/>
            <p:cNvSpPr/>
            <p:nvPr/>
          </p:nvSpPr>
          <p:spPr>
            <a:xfrm>
              <a:off x="3387306" y="3799194"/>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7" name="Google Shape;557;p19"/>
            <p:cNvSpPr/>
            <p:nvPr/>
          </p:nvSpPr>
          <p:spPr>
            <a:xfrm>
              <a:off x="3287343" y="3814941"/>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8" name="Google Shape;558;p19"/>
            <p:cNvSpPr/>
            <p:nvPr/>
          </p:nvSpPr>
          <p:spPr>
            <a:xfrm>
              <a:off x="3313292" y="3882267"/>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9" name="Google Shape;559;p19"/>
            <p:cNvSpPr/>
            <p:nvPr/>
          </p:nvSpPr>
          <p:spPr>
            <a:xfrm>
              <a:off x="3171215" y="4034667"/>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0" name="Google Shape;560;p19"/>
            <p:cNvSpPr/>
            <p:nvPr/>
          </p:nvSpPr>
          <p:spPr>
            <a:xfrm>
              <a:off x="3096804" y="4226946"/>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1" name="Google Shape;561;p19"/>
            <p:cNvSpPr/>
            <p:nvPr/>
          </p:nvSpPr>
          <p:spPr>
            <a:xfrm>
              <a:off x="3292848" y="4248889"/>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2" name="Google Shape;562;p19"/>
            <p:cNvSpPr/>
            <p:nvPr/>
          </p:nvSpPr>
          <p:spPr>
            <a:xfrm>
              <a:off x="3453615" y="4244946"/>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3" name="Google Shape;563;p19"/>
            <p:cNvSpPr/>
            <p:nvPr/>
          </p:nvSpPr>
          <p:spPr>
            <a:xfrm>
              <a:off x="3293252" y="4054570"/>
              <a:ext cx="36000" cy="36000"/>
            </a:xfrm>
            <a:prstGeom prst="ellipse">
              <a:avLst/>
            </a:prstGeom>
            <a:solidFill>
              <a:srgbClr val="00B3E3">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64" name="Google Shape;564;p19"/>
            <p:cNvGrpSpPr/>
            <p:nvPr/>
          </p:nvGrpSpPr>
          <p:grpSpPr>
            <a:xfrm>
              <a:off x="1588153" y="4444886"/>
              <a:ext cx="831653" cy="823143"/>
              <a:chOff x="129476" y="4698669"/>
              <a:chExt cx="831653" cy="823143"/>
            </a:xfrm>
          </p:grpSpPr>
          <p:sp>
            <p:nvSpPr>
              <p:cNvPr id="565" name="Google Shape;565;p19"/>
              <p:cNvSpPr/>
              <p:nvPr/>
            </p:nvSpPr>
            <p:spPr>
              <a:xfrm>
                <a:off x="255994" y="4698669"/>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6" name="Google Shape;566;p19"/>
              <p:cNvSpPr/>
              <p:nvPr/>
            </p:nvSpPr>
            <p:spPr>
              <a:xfrm>
                <a:off x="192735" y="4757674"/>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7" name="Google Shape;567;p19"/>
              <p:cNvSpPr/>
              <p:nvPr/>
            </p:nvSpPr>
            <p:spPr>
              <a:xfrm>
                <a:off x="129476" y="4816678"/>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68" name="Google Shape;568;p19" descr="C:\Users\USER\Downloads\shiba.png"/>
            <p:cNvPicPr preferRelativeResize="0"/>
            <p:nvPr/>
          </p:nvPicPr>
          <p:blipFill rotWithShape="1">
            <a:blip r:embed="rId6">
              <a:alphaModFix/>
            </a:blip>
            <a:srcRect/>
            <a:stretch/>
          </p:blipFill>
          <p:spPr>
            <a:xfrm>
              <a:off x="1671082" y="3746198"/>
              <a:ext cx="550240" cy="550240"/>
            </a:xfrm>
            <a:prstGeom prst="rect">
              <a:avLst/>
            </a:prstGeom>
            <a:noFill/>
            <a:ln>
              <a:noFill/>
            </a:ln>
          </p:spPr>
        </p:pic>
        <p:pic>
          <p:nvPicPr>
            <p:cNvPr id="569" name="Google Shape;569;p19" descr="C:\Users\USER\Downloads\cat.png"/>
            <p:cNvPicPr preferRelativeResize="0"/>
            <p:nvPr/>
          </p:nvPicPr>
          <p:blipFill rotWithShape="1">
            <a:blip r:embed="rId4">
              <a:alphaModFix/>
            </a:blip>
            <a:srcRect/>
            <a:stretch/>
          </p:blipFill>
          <p:spPr>
            <a:xfrm>
              <a:off x="1671082" y="2888773"/>
              <a:ext cx="513480" cy="513480"/>
            </a:xfrm>
            <a:prstGeom prst="rect">
              <a:avLst/>
            </a:prstGeom>
            <a:noFill/>
            <a:ln>
              <a:noFill/>
            </a:ln>
          </p:spPr>
        </p:pic>
        <p:pic>
          <p:nvPicPr>
            <p:cNvPr id="570" name="Google Shape;570;p19" descr="C:\Users\USER\Downloads\parrot.png"/>
            <p:cNvPicPr preferRelativeResize="0"/>
            <p:nvPr/>
          </p:nvPicPr>
          <p:blipFill rotWithShape="1">
            <a:blip r:embed="rId5">
              <a:alphaModFix/>
            </a:blip>
            <a:srcRect/>
            <a:stretch/>
          </p:blipFill>
          <p:spPr>
            <a:xfrm>
              <a:off x="1665655" y="4634915"/>
              <a:ext cx="561094" cy="561094"/>
            </a:xfrm>
            <a:prstGeom prst="rect">
              <a:avLst/>
            </a:prstGeom>
            <a:noFill/>
            <a:ln>
              <a:noFill/>
            </a:ln>
          </p:spPr>
        </p:pic>
      </p:grpSp>
      <p:sp>
        <p:nvSpPr>
          <p:cNvPr id="571" name="Google Shape;571;p19"/>
          <p:cNvSpPr/>
          <p:nvPr/>
        </p:nvSpPr>
        <p:spPr>
          <a:xfrm>
            <a:off x="558924" y="1836430"/>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máy và Học sâu</a:t>
            </a:r>
            <a:endParaRPr sz="1400" b="0" i="0" u="none" strike="noStrike" cap="none">
              <a:solidFill>
                <a:schemeClr val="dk1"/>
              </a:solidFill>
              <a:latin typeface="Arial"/>
              <a:ea typeface="Arial"/>
              <a:cs typeface="Arial"/>
              <a:sym typeface="Arial"/>
            </a:endParaRPr>
          </a:p>
        </p:txBody>
      </p:sp>
      <p:sp>
        <p:nvSpPr>
          <p:cNvPr id="572" name="Google Shape;572;p19"/>
          <p:cNvSpPr/>
          <p:nvPr/>
        </p:nvSpPr>
        <p:spPr>
          <a:xfrm>
            <a:off x="449998" y="1375101"/>
            <a:ext cx="9289484" cy="3539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rgbClr val="0C0C0C"/>
                </a:solidFill>
                <a:latin typeface="Arial"/>
                <a:ea typeface="Arial"/>
                <a:cs typeface="Arial"/>
                <a:sym typeface="Arial"/>
              </a:rPr>
              <a:t>Các </a:t>
            </a:r>
            <a:r>
              <a:rPr lang="en-US" sz="2300" b="1" i="0" u="none" strike="noStrike" cap="none" dirty="0" err="1">
                <a:solidFill>
                  <a:srgbClr val="0C0C0C"/>
                </a:solidFill>
                <a:latin typeface="Arial"/>
                <a:ea typeface="Arial"/>
                <a:cs typeface="Arial"/>
                <a:sym typeface="Arial"/>
              </a:rPr>
              <a:t>loại</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và</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lựa</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chọn</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phân</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tích</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dữ</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liệu</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dựa</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trên</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học</a:t>
            </a:r>
            <a:r>
              <a:rPr lang="en-US" sz="2300" b="1" i="0" u="none" strike="noStrike" cap="none" dirty="0">
                <a:solidFill>
                  <a:srgbClr val="0C0C0C"/>
                </a:solidFill>
                <a:latin typeface="Arial"/>
                <a:ea typeface="Arial"/>
                <a:cs typeface="Arial"/>
                <a:sym typeface="Arial"/>
              </a:rPr>
              <a:t> </a:t>
            </a:r>
            <a:r>
              <a:rPr lang="en-US" sz="2300" b="1" i="0" u="none" strike="noStrike" cap="none" dirty="0" err="1">
                <a:solidFill>
                  <a:srgbClr val="0C0C0C"/>
                </a:solidFill>
                <a:latin typeface="Arial"/>
                <a:ea typeface="Arial"/>
                <a:cs typeface="Arial"/>
                <a:sym typeface="Arial"/>
              </a:rPr>
              <a:t>máy</a:t>
            </a:r>
            <a:endParaRPr sz="2300" b="1" i="0" u="none" strike="noStrike" cap="none" dirty="0">
              <a:solidFill>
                <a:srgbClr val="0C0C0C"/>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grpSp>
        <p:nvGrpSpPr>
          <p:cNvPr id="581" name="Google Shape;581;p20"/>
          <p:cNvGrpSpPr/>
          <p:nvPr/>
        </p:nvGrpSpPr>
        <p:grpSpPr>
          <a:xfrm>
            <a:off x="558800" y="1844824"/>
            <a:ext cx="8784209" cy="4248472"/>
            <a:chOff x="558800" y="1772816"/>
            <a:chExt cx="8784209" cy="4248472"/>
          </a:xfrm>
        </p:grpSpPr>
        <p:sp>
          <p:nvSpPr>
            <p:cNvPr id="582" name="Google Shape;582;p20"/>
            <p:cNvSpPr/>
            <p:nvPr/>
          </p:nvSpPr>
          <p:spPr>
            <a:xfrm>
              <a:off x="558800" y="1772816"/>
              <a:ext cx="8784209" cy="4248472"/>
            </a:xfrm>
            <a:prstGeom prst="rect">
              <a:avLst/>
            </a:prstGeom>
            <a:solidFill>
              <a:schemeClr val="lt1"/>
            </a:solidFill>
            <a:ln w="952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3" name="Google Shape;583;p20"/>
            <p:cNvSpPr/>
            <p:nvPr/>
          </p:nvSpPr>
          <p:spPr>
            <a:xfrm>
              <a:off x="3153100" y="1844824"/>
              <a:ext cx="3595608"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1429A0"/>
                  </a:solidFill>
                  <a:latin typeface="Arial"/>
                  <a:ea typeface="Arial"/>
                  <a:cs typeface="Arial"/>
                  <a:sym typeface="Arial"/>
                </a:rPr>
                <a:t>Quy trình học sâu</a:t>
              </a:r>
              <a:endParaRPr sz="1800" b="1" i="0" u="none" strike="noStrike" cap="none">
                <a:solidFill>
                  <a:srgbClr val="1429A0"/>
                </a:solidFill>
                <a:latin typeface="Arial"/>
                <a:ea typeface="Arial"/>
                <a:cs typeface="Arial"/>
                <a:sym typeface="Arial"/>
              </a:endParaRPr>
            </a:p>
          </p:txBody>
        </p:sp>
        <p:sp>
          <p:nvSpPr>
            <p:cNvPr id="584" name="Google Shape;584;p20"/>
            <p:cNvSpPr/>
            <p:nvPr/>
          </p:nvSpPr>
          <p:spPr>
            <a:xfrm>
              <a:off x="7543701" y="5733256"/>
              <a:ext cx="1667686" cy="212364"/>
            </a:xfrm>
            <a:prstGeom prst="roundRect">
              <a:avLst>
                <a:gd name="adj" fmla="val 50000"/>
              </a:avLst>
            </a:prstGeom>
            <a:solidFill>
              <a:srgbClr val="193EB0"/>
            </a:solidFill>
            <a:ln>
              <a:noFill/>
            </a:ln>
          </p:spPr>
          <p:txBody>
            <a:bodyPr spcFirstLastPara="1" wrap="square" lIns="0" tIns="0" rIns="0" bIns="0" anchor="ctr" anchorCtr="0">
              <a:noAutofit/>
            </a:bodyPr>
            <a:lstStyle/>
            <a:p>
              <a:pPr marL="398463" marR="0" lvl="0" indent="-398463" algn="ctr"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Arial"/>
                  <a:ea typeface="Arial"/>
                  <a:cs typeface="Arial"/>
                  <a:sym typeface="Arial"/>
                </a:rPr>
                <a:t> MathWorks, Coursera</a:t>
              </a:r>
              <a:endParaRPr sz="1400" b="0" i="0" u="none" strike="noStrike" cap="none">
                <a:solidFill>
                  <a:srgbClr val="000000"/>
                </a:solidFill>
                <a:latin typeface="Arial"/>
                <a:ea typeface="Arial"/>
                <a:cs typeface="Arial"/>
                <a:sym typeface="Arial"/>
              </a:endParaRPr>
            </a:p>
          </p:txBody>
        </p:sp>
        <p:sp>
          <p:nvSpPr>
            <p:cNvPr id="585" name="Google Shape;585;p20"/>
            <p:cNvSpPr/>
            <p:nvPr/>
          </p:nvSpPr>
          <p:spPr>
            <a:xfrm>
              <a:off x="5697983" y="3443050"/>
              <a:ext cx="799956" cy="799955"/>
            </a:xfrm>
            <a:prstGeom prst="rect">
              <a:avLst/>
            </a:prstGeom>
            <a:solidFill>
              <a:schemeClr val="lt1"/>
            </a:solidFill>
            <a:ln w="1905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6" name="Google Shape;586;p20"/>
            <p:cNvSpPr/>
            <p:nvPr/>
          </p:nvSpPr>
          <p:spPr>
            <a:xfrm>
              <a:off x="5697984" y="4304170"/>
              <a:ext cx="799956"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Cat</a:t>
              </a:r>
              <a:endParaRPr sz="1300" b="0" i="0" u="none" strike="noStrike" cap="none">
                <a:solidFill>
                  <a:srgbClr val="262626"/>
                </a:solidFill>
                <a:latin typeface="Arial"/>
                <a:ea typeface="Arial"/>
                <a:cs typeface="Arial"/>
                <a:sym typeface="Arial"/>
              </a:endParaRPr>
            </a:p>
          </p:txBody>
        </p:sp>
        <p:sp>
          <p:nvSpPr>
            <p:cNvPr id="587" name="Google Shape;587;p20"/>
            <p:cNvSpPr/>
            <p:nvPr/>
          </p:nvSpPr>
          <p:spPr>
            <a:xfrm>
              <a:off x="3268197" y="4934267"/>
              <a:ext cx="1641540"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Mạng nơ-ron (nhân tạo)</a:t>
              </a:r>
              <a:endParaRPr sz="1400" b="0" i="0" u="none" strike="noStrike" cap="none">
                <a:solidFill>
                  <a:srgbClr val="000000"/>
                </a:solidFill>
                <a:latin typeface="Arial"/>
                <a:ea typeface="Arial"/>
                <a:cs typeface="Arial"/>
                <a:sym typeface="Arial"/>
              </a:endParaRPr>
            </a:p>
          </p:txBody>
        </p:sp>
        <p:sp>
          <p:nvSpPr>
            <p:cNvPr id="588" name="Google Shape;588;p20"/>
            <p:cNvSpPr/>
            <p:nvPr/>
          </p:nvSpPr>
          <p:spPr>
            <a:xfrm>
              <a:off x="3933602" y="2542423"/>
              <a:ext cx="1093994" cy="200055"/>
            </a:xfrm>
            <a:prstGeom prst="rect">
              <a:avLst/>
            </a:prstGeom>
            <a:noFill/>
            <a:ln>
              <a:noFill/>
            </a:ln>
          </p:spPr>
          <p:txBody>
            <a:bodyPr spcFirstLastPara="1" wrap="square" lIns="0" tIns="0" rIns="0" bIns="0" anchor="ctr" anchorCtr="0">
              <a:spAutoFit/>
            </a:bodyPr>
            <a:lstStyle/>
            <a:p>
              <a:pPr marL="398463" marR="0" lvl="0" indent="-398463"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Nơ-ron</a:t>
              </a:r>
              <a:endParaRPr sz="1300" b="0" i="0" u="none" strike="noStrike" cap="none">
                <a:solidFill>
                  <a:srgbClr val="262626"/>
                </a:solidFill>
                <a:latin typeface="Arial"/>
                <a:ea typeface="Arial"/>
                <a:cs typeface="Arial"/>
                <a:sym typeface="Arial"/>
              </a:endParaRPr>
            </a:p>
          </p:txBody>
        </p:sp>
        <p:sp>
          <p:nvSpPr>
            <p:cNvPr id="589" name="Google Shape;589;p20"/>
            <p:cNvSpPr/>
            <p:nvPr/>
          </p:nvSpPr>
          <p:spPr>
            <a:xfrm>
              <a:off x="5697983" y="4573030"/>
              <a:ext cx="3513404" cy="100027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none" strike="noStrike" cap="none">
                  <a:solidFill>
                    <a:schemeClr val="dk1"/>
                  </a:solidFill>
                  <a:latin typeface="Arial"/>
                  <a:ea typeface="Arial"/>
                  <a:cs typeface="Arial"/>
                  <a:sym typeface="Arial"/>
                </a:rPr>
                <a:t>Mạng nơ-ron ban đầu được truyền cảm hứng từ bộ não người, những thông tin chi tiết về cách thức hoạt động của các mạng nơ-ron gần như không liên quan đến cách thức hoạt động của não bộ sinh học.</a:t>
              </a:r>
              <a:endParaRPr sz="1400" b="0" i="0" u="none" strike="noStrike" cap="none">
                <a:solidFill>
                  <a:srgbClr val="000000"/>
                </a:solidFill>
                <a:latin typeface="Arial"/>
                <a:ea typeface="Arial"/>
                <a:cs typeface="Arial"/>
                <a:sym typeface="Arial"/>
              </a:endParaRPr>
            </a:p>
          </p:txBody>
        </p:sp>
        <p:grpSp>
          <p:nvGrpSpPr>
            <p:cNvPr id="590" name="Google Shape;590;p20"/>
            <p:cNvGrpSpPr/>
            <p:nvPr/>
          </p:nvGrpSpPr>
          <p:grpSpPr>
            <a:xfrm>
              <a:off x="2729548" y="2628738"/>
              <a:ext cx="840620" cy="1573631"/>
              <a:chOff x="3086061" y="3031707"/>
              <a:chExt cx="840620" cy="1573631"/>
            </a:xfrm>
          </p:grpSpPr>
          <p:cxnSp>
            <p:nvCxnSpPr>
              <p:cNvPr id="591" name="Google Shape;591;p20"/>
              <p:cNvCxnSpPr/>
              <p:nvPr/>
            </p:nvCxnSpPr>
            <p:spPr>
              <a:xfrm>
                <a:off x="3086061" y="3045418"/>
                <a:ext cx="823952" cy="600276"/>
              </a:xfrm>
              <a:prstGeom prst="straightConnector1">
                <a:avLst/>
              </a:prstGeom>
              <a:noFill/>
              <a:ln w="12700" cap="flat" cmpd="sng">
                <a:solidFill>
                  <a:srgbClr val="D0CECE"/>
                </a:solidFill>
                <a:prstDash val="solid"/>
                <a:miter lim="800000"/>
                <a:headEnd type="none" w="sm" len="sm"/>
                <a:tailEnd type="triangle" w="sm" len="sm"/>
              </a:ln>
            </p:spPr>
          </p:cxnSp>
          <p:cxnSp>
            <p:nvCxnSpPr>
              <p:cNvPr id="592" name="Google Shape;592;p20"/>
              <p:cNvCxnSpPr/>
              <p:nvPr/>
            </p:nvCxnSpPr>
            <p:spPr>
              <a:xfrm>
                <a:off x="3086061" y="3031708"/>
                <a:ext cx="823952" cy="942598"/>
              </a:xfrm>
              <a:prstGeom prst="straightConnector1">
                <a:avLst/>
              </a:prstGeom>
              <a:noFill/>
              <a:ln w="12700" cap="flat" cmpd="sng">
                <a:solidFill>
                  <a:srgbClr val="D0CECE"/>
                </a:solidFill>
                <a:prstDash val="solid"/>
                <a:miter lim="800000"/>
                <a:headEnd type="none" w="sm" len="sm"/>
                <a:tailEnd type="triangle" w="sm" len="sm"/>
              </a:ln>
            </p:spPr>
          </p:cxnSp>
          <p:cxnSp>
            <p:nvCxnSpPr>
              <p:cNvPr id="593" name="Google Shape;593;p20"/>
              <p:cNvCxnSpPr/>
              <p:nvPr/>
            </p:nvCxnSpPr>
            <p:spPr>
              <a:xfrm>
                <a:off x="3086061" y="3031707"/>
                <a:ext cx="828714" cy="1264068"/>
              </a:xfrm>
              <a:prstGeom prst="straightConnector1">
                <a:avLst/>
              </a:prstGeom>
              <a:noFill/>
              <a:ln w="12700" cap="flat" cmpd="sng">
                <a:solidFill>
                  <a:srgbClr val="D0CECE"/>
                </a:solidFill>
                <a:prstDash val="solid"/>
                <a:miter lim="800000"/>
                <a:headEnd type="none" w="sm" len="sm"/>
                <a:tailEnd type="triangle" w="sm" len="sm"/>
              </a:ln>
            </p:spPr>
          </p:cxnSp>
          <p:cxnSp>
            <p:nvCxnSpPr>
              <p:cNvPr id="594" name="Google Shape;594;p20"/>
              <p:cNvCxnSpPr/>
              <p:nvPr/>
            </p:nvCxnSpPr>
            <p:spPr>
              <a:xfrm>
                <a:off x="3086061" y="3032570"/>
                <a:ext cx="840620" cy="1572768"/>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595" name="Google Shape;595;p20"/>
            <p:cNvGrpSpPr/>
            <p:nvPr/>
          </p:nvGrpSpPr>
          <p:grpSpPr>
            <a:xfrm rot="10800000" flipH="1">
              <a:off x="2729548" y="3416556"/>
              <a:ext cx="833477" cy="1570626"/>
              <a:chOff x="3086061" y="3031706"/>
              <a:chExt cx="833477" cy="1570626"/>
            </a:xfrm>
          </p:grpSpPr>
          <p:cxnSp>
            <p:nvCxnSpPr>
              <p:cNvPr id="596" name="Google Shape;596;p20"/>
              <p:cNvCxnSpPr/>
              <p:nvPr/>
            </p:nvCxnSpPr>
            <p:spPr>
              <a:xfrm>
                <a:off x="3086061" y="3045418"/>
                <a:ext cx="819189" cy="602033"/>
              </a:xfrm>
              <a:prstGeom prst="straightConnector1">
                <a:avLst/>
              </a:prstGeom>
              <a:noFill/>
              <a:ln w="12700" cap="flat" cmpd="sng">
                <a:solidFill>
                  <a:srgbClr val="D0CECE"/>
                </a:solidFill>
                <a:prstDash val="solid"/>
                <a:miter lim="800000"/>
                <a:headEnd type="none" w="sm" len="sm"/>
                <a:tailEnd type="triangle" w="sm" len="sm"/>
              </a:ln>
            </p:spPr>
          </p:cxnSp>
          <p:cxnSp>
            <p:nvCxnSpPr>
              <p:cNvPr id="597" name="Google Shape;597;p20"/>
              <p:cNvCxnSpPr/>
              <p:nvPr/>
            </p:nvCxnSpPr>
            <p:spPr>
              <a:xfrm>
                <a:off x="3086061" y="3031707"/>
                <a:ext cx="821570" cy="932450"/>
              </a:xfrm>
              <a:prstGeom prst="straightConnector1">
                <a:avLst/>
              </a:prstGeom>
              <a:noFill/>
              <a:ln w="12700" cap="flat" cmpd="sng">
                <a:solidFill>
                  <a:srgbClr val="D0CECE"/>
                </a:solidFill>
                <a:prstDash val="solid"/>
                <a:miter lim="800000"/>
                <a:headEnd type="none" w="sm" len="sm"/>
                <a:tailEnd type="triangle" w="sm" len="sm"/>
              </a:ln>
            </p:spPr>
          </p:cxnSp>
          <p:cxnSp>
            <p:nvCxnSpPr>
              <p:cNvPr id="598" name="Google Shape;598;p20"/>
              <p:cNvCxnSpPr/>
              <p:nvPr/>
            </p:nvCxnSpPr>
            <p:spPr>
              <a:xfrm>
                <a:off x="3086061" y="3031706"/>
                <a:ext cx="831095" cy="1249157"/>
              </a:xfrm>
              <a:prstGeom prst="straightConnector1">
                <a:avLst/>
              </a:prstGeom>
              <a:noFill/>
              <a:ln w="12700" cap="flat" cmpd="sng">
                <a:solidFill>
                  <a:srgbClr val="D0CECE"/>
                </a:solidFill>
                <a:prstDash val="solid"/>
                <a:miter lim="800000"/>
                <a:headEnd type="none" w="sm" len="sm"/>
                <a:tailEnd type="triangle" w="sm" len="sm"/>
              </a:ln>
            </p:spPr>
          </p:cxnSp>
          <p:cxnSp>
            <p:nvCxnSpPr>
              <p:cNvPr id="599" name="Google Shape;599;p20"/>
              <p:cNvCxnSpPr/>
              <p:nvPr/>
            </p:nvCxnSpPr>
            <p:spPr>
              <a:xfrm>
                <a:off x="3086061" y="3032570"/>
                <a:ext cx="833477" cy="1569762"/>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00" name="Google Shape;600;p20"/>
            <p:cNvGrpSpPr/>
            <p:nvPr/>
          </p:nvGrpSpPr>
          <p:grpSpPr>
            <a:xfrm>
              <a:off x="2780661" y="3280857"/>
              <a:ext cx="768200" cy="975122"/>
              <a:chOff x="3137174" y="3683826"/>
              <a:chExt cx="768200" cy="975122"/>
            </a:xfrm>
          </p:grpSpPr>
          <p:cxnSp>
            <p:nvCxnSpPr>
              <p:cNvPr id="601" name="Google Shape;601;p20"/>
              <p:cNvCxnSpPr>
                <a:stCxn id="602" idx="3"/>
              </p:cNvCxnSpPr>
              <p:nvPr/>
            </p:nvCxnSpPr>
            <p:spPr>
              <a:xfrm>
                <a:off x="3137174" y="3793626"/>
                <a:ext cx="744300" cy="240300"/>
              </a:xfrm>
              <a:prstGeom prst="straightConnector1">
                <a:avLst/>
              </a:prstGeom>
              <a:noFill/>
              <a:ln w="12700" cap="flat" cmpd="sng">
                <a:solidFill>
                  <a:srgbClr val="D0CECE"/>
                </a:solidFill>
                <a:prstDash val="solid"/>
                <a:miter lim="800000"/>
                <a:headEnd type="none" w="sm" len="sm"/>
                <a:tailEnd type="triangle" w="sm" len="sm"/>
              </a:ln>
            </p:spPr>
          </p:cxnSp>
          <p:cxnSp>
            <p:nvCxnSpPr>
              <p:cNvPr id="603" name="Google Shape;603;p20"/>
              <p:cNvCxnSpPr>
                <a:stCxn id="602" idx="3"/>
              </p:cNvCxnSpPr>
              <p:nvPr/>
            </p:nvCxnSpPr>
            <p:spPr>
              <a:xfrm rot="10800000" flipH="1">
                <a:off x="3137174" y="3683826"/>
                <a:ext cx="758700" cy="109800"/>
              </a:xfrm>
              <a:prstGeom prst="straightConnector1">
                <a:avLst/>
              </a:prstGeom>
              <a:noFill/>
              <a:ln w="12700" cap="flat" cmpd="sng">
                <a:solidFill>
                  <a:srgbClr val="D0CECE"/>
                </a:solidFill>
                <a:prstDash val="solid"/>
                <a:miter lim="800000"/>
                <a:headEnd type="none" w="sm" len="sm"/>
                <a:tailEnd type="triangle" w="sm" len="sm"/>
              </a:ln>
            </p:spPr>
          </p:cxnSp>
          <p:cxnSp>
            <p:nvCxnSpPr>
              <p:cNvPr id="604" name="Google Shape;604;p20"/>
              <p:cNvCxnSpPr/>
              <p:nvPr/>
            </p:nvCxnSpPr>
            <p:spPr>
              <a:xfrm>
                <a:off x="3137174" y="3793626"/>
                <a:ext cx="753789" cy="549774"/>
              </a:xfrm>
              <a:prstGeom prst="straightConnector1">
                <a:avLst/>
              </a:prstGeom>
              <a:noFill/>
              <a:ln w="12700" cap="flat" cmpd="sng">
                <a:solidFill>
                  <a:srgbClr val="D0CECE"/>
                </a:solidFill>
                <a:prstDash val="solid"/>
                <a:miter lim="800000"/>
                <a:headEnd type="none" w="sm" len="sm"/>
                <a:tailEnd type="triangle" w="sm" len="sm"/>
              </a:ln>
            </p:spPr>
          </p:cxnSp>
          <p:cxnSp>
            <p:nvCxnSpPr>
              <p:cNvPr id="605" name="Google Shape;605;p20"/>
              <p:cNvCxnSpPr/>
              <p:nvPr/>
            </p:nvCxnSpPr>
            <p:spPr>
              <a:xfrm>
                <a:off x="3137174" y="3793626"/>
                <a:ext cx="768200" cy="865322"/>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06" name="Google Shape;606;p20"/>
            <p:cNvGrpSpPr/>
            <p:nvPr/>
          </p:nvGrpSpPr>
          <p:grpSpPr>
            <a:xfrm rot="10800000" flipH="1">
              <a:off x="2774875" y="3347500"/>
              <a:ext cx="768200" cy="962713"/>
              <a:chOff x="3137174" y="3716895"/>
              <a:chExt cx="768200" cy="962713"/>
            </a:xfrm>
          </p:grpSpPr>
          <p:cxnSp>
            <p:nvCxnSpPr>
              <p:cNvPr id="607" name="Google Shape;607;p20"/>
              <p:cNvCxnSpPr/>
              <p:nvPr/>
            </p:nvCxnSpPr>
            <p:spPr>
              <a:xfrm>
                <a:off x="3137174" y="3793626"/>
                <a:ext cx="761956" cy="245426"/>
              </a:xfrm>
              <a:prstGeom prst="straightConnector1">
                <a:avLst/>
              </a:prstGeom>
              <a:noFill/>
              <a:ln w="12700" cap="flat" cmpd="sng">
                <a:solidFill>
                  <a:srgbClr val="D0CECE"/>
                </a:solidFill>
                <a:prstDash val="solid"/>
                <a:miter lim="800000"/>
                <a:headEnd type="none" w="sm" len="sm"/>
                <a:tailEnd type="triangle" w="sm" len="sm"/>
              </a:ln>
            </p:spPr>
          </p:cxnSp>
          <p:cxnSp>
            <p:nvCxnSpPr>
              <p:cNvPr id="608" name="Google Shape;608;p20"/>
              <p:cNvCxnSpPr/>
              <p:nvPr/>
            </p:nvCxnSpPr>
            <p:spPr>
              <a:xfrm rot="10800000" flipH="1">
                <a:off x="3137174" y="3716895"/>
                <a:ext cx="768200" cy="76731"/>
              </a:xfrm>
              <a:prstGeom prst="straightConnector1">
                <a:avLst/>
              </a:prstGeom>
              <a:noFill/>
              <a:ln w="12700" cap="flat" cmpd="sng">
                <a:solidFill>
                  <a:srgbClr val="D0CECE"/>
                </a:solidFill>
                <a:prstDash val="solid"/>
                <a:miter lim="800000"/>
                <a:headEnd type="none" w="sm" len="sm"/>
                <a:tailEnd type="triangle" w="sm" len="sm"/>
              </a:ln>
            </p:spPr>
          </p:cxnSp>
          <p:cxnSp>
            <p:nvCxnSpPr>
              <p:cNvPr id="609" name="Google Shape;609;p20"/>
              <p:cNvCxnSpPr/>
              <p:nvPr/>
            </p:nvCxnSpPr>
            <p:spPr>
              <a:xfrm>
                <a:off x="3137174" y="3793626"/>
                <a:ext cx="757193" cy="557370"/>
              </a:xfrm>
              <a:prstGeom prst="straightConnector1">
                <a:avLst/>
              </a:prstGeom>
              <a:noFill/>
              <a:ln w="12700" cap="flat" cmpd="sng">
                <a:solidFill>
                  <a:srgbClr val="D0CECE"/>
                </a:solidFill>
                <a:prstDash val="solid"/>
                <a:miter lim="800000"/>
                <a:headEnd type="none" w="sm" len="sm"/>
                <a:tailEnd type="triangle" w="sm" len="sm"/>
              </a:ln>
            </p:spPr>
          </p:cxnSp>
          <p:cxnSp>
            <p:nvCxnSpPr>
              <p:cNvPr id="610" name="Google Shape;610;p20"/>
              <p:cNvCxnSpPr/>
              <p:nvPr/>
            </p:nvCxnSpPr>
            <p:spPr>
              <a:xfrm>
                <a:off x="3137174" y="3793626"/>
                <a:ext cx="764337" cy="885982"/>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11" name="Google Shape;611;p20"/>
            <p:cNvGrpSpPr/>
            <p:nvPr/>
          </p:nvGrpSpPr>
          <p:grpSpPr>
            <a:xfrm>
              <a:off x="2108690" y="2353506"/>
              <a:ext cx="671971" cy="2921932"/>
              <a:chOff x="2465203" y="2808868"/>
              <a:chExt cx="671971" cy="2921932"/>
            </a:xfrm>
          </p:grpSpPr>
          <p:grpSp>
            <p:nvGrpSpPr>
              <p:cNvPr id="612" name="Google Shape;612;p20"/>
              <p:cNvGrpSpPr/>
              <p:nvPr/>
            </p:nvGrpSpPr>
            <p:grpSpPr>
              <a:xfrm>
                <a:off x="2465203" y="2808868"/>
                <a:ext cx="671971" cy="665095"/>
                <a:chOff x="129476" y="3783237"/>
                <a:chExt cx="831653" cy="823143"/>
              </a:xfrm>
            </p:grpSpPr>
            <p:sp>
              <p:nvSpPr>
                <p:cNvPr id="613" name="Google Shape;613;p20"/>
                <p:cNvSpPr/>
                <p:nvPr/>
              </p:nvSpPr>
              <p:spPr>
                <a:xfrm>
                  <a:off x="255994" y="3783237"/>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20"/>
                <p:cNvSpPr/>
                <p:nvPr/>
              </p:nvSpPr>
              <p:spPr>
                <a:xfrm>
                  <a:off x="192735" y="3842242"/>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20"/>
                <p:cNvSpPr/>
                <p:nvPr/>
              </p:nvSpPr>
              <p:spPr>
                <a:xfrm>
                  <a:off x="129476" y="390124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616" name="Google Shape;616;p20"/>
              <p:cNvGrpSpPr/>
              <p:nvPr/>
            </p:nvGrpSpPr>
            <p:grpSpPr>
              <a:xfrm>
                <a:off x="2465203" y="3561147"/>
                <a:ext cx="671971" cy="665095"/>
                <a:chOff x="129476" y="2867806"/>
                <a:chExt cx="831653" cy="823143"/>
              </a:xfrm>
            </p:grpSpPr>
            <p:sp>
              <p:nvSpPr>
                <p:cNvPr id="602" name="Google Shape;602;p20"/>
                <p:cNvSpPr/>
                <p:nvPr/>
              </p:nvSpPr>
              <p:spPr>
                <a:xfrm>
                  <a:off x="255994" y="286780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20"/>
                <p:cNvSpPr/>
                <p:nvPr/>
              </p:nvSpPr>
              <p:spPr>
                <a:xfrm>
                  <a:off x="192735" y="2926811"/>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20"/>
                <p:cNvSpPr/>
                <p:nvPr/>
              </p:nvSpPr>
              <p:spPr>
                <a:xfrm>
                  <a:off x="129476" y="2985815"/>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619" name="Google Shape;619;p20"/>
              <p:cNvGrpSpPr/>
              <p:nvPr/>
            </p:nvGrpSpPr>
            <p:grpSpPr>
              <a:xfrm>
                <a:off x="2465203" y="4313426"/>
                <a:ext cx="671971" cy="665095"/>
                <a:chOff x="129476" y="3783237"/>
                <a:chExt cx="831653" cy="823143"/>
              </a:xfrm>
            </p:grpSpPr>
            <p:sp>
              <p:nvSpPr>
                <p:cNvPr id="620" name="Google Shape;620;p20"/>
                <p:cNvSpPr/>
                <p:nvPr/>
              </p:nvSpPr>
              <p:spPr>
                <a:xfrm>
                  <a:off x="255994" y="3783237"/>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20"/>
                <p:cNvSpPr/>
                <p:nvPr/>
              </p:nvSpPr>
              <p:spPr>
                <a:xfrm>
                  <a:off x="192735" y="3842242"/>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20"/>
                <p:cNvSpPr/>
                <p:nvPr/>
              </p:nvSpPr>
              <p:spPr>
                <a:xfrm>
                  <a:off x="129476" y="390124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623" name="Google Shape;623;p20"/>
              <p:cNvGrpSpPr/>
              <p:nvPr/>
            </p:nvGrpSpPr>
            <p:grpSpPr>
              <a:xfrm>
                <a:off x="2465203" y="5065705"/>
                <a:ext cx="671971" cy="665095"/>
                <a:chOff x="129476" y="2867806"/>
                <a:chExt cx="831653" cy="823143"/>
              </a:xfrm>
            </p:grpSpPr>
            <p:sp>
              <p:nvSpPr>
                <p:cNvPr id="624" name="Google Shape;624;p20"/>
                <p:cNvSpPr/>
                <p:nvPr/>
              </p:nvSpPr>
              <p:spPr>
                <a:xfrm>
                  <a:off x="255994" y="2867806"/>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20"/>
                <p:cNvSpPr/>
                <p:nvPr/>
              </p:nvSpPr>
              <p:spPr>
                <a:xfrm>
                  <a:off x="192735" y="2926811"/>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20"/>
                <p:cNvSpPr/>
                <p:nvPr/>
              </p:nvSpPr>
              <p:spPr>
                <a:xfrm>
                  <a:off x="129476" y="2985815"/>
                  <a:ext cx="705135" cy="705134"/>
                </a:xfrm>
                <a:prstGeom prst="rect">
                  <a:avLst/>
                </a:prstGeom>
                <a:solidFill>
                  <a:schemeClr val="lt1"/>
                </a:solidFill>
                <a:ln w="12700" cap="flat" cmpd="sng">
                  <a:solidFill>
                    <a:srgbClr val="D0CEC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nvGrpSpPr>
            <p:cNvPr id="627" name="Google Shape;627;p20"/>
            <p:cNvGrpSpPr/>
            <p:nvPr/>
          </p:nvGrpSpPr>
          <p:grpSpPr>
            <a:xfrm>
              <a:off x="3758460" y="3313926"/>
              <a:ext cx="421308" cy="883680"/>
              <a:chOff x="4114972" y="3716895"/>
              <a:chExt cx="421309" cy="883680"/>
            </a:xfrm>
          </p:grpSpPr>
          <p:cxnSp>
            <p:nvCxnSpPr>
              <p:cNvPr id="628" name="Google Shape;628;p20"/>
              <p:cNvCxnSpPr/>
              <p:nvPr/>
            </p:nvCxnSpPr>
            <p:spPr>
              <a:xfrm>
                <a:off x="4114992" y="3716895"/>
                <a:ext cx="379539" cy="0"/>
              </a:xfrm>
              <a:prstGeom prst="straightConnector1">
                <a:avLst/>
              </a:prstGeom>
              <a:noFill/>
              <a:ln w="12700" cap="flat" cmpd="sng">
                <a:solidFill>
                  <a:srgbClr val="D0CECE"/>
                </a:solidFill>
                <a:prstDash val="solid"/>
                <a:miter lim="800000"/>
                <a:headEnd type="none" w="sm" len="sm"/>
                <a:tailEnd type="triangle" w="sm" len="sm"/>
              </a:ln>
            </p:spPr>
          </p:cxnSp>
          <p:cxnSp>
            <p:nvCxnSpPr>
              <p:cNvPr id="629" name="Google Shape;629;p20"/>
              <p:cNvCxnSpPr/>
              <p:nvPr/>
            </p:nvCxnSpPr>
            <p:spPr>
              <a:xfrm>
                <a:off x="4130550" y="3716895"/>
                <a:ext cx="372394" cy="257411"/>
              </a:xfrm>
              <a:prstGeom prst="straightConnector1">
                <a:avLst/>
              </a:prstGeom>
              <a:noFill/>
              <a:ln w="12700" cap="flat" cmpd="sng">
                <a:solidFill>
                  <a:srgbClr val="D0CECE"/>
                </a:solidFill>
                <a:prstDash val="solid"/>
                <a:miter lim="800000"/>
                <a:headEnd type="none" w="sm" len="sm"/>
                <a:tailEnd type="triangle" w="sm" len="sm"/>
              </a:ln>
            </p:spPr>
          </p:cxnSp>
          <p:cxnSp>
            <p:nvCxnSpPr>
              <p:cNvPr id="630" name="Google Shape;630;p20"/>
              <p:cNvCxnSpPr>
                <a:endCxn id="631" idx="1"/>
              </p:cNvCxnSpPr>
              <p:nvPr/>
            </p:nvCxnSpPr>
            <p:spPr>
              <a:xfrm>
                <a:off x="4114972" y="3717020"/>
                <a:ext cx="419100" cy="574800"/>
              </a:xfrm>
              <a:prstGeom prst="straightConnector1">
                <a:avLst/>
              </a:prstGeom>
              <a:noFill/>
              <a:ln w="12700" cap="flat" cmpd="sng">
                <a:solidFill>
                  <a:srgbClr val="D0CECE"/>
                </a:solidFill>
                <a:prstDash val="solid"/>
                <a:miter lim="800000"/>
                <a:headEnd type="none" w="sm" len="sm"/>
                <a:tailEnd type="triangle" w="sm" len="sm"/>
              </a:ln>
            </p:spPr>
          </p:cxnSp>
          <p:cxnSp>
            <p:nvCxnSpPr>
              <p:cNvPr id="632" name="Google Shape;632;p20"/>
              <p:cNvCxnSpPr/>
              <p:nvPr/>
            </p:nvCxnSpPr>
            <p:spPr>
              <a:xfrm>
                <a:off x="4130550" y="3734446"/>
                <a:ext cx="405731" cy="866129"/>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33" name="Google Shape;633;p20"/>
            <p:cNvGrpSpPr/>
            <p:nvPr/>
          </p:nvGrpSpPr>
          <p:grpSpPr>
            <a:xfrm rot="10800000" flipH="1">
              <a:off x="3761677" y="3419833"/>
              <a:ext cx="419080" cy="905634"/>
              <a:chOff x="4114992" y="3716894"/>
              <a:chExt cx="419080" cy="905634"/>
            </a:xfrm>
          </p:grpSpPr>
          <p:cxnSp>
            <p:nvCxnSpPr>
              <p:cNvPr id="634" name="Google Shape;634;p20"/>
              <p:cNvCxnSpPr/>
              <p:nvPr/>
            </p:nvCxnSpPr>
            <p:spPr>
              <a:xfrm>
                <a:off x="4114992" y="3716895"/>
                <a:ext cx="379539" cy="0"/>
              </a:xfrm>
              <a:prstGeom prst="straightConnector1">
                <a:avLst/>
              </a:prstGeom>
              <a:noFill/>
              <a:ln w="12700" cap="flat" cmpd="sng">
                <a:solidFill>
                  <a:srgbClr val="D0CECE"/>
                </a:solidFill>
                <a:prstDash val="solid"/>
                <a:miter lim="800000"/>
                <a:headEnd type="none" w="sm" len="sm"/>
                <a:tailEnd type="triangle" w="sm" len="sm"/>
              </a:ln>
            </p:spPr>
          </p:cxnSp>
          <p:cxnSp>
            <p:nvCxnSpPr>
              <p:cNvPr id="635" name="Google Shape;635;p20"/>
              <p:cNvCxnSpPr/>
              <p:nvPr/>
            </p:nvCxnSpPr>
            <p:spPr>
              <a:xfrm>
                <a:off x="4130550" y="3716895"/>
                <a:ext cx="364433" cy="273116"/>
              </a:xfrm>
              <a:prstGeom prst="straightConnector1">
                <a:avLst/>
              </a:prstGeom>
              <a:noFill/>
              <a:ln w="12700" cap="flat" cmpd="sng">
                <a:solidFill>
                  <a:srgbClr val="D0CECE"/>
                </a:solidFill>
                <a:prstDash val="solid"/>
                <a:miter lim="800000"/>
                <a:headEnd type="none" w="sm" len="sm"/>
                <a:tailEnd type="triangle" w="sm" len="sm"/>
              </a:ln>
            </p:spPr>
          </p:cxnSp>
          <p:cxnSp>
            <p:nvCxnSpPr>
              <p:cNvPr id="636" name="Google Shape;636;p20"/>
              <p:cNvCxnSpPr/>
              <p:nvPr/>
            </p:nvCxnSpPr>
            <p:spPr>
              <a:xfrm>
                <a:off x="4114992" y="3716894"/>
                <a:ext cx="387135" cy="580298"/>
              </a:xfrm>
              <a:prstGeom prst="straightConnector1">
                <a:avLst/>
              </a:prstGeom>
              <a:noFill/>
              <a:ln w="12700" cap="flat" cmpd="sng">
                <a:solidFill>
                  <a:srgbClr val="D0CECE"/>
                </a:solidFill>
                <a:prstDash val="solid"/>
                <a:miter lim="800000"/>
                <a:headEnd type="none" w="sm" len="sm"/>
                <a:tailEnd type="triangle" w="sm" len="sm"/>
              </a:ln>
            </p:spPr>
          </p:cxnSp>
          <p:cxnSp>
            <p:nvCxnSpPr>
              <p:cNvPr id="637" name="Google Shape;637;p20"/>
              <p:cNvCxnSpPr/>
              <p:nvPr/>
            </p:nvCxnSpPr>
            <p:spPr>
              <a:xfrm>
                <a:off x="4130550" y="3734446"/>
                <a:ext cx="403522" cy="888082"/>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38" name="Google Shape;638;p20"/>
            <p:cNvGrpSpPr/>
            <p:nvPr/>
          </p:nvGrpSpPr>
          <p:grpSpPr>
            <a:xfrm>
              <a:off x="3758477" y="3352291"/>
              <a:ext cx="385573" cy="885796"/>
              <a:chOff x="4114990" y="3755260"/>
              <a:chExt cx="385573" cy="885796"/>
            </a:xfrm>
          </p:grpSpPr>
          <p:cxnSp>
            <p:nvCxnSpPr>
              <p:cNvPr id="639" name="Google Shape;639;p20"/>
              <p:cNvCxnSpPr/>
              <p:nvPr/>
            </p:nvCxnSpPr>
            <p:spPr>
              <a:xfrm>
                <a:off x="4114991" y="4047602"/>
                <a:ext cx="379539" cy="0"/>
              </a:xfrm>
              <a:prstGeom prst="straightConnector1">
                <a:avLst/>
              </a:prstGeom>
              <a:noFill/>
              <a:ln w="12700" cap="flat" cmpd="sng">
                <a:solidFill>
                  <a:srgbClr val="D0CECE"/>
                </a:solidFill>
                <a:prstDash val="solid"/>
                <a:miter lim="800000"/>
                <a:headEnd type="none" w="sm" len="sm"/>
                <a:tailEnd type="triangle" w="sm" len="sm"/>
              </a:ln>
            </p:spPr>
          </p:cxnSp>
          <p:cxnSp>
            <p:nvCxnSpPr>
              <p:cNvPr id="640" name="Google Shape;640;p20"/>
              <p:cNvCxnSpPr/>
              <p:nvPr/>
            </p:nvCxnSpPr>
            <p:spPr>
              <a:xfrm rot="10800000" flipH="1">
                <a:off x="4114990" y="3755260"/>
                <a:ext cx="379539" cy="292342"/>
              </a:xfrm>
              <a:prstGeom prst="straightConnector1">
                <a:avLst/>
              </a:prstGeom>
              <a:noFill/>
              <a:ln w="12700" cap="flat" cmpd="sng">
                <a:solidFill>
                  <a:srgbClr val="D0CECE"/>
                </a:solidFill>
                <a:prstDash val="solid"/>
                <a:miter lim="800000"/>
                <a:headEnd type="none" w="sm" len="sm"/>
                <a:tailEnd type="triangle" w="sm" len="sm"/>
              </a:ln>
            </p:spPr>
          </p:cxnSp>
          <p:cxnSp>
            <p:nvCxnSpPr>
              <p:cNvPr id="641" name="Google Shape;641;p20"/>
              <p:cNvCxnSpPr/>
              <p:nvPr/>
            </p:nvCxnSpPr>
            <p:spPr>
              <a:xfrm>
                <a:off x="4114990" y="4047602"/>
                <a:ext cx="371285" cy="291036"/>
              </a:xfrm>
              <a:prstGeom prst="straightConnector1">
                <a:avLst/>
              </a:prstGeom>
              <a:noFill/>
              <a:ln w="12700" cap="flat" cmpd="sng">
                <a:solidFill>
                  <a:srgbClr val="D0CECE"/>
                </a:solidFill>
                <a:prstDash val="solid"/>
                <a:miter lim="800000"/>
                <a:headEnd type="none" w="sm" len="sm"/>
                <a:tailEnd type="triangle" w="sm" len="sm"/>
              </a:ln>
            </p:spPr>
          </p:cxnSp>
          <p:cxnSp>
            <p:nvCxnSpPr>
              <p:cNvPr id="642" name="Google Shape;642;p20"/>
              <p:cNvCxnSpPr/>
              <p:nvPr/>
            </p:nvCxnSpPr>
            <p:spPr>
              <a:xfrm>
                <a:off x="4114990" y="4056647"/>
                <a:ext cx="385573" cy="584409"/>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43" name="Google Shape;643;p20"/>
            <p:cNvGrpSpPr/>
            <p:nvPr/>
          </p:nvGrpSpPr>
          <p:grpSpPr>
            <a:xfrm rot="10800000" flipH="1">
              <a:off x="3759748" y="3395125"/>
              <a:ext cx="384302" cy="883444"/>
              <a:chOff x="4114990" y="3758657"/>
              <a:chExt cx="384302" cy="883444"/>
            </a:xfrm>
          </p:grpSpPr>
          <p:cxnSp>
            <p:nvCxnSpPr>
              <p:cNvPr id="644" name="Google Shape;644;p20"/>
              <p:cNvCxnSpPr/>
              <p:nvPr/>
            </p:nvCxnSpPr>
            <p:spPr>
              <a:xfrm>
                <a:off x="4114991" y="4047602"/>
                <a:ext cx="379539" cy="0"/>
              </a:xfrm>
              <a:prstGeom prst="straightConnector1">
                <a:avLst/>
              </a:prstGeom>
              <a:noFill/>
              <a:ln w="12700" cap="flat" cmpd="sng">
                <a:solidFill>
                  <a:srgbClr val="D0CECE"/>
                </a:solidFill>
                <a:prstDash val="solid"/>
                <a:miter lim="800000"/>
                <a:headEnd type="none" w="sm" len="sm"/>
                <a:tailEnd type="triangle" w="sm" len="sm"/>
              </a:ln>
            </p:spPr>
          </p:cxnSp>
          <p:cxnSp>
            <p:nvCxnSpPr>
              <p:cNvPr id="645" name="Google Shape;645;p20"/>
              <p:cNvCxnSpPr/>
              <p:nvPr/>
            </p:nvCxnSpPr>
            <p:spPr>
              <a:xfrm rot="10800000" flipH="1">
                <a:off x="4114990" y="3758657"/>
                <a:ext cx="367633" cy="288945"/>
              </a:xfrm>
              <a:prstGeom prst="straightConnector1">
                <a:avLst/>
              </a:prstGeom>
              <a:noFill/>
              <a:ln w="12700" cap="flat" cmpd="sng">
                <a:solidFill>
                  <a:srgbClr val="D0CECE"/>
                </a:solidFill>
                <a:prstDash val="solid"/>
                <a:miter lim="800000"/>
                <a:headEnd type="none" w="sm" len="sm"/>
                <a:tailEnd type="triangle" w="sm" len="sm"/>
              </a:ln>
            </p:spPr>
          </p:cxnSp>
          <p:cxnSp>
            <p:nvCxnSpPr>
              <p:cNvPr id="646" name="Google Shape;646;p20"/>
              <p:cNvCxnSpPr/>
              <p:nvPr/>
            </p:nvCxnSpPr>
            <p:spPr>
              <a:xfrm>
                <a:off x="4114990" y="4047602"/>
                <a:ext cx="367633" cy="292080"/>
              </a:xfrm>
              <a:prstGeom prst="straightConnector1">
                <a:avLst/>
              </a:prstGeom>
              <a:noFill/>
              <a:ln w="12700" cap="flat" cmpd="sng">
                <a:solidFill>
                  <a:srgbClr val="D0CECE"/>
                </a:solidFill>
                <a:prstDash val="solid"/>
                <a:miter lim="800000"/>
                <a:headEnd type="none" w="sm" len="sm"/>
                <a:tailEnd type="triangle" w="sm" len="sm"/>
              </a:ln>
            </p:spPr>
          </p:cxnSp>
          <p:cxnSp>
            <p:nvCxnSpPr>
              <p:cNvPr id="647" name="Google Shape;647;p20"/>
              <p:cNvCxnSpPr/>
              <p:nvPr/>
            </p:nvCxnSpPr>
            <p:spPr>
              <a:xfrm>
                <a:off x="4114990" y="4056647"/>
                <a:ext cx="384302" cy="585454"/>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48" name="Google Shape;648;p20"/>
            <p:cNvGrpSpPr/>
            <p:nvPr/>
          </p:nvGrpSpPr>
          <p:grpSpPr>
            <a:xfrm>
              <a:off x="4273018" y="3331477"/>
              <a:ext cx="349663" cy="542279"/>
              <a:chOff x="4629531" y="3734446"/>
              <a:chExt cx="349663" cy="542279"/>
            </a:xfrm>
          </p:grpSpPr>
          <p:cxnSp>
            <p:nvCxnSpPr>
              <p:cNvPr id="649" name="Google Shape;649;p20"/>
              <p:cNvCxnSpPr/>
              <p:nvPr/>
            </p:nvCxnSpPr>
            <p:spPr>
              <a:xfrm>
                <a:off x="4629531" y="3734446"/>
                <a:ext cx="316325" cy="258910"/>
              </a:xfrm>
              <a:prstGeom prst="straightConnector1">
                <a:avLst/>
              </a:prstGeom>
              <a:noFill/>
              <a:ln w="12700" cap="flat" cmpd="sng">
                <a:solidFill>
                  <a:srgbClr val="D0CECE"/>
                </a:solidFill>
                <a:prstDash val="solid"/>
                <a:miter lim="800000"/>
                <a:headEnd type="none" w="sm" len="sm"/>
                <a:tailEnd type="triangle" w="sm" len="sm"/>
              </a:ln>
            </p:spPr>
          </p:cxnSp>
          <p:cxnSp>
            <p:nvCxnSpPr>
              <p:cNvPr id="650" name="Google Shape;650;p20"/>
              <p:cNvCxnSpPr/>
              <p:nvPr/>
            </p:nvCxnSpPr>
            <p:spPr>
              <a:xfrm>
                <a:off x="4640518" y="3742704"/>
                <a:ext cx="338676" cy="534021"/>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51" name="Google Shape;651;p20"/>
            <p:cNvGrpSpPr/>
            <p:nvPr/>
          </p:nvGrpSpPr>
          <p:grpSpPr>
            <a:xfrm rot="10800000" flipH="1">
              <a:off x="4239429" y="3738025"/>
              <a:ext cx="361821" cy="548513"/>
              <a:chOff x="4629531" y="3734445"/>
              <a:chExt cx="361821" cy="548513"/>
            </a:xfrm>
          </p:grpSpPr>
          <p:cxnSp>
            <p:nvCxnSpPr>
              <p:cNvPr id="652" name="Google Shape;652;p20"/>
              <p:cNvCxnSpPr/>
              <p:nvPr/>
            </p:nvCxnSpPr>
            <p:spPr>
              <a:xfrm>
                <a:off x="4629531" y="3734445"/>
                <a:ext cx="347533" cy="243713"/>
              </a:xfrm>
              <a:prstGeom prst="straightConnector1">
                <a:avLst/>
              </a:prstGeom>
              <a:noFill/>
              <a:ln w="12700" cap="flat" cmpd="sng">
                <a:solidFill>
                  <a:srgbClr val="D0CECE"/>
                </a:solidFill>
                <a:prstDash val="solid"/>
                <a:miter lim="800000"/>
                <a:headEnd type="none" w="sm" len="sm"/>
                <a:tailEnd type="triangle" w="sm" len="sm"/>
              </a:ln>
            </p:spPr>
          </p:cxnSp>
          <p:cxnSp>
            <p:nvCxnSpPr>
              <p:cNvPr id="653" name="Google Shape;653;p20"/>
              <p:cNvCxnSpPr/>
              <p:nvPr/>
            </p:nvCxnSpPr>
            <p:spPr>
              <a:xfrm>
                <a:off x="4640518" y="3742703"/>
                <a:ext cx="350834" cy="540255"/>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54" name="Google Shape;654;p20"/>
            <p:cNvGrpSpPr/>
            <p:nvPr/>
          </p:nvGrpSpPr>
          <p:grpSpPr>
            <a:xfrm>
              <a:off x="4218248" y="3644110"/>
              <a:ext cx="366333" cy="274890"/>
              <a:chOff x="4574761" y="4047079"/>
              <a:chExt cx="366333" cy="274890"/>
            </a:xfrm>
          </p:grpSpPr>
          <p:cxnSp>
            <p:nvCxnSpPr>
              <p:cNvPr id="655" name="Google Shape;655;p20"/>
              <p:cNvCxnSpPr/>
              <p:nvPr/>
            </p:nvCxnSpPr>
            <p:spPr>
              <a:xfrm>
                <a:off x="4574761" y="4047602"/>
                <a:ext cx="356808" cy="0"/>
              </a:xfrm>
              <a:prstGeom prst="straightConnector1">
                <a:avLst/>
              </a:prstGeom>
              <a:noFill/>
              <a:ln w="12700" cap="flat" cmpd="sng">
                <a:solidFill>
                  <a:srgbClr val="D0CECE"/>
                </a:solidFill>
                <a:prstDash val="solid"/>
                <a:miter lim="800000"/>
                <a:headEnd type="none" w="sm" len="sm"/>
                <a:tailEnd type="triangle" w="sm" len="sm"/>
              </a:ln>
            </p:spPr>
          </p:cxnSp>
          <p:cxnSp>
            <p:nvCxnSpPr>
              <p:cNvPr id="656" name="Google Shape;656;p20"/>
              <p:cNvCxnSpPr/>
              <p:nvPr/>
            </p:nvCxnSpPr>
            <p:spPr>
              <a:xfrm>
                <a:off x="4583619" y="4047079"/>
                <a:ext cx="357475" cy="274890"/>
              </a:xfrm>
              <a:prstGeom prst="straightConnector1">
                <a:avLst/>
              </a:prstGeom>
              <a:noFill/>
              <a:ln w="12700" cap="flat" cmpd="sng">
                <a:solidFill>
                  <a:srgbClr val="D0CECE"/>
                </a:solidFill>
                <a:prstDash val="solid"/>
                <a:miter lim="800000"/>
                <a:headEnd type="none" w="sm" len="sm"/>
                <a:tailEnd type="triangle" w="sm" len="sm"/>
              </a:ln>
            </p:spPr>
          </p:cxnSp>
        </p:grpSp>
        <p:grpSp>
          <p:nvGrpSpPr>
            <p:cNvPr id="657" name="Google Shape;657;p20"/>
            <p:cNvGrpSpPr/>
            <p:nvPr/>
          </p:nvGrpSpPr>
          <p:grpSpPr>
            <a:xfrm rot="10800000" flipH="1">
              <a:off x="4212059" y="3704687"/>
              <a:ext cx="365378" cy="290690"/>
              <a:chOff x="4574761" y="4047078"/>
              <a:chExt cx="365378" cy="290690"/>
            </a:xfrm>
          </p:grpSpPr>
          <p:cxnSp>
            <p:nvCxnSpPr>
              <p:cNvPr id="658" name="Google Shape;658;p20"/>
              <p:cNvCxnSpPr/>
              <p:nvPr/>
            </p:nvCxnSpPr>
            <p:spPr>
              <a:xfrm>
                <a:off x="4574761" y="4047602"/>
                <a:ext cx="365378" cy="0"/>
              </a:xfrm>
              <a:prstGeom prst="straightConnector1">
                <a:avLst/>
              </a:prstGeom>
              <a:noFill/>
              <a:ln w="12700" cap="flat" cmpd="sng">
                <a:solidFill>
                  <a:srgbClr val="D0CECE"/>
                </a:solidFill>
                <a:prstDash val="solid"/>
                <a:miter lim="800000"/>
                <a:headEnd type="none" w="sm" len="sm"/>
                <a:tailEnd type="triangle" w="sm" len="sm"/>
              </a:ln>
            </p:spPr>
          </p:cxnSp>
          <p:cxnSp>
            <p:nvCxnSpPr>
              <p:cNvPr id="659" name="Google Shape;659;p20"/>
              <p:cNvCxnSpPr/>
              <p:nvPr/>
            </p:nvCxnSpPr>
            <p:spPr>
              <a:xfrm>
                <a:off x="4583619" y="4047078"/>
                <a:ext cx="356520" cy="290690"/>
              </a:xfrm>
              <a:prstGeom prst="straightConnector1">
                <a:avLst/>
              </a:prstGeom>
              <a:noFill/>
              <a:ln w="12700" cap="flat" cmpd="sng">
                <a:solidFill>
                  <a:srgbClr val="D0CECE"/>
                </a:solidFill>
                <a:prstDash val="solid"/>
                <a:miter lim="800000"/>
                <a:headEnd type="none" w="sm" len="sm"/>
                <a:tailEnd type="triangle" w="sm" len="sm"/>
              </a:ln>
            </p:spPr>
          </p:cxnSp>
        </p:grpSp>
        <p:cxnSp>
          <p:nvCxnSpPr>
            <p:cNvPr id="660" name="Google Shape;660;p20"/>
            <p:cNvCxnSpPr/>
            <p:nvPr/>
          </p:nvCxnSpPr>
          <p:spPr>
            <a:xfrm>
              <a:off x="4734091" y="3644110"/>
              <a:ext cx="331106" cy="131408"/>
            </a:xfrm>
            <a:prstGeom prst="straightConnector1">
              <a:avLst/>
            </a:prstGeom>
            <a:noFill/>
            <a:ln w="12700" cap="flat" cmpd="sng">
              <a:solidFill>
                <a:srgbClr val="D0CECE"/>
              </a:solidFill>
              <a:prstDash val="solid"/>
              <a:miter lim="800000"/>
              <a:headEnd type="none" w="sm" len="sm"/>
              <a:tailEnd type="triangle" w="sm" len="sm"/>
            </a:ln>
          </p:spPr>
        </p:cxnSp>
        <p:cxnSp>
          <p:nvCxnSpPr>
            <p:cNvPr id="661" name="Google Shape;661;p20"/>
            <p:cNvCxnSpPr/>
            <p:nvPr/>
          </p:nvCxnSpPr>
          <p:spPr>
            <a:xfrm rot="10800000" flipH="1">
              <a:off x="4734091" y="3843538"/>
              <a:ext cx="331106" cy="149024"/>
            </a:xfrm>
            <a:prstGeom prst="straightConnector1">
              <a:avLst/>
            </a:prstGeom>
            <a:noFill/>
            <a:ln w="12700" cap="flat" cmpd="sng">
              <a:solidFill>
                <a:srgbClr val="D0CECE"/>
              </a:solidFill>
              <a:prstDash val="solid"/>
              <a:miter lim="800000"/>
              <a:headEnd type="none" w="sm" len="sm"/>
              <a:tailEnd type="triangle" w="sm" len="sm"/>
            </a:ln>
          </p:spPr>
        </p:cxnSp>
        <p:cxnSp>
          <p:nvCxnSpPr>
            <p:cNvPr id="662" name="Google Shape;662;p20"/>
            <p:cNvCxnSpPr/>
            <p:nvPr/>
          </p:nvCxnSpPr>
          <p:spPr>
            <a:xfrm>
              <a:off x="5251351" y="3823318"/>
              <a:ext cx="379539" cy="0"/>
            </a:xfrm>
            <a:prstGeom prst="straightConnector1">
              <a:avLst/>
            </a:prstGeom>
            <a:noFill/>
            <a:ln w="12700" cap="flat" cmpd="sng">
              <a:solidFill>
                <a:srgbClr val="AEABAB"/>
              </a:solidFill>
              <a:prstDash val="solid"/>
              <a:miter lim="800000"/>
              <a:headEnd type="none" w="sm" len="sm"/>
              <a:tailEnd type="triangle" w="sm" len="sm"/>
            </a:ln>
          </p:spPr>
        </p:cxnSp>
        <p:grpSp>
          <p:nvGrpSpPr>
            <p:cNvPr id="663" name="Google Shape;663;p20"/>
            <p:cNvGrpSpPr/>
            <p:nvPr/>
          </p:nvGrpSpPr>
          <p:grpSpPr>
            <a:xfrm>
              <a:off x="3548861" y="3178926"/>
              <a:ext cx="1786336" cy="1271092"/>
              <a:chOff x="3905374" y="3584392"/>
              <a:chExt cx="1786336" cy="1271092"/>
            </a:xfrm>
          </p:grpSpPr>
          <p:sp>
            <p:nvSpPr>
              <p:cNvPr id="664" name="Google Shape;664;p20"/>
              <p:cNvSpPr/>
              <p:nvPr/>
            </p:nvSpPr>
            <p:spPr>
              <a:xfrm>
                <a:off x="3905374" y="3584392"/>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20"/>
              <p:cNvSpPr/>
              <p:nvPr/>
            </p:nvSpPr>
            <p:spPr>
              <a:xfrm>
                <a:off x="3905374" y="3915099"/>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20"/>
              <p:cNvSpPr/>
              <p:nvPr/>
            </p:nvSpPr>
            <p:spPr>
              <a:xfrm>
                <a:off x="3905374" y="4245806"/>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20"/>
              <p:cNvSpPr/>
              <p:nvPr/>
            </p:nvSpPr>
            <p:spPr>
              <a:xfrm>
                <a:off x="3905374" y="4576514"/>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20"/>
              <p:cNvSpPr/>
              <p:nvPr/>
            </p:nvSpPr>
            <p:spPr>
              <a:xfrm>
                <a:off x="4494531" y="3593362"/>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20"/>
              <p:cNvSpPr/>
              <p:nvPr/>
            </p:nvSpPr>
            <p:spPr>
              <a:xfrm>
                <a:off x="4494531" y="3924069"/>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20"/>
              <p:cNvSpPr/>
              <p:nvPr/>
            </p:nvSpPr>
            <p:spPr>
              <a:xfrm>
                <a:off x="4494531" y="4254776"/>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20"/>
              <p:cNvSpPr/>
              <p:nvPr/>
            </p:nvSpPr>
            <p:spPr>
              <a:xfrm>
                <a:off x="4494531" y="4585484"/>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20"/>
              <p:cNvSpPr/>
              <p:nvPr/>
            </p:nvSpPr>
            <p:spPr>
              <a:xfrm>
                <a:off x="4945460" y="3922718"/>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20"/>
              <p:cNvSpPr/>
              <p:nvPr/>
            </p:nvSpPr>
            <p:spPr>
              <a:xfrm>
                <a:off x="4945460" y="4255937"/>
                <a:ext cx="270000" cy="270000"/>
              </a:xfrm>
              <a:prstGeom prst="ellipse">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20"/>
              <p:cNvSpPr/>
              <p:nvPr/>
            </p:nvSpPr>
            <p:spPr>
              <a:xfrm>
                <a:off x="5421710" y="4089327"/>
                <a:ext cx="270000" cy="270000"/>
              </a:xfrm>
              <a:prstGeom prst="ellipse">
                <a:avLst/>
              </a:prstGeom>
              <a:solidFill>
                <a:srgbClr val="0077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20"/>
            <p:cNvSpPr/>
            <p:nvPr/>
          </p:nvSpPr>
          <p:spPr>
            <a:xfrm>
              <a:off x="3114444" y="3088956"/>
              <a:ext cx="2326677" cy="1476871"/>
            </a:xfrm>
            <a:prstGeom prst="roundRect">
              <a:avLst>
                <a:gd name="adj" fmla="val 16667"/>
              </a:avLst>
            </a:prstGeom>
            <a:noFill/>
            <a:ln w="25400" cap="flat" cmpd="sng">
              <a:solidFill>
                <a:srgbClr val="0077C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675" name="Google Shape;675;p20"/>
            <p:cNvCxnSpPr/>
            <p:nvPr/>
          </p:nvCxnSpPr>
          <p:spPr>
            <a:xfrm rot="5400000">
              <a:off x="4130798" y="2896751"/>
              <a:ext cx="457926" cy="192970"/>
            </a:xfrm>
            <a:prstGeom prst="bentConnector3">
              <a:avLst>
                <a:gd name="adj1" fmla="val 34275"/>
              </a:avLst>
            </a:prstGeom>
            <a:noFill/>
            <a:ln w="9525" cap="flat" cmpd="sng">
              <a:solidFill>
                <a:schemeClr val="dk1"/>
              </a:solidFill>
              <a:prstDash val="solid"/>
              <a:miter lim="800000"/>
              <a:headEnd type="none" w="sm" len="sm"/>
              <a:tailEnd type="triangle" w="med" len="med"/>
            </a:ln>
          </p:spPr>
        </p:cxnSp>
        <p:cxnSp>
          <p:nvCxnSpPr>
            <p:cNvPr id="676" name="Google Shape;676;p20"/>
            <p:cNvCxnSpPr/>
            <p:nvPr/>
          </p:nvCxnSpPr>
          <p:spPr>
            <a:xfrm flipH="1">
              <a:off x="5396588" y="2948620"/>
              <a:ext cx="693403" cy="258386"/>
            </a:xfrm>
            <a:prstGeom prst="bentConnector3">
              <a:avLst>
                <a:gd name="adj1" fmla="val 50000"/>
              </a:avLst>
            </a:prstGeom>
            <a:noFill/>
            <a:ln w="9525" cap="flat" cmpd="sng">
              <a:solidFill>
                <a:schemeClr val="dk1"/>
              </a:solidFill>
              <a:prstDash val="solid"/>
              <a:miter lim="800000"/>
              <a:headEnd type="none" w="sm" len="sm"/>
              <a:tailEnd type="triangle" w="med" len="med"/>
            </a:ln>
          </p:spPr>
        </p:cxnSp>
        <p:sp>
          <p:nvSpPr>
            <p:cNvPr id="677" name="Google Shape;677;p20"/>
            <p:cNvSpPr/>
            <p:nvPr/>
          </p:nvSpPr>
          <p:spPr>
            <a:xfrm>
              <a:off x="5927698" y="2823222"/>
              <a:ext cx="1976042" cy="200055"/>
            </a:xfrm>
            <a:prstGeom prst="rect">
              <a:avLst/>
            </a:prstGeom>
            <a:solidFill>
              <a:schemeClr val="lt1"/>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62626"/>
                  </a:solidFill>
                  <a:latin typeface="Arial"/>
                  <a:ea typeface="Arial"/>
                  <a:cs typeface="Arial"/>
                  <a:sym typeface="Arial"/>
                </a:rPr>
                <a:t>Phương trình toán học lớn</a:t>
              </a:r>
              <a:endParaRPr sz="1400" b="0" i="0" u="none" strike="noStrike" cap="none">
                <a:solidFill>
                  <a:srgbClr val="000000"/>
                </a:solidFill>
                <a:latin typeface="Arial"/>
                <a:ea typeface="Arial"/>
                <a:cs typeface="Arial"/>
                <a:sym typeface="Arial"/>
              </a:endParaRPr>
            </a:p>
          </p:txBody>
        </p:sp>
        <p:sp>
          <p:nvSpPr>
            <p:cNvPr id="678" name="Google Shape;678;p20"/>
            <p:cNvSpPr/>
            <p:nvPr/>
          </p:nvSpPr>
          <p:spPr>
            <a:xfrm rot="5400000">
              <a:off x="4159423" y="3559516"/>
              <a:ext cx="236719" cy="2326676"/>
            </a:xfrm>
            <a:custGeom>
              <a:avLst/>
              <a:gdLst/>
              <a:ahLst/>
              <a:cxnLst/>
              <a:rect l="l" t="t" r="r" b="b"/>
              <a:pathLst>
                <a:path w="236719" h="2326676" extrusionOk="0">
                  <a:moveTo>
                    <a:pt x="1" y="2326676"/>
                  </a:moveTo>
                  <a:cubicBezTo>
                    <a:pt x="1" y="1551117"/>
                    <a:pt x="0" y="775559"/>
                    <a:pt x="0" y="0"/>
                  </a:cubicBezTo>
                  <a:cubicBezTo>
                    <a:pt x="65368" y="0"/>
                    <a:pt x="118359" y="52991"/>
                    <a:pt x="118359" y="118359"/>
                  </a:cubicBezTo>
                  <a:cubicBezTo>
                    <a:pt x="118359" y="427232"/>
                    <a:pt x="118360" y="736106"/>
                    <a:pt x="118360" y="1044979"/>
                  </a:cubicBezTo>
                  <a:cubicBezTo>
                    <a:pt x="118360" y="1110347"/>
                    <a:pt x="171351" y="1163338"/>
                    <a:pt x="236719" y="1163338"/>
                  </a:cubicBezTo>
                  <a:cubicBezTo>
                    <a:pt x="171351" y="1163338"/>
                    <a:pt x="118360" y="1216329"/>
                    <a:pt x="118360" y="1281697"/>
                  </a:cubicBezTo>
                  <a:lnTo>
                    <a:pt x="118360" y="2208317"/>
                  </a:lnTo>
                  <a:cubicBezTo>
                    <a:pt x="118360" y="2273685"/>
                    <a:pt x="65369" y="2326676"/>
                    <a:pt x="1" y="2326676"/>
                  </a:cubicBezTo>
                  <a:close/>
                </a:path>
                <a:path w="236719" h="2326676" fill="none" extrusionOk="0">
                  <a:moveTo>
                    <a:pt x="0" y="0"/>
                  </a:moveTo>
                  <a:cubicBezTo>
                    <a:pt x="65368" y="0"/>
                    <a:pt x="118359" y="52991"/>
                    <a:pt x="118359" y="118359"/>
                  </a:cubicBezTo>
                  <a:cubicBezTo>
                    <a:pt x="118359" y="427232"/>
                    <a:pt x="118360" y="736106"/>
                    <a:pt x="118360" y="1044979"/>
                  </a:cubicBezTo>
                  <a:cubicBezTo>
                    <a:pt x="118360" y="1110347"/>
                    <a:pt x="171351" y="1163338"/>
                    <a:pt x="236719" y="1163338"/>
                  </a:cubicBezTo>
                  <a:cubicBezTo>
                    <a:pt x="171351" y="1163338"/>
                    <a:pt x="118360" y="1216329"/>
                    <a:pt x="118360" y="1281697"/>
                  </a:cubicBezTo>
                  <a:lnTo>
                    <a:pt x="118360" y="2208317"/>
                  </a:lnTo>
                  <a:cubicBezTo>
                    <a:pt x="118360" y="2273685"/>
                    <a:pt x="65369" y="2326676"/>
                    <a:pt x="1" y="2326676"/>
                  </a:cubicBezTo>
                </a:path>
              </a:pathLst>
            </a:custGeom>
            <a:noFill/>
            <a:ln w="1905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679" name="Google Shape;679;p20"/>
            <p:cNvCxnSpPr/>
            <p:nvPr/>
          </p:nvCxnSpPr>
          <p:spPr>
            <a:xfrm>
              <a:off x="5179371" y="5036986"/>
              <a:ext cx="430018" cy="0"/>
            </a:xfrm>
            <a:prstGeom prst="straightConnector1">
              <a:avLst/>
            </a:prstGeom>
            <a:noFill/>
            <a:ln w="12700" cap="flat" cmpd="sng">
              <a:solidFill>
                <a:srgbClr val="193EB0"/>
              </a:solidFill>
              <a:prstDash val="solid"/>
              <a:miter lim="800000"/>
              <a:headEnd type="oval" w="med" len="med"/>
              <a:tailEnd type="none" w="sm" len="sm"/>
            </a:ln>
          </p:spPr>
        </p:cxnSp>
        <p:pic>
          <p:nvPicPr>
            <p:cNvPr id="680" name="Google Shape;680;p20" descr="C:\Users\USER\Downloads\kitten.png"/>
            <p:cNvPicPr preferRelativeResize="0"/>
            <p:nvPr/>
          </p:nvPicPr>
          <p:blipFill rotWithShape="1">
            <a:blip r:embed="rId3">
              <a:alphaModFix/>
            </a:blip>
            <a:srcRect/>
            <a:stretch/>
          </p:blipFill>
          <p:spPr>
            <a:xfrm>
              <a:off x="5798026" y="3534224"/>
              <a:ext cx="599872" cy="599872"/>
            </a:xfrm>
            <a:prstGeom prst="rect">
              <a:avLst/>
            </a:prstGeom>
            <a:noFill/>
            <a:ln>
              <a:noFill/>
            </a:ln>
          </p:spPr>
        </p:pic>
        <p:pic>
          <p:nvPicPr>
            <p:cNvPr id="681" name="Google Shape;681;p20" descr="C:\Users\USER\Downloads\cat.png"/>
            <p:cNvPicPr preferRelativeResize="0"/>
            <p:nvPr/>
          </p:nvPicPr>
          <p:blipFill rotWithShape="1">
            <a:blip r:embed="rId4">
              <a:alphaModFix/>
            </a:blip>
            <a:srcRect/>
            <a:stretch/>
          </p:blipFill>
          <p:spPr>
            <a:xfrm>
              <a:off x="2202903" y="3294398"/>
              <a:ext cx="396000" cy="396000"/>
            </a:xfrm>
            <a:prstGeom prst="rect">
              <a:avLst/>
            </a:prstGeom>
            <a:noFill/>
            <a:ln>
              <a:noFill/>
            </a:ln>
          </p:spPr>
        </p:pic>
        <p:pic>
          <p:nvPicPr>
            <p:cNvPr id="682" name="Google Shape;682;p20" descr="C:\Users\USER\Downloads\cat.png"/>
            <p:cNvPicPr preferRelativeResize="0"/>
            <p:nvPr/>
          </p:nvPicPr>
          <p:blipFill rotWithShape="1">
            <a:blip r:embed="rId4">
              <a:alphaModFix/>
            </a:blip>
            <a:srcRect/>
            <a:stretch/>
          </p:blipFill>
          <p:spPr>
            <a:xfrm>
              <a:off x="2202903" y="4788738"/>
              <a:ext cx="396000" cy="396000"/>
            </a:xfrm>
            <a:prstGeom prst="rect">
              <a:avLst/>
            </a:prstGeom>
            <a:noFill/>
            <a:ln>
              <a:noFill/>
            </a:ln>
          </p:spPr>
        </p:pic>
        <p:pic>
          <p:nvPicPr>
            <p:cNvPr id="683" name="Google Shape;683;p20" descr="C:\Users\USER\Downloads\shiba.png"/>
            <p:cNvPicPr preferRelativeResize="0"/>
            <p:nvPr/>
          </p:nvPicPr>
          <p:blipFill rotWithShape="1">
            <a:blip r:embed="rId5">
              <a:alphaModFix/>
            </a:blip>
            <a:srcRect/>
            <a:stretch/>
          </p:blipFill>
          <p:spPr>
            <a:xfrm>
              <a:off x="2198140" y="4047334"/>
              <a:ext cx="396000" cy="396000"/>
            </a:xfrm>
            <a:prstGeom prst="rect">
              <a:avLst/>
            </a:prstGeom>
            <a:noFill/>
            <a:ln>
              <a:noFill/>
            </a:ln>
          </p:spPr>
        </p:pic>
        <p:pic>
          <p:nvPicPr>
            <p:cNvPr id="684" name="Google Shape;684;p20" descr="C:\Users\USER\Downloads\shiba.png"/>
            <p:cNvPicPr preferRelativeResize="0"/>
            <p:nvPr/>
          </p:nvPicPr>
          <p:blipFill rotWithShape="1">
            <a:blip r:embed="rId5">
              <a:alphaModFix/>
            </a:blip>
            <a:srcRect/>
            <a:stretch/>
          </p:blipFill>
          <p:spPr>
            <a:xfrm>
              <a:off x="2198140" y="2533567"/>
              <a:ext cx="396000" cy="396000"/>
            </a:xfrm>
            <a:prstGeom prst="rect">
              <a:avLst/>
            </a:prstGeom>
            <a:noFill/>
            <a:ln>
              <a:noFill/>
            </a:ln>
          </p:spPr>
        </p:pic>
      </p:grpSp>
      <p:sp>
        <p:nvSpPr>
          <p:cNvPr id="685" name="Google Shape;685;p20"/>
          <p:cNvSpPr/>
          <p:nvPr/>
        </p:nvSpPr>
        <p:spPr>
          <a:xfrm>
            <a:off x="558924" y="1428745"/>
            <a:ext cx="9180558" cy="215444"/>
          </a:xfrm>
          <a:prstGeom prst="rect">
            <a:avLst/>
          </a:prstGeom>
          <a:noFill/>
          <a:ln>
            <a:noFill/>
          </a:ln>
        </p:spPr>
        <p:txBody>
          <a:bodyPr spcFirstLastPara="1" wrap="square" lIns="0" tIns="0" rIns="0" bIns="0" anchor="t" anchorCtr="0">
            <a:spAutoFit/>
          </a:bodyPr>
          <a:lstStyle/>
          <a:p>
            <a:pPr marL="115888" marR="0" lvl="0" indent="-115888" algn="l" rtl="0">
              <a:lnSpc>
                <a:spcPct val="100000"/>
              </a:lnSpc>
              <a:spcBef>
                <a:spcPts val="0"/>
              </a:spcBef>
              <a:spcAft>
                <a:spcPts val="0"/>
              </a:spcAft>
              <a:buClr>
                <a:srgbClr val="A5A5A5"/>
              </a:buClr>
              <a:buSzPts val="1680"/>
              <a:buFont typeface="Arial"/>
              <a:buChar char="•"/>
            </a:pPr>
            <a:r>
              <a:rPr lang="en-US" sz="1400" b="0" i="0" u="none" strike="noStrike" cap="none">
                <a:solidFill>
                  <a:schemeClr val="dk1"/>
                </a:solidFill>
                <a:latin typeface="Arial"/>
                <a:ea typeface="Arial"/>
                <a:cs typeface="Arial"/>
                <a:sym typeface="Arial"/>
              </a:rPr>
              <a:t>Học máy và Học sâu</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9CDDF9F-D99E-59D4-4823-BD6519058B7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CAAB3D4-626E-A49C-8416-5F14A9EAE99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18BB45C-4C83-BE1A-6559-D05FD4AC44C3}"/>
              </a:ext>
            </a:extLst>
          </p:cNvPr>
          <p:cNvSpPr/>
          <p:nvPr/>
        </p:nvSpPr>
        <p:spPr>
          <a:xfrm>
            <a:off x="162320" y="829718"/>
            <a:ext cx="9392645" cy="2908489"/>
          </a:xfrm>
          <a:prstGeom prst="rect">
            <a:avLst/>
          </a:prstGeom>
          <a:noFill/>
          <a:ln>
            <a:noFill/>
          </a:ln>
        </p:spPr>
        <p:txBody>
          <a:bodyPr spcFirstLastPara="1" wrap="square" lIns="0" tIns="0" rIns="0" bIns="0" anchor="t" anchorCtr="0">
            <a:spAutoFit/>
          </a:bodyPr>
          <a:lstStyle/>
          <a:p>
            <a:pPr algn="just">
              <a:lnSpc>
                <a:spcPct val="150000"/>
              </a:lnSpc>
            </a:pPr>
            <a:r>
              <a:rPr lang="vi-VN" b="1" dirty="0"/>
              <a:t>Điểm khác biệt giữa máy học và học sâu là gì?</a:t>
            </a:r>
          </a:p>
          <a:p>
            <a:pPr algn="just">
              <a:lnSpc>
                <a:spcPct val="150000"/>
              </a:lnSpc>
            </a:pPr>
            <a:r>
              <a:rPr lang="vi-VN" dirty="0"/>
              <a:t>Máy học (ML) là môn khoa học đào tạo một hệ thống hoặc chương trình máy tính để thực hiện các tác vụ mà không cần hướng dẫn cụ thể. </a:t>
            </a:r>
            <a:endParaRPr lang="en-US" dirty="0"/>
          </a:p>
          <a:p>
            <a:pPr algn="just">
              <a:lnSpc>
                <a:spcPct val="150000"/>
              </a:lnSpc>
            </a:pPr>
            <a:r>
              <a:rPr lang="vi-VN" dirty="0"/>
              <a:t>Các hệ thống máy tính sử dụng thuật toán ML để xử lý khối lượng lớn dữ liệu, xác định các khuôn mẫu dữ liệu và dự đoán kết quả chính xác cho các tình huống mới hoặc không xác định.</a:t>
            </a:r>
            <a:endParaRPr lang="en-US" dirty="0"/>
          </a:p>
          <a:p>
            <a:pPr algn="just">
              <a:lnSpc>
                <a:spcPct val="150000"/>
              </a:lnSpc>
            </a:pPr>
            <a:r>
              <a:rPr lang="vi-VN" dirty="0"/>
              <a:t> Học sâu là một tập con của ML sử dụng các cấu trúc thuật toán cụ thể, gọi là mạng nơ-ron, được lập mô hình theo bộ não con người. Các phương pháp học sâu cố gắng tự động hóa các tác vụ phức tạp hơn và thường đòi hỏi trí tuệ của con người. Ví dụ như, bạn có thể sử dụng học sâu để mô tả hình ảnh, dịch tài liệu hoặc chép lại tệp âm thanh thành văn bản.</a:t>
            </a:r>
          </a:p>
        </p:txBody>
      </p:sp>
    </p:spTree>
    <p:extLst>
      <p:ext uri="{BB962C8B-B14F-4D97-AF65-F5344CB8AC3E}">
        <p14:creationId xmlns:p14="http://schemas.microsoft.com/office/powerpoint/2010/main" val="21138370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E9E21C2-5C9D-CBCB-5254-98DA6887D17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CDB1EF8-0BFA-D989-305E-5E709D84C59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780B2F9-9F4F-AD15-2816-766606462A07}"/>
              </a:ext>
            </a:extLst>
          </p:cNvPr>
          <p:cNvSpPr/>
          <p:nvPr/>
        </p:nvSpPr>
        <p:spPr>
          <a:xfrm>
            <a:off x="162320" y="829718"/>
            <a:ext cx="9392645" cy="4847481"/>
          </a:xfrm>
          <a:prstGeom prst="rect">
            <a:avLst/>
          </a:prstGeom>
          <a:noFill/>
          <a:ln>
            <a:noFill/>
          </a:ln>
        </p:spPr>
        <p:txBody>
          <a:bodyPr spcFirstLastPara="1" wrap="square" lIns="0" tIns="0" rIns="0" bIns="0" anchor="t" anchorCtr="0">
            <a:spAutoFit/>
          </a:bodyPr>
          <a:lstStyle/>
          <a:p>
            <a:pPr>
              <a:lnSpc>
                <a:spcPct val="150000"/>
              </a:lnSpc>
            </a:pPr>
            <a:r>
              <a:rPr lang="vi-VN" b="1" dirty="0"/>
              <a:t>Điểm tương đồng giữa máy học và học sâu là gì?</a:t>
            </a:r>
          </a:p>
          <a:p>
            <a:pPr>
              <a:lnSpc>
                <a:spcPct val="150000"/>
              </a:lnSpc>
            </a:pPr>
            <a:r>
              <a:rPr lang="vi-VN" dirty="0"/>
              <a:t>Bạn có thể sử dụng cả máy học (ML) và học sâu để xác định các mẫu hình trong dữ liệu. Cả hai đều dựa vào tập dữ liệu để đào tạo các thuật toán dựa trên các mô hình toán học phức tạp. Trong quá trình đào tạo, các thuật toán phát hiện ra mối tương quan giữa đầu ra và đầu vào đã xác định. Sau đó các mô hình có thể tự động tạo ra hoặc dự đoán đầu ra dựa trên đầu vào không xác định. Không giống như lập trình truyền thống, quá trình học cũng tự động với sự can thiệp của con người ở mức tối thiểu.</a:t>
            </a:r>
          </a:p>
          <a:p>
            <a:pPr>
              <a:lnSpc>
                <a:spcPct val="150000"/>
              </a:lnSpc>
            </a:pPr>
            <a:r>
              <a:rPr lang="vi-VN" dirty="0"/>
              <a:t>Dưới đây là những điểm tương đồng khác giữa ML và học sâu.</a:t>
            </a:r>
          </a:p>
          <a:p>
            <a:pPr>
              <a:lnSpc>
                <a:spcPct val="150000"/>
              </a:lnSpc>
            </a:pPr>
            <a:r>
              <a:rPr lang="vi-VN" b="1" dirty="0"/>
              <a:t>Kỹ thuật trí tuệ nhân tạo</a:t>
            </a:r>
          </a:p>
          <a:p>
            <a:pPr>
              <a:lnSpc>
                <a:spcPct val="150000"/>
              </a:lnSpc>
            </a:pPr>
            <a:r>
              <a:rPr lang="vi-VN" dirty="0"/>
              <a:t>Cả ML và học sâu đều là tập con của khoa học dữ liệu và trí tuệ nhân tạo (AI). Cả hai đều có thể hoàn thành các tác vụ tính toán phức tạp mà đòi hỏi nhiều thời gian và nguồn lực để đạt được kết quả thông qua các kỹ thuật lập trình truyền thống.</a:t>
            </a:r>
          </a:p>
          <a:p>
            <a:pPr>
              <a:lnSpc>
                <a:spcPct val="150000"/>
              </a:lnSpc>
            </a:pPr>
            <a:r>
              <a:rPr lang="vi-VN" b="1" dirty="0"/>
              <a:t>Cơ sở thống kê</a:t>
            </a:r>
          </a:p>
          <a:p>
            <a:pPr>
              <a:lnSpc>
                <a:spcPct val="150000"/>
              </a:lnSpc>
            </a:pPr>
            <a:r>
              <a:rPr lang="vi-VN" dirty="0"/>
              <a:t>Cả học sâu và ML đều sử dụng các phương pháp thống kê để đào tạo các thuật toán của chúng bằng các tập dữ liệu. Những kỹ thuật này bao gồm phân tích hồi quy, cây quyết định, đại số tuyến tính và giải tích. Các chuyên gia ML và chuyên gia học sâu đều hiểu rõ số liệu thống kê.</a:t>
            </a:r>
          </a:p>
        </p:txBody>
      </p:sp>
    </p:spTree>
    <p:extLst>
      <p:ext uri="{BB962C8B-B14F-4D97-AF65-F5344CB8AC3E}">
        <p14:creationId xmlns:p14="http://schemas.microsoft.com/office/powerpoint/2010/main" val="14526619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7D00DB5-F171-66DC-3823-71A1EA15558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354F0811-BFE8-4CB5-A2A1-14D04ED6B5F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7B1609A-B35C-5293-9E45-D1871DBCB77A}"/>
              </a:ext>
            </a:extLst>
          </p:cNvPr>
          <p:cNvSpPr/>
          <p:nvPr/>
        </p:nvSpPr>
        <p:spPr>
          <a:xfrm>
            <a:off x="162320" y="829718"/>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Tập dữ liệu lớn</a:t>
            </a:r>
          </a:p>
          <a:p>
            <a:pPr>
              <a:lnSpc>
                <a:spcPct val="150000"/>
              </a:lnSpc>
            </a:pPr>
            <a:r>
              <a:rPr lang="vi-VN" dirty="0"/>
              <a:t>Cả ML và học sâu đều yêu cầu các tập dữ liệu đào tạo chất lượng lớn để đưa ra dự đoán chính xác hơn. Ví dụ, mô hình ML yêu cầu khoảng 50–100 điểm dữ liệu cho mỗi tính năng, trong khi mô hình học sâu bắt đầu từ hàng nghìn điểm dữ liệu cho mỗi tính năng.</a:t>
            </a:r>
          </a:p>
          <a:p>
            <a:pPr>
              <a:lnSpc>
                <a:spcPct val="150000"/>
              </a:lnSpc>
            </a:pPr>
            <a:r>
              <a:rPr lang="vi-VN" b="1" dirty="0"/>
              <a:t>Các ứng dụng đa dạng và khác nhau</a:t>
            </a:r>
          </a:p>
          <a:p>
            <a:pPr>
              <a:lnSpc>
                <a:spcPct val="150000"/>
              </a:lnSpc>
            </a:pPr>
            <a:r>
              <a:rPr lang="vi-VN" dirty="0"/>
              <a:t>Các giải pháp học sâu và ML giải quyết các vấn đề phức tạp trên tất cả các ngành công nghiệp và ứng dụng. Sẽ mất nhiều thời gian hơn đáng kể để tối ưu hóa hoặc giải quyết các loại vấn đề này nếu bạn sử dụng các phương pháp lập trình truyền thống và thống kê.</a:t>
            </a:r>
          </a:p>
          <a:p>
            <a:pPr>
              <a:lnSpc>
                <a:spcPct val="150000"/>
              </a:lnSpc>
            </a:pPr>
            <a:r>
              <a:rPr lang="vi-VN" b="1" dirty="0"/>
              <a:t>Yêu cầu về năng lực tính toán</a:t>
            </a:r>
          </a:p>
          <a:p>
            <a:pPr>
              <a:lnSpc>
                <a:spcPct val="150000"/>
              </a:lnSpc>
            </a:pPr>
            <a:r>
              <a:rPr lang="vi-VN" dirty="0"/>
              <a:t>Để đào tạo và chạy các thuật toán ML đòi hỏi năng lực tính toán đáng kể và các yêu cầu tính toán thậm chí còn cao hơn đối với học sâu do mức độ phức tạp của nó tăng lên. Tình trạng khả dụng của cả hai loại giải pháp phục vụ mục đích sử dụng cá nhân bây giờ có thể nhờ những tiến bộ gần đây về nâng cao năng lực tính toán và nguồn lực đám mây.</a:t>
            </a:r>
          </a:p>
          <a:p>
            <a:pPr>
              <a:lnSpc>
                <a:spcPct val="150000"/>
              </a:lnSpc>
            </a:pPr>
            <a:r>
              <a:rPr lang="vi-VN" b="1" dirty="0"/>
              <a:t>Cải thiện dần</a:t>
            </a:r>
          </a:p>
          <a:p>
            <a:pPr>
              <a:lnSpc>
                <a:spcPct val="150000"/>
              </a:lnSpc>
            </a:pPr>
            <a:r>
              <a:rPr lang="vi-VN" dirty="0"/>
              <a:t>Khi các giải pháp ML và học sâu tiếp nhận nhiều dữ liệu hơn, chúng trở nên chính xác hơn khi nhận dạng mẫu hình. Khi dữ liệu nhập liệu được thêm vào hệ thống, hệ thống sẽ cải thiện bằng cách sử dụng làm điểm dữ liệu để đào tạo.</a:t>
            </a:r>
          </a:p>
        </p:txBody>
      </p:sp>
    </p:spTree>
    <p:extLst>
      <p:ext uri="{BB962C8B-B14F-4D97-AF65-F5344CB8AC3E}">
        <p14:creationId xmlns:p14="http://schemas.microsoft.com/office/powerpoint/2010/main" val="250242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4373A67-95DD-6230-B784-BDDCA5BC7D85}"/>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C6D11BC-A487-9899-5A64-6BE9F16C2A92}"/>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A2F08A5-3E50-B52D-EAC6-E9138FB7EB38}"/>
              </a:ext>
            </a:extLst>
          </p:cNvPr>
          <p:cNvSpPr/>
          <p:nvPr/>
        </p:nvSpPr>
        <p:spPr>
          <a:xfrm>
            <a:off x="162320" y="829718"/>
            <a:ext cx="9392645" cy="3554819"/>
          </a:xfrm>
          <a:prstGeom prst="rect">
            <a:avLst/>
          </a:prstGeom>
          <a:noFill/>
          <a:ln>
            <a:noFill/>
          </a:ln>
        </p:spPr>
        <p:txBody>
          <a:bodyPr spcFirstLastPara="1" wrap="square" lIns="0" tIns="0" rIns="0" bIns="0" anchor="t" anchorCtr="0">
            <a:spAutoFit/>
          </a:bodyPr>
          <a:lstStyle/>
          <a:p>
            <a:pPr>
              <a:lnSpc>
                <a:spcPct val="150000"/>
              </a:lnSpc>
            </a:pPr>
            <a:r>
              <a:rPr lang="vi-VN" b="1" dirty="0"/>
              <a:t>Những hạn chế nào của máy học dẫn đến sự phát triển của học sâu?</a:t>
            </a:r>
          </a:p>
          <a:p>
            <a:pPr>
              <a:lnSpc>
                <a:spcPct val="150000"/>
              </a:lnSpc>
            </a:pPr>
            <a:r>
              <a:rPr lang="vi-VN" dirty="0"/>
              <a:t>Máy học truyền thống (ML) đòi hỏi sự tương tác đáng kể của con người thông qua thiết kế tính năng để tạo ra kết quả. Ví dụ, nếu bạn đang đào tạo một mô hình ML để phân loại hình ảnh của mèo và chó, bạn phải định cấu hình nó theo cách thủ công để nhận ra các tính năng như hình dạng mắt, hình dạng đuôi, hình dạng tai, đường viền mũi, v.v.</a:t>
            </a:r>
          </a:p>
          <a:p>
            <a:pPr>
              <a:lnSpc>
                <a:spcPct val="150000"/>
              </a:lnSpc>
            </a:pPr>
            <a:r>
              <a:rPr lang="vi-VN" dirty="0"/>
              <a:t>Vì mục tiêu của ML là giảm mức độ can thiệp của con người nên các kỹ thuật học sâu loại bỏ nhu cầu cần con người dán nhãn dữ liệu ở từng bước.</a:t>
            </a:r>
          </a:p>
          <a:p>
            <a:pPr>
              <a:lnSpc>
                <a:spcPct val="150000"/>
              </a:lnSpc>
            </a:pPr>
            <a:r>
              <a:rPr lang="vi-VN" dirty="0"/>
              <a:t>Mặc dù kỹ thuật học sâu đã tồn tại nhiều thập kỷ qua nhưng phải đến đầu thập niên 2000, các nhà khoa học như Yann LeCun, Yoshua Bengio và Geoffrey Hinton mới khám phá lĩnh vực này chi tiết hơn. Mặc dù các nhà khoa học đã nâng cao kỹ thuật học sâu nhưng các tập dữ liệu lớn và phức tạp bị hạn chế trong giai đoạn này và khả năng xử lý cần thiết để đào tạo các mô hình rất tốn kém. Trong 20 năm qua, những điều kiện này đã được cải thiện và kỹ thuật học sâu hiện nay khả thi về mặt thương mại.</a:t>
            </a:r>
          </a:p>
        </p:txBody>
      </p:sp>
    </p:spTree>
    <p:extLst>
      <p:ext uri="{BB962C8B-B14F-4D97-AF65-F5344CB8AC3E}">
        <p14:creationId xmlns:p14="http://schemas.microsoft.com/office/powerpoint/2010/main" val="21443755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0B82A65-829E-E7A6-1D79-4DD3DFF28FB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7F29516-D1DA-72E9-A3E9-9D50B6DDA225}"/>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1DF91A8-66B9-C1DC-01D5-9644A9173D3B}"/>
              </a:ext>
            </a:extLst>
          </p:cNvPr>
          <p:cNvSpPr/>
          <p:nvPr/>
        </p:nvSpPr>
        <p:spPr>
          <a:xfrm>
            <a:off x="162320" y="829718"/>
            <a:ext cx="9392645" cy="4201150"/>
          </a:xfrm>
          <a:prstGeom prst="rect">
            <a:avLst/>
          </a:prstGeom>
          <a:noFill/>
          <a:ln>
            <a:noFill/>
          </a:ln>
        </p:spPr>
        <p:txBody>
          <a:bodyPr spcFirstLastPara="1" wrap="square" lIns="0" tIns="0" rIns="0" bIns="0" anchor="t" anchorCtr="0">
            <a:spAutoFit/>
          </a:bodyPr>
          <a:lstStyle/>
          <a:p>
            <a:pPr>
              <a:lnSpc>
                <a:spcPct val="150000"/>
              </a:lnSpc>
            </a:pPr>
            <a:r>
              <a:rPr lang="vi-VN" b="1" dirty="0"/>
              <a:t>Những điểm khác biệt chính giữa máy học và học sâu</a:t>
            </a:r>
          </a:p>
          <a:p>
            <a:pPr>
              <a:lnSpc>
                <a:spcPct val="150000"/>
              </a:lnSpc>
            </a:pPr>
            <a:r>
              <a:rPr lang="vi-VN" dirty="0"/>
              <a:t>Học sâu là một lĩnh vực “con” của máy học (ML). Bạn có thể nghĩ về nó như một kỹ thuật ML tiên tiến. Mỗi loại đều có nhiều ứng dụng khác nhau. Tuy nhiên, các giải pháp học sâu đòi hỏi nhiều tài nguyên hơn—tập dữ liệu lớn hơn, yêu cầu cơ sở hạ tầng và chi phí sau này.</a:t>
            </a:r>
          </a:p>
          <a:p>
            <a:pPr>
              <a:lnSpc>
                <a:spcPct val="150000"/>
              </a:lnSpc>
            </a:pPr>
            <a:r>
              <a:rPr lang="vi-VN" dirty="0"/>
              <a:t>Dưới đây là những điểm khác biệt khác giữa ML và học sâu.</a:t>
            </a:r>
          </a:p>
          <a:p>
            <a:pPr>
              <a:lnSpc>
                <a:spcPct val="150000"/>
              </a:lnSpc>
            </a:pPr>
            <a:r>
              <a:rPr lang="vi-VN" b="1" dirty="0"/>
              <a:t>Các trường hợp sử dụng dự định</a:t>
            </a:r>
          </a:p>
          <a:p>
            <a:pPr>
              <a:lnSpc>
                <a:spcPct val="150000"/>
              </a:lnSpc>
            </a:pPr>
            <a:r>
              <a:rPr lang="vi-VN" dirty="0"/>
              <a:t>Quyết định sử dụng ML hoặc học sâu phụ thuộc vào loại dữ liệu mà bạn cần xử lý. ML xác định các mẫu từ dữ liệu có cấu trúc, chẳng hạn như hệ thống phân loại và đề xuất. Ví dụ, một công ty có thể sử dụng ML để dự đoán khi nào khách hàng sẽ hủy đăng ký dựa trên dữ liệu của khách hàng trước đó. </a:t>
            </a:r>
          </a:p>
          <a:p>
            <a:pPr>
              <a:lnSpc>
                <a:spcPct val="150000"/>
              </a:lnSpc>
            </a:pPr>
            <a:r>
              <a:rPr lang="vi-VN" dirty="0"/>
              <a:t>Mặt khác, các giải pháp học sâu phù hợp hơn đối với dữ liệu không có cấu trúc, trong đó cần có mức độ trừu tượng cao để trích xuất các tính năng. Các tác vụ cho học sâu bao gồm phân loại hình ảnh và xử lý ngôn ngữ tự nhiên, trong đó cần xác định các mối quan hệ phức tạp giữa các đối tượng dữ liệu. Ví dụ, giải pháp học sâu có thể phân tích các nội dung được đề cập trên mạng xã hội để xác định cảm xúc của người dùng.</a:t>
            </a:r>
          </a:p>
        </p:txBody>
      </p:sp>
    </p:spTree>
    <p:extLst>
      <p:ext uri="{BB962C8B-B14F-4D97-AF65-F5344CB8AC3E}">
        <p14:creationId xmlns:p14="http://schemas.microsoft.com/office/powerpoint/2010/main" val="3597169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6D4BEB1-4D83-CBDA-B7A1-622EDC144C0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569253B-32D5-65EE-75CC-A0225E738185}"/>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EE31C94-79BC-EF04-EBE6-5C4E0E331591}"/>
              </a:ext>
            </a:extLst>
          </p:cNvPr>
          <p:cNvSpPr/>
          <p:nvPr/>
        </p:nvSpPr>
        <p:spPr>
          <a:xfrm>
            <a:off x="162320" y="829718"/>
            <a:ext cx="9392645" cy="4201150"/>
          </a:xfrm>
          <a:prstGeom prst="rect">
            <a:avLst/>
          </a:prstGeom>
          <a:noFill/>
          <a:ln>
            <a:noFill/>
          </a:ln>
        </p:spPr>
        <p:txBody>
          <a:bodyPr spcFirstLastPara="1" wrap="square" lIns="0" tIns="0" rIns="0" bIns="0" anchor="t" anchorCtr="0">
            <a:spAutoFit/>
          </a:bodyPr>
          <a:lstStyle/>
          <a:p>
            <a:pPr>
              <a:lnSpc>
                <a:spcPct val="150000"/>
              </a:lnSpc>
            </a:pPr>
            <a:r>
              <a:rPr lang="vi-VN" b="1" dirty="0"/>
              <a:t>Cách tiếp cận giải quyết sự cố</a:t>
            </a:r>
          </a:p>
          <a:p>
            <a:pPr>
              <a:lnSpc>
                <a:spcPct val="150000"/>
              </a:lnSpc>
            </a:pPr>
            <a:r>
              <a:rPr lang="vi-VN" dirty="0"/>
              <a:t>ML truyền thống thường đòi hỏi thiết kế tính năng, trong đó con người tự chọn và trích xuất các tính năng từ dữ liệu thô và gán trọng số cho chúng. Ngược lại, các giải pháp học sâu thực hiện thiết kế tính năng với sự can thiệp tối thiểu của con người.</a:t>
            </a:r>
          </a:p>
          <a:p>
            <a:pPr>
              <a:lnSpc>
                <a:spcPct val="150000"/>
              </a:lnSpc>
            </a:pPr>
            <a:r>
              <a:rPr lang="vi-VN" dirty="0"/>
              <a:t>Kiến trúc mạng nơ-ron của học sâu phức tạp hơn theo thiết kế. Cách thức mà các giải pháp học sâu học được mô phỏng theo cách thức hoạt động của não người, với các tế bào nơ-ron được biểu diễn bởi các nút. Mạng nơ-ron học sâu bao gồm ba hoặc nhiều lớp nút, bao gồm các nút lớp đầu vào và đầu ra</a:t>
            </a:r>
            <a:r>
              <a:rPr lang="en-US" dirty="0"/>
              <a:t>.</a:t>
            </a: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vi-VN" dirty="0"/>
          </a:p>
        </p:txBody>
      </p:sp>
      <p:pic>
        <p:nvPicPr>
          <p:cNvPr id="4" name="Picture 3">
            <a:extLst>
              <a:ext uri="{FF2B5EF4-FFF2-40B4-BE49-F238E27FC236}">
                <a16:creationId xmlns:a16="http://schemas.microsoft.com/office/drawing/2014/main" id="{BE771D1C-EFF6-A235-0FB1-7ED739C23D72}"/>
              </a:ext>
            </a:extLst>
          </p:cNvPr>
          <p:cNvPicPr>
            <a:picLocks noChangeAspect="1"/>
          </p:cNvPicPr>
          <p:nvPr/>
        </p:nvPicPr>
        <p:blipFill>
          <a:blip r:embed="rId3"/>
          <a:stretch>
            <a:fillRect/>
          </a:stretch>
        </p:blipFill>
        <p:spPr>
          <a:xfrm>
            <a:off x="1991591" y="3319139"/>
            <a:ext cx="5919642" cy="3037389"/>
          </a:xfrm>
          <a:prstGeom prst="rect">
            <a:avLst/>
          </a:prstGeom>
        </p:spPr>
      </p:pic>
    </p:spTree>
    <p:extLst>
      <p:ext uri="{BB962C8B-B14F-4D97-AF65-F5344CB8AC3E}">
        <p14:creationId xmlns:p14="http://schemas.microsoft.com/office/powerpoint/2010/main" val="4327834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04B5B2F-72BB-3454-89BF-E43EDBD2C03A}"/>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AAC00540-72EA-C177-1E56-278E96B4A693}"/>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0FAEC96E-60E3-3A99-7E44-4D852463F13A}"/>
              </a:ext>
            </a:extLst>
          </p:cNvPr>
          <p:cNvSpPr/>
          <p:nvPr/>
        </p:nvSpPr>
        <p:spPr>
          <a:xfrm>
            <a:off x="162320" y="829718"/>
            <a:ext cx="9392645" cy="6678751"/>
          </a:xfrm>
          <a:prstGeom prst="rect">
            <a:avLst/>
          </a:prstGeom>
          <a:noFill/>
          <a:ln>
            <a:noFill/>
          </a:ln>
        </p:spPr>
        <p:txBody>
          <a:bodyPr spcFirstLastPara="1" wrap="square" lIns="0" tIns="0" rIns="0" bIns="0" anchor="t" anchorCtr="0">
            <a:spAutoFit/>
          </a:bodyPr>
          <a:lstStyle/>
          <a:p>
            <a:pPr>
              <a:lnSpc>
                <a:spcPct val="150000"/>
              </a:lnSpc>
            </a:pPr>
            <a:r>
              <a:rPr lang="vi-VN" b="1" dirty="0"/>
              <a:t>Cách tiếp cận giải quyết sự cố</a:t>
            </a:r>
          </a:p>
          <a:p>
            <a:pPr>
              <a:lnSpc>
                <a:spcPct val="150000"/>
              </a:lnSpc>
            </a:pPr>
            <a:r>
              <a:rPr lang="vi-VN" dirty="0"/>
              <a:t>Trong học sâu, mỗi nút trong mạng nơ-ron tự động gán trọng số cho mỗi tính năng. Thông tin truyền qua mạng theo hướng chuyển tiếp từ đầu vào đến đầu ra. Sự khác biệt giữa đầu ra dự đoán và đầu ra thực tế sau đó được tính toán. Và lỗi này được truyền ngược qua mạng để điều chỉnh trọng số của các nơ-ron.</a:t>
            </a:r>
          </a:p>
          <a:p>
            <a:pPr>
              <a:lnSpc>
                <a:spcPct val="150000"/>
              </a:lnSpc>
            </a:pPr>
            <a:r>
              <a:rPr lang="vi-VN" dirty="0"/>
              <a:t>Vì quá trình gán trọng số tự động, độ sâu của các cấp độ kiến trúc và các kỹ thuật được sử dụng, một mô hình được yêu cầu để giải quyết nhiều hoạt động hơn trong học sâu so với trong ML.</a:t>
            </a:r>
            <a:endParaRPr lang="en-US" dirty="0"/>
          </a:p>
          <a:p>
            <a:pPr>
              <a:lnSpc>
                <a:spcPct val="150000"/>
              </a:lnSpc>
            </a:pPr>
            <a:r>
              <a:rPr lang="vi-VN" b="1" dirty="0"/>
              <a:t>Phương pháp đào tạo</a:t>
            </a:r>
          </a:p>
          <a:p>
            <a:pPr>
              <a:lnSpc>
                <a:spcPct val="150000"/>
              </a:lnSpc>
            </a:pPr>
            <a:r>
              <a:rPr lang="vi-VN" dirty="0"/>
              <a:t>ML có bốn phương pháp đào tạo chính: học có giám sát, học không có giám sát, học bán giám sát và học tăng cường. Các phương pháp đào tạo khác bao gồm học chuyển đổi và học tự giám sát.</a:t>
            </a:r>
          </a:p>
          <a:p>
            <a:pPr>
              <a:lnSpc>
                <a:spcPct val="150000"/>
              </a:lnSpc>
            </a:pPr>
            <a:r>
              <a:rPr lang="vi-VN" dirty="0"/>
              <a:t>Ngược lại, các thuật toán học sâu sử dụng một số loại phương pháp đào tạo phức tạp hơn. Chúng bao gồm các mạng nơ-ron phức tạp, mạng nơ-ron hồi quy, mạng đối nghịch sinh và bộ mã hóa tự động.</a:t>
            </a:r>
            <a:endParaRPr lang="en-US" dirty="0"/>
          </a:p>
          <a:p>
            <a:pPr>
              <a:lnSpc>
                <a:spcPct val="150000"/>
              </a:lnSpc>
            </a:pPr>
            <a:r>
              <a:rPr lang="vi-VN" b="1" dirty="0"/>
              <a:t>Hiệu năng</a:t>
            </a:r>
          </a:p>
          <a:p>
            <a:pPr>
              <a:lnSpc>
                <a:spcPct val="150000"/>
              </a:lnSpc>
            </a:pPr>
            <a:r>
              <a:rPr lang="vi-VN" dirty="0"/>
              <a:t>Cả ML và học sâu đều có các trường hợp sử dụng cụ thể mà chúng phát huy khả năng tốt hơn so với các trường hợp khác.</a:t>
            </a:r>
          </a:p>
          <a:p>
            <a:pPr>
              <a:lnSpc>
                <a:spcPct val="150000"/>
              </a:lnSpc>
            </a:pPr>
            <a:r>
              <a:rPr lang="vi-VN" dirty="0"/>
              <a:t>Đối với các tác vụ đơn giản hơn như xác định thư rác đến mới, ML phù hợp và thường sẽ vượt trội hơn các giải pháp học sâu. Đối với các tác vụ phức tạp hơn như nhận dạng hình ảnh chẩn đoán y tế, các giải pháp học sâu phát huy hiệu quả hơn so với các giải pháp ML vì chúng có thể xác định những bất thường không nhìn thấy được bằng mắt người.</a:t>
            </a:r>
          </a:p>
          <a:p>
            <a:endParaRPr lang="vi-VN" dirty="0"/>
          </a:p>
          <a:p>
            <a:pPr>
              <a:lnSpc>
                <a:spcPct val="150000"/>
              </a:lnSpc>
            </a:pPr>
            <a:endParaRPr lang="vi-VN" dirty="0"/>
          </a:p>
          <a:p>
            <a:pPr>
              <a:lnSpc>
                <a:spcPct val="150000"/>
              </a:lnSpc>
            </a:pPr>
            <a:endParaRPr lang="en-US" dirty="0"/>
          </a:p>
          <a:p>
            <a:pPr>
              <a:lnSpc>
                <a:spcPct val="150000"/>
              </a:lnSpc>
            </a:pPr>
            <a:endParaRPr lang="vi-VN" dirty="0"/>
          </a:p>
        </p:txBody>
      </p:sp>
    </p:spTree>
    <p:extLst>
      <p:ext uri="{BB962C8B-B14F-4D97-AF65-F5344CB8AC3E}">
        <p14:creationId xmlns:p14="http://schemas.microsoft.com/office/powerpoint/2010/main" val="18805844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B19FAE4-9F29-689A-C9D5-F0B6DAA4C30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A46AE09-2E7E-97E3-1DDA-D4E9ECEB3DE6}"/>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2DFA26A-D8C7-6F87-3D56-A0AFCE4EC064}"/>
              </a:ext>
            </a:extLst>
          </p:cNvPr>
          <p:cNvSpPr/>
          <p:nvPr/>
        </p:nvSpPr>
        <p:spPr>
          <a:xfrm>
            <a:off x="162320" y="829718"/>
            <a:ext cx="9392645" cy="1938992"/>
          </a:xfrm>
          <a:prstGeom prst="rect">
            <a:avLst/>
          </a:prstGeom>
          <a:noFill/>
          <a:ln>
            <a:noFill/>
          </a:ln>
        </p:spPr>
        <p:txBody>
          <a:bodyPr spcFirstLastPara="1" wrap="square" lIns="0" tIns="0" rIns="0" bIns="0" anchor="t" anchorCtr="0">
            <a:spAutoFit/>
          </a:bodyPr>
          <a:lstStyle/>
          <a:p>
            <a:pPr>
              <a:lnSpc>
                <a:spcPct val="150000"/>
              </a:lnSpc>
            </a:pPr>
            <a:r>
              <a:rPr lang="vi-VN" b="1" dirty="0"/>
              <a:t>Sự tham gia của con người</a:t>
            </a:r>
          </a:p>
          <a:p>
            <a:pPr>
              <a:lnSpc>
                <a:spcPct val="150000"/>
              </a:lnSpc>
            </a:pPr>
            <a:r>
              <a:rPr lang="vi-VN" dirty="0"/>
              <a:t>Cả hai giải pháp ML và học sâu đều cần con người tham gia đáng kể vào quá trình thao tác. Một người phải tìm ra vấn đề, chuẩn bị dữ liệu, chọn và đào tạo mô hình, sau đó đánh giá, tối ưu hóa và triển khai giải pháp.</a:t>
            </a:r>
          </a:p>
          <a:p>
            <a:pPr>
              <a:lnSpc>
                <a:spcPct val="150000"/>
              </a:lnSpc>
            </a:pPr>
            <a:endParaRPr lang="vi-VN" dirty="0"/>
          </a:p>
          <a:p>
            <a:pPr>
              <a:lnSpc>
                <a:spcPct val="150000"/>
              </a:lnSpc>
            </a:pPr>
            <a:endParaRPr lang="en-US" dirty="0"/>
          </a:p>
          <a:p>
            <a:pPr>
              <a:lnSpc>
                <a:spcPct val="150000"/>
              </a:lnSpc>
            </a:pPr>
            <a:endParaRPr lang="vi-VN" dirty="0"/>
          </a:p>
        </p:txBody>
      </p:sp>
      <p:pic>
        <p:nvPicPr>
          <p:cNvPr id="3" name="Picture 2">
            <a:extLst>
              <a:ext uri="{FF2B5EF4-FFF2-40B4-BE49-F238E27FC236}">
                <a16:creationId xmlns:a16="http://schemas.microsoft.com/office/drawing/2014/main" id="{CE480B9A-1F8E-E355-E418-7200723C792E}"/>
              </a:ext>
            </a:extLst>
          </p:cNvPr>
          <p:cNvPicPr>
            <a:picLocks noChangeAspect="1"/>
          </p:cNvPicPr>
          <p:nvPr/>
        </p:nvPicPr>
        <p:blipFill>
          <a:blip r:embed="rId3"/>
          <a:stretch>
            <a:fillRect/>
          </a:stretch>
        </p:blipFill>
        <p:spPr>
          <a:xfrm>
            <a:off x="5806012" y="2074527"/>
            <a:ext cx="3748953" cy="4029528"/>
          </a:xfrm>
          <a:prstGeom prst="rect">
            <a:avLst/>
          </a:prstGeom>
        </p:spPr>
      </p:pic>
      <p:sp>
        <p:nvSpPr>
          <p:cNvPr id="5" name="TextBox 4">
            <a:extLst>
              <a:ext uri="{FF2B5EF4-FFF2-40B4-BE49-F238E27FC236}">
                <a16:creationId xmlns:a16="http://schemas.microsoft.com/office/drawing/2014/main" id="{D3BF40DD-300C-1509-D456-BEF1D28F46AB}"/>
              </a:ext>
            </a:extLst>
          </p:cNvPr>
          <p:cNvSpPr txBox="1"/>
          <p:nvPr/>
        </p:nvSpPr>
        <p:spPr>
          <a:xfrm>
            <a:off x="162319" y="1799214"/>
            <a:ext cx="4964544" cy="3243004"/>
          </a:xfrm>
          <a:prstGeom prst="rect">
            <a:avLst/>
          </a:prstGeom>
          <a:noFill/>
        </p:spPr>
        <p:txBody>
          <a:bodyPr wrap="square">
            <a:spAutoFit/>
          </a:bodyPr>
          <a:lstStyle/>
          <a:p>
            <a:pPr algn="just">
              <a:lnSpc>
                <a:spcPct val="150000"/>
              </a:lnSpc>
              <a:spcBef>
                <a:spcPts val="1125"/>
              </a:spcBef>
              <a:spcAft>
                <a:spcPts val="1125"/>
              </a:spcAft>
              <a:buNone/>
            </a:pPr>
            <a:r>
              <a:rPr lang="vi-VN" dirty="0"/>
              <a:t>Mô hình ML có thể dễ dàng hơn để mọi người có thể diễn giải, vì chúng bắt nguồn từ các mô hình toán học đơn giản hơn, chẳng hạn như cây quyết định.</a:t>
            </a:r>
          </a:p>
          <a:p>
            <a:pPr algn="just">
              <a:lnSpc>
                <a:spcPct val="150000"/>
              </a:lnSpc>
              <a:spcBef>
                <a:spcPts val="1125"/>
              </a:spcBef>
              <a:spcAft>
                <a:spcPts val="1125"/>
              </a:spcAft>
              <a:buNone/>
            </a:pPr>
            <a:r>
              <a:rPr lang="vi-VN" dirty="0"/>
              <a:t>Ngược lại, các mô hình học sâu mất một khoảng thời gian đáng kể để có người phân tích chi tiết, vì các mô hình phức tạp về mặt toán học. Điều đó có nghĩa là cách học của các mạng nơ-ron sẽ không cần có người gắn nhãn dữ liệu. Bạn có thể giảm thêm mức độ tham gia của con người bằng cách chọn các mô hình và nền tảng được đào tạo trước.</a:t>
            </a:r>
          </a:p>
        </p:txBody>
      </p:sp>
    </p:spTree>
    <p:extLst>
      <p:ext uri="{BB962C8B-B14F-4D97-AF65-F5344CB8AC3E}">
        <p14:creationId xmlns:p14="http://schemas.microsoft.com/office/powerpoint/2010/main" val="35653116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1E21321-B7DE-7C4B-5F43-1556AC0FFB12}"/>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57F18C4E-8640-B4AF-7055-C3C764EC025D}"/>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869F575-A8AE-E190-BAAA-17CD47DE6159}"/>
              </a:ext>
            </a:extLst>
          </p:cNvPr>
          <p:cNvSpPr/>
          <p:nvPr/>
        </p:nvSpPr>
        <p:spPr>
          <a:xfrm>
            <a:off x="162320" y="829718"/>
            <a:ext cx="9392645" cy="2585323"/>
          </a:xfrm>
          <a:prstGeom prst="rect">
            <a:avLst/>
          </a:prstGeom>
          <a:noFill/>
          <a:ln>
            <a:noFill/>
          </a:ln>
        </p:spPr>
        <p:txBody>
          <a:bodyPr spcFirstLastPara="1" wrap="square" lIns="0" tIns="0" rIns="0" bIns="0" anchor="t" anchorCtr="0">
            <a:spAutoFit/>
          </a:bodyPr>
          <a:lstStyle/>
          <a:p>
            <a:pPr>
              <a:lnSpc>
                <a:spcPct val="150000"/>
              </a:lnSpc>
            </a:pPr>
            <a:r>
              <a:rPr lang="vi-VN" b="1" dirty="0"/>
              <a:t>Yêu cầu về cơ sở hạ tầng</a:t>
            </a:r>
          </a:p>
          <a:p>
            <a:pPr>
              <a:lnSpc>
                <a:spcPct val="150000"/>
              </a:lnSpc>
            </a:pPr>
            <a:r>
              <a:rPr lang="vi-VN" dirty="0"/>
              <a:t>Vì có độ phức tạp cao hơn và yêu cầu các tập dữ liệu lớn hơn nên các mô hình học sâu đòi hỏi lưu trữ nhiều hơn và khả năng tính toán cao hơn so với các mô hình ML. Mặc dù dữ liệu ML và mô hình có thể chạy trên một phiên bản đơn hoặc cụm máy chủ nhưng mô hình học sâu thường đòi hỏi các cụm hiệu suất cao và cơ sở hạ tầng đáng kể khác.</a:t>
            </a:r>
          </a:p>
          <a:p>
            <a:pPr>
              <a:lnSpc>
                <a:spcPct val="150000"/>
              </a:lnSpc>
            </a:pPr>
            <a:r>
              <a:rPr lang="vi-VN" dirty="0"/>
              <a:t>Các yêu cầu về cơ sở hạ tầng cho các giải pháp học sâu có thể dẫn đến chi phí cao hơn đáng kể so với ML. Cơ sở hạ tầng tại chỗ có thể không thực tế hoặc không tiết kiệm chi phí khi chạy các giải pháp học sâu. Bạn có thể sử dụng cơ sở hạ tầng mở rộng và các dịch vụ học sâu được quản trị đầy đủ để kiểm soát chi phí.</a:t>
            </a:r>
          </a:p>
          <a:p>
            <a:pPr>
              <a:lnSpc>
                <a:spcPct val="150000"/>
              </a:lnSpc>
            </a:pPr>
            <a:endParaRPr lang="vi-VN" dirty="0"/>
          </a:p>
        </p:txBody>
      </p:sp>
    </p:spTree>
    <p:extLst>
      <p:ext uri="{BB962C8B-B14F-4D97-AF65-F5344CB8AC3E}">
        <p14:creationId xmlns:p14="http://schemas.microsoft.com/office/powerpoint/2010/main" val="39752167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C8B43436-215E-3E7B-C7B2-2AB8719767B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8AC5864-CF87-719B-9852-3210BDA1119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Học </a:t>
            </a:r>
            <a:r>
              <a:rPr lang="en-US" sz="2400" b="1" dirty="0" err="1">
                <a:solidFill>
                  <a:srgbClr val="0C0C0C"/>
                </a:solidFill>
                <a:latin typeface="Arial"/>
                <a:ea typeface="Arial"/>
                <a:cs typeface="Arial"/>
                <a:sym typeface="Arial"/>
              </a:rPr>
              <a:t>máy</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và</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học</a:t>
            </a:r>
            <a:r>
              <a:rPr lang="en-US" sz="2400" b="1" dirty="0">
                <a:solidFill>
                  <a:srgbClr val="0C0C0C"/>
                </a:solidFill>
                <a:latin typeface="Arial"/>
                <a:ea typeface="Arial"/>
                <a:cs typeface="Arial"/>
                <a:sym typeface="Arial"/>
              </a:rPr>
              <a:t> </a:t>
            </a:r>
            <a:r>
              <a:rPr lang="en-US" sz="2400" b="1" dirty="0" err="1">
                <a:solidFill>
                  <a:srgbClr val="0C0C0C"/>
                </a:solidFill>
                <a:latin typeface="Arial"/>
                <a:ea typeface="Arial"/>
                <a:cs typeface="Arial"/>
                <a:sym typeface="Arial"/>
              </a:rPr>
              <a:t>sâu</a:t>
            </a:r>
            <a:endParaRPr lang="en-US" sz="2400" b="1" dirty="0">
              <a:solidFill>
                <a:srgbClr val="0C0C0C"/>
              </a:solidFill>
              <a:latin typeface="Arial"/>
              <a:ea typeface="Arial"/>
              <a:cs typeface="Arial"/>
              <a:sym typeface="Arial"/>
            </a:endParaRPr>
          </a:p>
          <a:p>
            <a:pPr marL="0" marR="0" lvl="0" indent="0" algn="l" rtl="0">
              <a:spcBef>
                <a:spcPts val="0"/>
              </a:spcBef>
              <a:spcAft>
                <a:spcPts val="0"/>
              </a:spcAft>
              <a:buNone/>
            </a:pPr>
            <a:endParaRPr dirty="0"/>
          </a:p>
        </p:txBody>
      </p:sp>
      <p:graphicFrame>
        <p:nvGraphicFramePr>
          <p:cNvPr id="2" name="Table 1">
            <a:extLst>
              <a:ext uri="{FF2B5EF4-FFF2-40B4-BE49-F238E27FC236}">
                <a16:creationId xmlns:a16="http://schemas.microsoft.com/office/drawing/2014/main" id="{8C8E7139-0B51-A567-4953-691424693651}"/>
              </a:ext>
            </a:extLst>
          </p:cNvPr>
          <p:cNvGraphicFramePr>
            <a:graphicFrameLocks noGrp="1"/>
          </p:cNvGraphicFramePr>
          <p:nvPr>
            <p:extLst>
              <p:ext uri="{D42A27DB-BD31-4B8C-83A1-F6EECF244321}">
                <p14:modId xmlns:p14="http://schemas.microsoft.com/office/powerpoint/2010/main" val="728027242"/>
              </p:ext>
            </p:extLst>
          </p:nvPr>
        </p:nvGraphicFramePr>
        <p:xfrm>
          <a:off x="1571018" y="1338803"/>
          <a:ext cx="6520644" cy="4619808"/>
        </p:xfrm>
        <a:graphic>
          <a:graphicData uri="http://schemas.openxmlformats.org/drawingml/2006/table">
            <a:tbl>
              <a:tblPr/>
              <a:tblGrid>
                <a:gridCol w="2173548">
                  <a:extLst>
                    <a:ext uri="{9D8B030D-6E8A-4147-A177-3AD203B41FA5}">
                      <a16:colId xmlns:a16="http://schemas.microsoft.com/office/drawing/2014/main" val="1851200102"/>
                    </a:ext>
                  </a:extLst>
                </a:gridCol>
                <a:gridCol w="2173548">
                  <a:extLst>
                    <a:ext uri="{9D8B030D-6E8A-4147-A177-3AD203B41FA5}">
                      <a16:colId xmlns:a16="http://schemas.microsoft.com/office/drawing/2014/main" val="1968738189"/>
                    </a:ext>
                  </a:extLst>
                </a:gridCol>
                <a:gridCol w="2173548">
                  <a:extLst>
                    <a:ext uri="{9D8B030D-6E8A-4147-A177-3AD203B41FA5}">
                      <a16:colId xmlns:a16="http://schemas.microsoft.com/office/drawing/2014/main" val="1820378983"/>
                    </a:ext>
                  </a:extLst>
                </a:gridCol>
              </a:tblGrid>
              <a:tr h="368973">
                <a:tc>
                  <a:txBody>
                    <a:bodyPr/>
                    <a:lstStyle/>
                    <a:p>
                      <a:pPr fontAlgn="t">
                        <a:buNone/>
                      </a:pPr>
                      <a:r>
                        <a:rPr lang="en-US" sz="1200">
                          <a:effectLst/>
                        </a:rPr>
                        <a:t> </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tc>
                  <a:txBody>
                    <a:bodyPr/>
                    <a:lstStyle/>
                    <a:p>
                      <a:pPr fontAlgn="t">
                        <a:buNone/>
                      </a:pPr>
                      <a:r>
                        <a:rPr lang="en-US" sz="1200" b="0">
                          <a:effectLst/>
                          <a:latin typeface="OpenSansBold"/>
                        </a:rPr>
                        <a:t>Máy học</a:t>
                      </a:r>
                      <a:endParaRPr lang="en-US" sz="1200">
                        <a:effectLst/>
                      </a:endParaRP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tc>
                  <a:txBody>
                    <a:bodyPr/>
                    <a:lstStyle/>
                    <a:p>
                      <a:pPr fontAlgn="t">
                        <a:buNone/>
                      </a:pPr>
                      <a:r>
                        <a:rPr lang="en-US" sz="1200" b="0">
                          <a:effectLst/>
                          <a:latin typeface="OpenSansBold"/>
                        </a:rPr>
                        <a:t>Học sâu</a:t>
                      </a:r>
                      <a:endParaRPr lang="en-US" sz="1200">
                        <a:effectLst/>
                      </a:endParaRP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extLst>
                  <a:ext uri="{0D108BD9-81ED-4DB2-BD59-A6C34878D82A}">
                    <a16:rowId xmlns:a16="http://schemas.microsoft.com/office/drawing/2014/main" val="2159202356"/>
                  </a:ext>
                </a:extLst>
              </a:tr>
              <a:tr h="725223">
                <a:tc>
                  <a:txBody>
                    <a:bodyPr/>
                    <a:lstStyle/>
                    <a:p>
                      <a:pPr fontAlgn="t">
                        <a:buNone/>
                      </a:pPr>
                      <a:r>
                        <a:rPr lang="en-US" sz="1200">
                          <a:effectLst/>
                        </a:rPr>
                        <a:t>Đó là gì?</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solidFill>
                      <a:srgbClr val="F7F7F7"/>
                    </a:solidFill>
                  </a:tcPr>
                </a:tc>
                <a:tc>
                  <a:txBody>
                    <a:bodyPr/>
                    <a:lstStyle/>
                    <a:p>
                      <a:pPr fontAlgn="t">
                        <a:buNone/>
                      </a:pPr>
                      <a:r>
                        <a:rPr lang="vi-VN" sz="1200">
                          <a:effectLst/>
                        </a:rPr>
                        <a:t>ML là một phương pháp trí tuệ nhân tạo (AI). Không phải tất cả ML đều là học sâu.</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solidFill>
                      <a:srgbClr val="F7F7F7"/>
                    </a:solidFill>
                  </a:tcPr>
                </a:tc>
                <a:tc>
                  <a:txBody>
                    <a:bodyPr/>
                    <a:lstStyle/>
                    <a:p>
                      <a:pPr fontAlgn="t">
                        <a:buNone/>
                      </a:pPr>
                      <a:r>
                        <a:rPr lang="vi-VN" sz="1200">
                          <a:effectLst/>
                        </a:rPr>
                        <a:t>Học sâu là phương pháp ML tiên tiến. Tất cả học sâu là ML.</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solidFill>
                      <a:srgbClr val="F7F7F7"/>
                    </a:solidFill>
                  </a:tcPr>
                </a:tc>
                <a:extLst>
                  <a:ext uri="{0D108BD9-81ED-4DB2-BD59-A6C34878D82A}">
                    <a16:rowId xmlns:a16="http://schemas.microsoft.com/office/drawing/2014/main" val="3429325702"/>
                  </a:ext>
                </a:extLst>
              </a:tr>
              <a:tr h="1081473">
                <a:tc>
                  <a:txBody>
                    <a:bodyPr/>
                    <a:lstStyle/>
                    <a:p>
                      <a:pPr fontAlgn="t">
                        <a:buNone/>
                      </a:pPr>
                      <a:r>
                        <a:rPr lang="vi-VN" sz="1200">
                          <a:effectLst/>
                        </a:rPr>
                        <a:t>Trường hợp sử dụng phù hợp nhất</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tc>
                  <a:txBody>
                    <a:bodyPr/>
                    <a:lstStyle/>
                    <a:p>
                      <a:pPr fontAlgn="t">
                        <a:buNone/>
                      </a:pPr>
                      <a:r>
                        <a:rPr lang="vi-VN" sz="1200" dirty="0">
                          <a:effectLst/>
                        </a:rPr>
                        <a:t>ML là tùy chọn tốt nhất cho các tác vụ được xác định rõ ràng với dữ liệu có cấu trúc và được dán nhãn.</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tc>
                  <a:txBody>
                    <a:bodyPr/>
                    <a:lstStyle/>
                    <a:p>
                      <a:pPr fontAlgn="t">
                        <a:buNone/>
                      </a:pPr>
                      <a:r>
                        <a:rPr lang="vi-VN" sz="1200">
                          <a:effectLst/>
                        </a:rPr>
                        <a:t>Học sâu là tùy chọn tốt nhất để thực hiện các tác vụ phức tạp đòi hỏi máy móc phải hiểu được dữ liệu không có cấu trúc.</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extLst>
                  <a:ext uri="{0D108BD9-81ED-4DB2-BD59-A6C34878D82A}">
                    <a16:rowId xmlns:a16="http://schemas.microsoft.com/office/drawing/2014/main" val="4184124852"/>
                  </a:ext>
                </a:extLst>
              </a:tr>
              <a:tr h="725223">
                <a:tc>
                  <a:txBody>
                    <a:bodyPr/>
                    <a:lstStyle/>
                    <a:p>
                      <a:pPr fontAlgn="t">
                        <a:buNone/>
                      </a:pPr>
                      <a:r>
                        <a:rPr lang="vi-VN" sz="1200">
                          <a:effectLst/>
                        </a:rPr>
                        <a:t>Cách tiếp cận giải quyết sự cố</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solidFill>
                      <a:srgbClr val="F7F7F7"/>
                    </a:solidFill>
                  </a:tcPr>
                </a:tc>
                <a:tc>
                  <a:txBody>
                    <a:bodyPr/>
                    <a:lstStyle/>
                    <a:p>
                      <a:pPr fontAlgn="t">
                        <a:buNone/>
                      </a:pPr>
                      <a:r>
                        <a:rPr lang="vi-VN" sz="1200">
                          <a:effectLst/>
                        </a:rPr>
                        <a:t>ML giải quyết các sự cố thông qua thống kê và toán học.</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solidFill>
                      <a:srgbClr val="F7F7F7"/>
                    </a:solidFill>
                  </a:tcPr>
                </a:tc>
                <a:tc>
                  <a:txBody>
                    <a:bodyPr/>
                    <a:lstStyle/>
                    <a:p>
                      <a:pPr fontAlgn="t">
                        <a:buNone/>
                      </a:pPr>
                      <a:r>
                        <a:rPr lang="vi-VN" sz="1200">
                          <a:effectLst/>
                        </a:rPr>
                        <a:t>Học sâu kết hợp thống kê và toán học với kiến trúc mạng nơ-ron.</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solidFill>
                      <a:srgbClr val="F7F7F7"/>
                    </a:solidFill>
                  </a:tcPr>
                </a:tc>
                <a:extLst>
                  <a:ext uri="{0D108BD9-81ED-4DB2-BD59-A6C34878D82A}">
                    <a16:rowId xmlns:a16="http://schemas.microsoft.com/office/drawing/2014/main" val="132956613"/>
                  </a:ext>
                </a:extLst>
              </a:tr>
              <a:tr h="903348">
                <a:tc>
                  <a:txBody>
                    <a:bodyPr/>
                    <a:lstStyle/>
                    <a:p>
                      <a:pPr fontAlgn="t">
                        <a:buNone/>
                      </a:pPr>
                      <a:r>
                        <a:rPr lang="en-US" sz="1200">
                          <a:effectLst/>
                        </a:rPr>
                        <a:t>Đào tạo</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tc>
                  <a:txBody>
                    <a:bodyPr/>
                    <a:lstStyle/>
                    <a:p>
                      <a:pPr fontAlgn="t">
                        <a:buNone/>
                      </a:pPr>
                      <a:r>
                        <a:rPr lang="vi-VN" sz="1200">
                          <a:effectLst/>
                        </a:rPr>
                        <a:t>Bạn phải tự chọn và trích xuất các đối tượng từ dữ liệu thô và gán trọng số để huấn luyện một mô hình ML.</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tc>
                  <a:txBody>
                    <a:bodyPr/>
                    <a:lstStyle/>
                    <a:p>
                      <a:pPr fontAlgn="t">
                        <a:buNone/>
                      </a:pPr>
                      <a:r>
                        <a:rPr lang="en-US" sz="1200">
                          <a:effectLst/>
                        </a:rPr>
                        <a:t>Các mô hình học sâu có thể tự học bằng cách sử dụng phản hồi từ các lỗi đã xác định.</a:t>
                      </a:r>
                    </a:p>
                  </a:txBody>
                  <a:tcPr marL="95424" marR="95424" marT="95424" marB="95424">
                    <a:lnL>
                      <a:noFill/>
                    </a:lnL>
                    <a:lnR>
                      <a:noFill/>
                    </a:lnR>
                    <a:lnT w="12700" cap="flat" cmpd="sng" algn="ctr">
                      <a:solidFill>
                        <a:srgbClr val="EAEDED"/>
                      </a:solidFill>
                      <a:prstDash val="solid"/>
                      <a:round/>
                      <a:headEnd type="none" w="med" len="med"/>
                      <a:tailEnd type="none" w="med" len="med"/>
                    </a:lnT>
                    <a:lnB w="12700" cap="flat" cmpd="sng" algn="ctr">
                      <a:solidFill>
                        <a:srgbClr val="EAEDED"/>
                      </a:solidFill>
                      <a:prstDash val="solid"/>
                      <a:round/>
                      <a:headEnd type="none" w="med" len="med"/>
                      <a:tailEnd type="none" w="med" len="med"/>
                    </a:lnB>
                    <a:noFill/>
                  </a:tcPr>
                </a:tc>
                <a:extLst>
                  <a:ext uri="{0D108BD9-81ED-4DB2-BD59-A6C34878D82A}">
                    <a16:rowId xmlns:a16="http://schemas.microsoft.com/office/drawing/2014/main" val="426583501"/>
                  </a:ext>
                </a:extLst>
              </a:tr>
              <a:tr h="547098">
                <a:tc>
                  <a:txBody>
                    <a:bodyPr/>
                    <a:lstStyle/>
                    <a:p>
                      <a:pPr fontAlgn="t">
                        <a:buNone/>
                      </a:pPr>
                      <a:r>
                        <a:rPr lang="en-US" sz="1200">
                          <a:effectLst/>
                        </a:rPr>
                        <a:t>Tài nguyên cần thiết</a:t>
                      </a:r>
                    </a:p>
                  </a:txBody>
                  <a:tcPr marL="95424" marR="95424" marT="95424" marB="95424">
                    <a:lnL>
                      <a:noFill/>
                    </a:lnL>
                    <a:lnR>
                      <a:noFill/>
                    </a:lnR>
                    <a:lnT w="12700" cap="flat" cmpd="sng" algn="ctr">
                      <a:solidFill>
                        <a:srgbClr val="EAEDED"/>
                      </a:solidFill>
                      <a:prstDash val="solid"/>
                      <a:round/>
                      <a:headEnd type="none" w="med" len="med"/>
                      <a:tailEnd type="none" w="med" len="med"/>
                    </a:lnT>
                    <a:lnB>
                      <a:noFill/>
                    </a:lnB>
                    <a:solidFill>
                      <a:srgbClr val="F7F7F7"/>
                    </a:solidFill>
                  </a:tcPr>
                </a:tc>
                <a:tc>
                  <a:txBody>
                    <a:bodyPr/>
                    <a:lstStyle/>
                    <a:p>
                      <a:pPr fontAlgn="t">
                        <a:buNone/>
                      </a:pPr>
                      <a:r>
                        <a:rPr lang="vi-VN" sz="1200">
                          <a:effectLst/>
                        </a:rPr>
                        <a:t>ML ít phức tạp hơn và có khối lượng dữ liệu thấp hơn.</a:t>
                      </a:r>
                    </a:p>
                  </a:txBody>
                  <a:tcPr marL="95424" marR="95424" marT="95424" marB="95424">
                    <a:lnL>
                      <a:noFill/>
                    </a:lnL>
                    <a:lnR>
                      <a:noFill/>
                    </a:lnR>
                    <a:lnT w="12700" cap="flat" cmpd="sng" algn="ctr">
                      <a:solidFill>
                        <a:srgbClr val="EAEDED"/>
                      </a:solidFill>
                      <a:prstDash val="solid"/>
                      <a:round/>
                      <a:headEnd type="none" w="med" len="med"/>
                      <a:tailEnd type="none" w="med" len="med"/>
                    </a:lnT>
                    <a:lnB>
                      <a:noFill/>
                    </a:lnB>
                    <a:solidFill>
                      <a:srgbClr val="F7F7F7"/>
                    </a:solidFill>
                  </a:tcPr>
                </a:tc>
                <a:tc>
                  <a:txBody>
                    <a:bodyPr/>
                    <a:lstStyle/>
                    <a:p>
                      <a:pPr fontAlgn="t">
                        <a:buNone/>
                      </a:pPr>
                      <a:r>
                        <a:rPr lang="vi-VN" sz="1200" dirty="0">
                          <a:effectLst/>
                        </a:rPr>
                        <a:t>Học sâu phức tạp hơn với khối lượng dữ liệu rất cao.</a:t>
                      </a:r>
                    </a:p>
                  </a:txBody>
                  <a:tcPr marL="95424" marR="95424" marT="95424" marB="95424">
                    <a:lnL>
                      <a:noFill/>
                    </a:lnL>
                    <a:lnR>
                      <a:noFill/>
                    </a:lnR>
                    <a:lnT w="12700" cap="flat" cmpd="sng" algn="ctr">
                      <a:solidFill>
                        <a:srgbClr val="EAEDED"/>
                      </a:solidFill>
                      <a:prstDash val="solid"/>
                      <a:round/>
                      <a:headEnd type="none" w="med" len="med"/>
                      <a:tailEnd type="none" w="med" len="med"/>
                    </a:lnT>
                    <a:lnB>
                      <a:noFill/>
                    </a:lnB>
                    <a:solidFill>
                      <a:srgbClr val="F7F7F7"/>
                    </a:solidFill>
                  </a:tcPr>
                </a:tc>
                <a:extLst>
                  <a:ext uri="{0D108BD9-81ED-4DB2-BD59-A6C34878D82A}">
                    <a16:rowId xmlns:a16="http://schemas.microsoft.com/office/drawing/2014/main" val="665156362"/>
                  </a:ext>
                </a:extLst>
              </a:tr>
            </a:tbl>
          </a:graphicData>
        </a:graphic>
      </p:graphicFrame>
      <p:sp>
        <p:nvSpPr>
          <p:cNvPr id="3" name="Rectangle 1">
            <a:extLst>
              <a:ext uri="{FF2B5EF4-FFF2-40B4-BE49-F238E27FC236}">
                <a16:creationId xmlns:a16="http://schemas.microsoft.com/office/drawing/2014/main" id="{41119085-98FF-68D4-BA82-B0923FBAA0A3}"/>
              </a:ext>
            </a:extLst>
          </p:cNvPr>
          <p:cNvSpPr>
            <a:spLocks noChangeArrowheads="1"/>
          </p:cNvSpPr>
          <p:nvPr/>
        </p:nvSpPr>
        <p:spPr bwMode="auto">
          <a:xfrm>
            <a:off x="388360" y="754028"/>
            <a:ext cx="3936975" cy="684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solidFill>
                  <a:srgbClr val="000000"/>
                </a:solidFill>
                <a:latin typeface="Arial"/>
              </a:rPr>
              <a:t>Tóm</a:t>
            </a:r>
            <a:r>
              <a:rPr lang="en-US" altLang="en-US" dirty="0">
                <a:solidFill>
                  <a:srgbClr val="000000"/>
                </a:solidFill>
                <a:latin typeface="Arial"/>
              </a:rPr>
              <a:t> </a:t>
            </a:r>
            <a:r>
              <a:rPr lang="en-US" altLang="en-US" dirty="0" err="1">
                <a:solidFill>
                  <a:srgbClr val="000000"/>
                </a:solidFill>
                <a:latin typeface="Arial"/>
              </a:rPr>
              <a:t>tắt</a:t>
            </a:r>
            <a:r>
              <a:rPr lang="en-US" altLang="en-US" dirty="0">
                <a:solidFill>
                  <a:srgbClr val="000000"/>
                </a:solidFill>
                <a:latin typeface="Arial"/>
              </a:rPr>
              <a:t> </a:t>
            </a:r>
            <a:r>
              <a:rPr lang="en-US" altLang="en-US" dirty="0" err="1">
                <a:solidFill>
                  <a:srgbClr val="000000"/>
                </a:solidFill>
                <a:latin typeface="Arial"/>
              </a:rPr>
              <a:t>điểm</a:t>
            </a:r>
            <a:r>
              <a:rPr lang="en-US" altLang="en-US" dirty="0">
                <a:solidFill>
                  <a:srgbClr val="000000"/>
                </a:solidFill>
                <a:latin typeface="Arial"/>
              </a:rPr>
              <a:t> </a:t>
            </a:r>
            <a:r>
              <a:rPr lang="en-US" altLang="en-US" dirty="0" err="1">
                <a:solidFill>
                  <a:srgbClr val="000000"/>
                </a:solidFill>
                <a:latin typeface="Arial"/>
              </a:rPr>
              <a:t>khác</a:t>
            </a:r>
            <a:r>
              <a:rPr lang="en-US" altLang="en-US" dirty="0">
                <a:solidFill>
                  <a:srgbClr val="000000"/>
                </a:solidFill>
                <a:latin typeface="Arial"/>
              </a:rPr>
              <a:t> </a:t>
            </a:r>
            <a:r>
              <a:rPr lang="en-US" altLang="en-US" dirty="0" err="1">
                <a:solidFill>
                  <a:srgbClr val="000000"/>
                </a:solidFill>
                <a:latin typeface="Arial"/>
              </a:rPr>
              <a:t>nhau</a:t>
            </a:r>
            <a:r>
              <a:rPr lang="en-US" altLang="en-US" dirty="0">
                <a:solidFill>
                  <a:srgbClr val="000000"/>
                </a:solidFill>
                <a:latin typeface="Arial"/>
              </a:rPr>
              <a:t>: </a:t>
            </a:r>
            <a:r>
              <a:rPr lang="en-US" altLang="en-US" dirty="0" err="1">
                <a:solidFill>
                  <a:srgbClr val="000000"/>
                </a:solidFill>
                <a:latin typeface="Arial"/>
              </a:rPr>
              <a:t>Máy</a:t>
            </a:r>
            <a:r>
              <a:rPr lang="en-US" altLang="en-US" dirty="0">
                <a:solidFill>
                  <a:srgbClr val="000000"/>
                </a:solidFill>
                <a:latin typeface="Arial"/>
              </a:rPr>
              <a:t> </a:t>
            </a:r>
            <a:r>
              <a:rPr lang="en-US" altLang="en-US" dirty="0" err="1">
                <a:solidFill>
                  <a:srgbClr val="000000"/>
                </a:solidFill>
                <a:latin typeface="Arial"/>
              </a:rPr>
              <a:t>học</a:t>
            </a:r>
            <a:r>
              <a:rPr lang="en-US" altLang="en-US" dirty="0">
                <a:solidFill>
                  <a:srgbClr val="000000"/>
                </a:solidFill>
                <a:latin typeface="Arial"/>
              </a:rPr>
              <a:t> so </a:t>
            </a:r>
            <a:r>
              <a:rPr lang="en-US" altLang="en-US" dirty="0" err="1">
                <a:solidFill>
                  <a:srgbClr val="000000"/>
                </a:solidFill>
                <a:latin typeface="Arial"/>
              </a:rPr>
              <a:t>với</a:t>
            </a:r>
            <a:r>
              <a:rPr lang="en-US" altLang="en-US" dirty="0">
                <a:solidFill>
                  <a:srgbClr val="000000"/>
                </a:solidFill>
                <a:latin typeface="Arial"/>
              </a:rPr>
              <a:t> </a:t>
            </a:r>
            <a:r>
              <a:rPr lang="en-US" altLang="en-US" dirty="0" err="1">
                <a:solidFill>
                  <a:srgbClr val="000000"/>
                </a:solidFill>
                <a:latin typeface="Arial"/>
              </a:rPr>
              <a:t>Học</a:t>
            </a:r>
            <a:r>
              <a:rPr lang="en-US" altLang="en-US" dirty="0">
                <a:solidFill>
                  <a:srgbClr val="000000"/>
                </a:solidFill>
                <a:latin typeface="Arial"/>
              </a:rPr>
              <a:t> </a:t>
            </a:r>
            <a:r>
              <a:rPr lang="en-US" altLang="en-US" dirty="0" err="1">
                <a:solidFill>
                  <a:srgbClr val="000000"/>
                </a:solidFill>
                <a:latin typeface="Arial"/>
              </a:rPr>
              <a:t>sâu</a:t>
            </a:r>
            <a:endParaRPr lang="en-US" altLang="en-US" dirty="0">
              <a:solidFill>
                <a:srgbClr val="000000"/>
              </a:solidFill>
              <a:latin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68692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51B95393-B581-F7FD-5ABD-027B687D2857}"/>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F356A3DD-1649-8CBA-712A-520BA626FD91}"/>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Xây dựng bộ não nhân tạo dựa trên Google Teachable Machine</a:t>
            </a:r>
          </a:p>
        </p:txBody>
      </p:sp>
      <p:sp>
        <p:nvSpPr>
          <p:cNvPr id="177" name="Google Shape;177;p4">
            <a:extLst>
              <a:ext uri="{FF2B5EF4-FFF2-40B4-BE49-F238E27FC236}">
                <a16:creationId xmlns:a16="http://schemas.microsoft.com/office/drawing/2014/main" id="{6EA0CB1B-1084-FFD9-EACC-09F62DB67CCC}"/>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2326657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2DC442F-CAB4-6E07-844C-329C3981C98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FBD5C526-8EA7-761E-BC48-BE5CC8EBAA47}"/>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CF748DA-B426-F07D-775B-1BB4A36B2C2F}"/>
              </a:ext>
            </a:extLst>
          </p:cNvPr>
          <p:cNvSpPr/>
          <p:nvPr/>
        </p:nvSpPr>
        <p:spPr>
          <a:xfrm>
            <a:off x="162320" y="829718"/>
            <a:ext cx="9392645" cy="1938992"/>
          </a:xfrm>
          <a:prstGeom prst="rect">
            <a:avLst/>
          </a:prstGeom>
          <a:noFill/>
          <a:ln>
            <a:noFill/>
          </a:ln>
        </p:spPr>
        <p:txBody>
          <a:bodyPr spcFirstLastPara="1" wrap="square" lIns="0" tIns="0" rIns="0" bIns="0" anchor="t" anchorCtr="0">
            <a:spAutoFit/>
          </a:bodyPr>
          <a:lstStyle/>
          <a:p>
            <a:pPr>
              <a:lnSpc>
                <a:spcPct val="150000"/>
              </a:lnSpc>
            </a:pPr>
            <a:r>
              <a:rPr lang="en-US" b="1" dirty="0" err="1"/>
              <a:t>Giới</a:t>
            </a:r>
            <a:r>
              <a:rPr lang="en-US" b="1" dirty="0"/>
              <a:t> </a:t>
            </a:r>
            <a:r>
              <a:rPr lang="en-US" b="1" dirty="0" err="1"/>
              <a:t>thiệu</a:t>
            </a:r>
            <a:r>
              <a:rPr lang="en-US" b="1" dirty="0"/>
              <a:t> </a:t>
            </a:r>
            <a:r>
              <a:rPr lang="vi-VN" b="1" dirty="0">
                <a:solidFill>
                  <a:schemeClr val="dk1"/>
                </a:solidFill>
              </a:rPr>
              <a:t>Google Teachable Machine </a:t>
            </a:r>
            <a:endParaRPr lang="en-US" b="1" dirty="0">
              <a:solidFill>
                <a:schemeClr val="dk1"/>
              </a:solidFill>
            </a:endParaRPr>
          </a:p>
          <a:p>
            <a:pPr>
              <a:lnSpc>
                <a:spcPct val="150000"/>
              </a:lnSpc>
            </a:pPr>
            <a:r>
              <a:rPr lang="vi-VN" dirty="0"/>
              <a:t>Google Teachable Machine là một công cụ trực tuyến do Google phát triển nhằm hỗ trợ người dùng xây dựng các mô hình trí tuệ nhân tạo một cách dễ dàng mà không cần kiến thức lập trình chuyên sâu.Nền tảng này cho phép người dùng huấn luyện các mô hình học máy trực tiếp trên trình duyệt bằng cách cung cấp dữ liệu mẫu. Sau khi huấn luyện, mô hình có thể nhận dạng hình ảnh, âm thanh hoặc cử chỉ.Teachable Machine được sử dụng phổ biến trong giáo dục, nghiên cứu và các dự án AI cơ bản.</a:t>
            </a:r>
          </a:p>
        </p:txBody>
      </p:sp>
      <p:pic>
        <p:nvPicPr>
          <p:cNvPr id="3074" name="Picture 2" descr="Teachable Machine">
            <a:extLst>
              <a:ext uri="{FF2B5EF4-FFF2-40B4-BE49-F238E27FC236}">
                <a16:creationId xmlns:a16="http://schemas.microsoft.com/office/drawing/2014/main" id="{41AEDE4C-546C-1DF1-2D27-E35C1A9892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436" y="3267948"/>
            <a:ext cx="6429952" cy="2142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1344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D3F2A60-CC2E-CB23-6024-9D0DF2D1FC6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555C2883-6A5B-DD85-A66B-9C4DC7FC59C7}"/>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A643EFF-81F6-41FD-80CC-BD4B5429D31E}"/>
              </a:ext>
            </a:extLst>
          </p:cNvPr>
          <p:cNvSpPr/>
          <p:nvPr/>
        </p:nvSpPr>
        <p:spPr>
          <a:xfrm>
            <a:off x="162320" y="829718"/>
            <a:ext cx="9392645" cy="4201150"/>
          </a:xfrm>
          <a:prstGeom prst="rect">
            <a:avLst/>
          </a:prstGeom>
          <a:noFill/>
          <a:ln>
            <a:noFill/>
          </a:ln>
        </p:spPr>
        <p:txBody>
          <a:bodyPr spcFirstLastPara="1" wrap="square" lIns="0" tIns="0" rIns="0" bIns="0" anchor="t" anchorCtr="0">
            <a:spAutoFit/>
          </a:bodyPr>
          <a:lstStyle/>
          <a:p>
            <a:pPr>
              <a:lnSpc>
                <a:spcPct val="150000"/>
              </a:lnSpc>
            </a:pPr>
            <a:r>
              <a:rPr lang="vi-VN" b="1" dirty="0"/>
              <a:t>Các loại mô hình trong Teachable Machine</a:t>
            </a:r>
          </a:p>
          <a:p>
            <a:pPr marL="285750" indent="-285750">
              <a:lnSpc>
                <a:spcPct val="150000"/>
              </a:lnSpc>
              <a:buFont typeface="Arial" panose="020B0604020202020204" pitchFamily="34" charset="0"/>
              <a:buChar char="•"/>
            </a:pPr>
            <a:r>
              <a:rPr lang="vi-VN" dirty="0"/>
              <a:t>Google Teachable Machine hỗ trợ ba loại mô hình học máy chính.</a:t>
            </a:r>
          </a:p>
          <a:p>
            <a:pPr marL="285750" indent="-285750">
              <a:lnSpc>
                <a:spcPct val="150000"/>
              </a:lnSpc>
              <a:buFont typeface="Arial" panose="020B0604020202020204" pitchFamily="34" charset="0"/>
              <a:buChar char="•"/>
            </a:pPr>
            <a:r>
              <a:rPr lang="vi-VN" dirty="0"/>
              <a:t>Image Project</a:t>
            </a:r>
            <a:r>
              <a:rPr lang="en-US" dirty="0"/>
              <a:t>: </a:t>
            </a:r>
            <a:r>
              <a:rPr lang="vi-VN" dirty="0"/>
              <a:t>Dùng để nhận dạng và phân loại hình ảnh từ webcam hoặc dữ liệu ảnh.</a:t>
            </a:r>
          </a:p>
          <a:p>
            <a:pPr marL="285750" indent="-285750">
              <a:lnSpc>
                <a:spcPct val="150000"/>
              </a:lnSpc>
              <a:buFont typeface="Arial" panose="020B0604020202020204" pitchFamily="34" charset="0"/>
              <a:buChar char="•"/>
            </a:pPr>
            <a:r>
              <a:rPr lang="vi-VN" dirty="0"/>
              <a:t>Audio Project</a:t>
            </a:r>
            <a:r>
              <a:rPr lang="en-US" dirty="0"/>
              <a:t>: </a:t>
            </a:r>
            <a:r>
              <a:rPr lang="vi-VN" dirty="0"/>
              <a:t>Dùng để nhận dạng âm thanh hoặc giọng nói.</a:t>
            </a:r>
          </a:p>
          <a:p>
            <a:pPr marL="285750" indent="-285750">
              <a:lnSpc>
                <a:spcPct val="150000"/>
              </a:lnSpc>
              <a:buFont typeface="Arial" panose="020B0604020202020204" pitchFamily="34" charset="0"/>
              <a:buChar char="•"/>
            </a:pPr>
            <a:r>
              <a:rPr lang="vi-VN" dirty="0"/>
              <a:t>Pose Project</a:t>
            </a:r>
            <a:r>
              <a:rPr lang="en-US" dirty="0"/>
              <a:t>:</a:t>
            </a:r>
            <a:r>
              <a:rPr lang="vi-VN" dirty="0"/>
              <a:t>Dùng để nhận dạng cử chỉ cơ thể thông qua camera.</a:t>
            </a:r>
          </a:p>
          <a:p>
            <a:pPr>
              <a:lnSpc>
                <a:spcPct val="150000"/>
              </a:lnSpc>
            </a:pPr>
            <a:r>
              <a:rPr lang="vi-VN" dirty="0"/>
              <a:t>Các mô hình này đều được xây dựng dựa trên các kỹ thuật học sâu (Deep Learning).</a:t>
            </a:r>
            <a:endParaRPr lang="en-US" dirty="0"/>
          </a:p>
          <a:p>
            <a:pPr>
              <a:lnSpc>
                <a:spcPct val="150000"/>
              </a:lnSpc>
            </a:pPr>
            <a:r>
              <a:rPr lang="vi-VN" b="1" dirty="0"/>
              <a:t>Quy trình xây dựng mô hình AI</a:t>
            </a:r>
          </a:p>
          <a:p>
            <a:pPr>
              <a:lnSpc>
                <a:spcPct val="150000"/>
              </a:lnSpc>
            </a:pPr>
            <a:r>
              <a:rPr lang="vi-VN" dirty="0"/>
              <a:t>Quy trình tạo mô hình trong Teachable Machine gồm các bước chính.</a:t>
            </a:r>
          </a:p>
          <a:p>
            <a:pPr marL="285750" indent="-285750">
              <a:lnSpc>
                <a:spcPct val="150000"/>
              </a:lnSpc>
              <a:buFont typeface="Arial" panose="020B0604020202020204" pitchFamily="34" charset="0"/>
              <a:buChar char="•"/>
            </a:pPr>
            <a:r>
              <a:rPr lang="vi-VN" dirty="0"/>
              <a:t>Thu thập dữ liệu</a:t>
            </a:r>
            <a:r>
              <a:rPr lang="en-US" dirty="0"/>
              <a:t>: </a:t>
            </a:r>
            <a:r>
              <a:rPr lang="vi-VN" dirty="0"/>
              <a:t>Người dùng cung cấp hình ảnh, âm thanh hoặc cử chỉ cho từng lớp dữ liệu.</a:t>
            </a:r>
          </a:p>
          <a:p>
            <a:pPr marL="285750" indent="-285750">
              <a:lnSpc>
                <a:spcPct val="150000"/>
              </a:lnSpc>
              <a:buFont typeface="Arial" panose="020B0604020202020204" pitchFamily="34" charset="0"/>
              <a:buChar char="•"/>
            </a:pPr>
            <a:r>
              <a:rPr lang="vi-VN" dirty="0"/>
              <a:t>Huấn luyện mô hình</a:t>
            </a:r>
            <a:r>
              <a:rPr lang="en-US" dirty="0"/>
              <a:t>: </a:t>
            </a:r>
            <a:r>
              <a:rPr lang="vi-VN" dirty="0"/>
              <a:t>Hệ thống sử dụng thuật toán học máy để học các đặc trưng của dữ liệu.</a:t>
            </a:r>
          </a:p>
          <a:p>
            <a:pPr marL="285750" indent="-285750">
              <a:lnSpc>
                <a:spcPct val="150000"/>
              </a:lnSpc>
              <a:buFont typeface="Arial" panose="020B0604020202020204" pitchFamily="34" charset="0"/>
              <a:buChar char="•"/>
            </a:pPr>
            <a:r>
              <a:rPr lang="vi-VN" dirty="0"/>
              <a:t>Kiểm tra mô hình</a:t>
            </a:r>
            <a:r>
              <a:rPr lang="en-US" dirty="0"/>
              <a:t>: </a:t>
            </a:r>
            <a:r>
              <a:rPr lang="vi-VN" dirty="0"/>
              <a:t>Dữ liệu mới được đưa vào để kiểm tra độ chính xác của mô hình.</a:t>
            </a:r>
          </a:p>
          <a:p>
            <a:pPr marL="285750" indent="-285750">
              <a:lnSpc>
                <a:spcPct val="150000"/>
              </a:lnSpc>
              <a:buFont typeface="Arial" panose="020B0604020202020204" pitchFamily="34" charset="0"/>
              <a:buChar char="•"/>
            </a:pPr>
            <a:r>
              <a:rPr lang="vi-VN" dirty="0"/>
              <a:t>Xuất mô hình</a:t>
            </a:r>
            <a:r>
              <a:rPr lang="en-US" dirty="0"/>
              <a:t>:</a:t>
            </a:r>
            <a:r>
              <a:rPr lang="vi-VN" dirty="0"/>
              <a:t>Mô hình sau khi huấn luyện có thể được xuất ra để sử dụng trong các ứng dụng khác.</a:t>
            </a:r>
          </a:p>
          <a:p>
            <a:pPr>
              <a:lnSpc>
                <a:spcPct val="150000"/>
              </a:lnSpc>
            </a:pPr>
            <a:endParaRPr lang="vi-VN" dirty="0"/>
          </a:p>
        </p:txBody>
      </p:sp>
    </p:spTree>
    <p:extLst>
      <p:ext uri="{BB962C8B-B14F-4D97-AF65-F5344CB8AC3E}">
        <p14:creationId xmlns:p14="http://schemas.microsoft.com/office/powerpoint/2010/main" val="17131637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18390CE-C06E-DDDE-4EB7-E48AB1E94E27}"/>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18FFD0C-6B16-4582-1758-FDF64826AA44}"/>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E338E8F8-FF8A-19D2-E0D2-2029EEB920CB}"/>
              </a:ext>
            </a:extLst>
          </p:cNvPr>
          <p:cNvSpPr/>
          <p:nvPr/>
        </p:nvSpPr>
        <p:spPr>
          <a:xfrm>
            <a:off x="162320" y="829718"/>
            <a:ext cx="9392645" cy="646331"/>
          </a:xfrm>
          <a:prstGeom prst="rect">
            <a:avLst/>
          </a:prstGeom>
          <a:noFill/>
          <a:ln>
            <a:noFill/>
          </a:ln>
        </p:spPr>
        <p:txBody>
          <a:bodyPr spcFirstLastPara="1" wrap="square" lIns="0" tIns="0" rIns="0" bIns="0" anchor="t" anchorCtr="0">
            <a:spAutoFit/>
          </a:bodyPr>
          <a:lstStyle/>
          <a:p>
            <a:pPr>
              <a:lnSpc>
                <a:spcPct val="150000"/>
              </a:lnSpc>
            </a:pPr>
            <a:r>
              <a:rPr lang="vi-VN" dirty="0"/>
              <a:t>.</a:t>
            </a:r>
          </a:p>
          <a:p>
            <a:pPr>
              <a:lnSpc>
                <a:spcPct val="150000"/>
              </a:lnSpc>
            </a:pPr>
            <a:endParaRPr lang="vi-VN" dirty="0"/>
          </a:p>
        </p:txBody>
      </p:sp>
      <p:pic>
        <p:nvPicPr>
          <p:cNvPr id="3" name="Picture 2">
            <a:extLst>
              <a:ext uri="{FF2B5EF4-FFF2-40B4-BE49-F238E27FC236}">
                <a16:creationId xmlns:a16="http://schemas.microsoft.com/office/drawing/2014/main" id="{8427EC80-1F8C-299D-7A20-BCFF79447440}"/>
              </a:ext>
            </a:extLst>
          </p:cNvPr>
          <p:cNvPicPr>
            <a:picLocks noChangeAspect="1"/>
          </p:cNvPicPr>
          <p:nvPr/>
        </p:nvPicPr>
        <p:blipFill>
          <a:blip r:embed="rId3"/>
          <a:stretch>
            <a:fillRect/>
          </a:stretch>
        </p:blipFill>
        <p:spPr>
          <a:xfrm>
            <a:off x="1219199" y="1152883"/>
            <a:ext cx="7630680" cy="4355342"/>
          </a:xfrm>
          <a:prstGeom prst="rect">
            <a:avLst/>
          </a:prstGeom>
        </p:spPr>
      </p:pic>
    </p:spTree>
    <p:extLst>
      <p:ext uri="{BB962C8B-B14F-4D97-AF65-F5344CB8AC3E}">
        <p14:creationId xmlns:p14="http://schemas.microsoft.com/office/powerpoint/2010/main" val="2560567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C2AA8100-0D02-A42A-2D58-5E959D29435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A84BD86-07E6-5003-5C55-2EAFDC971274}"/>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7C96678-B7EA-239E-B395-9A6A70814953}"/>
              </a:ext>
            </a:extLst>
          </p:cNvPr>
          <p:cNvSpPr/>
          <p:nvPr/>
        </p:nvSpPr>
        <p:spPr>
          <a:xfrm>
            <a:off x="162320" y="829718"/>
            <a:ext cx="9392645" cy="5816977"/>
          </a:xfrm>
          <a:prstGeom prst="rect">
            <a:avLst/>
          </a:prstGeom>
          <a:noFill/>
          <a:ln>
            <a:noFill/>
          </a:ln>
        </p:spPr>
        <p:txBody>
          <a:bodyPr spcFirstLastPara="1" wrap="square" lIns="0" tIns="0" rIns="0" bIns="0" anchor="t" anchorCtr="0">
            <a:spAutoFit/>
          </a:bodyPr>
          <a:lstStyle/>
          <a:p>
            <a:pPr>
              <a:lnSpc>
                <a:spcPct val="150000"/>
              </a:lnSpc>
            </a:pPr>
            <a:r>
              <a:rPr lang="vi-VN" b="1" dirty="0"/>
              <a:t>Ứng dụng của Teachable Machine</a:t>
            </a:r>
          </a:p>
          <a:p>
            <a:pPr>
              <a:lnSpc>
                <a:spcPct val="150000"/>
              </a:lnSpc>
            </a:pPr>
            <a:r>
              <a:rPr lang="vi-VN" dirty="0"/>
              <a:t>Teachable Machine có nhiều ứng dụng trong thực tế.</a:t>
            </a:r>
          </a:p>
          <a:p>
            <a:pPr>
              <a:lnSpc>
                <a:spcPct val="150000"/>
              </a:lnSpc>
            </a:pPr>
            <a:r>
              <a:rPr lang="vi-VN" dirty="0"/>
              <a:t>Nhận dạng vật thể hoặc khuôn mặt</a:t>
            </a:r>
            <a:br>
              <a:rPr lang="vi-VN" dirty="0"/>
            </a:br>
            <a:r>
              <a:rPr lang="vi-VN" dirty="0"/>
              <a:t>Phân loại rác thông minh trong các hệ thống IoT</a:t>
            </a:r>
            <a:br>
              <a:rPr lang="vi-VN" dirty="0"/>
            </a:br>
            <a:r>
              <a:rPr lang="vi-VN" dirty="0"/>
              <a:t>Nhận dạng cử chỉ để điều khiển robot</a:t>
            </a:r>
            <a:br>
              <a:rPr lang="vi-VN" dirty="0"/>
            </a:br>
            <a:r>
              <a:rPr lang="vi-VN" dirty="0"/>
              <a:t>Hệ thống nhận dạng âm thanh hoặc giọng nói</a:t>
            </a:r>
            <a:br>
              <a:rPr lang="vi-VN" dirty="0"/>
            </a:br>
            <a:r>
              <a:rPr lang="vi-VN" dirty="0"/>
              <a:t>Ứng dụng học tập về trí tuệ nhân tạo.</a:t>
            </a:r>
          </a:p>
          <a:p>
            <a:pPr>
              <a:lnSpc>
                <a:spcPct val="150000"/>
              </a:lnSpc>
            </a:pPr>
            <a:r>
              <a:rPr lang="vi-VN" dirty="0"/>
              <a:t>Nhờ giao diện đơn giản, công cụ này giúp người học nhanh chóng hiểu cách hoạt động của hệ thống AI.</a:t>
            </a:r>
          </a:p>
          <a:p>
            <a:pPr>
              <a:lnSpc>
                <a:spcPct val="150000"/>
              </a:lnSpc>
            </a:pPr>
            <a:r>
              <a:rPr lang="vi-VN" b="1" dirty="0"/>
              <a:t>Ưu điểm và hạn chế</a:t>
            </a:r>
          </a:p>
          <a:p>
            <a:pPr marL="285750" indent="-285750">
              <a:lnSpc>
                <a:spcPct val="150000"/>
              </a:lnSpc>
              <a:buFont typeface="Arial" panose="020B0604020202020204" pitchFamily="34" charset="0"/>
              <a:buChar char="•"/>
            </a:pPr>
            <a:r>
              <a:rPr lang="vi-VN" dirty="0"/>
              <a:t>Ưu điểm</a:t>
            </a:r>
          </a:p>
          <a:p>
            <a:pPr lvl="2">
              <a:lnSpc>
                <a:spcPct val="150000"/>
              </a:lnSpc>
            </a:pPr>
            <a:r>
              <a:rPr lang="vi-VN" dirty="0"/>
              <a:t>Dễ sử dụng và không yêu cầu kỹ năng lập trình</a:t>
            </a:r>
            <a:br>
              <a:rPr lang="vi-VN" dirty="0"/>
            </a:br>
            <a:r>
              <a:rPr lang="vi-VN" dirty="0"/>
              <a:t>Huấn luyện mô hình nhanh ngay trên trình duyệt</a:t>
            </a:r>
            <a:br>
              <a:rPr lang="vi-VN" dirty="0"/>
            </a:br>
            <a:r>
              <a:rPr lang="vi-VN" dirty="0"/>
              <a:t>Cho phép xuất mô hình sang nhiều nền tảng khác nhau.</a:t>
            </a:r>
          </a:p>
          <a:p>
            <a:pPr marL="285750" indent="-285750">
              <a:lnSpc>
                <a:spcPct val="150000"/>
              </a:lnSpc>
              <a:buFont typeface="Arial" panose="020B0604020202020204" pitchFamily="34" charset="0"/>
              <a:buChar char="•"/>
            </a:pPr>
            <a:r>
              <a:rPr lang="vi-VN" dirty="0"/>
              <a:t>Hạn chế</a:t>
            </a:r>
          </a:p>
          <a:p>
            <a:pPr>
              <a:lnSpc>
                <a:spcPct val="150000"/>
              </a:lnSpc>
            </a:pPr>
            <a:r>
              <a:rPr lang="vi-VN" dirty="0"/>
              <a:t>Phụ thuộc vào chất lượng dữ liệu huấn luyện</a:t>
            </a:r>
            <a:br>
              <a:rPr lang="vi-VN" dirty="0"/>
            </a:br>
            <a:r>
              <a:rPr lang="vi-VN" dirty="0"/>
              <a:t>Không phù hợp cho các mô hình AI phức tạp</a:t>
            </a:r>
            <a:br>
              <a:rPr lang="vi-VN" dirty="0"/>
            </a:br>
            <a:r>
              <a:rPr lang="vi-VN" dirty="0"/>
              <a:t>Độ chính xác có thể giảm khi dữ liệu không đa dạng.</a:t>
            </a:r>
          </a:p>
          <a:p>
            <a:pPr>
              <a:lnSpc>
                <a:spcPct val="150000"/>
              </a:lnSpc>
            </a:pPr>
            <a:endParaRPr lang="vi-VN" dirty="0"/>
          </a:p>
        </p:txBody>
      </p:sp>
    </p:spTree>
    <p:extLst>
      <p:ext uri="{BB962C8B-B14F-4D97-AF65-F5344CB8AC3E}">
        <p14:creationId xmlns:p14="http://schemas.microsoft.com/office/powerpoint/2010/main" val="38345233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1BCD54A-4C6C-D87C-C888-D4C2C4429D6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EC6D65A-51EF-69C3-280D-3FE667D155D0}"/>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C8FE8E07-E21D-2F61-15FC-43E99F55EC08}"/>
              </a:ext>
            </a:extLst>
          </p:cNvPr>
          <p:cNvSpPr/>
          <p:nvPr/>
        </p:nvSpPr>
        <p:spPr>
          <a:xfrm>
            <a:off x="162320" y="829718"/>
            <a:ext cx="9392645" cy="2908489"/>
          </a:xfrm>
          <a:prstGeom prst="rect">
            <a:avLst/>
          </a:prstGeom>
          <a:noFill/>
          <a:ln>
            <a:noFill/>
          </a:ln>
        </p:spPr>
        <p:txBody>
          <a:bodyPr spcFirstLastPara="1" wrap="square" lIns="0" tIns="0" rIns="0" bIns="0" anchor="t" anchorCtr="0">
            <a:spAutoFit/>
          </a:bodyPr>
          <a:lstStyle/>
          <a:p>
            <a:pPr>
              <a:lnSpc>
                <a:spcPct val="150000"/>
              </a:lnSpc>
            </a:pPr>
            <a:r>
              <a:rPr lang="vi-VN" b="1" dirty="0"/>
              <a:t>Khái quát công cụ</a:t>
            </a:r>
          </a:p>
          <a:p>
            <a:pPr>
              <a:lnSpc>
                <a:spcPct val="150000"/>
              </a:lnSpc>
            </a:pPr>
            <a:r>
              <a:rPr lang="vi-VN" dirty="0"/>
              <a:t>Google Teachable Machine là một nền tảng dựa trên trình duyệt, cho phép người dùng xây dựng các mô hình học máy cơ bản mà không yêu cầu kiến thức lập trình chuyên sâu.</a:t>
            </a:r>
          </a:p>
          <a:p>
            <a:pPr>
              <a:lnSpc>
                <a:spcPct val="150000"/>
              </a:lnSpc>
            </a:pPr>
            <a:r>
              <a:rPr lang="vi-VN" dirty="0"/>
              <a:t>Công cụ này hỗ trợ ba dạng bài toán chính:</a:t>
            </a:r>
          </a:p>
          <a:p>
            <a:pPr marL="285750" indent="-285750">
              <a:lnSpc>
                <a:spcPct val="150000"/>
              </a:lnSpc>
              <a:buFont typeface="Arial" panose="020B0604020202020204" pitchFamily="34" charset="0"/>
              <a:buChar char="•"/>
            </a:pPr>
            <a:r>
              <a:rPr lang="vi-VN" dirty="0"/>
              <a:t>Nhận dạng hình ảnh (Image Classification)</a:t>
            </a:r>
          </a:p>
          <a:p>
            <a:pPr marL="285750" indent="-285750">
              <a:lnSpc>
                <a:spcPct val="150000"/>
              </a:lnSpc>
              <a:buFont typeface="Arial" panose="020B0604020202020204" pitchFamily="34" charset="0"/>
              <a:buChar char="•"/>
            </a:pPr>
            <a:r>
              <a:rPr lang="vi-VN" dirty="0"/>
              <a:t>Nhận dạng âm thanh (Audio Classification)</a:t>
            </a:r>
          </a:p>
          <a:p>
            <a:pPr marL="285750" indent="-285750">
              <a:lnSpc>
                <a:spcPct val="150000"/>
              </a:lnSpc>
              <a:buFont typeface="Arial" panose="020B0604020202020204" pitchFamily="34" charset="0"/>
              <a:buChar char="•"/>
            </a:pPr>
            <a:r>
              <a:rPr lang="vi-VN" dirty="0"/>
              <a:t>Nhận dạng tư thế (Pose Estimation)</a:t>
            </a:r>
          </a:p>
          <a:p>
            <a:pPr>
              <a:lnSpc>
                <a:spcPct val="150000"/>
              </a:lnSpc>
            </a:pPr>
            <a:r>
              <a:rPr lang="vi-VN" dirty="0"/>
              <a:t>Điểm đáng chú ý là toàn bộ quy trình — từ thu thập dữ liệu, huấn luyện đến kiểm thử — đều được thực hiện trực tiếp trên giao diện web.</a:t>
            </a:r>
          </a:p>
        </p:txBody>
      </p:sp>
    </p:spTree>
    <p:extLst>
      <p:ext uri="{BB962C8B-B14F-4D97-AF65-F5344CB8AC3E}">
        <p14:creationId xmlns:p14="http://schemas.microsoft.com/office/powerpoint/2010/main" val="34602536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EE489FA-DA46-CCE4-6A9F-CFA3142300C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976EF30-DE8E-9563-A87E-7BB42B837C7C}"/>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5A407DB-9C19-EB28-1541-2F45FD2860E4}"/>
              </a:ext>
            </a:extLst>
          </p:cNvPr>
          <p:cNvSpPr/>
          <p:nvPr/>
        </p:nvSpPr>
        <p:spPr>
          <a:xfrm>
            <a:off x="162320" y="829718"/>
            <a:ext cx="9392645" cy="323165"/>
          </a:xfrm>
          <a:prstGeom prst="rect">
            <a:avLst/>
          </a:prstGeom>
          <a:noFill/>
          <a:ln>
            <a:noFill/>
          </a:ln>
        </p:spPr>
        <p:txBody>
          <a:bodyPr spcFirstLastPara="1" wrap="square" lIns="0" tIns="0" rIns="0" bIns="0" anchor="t" anchorCtr="0">
            <a:spAutoFit/>
          </a:bodyPr>
          <a:lstStyle/>
          <a:p>
            <a:pPr>
              <a:lnSpc>
                <a:spcPct val="150000"/>
              </a:lnSpc>
            </a:pPr>
            <a:r>
              <a:rPr lang="vi-VN" b="1" dirty="0"/>
              <a:t>Khái quát công cụ</a:t>
            </a:r>
          </a:p>
        </p:txBody>
      </p:sp>
      <p:pic>
        <p:nvPicPr>
          <p:cNvPr id="3" name="Picture 2">
            <a:extLst>
              <a:ext uri="{FF2B5EF4-FFF2-40B4-BE49-F238E27FC236}">
                <a16:creationId xmlns:a16="http://schemas.microsoft.com/office/drawing/2014/main" id="{D8EBCC95-27B1-2237-FAEF-4291E0EF1A2E}"/>
              </a:ext>
            </a:extLst>
          </p:cNvPr>
          <p:cNvPicPr>
            <a:picLocks noChangeAspect="1"/>
          </p:cNvPicPr>
          <p:nvPr/>
        </p:nvPicPr>
        <p:blipFill>
          <a:blip r:embed="rId3"/>
          <a:stretch>
            <a:fillRect/>
          </a:stretch>
        </p:blipFill>
        <p:spPr>
          <a:xfrm>
            <a:off x="1043708" y="1152883"/>
            <a:ext cx="7224280" cy="4574136"/>
          </a:xfrm>
          <a:prstGeom prst="rect">
            <a:avLst/>
          </a:prstGeom>
        </p:spPr>
      </p:pic>
    </p:spTree>
    <p:extLst>
      <p:ext uri="{BB962C8B-B14F-4D97-AF65-F5344CB8AC3E}">
        <p14:creationId xmlns:p14="http://schemas.microsoft.com/office/powerpoint/2010/main" val="25970814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3F997EA-1706-9E3D-4C6D-F721DCC56DF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1C68911-A9C0-CB60-8FF9-AE641C84C900}"/>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8664D1F3-1837-8E64-181C-068489B01AA1}"/>
              </a:ext>
            </a:extLst>
          </p:cNvPr>
          <p:cNvSpPr/>
          <p:nvPr/>
        </p:nvSpPr>
        <p:spPr>
          <a:xfrm>
            <a:off x="162320" y="829718"/>
            <a:ext cx="9392645" cy="2908489"/>
          </a:xfrm>
          <a:prstGeom prst="rect">
            <a:avLst/>
          </a:prstGeom>
          <a:noFill/>
          <a:ln>
            <a:noFill/>
          </a:ln>
        </p:spPr>
        <p:txBody>
          <a:bodyPr spcFirstLastPara="1" wrap="square" lIns="0" tIns="0" rIns="0" bIns="0" anchor="t" anchorCtr="0">
            <a:spAutoFit/>
          </a:bodyPr>
          <a:lstStyle/>
          <a:p>
            <a:pPr>
              <a:lnSpc>
                <a:spcPct val="150000"/>
              </a:lnSpc>
            </a:pPr>
            <a:r>
              <a:rPr lang="vi-VN" b="1" dirty="0"/>
              <a:t>Quy trình hoạt động (mang tính mô hình hóa)</a:t>
            </a:r>
          </a:p>
          <a:p>
            <a:pPr>
              <a:lnSpc>
                <a:spcPct val="150000"/>
              </a:lnSpc>
            </a:pPr>
            <a:r>
              <a:rPr lang="vi-VN" dirty="0"/>
              <a:t>Quy trình sử dụng có thể được khái quát thành ba bước:</a:t>
            </a:r>
          </a:p>
          <a:p>
            <a:pPr marL="914400" indent="-452438">
              <a:lnSpc>
                <a:spcPct val="150000"/>
              </a:lnSpc>
              <a:buFont typeface="Arial" panose="020B0604020202020204" pitchFamily="34" charset="0"/>
              <a:buChar char="•"/>
            </a:pPr>
            <a:r>
              <a:rPr lang="vi-VN" b="1" dirty="0"/>
              <a:t>Thu thập dữ liệu (Data Acquisition)</a:t>
            </a:r>
            <a:br>
              <a:rPr lang="vi-VN" dirty="0"/>
            </a:br>
            <a:r>
              <a:rPr lang="vi-VN" dirty="0"/>
              <a:t>Người dùng cung cấp dữ liệu thông qua webcam hoặc microphone.</a:t>
            </a:r>
          </a:p>
          <a:p>
            <a:pPr marL="914400" indent="-452438">
              <a:lnSpc>
                <a:spcPct val="150000"/>
              </a:lnSpc>
              <a:buFont typeface="Arial" panose="020B0604020202020204" pitchFamily="34" charset="0"/>
              <a:buChar char="•"/>
            </a:pPr>
            <a:r>
              <a:rPr lang="vi-VN" b="1" dirty="0"/>
              <a:t>Huấn luyện mô hình (Model Training)</a:t>
            </a:r>
            <a:br>
              <a:rPr lang="vi-VN" dirty="0"/>
            </a:br>
            <a:r>
              <a:rPr lang="vi-VN" dirty="0"/>
              <a:t>Hệ thống sử dụng các kỹ thuật học máy đã được tối ưu hóa sẵn để xây dựng mô hình phân loại.</a:t>
            </a:r>
          </a:p>
          <a:p>
            <a:pPr marL="914400" indent="-452438">
              <a:lnSpc>
                <a:spcPct val="150000"/>
              </a:lnSpc>
              <a:buFont typeface="Arial" panose="020B0604020202020204" pitchFamily="34" charset="0"/>
              <a:buChar char="•"/>
            </a:pPr>
            <a:r>
              <a:rPr lang="vi-VN" b="1" dirty="0"/>
              <a:t>Triển khai (Deployment)</a:t>
            </a:r>
            <a:br>
              <a:rPr lang="vi-VN" dirty="0"/>
            </a:br>
            <a:r>
              <a:rPr lang="vi-VN" dirty="0"/>
              <a:t>Mô hình có thể được xuất dưới dạng TensorFlow.js để tích hợp vào các ứng dụng web hoặc hệ thống nhúng.</a:t>
            </a:r>
          </a:p>
        </p:txBody>
      </p:sp>
      <p:pic>
        <p:nvPicPr>
          <p:cNvPr id="3" name="Picture 2">
            <a:extLst>
              <a:ext uri="{FF2B5EF4-FFF2-40B4-BE49-F238E27FC236}">
                <a16:creationId xmlns:a16="http://schemas.microsoft.com/office/drawing/2014/main" id="{E896EADD-CA63-724E-8737-30A38B988246}"/>
              </a:ext>
            </a:extLst>
          </p:cNvPr>
          <p:cNvPicPr>
            <a:picLocks noChangeAspect="1"/>
          </p:cNvPicPr>
          <p:nvPr/>
        </p:nvPicPr>
        <p:blipFill>
          <a:blip r:embed="rId3"/>
          <a:stretch>
            <a:fillRect/>
          </a:stretch>
        </p:blipFill>
        <p:spPr>
          <a:xfrm>
            <a:off x="2369127" y="3738207"/>
            <a:ext cx="5164570" cy="2571240"/>
          </a:xfrm>
          <a:prstGeom prst="rect">
            <a:avLst/>
          </a:prstGeom>
        </p:spPr>
      </p:pic>
    </p:spTree>
    <p:extLst>
      <p:ext uri="{BB962C8B-B14F-4D97-AF65-F5344CB8AC3E}">
        <p14:creationId xmlns:p14="http://schemas.microsoft.com/office/powerpoint/2010/main" val="17702684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2D9A411-F21C-0667-2E88-1DECF21691A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37F7896-56B3-8F94-1893-E76E9D17DAA7}"/>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DD15D0A-4F49-D433-FEA1-DC2E5B8B943F}"/>
              </a:ext>
            </a:extLst>
          </p:cNvPr>
          <p:cNvSpPr/>
          <p:nvPr/>
        </p:nvSpPr>
        <p:spPr>
          <a:xfrm>
            <a:off x="162320" y="829718"/>
            <a:ext cx="9392645" cy="3231654"/>
          </a:xfrm>
          <a:prstGeom prst="rect">
            <a:avLst/>
          </a:prstGeom>
          <a:noFill/>
          <a:ln>
            <a:noFill/>
          </a:ln>
        </p:spPr>
        <p:txBody>
          <a:bodyPr spcFirstLastPara="1" wrap="square" lIns="0" tIns="0" rIns="0" bIns="0" anchor="t" anchorCtr="0">
            <a:spAutoFit/>
          </a:bodyPr>
          <a:lstStyle/>
          <a:p>
            <a:pPr>
              <a:lnSpc>
                <a:spcPct val="150000"/>
              </a:lnSpc>
            </a:pPr>
            <a:r>
              <a:rPr lang="vi-VN" b="1" dirty="0"/>
              <a:t>Giá trị trong đào tạo và nghiên cứu</a:t>
            </a:r>
          </a:p>
          <a:p>
            <a:pPr>
              <a:lnSpc>
                <a:spcPct val="150000"/>
              </a:lnSpc>
            </a:pPr>
            <a:r>
              <a:rPr lang="vi-VN" dirty="0"/>
              <a:t>Từ góc độ học thuật, công cụ này mang lại một số lợi ích đáng chú ý:</a:t>
            </a:r>
          </a:p>
          <a:p>
            <a:pPr marL="914400" indent="-452438">
              <a:lnSpc>
                <a:spcPct val="150000"/>
              </a:lnSpc>
              <a:buFont typeface="Arial" panose="020B0604020202020204" pitchFamily="34" charset="0"/>
              <a:buChar char="•"/>
            </a:pPr>
            <a:r>
              <a:rPr lang="vi-VN" b="1" dirty="0"/>
              <a:t>Giảm rào cản tiếp cận học máy</a:t>
            </a:r>
            <a:br>
              <a:rPr lang="vi-VN" dirty="0"/>
            </a:br>
            <a:r>
              <a:rPr lang="vi-VN" dirty="0"/>
              <a:t>Sinh viên có thể tập trung vào bản chất của bài toán (dữ liệu, đặc trưng, phân loại) thay vì phụ thuộc vào kỹ thuật lập trình phức tạp.</a:t>
            </a:r>
          </a:p>
          <a:p>
            <a:pPr marL="914400" indent="-452438">
              <a:lnSpc>
                <a:spcPct val="150000"/>
              </a:lnSpc>
              <a:buFont typeface="Arial" panose="020B0604020202020204" pitchFamily="34" charset="0"/>
              <a:buChar char="•"/>
            </a:pPr>
            <a:r>
              <a:rPr lang="vi-VN" b="1" dirty="0"/>
              <a:t>Tăng tính trực quan trong giảng dạy</a:t>
            </a:r>
            <a:br>
              <a:rPr lang="vi-VN" dirty="0"/>
            </a:br>
            <a:r>
              <a:rPr lang="vi-VN" dirty="0"/>
              <a:t>Quá trình huấn luyện và kiểm thử diễn ra theo thời gian thực, giúp minh họa rõ ràng cách mô hình học từ dữ liệu.</a:t>
            </a:r>
          </a:p>
          <a:p>
            <a:pPr marL="914400" indent="-452438">
              <a:lnSpc>
                <a:spcPct val="150000"/>
              </a:lnSpc>
              <a:buFont typeface="Arial" panose="020B0604020202020204" pitchFamily="34" charset="0"/>
              <a:buChar char="•"/>
            </a:pPr>
            <a:r>
              <a:rPr lang="vi-VN" b="1" dirty="0"/>
              <a:t>Hỗ trợ phát triển nguyên mẫu nhanh (Rapid Prototyping)</a:t>
            </a:r>
            <a:br>
              <a:rPr lang="vi-VN" dirty="0"/>
            </a:br>
            <a:r>
              <a:rPr lang="vi-VN" dirty="0"/>
              <a:t>Phù hợp cho các bài tập lớn, đồ án môn học hoặc các dự án thử nghiệm ban đầu.</a:t>
            </a:r>
          </a:p>
        </p:txBody>
      </p:sp>
    </p:spTree>
    <p:extLst>
      <p:ext uri="{BB962C8B-B14F-4D97-AF65-F5344CB8AC3E}">
        <p14:creationId xmlns:p14="http://schemas.microsoft.com/office/powerpoint/2010/main" val="28958334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FFEC32D-84DF-5B65-E65F-19573A956C0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C1481F8A-60C9-575E-A065-F0E8798A4790}"/>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9FFC7E6-87E0-4AFB-5566-216248EB5F55}"/>
              </a:ext>
            </a:extLst>
          </p:cNvPr>
          <p:cNvSpPr/>
          <p:nvPr/>
        </p:nvSpPr>
        <p:spPr>
          <a:xfrm>
            <a:off x="162320" y="829718"/>
            <a:ext cx="9392645" cy="323165"/>
          </a:xfrm>
          <a:prstGeom prst="rect">
            <a:avLst/>
          </a:prstGeom>
          <a:noFill/>
          <a:ln>
            <a:noFill/>
          </a:ln>
        </p:spPr>
        <p:txBody>
          <a:bodyPr spcFirstLastPara="1" wrap="square" lIns="0" tIns="0" rIns="0" bIns="0" anchor="t" anchorCtr="0">
            <a:spAutoFit/>
          </a:bodyPr>
          <a:lstStyle/>
          <a:p>
            <a:pPr>
              <a:lnSpc>
                <a:spcPct val="150000"/>
              </a:lnSpc>
            </a:pPr>
            <a:r>
              <a:rPr lang="vi-VN" b="1" dirty="0"/>
              <a:t>Giá trị trong đào tạo và nghiên cứu</a:t>
            </a:r>
          </a:p>
        </p:txBody>
      </p:sp>
      <p:pic>
        <p:nvPicPr>
          <p:cNvPr id="3" name="Picture 2">
            <a:extLst>
              <a:ext uri="{FF2B5EF4-FFF2-40B4-BE49-F238E27FC236}">
                <a16:creationId xmlns:a16="http://schemas.microsoft.com/office/drawing/2014/main" id="{FC237580-6348-E041-2B76-B7FAFC897415}"/>
              </a:ext>
            </a:extLst>
          </p:cNvPr>
          <p:cNvPicPr>
            <a:picLocks noChangeAspect="1"/>
          </p:cNvPicPr>
          <p:nvPr/>
        </p:nvPicPr>
        <p:blipFill>
          <a:blip r:embed="rId3"/>
          <a:stretch>
            <a:fillRect/>
          </a:stretch>
        </p:blipFill>
        <p:spPr>
          <a:xfrm>
            <a:off x="1052946" y="1806544"/>
            <a:ext cx="7547552" cy="3427931"/>
          </a:xfrm>
          <a:prstGeom prst="rect">
            <a:avLst/>
          </a:prstGeom>
        </p:spPr>
      </p:pic>
    </p:spTree>
    <p:extLst>
      <p:ext uri="{BB962C8B-B14F-4D97-AF65-F5344CB8AC3E}">
        <p14:creationId xmlns:p14="http://schemas.microsoft.com/office/powerpoint/2010/main" val="10308176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2EF07E1-37F5-52D4-B4FB-DB376EC4713C}"/>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1A39F7B2-3560-BB13-6185-B4014EB5D4C2}"/>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C91408D-E1C9-0A41-DB74-24BE8D14611D}"/>
              </a:ext>
            </a:extLst>
          </p:cNvPr>
          <p:cNvSpPr/>
          <p:nvPr/>
        </p:nvSpPr>
        <p:spPr>
          <a:xfrm>
            <a:off x="162320" y="829718"/>
            <a:ext cx="9392645" cy="323165"/>
          </a:xfrm>
          <a:prstGeom prst="rect">
            <a:avLst/>
          </a:prstGeom>
          <a:noFill/>
          <a:ln>
            <a:noFill/>
          </a:ln>
        </p:spPr>
        <p:txBody>
          <a:bodyPr spcFirstLastPara="1" wrap="square" lIns="0" tIns="0" rIns="0" bIns="0" anchor="t" anchorCtr="0">
            <a:spAutoFit/>
          </a:bodyPr>
          <a:lstStyle/>
          <a:p>
            <a:pPr>
              <a:lnSpc>
                <a:spcPct val="150000"/>
              </a:lnSpc>
            </a:pPr>
            <a:r>
              <a:rPr lang="vi-VN" b="1" dirty="0"/>
              <a:t>Giá trị trong đào tạo và nghiên cứu</a:t>
            </a:r>
          </a:p>
        </p:txBody>
      </p:sp>
      <p:pic>
        <p:nvPicPr>
          <p:cNvPr id="4" name="Picture 3">
            <a:extLst>
              <a:ext uri="{FF2B5EF4-FFF2-40B4-BE49-F238E27FC236}">
                <a16:creationId xmlns:a16="http://schemas.microsoft.com/office/drawing/2014/main" id="{A9186D32-BDD1-C4E3-F75F-F79F5844CF15}"/>
              </a:ext>
            </a:extLst>
          </p:cNvPr>
          <p:cNvPicPr>
            <a:picLocks noChangeAspect="1"/>
          </p:cNvPicPr>
          <p:nvPr/>
        </p:nvPicPr>
        <p:blipFill>
          <a:blip r:embed="rId3"/>
          <a:stretch>
            <a:fillRect/>
          </a:stretch>
        </p:blipFill>
        <p:spPr>
          <a:xfrm>
            <a:off x="1117599" y="1414493"/>
            <a:ext cx="8216514" cy="4613789"/>
          </a:xfrm>
          <a:prstGeom prst="rect">
            <a:avLst/>
          </a:prstGeom>
        </p:spPr>
      </p:pic>
    </p:spTree>
    <p:extLst>
      <p:ext uri="{BB962C8B-B14F-4D97-AF65-F5344CB8AC3E}">
        <p14:creationId xmlns:p14="http://schemas.microsoft.com/office/powerpoint/2010/main" val="29170443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5E7EB0E-77B2-AE1D-4AFA-6D173731C4C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D56A0E0-E563-E532-E1BA-AA850B4AA9FA}"/>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Xây dựng bộ não nhân tạo dựa trên Google Teachable Machine</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BDA0413-F6C4-CEA4-997B-BF41C3641403}"/>
              </a:ext>
            </a:extLst>
          </p:cNvPr>
          <p:cNvSpPr/>
          <p:nvPr/>
        </p:nvSpPr>
        <p:spPr>
          <a:xfrm>
            <a:off x="162320" y="829718"/>
            <a:ext cx="9392645" cy="2908489"/>
          </a:xfrm>
          <a:prstGeom prst="rect">
            <a:avLst/>
          </a:prstGeom>
          <a:noFill/>
          <a:ln>
            <a:noFill/>
          </a:ln>
        </p:spPr>
        <p:txBody>
          <a:bodyPr spcFirstLastPara="1" wrap="square" lIns="0" tIns="0" rIns="0" bIns="0" anchor="t" anchorCtr="0">
            <a:spAutoFit/>
          </a:bodyPr>
          <a:lstStyle/>
          <a:p>
            <a:pPr>
              <a:lnSpc>
                <a:spcPct val="150000"/>
              </a:lnSpc>
            </a:pPr>
            <a:r>
              <a:rPr lang="vi-VN" b="1" dirty="0"/>
              <a:t>Khả năng tích hợp hệ thống</a:t>
            </a:r>
          </a:p>
          <a:p>
            <a:pPr>
              <a:lnSpc>
                <a:spcPct val="150000"/>
              </a:lnSpc>
            </a:pPr>
            <a:r>
              <a:rPr lang="vi-VN" dirty="0"/>
              <a:t>Một ưu điểm quan trọng là khả năng kết nối với các nền tảng khác, ví dụ:</a:t>
            </a:r>
          </a:p>
          <a:p>
            <a:pPr marL="1200150" indent="-285750">
              <a:lnSpc>
                <a:spcPct val="150000"/>
              </a:lnSpc>
              <a:buFont typeface="Arial" panose="020B0604020202020204" pitchFamily="34" charset="0"/>
              <a:buChar char="•"/>
            </a:pPr>
            <a:r>
              <a:rPr lang="vi-VN" dirty="0"/>
              <a:t>Tích hợp vào ứng dụng web thông qua TensorFlow.js</a:t>
            </a:r>
          </a:p>
          <a:p>
            <a:pPr marL="1200150" indent="-285750">
              <a:lnSpc>
                <a:spcPct val="150000"/>
              </a:lnSpc>
              <a:buFont typeface="Arial" panose="020B0604020202020204" pitchFamily="34" charset="0"/>
              <a:buChar char="•"/>
            </a:pPr>
            <a:r>
              <a:rPr lang="vi-VN" dirty="0"/>
              <a:t>Kết nối với các hệ thống IoT như ESP32</a:t>
            </a:r>
          </a:p>
          <a:p>
            <a:pPr marL="1200150" indent="-285750">
              <a:lnSpc>
                <a:spcPct val="150000"/>
              </a:lnSpc>
              <a:buFont typeface="Arial" panose="020B0604020202020204" pitchFamily="34" charset="0"/>
              <a:buChar char="•"/>
            </a:pPr>
            <a:r>
              <a:rPr lang="vi-VN" dirty="0"/>
              <a:t>Giao tiếp với nền tảng đám mây như </a:t>
            </a:r>
            <a:r>
              <a:rPr lang="vi-VN" b="1" dirty="0"/>
              <a:t>Adafruit IO</a:t>
            </a:r>
            <a:r>
              <a:rPr lang="vi-VN" dirty="0"/>
              <a:t> để điều khiển thiết bị</a:t>
            </a:r>
          </a:p>
          <a:p>
            <a:pPr>
              <a:lnSpc>
                <a:spcPct val="150000"/>
              </a:lnSpc>
            </a:pPr>
            <a:r>
              <a:rPr lang="vi-VN" dirty="0"/>
              <a:t>Điều này mở ra khả năng xây dựng các hệ thống:</a:t>
            </a:r>
          </a:p>
          <a:p>
            <a:pPr marL="1255713" indent="-341313">
              <a:lnSpc>
                <a:spcPct val="150000"/>
              </a:lnSpc>
              <a:buFont typeface="Arial" panose="020B0604020202020204" pitchFamily="34" charset="0"/>
              <a:buChar char="•"/>
              <a:tabLst>
                <a:tab pos="1200150" algn="l"/>
              </a:tabLst>
            </a:pPr>
            <a:r>
              <a:rPr lang="vi-VN" dirty="0"/>
              <a:t>Nhận diện hành vi người dùng</a:t>
            </a:r>
          </a:p>
          <a:p>
            <a:pPr marL="1255713" indent="-341313">
              <a:lnSpc>
                <a:spcPct val="150000"/>
              </a:lnSpc>
              <a:buFont typeface="Arial" panose="020B0604020202020204" pitchFamily="34" charset="0"/>
              <a:buChar char="•"/>
              <a:tabLst>
                <a:tab pos="1200150" algn="l"/>
              </a:tabLst>
            </a:pPr>
            <a:r>
              <a:rPr lang="vi-VN" dirty="0"/>
              <a:t>Điều khiển thiết bị thông minh</a:t>
            </a:r>
          </a:p>
          <a:p>
            <a:pPr marL="1255713" indent="-341313">
              <a:lnSpc>
                <a:spcPct val="150000"/>
              </a:lnSpc>
              <a:buFont typeface="Arial" panose="020B0604020202020204" pitchFamily="34" charset="0"/>
              <a:buChar char="•"/>
              <a:tabLst>
                <a:tab pos="1200150" algn="l"/>
              </a:tabLst>
            </a:pPr>
            <a:r>
              <a:rPr lang="vi-VN" dirty="0"/>
              <a:t>Giám sát môi trường theo thời gian thực</a:t>
            </a:r>
          </a:p>
        </p:txBody>
      </p:sp>
    </p:spTree>
    <p:extLst>
      <p:ext uri="{BB962C8B-B14F-4D97-AF65-F5344CB8AC3E}">
        <p14:creationId xmlns:p14="http://schemas.microsoft.com/office/powerpoint/2010/main" val="27139043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67F80024-6B7D-A7A4-C13F-9BF6BD91E11D}"/>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852C991C-9ED3-AECD-6A89-83F3290D7A3E}"/>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Các nền tảng hiện thực tối ưu cho Google Teachable Machine </a:t>
            </a:r>
          </a:p>
        </p:txBody>
      </p:sp>
      <p:sp>
        <p:nvSpPr>
          <p:cNvPr id="177" name="Google Shape;177;p4">
            <a:extLst>
              <a:ext uri="{FF2B5EF4-FFF2-40B4-BE49-F238E27FC236}">
                <a16:creationId xmlns:a16="http://schemas.microsoft.com/office/drawing/2014/main" id="{EF67A9FF-47E6-9A81-31E4-9E40CF527F1B}"/>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4.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6341838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56E60C0-64D0-D047-444C-96D68F38ED32}"/>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EB2B702-5A65-5EED-3731-AE1F060D6934}"/>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EE93DAB-7234-69FC-620D-2DD347101482}"/>
              </a:ext>
            </a:extLst>
          </p:cNvPr>
          <p:cNvSpPr/>
          <p:nvPr/>
        </p:nvSpPr>
        <p:spPr>
          <a:xfrm>
            <a:off x="162320" y="829718"/>
            <a:ext cx="9392645" cy="2262158"/>
          </a:xfrm>
          <a:prstGeom prst="rect">
            <a:avLst/>
          </a:prstGeom>
          <a:noFill/>
          <a:ln>
            <a:noFill/>
          </a:ln>
        </p:spPr>
        <p:txBody>
          <a:bodyPr spcFirstLastPara="1" wrap="square" lIns="0" tIns="0" rIns="0" bIns="0" anchor="t" anchorCtr="0">
            <a:spAutoFit/>
          </a:bodyPr>
          <a:lstStyle/>
          <a:p>
            <a:pPr>
              <a:lnSpc>
                <a:spcPct val="150000"/>
              </a:lnSpc>
            </a:pPr>
            <a:r>
              <a:rPr lang="vi-VN" dirty="0"/>
              <a:t>Khi xây dựng mô hình bằng Google Teachable Machine, bước quan trọng tiếp theo là triển khai — tức đưa mô hình vào một môi trường cụ thể để nó hoạt động trong thực tế.</a:t>
            </a:r>
          </a:p>
          <a:p>
            <a:pPr>
              <a:lnSpc>
                <a:spcPct val="150000"/>
              </a:lnSpc>
            </a:pPr>
            <a:r>
              <a:rPr lang="vi-VN" dirty="0"/>
              <a:t>Việc lựa chọn nền tảng triển khai phù hợp sẽ ảnh hưởng trực tiếp đến:</a:t>
            </a:r>
          </a:p>
          <a:p>
            <a:pPr marL="285750" indent="-285750">
              <a:lnSpc>
                <a:spcPct val="150000"/>
              </a:lnSpc>
              <a:buFont typeface="Arial" panose="020B0604020202020204" pitchFamily="34" charset="0"/>
              <a:buChar char="•"/>
            </a:pPr>
            <a:r>
              <a:rPr lang="vi-VN" dirty="0"/>
              <a:t>Hiệu năng hệ thống</a:t>
            </a:r>
          </a:p>
          <a:p>
            <a:pPr marL="285750" indent="-285750">
              <a:lnSpc>
                <a:spcPct val="150000"/>
              </a:lnSpc>
              <a:buFont typeface="Arial" panose="020B0604020202020204" pitchFamily="34" charset="0"/>
              <a:buChar char="•"/>
            </a:pPr>
            <a:r>
              <a:rPr lang="vi-VN" dirty="0"/>
              <a:t>Khả năng mở rộng</a:t>
            </a:r>
          </a:p>
          <a:p>
            <a:pPr marL="285750" indent="-285750">
              <a:lnSpc>
                <a:spcPct val="150000"/>
              </a:lnSpc>
              <a:buFont typeface="Arial" panose="020B0604020202020204" pitchFamily="34" charset="0"/>
              <a:buChar char="•"/>
            </a:pPr>
            <a:r>
              <a:rPr lang="vi-VN" dirty="0"/>
              <a:t>Mức độ dễ sử dụng</a:t>
            </a:r>
          </a:p>
          <a:p>
            <a:pPr marL="285750" indent="-285750">
              <a:lnSpc>
                <a:spcPct val="150000"/>
              </a:lnSpc>
              <a:buFont typeface="Arial" panose="020B0604020202020204" pitchFamily="34" charset="0"/>
              <a:buChar char="•"/>
            </a:pPr>
            <a:r>
              <a:rPr lang="vi-VN" dirty="0"/>
              <a:t>Tính thực tiễn của ứng dụng</a:t>
            </a:r>
          </a:p>
        </p:txBody>
      </p:sp>
    </p:spTree>
    <p:extLst>
      <p:ext uri="{BB962C8B-B14F-4D97-AF65-F5344CB8AC3E}">
        <p14:creationId xmlns:p14="http://schemas.microsoft.com/office/powerpoint/2010/main" val="1333948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EF168F4-25BE-F182-77E2-21B7BF64A5EA}"/>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F0988AC0-D454-9268-6CF8-F902B9A860AE}"/>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FCB9BFD-A61C-80E0-AA24-2D3058682ACA}"/>
              </a:ext>
            </a:extLst>
          </p:cNvPr>
          <p:cNvSpPr/>
          <p:nvPr/>
        </p:nvSpPr>
        <p:spPr>
          <a:xfrm>
            <a:off x="162320" y="681937"/>
            <a:ext cx="9392645" cy="3231654"/>
          </a:xfrm>
          <a:prstGeom prst="rect">
            <a:avLst/>
          </a:prstGeom>
          <a:noFill/>
          <a:ln>
            <a:noFill/>
          </a:ln>
        </p:spPr>
        <p:txBody>
          <a:bodyPr spcFirstLastPara="1" wrap="square" lIns="0" tIns="0" rIns="0" bIns="0" anchor="t" anchorCtr="0">
            <a:spAutoFit/>
          </a:bodyPr>
          <a:lstStyle/>
          <a:p>
            <a:pPr>
              <a:lnSpc>
                <a:spcPct val="150000"/>
              </a:lnSpc>
            </a:pPr>
            <a:r>
              <a:rPr lang="vi-VN" b="1" dirty="0"/>
              <a:t>Nền tảng Web (TensorFlow.js) – Cách tiếp cận trực quan và nhanh nhất</a:t>
            </a:r>
          </a:p>
          <a:p>
            <a:pPr>
              <a:lnSpc>
                <a:spcPct val="150000"/>
              </a:lnSpc>
            </a:pPr>
            <a:r>
              <a:rPr lang="vi-VN" b="1" dirty="0"/>
              <a:t>Bản chất của nền tảng</a:t>
            </a:r>
          </a:p>
          <a:p>
            <a:pPr>
              <a:lnSpc>
                <a:spcPct val="150000"/>
              </a:lnSpc>
            </a:pPr>
            <a:r>
              <a:rPr lang="vi-VN" dirty="0"/>
              <a:t>Sau khi huấn luyện, Teachable Machine cho phép xuất mô hình dưới dạng </a:t>
            </a:r>
            <a:r>
              <a:rPr lang="vi-VN" b="1" dirty="0"/>
              <a:t>TensorFlow.js</a:t>
            </a:r>
            <a:r>
              <a:rPr lang="vi-VN" dirty="0"/>
              <a:t>, tức là mô hình có thể chạy trực tiếp bằng JavaScript trong trình duyệt web.</a:t>
            </a:r>
          </a:p>
          <a:p>
            <a:pPr>
              <a:lnSpc>
                <a:spcPct val="150000"/>
              </a:lnSpc>
            </a:pPr>
            <a:r>
              <a:rPr lang="vi-VN" dirty="0"/>
              <a:t>Điều này có nghĩa là:</a:t>
            </a:r>
          </a:p>
          <a:p>
            <a:pPr>
              <a:lnSpc>
                <a:spcPct val="150000"/>
              </a:lnSpc>
            </a:pPr>
            <a:r>
              <a:rPr lang="vi-VN" dirty="0"/>
              <a:t>Không cần cài phần mềm</a:t>
            </a:r>
          </a:p>
          <a:p>
            <a:pPr>
              <a:lnSpc>
                <a:spcPct val="150000"/>
              </a:lnSpc>
            </a:pPr>
            <a:r>
              <a:rPr lang="vi-VN" dirty="0"/>
              <a:t>Không cần server backend</a:t>
            </a:r>
          </a:p>
          <a:p>
            <a:pPr>
              <a:lnSpc>
                <a:spcPct val="150000"/>
              </a:lnSpc>
            </a:pPr>
            <a:r>
              <a:rPr lang="vi-VN" dirty="0"/>
              <a:t>Không cần GPU chuyên dụng</a:t>
            </a:r>
          </a:p>
          <a:p>
            <a:pPr>
              <a:lnSpc>
                <a:spcPct val="150000"/>
              </a:lnSpc>
            </a:pPr>
            <a:r>
              <a:rPr lang="vi-VN" dirty="0"/>
              <a:t>Toàn bộ quá trình suy luận (inference) diễn ra ngay trên máy người dùng.</a:t>
            </a:r>
          </a:p>
          <a:p>
            <a:pPr>
              <a:lnSpc>
                <a:spcPct val="150000"/>
              </a:lnSpc>
            </a:pPr>
            <a:endParaRPr lang="vi-VN" dirty="0"/>
          </a:p>
        </p:txBody>
      </p:sp>
    </p:spTree>
    <p:extLst>
      <p:ext uri="{BB962C8B-B14F-4D97-AF65-F5344CB8AC3E}">
        <p14:creationId xmlns:p14="http://schemas.microsoft.com/office/powerpoint/2010/main" val="27486432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4EDE080-96F7-EFF4-B61F-B93FBE44AF9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EDBFD3E-D5A6-4A1C-A97F-7F1984E88DA9}"/>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0305B01-BDFF-94D5-CE4B-EF626E15F384}"/>
              </a:ext>
            </a:extLst>
          </p:cNvPr>
          <p:cNvSpPr/>
          <p:nvPr/>
        </p:nvSpPr>
        <p:spPr>
          <a:xfrm>
            <a:off x="162320" y="681937"/>
            <a:ext cx="9392645" cy="646331"/>
          </a:xfrm>
          <a:prstGeom prst="rect">
            <a:avLst/>
          </a:prstGeom>
          <a:noFill/>
          <a:ln>
            <a:noFill/>
          </a:ln>
        </p:spPr>
        <p:txBody>
          <a:bodyPr spcFirstLastPara="1" wrap="square" lIns="0" tIns="0" rIns="0" bIns="0" anchor="t" anchorCtr="0">
            <a:spAutoFit/>
          </a:bodyPr>
          <a:lstStyle/>
          <a:p>
            <a:pPr>
              <a:lnSpc>
                <a:spcPct val="150000"/>
              </a:lnSpc>
            </a:pPr>
            <a:r>
              <a:rPr lang="vi-VN" b="1" dirty="0"/>
              <a:t>Nền tảng Web (TensorFlow.js) – Cách tiếp cận trực quan và nhanh nhất</a:t>
            </a:r>
          </a:p>
          <a:p>
            <a:pPr>
              <a:lnSpc>
                <a:spcPct val="150000"/>
              </a:lnSpc>
            </a:pPr>
            <a:endParaRPr lang="vi-VN" dirty="0"/>
          </a:p>
        </p:txBody>
      </p:sp>
      <p:pic>
        <p:nvPicPr>
          <p:cNvPr id="3" name="Picture 2">
            <a:extLst>
              <a:ext uri="{FF2B5EF4-FFF2-40B4-BE49-F238E27FC236}">
                <a16:creationId xmlns:a16="http://schemas.microsoft.com/office/drawing/2014/main" id="{F58F42C1-6EE7-F9D0-5CC9-FB5238DCA96E}"/>
              </a:ext>
            </a:extLst>
          </p:cNvPr>
          <p:cNvPicPr>
            <a:picLocks noChangeAspect="1"/>
          </p:cNvPicPr>
          <p:nvPr/>
        </p:nvPicPr>
        <p:blipFill>
          <a:blip r:embed="rId3"/>
          <a:stretch>
            <a:fillRect/>
          </a:stretch>
        </p:blipFill>
        <p:spPr>
          <a:xfrm>
            <a:off x="495033" y="1487055"/>
            <a:ext cx="8290192" cy="4431974"/>
          </a:xfrm>
          <a:prstGeom prst="rect">
            <a:avLst/>
          </a:prstGeom>
        </p:spPr>
      </p:pic>
    </p:spTree>
    <p:extLst>
      <p:ext uri="{BB962C8B-B14F-4D97-AF65-F5344CB8AC3E}">
        <p14:creationId xmlns:p14="http://schemas.microsoft.com/office/powerpoint/2010/main" val="729590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C61F1AF-0836-DAD5-DDAD-B715AF0EDAF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B21AF88-A8FE-4428-DD40-E59A87709723}"/>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B57F00C-A810-A6B4-FDAF-BEC4DCC6572C}"/>
              </a:ext>
            </a:extLst>
          </p:cNvPr>
          <p:cNvSpPr/>
          <p:nvPr/>
        </p:nvSpPr>
        <p:spPr>
          <a:xfrm>
            <a:off x="162320" y="681937"/>
            <a:ext cx="9392645" cy="646331"/>
          </a:xfrm>
          <a:prstGeom prst="rect">
            <a:avLst/>
          </a:prstGeom>
          <a:noFill/>
          <a:ln>
            <a:noFill/>
          </a:ln>
        </p:spPr>
        <p:txBody>
          <a:bodyPr spcFirstLastPara="1" wrap="square" lIns="0" tIns="0" rIns="0" bIns="0" anchor="t" anchorCtr="0">
            <a:spAutoFit/>
          </a:bodyPr>
          <a:lstStyle/>
          <a:p>
            <a:pPr>
              <a:lnSpc>
                <a:spcPct val="150000"/>
              </a:lnSpc>
            </a:pPr>
            <a:r>
              <a:rPr lang="vi-VN" b="1" dirty="0"/>
              <a:t>Nền tảng Web (TensorFlow.js) – Cách tiếp cận trực quan và nhanh nhất</a:t>
            </a:r>
          </a:p>
          <a:p>
            <a:pPr>
              <a:lnSpc>
                <a:spcPct val="150000"/>
              </a:lnSpc>
            </a:pPr>
            <a:endParaRPr lang="vi-VN" dirty="0"/>
          </a:p>
        </p:txBody>
      </p:sp>
      <p:pic>
        <p:nvPicPr>
          <p:cNvPr id="4" name="Picture 3">
            <a:extLst>
              <a:ext uri="{FF2B5EF4-FFF2-40B4-BE49-F238E27FC236}">
                <a16:creationId xmlns:a16="http://schemas.microsoft.com/office/drawing/2014/main" id="{9D98EABC-F264-3865-A8EA-C407D0C90A1C}"/>
              </a:ext>
            </a:extLst>
          </p:cNvPr>
          <p:cNvPicPr>
            <a:picLocks noChangeAspect="1"/>
          </p:cNvPicPr>
          <p:nvPr/>
        </p:nvPicPr>
        <p:blipFill>
          <a:blip r:embed="rId3"/>
          <a:stretch>
            <a:fillRect/>
          </a:stretch>
        </p:blipFill>
        <p:spPr>
          <a:xfrm>
            <a:off x="1969969" y="1328268"/>
            <a:ext cx="5777345" cy="4649109"/>
          </a:xfrm>
          <a:prstGeom prst="rect">
            <a:avLst/>
          </a:prstGeom>
        </p:spPr>
      </p:pic>
    </p:spTree>
    <p:extLst>
      <p:ext uri="{BB962C8B-B14F-4D97-AF65-F5344CB8AC3E}">
        <p14:creationId xmlns:p14="http://schemas.microsoft.com/office/powerpoint/2010/main" val="36473836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04E759B-9B30-804B-B5E8-111B42EDEA3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D9F7ACF-234F-054F-794E-225A0253A2E5}"/>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2B84203-3048-3A8B-420A-8F8F54C68669}"/>
              </a:ext>
            </a:extLst>
          </p:cNvPr>
          <p:cNvSpPr/>
          <p:nvPr/>
        </p:nvSpPr>
        <p:spPr>
          <a:xfrm>
            <a:off x="162320" y="681937"/>
            <a:ext cx="9392645" cy="646331"/>
          </a:xfrm>
          <a:prstGeom prst="rect">
            <a:avLst/>
          </a:prstGeom>
          <a:noFill/>
          <a:ln>
            <a:noFill/>
          </a:ln>
        </p:spPr>
        <p:txBody>
          <a:bodyPr spcFirstLastPara="1" wrap="square" lIns="0" tIns="0" rIns="0" bIns="0" anchor="t" anchorCtr="0">
            <a:spAutoFit/>
          </a:bodyPr>
          <a:lstStyle/>
          <a:p>
            <a:pPr>
              <a:lnSpc>
                <a:spcPct val="150000"/>
              </a:lnSpc>
            </a:pPr>
            <a:r>
              <a:rPr lang="vi-VN" b="1" dirty="0"/>
              <a:t>Nền tảng Web (TensorFlow.js) – Cách tiếp cận trực quan và nhanh nhất</a:t>
            </a:r>
          </a:p>
          <a:p>
            <a:pPr>
              <a:lnSpc>
                <a:spcPct val="150000"/>
              </a:lnSpc>
            </a:pPr>
            <a:endParaRPr lang="vi-VN" dirty="0"/>
          </a:p>
        </p:txBody>
      </p:sp>
      <p:pic>
        <p:nvPicPr>
          <p:cNvPr id="3" name="Picture 2">
            <a:extLst>
              <a:ext uri="{FF2B5EF4-FFF2-40B4-BE49-F238E27FC236}">
                <a16:creationId xmlns:a16="http://schemas.microsoft.com/office/drawing/2014/main" id="{13B7D81F-36D7-8672-5AFB-C1EE1F1A8F1E}"/>
              </a:ext>
            </a:extLst>
          </p:cNvPr>
          <p:cNvPicPr>
            <a:picLocks noChangeAspect="1"/>
          </p:cNvPicPr>
          <p:nvPr/>
        </p:nvPicPr>
        <p:blipFill>
          <a:blip r:embed="rId3"/>
          <a:stretch>
            <a:fillRect/>
          </a:stretch>
        </p:blipFill>
        <p:spPr>
          <a:xfrm>
            <a:off x="1465262" y="1838325"/>
            <a:ext cx="6972300" cy="3181350"/>
          </a:xfrm>
          <a:prstGeom prst="rect">
            <a:avLst/>
          </a:prstGeom>
        </p:spPr>
      </p:pic>
    </p:spTree>
    <p:extLst>
      <p:ext uri="{BB962C8B-B14F-4D97-AF65-F5344CB8AC3E}">
        <p14:creationId xmlns:p14="http://schemas.microsoft.com/office/powerpoint/2010/main" val="28534071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8796A61-0C87-0DB6-2730-3778B3C485F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23FB196-1A2C-3705-9298-59C4BF1F975C}"/>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D61F46B-4617-4A06-1C1D-1AC86683D7BF}"/>
              </a:ext>
            </a:extLst>
          </p:cNvPr>
          <p:cNvSpPr/>
          <p:nvPr/>
        </p:nvSpPr>
        <p:spPr>
          <a:xfrm>
            <a:off x="162320" y="681937"/>
            <a:ext cx="9392645" cy="646331"/>
          </a:xfrm>
          <a:prstGeom prst="rect">
            <a:avLst/>
          </a:prstGeom>
          <a:noFill/>
          <a:ln>
            <a:noFill/>
          </a:ln>
        </p:spPr>
        <p:txBody>
          <a:bodyPr spcFirstLastPara="1" wrap="square" lIns="0" tIns="0" rIns="0" bIns="0" anchor="t" anchorCtr="0">
            <a:spAutoFit/>
          </a:bodyPr>
          <a:lstStyle/>
          <a:p>
            <a:pPr>
              <a:lnSpc>
                <a:spcPct val="150000"/>
              </a:lnSpc>
            </a:pPr>
            <a:r>
              <a:rPr lang="vi-VN" b="1" dirty="0"/>
              <a:t>Nền tảng Web (TensorFlow.js) – Cách tiếp cận trực quan và nhanh nhất</a:t>
            </a:r>
          </a:p>
          <a:p>
            <a:pPr>
              <a:lnSpc>
                <a:spcPct val="150000"/>
              </a:lnSpc>
            </a:pPr>
            <a:endParaRPr lang="vi-VN" dirty="0"/>
          </a:p>
        </p:txBody>
      </p:sp>
      <p:pic>
        <p:nvPicPr>
          <p:cNvPr id="4" name="Picture 3">
            <a:extLst>
              <a:ext uri="{FF2B5EF4-FFF2-40B4-BE49-F238E27FC236}">
                <a16:creationId xmlns:a16="http://schemas.microsoft.com/office/drawing/2014/main" id="{1689814F-9845-42ED-9A4F-BDEC353D4165}"/>
              </a:ext>
            </a:extLst>
          </p:cNvPr>
          <p:cNvPicPr>
            <a:picLocks noChangeAspect="1"/>
          </p:cNvPicPr>
          <p:nvPr/>
        </p:nvPicPr>
        <p:blipFill>
          <a:blip r:embed="rId3"/>
          <a:stretch>
            <a:fillRect/>
          </a:stretch>
        </p:blipFill>
        <p:spPr>
          <a:xfrm>
            <a:off x="1948721" y="1630629"/>
            <a:ext cx="5189849" cy="3976202"/>
          </a:xfrm>
          <a:prstGeom prst="rect">
            <a:avLst/>
          </a:prstGeom>
        </p:spPr>
      </p:pic>
    </p:spTree>
    <p:extLst>
      <p:ext uri="{BB962C8B-B14F-4D97-AF65-F5344CB8AC3E}">
        <p14:creationId xmlns:p14="http://schemas.microsoft.com/office/powerpoint/2010/main" val="24192559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2843739-620C-1C70-3277-16390052D1A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520AFE1F-CC1B-70CE-9C6B-B4E144D4872A}"/>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78ABCE4-A4A8-AD29-12B4-031DFC81B342}"/>
              </a:ext>
            </a:extLst>
          </p:cNvPr>
          <p:cNvSpPr/>
          <p:nvPr/>
        </p:nvSpPr>
        <p:spPr>
          <a:xfrm>
            <a:off x="162320" y="681937"/>
            <a:ext cx="9392645" cy="3877985"/>
          </a:xfrm>
          <a:prstGeom prst="rect">
            <a:avLst/>
          </a:prstGeom>
          <a:noFill/>
          <a:ln>
            <a:noFill/>
          </a:ln>
        </p:spPr>
        <p:txBody>
          <a:bodyPr spcFirstLastPara="1" wrap="square" lIns="0" tIns="0" rIns="0" bIns="0" anchor="t" anchorCtr="0">
            <a:spAutoFit/>
          </a:bodyPr>
          <a:lstStyle/>
          <a:p>
            <a:pPr>
              <a:lnSpc>
                <a:spcPct val="150000"/>
              </a:lnSpc>
            </a:pPr>
            <a:r>
              <a:rPr lang="vi-VN" b="1" dirty="0"/>
              <a:t>Nền tảng Raspberry Pi</a:t>
            </a:r>
            <a:endParaRPr lang="en-US" b="1" dirty="0"/>
          </a:p>
          <a:p>
            <a:pPr>
              <a:lnSpc>
                <a:spcPct val="150000"/>
              </a:lnSpc>
            </a:pPr>
            <a:r>
              <a:rPr lang="en-US" dirty="0" err="1"/>
              <a:t>Hệ</a:t>
            </a:r>
            <a:r>
              <a:rPr lang="en-US" dirty="0"/>
              <a:t> </a:t>
            </a:r>
            <a:r>
              <a:rPr lang="en-US" dirty="0" err="1"/>
              <a:t>thống</a:t>
            </a:r>
            <a:r>
              <a:rPr lang="en-US" dirty="0"/>
              <a:t> </a:t>
            </a:r>
            <a:r>
              <a:rPr lang="en-US" dirty="0" err="1"/>
              <a:t>hoạt</a:t>
            </a:r>
            <a:r>
              <a:rPr lang="en-US" dirty="0"/>
              <a:t> </a:t>
            </a:r>
            <a:r>
              <a:rPr lang="en-US" dirty="0" err="1"/>
              <a:t>động</a:t>
            </a:r>
            <a:r>
              <a:rPr lang="en-US" dirty="0"/>
              <a:t> </a:t>
            </a:r>
            <a:r>
              <a:rPr lang="en-US" dirty="0" err="1"/>
              <a:t>theo</a:t>
            </a:r>
            <a:r>
              <a:rPr lang="en-US" dirty="0"/>
              <a:t> pipeline:</a:t>
            </a:r>
          </a:p>
          <a:p>
            <a:pPr>
              <a:lnSpc>
                <a:spcPct val="150000"/>
              </a:lnSpc>
            </a:pPr>
            <a:r>
              <a:rPr lang="en-US" b="1" dirty="0"/>
              <a:t>Thu </a:t>
            </a:r>
            <a:r>
              <a:rPr lang="en-US" b="1" dirty="0" err="1"/>
              <a:t>dữ</a:t>
            </a:r>
            <a:r>
              <a:rPr lang="en-US" b="1" dirty="0"/>
              <a:t> </a:t>
            </a:r>
            <a:r>
              <a:rPr lang="en-US" b="1" dirty="0" err="1"/>
              <a:t>liệu</a:t>
            </a:r>
            <a:endParaRPr lang="en-US" dirty="0"/>
          </a:p>
          <a:p>
            <a:pPr lvl="1">
              <a:lnSpc>
                <a:spcPct val="150000"/>
              </a:lnSpc>
            </a:pPr>
            <a:r>
              <a:rPr lang="en-US" dirty="0"/>
              <a:t>Camera (USB </a:t>
            </a:r>
            <a:r>
              <a:rPr lang="en-US" dirty="0" err="1"/>
              <a:t>hoặc</a:t>
            </a:r>
            <a:r>
              <a:rPr lang="en-US" dirty="0"/>
              <a:t> Pi Camera)</a:t>
            </a:r>
          </a:p>
          <a:p>
            <a:pPr>
              <a:lnSpc>
                <a:spcPct val="150000"/>
              </a:lnSpc>
            </a:pPr>
            <a:r>
              <a:rPr lang="en-US" b="1" dirty="0" err="1"/>
              <a:t>Tiền</a:t>
            </a:r>
            <a:r>
              <a:rPr lang="en-US" b="1" dirty="0"/>
              <a:t> </a:t>
            </a:r>
            <a:r>
              <a:rPr lang="en-US" b="1" dirty="0" err="1"/>
              <a:t>xử</a:t>
            </a:r>
            <a:r>
              <a:rPr lang="en-US" b="1" dirty="0"/>
              <a:t> </a:t>
            </a:r>
            <a:r>
              <a:rPr lang="en-US" b="1" dirty="0" err="1"/>
              <a:t>lý</a:t>
            </a:r>
            <a:endParaRPr lang="en-US" dirty="0"/>
          </a:p>
          <a:p>
            <a:pPr lvl="1">
              <a:lnSpc>
                <a:spcPct val="150000"/>
              </a:lnSpc>
            </a:pPr>
            <a:r>
              <a:rPr lang="en-US" dirty="0"/>
              <a:t>Resize, normalize (</a:t>
            </a:r>
            <a:r>
              <a:rPr lang="en-US" dirty="0" err="1"/>
              <a:t>thực</a:t>
            </a:r>
            <a:r>
              <a:rPr lang="en-US" dirty="0"/>
              <a:t> </a:t>
            </a:r>
            <a:r>
              <a:rPr lang="en-US" dirty="0" err="1"/>
              <a:t>hiện</a:t>
            </a:r>
            <a:r>
              <a:rPr lang="en-US" dirty="0"/>
              <a:t> </a:t>
            </a:r>
            <a:r>
              <a:rPr lang="en-US" dirty="0" err="1"/>
              <a:t>trong</a:t>
            </a:r>
            <a:r>
              <a:rPr lang="en-US" dirty="0"/>
              <a:t> JS </a:t>
            </a:r>
            <a:r>
              <a:rPr lang="en-US" dirty="0" err="1"/>
              <a:t>hoặc</a:t>
            </a:r>
            <a:r>
              <a:rPr lang="en-US" dirty="0"/>
              <a:t> TensorFlow)</a:t>
            </a:r>
          </a:p>
          <a:p>
            <a:pPr>
              <a:lnSpc>
                <a:spcPct val="150000"/>
              </a:lnSpc>
            </a:pPr>
            <a:r>
              <a:rPr lang="en-US" b="1" dirty="0"/>
              <a:t>Suy </a:t>
            </a:r>
            <a:r>
              <a:rPr lang="en-US" b="1" dirty="0" err="1"/>
              <a:t>luận</a:t>
            </a:r>
            <a:r>
              <a:rPr lang="en-US" b="1" dirty="0"/>
              <a:t> (Inference)</a:t>
            </a:r>
            <a:endParaRPr lang="en-US" dirty="0"/>
          </a:p>
          <a:p>
            <a:pPr lvl="1">
              <a:lnSpc>
                <a:spcPct val="150000"/>
              </a:lnSpc>
            </a:pPr>
            <a:r>
              <a:rPr lang="en-US" dirty="0"/>
              <a:t>Thông qua </a:t>
            </a:r>
            <a:r>
              <a:rPr lang="en-US" b="1" dirty="0"/>
              <a:t>TensorFlow.js</a:t>
            </a:r>
            <a:endParaRPr lang="en-US" dirty="0"/>
          </a:p>
          <a:p>
            <a:pPr>
              <a:lnSpc>
                <a:spcPct val="150000"/>
              </a:lnSpc>
            </a:pPr>
            <a:r>
              <a:rPr lang="en-US" b="1" dirty="0" err="1"/>
              <a:t>Xử</a:t>
            </a:r>
            <a:r>
              <a:rPr lang="en-US" b="1" dirty="0"/>
              <a:t> </a:t>
            </a:r>
            <a:r>
              <a:rPr lang="en-US" b="1" dirty="0" err="1"/>
              <a:t>lý</a:t>
            </a:r>
            <a:r>
              <a:rPr lang="en-US" b="1" dirty="0"/>
              <a:t> </a:t>
            </a:r>
            <a:r>
              <a:rPr lang="en-US" b="1" dirty="0" err="1"/>
              <a:t>kết</a:t>
            </a:r>
            <a:r>
              <a:rPr lang="en-US" b="1" dirty="0"/>
              <a:t> </a:t>
            </a:r>
            <a:r>
              <a:rPr lang="en-US" b="1" dirty="0" err="1"/>
              <a:t>quả</a:t>
            </a:r>
            <a:endParaRPr lang="en-US" dirty="0"/>
          </a:p>
          <a:p>
            <a:pPr lvl="1">
              <a:lnSpc>
                <a:spcPct val="150000"/>
              </a:lnSpc>
            </a:pPr>
            <a:r>
              <a:rPr lang="en-US" dirty="0"/>
              <a:t>Hiển </a:t>
            </a:r>
            <a:r>
              <a:rPr lang="en-US" dirty="0" err="1"/>
              <a:t>thị</a:t>
            </a:r>
            <a:r>
              <a:rPr lang="en-US" dirty="0"/>
              <a:t> </a:t>
            </a:r>
            <a:r>
              <a:rPr lang="en-US" dirty="0" err="1"/>
              <a:t>trên</a:t>
            </a:r>
            <a:r>
              <a:rPr lang="en-US" dirty="0"/>
              <a:t> web</a:t>
            </a:r>
          </a:p>
          <a:p>
            <a:pPr lvl="1">
              <a:lnSpc>
                <a:spcPct val="150000"/>
              </a:lnSpc>
            </a:pPr>
            <a:r>
              <a:rPr lang="en-US" dirty="0" err="1"/>
              <a:t>Gửi</a:t>
            </a:r>
            <a:r>
              <a:rPr lang="en-US" dirty="0"/>
              <a:t> </a:t>
            </a:r>
            <a:r>
              <a:rPr lang="en-US" dirty="0" err="1"/>
              <a:t>tín</a:t>
            </a:r>
            <a:r>
              <a:rPr lang="en-US" dirty="0"/>
              <a:t> </a:t>
            </a:r>
            <a:r>
              <a:rPr lang="en-US" dirty="0" err="1"/>
              <a:t>hiệu</a:t>
            </a:r>
            <a:r>
              <a:rPr lang="en-US" dirty="0"/>
              <a:t> </a:t>
            </a:r>
            <a:r>
              <a:rPr lang="en-US" dirty="0" err="1"/>
              <a:t>đến</a:t>
            </a:r>
            <a:r>
              <a:rPr lang="en-US" dirty="0"/>
              <a:t> </a:t>
            </a:r>
            <a:r>
              <a:rPr lang="en-US" dirty="0" err="1"/>
              <a:t>thiết</a:t>
            </a:r>
            <a:r>
              <a:rPr lang="en-US" dirty="0"/>
              <a:t> </a:t>
            </a:r>
            <a:r>
              <a:rPr lang="en-US" dirty="0" err="1"/>
              <a:t>bị</a:t>
            </a:r>
            <a:r>
              <a:rPr lang="en-US" dirty="0"/>
              <a:t> </a:t>
            </a:r>
            <a:r>
              <a:rPr lang="en-US" dirty="0" err="1"/>
              <a:t>khác</a:t>
            </a:r>
            <a:r>
              <a:rPr lang="en-US" dirty="0"/>
              <a:t> (ESP32, LED, server)</a:t>
            </a:r>
          </a:p>
          <a:p>
            <a:pPr>
              <a:lnSpc>
                <a:spcPct val="150000"/>
              </a:lnSpc>
            </a:pPr>
            <a:endParaRPr lang="vi-VN" dirty="0"/>
          </a:p>
        </p:txBody>
      </p:sp>
    </p:spTree>
    <p:extLst>
      <p:ext uri="{BB962C8B-B14F-4D97-AF65-F5344CB8AC3E}">
        <p14:creationId xmlns:p14="http://schemas.microsoft.com/office/powerpoint/2010/main" val="128587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C31501B-2A36-E55A-40FD-958F6AE066E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F2196D8-FFF3-DE86-7FF1-D6801540B1C3}"/>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8EF6DEE-0B34-DE09-A802-49EA042C567B}"/>
              </a:ext>
            </a:extLst>
          </p:cNvPr>
          <p:cNvSpPr/>
          <p:nvPr/>
        </p:nvSpPr>
        <p:spPr>
          <a:xfrm>
            <a:off x="162320" y="681937"/>
            <a:ext cx="9392645" cy="646331"/>
          </a:xfrm>
          <a:prstGeom prst="rect">
            <a:avLst/>
          </a:prstGeom>
          <a:noFill/>
          <a:ln>
            <a:noFill/>
          </a:ln>
        </p:spPr>
        <p:txBody>
          <a:bodyPr spcFirstLastPara="1" wrap="square" lIns="0" tIns="0" rIns="0" bIns="0" anchor="t" anchorCtr="0">
            <a:spAutoFit/>
          </a:bodyPr>
          <a:lstStyle/>
          <a:p>
            <a:pPr>
              <a:lnSpc>
                <a:spcPct val="150000"/>
              </a:lnSpc>
            </a:pPr>
            <a:r>
              <a:rPr lang="vi-VN" b="1" dirty="0"/>
              <a:t>Nền tảng </a:t>
            </a:r>
            <a:r>
              <a:rPr lang="en-US" b="1" dirty="0"/>
              <a:t>Adafruit IO</a:t>
            </a:r>
          </a:p>
          <a:p>
            <a:pPr>
              <a:lnSpc>
                <a:spcPct val="150000"/>
              </a:lnSpc>
            </a:pPr>
            <a:r>
              <a:rPr lang="en-US" dirty="0"/>
              <a:t>Khi </a:t>
            </a:r>
            <a:r>
              <a:rPr lang="en-US" dirty="0" err="1"/>
              <a:t>tích</a:t>
            </a:r>
            <a:r>
              <a:rPr lang="en-US" dirty="0"/>
              <a:t> </a:t>
            </a:r>
            <a:r>
              <a:rPr lang="en-US" dirty="0" err="1"/>
              <a:t>hợp</a:t>
            </a:r>
            <a:r>
              <a:rPr lang="en-US" dirty="0"/>
              <a:t> </a:t>
            </a:r>
            <a:r>
              <a:rPr lang="en-US" dirty="0" err="1"/>
              <a:t>với</a:t>
            </a:r>
            <a:r>
              <a:rPr lang="en-US" dirty="0"/>
              <a:t> Adafruit IO:AI </a:t>
            </a:r>
            <a:r>
              <a:rPr lang="en-US" dirty="0" err="1"/>
              <a:t>không</a:t>
            </a:r>
            <a:r>
              <a:rPr lang="en-US" dirty="0"/>
              <a:t> </a:t>
            </a:r>
            <a:r>
              <a:rPr lang="en-US" dirty="0" err="1"/>
              <a:t>chỉ</a:t>
            </a:r>
            <a:r>
              <a:rPr lang="en-US" dirty="0"/>
              <a:t> </a:t>
            </a:r>
            <a:r>
              <a:rPr lang="en-US" dirty="0" err="1"/>
              <a:t>nhận</a:t>
            </a:r>
            <a:r>
              <a:rPr lang="en-US" dirty="0"/>
              <a:t> </a:t>
            </a:r>
            <a:r>
              <a:rPr lang="en-US" dirty="0" err="1"/>
              <a:t>diệnMà</a:t>
            </a:r>
            <a:r>
              <a:rPr lang="en-US" dirty="0"/>
              <a:t> </a:t>
            </a:r>
            <a:r>
              <a:rPr lang="en-US" dirty="0" err="1"/>
              <a:t>còn</a:t>
            </a:r>
            <a:r>
              <a:rPr lang="en-US" dirty="0"/>
              <a:t> </a:t>
            </a:r>
            <a:r>
              <a:rPr lang="en-US" dirty="0" err="1"/>
              <a:t>gửi</a:t>
            </a:r>
            <a:r>
              <a:rPr lang="en-US" dirty="0"/>
              <a:t> </a:t>
            </a:r>
            <a:r>
              <a:rPr lang="en-US" dirty="0" err="1"/>
              <a:t>kết</a:t>
            </a:r>
            <a:r>
              <a:rPr lang="en-US" dirty="0"/>
              <a:t> </a:t>
            </a:r>
            <a:r>
              <a:rPr lang="en-US" dirty="0" err="1"/>
              <a:t>quả</a:t>
            </a:r>
            <a:r>
              <a:rPr lang="en-US" dirty="0"/>
              <a:t> </a:t>
            </a:r>
            <a:r>
              <a:rPr lang="en-US" dirty="0" err="1"/>
              <a:t>lên</a:t>
            </a:r>
            <a:r>
              <a:rPr lang="en-US" dirty="0"/>
              <a:t> cloud → </a:t>
            </a:r>
            <a:r>
              <a:rPr lang="en-US" dirty="0" err="1"/>
              <a:t>điều</a:t>
            </a:r>
            <a:r>
              <a:rPr lang="en-US" dirty="0"/>
              <a:t> </a:t>
            </a:r>
            <a:r>
              <a:rPr lang="en-US" dirty="0" err="1"/>
              <a:t>khiển</a:t>
            </a:r>
            <a:r>
              <a:rPr lang="en-US" dirty="0"/>
              <a:t> IoT</a:t>
            </a:r>
            <a:endParaRPr lang="vi-VN" dirty="0"/>
          </a:p>
        </p:txBody>
      </p:sp>
      <p:pic>
        <p:nvPicPr>
          <p:cNvPr id="1026" name="Picture 2" descr="MQTT Based Raspberry Pi Home Automation: Controlling Raspberry Pi GPIO using MQTT Cloud">
            <a:extLst>
              <a:ext uri="{FF2B5EF4-FFF2-40B4-BE49-F238E27FC236}">
                <a16:creationId xmlns:a16="http://schemas.microsoft.com/office/drawing/2014/main" id="{C3400D13-C1BC-078A-8778-FEFD4B398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513364"/>
            <a:ext cx="4979988" cy="3831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7443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3EB2B8E-1C23-36FD-3929-499791CB72E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B4444AD-252A-EE56-A9D5-76B8BD019B63}"/>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E16A9FC-0CBC-BDDA-FB28-21A1F01E0E39}"/>
              </a:ext>
            </a:extLst>
          </p:cNvPr>
          <p:cNvSpPr/>
          <p:nvPr/>
        </p:nvSpPr>
        <p:spPr>
          <a:xfrm>
            <a:off x="162320" y="681937"/>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Nền tảng </a:t>
            </a:r>
            <a:r>
              <a:rPr lang="en-US" b="1" dirty="0"/>
              <a:t>Adafruit IO</a:t>
            </a:r>
          </a:p>
          <a:p>
            <a:pPr>
              <a:lnSpc>
                <a:spcPct val="150000"/>
              </a:lnSpc>
            </a:pPr>
            <a:r>
              <a:rPr lang="vi-VN" b="1" dirty="0"/>
              <a:t>Pipeline hoạt động:</a:t>
            </a:r>
          </a:p>
          <a:p>
            <a:pPr marL="1200150" indent="-285750">
              <a:lnSpc>
                <a:spcPct val="150000"/>
              </a:lnSpc>
              <a:buFont typeface="Arial" panose="020B0604020202020204" pitchFamily="34" charset="0"/>
              <a:buChar char="•"/>
            </a:pPr>
            <a:r>
              <a:rPr lang="vi-VN" b="1" dirty="0"/>
              <a:t>Thu dữ liệu</a:t>
            </a:r>
            <a:endParaRPr lang="vi-VN" dirty="0"/>
          </a:p>
          <a:p>
            <a:pPr marL="1200150" lvl="1" indent="400050">
              <a:lnSpc>
                <a:spcPct val="150000"/>
              </a:lnSpc>
              <a:buFont typeface="Arial" panose="020B0604020202020204" pitchFamily="34" charset="0"/>
              <a:buChar char="•"/>
            </a:pPr>
            <a:r>
              <a:rPr lang="vi-VN" dirty="0"/>
              <a:t>Camera (webcam / Pi camera)</a:t>
            </a:r>
          </a:p>
          <a:p>
            <a:pPr marL="1200150" indent="-285750">
              <a:lnSpc>
                <a:spcPct val="150000"/>
              </a:lnSpc>
              <a:buFont typeface="Arial" panose="020B0604020202020204" pitchFamily="34" charset="0"/>
              <a:buChar char="•"/>
            </a:pPr>
            <a:r>
              <a:rPr lang="vi-VN" b="1" dirty="0"/>
              <a:t>Xử lý AI</a:t>
            </a:r>
            <a:endParaRPr lang="vi-VN" dirty="0"/>
          </a:p>
          <a:p>
            <a:pPr marL="1200150" lvl="1" indent="400050">
              <a:lnSpc>
                <a:spcPct val="150000"/>
              </a:lnSpc>
              <a:buFont typeface="Arial" panose="020B0604020202020204" pitchFamily="34" charset="0"/>
              <a:buChar char="•"/>
            </a:pPr>
            <a:r>
              <a:rPr lang="vi-VN" dirty="0"/>
              <a:t>Chạy model bằng:</a:t>
            </a:r>
          </a:p>
          <a:p>
            <a:pPr marL="1200150" lvl="2" indent="400050">
              <a:lnSpc>
                <a:spcPct val="150000"/>
              </a:lnSpc>
              <a:buFont typeface="Arial" panose="020B0604020202020204" pitchFamily="34" charset="0"/>
              <a:buChar char="•"/>
            </a:pPr>
            <a:r>
              <a:rPr lang="vi-VN" dirty="0"/>
              <a:t>TensorFlow.js</a:t>
            </a:r>
          </a:p>
          <a:p>
            <a:pPr marL="1200150" indent="-285750">
              <a:lnSpc>
                <a:spcPct val="150000"/>
              </a:lnSpc>
              <a:buFont typeface="Arial" panose="020B0604020202020204" pitchFamily="34" charset="0"/>
              <a:buChar char="•"/>
            </a:pPr>
            <a:r>
              <a:rPr lang="vi-VN" b="1" dirty="0"/>
              <a:t>Gửi dữ liệu lên cloud</a:t>
            </a:r>
            <a:endParaRPr lang="vi-VN" dirty="0"/>
          </a:p>
          <a:p>
            <a:pPr marL="1200150" lvl="1" indent="400050">
              <a:lnSpc>
                <a:spcPct val="150000"/>
              </a:lnSpc>
              <a:buFont typeface="Arial" panose="020B0604020202020204" pitchFamily="34" charset="0"/>
              <a:buChar char="•"/>
            </a:pPr>
            <a:r>
              <a:rPr lang="vi-VN" dirty="0"/>
              <a:t>Raspberry Pi / Web gửi kết quả (class label) lên:</a:t>
            </a:r>
          </a:p>
          <a:p>
            <a:pPr marL="1200150" lvl="2" indent="400050">
              <a:lnSpc>
                <a:spcPct val="150000"/>
              </a:lnSpc>
              <a:buFont typeface="Arial" panose="020B0604020202020204" pitchFamily="34" charset="0"/>
              <a:buChar char="•"/>
            </a:pPr>
            <a:r>
              <a:rPr lang="vi-VN" dirty="0"/>
              <a:t>Adafruit IO (qua MQTT hoặc HTTP)</a:t>
            </a:r>
          </a:p>
          <a:p>
            <a:pPr marL="1200150" indent="-285750">
              <a:lnSpc>
                <a:spcPct val="150000"/>
              </a:lnSpc>
              <a:buFont typeface="Arial" panose="020B0604020202020204" pitchFamily="34" charset="0"/>
              <a:buChar char="•"/>
            </a:pPr>
            <a:r>
              <a:rPr lang="vi-VN" b="1" dirty="0"/>
              <a:t>Cloud xử lý</a:t>
            </a:r>
            <a:endParaRPr lang="vi-VN" dirty="0"/>
          </a:p>
          <a:p>
            <a:pPr marL="1200150" lvl="1" indent="400050">
              <a:lnSpc>
                <a:spcPct val="150000"/>
              </a:lnSpc>
              <a:buFont typeface="Arial" panose="020B0604020202020204" pitchFamily="34" charset="0"/>
              <a:buChar char="•"/>
            </a:pPr>
            <a:r>
              <a:rPr lang="vi-VN" dirty="0"/>
              <a:t>Lưu vào </a:t>
            </a:r>
            <a:r>
              <a:rPr lang="vi-VN" b="1" dirty="0"/>
              <a:t>Feed</a:t>
            </a:r>
            <a:endParaRPr lang="vi-VN" dirty="0"/>
          </a:p>
          <a:p>
            <a:pPr marL="1200150" lvl="1" indent="400050">
              <a:lnSpc>
                <a:spcPct val="150000"/>
              </a:lnSpc>
              <a:buFont typeface="Arial" panose="020B0604020202020204" pitchFamily="34" charset="0"/>
              <a:buChar char="•"/>
            </a:pPr>
            <a:r>
              <a:rPr lang="vi-VN" dirty="0"/>
              <a:t>Hiển thị trên </a:t>
            </a:r>
            <a:r>
              <a:rPr lang="vi-VN" b="1" dirty="0"/>
              <a:t>Dashboard</a:t>
            </a:r>
            <a:endParaRPr lang="vi-VN" dirty="0"/>
          </a:p>
          <a:p>
            <a:pPr marL="1200150" indent="400050">
              <a:lnSpc>
                <a:spcPct val="150000"/>
              </a:lnSpc>
              <a:buFont typeface="Arial" panose="020B0604020202020204" pitchFamily="34" charset="0"/>
              <a:buChar char="•"/>
            </a:pPr>
            <a:r>
              <a:rPr lang="vi-VN" b="1" dirty="0"/>
              <a:t>Thiết bị nhận lệnh</a:t>
            </a:r>
            <a:endParaRPr lang="vi-VN" dirty="0"/>
          </a:p>
          <a:p>
            <a:pPr marL="1200150" lvl="1" indent="400050">
              <a:lnSpc>
                <a:spcPct val="150000"/>
              </a:lnSpc>
              <a:buFont typeface="Arial" panose="020B0604020202020204" pitchFamily="34" charset="0"/>
              <a:buChar char="•"/>
            </a:pPr>
            <a:r>
              <a:rPr lang="vi-VN" dirty="0"/>
              <a:t>ESP32 subscribe feed</a:t>
            </a:r>
          </a:p>
          <a:p>
            <a:pPr marL="1200150" lvl="1" indent="400050">
              <a:lnSpc>
                <a:spcPct val="150000"/>
              </a:lnSpc>
              <a:buFont typeface="Arial" panose="020B0604020202020204" pitchFamily="34" charset="0"/>
              <a:buChar char="•"/>
            </a:pPr>
            <a:r>
              <a:rPr lang="vi-VN" dirty="0"/>
              <a:t>Bật/tắt LED, relay, motor…</a:t>
            </a:r>
          </a:p>
        </p:txBody>
      </p:sp>
    </p:spTree>
    <p:extLst>
      <p:ext uri="{BB962C8B-B14F-4D97-AF65-F5344CB8AC3E}">
        <p14:creationId xmlns:p14="http://schemas.microsoft.com/office/powerpoint/2010/main" val="11205513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B9EFB7B-9C3C-FDA4-9BD4-7BA0659260F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5A822BC-B6FF-7E78-F5A5-2D2770874045}"/>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42C1E84-ED06-02BC-5E91-ADB055F659A0}"/>
              </a:ext>
            </a:extLst>
          </p:cNvPr>
          <p:cNvSpPr/>
          <p:nvPr/>
        </p:nvSpPr>
        <p:spPr>
          <a:xfrm>
            <a:off x="162320" y="681937"/>
            <a:ext cx="9392645" cy="6140142"/>
          </a:xfrm>
          <a:prstGeom prst="rect">
            <a:avLst/>
          </a:prstGeom>
          <a:noFill/>
          <a:ln>
            <a:noFill/>
          </a:ln>
        </p:spPr>
        <p:txBody>
          <a:bodyPr spcFirstLastPara="1" wrap="square" lIns="0" tIns="0" rIns="0" bIns="0" anchor="t" anchorCtr="0">
            <a:spAutoFit/>
          </a:bodyPr>
          <a:lstStyle/>
          <a:p>
            <a:pPr>
              <a:lnSpc>
                <a:spcPct val="150000"/>
              </a:lnSpc>
            </a:pPr>
            <a:r>
              <a:rPr lang="vi-VN" b="1" dirty="0"/>
              <a:t>Nền tảng </a:t>
            </a:r>
            <a:r>
              <a:rPr lang="en-US" b="1" dirty="0"/>
              <a:t>Adafruit IO</a:t>
            </a:r>
          </a:p>
          <a:p>
            <a:pPr>
              <a:lnSpc>
                <a:spcPct val="150000"/>
              </a:lnSpc>
            </a:pPr>
            <a:r>
              <a:rPr lang="vi-VN" b="1" dirty="0"/>
              <a:t>MQTT</a:t>
            </a:r>
            <a:r>
              <a:rPr lang="vi-VN" dirty="0"/>
              <a:t> (Message Queuing Telemetry Transport) là một giao thức truyền thông theo mô hình </a:t>
            </a:r>
            <a:r>
              <a:rPr lang="vi-VN" b="1" dirty="0"/>
              <a:t>publish/subscribe</a:t>
            </a:r>
            <a:r>
              <a:rPr lang="vi-VN" dirty="0"/>
              <a:t>, được thiết kế chuyên biệt cho các hệ thống </a:t>
            </a:r>
            <a:r>
              <a:rPr lang="vi-VN" b="1" dirty="0"/>
              <a:t>IoT có tài nguyên hạn chế</a:t>
            </a:r>
            <a:r>
              <a:rPr lang="vi-VN" dirty="0"/>
              <a:t> và yêu cầu truyền dữ liệu theo thời gian thực.</a:t>
            </a:r>
          </a:p>
          <a:p>
            <a:pPr>
              <a:lnSpc>
                <a:spcPct val="150000"/>
              </a:lnSpc>
            </a:pPr>
            <a:r>
              <a:rPr lang="vi-VN" dirty="0"/>
              <a:t>Trong nền tảng </a:t>
            </a:r>
            <a:r>
              <a:rPr lang="vi-VN" b="1" dirty="0"/>
              <a:t>Adafruit IO</a:t>
            </a:r>
            <a:r>
              <a:rPr lang="vi-VN" dirty="0"/>
              <a:t>, MQTT đóng vai trò là </a:t>
            </a:r>
            <a:r>
              <a:rPr lang="vi-VN" b="1" dirty="0"/>
              <a:t>cầu nối trung gian</a:t>
            </a:r>
            <a:r>
              <a:rPr lang="vi-VN" dirty="0"/>
              <a:t> giữa hệ thống trí tuệ nhân tạo (AI) và các thiết bị phần cứng như </a:t>
            </a:r>
            <a:r>
              <a:rPr lang="vi-VN" b="1" dirty="0"/>
              <a:t>ESP32</a:t>
            </a:r>
            <a:r>
              <a:rPr lang="vi-VN" dirty="0"/>
              <a:t>.</a:t>
            </a:r>
          </a:p>
          <a:p>
            <a:pPr>
              <a:lnSpc>
                <a:spcPct val="150000"/>
              </a:lnSpc>
            </a:pPr>
            <a:r>
              <a:rPr lang="vi-VN" b="1" dirty="0"/>
              <a:t>Cơ chế Publish (Gửi dữ liệu)</a:t>
            </a:r>
          </a:p>
          <a:p>
            <a:pPr>
              <a:lnSpc>
                <a:spcPct val="150000"/>
              </a:lnSpc>
            </a:pPr>
            <a:r>
              <a:rPr lang="vi-VN" dirty="0"/>
              <a:t>Trong mô hình này, hệ thống AI (chạy trên Raspberry Pi hoặc trình duyệt web với </a:t>
            </a:r>
            <a:r>
              <a:rPr lang="vi-VN" b="1" dirty="0"/>
              <a:t>Google Teachable Machine</a:t>
            </a:r>
            <a:r>
              <a:rPr lang="vi-VN" dirty="0"/>
              <a:t>) sẽ đóng vai trò là </a:t>
            </a:r>
            <a:r>
              <a:rPr lang="vi-VN" b="1" dirty="0"/>
              <a:t>publisher</a:t>
            </a:r>
            <a:r>
              <a:rPr lang="vi-VN" dirty="0"/>
              <a:t>.</a:t>
            </a:r>
          </a:p>
          <a:p>
            <a:pPr>
              <a:lnSpc>
                <a:spcPct val="150000"/>
              </a:lnSpc>
            </a:pPr>
            <a:r>
              <a:rPr lang="vi-VN" dirty="0"/>
              <a:t>Quy trình hoạt động:</a:t>
            </a:r>
          </a:p>
          <a:p>
            <a:pPr>
              <a:lnSpc>
                <a:spcPct val="150000"/>
              </a:lnSpc>
            </a:pPr>
            <a:r>
              <a:rPr lang="vi-VN" dirty="0"/>
              <a:t>Sau khi nhận dữ liệu từ camera, mô hình AI thực hiện suy luận (inference)</a:t>
            </a:r>
          </a:p>
          <a:p>
            <a:pPr>
              <a:lnSpc>
                <a:spcPct val="150000"/>
              </a:lnSpc>
            </a:pPr>
            <a:r>
              <a:rPr lang="vi-VN" dirty="0"/>
              <a:t>Kết quả dự đoán (ví dụ: “Open”, “Closed”, “Mask”, “No Mask”) được chuyển thành dữ liệu số hoặc chuỗi</a:t>
            </a:r>
          </a:p>
          <a:p>
            <a:pPr>
              <a:lnSpc>
                <a:spcPct val="150000"/>
              </a:lnSpc>
            </a:pPr>
            <a:r>
              <a:rPr lang="vi-VN" dirty="0"/>
              <a:t>Dữ liệu này được gửi (publish) lên một </a:t>
            </a:r>
            <a:r>
              <a:rPr lang="vi-VN" b="1" dirty="0"/>
              <a:t>Feed</a:t>
            </a:r>
            <a:r>
              <a:rPr lang="vi-VN" dirty="0"/>
              <a:t> trên Adafruit IO thông qua giao thức MQTT</a:t>
            </a:r>
          </a:p>
          <a:p>
            <a:pPr>
              <a:lnSpc>
                <a:spcPct val="150000"/>
              </a:lnSpc>
            </a:pPr>
            <a:r>
              <a:rPr lang="vi-VN" dirty="0"/>
              <a:t>Ví dụ:</a:t>
            </a:r>
          </a:p>
          <a:p>
            <a:pPr>
              <a:lnSpc>
                <a:spcPct val="150000"/>
              </a:lnSpc>
            </a:pPr>
            <a:r>
              <a:rPr lang="vi-VN" dirty="0"/>
              <a:t>Topic: username/feeds/led</a:t>
            </a:r>
            <a:br>
              <a:rPr lang="vi-VN" dirty="0"/>
            </a:br>
            <a:r>
              <a:rPr lang="vi-VN" dirty="0"/>
              <a:t>Payload: 1</a:t>
            </a:r>
          </a:p>
          <a:p>
            <a:pPr>
              <a:lnSpc>
                <a:spcPct val="150000"/>
              </a:lnSpc>
            </a:pPr>
            <a:r>
              <a:rPr lang="vi-VN" dirty="0"/>
              <a:t>Điều này có nghĩa:</a:t>
            </a:r>
          </a:p>
          <a:p>
            <a:pPr>
              <a:lnSpc>
                <a:spcPct val="150000"/>
              </a:lnSpc>
            </a:pPr>
            <a:r>
              <a:rPr lang="vi-VN" dirty="0"/>
              <a:t>AI đã phát hiện một trạng thái cụ thể</a:t>
            </a:r>
          </a:p>
          <a:p>
            <a:pPr>
              <a:lnSpc>
                <a:spcPct val="150000"/>
              </a:lnSpc>
            </a:pPr>
            <a:r>
              <a:rPr lang="vi-VN" dirty="0"/>
              <a:t>Giá trị tương ứng được truyền lên cloud để các thiết bị khác có thể sử dụng</a:t>
            </a:r>
          </a:p>
          <a:p>
            <a:pPr lvl="1">
              <a:lnSpc>
                <a:spcPct val="150000"/>
              </a:lnSpc>
            </a:pPr>
            <a:endParaRPr lang="vi-VN" dirty="0"/>
          </a:p>
        </p:txBody>
      </p:sp>
    </p:spTree>
    <p:extLst>
      <p:ext uri="{BB962C8B-B14F-4D97-AF65-F5344CB8AC3E}">
        <p14:creationId xmlns:p14="http://schemas.microsoft.com/office/powerpoint/2010/main" val="14311506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971A9DB-B075-D45A-2FA9-CA08D808CF95}"/>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1E69578-7A78-E2BF-F398-0A25C191DA41}"/>
              </a:ext>
            </a:extLst>
          </p:cNvPr>
          <p:cNvSpPr/>
          <p:nvPr/>
        </p:nvSpPr>
        <p:spPr>
          <a:xfrm>
            <a:off x="162321" y="244943"/>
            <a:ext cx="9578184" cy="584775"/>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4. </a:t>
            </a:r>
            <a:r>
              <a:rPr lang="vi-VN" sz="2400" b="1" dirty="0">
                <a:solidFill>
                  <a:schemeClr val="dk1"/>
                </a:solidFill>
              </a:rPr>
              <a:t>Các nền tảng hiện thực tối ưu cho Google Teachable Machine </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B758490-53E2-B0C6-E229-7BC3BB1F41A4}"/>
              </a:ext>
            </a:extLst>
          </p:cNvPr>
          <p:cNvSpPr/>
          <p:nvPr/>
        </p:nvSpPr>
        <p:spPr>
          <a:xfrm>
            <a:off x="162320" y="681937"/>
            <a:ext cx="9392645" cy="4524315"/>
          </a:xfrm>
          <a:prstGeom prst="rect">
            <a:avLst/>
          </a:prstGeom>
          <a:noFill/>
          <a:ln>
            <a:noFill/>
          </a:ln>
        </p:spPr>
        <p:txBody>
          <a:bodyPr spcFirstLastPara="1" wrap="square" lIns="0" tIns="0" rIns="0" bIns="0" anchor="t" anchorCtr="0">
            <a:spAutoFit/>
          </a:bodyPr>
          <a:lstStyle/>
          <a:p>
            <a:pPr>
              <a:lnSpc>
                <a:spcPct val="150000"/>
              </a:lnSpc>
            </a:pPr>
            <a:r>
              <a:rPr lang="vi-VN" b="1" dirty="0"/>
              <a:t>Nền tảng </a:t>
            </a:r>
            <a:r>
              <a:rPr lang="en-US" b="1" dirty="0"/>
              <a:t>Adafruit IO</a:t>
            </a:r>
          </a:p>
          <a:p>
            <a:pPr>
              <a:lnSpc>
                <a:spcPct val="150000"/>
              </a:lnSpc>
            </a:pPr>
            <a:r>
              <a:rPr lang="vi-VN" b="1" dirty="0"/>
              <a:t>Cơ chế Subscribe (Nhận dữ liệu)</a:t>
            </a:r>
          </a:p>
          <a:p>
            <a:pPr>
              <a:lnSpc>
                <a:spcPct val="150000"/>
              </a:lnSpc>
            </a:pPr>
            <a:r>
              <a:rPr lang="vi-VN" dirty="0"/>
              <a:t>Ở phía thiết bị, </a:t>
            </a:r>
            <a:r>
              <a:rPr lang="vi-VN" b="1" dirty="0"/>
              <a:t>ESP32</a:t>
            </a:r>
            <a:r>
              <a:rPr lang="vi-VN" dirty="0"/>
              <a:t> đóng vai trò là </a:t>
            </a:r>
            <a:r>
              <a:rPr lang="vi-VN" b="1" dirty="0"/>
              <a:t>subscriber</a:t>
            </a:r>
            <a:r>
              <a:rPr lang="vi-VN" dirty="0"/>
              <a:t>.</a:t>
            </a:r>
          </a:p>
          <a:p>
            <a:pPr>
              <a:lnSpc>
                <a:spcPct val="150000"/>
              </a:lnSpc>
            </a:pPr>
            <a:r>
              <a:rPr lang="vi-VN" dirty="0"/>
              <a:t>Quy trình:</a:t>
            </a:r>
          </a:p>
          <a:p>
            <a:pPr>
              <a:lnSpc>
                <a:spcPct val="150000"/>
              </a:lnSpc>
            </a:pPr>
            <a:r>
              <a:rPr lang="vi-VN" dirty="0"/>
              <a:t>ESP32 kết nối đến MQTT broker của Adafruit IO</a:t>
            </a:r>
          </a:p>
          <a:p>
            <a:pPr>
              <a:lnSpc>
                <a:spcPct val="150000"/>
              </a:lnSpc>
            </a:pPr>
            <a:r>
              <a:rPr lang="vi-VN" dirty="0"/>
              <a:t>Đăng ký (subscribe) vào một Feed cụ thể</a:t>
            </a:r>
          </a:p>
          <a:p>
            <a:pPr>
              <a:lnSpc>
                <a:spcPct val="150000"/>
              </a:lnSpc>
            </a:pPr>
            <a:r>
              <a:rPr lang="vi-VN" dirty="0"/>
              <a:t>Khi có dữ liệu mới được publish lên Feed, ESP32 sẽ nhận ngay lập tức</a:t>
            </a:r>
          </a:p>
          <a:p>
            <a:pPr>
              <a:lnSpc>
                <a:spcPct val="150000"/>
              </a:lnSpc>
            </a:pPr>
            <a:r>
              <a:rPr lang="vi-VN" dirty="0"/>
              <a:t>Ví dụ:</a:t>
            </a:r>
          </a:p>
          <a:p>
            <a:pPr>
              <a:lnSpc>
                <a:spcPct val="150000"/>
              </a:lnSpc>
            </a:pPr>
            <a:r>
              <a:rPr lang="vi-VN" dirty="0"/>
              <a:t>Subscribe: username/feeds/led</a:t>
            </a:r>
          </a:p>
          <a:p>
            <a:pPr>
              <a:lnSpc>
                <a:spcPct val="150000"/>
              </a:lnSpc>
            </a:pPr>
            <a:r>
              <a:rPr lang="vi-VN" dirty="0"/>
              <a:t>Khi nhận được:</a:t>
            </a:r>
          </a:p>
          <a:p>
            <a:pPr>
              <a:lnSpc>
                <a:spcPct val="150000"/>
              </a:lnSpc>
            </a:pPr>
            <a:r>
              <a:rPr lang="vi-VN" dirty="0"/>
              <a:t>Payload = 1 → bật LED</a:t>
            </a:r>
            <a:br>
              <a:rPr lang="vi-VN" dirty="0"/>
            </a:br>
            <a:r>
              <a:rPr lang="vi-VN" dirty="0"/>
              <a:t>Payload = 0 → tắt LED</a:t>
            </a:r>
          </a:p>
          <a:p>
            <a:pPr>
              <a:lnSpc>
                <a:spcPct val="150000"/>
              </a:lnSpc>
            </a:pPr>
            <a:r>
              <a:rPr lang="vi-VN" dirty="0"/>
              <a:t>Như vậy, ESP32 không cần liên tục hỏi (polling) mà sẽ </a:t>
            </a:r>
            <a:r>
              <a:rPr lang="vi-VN" b="1" dirty="0"/>
              <a:t>tự động nhận dữ liệu khi có thay đổi</a:t>
            </a:r>
            <a:r>
              <a:rPr lang="vi-VN" dirty="0"/>
              <a:t>, giúp tối ưu hiệu năng.</a:t>
            </a:r>
          </a:p>
          <a:p>
            <a:pPr lvl="1">
              <a:lnSpc>
                <a:spcPct val="150000"/>
              </a:lnSpc>
            </a:pPr>
            <a:endParaRPr lang="vi-VN" dirty="0"/>
          </a:p>
        </p:txBody>
      </p:sp>
    </p:spTree>
    <p:extLst>
      <p:ext uri="{BB962C8B-B14F-4D97-AF65-F5344CB8AC3E}">
        <p14:creationId xmlns:p14="http://schemas.microsoft.com/office/powerpoint/2010/main" val="21401259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B423691-8148-AD80-8CB3-F50F96AF85A0}"/>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AE49C3B2-BECF-3031-DDDE-89AD862B5CF3}"/>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Phương pháp tích hợp trí tuệ nhân tạo vào ứng dụng kết nối vạn vật</a:t>
            </a:r>
          </a:p>
        </p:txBody>
      </p:sp>
      <p:sp>
        <p:nvSpPr>
          <p:cNvPr id="177" name="Google Shape;177;p4">
            <a:extLst>
              <a:ext uri="{FF2B5EF4-FFF2-40B4-BE49-F238E27FC236}">
                <a16:creationId xmlns:a16="http://schemas.microsoft.com/office/drawing/2014/main" id="{A50E225C-7930-0CDF-17D2-FCDC48DE7352}"/>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rPr>
              <a:t>5</a:t>
            </a:r>
            <a:r>
              <a:rPr lang="en-US" sz="2000" b="1" dirty="0">
                <a:solidFill>
                  <a:srgbClr val="7F7F7F"/>
                </a:solidFill>
                <a:latin typeface="Arial"/>
                <a:ea typeface="Arial"/>
                <a:cs typeface="Arial"/>
                <a:sym typeface="Arial"/>
              </a:rPr>
              <a:t>.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3318804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D0067D1-DF72-5966-DEAF-6EF1CFBE250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C18E333-CF92-0FE5-1C22-6961C5199F8A}"/>
              </a:ext>
            </a:extLst>
          </p:cNvPr>
          <p:cNvSpPr/>
          <p:nvPr/>
        </p:nvSpPr>
        <p:spPr>
          <a:xfrm>
            <a:off x="162321" y="244943"/>
            <a:ext cx="9578184" cy="1323439"/>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5. </a:t>
            </a:r>
            <a:r>
              <a:rPr lang="vi-VN" sz="2400" b="1" dirty="0">
                <a:solidFill>
                  <a:schemeClr val="dk1"/>
                </a:solidFill>
              </a:rPr>
              <a:t>Phương pháp tích hợp trí tuệ nhân tạo vào ứng dụng kết nối vạn vật</a:t>
            </a:r>
          </a:p>
          <a:p>
            <a:r>
              <a:rPr lang="en-US" sz="2400" b="1" dirty="0">
                <a:solidFill>
                  <a:srgbClr val="0C0C0C"/>
                </a:solidFill>
                <a:latin typeface="Arial"/>
                <a:ea typeface="Arial"/>
                <a:cs typeface="Arial"/>
                <a:sym typeface="Arial"/>
              </a:rPr>
              <a:t> </a:t>
            </a:r>
            <a:endParaRPr lang="vi-VN" sz="2400" b="1" dirty="0">
              <a:solidFill>
                <a:schemeClr val="dk1"/>
              </a:solidFil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E2B8E8C-6CFB-70C4-C076-3DD4C9756757}"/>
              </a:ext>
            </a:extLst>
          </p:cNvPr>
          <p:cNvSpPr/>
          <p:nvPr/>
        </p:nvSpPr>
        <p:spPr>
          <a:xfrm>
            <a:off x="162320" y="1166842"/>
            <a:ext cx="9392645" cy="969496"/>
          </a:xfrm>
          <a:prstGeom prst="rect">
            <a:avLst/>
          </a:prstGeom>
          <a:noFill/>
          <a:ln>
            <a:noFill/>
          </a:ln>
        </p:spPr>
        <p:txBody>
          <a:bodyPr spcFirstLastPara="1" wrap="square" lIns="0" tIns="0" rIns="0" bIns="0" anchor="t" anchorCtr="0">
            <a:spAutoFit/>
          </a:bodyPr>
          <a:lstStyle/>
          <a:p>
            <a:pPr>
              <a:lnSpc>
                <a:spcPct val="150000"/>
              </a:lnSpc>
            </a:pPr>
            <a:r>
              <a:rPr lang="en-US" b="1" dirty="0" err="1"/>
              <a:t>Tạo</a:t>
            </a:r>
            <a:r>
              <a:rPr lang="en-US" b="1" dirty="0"/>
              <a:t> feed </a:t>
            </a:r>
            <a:r>
              <a:rPr lang="en-US" b="1" dirty="0" err="1"/>
              <a:t>trong</a:t>
            </a:r>
            <a:r>
              <a:rPr lang="en-US" b="1" dirty="0"/>
              <a:t> Adafruit IO</a:t>
            </a:r>
          </a:p>
          <a:p>
            <a:pPr>
              <a:lnSpc>
                <a:spcPct val="150000"/>
              </a:lnSpc>
            </a:pPr>
            <a:r>
              <a:rPr lang="vi-VN" dirty="0"/>
              <a:t>.</a:t>
            </a:r>
          </a:p>
          <a:p>
            <a:pPr lvl="1">
              <a:lnSpc>
                <a:spcPct val="150000"/>
              </a:lnSpc>
            </a:pPr>
            <a:endParaRPr lang="vi-VN" dirty="0"/>
          </a:p>
        </p:txBody>
      </p:sp>
      <p:pic>
        <p:nvPicPr>
          <p:cNvPr id="5" name="Picture 4">
            <a:extLst>
              <a:ext uri="{FF2B5EF4-FFF2-40B4-BE49-F238E27FC236}">
                <a16:creationId xmlns:a16="http://schemas.microsoft.com/office/drawing/2014/main" id="{2468064B-4FB8-C0F6-E682-8B96430E2147}"/>
              </a:ext>
            </a:extLst>
          </p:cNvPr>
          <p:cNvPicPr>
            <a:picLocks noChangeAspect="1"/>
          </p:cNvPicPr>
          <p:nvPr/>
        </p:nvPicPr>
        <p:blipFill>
          <a:blip r:embed="rId3"/>
          <a:stretch>
            <a:fillRect/>
          </a:stretch>
        </p:blipFill>
        <p:spPr>
          <a:xfrm>
            <a:off x="836612" y="1651590"/>
            <a:ext cx="6800850" cy="1247775"/>
          </a:xfrm>
          <a:prstGeom prst="rect">
            <a:avLst/>
          </a:prstGeom>
        </p:spPr>
      </p:pic>
    </p:spTree>
    <p:extLst>
      <p:ext uri="{BB962C8B-B14F-4D97-AF65-F5344CB8AC3E}">
        <p14:creationId xmlns:p14="http://schemas.microsoft.com/office/powerpoint/2010/main" val="38045761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CD72F00A-4616-7B99-E5F3-4C0D609D5CF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AE15DCEF-0197-DAFC-0644-B4F3F79A2FF1}"/>
              </a:ext>
            </a:extLst>
          </p:cNvPr>
          <p:cNvSpPr/>
          <p:nvPr/>
        </p:nvSpPr>
        <p:spPr>
          <a:xfrm>
            <a:off x="162321" y="244943"/>
            <a:ext cx="9578184" cy="1323439"/>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5. </a:t>
            </a:r>
            <a:r>
              <a:rPr lang="vi-VN" sz="2400" b="1" dirty="0">
                <a:solidFill>
                  <a:schemeClr val="dk1"/>
                </a:solidFill>
              </a:rPr>
              <a:t>Phương pháp tích hợp trí tuệ nhân tạo vào ứng dụng kết nối vạn vật</a:t>
            </a:r>
          </a:p>
          <a:p>
            <a:r>
              <a:rPr lang="en-US" sz="2400" b="1" dirty="0">
                <a:solidFill>
                  <a:srgbClr val="0C0C0C"/>
                </a:solidFill>
                <a:latin typeface="Arial"/>
                <a:ea typeface="Arial"/>
                <a:cs typeface="Arial"/>
                <a:sym typeface="Arial"/>
              </a:rPr>
              <a:t> </a:t>
            </a:r>
            <a:endParaRPr lang="vi-VN" sz="2400" b="1" dirty="0">
              <a:solidFill>
                <a:schemeClr val="dk1"/>
              </a:solidFil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9F93D6B-5424-7434-3F84-4D9CC16E9DF9}"/>
              </a:ext>
            </a:extLst>
          </p:cNvPr>
          <p:cNvSpPr/>
          <p:nvPr/>
        </p:nvSpPr>
        <p:spPr>
          <a:xfrm>
            <a:off x="255089" y="1568382"/>
            <a:ext cx="9392645" cy="969496"/>
          </a:xfrm>
          <a:prstGeom prst="rect">
            <a:avLst/>
          </a:prstGeom>
          <a:noFill/>
          <a:ln>
            <a:noFill/>
          </a:ln>
        </p:spPr>
        <p:txBody>
          <a:bodyPr spcFirstLastPara="1" wrap="square" lIns="0" tIns="0" rIns="0" bIns="0" anchor="t" anchorCtr="0">
            <a:spAutoFit/>
          </a:bodyPr>
          <a:lstStyle/>
          <a:p>
            <a:pPr>
              <a:lnSpc>
                <a:spcPct val="150000"/>
              </a:lnSpc>
            </a:pPr>
            <a:r>
              <a:rPr lang="en-US" b="1" dirty="0" err="1"/>
              <a:t>Tạo</a:t>
            </a:r>
            <a:r>
              <a:rPr lang="en-US" b="1" dirty="0"/>
              <a:t> web </a:t>
            </a:r>
          </a:p>
          <a:p>
            <a:pPr>
              <a:lnSpc>
                <a:spcPct val="150000"/>
              </a:lnSpc>
            </a:pPr>
            <a:endParaRPr lang="vi-VN" dirty="0"/>
          </a:p>
          <a:p>
            <a:pPr lvl="1">
              <a:lnSpc>
                <a:spcPct val="150000"/>
              </a:lnSpc>
            </a:pPr>
            <a:endParaRPr lang="vi-VN" dirty="0"/>
          </a:p>
        </p:txBody>
      </p:sp>
      <p:pic>
        <p:nvPicPr>
          <p:cNvPr id="3" name="Picture 2">
            <a:extLst>
              <a:ext uri="{FF2B5EF4-FFF2-40B4-BE49-F238E27FC236}">
                <a16:creationId xmlns:a16="http://schemas.microsoft.com/office/drawing/2014/main" id="{6BF12269-AE7E-EA6E-8B87-E4FD426AA79E}"/>
              </a:ext>
            </a:extLst>
          </p:cNvPr>
          <p:cNvPicPr>
            <a:picLocks noChangeAspect="1"/>
          </p:cNvPicPr>
          <p:nvPr/>
        </p:nvPicPr>
        <p:blipFill>
          <a:blip r:embed="rId3"/>
          <a:stretch>
            <a:fillRect/>
          </a:stretch>
        </p:blipFill>
        <p:spPr>
          <a:xfrm>
            <a:off x="542925" y="2126872"/>
            <a:ext cx="8416925" cy="3468889"/>
          </a:xfrm>
          <a:prstGeom prst="rect">
            <a:avLst/>
          </a:prstGeom>
        </p:spPr>
      </p:pic>
    </p:spTree>
    <p:extLst>
      <p:ext uri="{BB962C8B-B14F-4D97-AF65-F5344CB8AC3E}">
        <p14:creationId xmlns:p14="http://schemas.microsoft.com/office/powerpoint/2010/main" val="2989283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CA52B60-FDDF-787C-4D2A-77F99542A2F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6E1D204-2975-2BD6-4567-F54B1AC337FC}"/>
              </a:ext>
            </a:extLst>
          </p:cNvPr>
          <p:cNvSpPr/>
          <p:nvPr/>
        </p:nvSpPr>
        <p:spPr>
          <a:xfrm>
            <a:off x="162321" y="244943"/>
            <a:ext cx="9578184" cy="1323439"/>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5. </a:t>
            </a:r>
            <a:r>
              <a:rPr lang="vi-VN" sz="2400" b="1" dirty="0">
                <a:solidFill>
                  <a:schemeClr val="dk1"/>
                </a:solidFill>
              </a:rPr>
              <a:t>Phương pháp tích hợp trí tuệ nhân tạo vào ứng dụng kết nối vạn vật</a:t>
            </a:r>
          </a:p>
          <a:p>
            <a:r>
              <a:rPr lang="en-US" sz="2400" b="1" dirty="0">
                <a:solidFill>
                  <a:srgbClr val="0C0C0C"/>
                </a:solidFill>
                <a:latin typeface="Arial"/>
                <a:ea typeface="Arial"/>
                <a:cs typeface="Arial"/>
                <a:sym typeface="Arial"/>
              </a:rPr>
              <a:t> </a:t>
            </a:r>
            <a:endParaRPr lang="vi-VN" sz="2400" b="1" dirty="0">
              <a:solidFill>
                <a:schemeClr val="dk1"/>
              </a:solidFil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8557B61C-0343-0C07-D34C-1C748D9DE9A1}"/>
              </a:ext>
            </a:extLst>
          </p:cNvPr>
          <p:cNvSpPr/>
          <p:nvPr/>
        </p:nvSpPr>
        <p:spPr>
          <a:xfrm>
            <a:off x="255089" y="1568382"/>
            <a:ext cx="9392645" cy="969496"/>
          </a:xfrm>
          <a:prstGeom prst="rect">
            <a:avLst/>
          </a:prstGeom>
          <a:noFill/>
          <a:ln>
            <a:noFill/>
          </a:ln>
        </p:spPr>
        <p:txBody>
          <a:bodyPr spcFirstLastPara="1" wrap="square" lIns="0" tIns="0" rIns="0" bIns="0" anchor="t" anchorCtr="0">
            <a:spAutoFit/>
          </a:bodyPr>
          <a:lstStyle/>
          <a:p>
            <a:pPr>
              <a:lnSpc>
                <a:spcPct val="150000"/>
              </a:lnSpc>
            </a:pPr>
            <a:r>
              <a:rPr lang="en-US" b="1" dirty="0" err="1"/>
              <a:t>Tạo</a:t>
            </a:r>
            <a:r>
              <a:rPr lang="en-US" b="1" dirty="0"/>
              <a:t> </a:t>
            </a:r>
            <a:r>
              <a:rPr lang="en-US" b="1" dirty="0" err="1"/>
              <a:t>mô</a:t>
            </a:r>
            <a:r>
              <a:rPr lang="en-US" b="1" dirty="0"/>
              <a:t> </a:t>
            </a:r>
            <a:r>
              <a:rPr lang="en-US" b="1" dirty="0" err="1"/>
              <a:t>phỏng</a:t>
            </a:r>
            <a:r>
              <a:rPr lang="en-US" b="1" dirty="0"/>
              <a:t> esp32 </a:t>
            </a:r>
            <a:r>
              <a:rPr lang="en-US" b="1" dirty="0" err="1"/>
              <a:t>trên</a:t>
            </a:r>
            <a:r>
              <a:rPr lang="en-US" b="1" dirty="0"/>
              <a:t> </a:t>
            </a:r>
            <a:r>
              <a:rPr lang="en-US" b="1" dirty="0" err="1"/>
              <a:t>wokwi</a:t>
            </a:r>
            <a:endParaRPr lang="en-US" b="1" dirty="0"/>
          </a:p>
          <a:p>
            <a:pPr>
              <a:lnSpc>
                <a:spcPct val="150000"/>
              </a:lnSpc>
            </a:pPr>
            <a:endParaRPr lang="vi-VN" dirty="0"/>
          </a:p>
          <a:p>
            <a:pPr lvl="1">
              <a:lnSpc>
                <a:spcPct val="150000"/>
              </a:lnSpc>
            </a:pPr>
            <a:endParaRPr lang="vi-VN" dirty="0"/>
          </a:p>
        </p:txBody>
      </p:sp>
      <p:pic>
        <p:nvPicPr>
          <p:cNvPr id="4" name="Picture 3">
            <a:extLst>
              <a:ext uri="{FF2B5EF4-FFF2-40B4-BE49-F238E27FC236}">
                <a16:creationId xmlns:a16="http://schemas.microsoft.com/office/drawing/2014/main" id="{B8220250-347D-E327-A4E4-9E371E2B47E4}"/>
              </a:ext>
            </a:extLst>
          </p:cNvPr>
          <p:cNvPicPr>
            <a:picLocks noChangeAspect="1"/>
          </p:cNvPicPr>
          <p:nvPr/>
        </p:nvPicPr>
        <p:blipFill>
          <a:blip r:embed="rId3"/>
          <a:stretch>
            <a:fillRect/>
          </a:stretch>
        </p:blipFill>
        <p:spPr>
          <a:xfrm>
            <a:off x="2952749" y="2029760"/>
            <a:ext cx="4627561" cy="4061970"/>
          </a:xfrm>
          <a:prstGeom prst="rect">
            <a:avLst/>
          </a:prstGeom>
        </p:spPr>
      </p:pic>
    </p:spTree>
    <p:extLst>
      <p:ext uri="{BB962C8B-B14F-4D97-AF65-F5344CB8AC3E}">
        <p14:creationId xmlns:p14="http://schemas.microsoft.com/office/powerpoint/2010/main" val="17467416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D409AC2-BAAB-0F27-0C4A-B43FCC20A14C}"/>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B42ABD7-4AA5-962D-29E0-C248DA0DDF12}"/>
              </a:ext>
            </a:extLst>
          </p:cNvPr>
          <p:cNvSpPr/>
          <p:nvPr/>
        </p:nvSpPr>
        <p:spPr>
          <a:xfrm>
            <a:off x="162321" y="244943"/>
            <a:ext cx="9578184" cy="1323439"/>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5. </a:t>
            </a:r>
            <a:r>
              <a:rPr lang="vi-VN" sz="2400" b="1" dirty="0">
                <a:solidFill>
                  <a:schemeClr val="dk1"/>
                </a:solidFill>
              </a:rPr>
              <a:t>Phương pháp tích hợp trí tuệ nhân tạo vào ứng dụng kết nối vạn vật</a:t>
            </a:r>
          </a:p>
          <a:p>
            <a:r>
              <a:rPr lang="en-US" sz="2400" b="1" dirty="0">
                <a:solidFill>
                  <a:srgbClr val="0C0C0C"/>
                </a:solidFill>
                <a:latin typeface="Arial"/>
                <a:ea typeface="Arial"/>
                <a:cs typeface="Arial"/>
                <a:sym typeface="Arial"/>
              </a:rPr>
              <a:t> </a:t>
            </a:r>
            <a:endParaRPr lang="vi-VN" sz="2400" b="1" dirty="0">
              <a:solidFill>
                <a:schemeClr val="dk1"/>
              </a:solidFil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8ADE7AEF-EF1F-242B-5CF5-134436E71D41}"/>
              </a:ext>
            </a:extLst>
          </p:cNvPr>
          <p:cNvSpPr/>
          <p:nvPr/>
        </p:nvSpPr>
        <p:spPr>
          <a:xfrm>
            <a:off x="255089" y="1568382"/>
            <a:ext cx="9392645" cy="969496"/>
          </a:xfrm>
          <a:prstGeom prst="rect">
            <a:avLst/>
          </a:prstGeom>
          <a:noFill/>
          <a:ln>
            <a:noFill/>
          </a:ln>
        </p:spPr>
        <p:txBody>
          <a:bodyPr spcFirstLastPara="1" wrap="square" lIns="0" tIns="0" rIns="0" bIns="0" anchor="t" anchorCtr="0">
            <a:spAutoFit/>
          </a:bodyPr>
          <a:lstStyle/>
          <a:p>
            <a:pPr>
              <a:lnSpc>
                <a:spcPct val="150000"/>
              </a:lnSpc>
            </a:pPr>
            <a:r>
              <a:rPr lang="en-US" b="1" dirty="0" err="1"/>
              <a:t>Tạo</a:t>
            </a:r>
            <a:r>
              <a:rPr lang="en-US" b="1" dirty="0"/>
              <a:t> </a:t>
            </a:r>
            <a:r>
              <a:rPr lang="en-US" b="1" dirty="0" err="1"/>
              <a:t>mô</a:t>
            </a:r>
            <a:r>
              <a:rPr lang="en-US" b="1" dirty="0"/>
              <a:t> </a:t>
            </a:r>
            <a:r>
              <a:rPr lang="en-US" b="1" dirty="0" err="1"/>
              <a:t>phỏng</a:t>
            </a:r>
            <a:r>
              <a:rPr lang="en-US" b="1" dirty="0"/>
              <a:t> esp32 </a:t>
            </a:r>
            <a:r>
              <a:rPr lang="en-US" b="1" dirty="0" err="1"/>
              <a:t>trên</a:t>
            </a:r>
            <a:r>
              <a:rPr lang="en-US" b="1" dirty="0"/>
              <a:t> </a:t>
            </a:r>
            <a:r>
              <a:rPr lang="en-US" b="1" dirty="0" err="1"/>
              <a:t>wokwi</a:t>
            </a:r>
            <a:endParaRPr lang="en-US" b="1" dirty="0"/>
          </a:p>
          <a:p>
            <a:pPr>
              <a:lnSpc>
                <a:spcPct val="150000"/>
              </a:lnSpc>
            </a:pPr>
            <a:endParaRPr lang="vi-VN" dirty="0"/>
          </a:p>
          <a:p>
            <a:pPr lvl="1">
              <a:lnSpc>
                <a:spcPct val="150000"/>
              </a:lnSpc>
            </a:pPr>
            <a:endParaRPr lang="vi-VN" dirty="0"/>
          </a:p>
        </p:txBody>
      </p:sp>
      <p:pic>
        <p:nvPicPr>
          <p:cNvPr id="4" name="Picture 3">
            <a:extLst>
              <a:ext uri="{FF2B5EF4-FFF2-40B4-BE49-F238E27FC236}">
                <a16:creationId xmlns:a16="http://schemas.microsoft.com/office/drawing/2014/main" id="{9A8E2542-C7DF-2A87-01E3-17BB0709B2CF}"/>
              </a:ext>
            </a:extLst>
          </p:cNvPr>
          <p:cNvPicPr>
            <a:picLocks noChangeAspect="1"/>
          </p:cNvPicPr>
          <p:nvPr/>
        </p:nvPicPr>
        <p:blipFill>
          <a:blip r:embed="rId3"/>
          <a:stretch>
            <a:fillRect/>
          </a:stretch>
        </p:blipFill>
        <p:spPr>
          <a:xfrm>
            <a:off x="2952749" y="2029760"/>
            <a:ext cx="4627561" cy="4061970"/>
          </a:xfrm>
          <a:prstGeom prst="rect">
            <a:avLst/>
          </a:prstGeom>
        </p:spPr>
      </p:pic>
    </p:spTree>
    <p:extLst>
      <p:ext uri="{BB962C8B-B14F-4D97-AF65-F5344CB8AC3E}">
        <p14:creationId xmlns:p14="http://schemas.microsoft.com/office/powerpoint/2010/main" val="36383892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F6B933B-C72A-80AB-8A56-00705F9B91C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C989F013-434B-9AF3-A216-569F5F8A371D}"/>
              </a:ext>
            </a:extLst>
          </p:cNvPr>
          <p:cNvSpPr/>
          <p:nvPr/>
        </p:nvSpPr>
        <p:spPr>
          <a:xfrm>
            <a:off x="162321" y="244943"/>
            <a:ext cx="9578184" cy="1323439"/>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5. </a:t>
            </a:r>
            <a:r>
              <a:rPr lang="vi-VN" sz="2400" b="1" dirty="0">
                <a:solidFill>
                  <a:schemeClr val="dk1"/>
                </a:solidFill>
              </a:rPr>
              <a:t>Phương pháp tích hợp trí tuệ nhân tạo vào ứng dụng kết nối vạn vật</a:t>
            </a:r>
          </a:p>
          <a:p>
            <a:r>
              <a:rPr lang="en-US" sz="2400" b="1" dirty="0">
                <a:solidFill>
                  <a:srgbClr val="0C0C0C"/>
                </a:solidFill>
                <a:latin typeface="Arial"/>
                <a:ea typeface="Arial"/>
                <a:cs typeface="Arial"/>
                <a:sym typeface="Arial"/>
              </a:rPr>
              <a:t> </a:t>
            </a:r>
            <a:endParaRPr lang="vi-VN" sz="2400" b="1" dirty="0">
              <a:solidFill>
                <a:schemeClr val="dk1"/>
              </a:solidFil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C7C81DEE-9606-6D4F-91FE-F9A7C5EA3802}"/>
              </a:ext>
            </a:extLst>
          </p:cNvPr>
          <p:cNvSpPr/>
          <p:nvPr/>
        </p:nvSpPr>
        <p:spPr>
          <a:xfrm>
            <a:off x="255089" y="1568382"/>
            <a:ext cx="9392645" cy="969496"/>
          </a:xfrm>
          <a:prstGeom prst="rect">
            <a:avLst/>
          </a:prstGeom>
          <a:noFill/>
          <a:ln>
            <a:noFill/>
          </a:ln>
        </p:spPr>
        <p:txBody>
          <a:bodyPr spcFirstLastPara="1" wrap="square" lIns="0" tIns="0" rIns="0" bIns="0" anchor="t" anchorCtr="0">
            <a:spAutoFit/>
          </a:bodyPr>
          <a:lstStyle/>
          <a:p>
            <a:pPr>
              <a:lnSpc>
                <a:spcPct val="150000"/>
              </a:lnSpc>
            </a:pPr>
            <a:r>
              <a:rPr lang="en-US" b="1" dirty="0" err="1"/>
              <a:t>Kết</a:t>
            </a:r>
            <a:r>
              <a:rPr lang="en-US" b="1" dirty="0"/>
              <a:t> </a:t>
            </a:r>
            <a:r>
              <a:rPr lang="en-US" b="1" dirty="0" err="1"/>
              <a:t>quả</a:t>
            </a:r>
            <a:r>
              <a:rPr lang="en-US" b="1" dirty="0"/>
              <a:t>:</a:t>
            </a:r>
          </a:p>
          <a:p>
            <a:pPr>
              <a:lnSpc>
                <a:spcPct val="150000"/>
              </a:lnSpc>
            </a:pPr>
            <a:endParaRPr lang="vi-VN" dirty="0"/>
          </a:p>
          <a:p>
            <a:pPr lvl="1">
              <a:lnSpc>
                <a:spcPct val="150000"/>
              </a:lnSpc>
            </a:pPr>
            <a:endParaRPr lang="vi-VN" dirty="0"/>
          </a:p>
        </p:txBody>
      </p:sp>
      <p:pic>
        <p:nvPicPr>
          <p:cNvPr id="3" name="Picture 2">
            <a:extLst>
              <a:ext uri="{FF2B5EF4-FFF2-40B4-BE49-F238E27FC236}">
                <a16:creationId xmlns:a16="http://schemas.microsoft.com/office/drawing/2014/main" id="{3FC635BB-9EE3-D841-F018-8123D4517A9F}"/>
              </a:ext>
            </a:extLst>
          </p:cNvPr>
          <p:cNvPicPr>
            <a:picLocks noChangeAspect="1"/>
          </p:cNvPicPr>
          <p:nvPr/>
        </p:nvPicPr>
        <p:blipFill>
          <a:blip r:embed="rId3"/>
          <a:stretch>
            <a:fillRect/>
          </a:stretch>
        </p:blipFill>
        <p:spPr>
          <a:xfrm>
            <a:off x="800100" y="2100755"/>
            <a:ext cx="8102600" cy="4172140"/>
          </a:xfrm>
          <a:prstGeom prst="rect">
            <a:avLst/>
          </a:prstGeom>
        </p:spPr>
      </p:pic>
    </p:spTree>
    <p:extLst>
      <p:ext uri="{BB962C8B-B14F-4D97-AF65-F5344CB8AC3E}">
        <p14:creationId xmlns:p14="http://schemas.microsoft.com/office/powerpoint/2010/main" val="34955669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959EBE4-3A61-6F1A-989E-D904244171C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BCF903F-8F69-C525-8C61-2C28F613CB59}"/>
              </a:ext>
            </a:extLst>
          </p:cNvPr>
          <p:cNvSpPr/>
          <p:nvPr/>
        </p:nvSpPr>
        <p:spPr>
          <a:xfrm>
            <a:off x="162321" y="244943"/>
            <a:ext cx="9578184" cy="1323439"/>
          </a:xfrm>
          <a:prstGeom prst="rect">
            <a:avLst/>
          </a:prstGeom>
          <a:noFill/>
          <a:ln>
            <a:noFill/>
          </a:ln>
        </p:spPr>
        <p:txBody>
          <a:bodyPr spcFirstLastPara="1" wrap="square" lIns="0" tIns="0" rIns="0" bIns="0" anchor="t" anchorCtr="0">
            <a:spAutoFit/>
          </a:bodyPr>
          <a:lstStyle/>
          <a:p>
            <a:r>
              <a:rPr lang="en-US" sz="2400" b="1" dirty="0">
                <a:solidFill>
                  <a:srgbClr val="0C0C0C"/>
                </a:solidFill>
                <a:latin typeface="Arial"/>
                <a:ea typeface="Arial"/>
                <a:cs typeface="Arial"/>
                <a:sym typeface="Arial"/>
              </a:rPr>
              <a:t>5. </a:t>
            </a:r>
            <a:r>
              <a:rPr lang="vi-VN" sz="2400" b="1" dirty="0">
                <a:solidFill>
                  <a:schemeClr val="dk1"/>
                </a:solidFill>
              </a:rPr>
              <a:t>Phương pháp tích hợp trí tuệ nhân tạo vào ứng dụng kết nối vạn vật</a:t>
            </a:r>
          </a:p>
          <a:p>
            <a:r>
              <a:rPr lang="en-US" sz="2400" b="1" dirty="0">
                <a:solidFill>
                  <a:srgbClr val="0C0C0C"/>
                </a:solidFill>
                <a:latin typeface="Arial"/>
                <a:ea typeface="Arial"/>
                <a:cs typeface="Arial"/>
                <a:sym typeface="Arial"/>
              </a:rPr>
              <a:t> </a:t>
            </a:r>
            <a:endParaRPr lang="vi-VN" sz="2400" b="1" dirty="0">
              <a:solidFill>
                <a:schemeClr val="dk1"/>
              </a:solidFill>
            </a:endParaRP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717270E4-6DA8-1AAB-AC10-80065ED192CC}"/>
              </a:ext>
            </a:extLst>
          </p:cNvPr>
          <p:cNvSpPr/>
          <p:nvPr/>
        </p:nvSpPr>
        <p:spPr>
          <a:xfrm>
            <a:off x="255089" y="1568382"/>
            <a:ext cx="9392645" cy="969496"/>
          </a:xfrm>
          <a:prstGeom prst="rect">
            <a:avLst/>
          </a:prstGeom>
          <a:noFill/>
          <a:ln>
            <a:noFill/>
          </a:ln>
        </p:spPr>
        <p:txBody>
          <a:bodyPr spcFirstLastPara="1" wrap="square" lIns="0" tIns="0" rIns="0" bIns="0" anchor="t" anchorCtr="0">
            <a:spAutoFit/>
          </a:bodyPr>
          <a:lstStyle/>
          <a:p>
            <a:pPr>
              <a:lnSpc>
                <a:spcPct val="150000"/>
              </a:lnSpc>
            </a:pPr>
            <a:r>
              <a:rPr lang="en-US" b="1" dirty="0" err="1"/>
              <a:t>Kết</a:t>
            </a:r>
            <a:r>
              <a:rPr lang="en-US" b="1" dirty="0"/>
              <a:t> </a:t>
            </a:r>
            <a:r>
              <a:rPr lang="en-US" b="1" dirty="0" err="1"/>
              <a:t>quả</a:t>
            </a:r>
            <a:r>
              <a:rPr lang="en-US" b="1" dirty="0"/>
              <a:t>:</a:t>
            </a:r>
          </a:p>
          <a:p>
            <a:pPr>
              <a:lnSpc>
                <a:spcPct val="150000"/>
              </a:lnSpc>
            </a:pPr>
            <a:endParaRPr lang="vi-VN" dirty="0"/>
          </a:p>
          <a:p>
            <a:pPr lvl="1">
              <a:lnSpc>
                <a:spcPct val="150000"/>
              </a:lnSpc>
            </a:pPr>
            <a:endParaRPr lang="vi-VN" dirty="0"/>
          </a:p>
        </p:txBody>
      </p:sp>
      <p:pic>
        <p:nvPicPr>
          <p:cNvPr id="4" name="Picture 3">
            <a:extLst>
              <a:ext uri="{FF2B5EF4-FFF2-40B4-BE49-F238E27FC236}">
                <a16:creationId xmlns:a16="http://schemas.microsoft.com/office/drawing/2014/main" id="{48D0A862-0567-EA56-7080-C65762C2F133}"/>
              </a:ext>
            </a:extLst>
          </p:cNvPr>
          <p:cNvPicPr>
            <a:picLocks noChangeAspect="1"/>
          </p:cNvPicPr>
          <p:nvPr/>
        </p:nvPicPr>
        <p:blipFill>
          <a:blip r:embed="rId3"/>
          <a:srcRect l="2576" t="-104"/>
          <a:stretch>
            <a:fillRect/>
          </a:stretch>
        </p:blipFill>
        <p:spPr>
          <a:xfrm>
            <a:off x="255089" y="752475"/>
            <a:ext cx="9647736" cy="5347467"/>
          </a:xfrm>
          <a:prstGeom prst="rect">
            <a:avLst/>
          </a:prstGeom>
        </p:spPr>
      </p:pic>
    </p:spTree>
    <p:extLst>
      <p:ext uri="{BB962C8B-B14F-4D97-AF65-F5344CB8AC3E}">
        <p14:creationId xmlns:p14="http://schemas.microsoft.com/office/powerpoint/2010/main" val="459462547"/>
      </p:ext>
    </p:extLst>
  </p:cSld>
  <p:clrMapOvr>
    <a:masterClrMapping/>
  </p:clrMapOvr>
</p:sld>
</file>

<file path=ppt/theme/theme1.xml><?xml version="1.0" encoding="utf-8"?>
<a:theme xmlns:a="http://schemas.openxmlformats.org/drawingml/2006/main" name="디자인 사용자 지정">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3068</TotalTime>
  <Words>14608</Words>
  <Application>Microsoft Office PowerPoint</Application>
  <PresentationFormat>Custom</PresentationFormat>
  <Paragraphs>1189</Paragraphs>
  <Slides>93</Slides>
  <Notes>93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93</vt:i4>
      </vt:variant>
    </vt:vector>
  </HeadingPairs>
  <TitlesOfParts>
    <vt:vector size="99" baseType="lpstr">
      <vt:lpstr>OpenSansBold</vt:lpstr>
      <vt:lpstr>Malgun Gothic</vt:lpstr>
      <vt:lpstr>Arial</vt:lpstr>
      <vt:lpstr>Noto Sans Symbols</vt:lpstr>
      <vt:lpstr>Calibri</vt:lpstr>
      <vt:lpstr>디자인 사용자 지정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Manh Huy</dc:creator>
  <cp:lastModifiedBy>NGUYEN</cp:lastModifiedBy>
  <cp:revision>44</cp:revision>
  <dcterms:created xsi:type="dcterms:W3CDTF">2018-03-02T14:47:58Z</dcterms:created>
  <dcterms:modified xsi:type="dcterms:W3CDTF">2026-03-20T16:38:54Z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0x01010068ED2E6D4E77E244B9E3F70AF9B53527</vt:lpwstr>
  </property>
</Properties>
</file>