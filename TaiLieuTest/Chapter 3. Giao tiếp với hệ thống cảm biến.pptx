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9"/>
  </p:notesMasterIdLst>
  <p:sldIdLst>
    <p:sldId id="257" r:id="rId2"/>
    <p:sldId id="258" r:id="rId3"/>
    <p:sldId id="259" r:id="rId4"/>
    <p:sldId id="595" r:id="rId5"/>
    <p:sldId id="596" r:id="rId6"/>
    <p:sldId id="597" r:id="rId7"/>
    <p:sldId id="598" r:id="rId8"/>
    <p:sldId id="599" r:id="rId9"/>
    <p:sldId id="600" r:id="rId10"/>
    <p:sldId id="601" r:id="rId11"/>
    <p:sldId id="602" r:id="rId12"/>
    <p:sldId id="603" r:id="rId13"/>
    <p:sldId id="604" r:id="rId14"/>
    <p:sldId id="605" r:id="rId15"/>
    <p:sldId id="606" r:id="rId16"/>
    <p:sldId id="607" r:id="rId17"/>
    <p:sldId id="608" r:id="rId18"/>
    <p:sldId id="609" r:id="rId19"/>
    <p:sldId id="610" r:id="rId20"/>
    <p:sldId id="591" r:id="rId21"/>
    <p:sldId id="612" r:id="rId22"/>
    <p:sldId id="616" r:id="rId23"/>
    <p:sldId id="613" r:id="rId24"/>
    <p:sldId id="614" r:id="rId25"/>
    <p:sldId id="615" r:id="rId26"/>
    <p:sldId id="592" r:id="rId27"/>
    <p:sldId id="617" r:id="rId28"/>
    <p:sldId id="618" r:id="rId29"/>
    <p:sldId id="619" r:id="rId30"/>
    <p:sldId id="620" r:id="rId31"/>
    <p:sldId id="621" r:id="rId32"/>
    <p:sldId id="622" r:id="rId33"/>
    <p:sldId id="593" r:id="rId34"/>
    <p:sldId id="623" r:id="rId35"/>
    <p:sldId id="624" r:id="rId36"/>
    <p:sldId id="625" r:id="rId37"/>
    <p:sldId id="626" r:id="rId38"/>
    <p:sldId id="627" r:id="rId39"/>
    <p:sldId id="628" r:id="rId40"/>
    <p:sldId id="629" r:id="rId41"/>
    <p:sldId id="594" r:id="rId42"/>
    <p:sldId id="630" r:id="rId43"/>
    <p:sldId id="631" r:id="rId44"/>
    <p:sldId id="586" r:id="rId45"/>
    <p:sldId id="632" r:id="rId46"/>
    <p:sldId id="633" r:id="rId47"/>
    <p:sldId id="634" r:id="rId48"/>
    <p:sldId id="635" r:id="rId49"/>
    <p:sldId id="636" r:id="rId50"/>
    <p:sldId id="637" r:id="rId51"/>
    <p:sldId id="638" r:id="rId52"/>
    <p:sldId id="639" r:id="rId53"/>
    <p:sldId id="587" r:id="rId54"/>
    <p:sldId id="643" r:id="rId55"/>
    <p:sldId id="644" r:id="rId56"/>
    <p:sldId id="642" r:id="rId57"/>
    <p:sldId id="648" r:id="rId58"/>
    <p:sldId id="649" r:id="rId59"/>
    <p:sldId id="645" r:id="rId60"/>
    <p:sldId id="646" r:id="rId61"/>
    <p:sldId id="647" r:id="rId62"/>
    <p:sldId id="641" r:id="rId63"/>
    <p:sldId id="650" r:id="rId64"/>
    <p:sldId id="651" r:id="rId65"/>
    <p:sldId id="652" r:id="rId66"/>
    <p:sldId id="653" r:id="rId67"/>
    <p:sldId id="654" r:id="rId68"/>
    <p:sldId id="640" r:id="rId69"/>
    <p:sldId id="655" r:id="rId70"/>
    <p:sldId id="656" r:id="rId71"/>
    <p:sldId id="657" r:id="rId72"/>
    <p:sldId id="658" r:id="rId73"/>
    <p:sldId id="588" r:id="rId74"/>
    <p:sldId id="659" r:id="rId75"/>
    <p:sldId id="660" r:id="rId76"/>
    <p:sldId id="661" r:id="rId77"/>
    <p:sldId id="662" r:id="rId78"/>
    <p:sldId id="663" r:id="rId79"/>
    <p:sldId id="664" r:id="rId80"/>
    <p:sldId id="665" r:id="rId81"/>
    <p:sldId id="589" r:id="rId82"/>
    <p:sldId id="666" r:id="rId83"/>
    <p:sldId id="667" r:id="rId84"/>
    <p:sldId id="668" r:id="rId85"/>
    <p:sldId id="590" r:id="rId86"/>
    <p:sldId id="670" r:id="rId87"/>
    <p:sldId id="671" r:id="rId88"/>
  </p:sldIdLst>
  <p:sldSz cx="9902825" cy="6858000"/>
  <p:notesSz cx="7104063" cy="10234613"/>
  <p:embeddedFontLst>
    <p:embeddedFont>
      <p:font typeface="Malgun Gothic" panose="020B0503020000020004" pitchFamily="34" charset="-127"/>
      <p:regular r:id="rId90"/>
      <p:bold r:id="rId91"/>
    </p:embeddedFont>
    <p:embeddedFont>
      <p:font typeface="Open Sans" panose="020B0606030504020204" pitchFamily="34" charset="0"/>
      <p:regular r:id="rId92"/>
      <p:bold r:id="rId93"/>
      <p:italic r:id="rId94"/>
      <p:boldItalic r:id="rId9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412">
          <p15:clr>
            <a:srgbClr val="A4A3A4"/>
          </p15:clr>
        </p15:guide>
        <p15:guide id="2" orient="horz" pos="958">
          <p15:clr>
            <a:srgbClr val="A4A3A4"/>
          </p15:clr>
        </p15:guide>
        <p15:guide id="3" pos="443">
          <p15:clr>
            <a:srgbClr val="A4A3A4"/>
          </p15:clr>
        </p15:guide>
        <p15:guide id="4" pos="3210">
          <p15:clr>
            <a:srgbClr val="A4A3A4"/>
          </p15:clr>
        </p15:guide>
        <p15:guide id="5" pos="3119">
          <p15:clr>
            <a:srgbClr val="A4A3A4"/>
          </p15:clr>
        </p15:guide>
        <p15:guide id="6" orient="horz" pos="1638">
          <p15:clr>
            <a:srgbClr val="A4A3A4"/>
          </p15:clr>
        </p15:guide>
        <p15:guide id="7" orient="horz" pos="3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6" roundtripDataSignature="AMtx7miQntsjKBRx4P5VAk3si86o9uYc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672A58-3C3F-4094-A55C-8326C1CC86CD}">
  <a:tblStyle styleId="{A9672A58-3C3F-4094-A55C-8326C1CC86CD}" styleName="Table_0">
    <a:wholeTbl>
      <a:tcTxStyle b="off" i="off">
        <a:font>
          <a:latin typeface="맑은 고딕"/>
          <a:ea typeface="맑은 고딕"/>
          <a:cs typeface="맑은 고딕"/>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맑은 고딕"/>
          <a:ea typeface="맑은 고딕"/>
          <a:cs typeface="맑은 고딕"/>
        </a:font>
        <a:schemeClr val="lt1"/>
      </a:tcTxStyle>
      <a:tcStyle>
        <a:tcBdr/>
        <a:fill>
          <a:solidFill>
            <a:schemeClr val="accent1"/>
          </a:solidFill>
        </a:fill>
      </a:tcStyle>
    </a:lastCol>
    <a:firstCol>
      <a:tcTxStyle b="on" i="off">
        <a:font>
          <a:latin typeface="맑은 고딕"/>
          <a:ea typeface="맑은 고딕"/>
          <a:cs typeface="맑은 고딕"/>
        </a:font>
        <a:schemeClr val="lt1"/>
      </a:tcTxStyle>
      <a:tcStyle>
        <a:tcBdr/>
        <a:fill>
          <a:solidFill>
            <a:schemeClr val="accent1"/>
          </a:solidFill>
        </a:fill>
      </a:tcStyle>
    </a:firstCol>
    <a:lastRow>
      <a:tcTxStyle b="on" i="off">
        <a:font>
          <a:latin typeface="맑은 고딕"/>
          <a:ea typeface="맑은 고딕"/>
          <a:cs typeface="맑은 고딕"/>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맑은 고딕"/>
          <a:ea typeface="맑은 고딕"/>
          <a:cs typeface="맑은 고딕"/>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A7659242-E1CC-4EDC-8006-197966C0AB99}" styleName="Table_1">
    <a:wholeTbl>
      <a:tcTxStyle b="off" i="off">
        <a:font>
          <a:latin typeface="맑은 고딕"/>
          <a:ea typeface="맑은 고딕"/>
          <a:cs typeface="맑은 고딕"/>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353F50C-8861-43A0-82AE-2E20D93D1326}"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0100" autoAdjust="0"/>
  </p:normalViewPr>
  <p:slideViewPr>
    <p:cSldViewPr snapToGrid="0">
      <p:cViewPr varScale="1">
        <p:scale>
          <a:sx n="82" d="100"/>
          <a:sy n="82" d="100"/>
        </p:scale>
        <p:origin x="2178" y="96"/>
      </p:cViewPr>
      <p:guideLst>
        <p:guide orient="horz" pos="1412"/>
        <p:guide orient="horz" pos="958"/>
        <p:guide pos="443"/>
        <p:guide pos="3210"/>
        <p:guide pos="3119"/>
        <p:guide orient="horz" pos="1638"/>
        <p:guide orient="horz" pos="360"/>
      </p:guideLst>
    </p:cSldViewPr>
  </p:slideViewPr>
  <p:notesTextViewPr>
    <p:cViewPr>
      <p:scale>
        <a:sx n="1" d="1"/>
        <a:sy n="1" d="1"/>
      </p:scale>
      <p:origin x="0" y="-7674"/>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1.fntdata"/><Relationship Id="rId95" Type="http://schemas.openxmlformats.org/officeDocument/2006/relationships/font" Target="fonts/font6.fntdata"/><Relationship Id="rId258"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256" Type="http://customschemas.google.com/relationships/presentationmetadata" Target="meta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259" Type="http://schemas.openxmlformats.org/officeDocument/2006/relationships/theme" Target="theme/theme1.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257"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260"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5" name="Google Shape;5;n"/>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Malgun Gothic"/>
                <a:ea typeface="Malgun Gothic"/>
                <a:cs typeface="Malgun Gothic"/>
                <a:sym typeface="Malgun Gothic"/>
              </a:rPr>
              <a:t>‹#›</a:t>
            </a:fld>
            <a:endParaRPr sz="1300" b="0" i="0" u="none" strike="noStrike" cap="none">
              <a:solidFill>
                <a:schemeClr val="dk1"/>
              </a:solidFill>
              <a:latin typeface="Malgun Gothic"/>
              <a:ea typeface="Malgun Gothic"/>
              <a:cs typeface="Malgun Gothic"/>
              <a:sym typeface="Malgun Gothic"/>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710407" y="5287169"/>
            <a:ext cx="5683250" cy="3668117"/>
          </a:xfrm>
          <a:prstGeom prst="rect">
            <a:avLst/>
          </a:prstGeom>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3:notes"/>
          <p:cNvSpPr>
            <a:spLocks noGrp="1" noRot="1" noChangeAspect="1"/>
          </p:cNvSpPr>
          <p:nvPr>
            <p:ph type="sldImg" idx="2"/>
          </p:nvPr>
        </p:nvSpPr>
        <p:spPr>
          <a:xfrm>
            <a:off x="196850" y="763588"/>
            <a:ext cx="6653213" cy="46085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3:notes"/>
          <p:cNvSpPr txBox="1">
            <a:spLocks noGrp="1"/>
          </p:cNvSpPr>
          <p:nvPr>
            <p:ph type="body" idx="1"/>
          </p:nvPr>
        </p:nvSpPr>
        <p:spPr>
          <a:xfrm>
            <a:off x="679768" y="5542373"/>
            <a:ext cx="5438140" cy="3639767"/>
          </a:xfrm>
          <a:prstGeom prst="rect">
            <a:avLst/>
          </a:prstGeom>
          <a:noFill/>
          <a:ln>
            <a:noFill/>
          </a:ln>
        </p:spPr>
        <p:txBody>
          <a:bodyPr spcFirstLastPara="1" wrap="square" lIns="99075" tIns="49525" rIns="99075" bIns="49525" anchor="t" anchorCtr="0">
            <a:noAutofit/>
          </a:bodyPr>
          <a:lstStyle/>
          <a:p>
            <a:pPr marL="0" marR="0" lvl="0" indent="0" algn="l" rtl="0">
              <a:lnSpc>
                <a:spcPct val="100000"/>
              </a:lnSpc>
              <a:spcBef>
                <a:spcPts val="0"/>
              </a:spcBef>
              <a:spcAft>
                <a:spcPts val="0"/>
              </a:spcAft>
              <a:buClr>
                <a:schemeClr val="dk1"/>
              </a:buClr>
              <a:buSzPts val="1200"/>
              <a:buFont typeface="Arial"/>
              <a:buNone/>
            </a:pPr>
            <a:endParaRPr dirty="0"/>
          </a:p>
        </p:txBody>
      </p:sp>
      <p:sp>
        <p:nvSpPr>
          <p:cNvPr id="158" name="Google Shape;158;p3:notes"/>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2</a:t>
            </a:fld>
            <a:endParaRPr sz="13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notes"/>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B9B98EA-9E20-B1C3-8BD2-1126228A908B}"/>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C7317716-C270-9AD5-B76C-06E349049FD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B8573B0-125F-98F8-3FD3-22E633408CC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204F76B-654B-5F71-9E64-FD3D186DEAF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299512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900186E-2EAE-9DEE-4F26-C98A2DE29DF3}"/>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0860E3A-35C9-4D70-86FD-5B1B6947623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793B60C-4A8B-622A-C974-CFF48E2211C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DA7D3FC-EB31-6923-D05E-45BA100B121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802796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01B03A5-C973-1E3F-13A3-C2ACE703983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29B5C671-D561-57E8-3AE5-3620098C74F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6B6BBBB-D91A-FD61-7FED-43763D5F0F8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61EA955-9538-0A0C-3A7C-0B4791C44DC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2494693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9515C2E-6301-1799-B105-B9D48EC4CC9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8244201-1A7F-A335-DFDA-8EA8AF6D844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76428A3D-8BE7-1307-9A46-7148373890D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r>
              <a:rPr lang="vi-VN" dirty="0"/>
              <a:t>Tầm quan trọng của tốc độ baud nằm ở ảnh hưởng trực tiếp của nó đến tốc độ truyền dữ liệu. Tốc độ baud cao hơn cho phép truyền dữ liệu nhanh hơn, nhưng cũng đòi hỏi sự đồng bộ thời gian chính xác hơn giữa người gửi và người nhận. Mặt khác, tốc độ baud thấp hơn có thể phù hợp với các ứng dụng mà độ chính xác về thời gian không quá quan trọng, nhưng nó dẫn đến tốc độ truyền dữ liệu chậm hơn. Khi lập trình Arduino, các tốc độ baud phổ biến là...9600,115200,4800, Và57600</a:t>
            </a: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41BC697-1125-E637-F090-D34B5C17A8A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586064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64B6FFF-697F-7E0E-7A3A-C72AB4D1FADE}"/>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DDDB0066-CAA5-EC12-F413-3BB59E1EF41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CC34C93A-60E1-5DEB-1FFC-61DEAA1B33E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2152A35-05E0-CC3A-1106-5F322050375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675554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CD17DD0-7316-F83E-A3DD-340118A2C1F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729176FE-4AE0-5EFF-5EC9-D3D2E5288DB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B1D84DB-7AC8-7110-E04B-B0D8056E972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8E3F6B9-E70B-297E-99FF-2A732308080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332396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997CE3F-FF8B-E908-7FFE-E8E6DDAA059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7D6B3E1-4B2D-0087-999F-545AB3EF17B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7450164-6300-F4CE-259F-836C0B6B528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192482D5-8ADE-A682-B54F-A932464532D9}"/>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750758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AED98D0-8D91-53F3-6DC5-9C3568E43DA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F002DA0-1271-59D2-3F90-04402745D560}"/>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D1F8ADD-5DBA-37D0-3BB0-8807558B5DA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35CBFEB-9743-70BB-7784-EF2AA27F2E0E}"/>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8125703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08E2275-3F87-873B-8267-79A299713F7B}"/>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D24135C-8E11-7CC8-0C5A-77F8DA46711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CDE09DD-C076-62E1-6985-8243D16AAC7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3647BD1-DEAE-1458-25C6-2ED1C4E0399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812527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7227B89-9EB8-E9C9-A823-74CAB4701824}"/>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DC825C47-4E4B-D665-A481-58FDC077869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2CF0036-9790-D2A2-6DCB-B2AC9907BE3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647065B-4791-482E-58C9-BF6BFCC6660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0508769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6915106-A747-F26C-DF04-217D3585F603}"/>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62C20DB-B3C3-49A8-4854-266E96CCCA0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45D8F80-BD35-052A-1A92-4F33C47A3E1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39B8CD11-CA96-8B11-52F7-DD0F68F60C1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617091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8A54AF8-9E18-F1E6-A743-1BDB74ED6E9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F435B34-80BD-38B0-9B80-F356728CBF9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63EEB970-9BE0-C5CA-B492-827F125C904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F9BC849-F80F-1FE9-4B23-EA18D33D6BC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7868914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DC9011D-EBE9-D1D7-3091-EADA10345AB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C66BB46B-B31E-8283-53C3-A593D7CFCB90}"/>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4C4ACC70-672D-EDC3-BD3E-3E9F303D043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0F702A6-A38B-2D19-0DCB-A256916FBBE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2342064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B538EC4-C4D7-2ED7-3BEA-1BC594CA059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5E91A38-35A9-43C9-E641-2C9A1C219A4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BBE4D97-52D0-1364-46D1-BF3BA173968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9C46E60-6804-F035-A41B-923DFCE3B83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19756102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0D53BF1-99B4-74D3-8E96-79F68750D107}"/>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4837EED-5B3D-95E2-8364-53AE0866149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6E731E8E-7B60-BAE4-E7CF-7E83A07C291D}"/>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BCEA961-5015-EB64-D95B-73EAC77474C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168829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057EC46-ED64-AD1C-4942-76C8EE871BC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225BAE4-4DA0-9F71-BB16-09441FC55A4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B897C581-F3F4-3226-A00E-A5E7A9FBFB0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DDD8DBE-07C3-6A68-104B-51E43CA3E2A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4903587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FF072B6C-0F37-A443-0378-A4DCB5BAA19F}"/>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9EFC1B62-F91A-A084-E859-B03A576365B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819E8AB1-9AD6-35B3-DFDB-271CB26BB42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6DB92381-009F-8814-79ED-75C172B3143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21913657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45CFAC9-A036-834A-9649-58FD8F221CBB}"/>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E9D3DB2-1EEE-E1FA-1A05-DD8A9F7EE65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4C38C87-51E7-832F-090F-45DB9F89CC7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A6A9DC1-0D9C-1D6F-858B-B3378EF315D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711295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A3F0281-7CC4-034F-0BBC-7CD1CBC3261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D6E513E5-CE1D-AC47-6984-E516FA0D5B6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652411C-CE00-39E1-36B7-49227D6D2E9A}"/>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6D818DE-0011-F26A-6A3F-21C7A0A5C2D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0878082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1FCCB01-57EB-6ABF-41C2-CA1DA4C5AA4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0362D2BB-53D6-1114-22E6-DEDC43CA84F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807E4D9F-B717-A31D-99E8-5483818201D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0BDD8F9-CD6C-0DC1-11A0-89BAF381D9F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1493034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C4D4568-33AA-B486-99AF-B1CD5DEE8A8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FE325560-7702-6D05-5D5C-615E1147D7D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64A7A79E-88E2-FD1A-26AF-6C164C18932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491A0D4-DB96-3EBF-2DED-F28EBCCEE1E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41240827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0F5CA85C-9242-D442-2ABA-79F2521FAE04}"/>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C09445E8-8813-C4F3-6FFF-759C7742FB5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8047E38-6407-2F64-19C4-8A587DA2E36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FAAE1C4-432D-05E8-07D9-AA1F573BE5F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0466832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A9A2C583-453E-3F57-F519-301DC2B85A1E}"/>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1C354968-F03A-95B3-EF6B-73A75A5D5BA1}"/>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94864668-B8E0-347C-7D13-073E59D3416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F1840A4A-49A1-1794-A2B6-4DB9DC66DA0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1698032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9C30672-BF7B-0EE7-0AF0-50E3C2CDC9D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63F8641-1FD0-C5A3-8291-75593931F35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AC3D3CC0-6362-E4F2-AE14-99C246661E9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1FDCD05-C030-F141-80BE-D027394201D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37545168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B963876-86C5-2B49-4CF1-6C2E736FF2D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D5E25AD-80F7-DC93-1617-CA022520E1CB}"/>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096771B-8E44-1CAC-BD33-A00A419E1D6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E7468E9-FDB4-276C-20F2-6ACA04686DE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11641425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755794F-CED7-7E6C-14C7-BD778161E2CE}"/>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15F9D57-D920-E51C-CB99-EB484B2EAC4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4B78CF4-BD7B-82DE-D526-BDD780A39BD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19DCDE8-4A3D-D6FB-C083-98F4E2ECA03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2105181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8B9AE354-1EDB-5435-49E1-F93D6297FD3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AD5F0C3-50DF-91BD-F5C6-2D0D44AF5C81}"/>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54E7BF32-589A-9D6C-8293-B55989A46BA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1F13F701-01BC-B59E-DF28-72BB2AFA336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36709024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40597D2A-6369-1C72-2B6C-68F5D9A6611B}"/>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F7A112C-2ADE-A71D-0FA5-2A9D9FAD19F1}"/>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9377789-B603-15D4-E501-6E8FA61747F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B925DED-B723-C701-3B50-27473B48C3E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35132412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836F38B-2678-B895-DC4D-9ECB25555AB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29C9347-F846-A300-5AE1-3069E4CF9B8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91FA14C-B113-D586-B026-DA487EF7F16B}"/>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C1F9C27-77D3-4F7E-0E3A-AB7C66D0C1CF}"/>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4032796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E297BABF-5538-A3F5-35DD-0D7B0C7FFB8E}"/>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DD448B43-9BEB-7011-3D5E-C1D8954E951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5206D4FC-DF12-DC00-A737-76BAF5D9F3E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5EFB1EFD-4A19-DAF6-4389-E83F8B93BBAF}"/>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8162535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8DAB77EF-2529-AF9A-16CA-816EEC99A9D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789E8870-F0B5-9783-130A-D83F3FF9707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40998E89-76B2-9686-60C1-0EAA43113CDA}"/>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0728D85-3360-288E-37FA-058C56B9FB8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34</a:t>
            </a:fld>
            <a:endParaRPr/>
          </a:p>
        </p:txBody>
      </p:sp>
    </p:spTree>
    <p:extLst>
      <p:ext uri="{BB962C8B-B14F-4D97-AF65-F5344CB8AC3E}">
        <p14:creationId xmlns:p14="http://schemas.microsoft.com/office/powerpoint/2010/main" val="37026092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C75CBE5-700D-BE40-EE99-C0F78A0736F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D62F2E9-A5B0-5D3E-4DC9-E80DA7DA517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4F14FD5-FE7F-4EAB-BA94-87765502B8D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BF2C2FD-FF2A-3B0A-AFA6-3A9354DDEE5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35</a:t>
            </a:fld>
            <a:endParaRPr/>
          </a:p>
        </p:txBody>
      </p:sp>
    </p:spTree>
    <p:extLst>
      <p:ext uri="{BB962C8B-B14F-4D97-AF65-F5344CB8AC3E}">
        <p14:creationId xmlns:p14="http://schemas.microsoft.com/office/powerpoint/2010/main" val="20820543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789D129-7474-3C30-FA9C-5CCAE8693A7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138F1989-7F79-5D80-3303-1EE9AC411D4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2EAB433-400E-657C-5EF0-5398E9C6080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A10C9476-4448-78B6-383A-FBEABE2CF86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36</a:t>
            </a:fld>
            <a:endParaRPr/>
          </a:p>
        </p:txBody>
      </p:sp>
    </p:spTree>
    <p:extLst>
      <p:ext uri="{BB962C8B-B14F-4D97-AF65-F5344CB8AC3E}">
        <p14:creationId xmlns:p14="http://schemas.microsoft.com/office/powerpoint/2010/main" val="28549591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8A0A8550-F045-4B76-5F9B-476566399C6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EB93C87-789B-4440-2462-D3D31DF1BDF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0A8003B6-001D-4106-F60C-845153A15EE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1F57FDFF-C699-C0D6-5ABD-73B86B66ED6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10075779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1DF3D5F-528A-6853-CAD3-E06F4103086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8917F76-286E-2F0D-9D56-B576A006FF5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C59D7B19-63E9-AE36-AB15-5AC431014C9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3095DC9D-D608-7149-A595-EF03AFD75E0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38</a:t>
            </a:fld>
            <a:endParaRPr/>
          </a:p>
        </p:txBody>
      </p:sp>
    </p:spTree>
    <p:extLst>
      <p:ext uri="{BB962C8B-B14F-4D97-AF65-F5344CB8AC3E}">
        <p14:creationId xmlns:p14="http://schemas.microsoft.com/office/powerpoint/2010/main" val="34379457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232C382-FA01-7183-346B-789F86348A8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7B20542E-8E4E-54D4-0F6E-258D04DDCCC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0011B1E-C8A3-C43A-1849-A32D2B1926C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E3C0D8E1-452C-C54B-1FCE-000F3186D6C9}"/>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39</a:t>
            </a:fld>
            <a:endParaRPr/>
          </a:p>
        </p:txBody>
      </p:sp>
    </p:spTree>
    <p:extLst>
      <p:ext uri="{BB962C8B-B14F-4D97-AF65-F5344CB8AC3E}">
        <p14:creationId xmlns:p14="http://schemas.microsoft.com/office/powerpoint/2010/main" val="23965731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80ACC13-9893-4A4D-1B72-1C671EB6DD4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049CDBD-F81E-1739-E59E-B6FEEA872ED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F30D8A2-8B8F-64AF-6992-8A214CF6D74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98DEEC4C-DD05-1758-E1A8-8D7682ADE46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41149074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0EC65358-EBEE-E056-34B7-6E756AC1E9BB}"/>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D4865287-C58F-5CC1-6950-934E8E1A8AB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FC08FDAC-6F00-F046-ED18-E46CB5108037}"/>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756CDBC7-EE41-2062-480E-885AFE8FFB5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1955130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83455C87-9EAC-72E1-DF20-3321A9C364C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500C7BA6-DA26-3F0B-3E36-7165DBB7891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D9D5883-98FA-2C1D-55F2-F0CBFEC84A2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90B2BF8D-ECBE-3D0C-E44F-65C1D019F23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34590184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6E2B33A-01AC-4598-E342-48B93BA994A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79DD873-3E53-8E2F-6FE7-06A3910C374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00060F3-5F6F-D4F5-DA8A-8DEA07E0993A}"/>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70C4838-8F8D-FA45-B297-02E8AD48DB2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168354417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75B75EE5-963E-212F-BB12-061A7A4CA359}"/>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22A53650-381F-902F-8230-C2D7FD86D88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0671D83F-2252-FD7D-F60E-7EC9DB378A24}"/>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540D9342-B037-1078-39EA-8556090974E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44</a:t>
            </a:fld>
            <a:endParaRPr/>
          </a:p>
        </p:txBody>
      </p:sp>
    </p:spTree>
    <p:extLst>
      <p:ext uri="{BB962C8B-B14F-4D97-AF65-F5344CB8AC3E}">
        <p14:creationId xmlns:p14="http://schemas.microsoft.com/office/powerpoint/2010/main" val="42723340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EF6F866-ADDF-9F92-E135-D24257E92D95}"/>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084AFA08-7940-F35D-37A0-D4BC89EC9EE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B7B8C0D-5BBF-69AB-25DA-8963455A15D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9769E565-8DD5-F336-EBFB-BE9AB698BC7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45</a:t>
            </a:fld>
            <a:endParaRPr/>
          </a:p>
        </p:txBody>
      </p:sp>
    </p:spTree>
    <p:extLst>
      <p:ext uri="{BB962C8B-B14F-4D97-AF65-F5344CB8AC3E}">
        <p14:creationId xmlns:p14="http://schemas.microsoft.com/office/powerpoint/2010/main" val="22962610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A0DB41D-1599-AB85-187F-5641EA9459F4}"/>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21AB8E2C-E7A6-FFF0-9A84-7DDCBAB7A02E}"/>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413FAF2-2248-BEDC-8EF8-346DD715989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DAA4680-9AED-F8BC-CE5D-FD92D8F5409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46</a:t>
            </a:fld>
            <a:endParaRPr/>
          </a:p>
        </p:txBody>
      </p:sp>
    </p:spTree>
    <p:extLst>
      <p:ext uri="{BB962C8B-B14F-4D97-AF65-F5344CB8AC3E}">
        <p14:creationId xmlns:p14="http://schemas.microsoft.com/office/powerpoint/2010/main" val="20119289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CD4617C7-060E-5FE0-11E4-DBEBB7309D6B}"/>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C644D71-A8C7-3F09-38D3-28D6716A246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ECFFF8B-4FEB-B422-4FD6-01C3FF7A0F0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B42DEBC-C209-E20E-C6D3-AE94D87C512F}"/>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7984308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46285B0-74A0-1BA6-93A3-104508337347}"/>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92CC9A3-47D6-F9B9-0E80-D4928AC5149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1EA2AFEB-768F-A9BA-1FF9-6BA46D1F191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76EC5AE-609A-2A48-C987-296412E04AD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48</a:t>
            </a:fld>
            <a:endParaRPr/>
          </a:p>
        </p:txBody>
      </p:sp>
    </p:spTree>
    <p:extLst>
      <p:ext uri="{BB962C8B-B14F-4D97-AF65-F5344CB8AC3E}">
        <p14:creationId xmlns:p14="http://schemas.microsoft.com/office/powerpoint/2010/main" val="22718060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C157F27-F4BC-5E8E-1A60-88C071C4C013}"/>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7052340F-1275-3663-23B0-5DB49BE8F8F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498A6941-52D5-36EC-F2C8-3729F4F05A7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A862594E-9248-5B1B-6D9E-0A953AEC3E7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49</a:t>
            </a:fld>
            <a:endParaRPr/>
          </a:p>
        </p:txBody>
      </p:sp>
    </p:spTree>
    <p:extLst>
      <p:ext uri="{BB962C8B-B14F-4D97-AF65-F5344CB8AC3E}">
        <p14:creationId xmlns:p14="http://schemas.microsoft.com/office/powerpoint/2010/main" val="15427177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100E361-D3D1-BA92-C5EF-E44229516344}"/>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D691BDA5-3F10-FC15-3C36-C6E4A1AB4850}"/>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1027646-1C15-52EF-1919-19640395F20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B43800E0-1586-F385-2182-2F900C6C675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50</a:t>
            </a:fld>
            <a:endParaRPr/>
          </a:p>
        </p:txBody>
      </p:sp>
    </p:spTree>
    <p:extLst>
      <p:ext uri="{BB962C8B-B14F-4D97-AF65-F5344CB8AC3E}">
        <p14:creationId xmlns:p14="http://schemas.microsoft.com/office/powerpoint/2010/main" val="30019383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1CFF6EE-476F-C762-B4CE-76D01A74EED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55CAEA5C-133A-62AF-8696-87DFF61BBA5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50A2CE9-318C-D030-1410-65C6821461D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4458D08-E46E-32D3-9804-AE92512B540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5623298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6F4C99B-2DFB-9306-A5E2-0D170766226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CF7D6C7C-04B0-9DC9-212F-C78292237D0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4DEEB9E5-F858-F528-816C-1C77DDFEDA2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6D8D2C0-A5D3-1BBD-D7F2-A59714CA1139}"/>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202837684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B15A58E7-BFF4-6324-91E4-200017B31276}"/>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95AF7907-C013-971B-898B-A672517F87E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F2A780C7-E093-DBAB-8F2F-59B172A1602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89F721EB-3227-E34A-B0ED-BC937201F6D4}"/>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53</a:t>
            </a:fld>
            <a:endParaRPr/>
          </a:p>
        </p:txBody>
      </p:sp>
    </p:spTree>
    <p:extLst>
      <p:ext uri="{BB962C8B-B14F-4D97-AF65-F5344CB8AC3E}">
        <p14:creationId xmlns:p14="http://schemas.microsoft.com/office/powerpoint/2010/main" val="2563333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ED50A83-149F-60B6-291F-3BFEB121B59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E8391DB-7C2D-21B0-D7C4-9CC942EA8AE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0BC21CDE-6655-FAE1-EE19-D726F1863BD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64D8367-1E42-CDB3-0D32-A88172F5F09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54</a:t>
            </a:fld>
            <a:endParaRPr/>
          </a:p>
        </p:txBody>
      </p:sp>
    </p:spTree>
    <p:extLst>
      <p:ext uri="{BB962C8B-B14F-4D97-AF65-F5344CB8AC3E}">
        <p14:creationId xmlns:p14="http://schemas.microsoft.com/office/powerpoint/2010/main" val="307869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4949D13-663E-1587-FF6A-ACB1BE308AE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8187FB6-C8E3-8060-4E96-906AE4DD631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0DB3CACC-D0B7-E505-2DE0-0D40DACE28ED}"/>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vi-VN" dirty="0"/>
              <a:t>Mỗi loại vùng nhớ được sử dụng cho các mục đích khác nhau, chẳng hạn như lưu trữ trạng thái tín hiệu số, dữ liệu cảm biến hoặc các giá trị điều khiển. Tùy vào loại vùng nhớ, Modbus sẽ hỗ trợ các thao tác đọc hoặc ghi dữ liệu tương ứng, giúp thiết bị điều khiển có thể giám sát trạng thái hệ thống cũng như gửi các lệnh điều khiển đến thiết bị ngoại vi.</a:t>
            </a:r>
          </a:p>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712BA39-5EBB-C426-3461-4A701575572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55</a:t>
            </a:fld>
            <a:endParaRPr/>
          </a:p>
        </p:txBody>
      </p:sp>
    </p:spTree>
    <p:extLst>
      <p:ext uri="{BB962C8B-B14F-4D97-AF65-F5344CB8AC3E}">
        <p14:creationId xmlns:p14="http://schemas.microsoft.com/office/powerpoint/2010/main" val="25425379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BEF68DBB-1568-00F8-1444-E7B29FBF7A54}"/>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E0914273-BDF0-FB0C-43D4-34A0ED21E690}"/>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CAF13A34-EE7D-58FD-EAEC-8E1C81B7AF2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900F98FD-2C73-2EB8-1DA3-A228461593A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56</a:t>
            </a:fld>
            <a:endParaRPr/>
          </a:p>
        </p:txBody>
      </p:sp>
    </p:spTree>
    <p:extLst>
      <p:ext uri="{BB962C8B-B14F-4D97-AF65-F5344CB8AC3E}">
        <p14:creationId xmlns:p14="http://schemas.microsoft.com/office/powerpoint/2010/main" val="280035316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E96B7CE-87FA-0982-E035-E730E39A12C1}"/>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031E61B-6023-AE04-0BBD-5278489A00F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A76BF822-9B40-A309-C21C-0FA23CF28D9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76AA627-A632-B495-C022-EB5ADE80FFC0}"/>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57</a:t>
            </a:fld>
            <a:endParaRPr/>
          </a:p>
        </p:txBody>
      </p:sp>
    </p:spTree>
    <p:extLst>
      <p:ext uri="{BB962C8B-B14F-4D97-AF65-F5344CB8AC3E}">
        <p14:creationId xmlns:p14="http://schemas.microsoft.com/office/powerpoint/2010/main" val="9693847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E0B784C3-CFF3-2F7A-3616-3F52112167C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2B18244A-BC8B-F7E9-CDBC-541D5B1BB97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CF75B0C5-8CC2-2650-7FD7-E54B02ADFAF3}"/>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93F3763B-F28F-EC89-BB2D-FCBCBF47C62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58</a:t>
            </a:fld>
            <a:endParaRPr/>
          </a:p>
        </p:txBody>
      </p:sp>
    </p:spTree>
    <p:extLst>
      <p:ext uri="{BB962C8B-B14F-4D97-AF65-F5344CB8AC3E}">
        <p14:creationId xmlns:p14="http://schemas.microsoft.com/office/powerpoint/2010/main" val="12627705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9E7E7B2-364C-1656-EF52-C7412CB1A81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F7151D4-88C8-5437-CE29-F20D8D40F87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18194FCC-D27F-B09E-F6A1-01A4F0F57E0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vi-VN" dirty="0"/>
              <a:t>Mỗi mã chức năng tương ứng với một loại thao tác cụ thể, giúp chuẩn hóa quá trình truyền thông và đảm bảo các thiết bị trong mạng Modbus có thể hiểu và xử lý lệnh một cách chính xác.</a:t>
            </a:r>
          </a:p>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560847E-0FE8-E65C-DEC9-909A5B9FA00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59</a:t>
            </a:fld>
            <a:endParaRPr/>
          </a:p>
        </p:txBody>
      </p:sp>
    </p:spTree>
    <p:extLst>
      <p:ext uri="{BB962C8B-B14F-4D97-AF65-F5344CB8AC3E}">
        <p14:creationId xmlns:p14="http://schemas.microsoft.com/office/powerpoint/2010/main" val="6242776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9FDB087-6749-751D-BDF0-0DA7B16292C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DF113811-6345-7EF2-A6F2-DB8A431DC9D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2ACD0693-7F21-B9F7-2F96-4960C16D970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D755CFC-4AB8-C3AC-181C-EDFAD26F347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60</a:t>
            </a:fld>
            <a:endParaRPr/>
          </a:p>
        </p:txBody>
      </p:sp>
    </p:spTree>
    <p:extLst>
      <p:ext uri="{BB962C8B-B14F-4D97-AF65-F5344CB8AC3E}">
        <p14:creationId xmlns:p14="http://schemas.microsoft.com/office/powerpoint/2010/main" val="79057871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7A86546-B329-42BA-533C-1A72AA1E15D5}"/>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6BD9D73-B3DC-6DBE-41FD-6D5F08628294}"/>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425A0B5D-AFD0-F21D-FEDF-1EFC04B1D19F}"/>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8529D69F-6743-2B2B-8DB7-B1DBAE66AD1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61</a:t>
            </a:fld>
            <a:endParaRPr/>
          </a:p>
        </p:txBody>
      </p:sp>
    </p:spTree>
    <p:extLst>
      <p:ext uri="{BB962C8B-B14F-4D97-AF65-F5344CB8AC3E}">
        <p14:creationId xmlns:p14="http://schemas.microsoft.com/office/powerpoint/2010/main" val="191727979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3AED5E2A-D368-B625-0330-8F88DFDE3AFD}"/>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22428FBA-9EB7-5D58-8DDF-D26C764E19C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893C1A9E-8607-E16F-5FA2-0F0E9424A21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977A7FA3-91F0-D020-3925-84F662AFA87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62</a:t>
            </a:fld>
            <a:endParaRPr/>
          </a:p>
        </p:txBody>
      </p:sp>
    </p:spTree>
    <p:extLst>
      <p:ext uri="{BB962C8B-B14F-4D97-AF65-F5344CB8AC3E}">
        <p14:creationId xmlns:p14="http://schemas.microsoft.com/office/powerpoint/2010/main" val="187794887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16F1940-9D3C-4B4F-B7AE-19BFCE6CD48E}"/>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08EFD34E-C777-1CEE-6F55-5FDAD66566F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6EAA8B55-FD10-7231-DB3A-1E9D1D888EE7}"/>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92542232-46EA-D3B0-1D65-165965FBC40F}"/>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63</a:t>
            </a:fld>
            <a:endParaRPr/>
          </a:p>
        </p:txBody>
      </p:sp>
    </p:spTree>
    <p:extLst>
      <p:ext uri="{BB962C8B-B14F-4D97-AF65-F5344CB8AC3E}">
        <p14:creationId xmlns:p14="http://schemas.microsoft.com/office/powerpoint/2010/main" val="212804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C796269-0B20-421C-2EB3-555E44C393D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DB93942E-DDA8-1C9C-AF7C-B291D5E30C18}"/>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C75776E-ADFE-B5EA-3A70-7D607B17394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264DBDB-C612-83FF-E650-E9539F7A6346}"/>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64</a:t>
            </a:fld>
            <a:endParaRPr/>
          </a:p>
        </p:txBody>
      </p:sp>
    </p:spTree>
    <p:extLst>
      <p:ext uri="{BB962C8B-B14F-4D97-AF65-F5344CB8AC3E}">
        <p14:creationId xmlns:p14="http://schemas.microsoft.com/office/powerpoint/2010/main" val="20240280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DA44708-25B7-AFBF-431D-ED22E7CC9E0A}"/>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1551082-E23D-174D-FEDD-140499EE1AE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742E7A29-54D9-6037-7C2A-471D24582B7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1B6C945-DD99-1E5F-0C52-3B3D3B8864B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65</a:t>
            </a:fld>
            <a:endParaRPr/>
          </a:p>
        </p:txBody>
      </p:sp>
    </p:spTree>
    <p:extLst>
      <p:ext uri="{BB962C8B-B14F-4D97-AF65-F5344CB8AC3E}">
        <p14:creationId xmlns:p14="http://schemas.microsoft.com/office/powerpoint/2010/main" val="324817553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A9750E8-E7CD-2D20-164E-3D5CF54EBDE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2F657F0-01F2-E176-0499-9C35B3958C3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8FD342E1-7407-11AE-0BA8-BD1BD04F32ED}"/>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6B32A942-DEE6-2E29-21A1-183BDA94BC2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66</a:t>
            </a:fld>
            <a:endParaRPr/>
          </a:p>
        </p:txBody>
      </p:sp>
    </p:spTree>
    <p:extLst>
      <p:ext uri="{BB962C8B-B14F-4D97-AF65-F5344CB8AC3E}">
        <p14:creationId xmlns:p14="http://schemas.microsoft.com/office/powerpoint/2010/main" val="393207045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15C13020-9321-375C-3C1F-D605E2356B5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97DA052-8957-74AF-3BFB-804C2B1B3A7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05CFAAB-26C2-5CC7-E4B6-4F6B9CCD7688}"/>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AC2DC6A-EE78-41DE-4BB2-7E04B49552B2}"/>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67</a:t>
            </a:fld>
            <a:endParaRPr/>
          </a:p>
        </p:txBody>
      </p:sp>
    </p:spTree>
    <p:extLst>
      <p:ext uri="{BB962C8B-B14F-4D97-AF65-F5344CB8AC3E}">
        <p14:creationId xmlns:p14="http://schemas.microsoft.com/office/powerpoint/2010/main" val="23321335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8B378A82-172E-993A-5091-FBC294D1D0A0}"/>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A0AF4448-4CC5-E822-2CD1-150D7A174CB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4BB83F7B-E8B8-1C89-4113-F6D31B106F4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70C51E0A-D558-ED5B-3120-32D1BDDDB77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68</a:t>
            </a:fld>
            <a:endParaRPr/>
          </a:p>
        </p:txBody>
      </p:sp>
    </p:spTree>
    <p:extLst>
      <p:ext uri="{BB962C8B-B14F-4D97-AF65-F5344CB8AC3E}">
        <p14:creationId xmlns:p14="http://schemas.microsoft.com/office/powerpoint/2010/main" val="37016694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5F67150-6611-2CDA-DDD2-7AE14A1FD3D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4B35A329-9E0D-FAFD-79EE-C3C7C54F2F0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AA445FC-7647-4C22-6FA2-5BB5AF5C523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778DE8F-8869-6081-FEAC-06CE46B612D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69</a:t>
            </a:fld>
            <a:endParaRPr/>
          </a:p>
        </p:txBody>
      </p:sp>
    </p:spTree>
    <p:extLst>
      <p:ext uri="{BB962C8B-B14F-4D97-AF65-F5344CB8AC3E}">
        <p14:creationId xmlns:p14="http://schemas.microsoft.com/office/powerpoint/2010/main" val="190669265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13070F5-67A8-AA11-8F00-4155372334C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B06EB49B-5464-A2B5-8A69-1B680AFDA019}"/>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0AF58D8-F101-8719-FEB8-660FA81B50A9}"/>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F7FE5B88-94D7-6CDD-0177-18C83AD4EEE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70</a:t>
            </a:fld>
            <a:endParaRPr/>
          </a:p>
        </p:txBody>
      </p:sp>
    </p:spTree>
    <p:extLst>
      <p:ext uri="{BB962C8B-B14F-4D97-AF65-F5344CB8AC3E}">
        <p14:creationId xmlns:p14="http://schemas.microsoft.com/office/powerpoint/2010/main" val="33799085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039DDF4-6B44-CC96-E027-C798C6C49C1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C5E00AA3-C778-BEDB-4DEC-E7CCFA8490B3}"/>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6557DBF5-24D8-8272-D042-3E4F65382E8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5AF4B46-C530-6031-2176-3AD11E2B6327}"/>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71</a:t>
            </a:fld>
            <a:endParaRPr/>
          </a:p>
        </p:txBody>
      </p:sp>
    </p:spTree>
    <p:extLst>
      <p:ext uri="{BB962C8B-B14F-4D97-AF65-F5344CB8AC3E}">
        <p14:creationId xmlns:p14="http://schemas.microsoft.com/office/powerpoint/2010/main" val="93652819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37340383-97A6-375E-A37D-76BC6D275DE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6D85BBA2-9E2A-41B7-6B24-375890DEDB2C}"/>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A490DFA-E821-E2DA-5824-40DA4A231A1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91847CAC-57AB-C852-FFC6-73566E4D456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72</a:t>
            </a:fld>
            <a:endParaRPr/>
          </a:p>
        </p:txBody>
      </p:sp>
    </p:spTree>
    <p:extLst>
      <p:ext uri="{BB962C8B-B14F-4D97-AF65-F5344CB8AC3E}">
        <p14:creationId xmlns:p14="http://schemas.microsoft.com/office/powerpoint/2010/main" val="428335333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369E0C52-F02C-3F45-6473-65D882300D7D}"/>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80AD2AA6-962A-EA77-2ED0-4AF48C1AD2D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3AC9B955-0597-9BEA-19B6-3DEB3FBBF8D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B054F9D8-5287-C057-591A-EA06C367A07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73</a:t>
            </a:fld>
            <a:endParaRPr/>
          </a:p>
        </p:txBody>
      </p:sp>
    </p:spTree>
    <p:extLst>
      <p:ext uri="{BB962C8B-B14F-4D97-AF65-F5344CB8AC3E}">
        <p14:creationId xmlns:p14="http://schemas.microsoft.com/office/powerpoint/2010/main" val="14101538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6D94CF01-A37F-F632-93D3-2B9371F1D05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5BD05EF2-C9DD-2D00-D76B-B657E7D20D1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C542C5DC-554E-23ED-C4BE-0503CF68769A}"/>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75270FA4-9042-A63F-3801-32DAF037A9E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74</a:t>
            </a:fld>
            <a:endParaRPr/>
          </a:p>
        </p:txBody>
      </p:sp>
    </p:spTree>
    <p:extLst>
      <p:ext uri="{BB962C8B-B14F-4D97-AF65-F5344CB8AC3E}">
        <p14:creationId xmlns:p14="http://schemas.microsoft.com/office/powerpoint/2010/main" val="207144480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261FDE1C-6DAE-394A-30B5-0944E19C5E58}"/>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352E7C4F-5C6C-CB08-94BC-34541082F36F}"/>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34BE048F-4780-8418-0672-85FFF7607EA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0BD5CB6F-D1DF-71E0-F951-5517E418EA6E}"/>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75</a:t>
            </a:fld>
            <a:endParaRPr/>
          </a:p>
        </p:txBody>
      </p:sp>
    </p:spTree>
    <p:extLst>
      <p:ext uri="{BB962C8B-B14F-4D97-AF65-F5344CB8AC3E}">
        <p14:creationId xmlns:p14="http://schemas.microsoft.com/office/powerpoint/2010/main" val="12173033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52BA436-5CBE-96F2-78AB-63ACE92A2122}"/>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50726FF1-A5F1-F5CA-5140-1D65C8AD88DA}"/>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0555012-DD8A-B2CB-C932-4B8995C90F8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BB4DB89-84A8-BCA3-2AB7-4F7D780781FF}"/>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76</a:t>
            </a:fld>
            <a:endParaRPr/>
          </a:p>
        </p:txBody>
      </p:sp>
    </p:spTree>
    <p:extLst>
      <p:ext uri="{BB962C8B-B14F-4D97-AF65-F5344CB8AC3E}">
        <p14:creationId xmlns:p14="http://schemas.microsoft.com/office/powerpoint/2010/main" val="10058853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B46EC509-31D5-BDCD-192C-145111A2D61E}"/>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23665C35-C518-882E-D61A-26BAD79964C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26B13B8-6405-B4D4-894A-708F7D20EC7A}"/>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4C95F6CA-4ACC-0DFA-62A0-DA39E4E9F16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77</a:t>
            </a:fld>
            <a:endParaRPr/>
          </a:p>
        </p:txBody>
      </p:sp>
    </p:spTree>
    <p:extLst>
      <p:ext uri="{BB962C8B-B14F-4D97-AF65-F5344CB8AC3E}">
        <p14:creationId xmlns:p14="http://schemas.microsoft.com/office/powerpoint/2010/main" val="356463652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8D9910AE-33EA-5DAA-FA6A-A3A44691767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1E66F30-FB05-D11D-169E-90F8BDDA768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4E3A47B0-D5F5-879A-2C5F-E454727897D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3E2B4E80-314F-ED13-A614-1C87E9AC4F1C}"/>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78</a:t>
            </a:fld>
            <a:endParaRPr/>
          </a:p>
        </p:txBody>
      </p:sp>
    </p:spTree>
    <p:extLst>
      <p:ext uri="{BB962C8B-B14F-4D97-AF65-F5344CB8AC3E}">
        <p14:creationId xmlns:p14="http://schemas.microsoft.com/office/powerpoint/2010/main" val="195341394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D206E4CF-4C1A-E84C-FF5D-3F3FCF62C936}"/>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7A5826B4-76CA-2E3E-2988-295241345E9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2ED1A794-B4B6-4589-DB8F-5C72D203D650}"/>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CF605773-5CA0-7B68-3F31-2DC13027651E}"/>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79</a:t>
            </a:fld>
            <a:endParaRPr/>
          </a:p>
        </p:txBody>
      </p:sp>
    </p:spTree>
    <p:extLst>
      <p:ext uri="{BB962C8B-B14F-4D97-AF65-F5344CB8AC3E}">
        <p14:creationId xmlns:p14="http://schemas.microsoft.com/office/powerpoint/2010/main" val="242701960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A45162B-E943-F236-AE35-1BDABEC04F79}"/>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EB9DBB33-0B17-38D7-3E95-57E6DAA91FA8}"/>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9BCA75B-A1E1-8C4C-99DC-D51FD392DE61}"/>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ADE247C-9C4F-C2CC-0896-CE4D4B1148C5}"/>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80</a:t>
            </a:fld>
            <a:endParaRPr/>
          </a:p>
        </p:txBody>
      </p:sp>
    </p:spTree>
    <p:extLst>
      <p:ext uri="{BB962C8B-B14F-4D97-AF65-F5344CB8AC3E}">
        <p14:creationId xmlns:p14="http://schemas.microsoft.com/office/powerpoint/2010/main" val="378116867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AB4DDAA3-CA43-15FB-9AA2-B1654575B7C8}"/>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52847DA5-E526-D0D3-E3F6-A9CC88471495}"/>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DC4BA5AC-944D-6025-45E4-999FBF342A5C}"/>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CCB72C76-A5DE-D328-6D61-EA2CB9FA4C31}"/>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81</a:t>
            </a:fld>
            <a:endParaRPr/>
          </a:p>
        </p:txBody>
      </p:sp>
    </p:spTree>
    <p:extLst>
      <p:ext uri="{BB962C8B-B14F-4D97-AF65-F5344CB8AC3E}">
        <p14:creationId xmlns:p14="http://schemas.microsoft.com/office/powerpoint/2010/main" val="254524867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926BE12E-DCBF-A6A7-AA63-390030E9738F}"/>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D349AF80-C465-860E-3E78-7CC28409EFF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DDB25079-9118-4131-B359-F5020DD50A0E}"/>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a:lnSpc>
                <a:spcPct val="150000"/>
              </a:lnSpc>
            </a:pPr>
            <a:r>
              <a:rPr lang="en-US" b="1" dirty="0"/>
              <a:t>Code master</a:t>
            </a:r>
          </a:p>
          <a:p>
            <a:pPr>
              <a:lnSpc>
                <a:spcPct val="150000"/>
              </a:lnSpc>
            </a:pPr>
            <a:r>
              <a:rPr lang="en-US" sz="1200" dirty="0">
                <a:solidFill>
                  <a:srgbClr val="FF0000"/>
                </a:solidFill>
              </a:rPr>
              <a:t>#include &lt;</a:t>
            </a:r>
            <a:r>
              <a:rPr lang="en-US" sz="1200" dirty="0" err="1">
                <a:solidFill>
                  <a:srgbClr val="FF0000"/>
                </a:solidFill>
              </a:rPr>
              <a:t>SoftwareSerial.h</a:t>
            </a:r>
            <a:r>
              <a:rPr lang="en-US" sz="1200" dirty="0">
                <a:solidFill>
                  <a:srgbClr val="FF0000"/>
                </a:solidFill>
              </a:rPr>
              <a:t>&gt;</a:t>
            </a:r>
          </a:p>
          <a:p>
            <a:pPr>
              <a:lnSpc>
                <a:spcPct val="150000"/>
              </a:lnSpc>
            </a:pPr>
            <a:r>
              <a:rPr lang="en-US" sz="1200" dirty="0" err="1">
                <a:solidFill>
                  <a:srgbClr val="FF0000"/>
                </a:solidFill>
              </a:rPr>
              <a:t>SoftwareSerial</a:t>
            </a:r>
            <a:r>
              <a:rPr lang="en-US" sz="1200" dirty="0">
                <a:solidFill>
                  <a:srgbClr val="FF0000"/>
                </a:solidFill>
              </a:rPr>
              <a:t> </a:t>
            </a:r>
            <a:r>
              <a:rPr lang="en-US" sz="1200" dirty="0" err="1">
                <a:solidFill>
                  <a:srgbClr val="FF0000"/>
                </a:solidFill>
              </a:rPr>
              <a:t>modbus</a:t>
            </a:r>
            <a:r>
              <a:rPr lang="en-US" sz="1200" dirty="0">
                <a:solidFill>
                  <a:srgbClr val="FF0000"/>
                </a:solidFill>
              </a:rPr>
              <a:t>(10,11);   // RX,TX</a:t>
            </a:r>
          </a:p>
          <a:p>
            <a:pPr>
              <a:lnSpc>
                <a:spcPct val="150000"/>
              </a:lnSpc>
            </a:pPr>
            <a:r>
              <a:rPr lang="en-US" sz="1200" dirty="0">
                <a:solidFill>
                  <a:srgbClr val="FF0000"/>
                </a:solidFill>
              </a:rPr>
              <a:t>#define SLAVE_ID1 1</a:t>
            </a:r>
          </a:p>
          <a:p>
            <a:pPr>
              <a:lnSpc>
                <a:spcPct val="150000"/>
              </a:lnSpc>
            </a:pPr>
            <a:r>
              <a:rPr lang="en-US" sz="1200" dirty="0">
                <a:solidFill>
                  <a:srgbClr val="FF0000"/>
                </a:solidFill>
              </a:rPr>
              <a:t>#define SLAVE_ID2 2</a:t>
            </a:r>
          </a:p>
          <a:p>
            <a:pPr>
              <a:lnSpc>
                <a:spcPct val="150000"/>
              </a:lnSpc>
            </a:pPr>
            <a:r>
              <a:rPr lang="en-US" sz="1200" dirty="0">
                <a:solidFill>
                  <a:srgbClr val="FF0000"/>
                </a:solidFill>
              </a:rPr>
              <a:t>uint16_t crc16(uint8_t *</a:t>
            </a:r>
            <a:r>
              <a:rPr lang="en-US" sz="1200" dirty="0" err="1">
                <a:solidFill>
                  <a:srgbClr val="FF0000"/>
                </a:solidFill>
              </a:rPr>
              <a:t>buf,int</a:t>
            </a:r>
            <a:r>
              <a:rPr lang="en-US" sz="1200" dirty="0">
                <a:solidFill>
                  <a:srgbClr val="FF0000"/>
                </a:solidFill>
              </a:rPr>
              <a:t> </a:t>
            </a:r>
            <a:r>
              <a:rPr lang="en-US" sz="1200" dirty="0" err="1">
                <a:solidFill>
                  <a:srgbClr val="FF0000"/>
                </a:solidFill>
              </a:rPr>
              <a:t>len</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  uint16_t </a:t>
            </a:r>
            <a:r>
              <a:rPr lang="en-US" sz="1200" dirty="0" err="1">
                <a:solidFill>
                  <a:srgbClr val="FF0000"/>
                </a:solidFill>
              </a:rPr>
              <a:t>crc</a:t>
            </a:r>
            <a:r>
              <a:rPr lang="en-US" sz="1200" dirty="0">
                <a:solidFill>
                  <a:srgbClr val="FF0000"/>
                </a:solidFill>
              </a:rPr>
              <a:t>=0xFFFF;</a:t>
            </a:r>
          </a:p>
          <a:p>
            <a:pPr>
              <a:lnSpc>
                <a:spcPct val="150000"/>
              </a:lnSpc>
            </a:pPr>
            <a:r>
              <a:rPr lang="en-US" sz="1200" dirty="0">
                <a:solidFill>
                  <a:srgbClr val="FF0000"/>
                </a:solidFill>
              </a:rPr>
              <a:t>  for(int pos=0;pos&lt;</a:t>
            </a:r>
            <a:r>
              <a:rPr lang="en-US" sz="1200" dirty="0" err="1">
                <a:solidFill>
                  <a:srgbClr val="FF0000"/>
                </a:solidFill>
              </a:rPr>
              <a:t>len;pos</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a:t>
            </a:r>
            <a:r>
              <a:rPr lang="en-US" sz="1200" dirty="0" err="1">
                <a:solidFill>
                  <a:srgbClr val="FF0000"/>
                </a:solidFill>
              </a:rPr>
              <a:t>buf</a:t>
            </a:r>
            <a:r>
              <a:rPr lang="en-US" sz="1200" dirty="0">
                <a:solidFill>
                  <a:srgbClr val="FF0000"/>
                </a:solidFill>
              </a:rPr>
              <a:t>[pos];</a:t>
            </a:r>
          </a:p>
          <a:p>
            <a:pPr>
              <a:lnSpc>
                <a:spcPct val="150000"/>
              </a:lnSpc>
            </a:pPr>
            <a:r>
              <a:rPr lang="en-US" sz="1200" dirty="0">
                <a:solidFill>
                  <a:srgbClr val="FF0000"/>
                </a:solidFill>
              </a:rPr>
              <a:t>    for(int </a:t>
            </a:r>
            <a:r>
              <a:rPr lang="en-US" sz="1200" dirty="0" err="1">
                <a:solidFill>
                  <a:srgbClr val="FF0000"/>
                </a:solidFill>
              </a:rPr>
              <a:t>i</a:t>
            </a:r>
            <a:r>
              <a:rPr lang="en-US" sz="1200" dirty="0">
                <a:solidFill>
                  <a:srgbClr val="FF0000"/>
                </a:solidFill>
              </a:rPr>
              <a:t>=0;i&lt;8;i++)</a:t>
            </a:r>
          </a:p>
          <a:p>
            <a:pPr>
              <a:lnSpc>
                <a:spcPct val="150000"/>
              </a:lnSpc>
            </a:pPr>
            <a:r>
              <a:rPr lang="en-US" sz="1200" dirty="0">
                <a:solidFill>
                  <a:srgbClr val="FF0000"/>
                </a:solidFill>
              </a:rPr>
              <a:t>    {</a:t>
            </a:r>
          </a:p>
          <a:p>
            <a:pPr>
              <a:lnSpc>
                <a:spcPct val="150000"/>
              </a:lnSpc>
            </a:pPr>
            <a:r>
              <a:rPr lang="en-US" sz="1200" dirty="0">
                <a:solidFill>
                  <a:srgbClr val="FF0000"/>
                </a:solidFill>
              </a:rPr>
              <a:t>      if(crc&amp;1)</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&gt;&gt;=1;</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^=0xA001;</a:t>
            </a:r>
          </a:p>
          <a:p>
            <a:pPr>
              <a:lnSpc>
                <a:spcPct val="150000"/>
              </a:lnSpc>
            </a:pPr>
            <a:r>
              <a:rPr lang="en-US" sz="1200" dirty="0">
                <a:solidFill>
                  <a:srgbClr val="FF0000"/>
                </a:solidFill>
              </a:rPr>
              <a:t>      }</a:t>
            </a:r>
          </a:p>
          <a:p>
            <a:pPr>
              <a:lnSpc>
                <a:spcPct val="150000"/>
              </a:lnSpc>
            </a:pPr>
            <a:r>
              <a:rPr lang="en-US" sz="1200" dirty="0">
                <a:solidFill>
                  <a:srgbClr val="FF0000"/>
                </a:solidFill>
              </a:rPr>
              <a:t>      else</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&gt;&gt;=1;</a:t>
            </a:r>
          </a:p>
          <a:p>
            <a:pPr>
              <a:lnSpc>
                <a:spcPct val="150000"/>
              </a:lnSpc>
            </a:pPr>
            <a:r>
              <a:rPr lang="en-US" sz="1200" dirty="0">
                <a:solidFill>
                  <a:srgbClr val="FF0000"/>
                </a:solidFill>
              </a:rPr>
              <a:t>    }</a:t>
            </a:r>
          </a:p>
          <a:p>
            <a:pPr>
              <a:lnSpc>
                <a:spcPct val="150000"/>
              </a:lnSpc>
            </a:pPr>
            <a:r>
              <a:rPr lang="en-US" sz="1200" dirty="0">
                <a:solidFill>
                  <a:srgbClr val="FF0000"/>
                </a:solidFill>
              </a:rPr>
              <a:t>  }</a:t>
            </a:r>
          </a:p>
          <a:p>
            <a:pPr>
              <a:lnSpc>
                <a:spcPct val="150000"/>
              </a:lnSpc>
            </a:pPr>
            <a:r>
              <a:rPr lang="en-US" sz="1200" dirty="0">
                <a:solidFill>
                  <a:srgbClr val="FF0000"/>
                </a:solidFill>
              </a:rPr>
              <a:t>  return </a:t>
            </a:r>
            <a:r>
              <a:rPr lang="en-US" sz="1200" dirty="0" err="1">
                <a:solidFill>
                  <a:srgbClr val="FF0000"/>
                </a:solidFill>
              </a:rPr>
              <a:t>crc</a:t>
            </a:r>
            <a:r>
              <a:rPr lang="en-US" sz="1200" dirty="0">
                <a:solidFill>
                  <a:srgbClr val="FF0000"/>
                </a:solidFill>
              </a:rPr>
              <a:t>;</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a:t>
            </a:r>
            <a:r>
              <a:rPr lang="en-US" sz="1200" dirty="0" err="1">
                <a:solidFill>
                  <a:srgbClr val="FF0000"/>
                </a:solidFill>
              </a:rPr>
              <a:t>printFrame</a:t>
            </a:r>
            <a:r>
              <a:rPr lang="en-US" sz="1200" dirty="0">
                <a:solidFill>
                  <a:srgbClr val="FF0000"/>
                </a:solidFill>
              </a:rPr>
              <a:t>(uint8_t *</a:t>
            </a:r>
            <a:r>
              <a:rPr lang="en-US" sz="1200" dirty="0" err="1">
                <a:solidFill>
                  <a:srgbClr val="FF0000"/>
                </a:solidFill>
              </a:rPr>
              <a:t>buf,int</a:t>
            </a:r>
            <a:r>
              <a:rPr lang="en-US" sz="1200" dirty="0">
                <a:solidFill>
                  <a:srgbClr val="FF0000"/>
                </a:solidFill>
              </a:rPr>
              <a:t> </a:t>
            </a:r>
            <a:r>
              <a:rPr lang="en-US" sz="1200" dirty="0" err="1">
                <a:solidFill>
                  <a:srgbClr val="FF0000"/>
                </a:solidFill>
              </a:rPr>
              <a:t>len</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  for(int </a:t>
            </a:r>
            <a:r>
              <a:rPr lang="en-US" sz="1200" dirty="0" err="1">
                <a:solidFill>
                  <a:srgbClr val="FF0000"/>
                </a:solidFill>
              </a:rPr>
              <a:t>i</a:t>
            </a:r>
            <a:r>
              <a:rPr lang="en-US" sz="1200" dirty="0">
                <a:solidFill>
                  <a:srgbClr val="FF0000"/>
                </a:solidFill>
              </a:rPr>
              <a:t>=0;i&lt;</a:t>
            </a:r>
            <a:r>
              <a:rPr lang="en-US" sz="1200" dirty="0" err="1">
                <a:solidFill>
                  <a:srgbClr val="FF0000"/>
                </a:solidFill>
              </a:rPr>
              <a:t>len;i</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if(</a:t>
            </a:r>
            <a:r>
              <a:rPr lang="en-US" sz="1200" dirty="0" err="1">
                <a:solidFill>
                  <a:srgbClr val="FF0000"/>
                </a:solidFill>
              </a:rPr>
              <a:t>buf</a:t>
            </a:r>
            <a:r>
              <a:rPr lang="en-US" sz="1200" dirty="0">
                <a:solidFill>
                  <a:srgbClr val="FF0000"/>
                </a:solidFill>
              </a:rPr>
              <a:t>[</a:t>
            </a:r>
            <a:r>
              <a:rPr lang="en-US" sz="1200" dirty="0" err="1">
                <a:solidFill>
                  <a:srgbClr val="FF0000"/>
                </a:solidFill>
              </a:rPr>
              <a:t>i</a:t>
            </a:r>
            <a:r>
              <a:rPr lang="en-US" sz="1200" dirty="0">
                <a:solidFill>
                  <a:srgbClr val="FF0000"/>
                </a:solidFill>
              </a:rPr>
              <a:t>]&lt;16) </a:t>
            </a:r>
            <a:r>
              <a:rPr lang="en-US" sz="1200" dirty="0" err="1">
                <a:solidFill>
                  <a:srgbClr val="FF0000"/>
                </a:solidFill>
              </a:rPr>
              <a:t>Serial.print</a:t>
            </a:r>
            <a:r>
              <a:rPr lang="en-US" sz="1200" dirty="0">
                <a:solidFill>
                  <a:srgbClr val="FF0000"/>
                </a:solidFill>
              </a:rPr>
              <a:t>("0");</a:t>
            </a: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a:t>
            </a:r>
            <a:r>
              <a:rPr lang="en-US" sz="1200" dirty="0" err="1">
                <a:solidFill>
                  <a:srgbClr val="FF0000"/>
                </a:solidFill>
              </a:rPr>
              <a:t>buf</a:t>
            </a:r>
            <a:r>
              <a:rPr lang="en-US" sz="1200" dirty="0">
                <a:solidFill>
                  <a:srgbClr val="FF0000"/>
                </a:solidFill>
              </a:rPr>
              <a:t>[</a:t>
            </a:r>
            <a:r>
              <a:rPr lang="en-US" sz="1200" dirty="0" err="1">
                <a:solidFill>
                  <a:srgbClr val="FF0000"/>
                </a:solidFill>
              </a:rPr>
              <a:t>i</a:t>
            </a:r>
            <a:r>
              <a:rPr lang="en-US" sz="1200" dirty="0">
                <a:solidFill>
                  <a:srgbClr val="FF0000"/>
                </a:solidFill>
              </a:rPr>
              <a:t>],HEX);</a:t>
            </a: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 ");</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void </a:t>
            </a:r>
            <a:r>
              <a:rPr lang="en-US" sz="1200" dirty="0" err="1">
                <a:solidFill>
                  <a:srgbClr val="FF0000"/>
                </a:solidFill>
              </a:rPr>
              <a:t>sendQuery</a:t>
            </a:r>
            <a:r>
              <a:rPr lang="en-US" sz="1200" dirty="0">
                <a:solidFill>
                  <a:srgbClr val="FF0000"/>
                </a:solidFill>
              </a:rPr>
              <a:t>(uint8_t </a:t>
            </a:r>
            <a:r>
              <a:rPr lang="en-US" sz="1200" dirty="0" err="1">
                <a:solidFill>
                  <a:srgbClr val="FF0000"/>
                </a:solidFill>
              </a:rPr>
              <a:t>slaveID</a:t>
            </a:r>
            <a:r>
              <a:rPr lang="en-US" sz="1200" dirty="0">
                <a:solidFill>
                  <a:srgbClr val="FF0000"/>
                </a:solidFill>
              </a:rPr>
              <a:t>, uint16_t </a:t>
            </a:r>
            <a:r>
              <a:rPr lang="en-US" sz="1200" dirty="0" err="1">
                <a:solidFill>
                  <a:srgbClr val="FF0000"/>
                </a:solidFill>
              </a:rPr>
              <a:t>startAddr</a:t>
            </a:r>
            <a:r>
              <a:rPr lang="en-US" sz="1200" dirty="0">
                <a:solidFill>
                  <a:srgbClr val="FF0000"/>
                </a:solidFill>
              </a:rPr>
              <a:t>, uint16_t qty)</a:t>
            </a:r>
          </a:p>
          <a:p>
            <a:pPr>
              <a:lnSpc>
                <a:spcPct val="150000"/>
              </a:lnSpc>
            </a:pPr>
            <a:r>
              <a:rPr lang="en-US" sz="1200" dirty="0">
                <a:solidFill>
                  <a:srgbClr val="FF0000"/>
                </a:solidFill>
              </a:rPr>
              <a:t>{</a:t>
            </a:r>
          </a:p>
          <a:p>
            <a:pPr>
              <a:lnSpc>
                <a:spcPct val="150000"/>
              </a:lnSpc>
            </a:pPr>
            <a:r>
              <a:rPr lang="en-US" sz="1200" dirty="0">
                <a:solidFill>
                  <a:srgbClr val="FF0000"/>
                </a:solidFill>
              </a:rPr>
              <a:t>  uint8_t frame[8];</a:t>
            </a:r>
          </a:p>
          <a:p>
            <a:pPr>
              <a:lnSpc>
                <a:spcPct val="150000"/>
              </a:lnSpc>
            </a:pPr>
            <a:endParaRPr lang="en-US" sz="1200" dirty="0">
              <a:solidFill>
                <a:srgbClr val="FF0000"/>
              </a:solidFill>
            </a:endParaRPr>
          </a:p>
          <a:p>
            <a:pPr>
              <a:lnSpc>
                <a:spcPct val="150000"/>
              </a:lnSpc>
            </a:pPr>
            <a:r>
              <a:rPr lang="en-US" sz="1200" dirty="0">
                <a:solidFill>
                  <a:srgbClr val="FF0000"/>
                </a:solidFill>
              </a:rPr>
              <a:t>  frame[0] = </a:t>
            </a:r>
            <a:r>
              <a:rPr lang="en-US" sz="1200" dirty="0" err="1">
                <a:solidFill>
                  <a:srgbClr val="FF0000"/>
                </a:solidFill>
              </a:rPr>
              <a:t>slaveID</a:t>
            </a:r>
            <a:r>
              <a:rPr lang="en-US" sz="1200" dirty="0">
                <a:solidFill>
                  <a:srgbClr val="FF0000"/>
                </a:solidFill>
              </a:rPr>
              <a:t>;</a:t>
            </a:r>
          </a:p>
          <a:p>
            <a:pPr>
              <a:lnSpc>
                <a:spcPct val="150000"/>
              </a:lnSpc>
            </a:pPr>
            <a:r>
              <a:rPr lang="en-US" sz="1200" dirty="0">
                <a:solidFill>
                  <a:srgbClr val="FF0000"/>
                </a:solidFill>
              </a:rPr>
              <a:t>  frame[1] = 3;</a:t>
            </a:r>
          </a:p>
          <a:p>
            <a:pPr>
              <a:lnSpc>
                <a:spcPct val="150000"/>
              </a:lnSpc>
            </a:pPr>
            <a:endParaRPr lang="en-US" sz="1200" dirty="0">
              <a:solidFill>
                <a:srgbClr val="FF0000"/>
              </a:solidFill>
            </a:endParaRPr>
          </a:p>
          <a:p>
            <a:pPr>
              <a:lnSpc>
                <a:spcPct val="150000"/>
              </a:lnSpc>
            </a:pPr>
            <a:r>
              <a:rPr lang="en-US" sz="1200" dirty="0">
                <a:solidFill>
                  <a:srgbClr val="FF0000"/>
                </a:solidFill>
              </a:rPr>
              <a:t>  frame[2] = </a:t>
            </a:r>
            <a:r>
              <a:rPr lang="en-US" sz="1200" dirty="0" err="1">
                <a:solidFill>
                  <a:srgbClr val="FF0000"/>
                </a:solidFill>
              </a:rPr>
              <a:t>startAddr</a:t>
            </a:r>
            <a:r>
              <a:rPr lang="en-US" sz="1200" dirty="0">
                <a:solidFill>
                  <a:srgbClr val="FF0000"/>
                </a:solidFill>
              </a:rPr>
              <a:t> &gt;&gt; 8;</a:t>
            </a:r>
          </a:p>
          <a:p>
            <a:pPr>
              <a:lnSpc>
                <a:spcPct val="150000"/>
              </a:lnSpc>
            </a:pPr>
            <a:r>
              <a:rPr lang="en-US" sz="1200" dirty="0">
                <a:solidFill>
                  <a:srgbClr val="FF0000"/>
                </a:solidFill>
              </a:rPr>
              <a:t>  frame[3] = </a:t>
            </a:r>
            <a:r>
              <a:rPr lang="en-US" sz="1200" dirty="0" err="1">
                <a:solidFill>
                  <a:srgbClr val="FF0000"/>
                </a:solidFill>
              </a:rPr>
              <a:t>startAddr</a:t>
            </a:r>
            <a:r>
              <a:rPr lang="en-US" sz="1200" dirty="0">
                <a:solidFill>
                  <a:srgbClr val="FF0000"/>
                </a:solidFill>
              </a:rPr>
              <a:t> &amp; 0xFF;</a:t>
            </a:r>
          </a:p>
          <a:p>
            <a:pPr>
              <a:lnSpc>
                <a:spcPct val="150000"/>
              </a:lnSpc>
            </a:pPr>
            <a:endParaRPr lang="en-US" sz="1200" dirty="0">
              <a:solidFill>
                <a:srgbClr val="FF0000"/>
              </a:solidFill>
            </a:endParaRPr>
          </a:p>
          <a:p>
            <a:pPr>
              <a:lnSpc>
                <a:spcPct val="150000"/>
              </a:lnSpc>
            </a:pPr>
            <a:r>
              <a:rPr lang="en-US" sz="1200" dirty="0">
                <a:solidFill>
                  <a:srgbClr val="FF0000"/>
                </a:solidFill>
              </a:rPr>
              <a:t>  frame[4] = qty &gt;&gt; 8;</a:t>
            </a:r>
          </a:p>
          <a:p>
            <a:pPr>
              <a:lnSpc>
                <a:spcPct val="150000"/>
              </a:lnSpc>
            </a:pPr>
            <a:r>
              <a:rPr lang="en-US" sz="1200" dirty="0">
                <a:solidFill>
                  <a:srgbClr val="FF0000"/>
                </a:solidFill>
              </a:rPr>
              <a:t>  frame[5] = qty &amp; 0xFF;</a:t>
            </a:r>
          </a:p>
          <a:p>
            <a:pPr>
              <a:lnSpc>
                <a:spcPct val="150000"/>
              </a:lnSpc>
            </a:pPr>
            <a:endParaRPr lang="en-US" sz="1200" dirty="0">
              <a:solidFill>
                <a:srgbClr val="FF0000"/>
              </a:solidFill>
            </a:endParaRPr>
          </a:p>
          <a:p>
            <a:pPr>
              <a:lnSpc>
                <a:spcPct val="150000"/>
              </a:lnSpc>
            </a:pPr>
            <a:r>
              <a:rPr lang="en-US" sz="1200" dirty="0">
                <a:solidFill>
                  <a:srgbClr val="FF0000"/>
                </a:solidFill>
              </a:rPr>
              <a:t>  uint16_t </a:t>
            </a:r>
            <a:r>
              <a:rPr lang="en-US" sz="1200" dirty="0" err="1">
                <a:solidFill>
                  <a:srgbClr val="FF0000"/>
                </a:solidFill>
              </a:rPr>
              <a:t>crc</a:t>
            </a:r>
            <a:r>
              <a:rPr lang="en-US" sz="1200" dirty="0">
                <a:solidFill>
                  <a:srgbClr val="FF0000"/>
                </a:solidFill>
              </a:rPr>
              <a:t> = crc16(frame,6);</a:t>
            </a:r>
          </a:p>
          <a:p>
            <a:pPr>
              <a:lnSpc>
                <a:spcPct val="150000"/>
              </a:lnSpc>
            </a:pPr>
            <a:endParaRPr lang="en-US" sz="1200" dirty="0">
              <a:solidFill>
                <a:srgbClr val="FF0000"/>
              </a:solidFill>
            </a:endParaRPr>
          </a:p>
          <a:p>
            <a:pPr>
              <a:lnSpc>
                <a:spcPct val="150000"/>
              </a:lnSpc>
            </a:pPr>
            <a:r>
              <a:rPr lang="en-US" sz="1200" dirty="0">
                <a:solidFill>
                  <a:srgbClr val="FF0000"/>
                </a:solidFill>
              </a:rPr>
              <a:t>  frame[6] = </a:t>
            </a:r>
            <a:r>
              <a:rPr lang="en-US" sz="1200" dirty="0" err="1">
                <a:solidFill>
                  <a:srgbClr val="FF0000"/>
                </a:solidFill>
              </a:rPr>
              <a:t>crc</a:t>
            </a:r>
            <a:r>
              <a:rPr lang="en-US" sz="1200" dirty="0">
                <a:solidFill>
                  <a:srgbClr val="FF0000"/>
                </a:solidFill>
              </a:rPr>
              <a:t> &amp; 0xFF;</a:t>
            </a:r>
          </a:p>
          <a:p>
            <a:pPr>
              <a:lnSpc>
                <a:spcPct val="150000"/>
              </a:lnSpc>
            </a:pPr>
            <a:r>
              <a:rPr lang="en-US" sz="1200" dirty="0">
                <a:solidFill>
                  <a:srgbClr val="FF0000"/>
                </a:solidFill>
              </a:rPr>
              <a:t>  frame[7] = </a:t>
            </a:r>
            <a:r>
              <a:rPr lang="en-US" sz="1200" dirty="0" err="1">
                <a:solidFill>
                  <a:srgbClr val="FF0000"/>
                </a:solidFill>
              </a:rPr>
              <a:t>crc</a:t>
            </a:r>
            <a:r>
              <a:rPr lang="en-US" sz="1200" dirty="0">
                <a:solidFill>
                  <a:srgbClr val="FF0000"/>
                </a:solidFill>
              </a:rPr>
              <a:t> &gt;&gt; 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("Query : ");</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a:t>
            </a:r>
            <a:r>
              <a:rPr lang="en-US" sz="1200" dirty="0" err="1">
                <a:solidFill>
                  <a:srgbClr val="FF0000"/>
                </a:solidFill>
              </a:rPr>
              <a:t>slaveID</a:t>
            </a: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printFrame</a:t>
            </a:r>
            <a:r>
              <a:rPr lang="en-US" sz="1200" dirty="0">
                <a:solidFill>
                  <a:srgbClr val="FF0000"/>
                </a:solidFill>
              </a:rPr>
              <a:t>(frame,8);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modbus.write</a:t>
            </a:r>
            <a:r>
              <a:rPr lang="en-US" sz="1200" dirty="0">
                <a:solidFill>
                  <a:srgbClr val="FF0000"/>
                </a:solidFill>
              </a:rPr>
              <a:t>(frame,8);</a:t>
            </a:r>
          </a:p>
          <a:p>
            <a:pPr>
              <a:lnSpc>
                <a:spcPct val="150000"/>
              </a:lnSpc>
            </a:pPr>
            <a:r>
              <a:rPr lang="en-US" sz="1200" dirty="0">
                <a:solidFill>
                  <a:srgbClr val="FF0000"/>
                </a:solidFill>
              </a:rPr>
              <a:t>}</a:t>
            </a:r>
          </a:p>
          <a:p>
            <a:pPr>
              <a:lnSpc>
                <a:spcPct val="150000"/>
              </a:lnSpc>
            </a:pPr>
            <a:r>
              <a:rPr lang="en-US" sz="1200" dirty="0">
                <a:solidFill>
                  <a:srgbClr val="FF0000"/>
                </a:solidFill>
              </a:rPr>
              <a:t>void </a:t>
            </a:r>
            <a:r>
              <a:rPr lang="en-US" sz="1200" dirty="0" err="1">
                <a:solidFill>
                  <a:srgbClr val="FF0000"/>
                </a:solidFill>
              </a:rPr>
              <a:t>writeCoil</a:t>
            </a:r>
            <a:r>
              <a:rPr lang="en-US" sz="1200" dirty="0">
                <a:solidFill>
                  <a:srgbClr val="FF0000"/>
                </a:solidFill>
              </a:rPr>
              <a:t>(uint8_t </a:t>
            </a:r>
            <a:r>
              <a:rPr lang="en-US" sz="1200" dirty="0" err="1">
                <a:solidFill>
                  <a:srgbClr val="FF0000"/>
                </a:solidFill>
              </a:rPr>
              <a:t>slaveID</a:t>
            </a:r>
            <a:r>
              <a:rPr lang="en-US" sz="1200" dirty="0">
                <a:solidFill>
                  <a:srgbClr val="FF0000"/>
                </a:solidFill>
              </a:rPr>
              <a:t>, uint16_t </a:t>
            </a:r>
            <a:r>
              <a:rPr lang="en-US" sz="1200" dirty="0" err="1">
                <a:solidFill>
                  <a:srgbClr val="FF0000"/>
                </a:solidFill>
              </a:rPr>
              <a:t>addr</a:t>
            </a:r>
            <a:r>
              <a:rPr lang="en-US" sz="1200" dirty="0">
                <a:solidFill>
                  <a:srgbClr val="FF0000"/>
                </a:solidFill>
              </a:rPr>
              <a:t>, bool state)</a:t>
            </a:r>
          </a:p>
          <a:p>
            <a:pPr>
              <a:lnSpc>
                <a:spcPct val="150000"/>
              </a:lnSpc>
            </a:pPr>
            <a:r>
              <a:rPr lang="en-US" sz="1200" dirty="0">
                <a:solidFill>
                  <a:srgbClr val="FF0000"/>
                </a:solidFill>
              </a:rPr>
              <a:t>{</a:t>
            </a:r>
          </a:p>
          <a:p>
            <a:pPr>
              <a:lnSpc>
                <a:spcPct val="150000"/>
              </a:lnSpc>
            </a:pPr>
            <a:r>
              <a:rPr lang="en-US" sz="1200" dirty="0">
                <a:solidFill>
                  <a:srgbClr val="FF0000"/>
                </a:solidFill>
              </a:rPr>
              <a:t>  uint8_t frame[8];</a:t>
            </a:r>
          </a:p>
          <a:p>
            <a:pPr>
              <a:lnSpc>
                <a:spcPct val="150000"/>
              </a:lnSpc>
            </a:pPr>
            <a:endParaRPr lang="en-US" sz="1200" dirty="0">
              <a:solidFill>
                <a:srgbClr val="FF0000"/>
              </a:solidFill>
            </a:endParaRPr>
          </a:p>
          <a:p>
            <a:pPr>
              <a:lnSpc>
                <a:spcPct val="150000"/>
              </a:lnSpc>
            </a:pPr>
            <a:r>
              <a:rPr lang="en-US" sz="1200" dirty="0">
                <a:solidFill>
                  <a:srgbClr val="FF0000"/>
                </a:solidFill>
              </a:rPr>
              <a:t>  frame[0] = </a:t>
            </a:r>
            <a:r>
              <a:rPr lang="en-US" sz="1200" dirty="0" err="1">
                <a:solidFill>
                  <a:srgbClr val="FF0000"/>
                </a:solidFill>
              </a:rPr>
              <a:t>slaveID</a:t>
            </a:r>
            <a:r>
              <a:rPr lang="en-US" sz="1200" dirty="0">
                <a:solidFill>
                  <a:srgbClr val="FF0000"/>
                </a:solidFill>
              </a:rPr>
              <a:t>;</a:t>
            </a:r>
          </a:p>
          <a:p>
            <a:pPr>
              <a:lnSpc>
                <a:spcPct val="150000"/>
              </a:lnSpc>
            </a:pPr>
            <a:r>
              <a:rPr lang="en-US" sz="1200" dirty="0">
                <a:solidFill>
                  <a:srgbClr val="FF0000"/>
                </a:solidFill>
              </a:rPr>
              <a:t>  frame[1] = 5;   // Function Write Coil</a:t>
            </a:r>
          </a:p>
          <a:p>
            <a:pPr>
              <a:lnSpc>
                <a:spcPct val="150000"/>
              </a:lnSpc>
            </a:pPr>
            <a:endParaRPr lang="en-US" sz="1200" dirty="0">
              <a:solidFill>
                <a:srgbClr val="FF0000"/>
              </a:solidFill>
            </a:endParaRPr>
          </a:p>
          <a:p>
            <a:pPr>
              <a:lnSpc>
                <a:spcPct val="150000"/>
              </a:lnSpc>
            </a:pPr>
            <a:r>
              <a:rPr lang="en-US" sz="1200" dirty="0">
                <a:solidFill>
                  <a:srgbClr val="FF0000"/>
                </a:solidFill>
              </a:rPr>
              <a:t>  frame[2] = </a:t>
            </a:r>
            <a:r>
              <a:rPr lang="en-US" sz="1200" dirty="0" err="1">
                <a:solidFill>
                  <a:srgbClr val="FF0000"/>
                </a:solidFill>
              </a:rPr>
              <a:t>addr</a:t>
            </a:r>
            <a:r>
              <a:rPr lang="en-US" sz="1200" dirty="0">
                <a:solidFill>
                  <a:srgbClr val="FF0000"/>
                </a:solidFill>
              </a:rPr>
              <a:t> &gt;&gt; 8;</a:t>
            </a:r>
          </a:p>
          <a:p>
            <a:pPr>
              <a:lnSpc>
                <a:spcPct val="150000"/>
              </a:lnSpc>
            </a:pPr>
            <a:r>
              <a:rPr lang="en-US" sz="1200" dirty="0">
                <a:solidFill>
                  <a:srgbClr val="FF0000"/>
                </a:solidFill>
              </a:rPr>
              <a:t>  frame[3] = </a:t>
            </a:r>
            <a:r>
              <a:rPr lang="en-US" sz="1200" dirty="0" err="1">
                <a:solidFill>
                  <a:srgbClr val="FF0000"/>
                </a:solidFill>
              </a:rPr>
              <a:t>addr</a:t>
            </a:r>
            <a:r>
              <a:rPr lang="en-US" sz="1200" dirty="0">
                <a:solidFill>
                  <a:srgbClr val="FF0000"/>
                </a:solidFill>
              </a:rPr>
              <a:t> &amp; 0xFF;</a:t>
            </a:r>
          </a:p>
          <a:p>
            <a:pPr>
              <a:lnSpc>
                <a:spcPct val="150000"/>
              </a:lnSpc>
            </a:pPr>
            <a:endParaRPr lang="en-US" sz="1200" dirty="0">
              <a:solidFill>
                <a:srgbClr val="FF0000"/>
              </a:solidFill>
            </a:endParaRPr>
          </a:p>
          <a:p>
            <a:pPr>
              <a:lnSpc>
                <a:spcPct val="150000"/>
              </a:lnSpc>
            </a:pPr>
            <a:r>
              <a:rPr lang="en-US" sz="1200" dirty="0">
                <a:solidFill>
                  <a:srgbClr val="FF0000"/>
                </a:solidFill>
              </a:rPr>
              <a:t>  if(state)</a:t>
            </a:r>
          </a:p>
          <a:p>
            <a:pPr>
              <a:lnSpc>
                <a:spcPct val="150000"/>
              </a:lnSpc>
            </a:pPr>
            <a:r>
              <a:rPr lang="en-US" sz="1200" dirty="0">
                <a:solidFill>
                  <a:srgbClr val="FF0000"/>
                </a:solidFill>
              </a:rPr>
              <a:t>  {</a:t>
            </a:r>
          </a:p>
          <a:p>
            <a:pPr>
              <a:lnSpc>
                <a:spcPct val="150000"/>
              </a:lnSpc>
            </a:pPr>
            <a:r>
              <a:rPr lang="en-US" sz="1200" dirty="0">
                <a:solidFill>
                  <a:srgbClr val="FF0000"/>
                </a:solidFill>
              </a:rPr>
              <a:t>    frame[4] = 0xFF;</a:t>
            </a:r>
          </a:p>
          <a:p>
            <a:pPr>
              <a:lnSpc>
                <a:spcPct val="150000"/>
              </a:lnSpc>
            </a:pPr>
            <a:r>
              <a:rPr lang="en-US" sz="1200" dirty="0">
                <a:solidFill>
                  <a:srgbClr val="FF0000"/>
                </a:solidFill>
              </a:rPr>
              <a:t>    frame[5] = 0x00;</a:t>
            </a:r>
          </a:p>
          <a:p>
            <a:pPr>
              <a:lnSpc>
                <a:spcPct val="150000"/>
              </a:lnSpc>
            </a:pPr>
            <a:r>
              <a:rPr lang="en-US" sz="1200" dirty="0">
                <a:solidFill>
                  <a:srgbClr val="FF0000"/>
                </a:solidFill>
              </a:rPr>
              <a:t>  }</a:t>
            </a:r>
          </a:p>
          <a:p>
            <a:pPr>
              <a:lnSpc>
                <a:spcPct val="150000"/>
              </a:lnSpc>
            </a:pPr>
            <a:r>
              <a:rPr lang="en-US" sz="1200" dirty="0">
                <a:solidFill>
                  <a:srgbClr val="FF0000"/>
                </a:solidFill>
              </a:rPr>
              <a:t>  else</a:t>
            </a:r>
          </a:p>
          <a:p>
            <a:pPr>
              <a:lnSpc>
                <a:spcPct val="150000"/>
              </a:lnSpc>
            </a:pPr>
            <a:r>
              <a:rPr lang="en-US" sz="1200" dirty="0">
                <a:solidFill>
                  <a:srgbClr val="FF0000"/>
                </a:solidFill>
              </a:rPr>
              <a:t>  {</a:t>
            </a:r>
          </a:p>
          <a:p>
            <a:pPr>
              <a:lnSpc>
                <a:spcPct val="150000"/>
              </a:lnSpc>
            </a:pPr>
            <a:r>
              <a:rPr lang="en-US" sz="1200" dirty="0">
                <a:solidFill>
                  <a:srgbClr val="FF0000"/>
                </a:solidFill>
              </a:rPr>
              <a:t>    frame[4] = 0x00;</a:t>
            </a:r>
          </a:p>
          <a:p>
            <a:pPr>
              <a:lnSpc>
                <a:spcPct val="150000"/>
              </a:lnSpc>
            </a:pPr>
            <a:r>
              <a:rPr lang="en-US" sz="1200" dirty="0">
                <a:solidFill>
                  <a:srgbClr val="FF0000"/>
                </a:solidFill>
              </a:rPr>
              <a:t>    frame[5] = 0x00;</a:t>
            </a:r>
          </a:p>
          <a:p>
            <a:pPr>
              <a:lnSpc>
                <a:spcPct val="150000"/>
              </a:lnSpc>
            </a:pPr>
            <a:r>
              <a:rPr lang="en-US" sz="1200" dirty="0">
                <a:solidFill>
                  <a:srgbClr val="FF0000"/>
                </a:solidFill>
              </a:rPr>
              <a:t>  }</a:t>
            </a:r>
          </a:p>
          <a:p>
            <a:pPr>
              <a:lnSpc>
                <a:spcPct val="150000"/>
              </a:lnSpc>
            </a:pPr>
            <a:endParaRPr lang="en-US" sz="1200" dirty="0">
              <a:solidFill>
                <a:srgbClr val="FF0000"/>
              </a:solidFill>
            </a:endParaRPr>
          </a:p>
          <a:p>
            <a:pPr>
              <a:lnSpc>
                <a:spcPct val="150000"/>
              </a:lnSpc>
            </a:pPr>
            <a:r>
              <a:rPr lang="en-US" sz="1200" dirty="0">
                <a:solidFill>
                  <a:srgbClr val="FF0000"/>
                </a:solidFill>
              </a:rPr>
              <a:t>  uint16_t </a:t>
            </a:r>
            <a:r>
              <a:rPr lang="en-US" sz="1200" dirty="0" err="1">
                <a:solidFill>
                  <a:srgbClr val="FF0000"/>
                </a:solidFill>
              </a:rPr>
              <a:t>crc</a:t>
            </a:r>
            <a:r>
              <a:rPr lang="en-US" sz="1200" dirty="0">
                <a:solidFill>
                  <a:srgbClr val="FF0000"/>
                </a:solidFill>
              </a:rPr>
              <a:t> = crc16(frame,6);</a:t>
            </a:r>
          </a:p>
          <a:p>
            <a:pPr>
              <a:lnSpc>
                <a:spcPct val="150000"/>
              </a:lnSpc>
            </a:pPr>
            <a:endParaRPr lang="en-US" sz="1200" dirty="0">
              <a:solidFill>
                <a:srgbClr val="FF0000"/>
              </a:solidFill>
            </a:endParaRPr>
          </a:p>
          <a:p>
            <a:pPr>
              <a:lnSpc>
                <a:spcPct val="150000"/>
              </a:lnSpc>
            </a:pPr>
            <a:r>
              <a:rPr lang="en-US" sz="1200" dirty="0">
                <a:solidFill>
                  <a:srgbClr val="FF0000"/>
                </a:solidFill>
              </a:rPr>
              <a:t>  frame[6] = </a:t>
            </a:r>
            <a:r>
              <a:rPr lang="en-US" sz="1200" dirty="0" err="1">
                <a:solidFill>
                  <a:srgbClr val="FF0000"/>
                </a:solidFill>
              </a:rPr>
              <a:t>crc</a:t>
            </a:r>
            <a:r>
              <a:rPr lang="en-US" sz="1200" dirty="0">
                <a:solidFill>
                  <a:srgbClr val="FF0000"/>
                </a:solidFill>
              </a:rPr>
              <a:t> &amp; 0xFF;</a:t>
            </a:r>
          </a:p>
          <a:p>
            <a:pPr>
              <a:lnSpc>
                <a:spcPct val="150000"/>
              </a:lnSpc>
            </a:pPr>
            <a:r>
              <a:rPr lang="en-US" sz="1200" dirty="0">
                <a:solidFill>
                  <a:srgbClr val="FF0000"/>
                </a:solidFill>
              </a:rPr>
              <a:t>  frame[7] = </a:t>
            </a:r>
            <a:r>
              <a:rPr lang="en-US" sz="1200" dirty="0" err="1">
                <a:solidFill>
                  <a:srgbClr val="FF0000"/>
                </a:solidFill>
              </a:rPr>
              <a:t>crc</a:t>
            </a:r>
            <a:r>
              <a:rPr lang="en-US" sz="1200" dirty="0">
                <a:solidFill>
                  <a:srgbClr val="FF0000"/>
                </a:solidFill>
              </a:rPr>
              <a:t> &gt;&gt; 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("Write Coil Slave ");</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a:t>
            </a:r>
            <a:r>
              <a:rPr lang="en-US" sz="1200" dirty="0" err="1">
                <a:solidFill>
                  <a:srgbClr val="FF0000"/>
                </a:solidFill>
              </a:rPr>
              <a:t>slaveID</a:t>
            </a: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printFrame</a:t>
            </a:r>
            <a:r>
              <a:rPr lang="en-US" sz="1200" dirty="0">
                <a:solidFill>
                  <a:srgbClr val="FF0000"/>
                </a:solidFill>
              </a:rPr>
              <a:t>(frame,8);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modbus.write</a:t>
            </a:r>
            <a:r>
              <a:rPr lang="en-US" sz="1200" dirty="0">
                <a:solidFill>
                  <a:srgbClr val="FF0000"/>
                </a:solidFill>
              </a:rPr>
              <a:t>(frame,8);</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a:t>
            </a:r>
            <a:r>
              <a:rPr lang="en-US" sz="1200" dirty="0" err="1">
                <a:solidFill>
                  <a:srgbClr val="FF0000"/>
                </a:solidFill>
              </a:rPr>
              <a:t>readResponse</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  if(</a:t>
            </a:r>
            <a:r>
              <a:rPr lang="en-US" sz="1200" dirty="0" err="1">
                <a:solidFill>
                  <a:srgbClr val="FF0000"/>
                </a:solidFill>
              </a:rPr>
              <a:t>modbus.available</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uint8_t resp[32];</a:t>
            </a:r>
          </a:p>
          <a:p>
            <a:pPr>
              <a:lnSpc>
                <a:spcPct val="150000"/>
              </a:lnSpc>
            </a:pPr>
            <a:r>
              <a:rPr lang="en-US" sz="1200" dirty="0">
                <a:solidFill>
                  <a:srgbClr val="FF0000"/>
                </a:solidFill>
              </a:rPr>
              <a:t>    int </a:t>
            </a:r>
            <a:r>
              <a:rPr lang="en-US" sz="1200" dirty="0" err="1">
                <a:solidFill>
                  <a:srgbClr val="FF0000"/>
                </a:solidFill>
              </a:rPr>
              <a:t>i</a:t>
            </a:r>
            <a:r>
              <a:rPr lang="en-US" sz="1200" dirty="0">
                <a:solidFill>
                  <a:srgbClr val="FF0000"/>
                </a:solidFill>
              </a:rPr>
              <a:t> = 0;</a:t>
            </a:r>
          </a:p>
          <a:p>
            <a:pPr>
              <a:lnSpc>
                <a:spcPct val="150000"/>
              </a:lnSpc>
            </a:pPr>
            <a:endParaRPr lang="en-US" sz="1200" dirty="0">
              <a:solidFill>
                <a:srgbClr val="FF0000"/>
              </a:solidFill>
            </a:endParaRPr>
          </a:p>
          <a:p>
            <a:pPr>
              <a:lnSpc>
                <a:spcPct val="150000"/>
              </a:lnSpc>
            </a:pPr>
            <a:r>
              <a:rPr lang="en-US" sz="1200" dirty="0">
                <a:solidFill>
                  <a:srgbClr val="FF0000"/>
                </a:solidFill>
              </a:rPr>
              <a:t>    while(</a:t>
            </a:r>
            <a:r>
              <a:rPr lang="en-US" sz="1200" dirty="0" err="1">
                <a:solidFill>
                  <a:srgbClr val="FF0000"/>
                </a:solidFill>
              </a:rPr>
              <a:t>modbus.available</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resp[</a:t>
            </a:r>
            <a:r>
              <a:rPr lang="en-US" sz="1200" dirty="0" err="1">
                <a:solidFill>
                  <a:srgbClr val="FF0000"/>
                </a:solidFill>
              </a:rPr>
              <a:t>i</a:t>
            </a:r>
            <a:r>
              <a:rPr lang="en-US" sz="1200" dirty="0">
                <a:solidFill>
                  <a:srgbClr val="FF0000"/>
                </a:solidFill>
              </a:rPr>
              <a:t>++] = </a:t>
            </a:r>
            <a:r>
              <a:rPr lang="en-US" sz="1200" dirty="0" err="1">
                <a:solidFill>
                  <a:srgbClr val="FF0000"/>
                </a:solidFill>
              </a:rPr>
              <a:t>modbus.read</a:t>
            </a:r>
            <a:r>
              <a:rPr lang="en-US" sz="1200" dirty="0">
                <a:solidFill>
                  <a:srgbClr val="FF0000"/>
                </a:solidFill>
              </a:rPr>
              <a:t>();</a:t>
            </a:r>
          </a:p>
          <a:p>
            <a:pPr>
              <a:lnSpc>
                <a:spcPct val="150000"/>
              </a:lnSpc>
            </a:pPr>
            <a:r>
              <a:rPr lang="en-US" sz="1200" dirty="0">
                <a:solidFill>
                  <a:srgbClr val="FF0000"/>
                </a:solidFill>
              </a:rPr>
              <a:t>    }</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("Response: ");</a:t>
            </a:r>
          </a:p>
          <a:p>
            <a:pPr>
              <a:lnSpc>
                <a:spcPct val="150000"/>
              </a:lnSpc>
            </a:pPr>
            <a:r>
              <a:rPr lang="en-US" sz="1200" dirty="0">
                <a:solidFill>
                  <a:srgbClr val="FF0000"/>
                </a:solidFill>
              </a:rPr>
              <a:t>    </a:t>
            </a:r>
            <a:r>
              <a:rPr lang="en-US" sz="1200" dirty="0" err="1">
                <a:solidFill>
                  <a:srgbClr val="FF0000"/>
                </a:solidFill>
              </a:rPr>
              <a:t>printFrame</a:t>
            </a:r>
            <a:r>
              <a:rPr lang="en-US" sz="1200" dirty="0">
                <a:solidFill>
                  <a:srgbClr val="FF0000"/>
                </a:solidFill>
              </a:rPr>
              <a:t>(resp, </a:t>
            </a:r>
            <a:r>
              <a:rPr lang="en-US" sz="1200" dirty="0" err="1">
                <a:solidFill>
                  <a:srgbClr val="FF0000"/>
                </a:solidFill>
              </a:rPr>
              <a:t>i</a:t>
            </a: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    if(</a:t>
            </a:r>
            <a:r>
              <a:rPr lang="en-US" sz="1200" dirty="0" err="1">
                <a:solidFill>
                  <a:srgbClr val="FF0000"/>
                </a:solidFill>
              </a:rPr>
              <a:t>i</a:t>
            </a:r>
            <a:r>
              <a:rPr lang="en-US" sz="1200" dirty="0">
                <a:solidFill>
                  <a:srgbClr val="FF0000"/>
                </a:solidFill>
              </a:rPr>
              <a:t> &gt;= 5)</a:t>
            </a:r>
          </a:p>
          <a:p>
            <a:pPr>
              <a:lnSpc>
                <a:spcPct val="150000"/>
              </a:lnSpc>
            </a:pPr>
            <a:r>
              <a:rPr lang="en-US" sz="1200" dirty="0">
                <a:solidFill>
                  <a:srgbClr val="FF0000"/>
                </a:solidFill>
              </a:rPr>
              <a:t>    {</a:t>
            </a:r>
          </a:p>
          <a:p>
            <a:pPr>
              <a:lnSpc>
                <a:spcPct val="150000"/>
              </a:lnSpc>
            </a:pPr>
            <a:r>
              <a:rPr lang="en-US" sz="1200" dirty="0">
                <a:solidFill>
                  <a:srgbClr val="FF0000"/>
                </a:solidFill>
              </a:rPr>
              <a:t>      int bytes = resp[2];</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("Registers:");</a:t>
            </a:r>
          </a:p>
          <a:p>
            <a:pPr>
              <a:lnSpc>
                <a:spcPct val="150000"/>
              </a:lnSpc>
            </a:pPr>
            <a:endParaRPr lang="en-US" sz="1200" dirty="0">
              <a:solidFill>
                <a:srgbClr val="FF0000"/>
              </a:solidFill>
            </a:endParaRPr>
          </a:p>
          <a:p>
            <a:pPr>
              <a:lnSpc>
                <a:spcPct val="150000"/>
              </a:lnSpc>
            </a:pPr>
            <a:r>
              <a:rPr lang="en-US" sz="1200" dirty="0">
                <a:solidFill>
                  <a:srgbClr val="FF0000"/>
                </a:solidFill>
              </a:rPr>
              <a:t>      for(int r = 0; r &lt; bytes/2; r++)</a:t>
            </a:r>
          </a:p>
          <a:p>
            <a:pPr>
              <a:lnSpc>
                <a:spcPct val="150000"/>
              </a:lnSpc>
            </a:pPr>
            <a:r>
              <a:rPr lang="en-US" sz="1200" dirty="0">
                <a:solidFill>
                  <a:srgbClr val="FF0000"/>
                </a:solidFill>
              </a:rPr>
              <a:t>      {</a:t>
            </a:r>
          </a:p>
          <a:p>
            <a:pPr>
              <a:lnSpc>
                <a:spcPct val="150000"/>
              </a:lnSpc>
            </a:pPr>
            <a:r>
              <a:rPr lang="en-US" sz="1200" dirty="0">
                <a:solidFill>
                  <a:srgbClr val="FF0000"/>
                </a:solidFill>
              </a:rPr>
              <a:t>        uint16_t </a:t>
            </a:r>
            <a:r>
              <a:rPr lang="en-US" sz="1200" dirty="0" err="1">
                <a:solidFill>
                  <a:srgbClr val="FF0000"/>
                </a:solidFill>
              </a:rPr>
              <a:t>val</a:t>
            </a:r>
            <a:r>
              <a:rPr lang="en-US" sz="1200" dirty="0">
                <a:solidFill>
                  <a:srgbClr val="FF0000"/>
                </a:solidFill>
              </a:rPr>
              <a:t> = (resp[3 + r*2] &lt;&lt; 8) | resp[4 + r*2];</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("Reg");</a:t>
            </a: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(r);</a:t>
            </a: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 = ");</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a:t>
            </a:r>
            <a:r>
              <a:rPr lang="en-US" sz="1200" dirty="0" err="1">
                <a:solidFill>
                  <a:srgbClr val="FF0000"/>
                </a:solidFill>
              </a:rPr>
              <a:t>val</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a:t>
            </a:r>
          </a:p>
          <a:p>
            <a:pPr>
              <a:lnSpc>
                <a:spcPct val="150000"/>
              </a:lnSpc>
            </a:pPr>
            <a:r>
              <a:rPr lang="en-US" sz="1200" dirty="0">
                <a:solidFill>
                  <a:srgbClr val="FF0000"/>
                </a:solidFill>
              </a:rPr>
              <a:t>  }</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void setup()</a:t>
            </a:r>
          </a:p>
          <a:p>
            <a:pPr>
              <a:lnSpc>
                <a:spcPct val="150000"/>
              </a:lnSpc>
            </a:pPr>
            <a:r>
              <a:rPr lang="en-US" sz="1200" dirty="0">
                <a:solidFill>
                  <a:srgbClr val="FF0000"/>
                </a:solidFill>
              </a:rPr>
              <a:t>{</a:t>
            </a:r>
          </a:p>
          <a:p>
            <a:pPr>
              <a:lnSpc>
                <a:spcPct val="150000"/>
              </a:lnSpc>
            </a:pPr>
            <a:r>
              <a:rPr lang="en-US" sz="1200" dirty="0">
                <a:solidFill>
                  <a:srgbClr val="FF0000"/>
                </a:solidFill>
              </a:rPr>
              <a:t>  </a:t>
            </a:r>
            <a:r>
              <a:rPr lang="en-US" sz="1200" dirty="0" err="1">
                <a:solidFill>
                  <a:srgbClr val="FF0000"/>
                </a:solidFill>
              </a:rPr>
              <a:t>Serial.begin</a:t>
            </a:r>
            <a:r>
              <a:rPr lang="en-US" sz="1200" dirty="0">
                <a:solidFill>
                  <a:srgbClr val="FF0000"/>
                </a:solidFill>
              </a:rPr>
              <a:t>(115200);</a:t>
            </a:r>
          </a:p>
          <a:p>
            <a:pPr>
              <a:lnSpc>
                <a:spcPct val="150000"/>
              </a:lnSpc>
            </a:pPr>
            <a:r>
              <a:rPr lang="en-US" sz="1200" dirty="0">
                <a:solidFill>
                  <a:srgbClr val="FF0000"/>
                </a:solidFill>
              </a:rPr>
              <a:t>  </a:t>
            </a:r>
            <a:r>
              <a:rPr lang="en-US" sz="1200" dirty="0" err="1">
                <a:solidFill>
                  <a:srgbClr val="FF0000"/>
                </a:solidFill>
              </a:rPr>
              <a:t>modbus.begin</a:t>
            </a:r>
            <a:r>
              <a:rPr lang="en-US" sz="1200" dirty="0">
                <a:solidFill>
                  <a:srgbClr val="FF0000"/>
                </a:solidFill>
              </a:rPr>
              <a:t>(4800);</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loop()</a:t>
            </a:r>
          </a:p>
          <a:p>
            <a:pPr>
              <a:lnSpc>
                <a:spcPct val="150000"/>
              </a:lnSpc>
            </a:pPr>
            <a:r>
              <a:rPr lang="en-US" sz="1200" dirty="0">
                <a:solidFill>
                  <a:srgbClr val="FF0000"/>
                </a:solidFill>
              </a:rPr>
              <a:t>{</a:t>
            </a:r>
          </a:p>
          <a:p>
            <a:pPr>
              <a:lnSpc>
                <a:spcPct val="150000"/>
              </a:lnSpc>
            </a:pPr>
            <a:r>
              <a:rPr lang="en-US" sz="1200" dirty="0">
                <a:solidFill>
                  <a:srgbClr val="FF0000"/>
                </a:solidFill>
              </a:rPr>
              <a:t>  </a:t>
            </a:r>
            <a:r>
              <a:rPr lang="en-US" sz="1200" dirty="0" err="1">
                <a:solidFill>
                  <a:srgbClr val="FF0000"/>
                </a:solidFill>
              </a:rPr>
              <a:t>writeCoil</a:t>
            </a:r>
            <a:r>
              <a:rPr lang="en-US" sz="1200" dirty="0">
                <a:solidFill>
                  <a:srgbClr val="FF0000"/>
                </a:solidFill>
              </a:rPr>
              <a:t>(SLAVE_ID1,0,true);</a:t>
            </a:r>
          </a:p>
          <a:p>
            <a:pPr>
              <a:lnSpc>
                <a:spcPct val="150000"/>
              </a:lnSpc>
            </a:pPr>
            <a:r>
              <a:rPr lang="en-US" sz="1200" dirty="0">
                <a:solidFill>
                  <a:srgbClr val="FF0000"/>
                </a:solidFill>
              </a:rPr>
              <a:t>  delay(200);</a:t>
            </a:r>
          </a:p>
          <a:p>
            <a:pPr>
              <a:lnSpc>
                <a:spcPct val="150000"/>
              </a:lnSpc>
            </a:pPr>
            <a:r>
              <a:rPr lang="en-US" sz="1200" dirty="0">
                <a:solidFill>
                  <a:srgbClr val="FF0000"/>
                </a:solidFill>
              </a:rPr>
              <a:t>  </a:t>
            </a:r>
            <a:r>
              <a:rPr lang="en-US" sz="1200" dirty="0" err="1">
                <a:solidFill>
                  <a:srgbClr val="FF0000"/>
                </a:solidFill>
              </a:rPr>
              <a:t>readResponse</a:t>
            </a:r>
            <a:r>
              <a:rPr lang="en-US" sz="1200" dirty="0">
                <a:solidFill>
                  <a:srgbClr val="FF0000"/>
                </a:solidFill>
              </a:rPr>
              <a:t>();</a:t>
            </a:r>
          </a:p>
          <a:p>
            <a:pPr>
              <a:lnSpc>
                <a:spcPct val="150000"/>
              </a:lnSpc>
            </a:pPr>
            <a:r>
              <a:rPr lang="en-US" sz="1200" dirty="0">
                <a:solidFill>
                  <a:srgbClr val="FF0000"/>
                </a:solidFill>
              </a:rPr>
              <a:t>  delay(2000);</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writeCoil</a:t>
            </a:r>
            <a:r>
              <a:rPr lang="en-US" sz="1200" dirty="0">
                <a:solidFill>
                  <a:srgbClr val="FF0000"/>
                </a:solidFill>
              </a:rPr>
              <a:t>(SLAVE_ID1,0,false);</a:t>
            </a:r>
          </a:p>
          <a:p>
            <a:pPr>
              <a:lnSpc>
                <a:spcPct val="150000"/>
              </a:lnSpc>
            </a:pPr>
            <a:r>
              <a:rPr lang="en-US" sz="1200" dirty="0">
                <a:solidFill>
                  <a:srgbClr val="FF0000"/>
                </a:solidFill>
              </a:rPr>
              <a:t>  delay(200);</a:t>
            </a:r>
          </a:p>
          <a:p>
            <a:pPr>
              <a:lnSpc>
                <a:spcPct val="150000"/>
              </a:lnSpc>
            </a:pPr>
            <a:r>
              <a:rPr lang="en-US" sz="1200" dirty="0">
                <a:solidFill>
                  <a:srgbClr val="FF0000"/>
                </a:solidFill>
              </a:rPr>
              <a:t>  </a:t>
            </a:r>
            <a:r>
              <a:rPr lang="en-US" sz="1200" dirty="0" err="1">
                <a:solidFill>
                  <a:srgbClr val="FF0000"/>
                </a:solidFill>
              </a:rPr>
              <a:t>readResponse</a:t>
            </a:r>
            <a:r>
              <a:rPr lang="en-US" sz="1200" dirty="0">
                <a:solidFill>
                  <a:srgbClr val="FF0000"/>
                </a:solidFill>
              </a:rPr>
              <a:t>();</a:t>
            </a:r>
          </a:p>
          <a:p>
            <a:pPr>
              <a:lnSpc>
                <a:spcPct val="150000"/>
              </a:lnSpc>
            </a:pPr>
            <a:r>
              <a:rPr lang="en-US" sz="1200" dirty="0">
                <a:solidFill>
                  <a:srgbClr val="FF0000"/>
                </a:solidFill>
              </a:rPr>
              <a:t>  delay(2000);</a:t>
            </a:r>
          </a:p>
          <a:p>
            <a:pPr>
              <a:lnSpc>
                <a:spcPct val="150000"/>
              </a:lnSpc>
            </a:pPr>
            <a:r>
              <a:rPr lang="en-US" sz="1200" dirty="0">
                <a:solidFill>
                  <a:srgbClr val="FF0000"/>
                </a:solidFill>
              </a:rPr>
              <a:t>  </a:t>
            </a:r>
          </a:p>
          <a:p>
            <a:pPr>
              <a:lnSpc>
                <a:spcPct val="150000"/>
              </a:lnSpc>
            </a:pPr>
            <a:r>
              <a:rPr lang="en-US" sz="1200" dirty="0">
                <a:solidFill>
                  <a:srgbClr val="FF0000"/>
                </a:solidFill>
              </a:rPr>
              <a:t>/*</a:t>
            </a:r>
            <a:r>
              <a:rPr lang="en-US" sz="1200" dirty="0" err="1">
                <a:solidFill>
                  <a:srgbClr val="FF0000"/>
                </a:solidFill>
              </a:rPr>
              <a:t>sendQuery</a:t>
            </a:r>
            <a:r>
              <a:rPr lang="en-US" sz="1200" dirty="0">
                <a:solidFill>
                  <a:srgbClr val="FF0000"/>
                </a:solidFill>
              </a:rPr>
              <a:t>(SLAVE_ID1,0,3);</a:t>
            </a:r>
          </a:p>
          <a:p>
            <a:pPr>
              <a:lnSpc>
                <a:spcPct val="150000"/>
              </a:lnSpc>
            </a:pPr>
            <a:r>
              <a:rPr lang="en-US" sz="1200" dirty="0">
                <a:solidFill>
                  <a:srgbClr val="FF0000"/>
                </a:solidFill>
              </a:rPr>
              <a:t>  delay(200);</a:t>
            </a:r>
          </a:p>
          <a:p>
            <a:pPr>
              <a:lnSpc>
                <a:spcPct val="150000"/>
              </a:lnSpc>
            </a:pPr>
            <a:r>
              <a:rPr lang="en-US" sz="1200" dirty="0">
                <a:solidFill>
                  <a:srgbClr val="FF0000"/>
                </a:solidFill>
              </a:rPr>
              <a:t>  void </a:t>
            </a:r>
            <a:r>
              <a:rPr lang="en-US" sz="1200" dirty="0" err="1">
                <a:solidFill>
                  <a:srgbClr val="FF0000"/>
                </a:solidFill>
              </a:rPr>
              <a:t>readResponse</a:t>
            </a:r>
            <a:r>
              <a:rPr lang="en-US" sz="1200" dirty="0">
                <a:solidFill>
                  <a:srgbClr val="FF0000"/>
                </a:solidFill>
              </a:rPr>
              <a:t>();</a:t>
            </a:r>
          </a:p>
          <a:p>
            <a:pPr>
              <a:lnSpc>
                <a:spcPct val="150000"/>
              </a:lnSpc>
            </a:pPr>
            <a:r>
              <a:rPr lang="en-US" sz="1200" dirty="0">
                <a:solidFill>
                  <a:srgbClr val="FF0000"/>
                </a:solidFill>
              </a:rPr>
              <a:t>  delay(2000);</a:t>
            </a:r>
          </a:p>
          <a:p>
            <a:pPr>
              <a:lnSpc>
                <a:spcPct val="150000"/>
              </a:lnSpc>
            </a:pPr>
            <a:r>
              <a:rPr lang="en-US" sz="1200" dirty="0">
                <a:solidFill>
                  <a:srgbClr val="FF0000"/>
                </a:solidFill>
              </a:rPr>
              <a:t>  </a:t>
            </a:r>
            <a:r>
              <a:rPr lang="en-US" sz="1200" dirty="0" err="1">
                <a:solidFill>
                  <a:srgbClr val="FF0000"/>
                </a:solidFill>
              </a:rPr>
              <a:t>sendQuery</a:t>
            </a:r>
            <a:r>
              <a:rPr lang="en-US" sz="1200" dirty="0">
                <a:solidFill>
                  <a:srgbClr val="FF0000"/>
                </a:solidFill>
              </a:rPr>
              <a:t>(SLAVE_ID2,2,3);</a:t>
            </a:r>
          </a:p>
          <a:p>
            <a:pPr>
              <a:lnSpc>
                <a:spcPct val="150000"/>
              </a:lnSpc>
            </a:pPr>
            <a:r>
              <a:rPr lang="en-US" sz="1200" dirty="0">
                <a:solidFill>
                  <a:srgbClr val="FF0000"/>
                </a:solidFill>
              </a:rPr>
              <a:t>  delay(200);</a:t>
            </a:r>
          </a:p>
          <a:p>
            <a:pPr>
              <a:lnSpc>
                <a:spcPct val="150000"/>
              </a:lnSpc>
            </a:pPr>
            <a:r>
              <a:rPr lang="en-US" sz="1200" dirty="0">
                <a:solidFill>
                  <a:srgbClr val="FF0000"/>
                </a:solidFill>
              </a:rPr>
              <a:t>  void </a:t>
            </a:r>
            <a:r>
              <a:rPr lang="en-US" sz="1200" dirty="0" err="1">
                <a:solidFill>
                  <a:srgbClr val="FF0000"/>
                </a:solidFill>
              </a:rPr>
              <a:t>readResponse</a:t>
            </a:r>
            <a:r>
              <a:rPr lang="en-US" sz="1200" dirty="0">
                <a:solidFill>
                  <a:srgbClr val="FF0000"/>
                </a:solidFill>
              </a:rPr>
              <a:t>();</a:t>
            </a:r>
          </a:p>
          <a:p>
            <a:pPr>
              <a:lnSpc>
                <a:spcPct val="150000"/>
              </a:lnSpc>
            </a:pPr>
            <a:r>
              <a:rPr lang="en-US" sz="1200" dirty="0">
                <a:solidFill>
                  <a:srgbClr val="FF0000"/>
                </a:solidFill>
              </a:rPr>
              <a:t>  delay(2000);*/</a:t>
            </a:r>
          </a:p>
          <a:p>
            <a:pPr>
              <a:lnSpc>
                <a:spcPct val="150000"/>
              </a:lnSpc>
            </a:pPr>
            <a:r>
              <a:rPr lang="en-US" sz="1200" dirty="0">
                <a:solidFill>
                  <a:srgbClr val="FF0000"/>
                </a:solidFill>
              </a:rPr>
              <a:t>}</a:t>
            </a:r>
          </a:p>
          <a:p>
            <a:pPr marL="0" lvl="0" indent="0" algn="l" rtl="0">
              <a:spcBef>
                <a:spcPts val="0"/>
              </a:spcBef>
              <a:spcAft>
                <a:spcPts val="0"/>
              </a:spcAft>
              <a:buNone/>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F659E28-D067-396C-9067-CC750ED5C93B}"/>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82</a:t>
            </a:fld>
            <a:endParaRPr/>
          </a:p>
        </p:txBody>
      </p:sp>
    </p:spTree>
    <p:extLst>
      <p:ext uri="{BB962C8B-B14F-4D97-AF65-F5344CB8AC3E}">
        <p14:creationId xmlns:p14="http://schemas.microsoft.com/office/powerpoint/2010/main" val="359494942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8B8AACDB-894B-1D13-9F89-B4FF2F55B3D0}"/>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8A6A050F-ED38-AA48-4A34-3E763025A7C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ED2AC65E-891A-08CA-57B4-2A47FE3DDC22}"/>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a:lnSpc>
                <a:spcPct val="150000"/>
              </a:lnSpc>
            </a:pPr>
            <a:r>
              <a:rPr lang="en-US" b="1" dirty="0"/>
              <a:t>Code slave</a:t>
            </a:r>
          </a:p>
          <a:p>
            <a:pPr>
              <a:lnSpc>
                <a:spcPct val="150000"/>
              </a:lnSpc>
            </a:pPr>
            <a:r>
              <a:rPr lang="en-US" sz="1200" dirty="0">
                <a:solidFill>
                  <a:srgbClr val="FF0000"/>
                </a:solidFill>
              </a:rPr>
              <a:t>#include &lt;</a:t>
            </a:r>
            <a:r>
              <a:rPr lang="en-US" sz="1200" dirty="0" err="1">
                <a:solidFill>
                  <a:srgbClr val="FF0000"/>
                </a:solidFill>
              </a:rPr>
              <a:t>SoftwareSerial.h</a:t>
            </a:r>
            <a:r>
              <a:rPr lang="en-US" sz="1200" dirty="0">
                <a:solidFill>
                  <a:srgbClr val="FF0000"/>
                </a:solidFill>
              </a:rPr>
              <a:t>&gt;</a:t>
            </a:r>
          </a:p>
          <a:p>
            <a:pPr>
              <a:lnSpc>
                <a:spcPct val="150000"/>
              </a:lnSpc>
            </a:pPr>
            <a:endParaRPr lang="en-US" sz="1200" dirty="0">
              <a:solidFill>
                <a:srgbClr val="FF0000"/>
              </a:solidFill>
            </a:endParaRPr>
          </a:p>
          <a:p>
            <a:pPr>
              <a:lnSpc>
                <a:spcPct val="150000"/>
              </a:lnSpc>
            </a:pPr>
            <a:r>
              <a:rPr lang="en-US" sz="1200" dirty="0" err="1">
                <a:solidFill>
                  <a:srgbClr val="FF0000"/>
                </a:solidFill>
              </a:rPr>
              <a:t>SoftwareSerial</a:t>
            </a:r>
            <a:r>
              <a:rPr lang="en-US" sz="1200" dirty="0">
                <a:solidFill>
                  <a:srgbClr val="FF0000"/>
                </a:solidFill>
              </a:rPr>
              <a:t> </a:t>
            </a:r>
            <a:r>
              <a:rPr lang="en-US" sz="1200" dirty="0" err="1">
                <a:solidFill>
                  <a:srgbClr val="FF0000"/>
                </a:solidFill>
              </a:rPr>
              <a:t>modbus</a:t>
            </a:r>
            <a:r>
              <a:rPr lang="en-US" sz="1200" dirty="0">
                <a:solidFill>
                  <a:srgbClr val="FF0000"/>
                </a:solidFill>
              </a:rPr>
              <a:t>(10,11);   // RX,TX</a:t>
            </a:r>
          </a:p>
          <a:p>
            <a:pPr>
              <a:lnSpc>
                <a:spcPct val="150000"/>
              </a:lnSpc>
            </a:pPr>
            <a:endParaRPr lang="en-US" sz="1200" dirty="0">
              <a:solidFill>
                <a:srgbClr val="FF0000"/>
              </a:solidFill>
            </a:endParaRPr>
          </a:p>
          <a:p>
            <a:pPr>
              <a:lnSpc>
                <a:spcPct val="150000"/>
              </a:lnSpc>
            </a:pPr>
            <a:r>
              <a:rPr lang="en-US" sz="1200" dirty="0">
                <a:solidFill>
                  <a:srgbClr val="FF0000"/>
                </a:solidFill>
              </a:rPr>
              <a:t>#define SLAVE_ID 1</a:t>
            </a:r>
          </a:p>
          <a:p>
            <a:pPr>
              <a:lnSpc>
                <a:spcPct val="150000"/>
              </a:lnSpc>
            </a:pPr>
            <a:r>
              <a:rPr lang="en-US" sz="1200" dirty="0">
                <a:solidFill>
                  <a:srgbClr val="FF0000"/>
                </a:solidFill>
              </a:rPr>
              <a:t>#define LED_PIN 2</a:t>
            </a:r>
          </a:p>
          <a:p>
            <a:pPr>
              <a:lnSpc>
                <a:spcPct val="150000"/>
              </a:lnSpc>
            </a:pPr>
            <a:endParaRPr lang="en-US" sz="1200" dirty="0">
              <a:solidFill>
                <a:srgbClr val="FF0000"/>
              </a:solidFill>
            </a:endParaRPr>
          </a:p>
          <a:p>
            <a:pPr>
              <a:lnSpc>
                <a:spcPct val="150000"/>
              </a:lnSpc>
            </a:pPr>
            <a:r>
              <a:rPr lang="en-US" sz="1200" dirty="0">
                <a:solidFill>
                  <a:srgbClr val="FF0000"/>
                </a:solidFill>
              </a:rPr>
              <a:t>uint16_t holding[10] =</a:t>
            </a:r>
          </a:p>
          <a:p>
            <a:pPr>
              <a:lnSpc>
                <a:spcPct val="150000"/>
              </a:lnSpc>
            </a:pPr>
            <a:r>
              <a:rPr lang="en-US" sz="1200" dirty="0">
                <a:solidFill>
                  <a:srgbClr val="FF0000"/>
                </a:solidFill>
              </a:rPr>
              <a:t>{</a:t>
            </a:r>
          </a:p>
          <a:p>
            <a:pPr>
              <a:lnSpc>
                <a:spcPct val="150000"/>
              </a:lnSpc>
            </a:pPr>
            <a:r>
              <a:rPr lang="en-US" sz="1200" dirty="0">
                <a:solidFill>
                  <a:srgbClr val="FF0000"/>
                </a:solidFill>
              </a:rPr>
              <a:t>  25,</a:t>
            </a:r>
          </a:p>
          <a:p>
            <a:pPr>
              <a:lnSpc>
                <a:spcPct val="150000"/>
              </a:lnSpc>
            </a:pPr>
            <a:r>
              <a:rPr lang="en-US" sz="1200" dirty="0">
                <a:solidFill>
                  <a:srgbClr val="FF0000"/>
                </a:solidFill>
              </a:rPr>
              <a:t>  50,</a:t>
            </a:r>
          </a:p>
          <a:p>
            <a:pPr>
              <a:lnSpc>
                <a:spcPct val="150000"/>
              </a:lnSpc>
            </a:pPr>
            <a:r>
              <a:rPr lang="en-US" sz="1200" dirty="0">
                <a:solidFill>
                  <a:srgbClr val="FF0000"/>
                </a:solidFill>
              </a:rPr>
              <a:t>  75,</a:t>
            </a:r>
          </a:p>
          <a:p>
            <a:pPr>
              <a:lnSpc>
                <a:spcPct val="150000"/>
              </a:lnSpc>
            </a:pPr>
            <a:r>
              <a:rPr lang="en-US" sz="1200" dirty="0">
                <a:solidFill>
                  <a:srgbClr val="FF0000"/>
                </a:solidFill>
              </a:rPr>
              <a:t>  100</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uint16_t crc16(uint8_t *</a:t>
            </a:r>
            <a:r>
              <a:rPr lang="en-US" sz="1200" dirty="0" err="1">
                <a:solidFill>
                  <a:srgbClr val="FF0000"/>
                </a:solidFill>
              </a:rPr>
              <a:t>buf,int</a:t>
            </a:r>
            <a:r>
              <a:rPr lang="en-US" sz="1200" dirty="0">
                <a:solidFill>
                  <a:srgbClr val="FF0000"/>
                </a:solidFill>
              </a:rPr>
              <a:t> </a:t>
            </a:r>
            <a:r>
              <a:rPr lang="en-US" sz="1200" dirty="0" err="1">
                <a:solidFill>
                  <a:srgbClr val="FF0000"/>
                </a:solidFill>
              </a:rPr>
              <a:t>len</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  uint16_t </a:t>
            </a:r>
            <a:r>
              <a:rPr lang="en-US" sz="1200" dirty="0" err="1">
                <a:solidFill>
                  <a:srgbClr val="FF0000"/>
                </a:solidFill>
              </a:rPr>
              <a:t>crc</a:t>
            </a:r>
            <a:r>
              <a:rPr lang="en-US" sz="1200" dirty="0">
                <a:solidFill>
                  <a:srgbClr val="FF0000"/>
                </a:solidFill>
              </a:rPr>
              <a:t>=0xFFFF;</a:t>
            </a:r>
          </a:p>
          <a:p>
            <a:pPr>
              <a:lnSpc>
                <a:spcPct val="150000"/>
              </a:lnSpc>
            </a:pPr>
            <a:endParaRPr lang="en-US" sz="1200" dirty="0">
              <a:solidFill>
                <a:srgbClr val="FF0000"/>
              </a:solidFill>
            </a:endParaRPr>
          </a:p>
          <a:p>
            <a:pPr>
              <a:lnSpc>
                <a:spcPct val="150000"/>
              </a:lnSpc>
            </a:pPr>
            <a:r>
              <a:rPr lang="en-US" sz="1200" dirty="0">
                <a:solidFill>
                  <a:srgbClr val="FF0000"/>
                </a:solidFill>
              </a:rPr>
              <a:t>  for(int pos=0;pos&lt;</a:t>
            </a:r>
            <a:r>
              <a:rPr lang="en-US" sz="1200" dirty="0" err="1">
                <a:solidFill>
                  <a:srgbClr val="FF0000"/>
                </a:solidFill>
              </a:rPr>
              <a:t>len;pos</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a:t>
            </a:r>
            <a:r>
              <a:rPr lang="en-US" sz="1200" dirty="0" err="1">
                <a:solidFill>
                  <a:srgbClr val="FF0000"/>
                </a:solidFill>
              </a:rPr>
              <a:t>buf</a:t>
            </a:r>
            <a:r>
              <a:rPr lang="en-US" sz="1200" dirty="0">
                <a:solidFill>
                  <a:srgbClr val="FF0000"/>
                </a:solidFill>
              </a:rPr>
              <a:t>[pos];</a:t>
            </a:r>
          </a:p>
          <a:p>
            <a:pPr>
              <a:lnSpc>
                <a:spcPct val="150000"/>
              </a:lnSpc>
            </a:pPr>
            <a:endParaRPr lang="en-US" sz="1200" dirty="0">
              <a:solidFill>
                <a:srgbClr val="FF0000"/>
              </a:solidFill>
            </a:endParaRPr>
          </a:p>
          <a:p>
            <a:pPr>
              <a:lnSpc>
                <a:spcPct val="150000"/>
              </a:lnSpc>
            </a:pPr>
            <a:r>
              <a:rPr lang="en-US" sz="1200" dirty="0">
                <a:solidFill>
                  <a:srgbClr val="FF0000"/>
                </a:solidFill>
              </a:rPr>
              <a:t>    for(int </a:t>
            </a:r>
            <a:r>
              <a:rPr lang="en-US" sz="1200" dirty="0" err="1">
                <a:solidFill>
                  <a:srgbClr val="FF0000"/>
                </a:solidFill>
              </a:rPr>
              <a:t>i</a:t>
            </a:r>
            <a:r>
              <a:rPr lang="en-US" sz="1200" dirty="0">
                <a:solidFill>
                  <a:srgbClr val="FF0000"/>
                </a:solidFill>
              </a:rPr>
              <a:t>=0;i&lt;8;i++)</a:t>
            </a:r>
          </a:p>
          <a:p>
            <a:pPr>
              <a:lnSpc>
                <a:spcPct val="150000"/>
              </a:lnSpc>
            </a:pPr>
            <a:r>
              <a:rPr lang="en-US" sz="1200" dirty="0">
                <a:solidFill>
                  <a:srgbClr val="FF0000"/>
                </a:solidFill>
              </a:rPr>
              <a:t>    {</a:t>
            </a:r>
          </a:p>
          <a:p>
            <a:pPr>
              <a:lnSpc>
                <a:spcPct val="150000"/>
              </a:lnSpc>
            </a:pPr>
            <a:r>
              <a:rPr lang="en-US" sz="1200" dirty="0">
                <a:solidFill>
                  <a:srgbClr val="FF0000"/>
                </a:solidFill>
              </a:rPr>
              <a:t>      if(crc&amp;1)</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&gt;&gt;=1;</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^=0xA001;</a:t>
            </a:r>
          </a:p>
          <a:p>
            <a:pPr>
              <a:lnSpc>
                <a:spcPct val="150000"/>
              </a:lnSpc>
            </a:pPr>
            <a:r>
              <a:rPr lang="en-US" sz="1200" dirty="0">
                <a:solidFill>
                  <a:srgbClr val="FF0000"/>
                </a:solidFill>
              </a:rPr>
              <a:t>      }</a:t>
            </a:r>
          </a:p>
          <a:p>
            <a:pPr>
              <a:lnSpc>
                <a:spcPct val="150000"/>
              </a:lnSpc>
            </a:pPr>
            <a:r>
              <a:rPr lang="en-US" sz="1200" dirty="0">
                <a:solidFill>
                  <a:srgbClr val="FF0000"/>
                </a:solidFill>
              </a:rPr>
              <a:t>      else</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&gt;&gt;=1;</a:t>
            </a:r>
          </a:p>
          <a:p>
            <a:pPr>
              <a:lnSpc>
                <a:spcPct val="150000"/>
              </a:lnSpc>
            </a:pPr>
            <a:r>
              <a:rPr lang="en-US" sz="1200" dirty="0">
                <a:solidFill>
                  <a:srgbClr val="FF0000"/>
                </a:solidFill>
              </a:rPr>
              <a:t>    }</a:t>
            </a:r>
          </a:p>
          <a:p>
            <a:pPr>
              <a:lnSpc>
                <a:spcPct val="150000"/>
              </a:lnSpc>
            </a:pPr>
            <a:r>
              <a:rPr lang="en-US" sz="1200" dirty="0">
                <a:solidFill>
                  <a:srgbClr val="FF0000"/>
                </a:solidFill>
              </a:rPr>
              <a:t>  }</a:t>
            </a:r>
          </a:p>
          <a:p>
            <a:pPr>
              <a:lnSpc>
                <a:spcPct val="150000"/>
              </a:lnSpc>
            </a:pPr>
            <a:endParaRPr lang="en-US" sz="1200" dirty="0">
              <a:solidFill>
                <a:srgbClr val="FF0000"/>
              </a:solidFill>
            </a:endParaRPr>
          </a:p>
          <a:p>
            <a:pPr>
              <a:lnSpc>
                <a:spcPct val="150000"/>
              </a:lnSpc>
            </a:pPr>
            <a:r>
              <a:rPr lang="en-US" sz="1200" dirty="0">
                <a:solidFill>
                  <a:srgbClr val="FF0000"/>
                </a:solidFill>
              </a:rPr>
              <a:t>  return </a:t>
            </a:r>
            <a:r>
              <a:rPr lang="en-US" sz="1200" dirty="0" err="1">
                <a:solidFill>
                  <a:srgbClr val="FF0000"/>
                </a:solidFill>
              </a:rPr>
              <a:t>crc</a:t>
            </a:r>
            <a:r>
              <a:rPr lang="en-US" sz="1200" dirty="0">
                <a:solidFill>
                  <a:srgbClr val="FF0000"/>
                </a:solidFill>
              </a:rPr>
              <a:t>;</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a:t>
            </a:r>
            <a:r>
              <a:rPr lang="en-US" sz="1200" dirty="0" err="1">
                <a:solidFill>
                  <a:srgbClr val="FF0000"/>
                </a:solidFill>
              </a:rPr>
              <a:t>printFrame</a:t>
            </a:r>
            <a:r>
              <a:rPr lang="en-US" sz="1200" dirty="0">
                <a:solidFill>
                  <a:srgbClr val="FF0000"/>
                </a:solidFill>
              </a:rPr>
              <a:t>(uint8_t *</a:t>
            </a:r>
            <a:r>
              <a:rPr lang="en-US" sz="1200" dirty="0" err="1">
                <a:solidFill>
                  <a:srgbClr val="FF0000"/>
                </a:solidFill>
              </a:rPr>
              <a:t>buf,int</a:t>
            </a:r>
            <a:r>
              <a:rPr lang="en-US" sz="1200" dirty="0">
                <a:solidFill>
                  <a:srgbClr val="FF0000"/>
                </a:solidFill>
              </a:rPr>
              <a:t> </a:t>
            </a:r>
            <a:r>
              <a:rPr lang="en-US" sz="1200" dirty="0" err="1">
                <a:solidFill>
                  <a:srgbClr val="FF0000"/>
                </a:solidFill>
              </a:rPr>
              <a:t>len</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  for(int </a:t>
            </a:r>
            <a:r>
              <a:rPr lang="en-US" sz="1200" dirty="0" err="1">
                <a:solidFill>
                  <a:srgbClr val="FF0000"/>
                </a:solidFill>
              </a:rPr>
              <a:t>i</a:t>
            </a:r>
            <a:r>
              <a:rPr lang="en-US" sz="1200" dirty="0">
                <a:solidFill>
                  <a:srgbClr val="FF0000"/>
                </a:solidFill>
              </a:rPr>
              <a:t>=0;i&lt;</a:t>
            </a:r>
            <a:r>
              <a:rPr lang="en-US" sz="1200" dirty="0" err="1">
                <a:solidFill>
                  <a:srgbClr val="FF0000"/>
                </a:solidFill>
              </a:rPr>
              <a:t>len;i</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if(</a:t>
            </a:r>
            <a:r>
              <a:rPr lang="en-US" sz="1200" dirty="0" err="1">
                <a:solidFill>
                  <a:srgbClr val="FF0000"/>
                </a:solidFill>
              </a:rPr>
              <a:t>buf</a:t>
            </a:r>
            <a:r>
              <a:rPr lang="en-US" sz="1200" dirty="0">
                <a:solidFill>
                  <a:srgbClr val="FF0000"/>
                </a:solidFill>
              </a:rPr>
              <a:t>[</a:t>
            </a:r>
            <a:r>
              <a:rPr lang="en-US" sz="1200" dirty="0" err="1">
                <a:solidFill>
                  <a:srgbClr val="FF0000"/>
                </a:solidFill>
              </a:rPr>
              <a:t>i</a:t>
            </a:r>
            <a:r>
              <a:rPr lang="en-US" sz="1200" dirty="0">
                <a:solidFill>
                  <a:srgbClr val="FF0000"/>
                </a:solidFill>
              </a:rPr>
              <a:t>]&lt;16) </a:t>
            </a:r>
            <a:r>
              <a:rPr lang="en-US" sz="1200" dirty="0" err="1">
                <a:solidFill>
                  <a:srgbClr val="FF0000"/>
                </a:solidFill>
              </a:rPr>
              <a:t>Serial.print</a:t>
            </a:r>
            <a:r>
              <a:rPr lang="en-US" sz="1200" dirty="0">
                <a:solidFill>
                  <a:srgbClr val="FF0000"/>
                </a:solidFill>
              </a:rPr>
              <a:t>("0");</a:t>
            </a: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a:t>
            </a:r>
            <a:r>
              <a:rPr lang="en-US" sz="1200" dirty="0" err="1">
                <a:solidFill>
                  <a:srgbClr val="FF0000"/>
                </a:solidFill>
              </a:rPr>
              <a:t>buf</a:t>
            </a:r>
            <a:r>
              <a:rPr lang="en-US" sz="1200" dirty="0">
                <a:solidFill>
                  <a:srgbClr val="FF0000"/>
                </a:solidFill>
              </a:rPr>
              <a:t>[</a:t>
            </a:r>
            <a:r>
              <a:rPr lang="en-US" sz="1200" dirty="0" err="1">
                <a:solidFill>
                  <a:srgbClr val="FF0000"/>
                </a:solidFill>
              </a:rPr>
              <a:t>i</a:t>
            </a:r>
            <a:r>
              <a:rPr lang="en-US" sz="1200" dirty="0">
                <a:solidFill>
                  <a:srgbClr val="FF0000"/>
                </a:solidFill>
              </a:rPr>
              <a:t>],HEX);</a:t>
            </a: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 ");</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setup()</a:t>
            </a:r>
          </a:p>
          <a:p>
            <a:pPr>
              <a:lnSpc>
                <a:spcPct val="150000"/>
              </a:lnSpc>
            </a:pPr>
            <a:r>
              <a:rPr lang="en-US" sz="1200" dirty="0">
                <a:solidFill>
                  <a:srgbClr val="FF0000"/>
                </a:solidFill>
              </a:rPr>
              <a:t>{</a:t>
            </a:r>
          </a:p>
          <a:p>
            <a:pPr>
              <a:lnSpc>
                <a:spcPct val="150000"/>
              </a:lnSpc>
            </a:pPr>
            <a:r>
              <a:rPr lang="en-US" sz="1200" dirty="0">
                <a:solidFill>
                  <a:srgbClr val="FF0000"/>
                </a:solidFill>
              </a:rPr>
              <a:t>  </a:t>
            </a:r>
            <a:r>
              <a:rPr lang="en-US" sz="1200" dirty="0" err="1">
                <a:solidFill>
                  <a:srgbClr val="FF0000"/>
                </a:solidFill>
              </a:rPr>
              <a:t>Serial.begin</a:t>
            </a:r>
            <a:r>
              <a:rPr lang="en-US" sz="1200" dirty="0">
                <a:solidFill>
                  <a:srgbClr val="FF0000"/>
                </a:solidFill>
              </a:rPr>
              <a:t>(115200);</a:t>
            </a:r>
          </a:p>
          <a:p>
            <a:pPr>
              <a:lnSpc>
                <a:spcPct val="150000"/>
              </a:lnSpc>
            </a:pPr>
            <a:r>
              <a:rPr lang="en-US" sz="1200" dirty="0">
                <a:solidFill>
                  <a:srgbClr val="FF0000"/>
                </a:solidFill>
              </a:rPr>
              <a:t>  </a:t>
            </a:r>
            <a:r>
              <a:rPr lang="en-US" sz="1200" dirty="0" err="1">
                <a:solidFill>
                  <a:srgbClr val="FF0000"/>
                </a:solidFill>
              </a:rPr>
              <a:t>modbus.begin</a:t>
            </a:r>
            <a:r>
              <a:rPr lang="en-US" sz="1200" dirty="0">
                <a:solidFill>
                  <a:srgbClr val="FF0000"/>
                </a:solidFill>
              </a:rPr>
              <a:t>(4800);</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pinMode</a:t>
            </a:r>
            <a:r>
              <a:rPr lang="en-US" sz="1200" dirty="0">
                <a:solidFill>
                  <a:srgbClr val="FF0000"/>
                </a:solidFill>
              </a:rPr>
              <a:t>(LED_PIN,OUTPUT);</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("Slave 1 started");</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loop()</a:t>
            </a:r>
          </a:p>
          <a:p>
            <a:pPr>
              <a:lnSpc>
                <a:spcPct val="150000"/>
              </a:lnSpc>
            </a:pPr>
            <a:r>
              <a:rPr lang="en-US" sz="1200" dirty="0">
                <a:solidFill>
                  <a:srgbClr val="FF0000"/>
                </a:solidFill>
              </a:rPr>
              <a:t>{</a:t>
            </a:r>
          </a:p>
          <a:p>
            <a:pPr>
              <a:lnSpc>
                <a:spcPct val="150000"/>
              </a:lnSpc>
            </a:pPr>
            <a:r>
              <a:rPr lang="en-US" sz="1200" dirty="0">
                <a:solidFill>
                  <a:srgbClr val="FF0000"/>
                </a:solidFill>
              </a:rPr>
              <a:t>  if(</a:t>
            </a:r>
            <a:r>
              <a:rPr lang="en-US" sz="1200" dirty="0" err="1">
                <a:solidFill>
                  <a:srgbClr val="FF0000"/>
                </a:solidFill>
              </a:rPr>
              <a:t>modbus.available</a:t>
            </a:r>
            <a:r>
              <a:rPr lang="en-US" sz="1200" dirty="0">
                <a:solidFill>
                  <a:srgbClr val="FF0000"/>
                </a:solidFill>
              </a:rPr>
              <a:t>()&gt;=8)</a:t>
            </a:r>
          </a:p>
          <a:p>
            <a:pPr>
              <a:lnSpc>
                <a:spcPct val="150000"/>
              </a:lnSpc>
            </a:pPr>
            <a:r>
              <a:rPr lang="en-US" sz="1200" dirty="0">
                <a:solidFill>
                  <a:srgbClr val="FF0000"/>
                </a:solidFill>
              </a:rPr>
              <a:t>  {</a:t>
            </a:r>
          </a:p>
          <a:p>
            <a:pPr>
              <a:lnSpc>
                <a:spcPct val="150000"/>
              </a:lnSpc>
            </a:pPr>
            <a:r>
              <a:rPr lang="en-US" sz="1200" dirty="0">
                <a:solidFill>
                  <a:srgbClr val="FF0000"/>
                </a:solidFill>
              </a:rPr>
              <a:t>    uint8_t req[8];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modbus.readBytes</a:t>
            </a:r>
            <a:r>
              <a:rPr lang="en-US" sz="1200" dirty="0">
                <a:solidFill>
                  <a:srgbClr val="FF0000"/>
                </a:solidFill>
              </a:rPr>
              <a:t>(req,8);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("RX: ");</a:t>
            </a:r>
          </a:p>
          <a:p>
            <a:pPr>
              <a:lnSpc>
                <a:spcPct val="150000"/>
              </a:lnSpc>
            </a:pPr>
            <a:r>
              <a:rPr lang="en-US" sz="1200" dirty="0">
                <a:solidFill>
                  <a:srgbClr val="FF0000"/>
                </a:solidFill>
              </a:rPr>
              <a:t>    </a:t>
            </a:r>
            <a:r>
              <a:rPr lang="en-US" sz="1200" dirty="0" err="1">
                <a:solidFill>
                  <a:srgbClr val="FF0000"/>
                </a:solidFill>
              </a:rPr>
              <a:t>printFrame</a:t>
            </a:r>
            <a:r>
              <a:rPr lang="en-US" sz="1200" dirty="0">
                <a:solidFill>
                  <a:srgbClr val="FF0000"/>
                </a:solidFill>
              </a:rPr>
              <a:t>(req,8);</a:t>
            </a:r>
          </a:p>
          <a:p>
            <a:pPr>
              <a:lnSpc>
                <a:spcPct val="150000"/>
              </a:lnSpc>
            </a:pPr>
            <a:endParaRPr lang="en-US" sz="1200" dirty="0">
              <a:solidFill>
                <a:srgbClr val="FF0000"/>
              </a:solidFill>
            </a:endParaRPr>
          </a:p>
          <a:p>
            <a:pPr>
              <a:lnSpc>
                <a:spcPct val="150000"/>
              </a:lnSpc>
            </a:pPr>
            <a:r>
              <a:rPr lang="en-US" sz="1200" dirty="0">
                <a:solidFill>
                  <a:srgbClr val="FF0000"/>
                </a:solidFill>
              </a:rPr>
              <a:t>    // </a:t>
            </a:r>
            <a:r>
              <a:rPr lang="en-US" sz="1200" dirty="0" err="1">
                <a:solidFill>
                  <a:srgbClr val="FF0000"/>
                </a:solidFill>
              </a:rPr>
              <a:t>kiểm</a:t>
            </a:r>
            <a:r>
              <a:rPr lang="en-US" sz="1200" dirty="0">
                <a:solidFill>
                  <a:srgbClr val="FF0000"/>
                </a:solidFill>
              </a:rPr>
              <a:t> </a:t>
            </a:r>
            <a:r>
              <a:rPr lang="en-US" sz="1200" dirty="0" err="1">
                <a:solidFill>
                  <a:srgbClr val="FF0000"/>
                </a:solidFill>
              </a:rPr>
              <a:t>tra</a:t>
            </a:r>
            <a:r>
              <a:rPr lang="en-US" sz="1200" dirty="0">
                <a:solidFill>
                  <a:srgbClr val="FF0000"/>
                </a:solidFill>
              </a:rPr>
              <a:t> slave id</a:t>
            </a:r>
          </a:p>
          <a:p>
            <a:pPr>
              <a:lnSpc>
                <a:spcPct val="150000"/>
              </a:lnSpc>
            </a:pPr>
            <a:r>
              <a:rPr lang="en-US" sz="1200" dirty="0">
                <a:solidFill>
                  <a:srgbClr val="FF0000"/>
                </a:solidFill>
              </a:rPr>
              <a:t>    if(req[0]!=SLAVE_ID)</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("Wrong Slave ID");</a:t>
            </a:r>
          </a:p>
          <a:p>
            <a:pPr>
              <a:lnSpc>
                <a:spcPct val="150000"/>
              </a:lnSpc>
            </a:pPr>
            <a:r>
              <a:rPr lang="en-US" sz="1200" dirty="0">
                <a:solidFill>
                  <a:srgbClr val="FF0000"/>
                </a:solidFill>
              </a:rPr>
              <a:t>      return;</a:t>
            </a:r>
          </a:p>
          <a:p>
            <a:pPr>
              <a:lnSpc>
                <a:spcPct val="150000"/>
              </a:lnSpc>
            </a:pPr>
            <a:r>
              <a:rPr lang="en-US" sz="1200" dirty="0">
                <a:solidFill>
                  <a:srgbClr val="FF0000"/>
                </a:solidFill>
              </a:rPr>
              <a:t>    }</a:t>
            </a:r>
          </a:p>
          <a:p>
            <a:pPr>
              <a:lnSpc>
                <a:spcPct val="150000"/>
              </a:lnSpc>
            </a:pPr>
            <a:endParaRPr lang="en-US" sz="1200" dirty="0">
              <a:solidFill>
                <a:srgbClr val="FF0000"/>
              </a:solidFill>
            </a:endParaRPr>
          </a:p>
          <a:p>
            <a:pPr>
              <a:lnSpc>
                <a:spcPct val="150000"/>
              </a:lnSpc>
            </a:pPr>
            <a:r>
              <a:rPr lang="en-US" sz="1200" dirty="0">
                <a:solidFill>
                  <a:srgbClr val="FF0000"/>
                </a:solidFill>
              </a:rPr>
              <a:t>    // </a:t>
            </a:r>
            <a:r>
              <a:rPr lang="en-US" sz="1200" dirty="0" err="1">
                <a:solidFill>
                  <a:srgbClr val="FF0000"/>
                </a:solidFill>
              </a:rPr>
              <a:t>kiểm</a:t>
            </a:r>
            <a:r>
              <a:rPr lang="en-US" sz="1200" dirty="0">
                <a:solidFill>
                  <a:srgbClr val="FF0000"/>
                </a:solidFill>
              </a:rPr>
              <a:t> </a:t>
            </a:r>
            <a:r>
              <a:rPr lang="en-US" sz="1200" dirty="0" err="1">
                <a:solidFill>
                  <a:srgbClr val="FF0000"/>
                </a:solidFill>
              </a:rPr>
              <a:t>tra</a:t>
            </a:r>
            <a:r>
              <a:rPr lang="en-US" sz="1200" dirty="0">
                <a:solidFill>
                  <a:srgbClr val="FF0000"/>
                </a:solidFill>
              </a:rPr>
              <a:t> CRC</a:t>
            </a:r>
          </a:p>
          <a:p>
            <a:pPr>
              <a:lnSpc>
                <a:spcPct val="150000"/>
              </a:lnSpc>
            </a:pPr>
            <a:r>
              <a:rPr lang="en-US" sz="1200" dirty="0">
                <a:solidFill>
                  <a:srgbClr val="FF0000"/>
                </a:solidFill>
              </a:rPr>
              <a:t>    uint16_t </a:t>
            </a:r>
            <a:r>
              <a:rPr lang="en-US" sz="1200" dirty="0" err="1">
                <a:solidFill>
                  <a:srgbClr val="FF0000"/>
                </a:solidFill>
              </a:rPr>
              <a:t>crc</a:t>
            </a:r>
            <a:r>
              <a:rPr lang="en-US" sz="1200" dirty="0">
                <a:solidFill>
                  <a:srgbClr val="FF0000"/>
                </a:solidFill>
              </a:rPr>
              <a:t>=crc16(req,6);</a:t>
            </a:r>
          </a:p>
          <a:p>
            <a:pPr>
              <a:lnSpc>
                <a:spcPct val="150000"/>
              </a:lnSpc>
            </a:pPr>
            <a:endParaRPr lang="en-US" sz="1200" dirty="0">
              <a:solidFill>
                <a:srgbClr val="FF0000"/>
              </a:solidFill>
            </a:endParaRPr>
          </a:p>
          <a:p>
            <a:pPr>
              <a:lnSpc>
                <a:spcPct val="150000"/>
              </a:lnSpc>
            </a:pPr>
            <a:r>
              <a:rPr lang="en-US" sz="1200" dirty="0">
                <a:solidFill>
                  <a:srgbClr val="FF0000"/>
                </a:solidFill>
              </a:rPr>
              <a:t>    if(req[6]!=(crc&amp;0xFF) || req[7]!=(</a:t>
            </a:r>
            <a:r>
              <a:rPr lang="en-US" sz="1200" dirty="0" err="1">
                <a:solidFill>
                  <a:srgbClr val="FF0000"/>
                </a:solidFill>
              </a:rPr>
              <a:t>crc</a:t>
            </a:r>
            <a:r>
              <a:rPr lang="en-US" sz="1200" dirty="0">
                <a:solidFill>
                  <a:srgbClr val="FF0000"/>
                </a:solidFill>
              </a:rPr>
              <a:t>&gt;&gt;8))</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("CRC ERROR");</a:t>
            </a:r>
          </a:p>
          <a:p>
            <a:pPr>
              <a:lnSpc>
                <a:spcPct val="150000"/>
              </a:lnSpc>
            </a:pPr>
            <a:r>
              <a:rPr lang="en-US" sz="1200" dirty="0">
                <a:solidFill>
                  <a:srgbClr val="FF0000"/>
                </a:solidFill>
              </a:rPr>
              <a:t>      return;</a:t>
            </a:r>
          </a:p>
          <a:p>
            <a:pPr>
              <a:lnSpc>
                <a:spcPct val="150000"/>
              </a:lnSpc>
            </a:pPr>
            <a:r>
              <a:rPr lang="en-US" sz="1200" dirty="0">
                <a:solidFill>
                  <a:srgbClr val="FF0000"/>
                </a:solidFill>
              </a:rPr>
              <a:t>    }</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("Function: ");</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(req[1]);</a:t>
            </a:r>
          </a:p>
          <a:p>
            <a:pPr>
              <a:lnSpc>
                <a:spcPct val="150000"/>
              </a:lnSpc>
            </a:pPr>
            <a:endParaRPr lang="en-US" sz="1200" dirty="0">
              <a:solidFill>
                <a:srgbClr val="FF0000"/>
              </a:solidFill>
            </a:endParaRPr>
          </a:p>
          <a:p>
            <a:pPr>
              <a:lnSpc>
                <a:spcPct val="150000"/>
              </a:lnSpc>
            </a:pPr>
            <a:r>
              <a:rPr lang="en-US" sz="1200" dirty="0">
                <a:solidFill>
                  <a:srgbClr val="FF0000"/>
                </a:solidFill>
              </a:rPr>
              <a:t>    // ===== READ HOLDING REGISTER =====</a:t>
            </a:r>
          </a:p>
          <a:p>
            <a:pPr>
              <a:lnSpc>
                <a:spcPct val="150000"/>
              </a:lnSpc>
            </a:pPr>
            <a:r>
              <a:rPr lang="en-US" sz="1200" dirty="0">
                <a:solidFill>
                  <a:srgbClr val="FF0000"/>
                </a:solidFill>
              </a:rPr>
              <a:t>    if(req[1]==3)</a:t>
            </a:r>
          </a:p>
          <a:p>
            <a:pPr>
              <a:lnSpc>
                <a:spcPct val="150000"/>
              </a:lnSpc>
            </a:pPr>
            <a:r>
              <a:rPr lang="en-US" sz="1200" dirty="0">
                <a:solidFill>
                  <a:srgbClr val="FF0000"/>
                </a:solidFill>
              </a:rPr>
              <a:t>    {</a:t>
            </a:r>
          </a:p>
          <a:p>
            <a:pPr>
              <a:lnSpc>
                <a:spcPct val="150000"/>
              </a:lnSpc>
            </a:pPr>
            <a:r>
              <a:rPr lang="en-US" sz="1200" dirty="0">
                <a:solidFill>
                  <a:srgbClr val="FF0000"/>
                </a:solidFill>
              </a:rPr>
              <a:t>      uint16_t start=(req[2]&lt;&lt;8)|req[3];</a:t>
            </a:r>
          </a:p>
          <a:p>
            <a:pPr>
              <a:lnSpc>
                <a:spcPct val="150000"/>
              </a:lnSpc>
            </a:pPr>
            <a:r>
              <a:rPr lang="en-US" sz="1200" dirty="0">
                <a:solidFill>
                  <a:srgbClr val="FF0000"/>
                </a:solidFill>
              </a:rPr>
              <a:t>      uint16_t qty=(req[4]&lt;&lt;8)|req[5];</a:t>
            </a:r>
          </a:p>
          <a:p>
            <a:pPr>
              <a:lnSpc>
                <a:spcPct val="150000"/>
              </a:lnSpc>
            </a:pPr>
            <a:endParaRPr lang="en-US" sz="1200" dirty="0">
              <a:solidFill>
                <a:srgbClr val="FF0000"/>
              </a:solidFill>
            </a:endParaRPr>
          </a:p>
          <a:p>
            <a:pPr>
              <a:lnSpc>
                <a:spcPct val="150000"/>
              </a:lnSpc>
            </a:pPr>
            <a:r>
              <a:rPr lang="en-US" sz="1200" dirty="0">
                <a:solidFill>
                  <a:srgbClr val="FF0000"/>
                </a:solidFill>
              </a:rPr>
              <a:t>      uint8_t resp[32];</a:t>
            </a:r>
          </a:p>
          <a:p>
            <a:pPr>
              <a:lnSpc>
                <a:spcPct val="150000"/>
              </a:lnSpc>
            </a:pPr>
            <a:endParaRPr lang="en-US" sz="1200" dirty="0">
              <a:solidFill>
                <a:srgbClr val="FF0000"/>
              </a:solidFill>
            </a:endParaRPr>
          </a:p>
          <a:p>
            <a:pPr>
              <a:lnSpc>
                <a:spcPct val="150000"/>
              </a:lnSpc>
            </a:pPr>
            <a:r>
              <a:rPr lang="en-US" sz="1200" dirty="0">
                <a:solidFill>
                  <a:srgbClr val="FF0000"/>
                </a:solidFill>
              </a:rPr>
              <a:t>      resp[0]=SLAVE_ID;</a:t>
            </a:r>
          </a:p>
          <a:p>
            <a:pPr>
              <a:lnSpc>
                <a:spcPct val="150000"/>
              </a:lnSpc>
            </a:pPr>
            <a:r>
              <a:rPr lang="en-US" sz="1200" dirty="0">
                <a:solidFill>
                  <a:srgbClr val="FF0000"/>
                </a:solidFill>
              </a:rPr>
              <a:t>      resp[1]=3;</a:t>
            </a:r>
          </a:p>
          <a:p>
            <a:pPr>
              <a:lnSpc>
                <a:spcPct val="150000"/>
              </a:lnSpc>
            </a:pPr>
            <a:r>
              <a:rPr lang="en-US" sz="1200" dirty="0">
                <a:solidFill>
                  <a:srgbClr val="FF0000"/>
                </a:solidFill>
              </a:rPr>
              <a:t>      resp[2]=qty*2;</a:t>
            </a:r>
          </a:p>
          <a:p>
            <a:pPr>
              <a:lnSpc>
                <a:spcPct val="150000"/>
              </a:lnSpc>
            </a:pPr>
            <a:endParaRPr lang="en-US" sz="1200" dirty="0">
              <a:solidFill>
                <a:srgbClr val="FF0000"/>
              </a:solidFill>
            </a:endParaRPr>
          </a:p>
          <a:p>
            <a:pPr>
              <a:lnSpc>
                <a:spcPct val="150000"/>
              </a:lnSpc>
            </a:pPr>
            <a:r>
              <a:rPr lang="en-US" sz="1200" dirty="0">
                <a:solidFill>
                  <a:srgbClr val="FF0000"/>
                </a:solidFill>
              </a:rPr>
              <a:t>      int </a:t>
            </a:r>
            <a:r>
              <a:rPr lang="en-US" sz="1200" dirty="0" err="1">
                <a:solidFill>
                  <a:srgbClr val="FF0000"/>
                </a:solidFill>
              </a:rPr>
              <a:t>idx</a:t>
            </a:r>
            <a:r>
              <a:rPr lang="en-US" sz="1200" dirty="0">
                <a:solidFill>
                  <a:srgbClr val="FF0000"/>
                </a:solidFill>
              </a:rPr>
              <a:t>=3;</a:t>
            </a:r>
          </a:p>
          <a:p>
            <a:pPr>
              <a:lnSpc>
                <a:spcPct val="150000"/>
              </a:lnSpc>
            </a:pPr>
            <a:endParaRPr lang="en-US" sz="1200" dirty="0">
              <a:solidFill>
                <a:srgbClr val="FF0000"/>
              </a:solidFill>
            </a:endParaRPr>
          </a:p>
          <a:p>
            <a:pPr>
              <a:lnSpc>
                <a:spcPct val="150000"/>
              </a:lnSpc>
            </a:pPr>
            <a:r>
              <a:rPr lang="en-US" sz="1200" dirty="0">
                <a:solidFill>
                  <a:srgbClr val="FF0000"/>
                </a:solidFill>
              </a:rPr>
              <a:t>      for(int </a:t>
            </a:r>
            <a:r>
              <a:rPr lang="en-US" sz="1200" dirty="0" err="1">
                <a:solidFill>
                  <a:srgbClr val="FF0000"/>
                </a:solidFill>
              </a:rPr>
              <a:t>i</a:t>
            </a:r>
            <a:r>
              <a:rPr lang="en-US" sz="1200" dirty="0">
                <a:solidFill>
                  <a:srgbClr val="FF0000"/>
                </a:solidFill>
              </a:rPr>
              <a:t>=0;i&lt;</a:t>
            </a:r>
            <a:r>
              <a:rPr lang="en-US" sz="1200" dirty="0" err="1">
                <a:solidFill>
                  <a:srgbClr val="FF0000"/>
                </a:solidFill>
              </a:rPr>
              <a:t>qty;i</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uint16_t </a:t>
            </a:r>
            <a:r>
              <a:rPr lang="en-US" sz="1200" dirty="0" err="1">
                <a:solidFill>
                  <a:srgbClr val="FF0000"/>
                </a:solidFill>
              </a:rPr>
              <a:t>val</a:t>
            </a:r>
            <a:r>
              <a:rPr lang="en-US" sz="1200" dirty="0">
                <a:solidFill>
                  <a:srgbClr val="FF0000"/>
                </a:solidFill>
              </a:rPr>
              <a:t>=holding[</a:t>
            </a:r>
            <a:r>
              <a:rPr lang="en-US" sz="1200" dirty="0" err="1">
                <a:solidFill>
                  <a:srgbClr val="FF0000"/>
                </a:solidFill>
              </a:rPr>
              <a:t>start+i</a:t>
            </a: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        resp[</a:t>
            </a:r>
            <a:r>
              <a:rPr lang="en-US" sz="1200" dirty="0" err="1">
                <a:solidFill>
                  <a:srgbClr val="FF0000"/>
                </a:solidFill>
              </a:rPr>
              <a:t>idx</a:t>
            </a:r>
            <a:r>
              <a:rPr lang="en-US" sz="1200" dirty="0">
                <a:solidFill>
                  <a:srgbClr val="FF0000"/>
                </a:solidFill>
              </a:rPr>
              <a:t>++]=</a:t>
            </a:r>
            <a:r>
              <a:rPr lang="en-US" sz="1200" dirty="0" err="1">
                <a:solidFill>
                  <a:srgbClr val="FF0000"/>
                </a:solidFill>
              </a:rPr>
              <a:t>val</a:t>
            </a:r>
            <a:r>
              <a:rPr lang="en-US" sz="1200" dirty="0">
                <a:solidFill>
                  <a:srgbClr val="FF0000"/>
                </a:solidFill>
              </a:rPr>
              <a:t>&gt;&gt;8;</a:t>
            </a:r>
          </a:p>
          <a:p>
            <a:pPr>
              <a:lnSpc>
                <a:spcPct val="150000"/>
              </a:lnSpc>
            </a:pPr>
            <a:r>
              <a:rPr lang="en-US" sz="1200" dirty="0">
                <a:solidFill>
                  <a:srgbClr val="FF0000"/>
                </a:solidFill>
              </a:rPr>
              <a:t>        resp[</a:t>
            </a:r>
            <a:r>
              <a:rPr lang="en-US" sz="1200" dirty="0" err="1">
                <a:solidFill>
                  <a:srgbClr val="FF0000"/>
                </a:solidFill>
              </a:rPr>
              <a:t>idx</a:t>
            </a:r>
            <a:r>
              <a:rPr lang="en-US" sz="1200" dirty="0">
                <a:solidFill>
                  <a:srgbClr val="FF0000"/>
                </a:solidFill>
              </a:rPr>
              <a:t>++]=val&amp;0xFF;</a:t>
            </a:r>
          </a:p>
          <a:p>
            <a:pPr>
              <a:lnSpc>
                <a:spcPct val="150000"/>
              </a:lnSpc>
            </a:pPr>
            <a:r>
              <a:rPr lang="en-US" sz="1200" dirty="0">
                <a:solidFill>
                  <a:srgbClr val="FF0000"/>
                </a:solidFill>
              </a:rPr>
              <a:t>      }</a:t>
            </a:r>
          </a:p>
          <a:p>
            <a:pPr>
              <a:lnSpc>
                <a:spcPct val="150000"/>
              </a:lnSpc>
            </a:pPr>
            <a:endParaRPr lang="en-US" sz="1200" dirty="0">
              <a:solidFill>
                <a:srgbClr val="FF0000"/>
              </a:solidFill>
            </a:endParaRPr>
          </a:p>
          <a:p>
            <a:pPr>
              <a:lnSpc>
                <a:spcPct val="150000"/>
              </a:lnSpc>
            </a:pPr>
            <a:r>
              <a:rPr lang="en-US" sz="1200" dirty="0">
                <a:solidFill>
                  <a:srgbClr val="FF0000"/>
                </a:solidFill>
              </a:rPr>
              <a:t>      uint16_t </a:t>
            </a:r>
            <a:r>
              <a:rPr lang="en-US" sz="1200" dirty="0" err="1">
                <a:solidFill>
                  <a:srgbClr val="FF0000"/>
                </a:solidFill>
              </a:rPr>
              <a:t>crcR</a:t>
            </a:r>
            <a:r>
              <a:rPr lang="en-US" sz="1200" dirty="0">
                <a:solidFill>
                  <a:srgbClr val="FF0000"/>
                </a:solidFill>
              </a:rPr>
              <a:t>=crc16(</a:t>
            </a:r>
            <a:r>
              <a:rPr lang="en-US" sz="1200" dirty="0" err="1">
                <a:solidFill>
                  <a:srgbClr val="FF0000"/>
                </a:solidFill>
              </a:rPr>
              <a:t>resp,idx</a:t>
            </a: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      resp[</a:t>
            </a:r>
            <a:r>
              <a:rPr lang="en-US" sz="1200" dirty="0" err="1">
                <a:solidFill>
                  <a:srgbClr val="FF0000"/>
                </a:solidFill>
              </a:rPr>
              <a:t>idx</a:t>
            </a:r>
            <a:r>
              <a:rPr lang="en-US" sz="1200" dirty="0">
                <a:solidFill>
                  <a:srgbClr val="FF0000"/>
                </a:solidFill>
              </a:rPr>
              <a:t>++]=crcR&amp;0xFF;</a:t>
            </a:r>
          </a:p>
          <a:p>
            <a:pPr>
              <a:lnSpc>
                <a:spcPct val="150000"/>
              </a:lnSpc>
            </a:pPr>
            <a:r>
              <a:rPr lang="en-US" sz="1200" dirty="0">
                <a:solidFill>
                  <a:srgbClr val="FF0000"/>
                </a:solidFill>
              </a:rPr>
              <a:t>      resp[</a:t>
            </a:r>
            <a:r>
              <a:rPr lang="en-US" sz="1200" dirty="0" err="1">
                <a:solidFill>
                  <a:srgbClr val="FF0000"/>
                </a:solidFill>
              </a:rPr>
              <a:t>idx</a:t>
            </a:r>
            <a:r>
              <a:rPr lang="en-US" sz="1200" dirty="0">
                <a:solidFill>
                  <a:srgbClr val="FF0000"/>
                </a:solidFill>
              </a:rPr>
              <a:t>++]=</a:t>
            </a:r>
            <a:r>
              <a:rPr lang="en-US" sz="1200" dirty="0" err="1">
                <a:solidFill>
                  <a:srgbClr val="FF0000"/>
                </a:solidFill>
              </a:rPr>
              <a:t>crcR</a:t>
            </a:r>
            <a:r>
              <a:rPr lang="en-US" sz="1200" dirty="0">
                <a:solidFill>
                  <a:srgbClr val="FF0000"/>
                </a:solidFill>
              </a:rPr>
              <a:t>&gt;&gt;8;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("TX: ");</a:t>
            </a:r>
          </a:p>
          <a:p>
            <a:pPr>
              <a:lnSpc>
                <a:spcPct val="150000"/>
              </a:lnSpc>
            </a:pPr>
            <a:r>
              <a:rPr lang="en-US" sz="1200" dirty="0">
                <a:solidFill>
                  <a:srgbClr val="FF0000"/>
                </a:solidFill>
              </a:rPr>
              <a:t>      </a:t>
            </a:r>
            <a:r>
              <a:rPr lang="en-US" sz="1200" dirty="0" err="1">
                <a:solidFill>
                  <a:srgbClr val="FF0000"/>
                </a:solidFill>
              </a:rPr>
              <a:t>printFrame</a:t>
            </a:r>
            <a:r>
              <a:rPr lang="en-US" sz="1200" dirty="0">
                <a:solidFill>
                  <a:srgbClr val="FF0000"/>
                </a:solidFill>
              </a:rPr>
              <a:t>(</a:t>
            </a:r>
            <a:r>
              <a:rPr lang="en-US" sz="1200" dirty="0" err="1">
                <a:solidFill>
                  <a:srgbClr val="FF0000"/>
                </a:solidFill>
              </a:rPr>
              <a:t>resp,idx</a:t>
            </a: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modbus.write</a:t>
            </a:r>
            <a:r>
              <a:rPr lang="en-US" sz="1200" dirty="0">
                <a:solidFill>
                  <a:srgbClr val="FF0000"/>
                </a:solidFill>
              </a:rPr>
              <a:t>(</a:t>
            </a:r>
            <a:r>
              <a:rPr lang="en-US" sz="1200" dirty="0" err="1">
                <a:solidFill>
                  <a:srgbClr val="FF0000"/>
                </a:solidFill>
              </a:rPr>
              <a:t>resp,idx</a:t>
            </a:r>
            <a:r>
              <a:rPr lang="en-US" sz="1200" dirty="0">
                <a:solidFill>
                  <a:srgbClr val="FF0000"/>
                </a:solidFill>
              </a:rPr>
              <a:t>);</a:t>
            </a:r>
          </a:p>
          <a:p>
            <a:pPr>
              <a:lnSpc>
                <a:spcPct val="150000"/>
              </a:lnSpc>
            </a:pPr>
            <a:r>
              <a:rPr lang="en-US" sz="1200" dirty="0">
                <a:solidFill>
                  <a:srgbClr val="FF0000"/>
                </a:solidFill>
              </a:rPr>
              <a:t>    }</a:t>
            </a:r>
          </a:p>
          <a:p>
            <a:pPr>
              <a:lnSpc>
                <a:spcPct val="150000"/>
              </a:lnSpc>
            </a:pPr>
            <a:endParaRPr lang="en-US" sz="1200" dirty="0">
              <a:solidFill>
                <a:srgbClr val="FF0000"/>
              </a:solidFill>
            </a:endParaRPr>
          </a:p>
          <a:p>
            <a:pPr>
              <a:lnSpc>
                <a:spcPct val="150000"/>
              </a:lnSpc>
            </a:pPr>
            <a:r>
              <a:rPr lang="en-US" sz="1200" dirty="0">
                <a:solidFill>
                  <a:srgbClr val="FF0000"/>
                </a:solidFill>
              </a:rPr>
              <a:t>    // ===== WRITE COIL =====</a:t>
            </a:r>
          </a:p>
          <a:p>
            <a:pPr>
              <a:lnSpc>
                <a:spcPct val="150000"/>
              </a:lnSpc>
            </a:pPr>
            <a:r>
              <a:rPr lang="en-US" sz="1200" dirty="0">
                <a:solidFill>
                  <a:srgbClr val="FF0000"/>
                </a:solidFill>
              </a:rPr>
              <a:t>    if(req[1]==5)</a:t>
            </a:r>
          </a:p>
          <a:p>
            <a:pPr>
              <a:lnSpc>
                <a:spcPct val="150000"/>
              </a:lnSpc>
            </a:pPr>
            <a:r>
              <a:rPr lang="en-US" sz="1200" dirty="0">
                <a:solidFill>
                  <a:srgbClr val="FF0000"/>
                </a:solidFill>
              </a:rPr>
              <a:t>    {</a:t>
            </a:r>
          </a:p>
          <a:p>
            <a:pPr>
              <a:lnSpc>
                <a:spcPct val="150000"/>
              </a:lnSpc>
            </a:pPr>
            <a:r>
              <a:rPr lang="en-US" sz="1200" dirty="0">
                <a:solidFill>
                  <a:srgbClr val="FF0000"/>
                </a:solidFill>
              </a:rPr>
              <a:t>      uint16_t </a:t>
            </a:r>
            <a:r>
              <a:rPr lang="en-US" sz="1200" dirty="0" err="1">
                <a:solidFill>
                  <a:srgbClr val="FF0000"/>
                </a:solidFill>
              </a:rPr>
              <a:t>addr</a:t>
            </a:r>
            <a:r>
              <a:rPr lang="en-US" sz="1200" dirty="0">
                <a:solidFill>
                  <a:srgbClr val="FF0000"/>
                </a:solidFill>
              </a:rPr>
              <a:t>=(req[2]&lt;&lt;8)|req[3];</a:t>
            </a:r>
          </a:p>
          <a:p>
            <a:pPr>
              <a:lnSpc>
                <a:spcPct val="150000"/>
              </a:lnSpc>
            </a:pPr>
            <a:r>
              <a:rPr lang="en-US" sz="1200" dirty="0">
                <a:solidFill>
                  <a:srgbClr val="FF0000"/>
                </a:solidFill>
              </a:rPr>
              <a:t>      uint16_t value=(req[4]&lt;&lt;8)|req[5];</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("Coil </a:t>
            </a:r>
            <a:r>
              <a:rPr lang="en-US" sz="1200" dirty="0" err="1">
                <a:solidFill>
                  <a:srgbClr val="FF0000"/>
                </a:solidFill>
              </a:rPr>
              <a:t>addr</a:t>
            </a: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a:t>
            </a:r>
            <a:r>
              <a:rPr lang="en-US" sz="1200" dirty="0" err="1">
                <a:solidFill>
                  <a:srgbClr val="FF0000"/>
                </a:solidFill>
              </a:rPr>
              <a:t>addr</a:t>
            </a: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      if(</a:t>
            </a:r>
            <a:r>
              <a:rPr lang="en-US" sz="1200" dirty="0" err="1">
                <a:solidFill>
                  <a:srgbClr val="FF0000"/>
                </a:solidFill>
              </a:rPr>
              <a:t>addr</a:t>
            </a:r>
            <a:r>
              <a:rPr lang="en-US" sz="1200" dirty="0">
                <a:solidFill>
                  <a:srgbClr val="FF0000"/>
                </a:solidFill>
              </a:rPr>
              <a:t>==0)</a:t>
            </a:r>
          </a:p>
          <a:p>
            <a:pPr>
              <a:lnSpc>
                <a:spcPct val="150000"/>
              </a:lnSpc>
            </a:pPr>
            <a:r>
              <a:rPr lang="en-US" sz="1200" dirty="0">
                <a:solidFill>
                  <a:srgbClr val="FF0000"/>
                </a:solidFill>
              </a:rPr>
              <a:t>      {</a:t>
            </a:r>
          </a:p>
          <a:p>
            <a:pPr>
              <a:lnSpc>
                <a:spcPct val="150000"/>
              </a:lnSpc>
            </a:pPr>
            <a:r>
              <a:rPr lang="en-US" sz="1200" dirty="0">
                <a:solidFill>
                  <a:srgbClr val="FF0000"/>
                </a:solidFill>
              </a:rPr>
              <a:t>        if(value==0xFF00)</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digitalWrite</a:t>
            </a:r>
            <a:r>
              <a:rPr lang="en-US" sz="1200" dirty="0">
                <a:solidFill>
                  <a:srgbClr val="FF0000"/>
                </a:solidFill>
              </a:rPr>
              <a:t>(LED_PIN,HIGH);</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("LED ON");</a:t>
            </a:r>
          </a:p>
          <a:p>
            <a:pPr>
              <a:lnSpc>
                <a:spcPct val="150000"/>
              </a:lnSpc>
            </a:pPr>
            <a:r>
              <a:rPr lang="en-US" sz="1200" dirty="0">
                <a:solidFill>
                  <a:srgbClr val="FF0000"/>
                </a:solidFill>
              </a:rPr>
              <a:t>        }</a:t>
            </a:r>
          </a:p>
          <a:p>
            <a:pPr>
              <a:lnSpc>
                <a:spcPct val="150000"/>
              </a:lnSpc>
            </a:pPr>
            <a:r>
              <a:rPr lang="en-US" sz="1200" dirty="0">
                <a:solidFill>
                  <a:srgbClr val="FF0000"/>
                </a:solidFill>
              </a:rPr>
              <a:t>        else</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digitalWrite</a:t>
            </a:r>
            <a:r>
              <a:rPr lang="en-US" sz="1200" dirty="0">
                <a:solidFill>
                  <a:srgbClr val="FF0000"/>
                </a:solidFill>
              </a:rPr>
              <a:t>(LED_PIN,LOW);</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("LED OFF");</a:t>
            </a:r>
          </a:p>
          <a:p>
            <a:pPr>
              <a:lnSpc>
                <a:spcPct val="150000"/>
              </a:lnSpc>
            </a:pPr>
            <a:r>
              <a:rPr lang="en-US" sz="1200" dirty="0">
                <a:solidFill>
                  <a:srgbClr val="FF0000"/>
                </a:solidFill>
              </a:rPr>
              <a:t>        }</a:t>
            </a:r>
          </a:p>
          <a:p>
            <a:pPr>
              <a:lnSpc>
                <a:spcPct val="150000"/>
              </a:lnSpc>
            </a:pPr>
            <a:r>
              <a:rPr lang="en-US" sz="1200" dirty="0">
                <a:solidFill>
                  <a:srgbClr val="FF0000"/>
                </a:solidFill>
              </a:rPr>
              <a:t>      }</a:t>
            </a:r>
          </a:p>
          <a:p>
            <a:pPr>
              <a:lnSpc>
                <a:spcPct val="150000"/>
              </a:lnSpc>
            </a:pPr>
            <a:endParaRPr lang="en-US" sz="1200" dirty="0">
              <a:solidFill>
                <a:srgbClr val="FF0000"/>
              </a:solidFill>
            </a:endParaRPr>
          </a:p>
          <a:p>
            <a:pPr>
              <a:lnSpc>
                <a:spcPct val="150000"/>
              </a:lnSpc>
            </a:pPr>
            <a:r>
              <a:rPr lang="en-US" sz="1200" dirty="0">
                <a:solidFill>
                  <a:srgbClr val="FF0000"/>
                </a:solidFill>
              </a:rPr>
              <a:t>      // Modbus response = echo request</a:t>
            </a:r>
          </a:p>
          <a:p>
            <a:pPr>
              <a:lnSpc>
                <a:spcPct val="150000"/>
              </a:lnSpc>
            </a:pPr>
            <a:r>
              <a:rPr lang="en-US" sz="1200" dirty="0">
                <a:solidFill>
                  <a:srgbClr val="FF0000"/>
                </a:solidFill>
              </a:rPr>
              <a:t>      </a:t>
            </a:r>
            <a:r>
              <a:rPr lang="en-US" sz="1200" dirty="0" err="1">
                <a:solidFill>
                  <a:srgbClr val="FF0000"/>
                </a:solidFill>
              </a:rPr>
              <a:t>modbus.write</a:t>
            </a:r>
            <a:r>
              <a:rPr lang="en-US" sz="1200" dirty="0">
                <a:solidFill>
                  <a:srgbClr val="FF0000"/>
                </a:solidFill>
              </a:rPr>
              <a:t>(req,8);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("TX: ");</a:t>
            </a:r>
          </a:p>
          <a:p>
            <a:pPr>
              <a:lnSpc>
                <a:spcPct val="150000"/>
              </a:lnSpc>
            </a:pPr>
            <a:r>
              <a:rPr lang="en-US" sz="1200" dirty="0">
                <a:solidFill>
                  <a:srgbClr val="FF0000"/>
                </a:solidFill>
              </a:rPr>
              <a:t>      </a:t>
            </a:r>
            <a:r>
              <a:rPr lang="en-US" sz="1200" dirty="0" err="1">
                <a:solidFill>
                  <a:srgbClr val="FF0000"/>
                </a:solidFill>
              </a:rPr>
              <a:t>printFrame</a:t>
            </a:r>
            <a:r>
              <a:rPr lang="en-US" sz="1200" dirty="0">
                <a:solidFill>
                  <a:srgbClr val="FF0000"/>
                </a:solidFill>
              </a:rPr>
              <a:t>(req,8);</a:t>
            </a:r>
          </a:p>
          <a:p>
            <a:pPr>
              <a:lnSpc>
                <a:spcPct val="150000"/>
              </a:lnSpc>
            </a:pPr>
            <a:r>
              <a:rPr lang="en-US" sz="1200" dirty="0">
                <a:solidFill>
                  <a:srgbClr val="FF0000"/>
                </a:solidFill>
              </a:rPr>
              <a:t>    }</a:t>
            </a:r>
          </a:p>
          <a:p>
            <a:pPr>
              <a:lnSpc>
                <a:spcPct val="150000"/>
              </a:lnSpc>
            </a:pPr>
            <a:r>
              <a:rPr lang="en-US" sz="1200" dirty="0">
                <a:solidFill>
                  <a:srgbClr val="FF0000"/>
                </a:solidFill>
              </a:rPr>
              <a:t>  }</a:t>
            </a:r>
          </a:p>
          <a:p>
            <a:pPr>
              <a:lnSpc>
                <a:spcPct val="150000"/>
              </a:lnSpc>
            </a:pPr>
            <a:r>
              <a:rPr lang="en-US" sz="1200" dirty="0">
                <a:solidFill>
                  <a:srgbClr val="FF0000"/>
                </a:solidFill>
              </a:rPr>
              <a:t>}</a:t>
            </a: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A5A56D14-BB6D-3142-17FF-A9996CCA676A}"/>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83</a:t>
            </a:fld>
            <a:endParaRPr/>
          </a:p>
        </p:txBody>
      </p:sp>
    </p:spTree>
    <p:extLst>
      <p:ext uri="{BB962C8B-B14F-4D97-AF65-F5344CB8AC3E}">
        <p14:creationId xmlns:p14="http://schemas.microsoft.com/office/powerpoint/2010/main" val="37212498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A360ED7E-C2C1-6DDF-B953-4C92FC71939C}"/>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A8A5316E-52DF-A59F-8A03-8EDD59302047}"/>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F0A231EC-E3FF-75F0-3BD3-7011EF0AF3D5}"/>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a:lnSpc>
                <a:spcPct val="150000"/>
              </a:lnSpc>
            </a:pP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50998038-25EE-95BF-B731-5694B004702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84</a:t>
            </a:fld>
            <a:endParaRPr/>
          </a:p>
        </p:txBody>
      </p:sp>
    </p:spTree>
    <p:extLst>
      <p:ext uri="{BB962C8B-B14F-4D97-AF65-F5344CB8AC3E}">
        <p14:creationId xmlns:p14="http://schemas.microsoft.com/office/powerpoint/2010/main" val="133686186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C79365E9-5DBC-3ACE-0132-A1C593D76B4D}"/>
            </a:ext>
          </a:extLst>
        </p:cNvPr>
        <p:cNvGrpSpPr/>
        <p:nvPr/>
      </p:nvGrpSpPr>
      <p:grpSpPr>
        <a:xfrm>
          <a:off x="0" y="0"/>
          <a:ext cx="0" cy="0"/>
          <a:chOff x="0" y="0"/>
          <a:chExt cx="0" cy="0"/>
        </a:xfrm>
      </p:grpSpPr>
      <p:sp>
        <p:nvSpPr>
          <p:cNvPr id="172" name="Google Shape;172;p4:notes">
            <a:extLst>
              <a:ext uri="{FF2B5EF4-FFF2-40B4-BE49-F238E27FC236}">
                <a16:creationId xmlns:a16="http://schemas.microsoft.com/office/drawing/2014/main" id="{6495E45E-5471-7343-2871-279C8B6C2B9D}"/>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4:notes">
            <a:extLst>
              <a:ext uri="{FF2B5EF4-FFF2-40B4-BE49-F238E27FC236}">
                <a16:creationId xmlns:a16="http://schemas.microsoft.com/office/drawing/2014/main" id="{68D8CAE6-74C9-EEE0-C415-F2079EACF976}"/>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marL="0" lvl="0" indent="0" algn="l" rtl="0">
              <a:spcBef>
                <a:spcPts val="0"/>
              </a:spcBef>
              <a:spcAft>
                <a:spcPts val="0"/>
              </a:spcAft>
              <a:buNone/>
            </a:pPr>
            <a:endParaRPr/>
          </a:p>
        </p:txBody>
      </p:sp>
      <p:sp>
        <p:nvSpPr>
          <p:cNvPr id="174" name="Google Shape;174;p4:notes">
            <a:extLst>
              <a:ext uri="{FF2B5EF4-FFF2-40B4-BE49-F238E27FC236}">
                <a16:creationId xmlns:a16="http://schemas.microsoft.com/office/drawing/2014/main" id="{5344CEAE-4744-4D7D-7AB4-F638BF95AA38}"/>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85</a:t>
            </a:fld>
            <a:endParaRPr/>
          </a:p>
        </p:txBody>
      </p:sp>
    </p:spTree>
    <p:extLst>
      <p:ext uri="{BB962C8B-B14F-4D97-AF65-F5344CB8AC3E}">
        <p14:creationId xmlns:p14="http://schemas.microsoft.com/office/powerpoint/2010/main" val="409495038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F1AF6469-1EF6-ECDF-B40C-712D93E15687}"/>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A3B1EB7-BC5F-ED0B-3D56-0332C285C4D2}"/>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A82E32AA-9B71-1B8C-C19E-FE4F38495837}"/>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a:lnSpc>
                <a:spcPct val="150000"/>
              </a:lnSpc>
            </a:pPr>
            <a:r>
              <a:rPr lang="en-US" b="1" dirty="0"/>
              <a:t>Code master</a:t>
            </a:r>
          </a:p>
          <a:p>
            <a:pPr>
              <a:lnSpc>
                <a:spcPct val="150000"/>
              </a:lnSpc>
            </a:pPr>
            <a:r>
              <a:rPr lang="en-US" sz="1200" dirty="0">
                <a:solidFill>
                  <a:srgbClr val="FF0000"/>
                </a:solidFill>
              </a:rPr>
              <a:t>#include &lt;</a:t>
            </a:r>
            <a:r>
              <a:rPr lang="en-US" sz="1200" dirty="0" err="1">
                <a:solidFill>
                  <a:srgbClr val="FF0000"/>
                </a:solidFill>
              </a:rPr>
              <a:t>SoftwareSerial.h</a:t>
            </a:r>
            <a:r>
              <a:rPr lang="en-US" sz="1200" dirty="0">
                <a:solidFill>
                  <a:srgbClr val="FF0000"/>
                </a:solidFill>
              </a:rPr>
              <a:t>&gt;</a:t>
            </a:r>
          </a:p>
          <a:p>
            <a:pPr>
              <a:lnSpc>
                <a:spcPct val="150000"/>
              </a:lnSpc>
            </a:pPr>
            <a:endParaRPr lang="en-US" sz="1200" dirty="0">
              <a:solidFill>
                <a:srgbClr val="FF0000"/>
              </a:solidFill>
            </a:endParaRPr>
          </a:p>
          <a:p>
            <a:pPr>
              <a:lnSpc>
                <a:spcPct val="150000"/>
              </a:lnSpc>
            </a:pPr>
            <a:r>
              <a:rPr lang="en-US" sz="1200" dirty="0" err="1">
                <a:solidFill>
                  <a:srgbClr val="FF0000"/>
                </a:solidFill>
              </a:rPr>
              <a:t>SoftwareSerial</a:t>
            </a:r>
            <a:r>
              <a:rPr lang="en-US" sz="1200" dirty="0">
                <a:solidFill>
                  <a:srgbClr val="FF0000"/>
                </a:solidFill>
              </a:rPr>
              <a:t> </a:t>
            </a:r>
            <a:r>
              <a:rPr lang="en-US" sz="1200" dirty="0" err="1">
                <a:solidFill>
                  <a:srgbClr val="FF0000"/>
                </a:solidFill>
              </a:rPr>
              <a:t>modbus</a:t>
            </a:r>
            <a:r>
              <a:rPr lang="en-US" sz="1200" dirty="0">
                <a:solidFill>
                  <a:srgbClr val="FF0000"/>
                </a:solidFill>
              </a:rPr>
              <a:t>(10,11);   // RX,TX</a:t>
            </a:r>
          </a:p>
          <a:p>
            <a:pPr>
              <a:lnSpc>
                <a:spcPct val="150000"/>
              </a:lnSpc>
            </a:pPr>
            <a:endParaRPr lang="en-US" sz="1200" dirty="0">
              <a:solidFill>
                <a:srgbClr val="FF0000"/>
              </a:solidFill>
            </a:endParaRPr>
          </a:p>
          <a:p>
            <a:pPr>
              <a:lnSpc>
                <a:spcPct val="150000"/>
              </a:lnSpc>
            </a:pPr>
            <a:r>
              <a:rPr lang="en-US" sz="1200" dirty="0">
                <a:solidFill>
                  <a:srgbClr val="FF0000"/>
                </a:solidFill>
              </a:rPr>
              <a:t>#define SLAVE_ID 1</a:t>
            </a:r>
          </a:p>
          <a:p>
            <a:pPr>
              <a:lnSpc>
                <a:spcPct val="150000"/>
              </a:lnSpc>
            </a:pPr>
            <a:endParaRPr lang="en-US" sz="1200" dirty="0">
              <a:solidFill>
                <a:srgbClr val="FF0000"/>
              </a:solidFill>
            </a:endParaRPr>
          </a:p>
          <a:p>
            <a:pPr>
              <a:lnSpc>
                <a:spcPct val="150000"/>
              </a:lnSpc>
            </a:pPr>
            <a:r>
              <a:rPr lang="en-US" sz="1200" dirty="0">
                <a:solidFill>
                  <a:srgbClr val="FF0000"/>
                </a:solidFill>
              </a:rPr>
              <a:t>uint16_t crc16(uint8_t *</a:t>
            </a:r>
            <a:r>
              <a:rPr lang="en-US" sz="1200" dirty="0" err="1">
                <a:solidFill>
                  <a:srgbClr val="FF0000"/>
                </a:solidFill>
              </a:rPr>
              <a:t>buf,int</a:t>
            </a:r>
            <a:r>
              <a:rPr lang="en-US" sz="1200" dirty="0">
                <a:solidFill>
                  <a:srgbClr val="FF0000"/>
                </a:solidFill>
              </a:rPr>
              <a:t> </a:t>
            </a:r>
            <a:r>
              <a:rPr lang="en-US" sz="1200" dirty="0" err="1">
                <a:solidFill>
                  <a:srgbClr val="FF0000"/>
                </a:solidFill>
              </a:rPr>
              <a:t>len</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  uint16_t </a:t>
            </a:r>
            <a:r>
              <a:rPr lang="en-US" sz="1200" dirty="0" err="1">
                <a:solidFill>
                  <a:srgbClr val="FF0000"/>
                </a:solidFill>
              </a:rPr>
              <a:t>crc</a:t>
            </a:r>
            <a:r>
              <a:rPr lang="en-US" sz="1200" dirty="0">
                <a:solidFill>
                  <a:srgbClr val="FF0000"/>
                </a:solidFill>
              </a:rPr>
              <a:t>=0xFFFF;</a:t>
            </a:r>
          </a:p>
          <a:p>
            <a:pPr>
              <a:lnSpc>
                <a:spcPct val="150000"/>
              </a:lnSpc>
            </a:pPr>
            <a:endParaRPr lang="en-US" sz="1200" dirty="0">
              <a:solidFill>
                <a:srgbClr val="FF0000"/>
              </a:solidFill>
            </a:endParaRPr>
          </a:p>
          <a:p>
            <a:pPr>
              <a:lnSpc>
                <a:spcPct val="150000"/>
              </a:lnSpc>
            </a:pPr>
            <a:r>
              <a:rPr lang="en-US" sz="1200" dirty="0">
                <a:solidFill>
                  <a:srgbClr val="FF0000"/>
                </a:solidFill>
              </a:rPr>
              <a:t>  for(int pos=0;pos&lt;</a:t>
            </a:r>
            <a:r>
              <a:rPr lang="en-US" sz="1200" dirty="0" err="1">
                <a:solidFill>
                  <a:srgbClr val="FF0000"/>
                </a:solidFill>
              </a:rPr>
              <a:t>len;pos</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a:t>
            </a:r>
            <a:r>
              <a:rPr lang="en-US" sz="1200" dirty="0" err="1">
                <a:solidFill>
                  <a:srgbClr val="FF0000"/>
                </a:solidFill>
              </a:rPr>
              <a:t>buf</a:t>
            </a:r>
            <a:r>
              <a:rPr lang="en-US" sz="1200" dirty="0">
                <a:solidFill>
                  <a:srgbClr val="FF0000"/>
                </a:solidFill>
              </a:rPr>
              <a:t>[pos];</a:t>
            </a:r>
          </a:p>
          <a:p>
            <a:pPr>
              <a:lnSpc>
                <a:spcPct val="150000"/>
              </a:lnSpc>
            </a:pPr>
            <a:endParaRPr lang="en-US" sz="1200" dirty="0">
              <a:solidFill>
                <a:srgbClr val="FF0000"/>
              </a:solidFill>
            </a:endParaRPr>
          </a:p>
          <a:p>
            <a:pPr>
              <a:lnSpc>
                <a:spcPct val="150000"/>
              </a:lnSpc>
            </a:pPr>
            <a:r>
              <a:rPr lang="en-US" sz="1200" dirty="0">
                <a:solidFill>
                  <a:srgbClr val="FF0000"/>
                </a:solidFill>
              </a:rPr>
              <a:t>    for(int </a:t>
            </a:r>
            <a:r>
              <a:rPr lang="en-US" sz="1200" dirty="0" err="1">
                <a:solidFill>
                  <a:srgbClr val="FF0000"/>
                </a:solidFill>
              </a:rPr>
              <a:t>i</a:t>
            </a:r>
            <a:r>
              <a:rPr lang="en-US" sz="1200" dirty="0">
                <a:solidFill>
                  <a:srgbClr val="FF0000"/>
                </a:solidFill>
              </a:rPr>
              <a:t>=0;i&lt;8;i++)</a:t>
            </a:r>
          </a:p>
          <a:p>
            <a:pPr>
              <a:lnSpc>
                <a:spcPct val="150000"/>
              </a:lnSpc>
            </a:pPr>
            <a:r>
              <a:rPr lang="en-US" sz="1200" dirty="0">
                <a:solidFill>
                  <a:srgbClr val="FF0000"/>
                </a:solidFill>
              </a:rPr>
              <a:t>    {</a:t>
            </a:r>
          </a:p>
          <a:p>
            <a:pPr>
              <a:lnSpc>
                <a:spcPct val="150000"/>
              </a:lnSpc>
            </a:pPr>
            <a:r>
              <a:rPr lang="en-US" sz="1200" dirty="0">
                <a:solidFill>
                  <a:srgbClr val="FF0000"/>
                </a:solidFill>
              </a:rPr>
              <a:t>      if(crc&amp;1)</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&gt;&gt;=1;</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^=0xA001;</a:t>
            </a:r>
          </a:p>
          <a:p>
            <a:pPr>
              <a:lnSpc>
                <a:spcPct val="150000"/>
              </a:lnSpc>
            </a:pPr>
            <a:r>
              <a:rPr lang="en-US" sz="1200" dirty="0">
                <a:solidFill>
                  <a:srgbClr val="FF0000"/>
                </a:solidFill>
              </a:rPr>
              <a:t>      }</a:t>
            </a:r>
          </a:p>
          <a:p>
            <a:pPr>
              <a:lnSpc>
                <a:spcPct val="150000"/>
              </a:lnSpc>
            </a:pPr>
            <a:r>
              <a:rPr lang="en-US" sz="1200" dirty="0">
                <a:solidFill>
                  <a:srgbClr val="FF0000"/>
                </a:solidFill>
              </a:rPr>
              <a:t>      else</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&gt;&gt;=1;</a:t>
            </a:r>
          </a:p>
          <a:p>
            <a:pPr>
              <a:lnSpc>
                <a:spcPct val="150000"/>
              </a:lnSpc>
            </a:pPr>
            <a:r>
              <a:rPr lang="en-US" sz="1200" dirty="0">
                <a:solidFill>
                  <a:srgbClr val="FF0000"/>
                </a:solidFill>
              </a:rPr>
              <a:t>    }</a:t>
            </a:r>
          </a:p>
          <a:p>
            <a:pPr>
              <a:lnSpc>
                <a:spcPct val="150000"/>
              </a:lnSpc>
            </a:pPr>
            <a:r>
              <a:rPr lang="en-US" sz="1200" dirty="0">
                <a:solidFill>
                  <a:srgbClr val="FF0000"/>
                </a:solidFill>
              </a:rPr>
              <a:t>  }</a:t>
            </a:r>
          </a:p>
          <a:p>
            <a:pPr>
              <a:lnSpc>
                <a:spcPct val="150000"/>
              </a:lnSpc>
            </a:pPr>
            <a:r>
              <a:rPr lang="en-US" sz="1200" dirty="0">
                <a:solidFill>
                  <a:srgbClr val="FF0000"/>
                </a:solidFill>
              </a:rPr>
              <a:t>  return </a:t>
            </a:r>
            <a:r>
              <a:rPr lang="en-US" sz="1200" dirty="0" err="1">
                <a:solidFill>
                  <a:srgbClr val="FF0000"/>
                </a:solidFill>
              </a:rPr>
              <a:t>crc</a:t>
            </a:r>
            <a:r>
              <a:rPr lang="en-US" sz="1200" dirty="0">
                <a:solidFill>
                  <a:srgbClr val="FF0000"/>
                </a:solidFill>
              </a:rPr>
              <a:t>;</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a:t>
            </a:r>
            <a:r>
              <a:rPr lang="en-US" sz="1200" dirty="0" err="1">
                <a:solidFill>
                  <a:srgbClr val="FF0000"/>
                </a:solidFill>
              </a:rPr>
              <a:t>printFrame</a:t>
            </a:r>
            <a:r>
              <a:rPr lang="en-US" sz="1200" dirty="0">
                <a:solidFill>
                  <a:srgbClr val="FF0000"/>
                </a:solidFill>
              </a:rPr>
              <a:t>(uint8_t *</a:t>
            </a:r>
            <a:r>
              <a:rPr lang="en-US" sz="1200" dirty="0" err="1">
                <a:solidFill>
                  <a:srgbClr val="FF0000"/>
                </a:solidFill>
              </a:rPr>
              <a:t>buf,int</a:t>
            </a:r>
            <a:r>
              <a:rPr lang="en-US" sz="1200" dirty="0">
                <a:solidFill>
                  <a:srgbClr val="FF0000"/>
                </a:solidFill>
              </a:rPr>
              <a:t> </a:t>
            </a:r>
            <a:r>
              <a:rPr lang="en-US" sz="1200" dirty="0" err="1">
                <a:solidFill>
                  <a:srgbClr val="FF0000"/>
                </a:solidFill>
              </a:rPr>
              <a:t>len</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  for(int </a:t>
            </a:r>
            <a:r>
              <a:rPr lang="en-US" sz="1200" dirty="0" err="1">
                <a:solidFill>
                  <a:srgbClr val="FF0000"/>
                </a:solidFill>
              </a:rPr>
              <a:t>i</a:t>
            </a:r>
            <a:r>
              <a:rPr lang="en-US" sz="1200" dirty="0">
                <a:solidFill>
                  <a:srgbClr val="FF0000"/>
                </a:solidFill>
              </a:rPr>
              <a:t>=0;i&lt;</a:t>
            </a:r>
            <a:r>
              <a:rPr lang="en-US" sz="1200" dirty="0" err="1">
                <a:solidFill>
                  <a:srgbClr val="FF0000"/>
                </a:solidFill>
              </a:rPr>
              <a:t>len;i</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if(</a:t>
            </a:r>
            <a:r>
              <a:rPr lang="en-US" sz="1200" dirty="0" err="1">
                <a:solidFill>
                  <a:srgbClr val="FF0000"/>
                </a:solidFill>
              </a:rPr>
              <a:t>buf</a:t>
            </a:r>
            <a:r>
              <a:rPr lang="en-US" sz="1200" dirty="0">
                <a:solidFill>
                  <a:srgbClr val="FF0000"/>
                </a:solidFill>
              </a:rPr>
              <a:t>[</a:t>
            </a:r>
            <a:r>
              <a:rPr lang="en-US" sz="1200" dirty="0" err="1">
                <a:solidFill>
                  <a:srgbClr val="FF0000"/>
                </a:solidFill>
              </a:rPr>
              <a:t>i</a:t>
            </a:r>
            <a:r>
              <a:rPr lang="en-US" sz="1200" dirty="0">
                <a:solidFill>
                  <a:srgbClr val="FF0000"/>
                </a:solidFill>
              </a:rPr>
              <a:t>]&lt;16) </a:t>
            </a:r>
            <a:r>
              <a:rPr lang="en-US" sz="1200" dirty="0" err="1">
                <a:solidFill>
                  <a:srgbClr val="FF0000"/>
                </a:solidFill>
              </a:rPr>
              <a:t>Serial.print</a:t>
            </a:r>
            <a:r>
              <a:rPr lang="en-US" sz="1200" dirty="0">
                <a:solidFill>
                  <a:srgbClr val="FF0000"/>
                </a:solidFill>
              </a:rPr>
              <a:t>("0");</a:t>
            </a: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a:t>
            </a:r>
            <a:r>
              <a:rPr lang="en-US" sz="1200" dirty="0" err="1">
                <a:solidFill>
                  <a:srgbClr val="FF0000"/>
                </a:solidFill>
              </a:rPr>
              <a:t>buf</a:t>
            </a:r>
            <a:r>
              <a:rPr lang="en-US" sz="1200" dirty="0">
                <a:solidFill>
                  <a:srgbClr val="FF0000"/>
                </a:solidFill>
              </a:rPr>
              <a:t>[</a:t>
            </a:r>
            <a:r>
              <a:rPr lang="en-US" sz="1200" dirty="0" err="1">
                <a:solidFill>
                  <a:srgbClr val="FF0000"/>
                </a:solidFill>
              </a:rPr>
              <a:t>i</a:t>
            </a:r>
            <a:r>
              <a:rPr lang="en-US" sz="1200" dirty="0">
                <a:solidFill>
                  <a:srgbClr val="FF0000"/>
                </a:solidFill>
              </a:rPr>
              <a:t>],HEX);</a:t>
            </a: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 ");</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a:t>
            </a:r>
            <a:r>
              <a:rPr lang="en-US" sz="1200" dirty="0" err="1">
                <a:solidFill>
                  <a:srgbClr val="FF0000"/>
                </a:solidFill>
              </a:rPr>
              <a:t>sendQuery</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  uint8_t frame[8];</a:t>
            </a:r>
          </a:p>
          <a:p>
            <a:pPr>
              <a:lnSpc>
                <a:spcPct val="150000"/>
              </a:lnSpc>
            </a:pPr>
            <a:endParaRPr lang="en-US" sz="1200" dirty="0">
              <a:solidFill>
                <a:srgbClr val="FF0000"/>
              </a:solidFill>
            </a:endParaRPr>
          </a:p>
          <a:p>
            <a:pPr>
              <a:lnSpc>
                <a:spcPct val="150000"/>
              </a:lnSpc>
            </a:pPr>
            <a:r>
              <a:rPr lang="en-US" sz="1200" dirty="0">
                <a:solidFill>
                  <a:srgbClr val="FF0000"/>
                </a:solidFill>
              </a:rPr>
              <a:t>  frame[0] = SLAVE_ID;</a:t>
            </a:r>
          </a:p>
          <a:p>
            <a:pPr>
              <a:lnSpc>
                <a:spcPct val="150000"/>
              </a:lnSpc>
            </a:pPr>
            <a:r>
              <a:rPr lang="en-US" sz="1200" dirty="0">
                <a:solidFill>
                  <a:srgbClr val="FF0000"/>
                </a:solidFill>
              </a:rPr>
              <a:t>  frame[1] = 3;</a:t>
            </a:r>
          </a:p>
          <a:p>
            <a:pPr>
              <a:lnSpc>
                <a:spcPct val="150000"/>
              </a:lnSpc>
            </a:pPr>
            <a:endParaRPr lang="en-US" sz="1200" dirty="0">
              <a:solidFill>
                <a:srgbClr val="FF0000"/>
              </a:solidFill>
            </a:endParaRPr>
          </a:p>
          <a:p>
            <a:pPr>
              <a:lnSpc>
                <a:spcPct val="150000"/>
              </a:lnSpc>
            </a:pPr>
            <a:r>
              <a:rPr lang="en-US" sz="1200" dirty="0">
                <a:solidFill>
                  <a:srgbClr val="FF0000"/>
                </a:solidFill>
              </a:rPr>
              <a:t>  frame[2] = 0;</a:t>
            </a:r>
          </a:p>
          <a:p>
            <a:pPr>
              <a:lnSpc>
                <a:spcPct val="150000"/>
              </a:lnSpc>
            </a:pPr>
            <a:r>
              <a:rPr lang="en-US" sz="1200" dirty="0">
                <a:solidFill>
                  <a:srgbClr val="FF0000"/>
                </a:solidFill>
              </a:rPr>
              <a:t>  frame[3] = 0;</a:t>
            </a:r>
          </a:p>
          <a:p>
            <a:pPr>
              <a:lnSpc>
                <a:spcPct val="150000"/>
              </a:lnSpc>
            </a:pPr>
            <a:endParaRPr lang="en-US" sz="1200" dirty="0">
              <a:solidFill>
                <a:srgbClr val="FF0000"/>
              </a:solidFill>
            </a:endParaRPr>
          </a:p>
          <a:p>
            <a:pPr>
              <a:lnSpc>
                <a:spcPct val="150000"/>
              </a:lnSpc>
            </a:pPr>
            <a:r>
              <a:rPr lang="en-US" sz="1200" dirty="0">
                <a:solidFill>
                  <a:srgbClr val="FF0000"/>
                </a:solidFill>
              </a:rPr>
              <a:t>  frame[4] = 0;</a:t>
            </a:r>
          </a:p>
          <a:p>
            <a:pPr>
              <a:lnSpc>
                <a:spcPct val="150000"/>
              </a:lnSpc>
            </a:pPr>
            <a:r>
              <a:rPr lang="en-US" sz="1200" dirty="0">
                <a:solidFill>
                  <a:srgbClr val="FF0000"/>
                </a:solidFill>
              </a:rPr>
              <a:t>  frame[5] = 1;</a:t>
            </a:r>
          </a:p>
          <a:p>
            <a:pPr>
              <a:lnSpc>
                <a:spcPct val="150000"/>
              </a:lnSpc>
            </a:pPr>
            <a:endParaRPr lang="en-US" sz="1200" dirty="0">
              <a:solidFill>
                <a:srgbClr val="FF0000"/>
              </a:solidFill>
            </a:endParaRPr>
          </a:p>
          <a:p>
            <a:pPr>
              <a:lnSpc>
                <a:spcPct val="150000"/>
              </a:lnSpc>
            </a:pPr>
            <a:r>
              <a:rPr lang="en-US" sz="1200" dirty="0">
                <a:solidFill>
                  <a:srgbClr val="FF0000"/>
                </a:solidFill>
              </a:rPr>
              <a:t>  uint16_t </a:t>
            </a:r>
            <a:r>
              <a:rPr lang="en-US" sz="1200" dirty="0" err="1">
                <a:solidFill>
                  <a:srgbClr val="FF0000"/>
                </a:solidFill>
              </a:rPr>
              <a:t>crc</a:t>
            </a:r>
            <a:r>
              <a:rPr lang="en-US" sz="1200" dirty="0">
                <a:solidFill>
                  <a:srgbClr val="FF0000"/>
                </a:solidFill>
              </a:rPr>
              <a:t> = crc16(frame,6);</a:t>
            </a:r>
          </a:p>
          <a:p>
            <a:pPr>
              <a:lnSpc>
                <a:spcPct val="150000"/>
              </a:lnSpc>
            </a:pPr>
            <a:endParaRPr lang="en-US" sz="1200" dirty="0">
              <a:solidFill>
                <a:srgbClr val="FF0000"/>
              </a:solidFill>
            </a:endParaRPr>
          </a:p>
          <a:p>
            <a:pPr>
              <a:lnSpc>
                <a:spcPct val="150000"/>
              </a:lnSpc>
            </a:pPr>
            <a:r>
              <a:rPr lang="en-US" sz="1200" dirty="0">
                <a:solidFill>
                  <a:srgbClr val="FF0000"/>
                </a:solidFill>
              </a:rPr>
              <a:t>  frame[6] = </a:t>
            </a:r>
            <a:r>
              <a:rPr lang="en-US" sz="1200" dirty="0" err="1">
                <a:solidFill>
                  <a:srgbClr val="FF0000"/>
                </a:solidFill>
              </a:rPr>
              <a:t>crc</a:t>
            </a:r>
            <a:r>
              <a:rPr lang="en-US" sz="1200" dirty="0">
                <a:solidFill>
                  <a:srgbClr val="FF0000"/>
                </a:solidFill>
              </a:rPr>
              <a:t> &amp; 0xFF;</a:t>
            </a:r>
          </a:p>
          <a:p>
            <a:pPr>
              <a:lnSpc>
                <a:spcPct val="150000"/>
              </a:lnSpc>
            </a:pPr>
            <a:r>
              <a:rPr lang="en-US" sz="1200" dirty="0">
                <a:solidFill>
                  <a:srgbClr val="FF0000"/>
                </a:solidFill>
              </a:rPr>
              <a:t>  frame[7] = </a:t>
            </a:r>
            <a:r>
              <a:rPr lang="en-US" sz="1200" dirty="0" err="1">
                <a:solidFill>
                  <a:srgbClr val="FF0000"/>
                </a:solidFill>
              </a:rPr>
              <a:t>crc</a:t>
            </a:r>
            <a:r>
              <a:rPr lang="en-US" sz="1200" dirty="0">
                <a:solidFill>
                  <a:srgbClr val="FF0000"/>
                </a:solidFill>
              </a:rPr>
              <a:t> &gt;&gt; 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("TX: ");</a:t>
            </a:r>
          </a:p>
          <a:p>
            <a:pPr>
              <a:lnSpc>
                <a:spcPct val="150000"/>
              </a:lnSpc>
            </a:pPr>
            <a:r>
              <a:rPr lang="en-US" sz="1200" dirty="0">
                <a:solidFill>
                  <a:srgbClr val="FF0000"/>
                </a:solidFill>
              </a:rPr>
              <a:t>  </a:t>
            </a:r>
            <a:r>
              <a:rPr lang="en-US" sz="1200" dirty="0" err="1">
                <a:solidFill>
                  <a:srgbClr val="FF0000"/>
                </a:solidFill>
              </a:rPr>
              <a:t>printFrame</a:t>
            </a:r>
            <a:r>
              <a:rPr lang="en-US" sz="1200" dirty="0">
                <a:solidFill>
                  <a:srgbClr val="FF0000"/>
                </a:solidFill>
              </a:rPr>
              <a:t>(frame,8);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modbus.write</a:t>
            </a:r>
            <a:r>
              <a:rPr lang="en-US" sz="1200" dirty="0">
                <a:solidFill>
                  <a:srgbClr val="FF0000"/>
                </a:solidFill>
              </a:rPr>
              <a:t>(frame,8);</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a:t>
            </a:r>
            <a:r>
              <a:rPr lang="en-US" sz="1200" dirty="0" err="1">
                <a:solidFill>
                  <a:srgbClr val="FF0000"/>
                </a:solidFill>
              </a:rPr>
              <a:t>readResponse</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  if(</a:t>
            </a:r>
            <a:r>
              <a:rPr lang="en-US" sz="1200" dirty="0" err="1">
                <a:solidFill>
                  <a:srgbClr val="FF0000"/>
                </a:solidFill>
              </a:rPr>
              <a:t>modbus.available</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uint8_t resp[16];</a:t>
            </a:r>
          </a:p>
          <a:p>
            <a:pPr>
              <a:lnSpc>
                <a:spcPct val="150000"/>
              </a:lnSpc>
            </a:pPr>
            <a:r>
              <a:rPr lang="en-US" sz="1200" dirty="0">
                <a:solidFill>
                  <a:srgbClr val="FF0000"/>
                </a:solidFill>
              </a:rPr>
              <a:t>    int </a:t>
            </a:r>
            <a:r>
              <a:rPr lang="en-US" sz="1200" dirty="0" err="1">
                <a:solidFill>
                  <a:srgbClr val="FF0000"/>
                </a:solidFill>
              </a:rPr>
              <a:t>i</a:t>
            </a:r>
            <a:r>
              <a:rPr lang="en-US" sz="1200" dirty="0">
                <a:solidFill>
                  <a:srgbClr val="FF0000"/>
                </a:solidFill>
              </a:rPr>
              <a:t>=0;</a:t>
            </a:r>
          </a:p>
          <a:p>
            <a:pPr>
              <a:lnSpc>
                <a:spcPct val="150000"/>
              </a:lnSpc>
            </a:pPr>
            <a:endParaRPr lang="en-US" sz="1200" dirty="0">
              <a:solidFill>
                <a:srgbClr val="FF0000"/>
              </a:solidFill>
            </a:endParaRPr>
          </a:p>
          <a:p>
            <a:pPr>
              <a:lnSpc>
                <a:spcPct val="150000"/>
              </a:lnSpc>
            </a:pPr>
            <a:r>
              <a:rPr lang="en-US" sz="1200" dirty="0">
                <a:solidFill>
                  <a:srgbClr val="FF0000"/>
                </a:solidFill>
              </a:rPr>
              <a:t>    delay(50);</a:t>
            </a:r>
          </a:p>
          <a:p>
            <a:pPr>
              <a:lnSpc>
                <a:spcPct val="150000"/>
              </a:lnSpc>
            </a:pPr>
            <a:endParaRPr lang="en-US" sz="1200" dirty="0">
              <a:solidFill>
                <a:srgbClr val="FF0000"/>
              </a:solidFill>
            </a:endParaRPr>
          </a:p>
          <a:p>
            <a:pPr>
              <a:lnSpc>
                <a:spcPct val="150000"/>
              </a:lnSpc>
            </a:pPr>
            <a:r>
              <a:rPr lang="en-US" sz="1200" dirty="0">
                <a:solidFill>
                  <a:srgbClr val="FF0000"/>
                </a:solidFill>
              </a:rPr>
              <a:t>    while(</a:t>
            </a:r>
            <a:r>
              <a:rPr lang="en-US" sz="1200" dirty="0" err="1">
                <a:solidFill>
                  <a:srgbClr val="FF0000"/>
                </a:solidFill>
              </a:rPr>
              <a:t>modbus.available</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resp[</a:t>
            </a:r>
            <a:r>
              <a:rPr lang="en-US" sz="1200" dirty="0" err="1">
                <a:solidFill>
                  <a:srgbClr val="FF0000"/>
                </a:solidFill>
              </a:rPr>
              <a:t>i</a:t>
            </a:r>
            <a:r>
              <a:rPr lang="en-US" sz="1200" dirty="0">
                <a:solidFill>
                  <a:srgbClr val="FF0000"/>
                </a:solidFill>
              </a:rPr>
              <a:t>++] = </a:t>
            </a:r>
            <a:r>
              <a:rPr lang="en-US" sz="1200" dirty="0" err="1">
                <a:solidFill>
                  <a:srgbClr val="FF0000"/>
                </a:solidFill>
              </a:rPr>
              <a:t>modbus.read</a:t>
            </a:r>
            <a:r>
              <a:rPr lang="en-US" sz="1200" dirty="0">
                <a:solidFill>
                  <a:srgbClr val="FF0000"/>
                </a:solidFill>
              </a:rPr>
              <a:t>();</a:t>
            </a:r>
          </a:p>
          <a:p>
            <a:pPr>
              <a:lnSpc>
                <a:spcPct val="150000"/>
              </a:lnSpc>
            </a:pPr>
            <a:r>
              <a:rPr lang="en-US" sz="1200" dirty="0">
                <a:solidFill>
                  <a:srgbClr val="FF0000"/>
                </a:solidFill>
              </a:rPr>
              <a:t>    }</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("RX: ");</a:t>
            </a:r>
          </a:p>
          <a:p>
            <a:pPr>
              <a:lnSpc>
                <a:spcPct val="150000"/>
              </a:lnSpc>
            </a:pPr>
            <a:r>
              <a:rPr lang="en-US" sz="1200" dirty="0">
                <a:solidFill>
                  <a:srgbClr val="FF0000"/>
                </a:solidFill>
              </a:rPr>
              <a:t>    </a:t>
            </a:r>
            <a:r>
              <a:rPr lang="en-US" sz="1200" dirty="0" err="1">
                <a:solidFill>
                  <a:srgbClr val="FF0000"/>
                </a:solidFill>
              </a:rPr>
              <a:t>printFrame</a:t>
            </a:r>
            <a:r>
              <a:rPr lang="en-US" sz="1200" dirty="0">
                <a:solidFill>
                  <a:srgbClr val="FF0000"/>
                </a:solidFill>
              </a:rPr>
              <a:t>(</a:t>
            </a:r>
            <a:r>
              <a:rPr lang="en-US" sz="1200" dirty="0" err="1">
                <a:solidFill>
                  <a:srgbClr val="FF0000"/>
                </a:solidFill>
              </a:rPr>
              <a:t>resp,i</a:t>
            </a: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    if(</a:t>
            </a:r>
            <a:r>
              <a:rPr lang="en-US" sz="1200" dirty="0" err="1">
                <a:solidFill>
                  <a:srgbClr val="FF0000"/>
                </a:solidFill>
              </a:rPr>
              <a:t>i</a:t>
            </a:r>
            <a:r>
              <a:rPr lang="en-US" sz="1200" dirty="0">
                <a:solidFill>
                  <a:srgbClr val="FF0000"/>
                </a:solidFill>
              </a:rPr>
              <a:t>&gt;=5)</a:t>
            </a:r>
          </a:p>
          <a:p>
            <a:pPr>
              <a:lnSpc>
                <a:spcPct val="150000"/>
              </a:lnSpc>
            </a:pPr>
            <a:r>
              <a:rPr lang="en-US" sz="1200" dirty="0">
                <a:solidFill>
                  <a:srgbClr val="FF0000"/>
                </a:solidFill>
              </a:rPr>
              <a:t>    {</a:t>
            </a:r>
          </a:p>
          <a:p>
            <a:pPr>
              <a:lnSpc>
                <a:spcPct val="150000"/>
              </a:lnSpc>
            </a:pPr>
            <a:r>
              <a:rPr lang="en-US" sz="1200" dirty="0">
                <a:solidFill>
                  <a:srgbClr val="FF0000"/>
                </a:solidFill>
              </a:rPr>
              <a:t>      uint16_t temp = (resp[3]&lt;&lt;8) | resp[4];</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("Dien ap = ");</a:t>
            </a:r>
          </a:p>
          <a:p>
            <a:pPr>
              <a:lnSpc>
                <a:spcPct val="150000"/>
              </a:lnSpc>
            </a:pPr>
            <a:r>
              <a:rPr lang="en-US" sz="1200" dirty="0">
                <a:solidFill>
                  <a:srgbClr val="FF0000"/>
                </a:solidFill>
              </a:rPr>
              <a:t>      </a:t>
            </a:r>
            <a:r>
              <a:rPr lang="en-US" sz="1200" dirty="0" err="1">
                <a:solidFill>
                  <a:srgbClr val="FF0000"/>
                </a:solidFill>
              </a:rPr>
              <a:t>Serial.print</a:t>
            </a:r>
            <a:r>
              <a:rPr lang="en-US" sz="1200" dirty="0">
                <a:solidFill>
                  <a:srgbClr val="FF0000"/>
                </a:solidFill>
              </a:rPr>
              <a:t>(temp);</a:t>
            </a: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 mV");</a:t>
            </a:r>
          </a:p>
          <a:p>
            <a:pPr>
              <a:lnSpc>
                <a:spcPct val="150000"/>
              </a:lnSpc>
            </a:pPr>
            <a:r>
              <a:rPr lang="en-US" sz="1200" dirty="0">
                <a:solidFill>
                  <a:srgbClr val="FF0000"/>
                </a:solidFill>
              </a:rPr>
              <a:t>    }</a:t>
            </a:r>
          </a:p>
          <a:p>
            <a:pPr>
              <a:lnSpc>
                <a:spcPct val="150000"/>
              </a:lnSpc>
            </a:pPr>
            <a:r>
              <a:rPr lang="en-US" sz="1200" dirty="0">
                <a:solidFill>
                  <a:srgbClr val="FF0000"/>
                </a:solidFill>
              </a:rPr>
              <a:t>  }</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setup()</a:t>
            </a:r>
          </a:p>
          <a:p>
            <a:pPr>
              <a:lnSpc>
                <a:spcPct val="150000"/>
              </a:lnSpc>
            </a:pPr>
            <a:r>
              <a:rPr lang="en-US" sz="1200" dirty="0">
                <a:solidFill>
                  <a:srgbClr val="FF0000"/>
                </a:solidFill>
              </a:rPr>
              <a:t>{</a:t>
            </a:r>
          </a:p>
          <a:p>
            <a:pPr>
              <a:lnSpc>
                <a:spcPct val="150000"/>
              </a:lnSpc>
            </a:pPr>
            <a:r>
              <a:rPr lang="en-US" sz="1200" dirty="0">
                <a:solidFill>
                  <a:srgbClr val="FF0000"/>
                </a:solidFill>
              </a:rPr>
              <a:t>  </a:t>
            </a:r>
            <a:r>
              <a:rPr lang="en-US" sz="1200" dirty="0" err="1">
                <a:solidFill>
                  <a:srgbClr val="FF0000"/>
                </a:solidFill>
              </a:rPr>
              <a:t>Serial.begin</a:t>
            </a:r>
            <a:r>
              <a:rPr lang="en-US" sz="1200" dirty="0">
                <a:solidFill>
                  <a:srgbClr val="FF0000"/>
                </a:solidFill>
              </a:rPr>
              <a:t>(115200);</a:t>
            </a:r>
          </a:p>
          <a:p>
            <a:pPr>
              <a:lnSpc>
                <a:spcPct val="150000"/>
              </a:lnSpc>
            </a:pPr>
            <a:r>
              <a:rPr lang="en-US" sz="1200" dirty="0">
                <a:solidFill>
                  <a:srgbClr val="FF0000"/>
                </a:solidFill>
              </a:rPr>
              <a:t>  </a:t>
            </a:r>
            <a:r>
              <a:rPr lang="en-US" sz="1200" dirty="0" err="1">
                <a:solidFill>
                  <a:srgbClr val="FF0000"/>
                </a:solidFill>
              </a:rPr>
              <a:t>modbus.begin</a:t>
            </a:r>
            <a:r>
              <a:rPr lang="en-US" sz="1200" dirty="0">
                <a:solidFill>
                  <a:srgbClr val="FF0000"/>
                </a:solidFill>
              </a:rPr>
              <a:t>(4800);</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("Modbus Master Start");</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loop()</a:t>
            </a:r>
          </a:p>
          <a:p>
            <a:pPr>
              <a:lnSpc>
                <a:spcPct val="150000"/>
              </a:lnSpc>
            </a:pPr>
            <a:r>
              <a:rPr lang="en-US" sz="1200" dirty="0">
                <a:solidFill>
                  <a:srgbClr val="FF0000"/>
                </a:solidFill>
              </a:rPr>
              <a:t>{</a:t>
            </a:r>
          </a:p>
          <a:p>
            <a:pPr>
              <a:lnSpc>
                <a:spcPct val="150000"/>
              </a:lnSpc>
            </a:pPr>
            <a:r>
              <a:rPr lang="en-US" sz="1200" dirty="0">
                <a:solidFill>
                  <a:srgbClr val="FF0000"/>
                </a:solidFill>
              </a:rPr>
              <a:t>  </a:t>
            </a:r>
            <a:r>
              <a:rPr lang="en-US" sz="1200" dirty="0" err="1">
                <a:solidFill>
                  <a:srgbClr val="FF0000"/>
                </a:solidFill>
              </a:rPr>
              <a:t>sendQuery</a:t>
            </a: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  delay(200);</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readResponse</a:t>
            </a: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  delay(2000);</a:t>
            </a:r>
          </a:p>
          <a:p>
            <a:pPr>
              <a:lnSpc>
                <a:spcPct val="150000"/>
              </a:lnSpc>
            </a:pPr>
            <a:r>
              <a:rPr lang="en-US" sz="1200" dirty="0">
                <a:solidFill>
                  <a:srgbClr val="FF0000"/>
                </a:solidFill>
              </a:rPr>
              <a:t>}</a:t>
            </a: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20B1566B-1717-05A8-810C-00EFB99AAEC3}"/>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86</a:t>
            </a:fld>
            <a:endParaRPr/>
          </a:p>
        </p:txBody>
      </p:sp>
    </p:spTree>
    <p:extLst>
      <p:ext uri="{BB962C8B-B14F-4D97-AF65-F5344CB8AC3E}">
        <p14:creationId xmlns:p14="http://schemas.microsoft.com/office/powerpoint/2010/main" val="110157724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45879217-7035-4321-AF9D-114FB351248D}"/>
            </a:ext>
          </a:extLst>
        </p:cNvPr>
        <p:cNvGrpSpPr/>
        <p:nvPr/>
      </p:nvGrpSpPr>
      <p:grpSpPr>
        <a:xfrm>
          <a:off x="0" y="0"/>
          <a:ext cx="0" cy="0"/>
          <a:chOff x="0" y="0"/>
          <a:chExt cx="0" cy="0"/>
        </a:xfrm>
      </p:grpSpPr>
      <p:sp>
        <p:nvSpPr>
          <p:cNvPr id="180" name="Google Shape;180;p5:notes">
            <a:extLst>
              <a:ext uri="{FF2B5EF4-FFF2-40B4-BE49-F238E27FC236}">
                <a16:creationId xmlns:a16="http://schemas.microsoft.com/office/drawing/2014/main" id="{9AC89BED-1CD2-8AB5-D2FD-6D21469FE8E6}"/>
              </a:ext>
            </a:extLst>
          </p:cNvPr>
          <p:cNvSpPr>
            <a:spLocks noGrp="1" noRot="1" noChangeAspect="1"/>
          </p:cNvSpPr>
          <p:nvPr>
            <p:ph type="sldImg" idx="2"/>
          </p:nvPr>
        </p:nvSpPr>
        <p:spPr>
          <a:xfrm>
            <a:off x="490538" y="703263"/>
            <a:ext cx="6129337" cy="4244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a:extLst>
              <a:ext uri="{FF2B5EF4-FFF2-40B4-BE49-F238E27FC236}">
                <a16:creationId xmlns:a16="http://schemas.microsoft.com/office/drawing/2014/main" id="{91E8CBE7-C019-2B56-1D48-623AAE028F1A}"/>
              </a:ext>
            </a:extLst>
          </p:cNvPr>
          <p:cNvSpPr txBox="1">
            <a:spLocks noGrp="1"/>
          </p:cNvSpPr>
          <p:nvPr>
            <p:ph type="body" idx="1"/>
          </p:nvPr>
        </p:nvSpPr>
        <p:spPr>
          <a:xfrm>
            <a:off x="710407" y="5287169"/>
            <a:ext cx="5683250" cy="3668117"/>
          </a:xfrm>
          <a:prstGeom prst="rect">
            <a:avLst/>
          </a:prstGeom>
          <a:noFill/>
          <a:ln>
            <a:noFill/>
          </a:ln>
        </p:spPr>
        <p:txBody>
          <a:bodyPr spcFirstLastPara="1" wrap="square" lIns="99075" tIns="49525" rIns="99075" bIns="49525" anchor="t" anchorCtr="0">
            <a:noAutofit/>
          </a:bodyPr>
          <a:lstStyle/>
          <a:p>
            <a:pPr>
              <a:lnSpc>
                <a:spcPct val="150000"/>
              </a:lnSpc>
            </a:pPr>
            <a:r>
              <a:rPr lang="en-US" b="1" dirty="0"/>
              <a:t>Code slave</a:t>
            </a:r>
          </a:p>
          <a:p>
            <a:pPr>
              <a:lnSpc>
                <a:spcPct val="150000"/>
              </a:lnSpc>
            </a:pPr>
            <a:r>
              <a:rPr lang="en-US" sz="1200" dirty="0">
                <a:solidFill>
                  <a:srgbClr val="FF0000"/>
                </a:solidFill>
              </a:rPr>
              <a:t>#include &lt;</a:t>
            </a:r>
            <a:r>
              <a:rPr lang="en-US" sz="1200" dirty="0" err="1">
                <a:solidFill>
                  <a:srgbClr val="FF0000"/>
                </a:solidFill>
              </a:rPr>
              <a:t>SoftwareSerial.h</a:t>
            </a:r>
            <a:r>
              <a:rPr lang="en-US" sz="1200" dirty="0">
                <a:solidFill>
                  <a:srgbClr val="FF0000"/>
                </a:solidFill>
              </a:rPr>
              <a:t>&gt;</a:t>
            </a:r>
          </a:p>
          <a:p>
            <a:pPr>
              <a:lnSpc>
                <a:spcPct val="150000"/>
              </a:lnSpc>
            </a:pPr>
            <a:endParaRPr lang="en-US" sz="1200" dirty="0">
              <a:solidFill>
                <a:srgbClr val="FF0000"/>
              </a:solidFill>
            </a:endParaRPr>
          </a:p>
          <a:p>
            <a:pPr>
              <a:lnSpc>
                <a:spcPct val="150000"/>
              </a:lnSpc>
            </a:pPr>
            <a:r>
              <a:rPr lang="en-US" sz="1200" dirty="0" err="1">
                <a:solidFill>
                  <a:srgbClr val="FF0000"/>
                </a:solidFill>
              </a:rPr>
              <a:t>SoftwareSerial</a:t>
            </a:r>
            <a:r>
              <a:rPr lang="en-US" sz="1200" dirty="0">
                <a:solidFill>
                  <a:srgbClr val="FF0000"/>
                </a:solidFill>
              </a:rPr>
              <a:t> </a:t>
            </a:r>
            <a:r>
              <a:rPr lang="en-US" sz="1200" dirty="0" err="1">
                <a:solidFill>
                  <a:srgbClr val="FF0000"/>
                </a:solidFill>
              </a:rPr>
              <a:t>modbus</a:t>
            </a:r>
            <a:r>
              <a:rPr lang="en-US" sz="1200" dirty="0">
                <a:solidFill>
                  <a:srgbClr val="FF0000"/>
                </a:solidFill>
              </a:rPr>
              <a:t>(10,11);   // RX,TX</a:t>
            </a:r>
          </a:p>
          <a:p>
            <a:pPr>
              <a:lnSpc>
                <a:spcPct val="150000"/>
              </a:lnSpc>
            </a:pPr>
            <a:endParaRPr lang="en-US" sz="1200" dirty="0">
              <a:solidFill>
                <a:srgbClr val="FF0000"/>
              </a:solidFill>
            </a:endParaRPr>
          </a:p>
          <a:p>
            <a:pPr>
              <a:lnSpc>
                <a:spcPct val="150000"/>
              </a:lnSpc>
            </a:pPr>
            <a:r>
              <a:rPr lang="en-US" sz="1200" dirty="0">
                <a:solidFill>
                  <a:srgbClr val="FF0000"/>
                </a:solidFill>
              </a:rPr>
              <a:t>#define SLAVE_ID 1</a:t>
            </a:r>
          </a:p>
          <a:p>
            <a:pPr>
              <a:lnSpc>
                <a:spcPct val="150000"/>
              </a:lnSpc>
            </a:pPr>
            <a:r>
              <a:rPr lang="en-US" sz="1200" dirty="0">
                <a:solidFill>
                  <a:srgbClr val="FF0000"/>
                </a:solidFill>
              </a:rPr>
              <a:t>#define TEMP_PIN A0</a:t>
            </a:r>
          </a:p>
          <a:p>
            <a:pPr>
              <a:lnSpc>
                <a:spcPct val="150000"/>
              </a:lnSpc>
            </a:pPr>
            <a:endParaRPr lang="en-US" sz="1200" dirty="0">
              <a:solidFill>
                <a:srgbClr val="FF0000"/>
              </a:solidFill>
            </a:endParaRPr>
          </a:p>
          <a:p>
            <a:pPr>
              <a:lnSpc>
                <a:spcPct val="150000"/>
              </a:lnSpc>
            </a:pPr>
            <a:r>
              <a:rPr lang="en-US" sz="1200" dirty="0">
                <a:solidFill>
                  <a:srgbClr val="FF0000"/>
                </a:solidFill>
              </a:rPr>
              <a:t>uint16_t holding[1];</a:t>
            </a:r>
          </a:p>
          <a:p>
            <a:pPr>
              <a:lnSpc>
                <a:spcPct val="150000"/>
              </a:lnSpc>
            </a:pPr>
            <a:endParaRPr lang="en-US" sz="1200" dirty="0">
              <a:solidFill>
                <a:srgbClr val="FF0000"/>
              </a:solidFill>
            </a:endParaRPr>
          </a:p>
          <a:p>
            <a:pPr>
              <a:lnSpc>
                <a:spcPct val="150000"/>
              </a:lnSpc>
            </a:pPr>
            <a:r>
              <a:rPr lang="en-US" sz="1200" dirty="0">
                <a:solidFill>
                  <a:srgbClr val="FF0000"/>
                </a:solidFill>
              </a:rPr>
              <a:t>uint16_t crc16(uint8_t *</a:t>
            </a:r>
            <a:r>
              <a:rPr lang="en-US" sz="1200" dirty="0" err="1">
                <a:solidFill>
                  <a:srgbClr val="FF0000"/>
                </a:solidFill>
              </a:rPr>
              <a:t>buf,int</a:t>
            </a:r>
            <a:r>
              <a:rPr lang="en-US" sz="1200" dirty="0">
                <a:solidFill>
                  <a:srgbClr val="FF0000"/>
                </a:solidFill>
              </a:rPr>
              <a:t> </a:t>
            </a:r>
            <a:r>
              <a:rPr lang="en-US" sz="1200" dirty="0" err="1">
                <a:solidFill>
                  <a:srgbClr val="FF0000"/>
                </a:solidFill>
              </a:rPr>
              <a:t>len</a:t>
            </a:r>
            <a:r>
              <a:rPr lang="en-US" sz="1200" dirty="0">
                <a:solidFill>
                  <a:srgbClr val="FF0000"/>
                </a:solidFill>
              </a:rPr>
              <a:t>)</a:t>
            </a:r>
          </a:p>
          <a:p>
            <a:pPr>
              <a:lnSpc>
                <a:spcPct val="150000"/>
              </a:lnSpc>
            </a:pPr>
            <a:r>
              <a:rPr lang="en-US" sz="1200" dirty="0">
                <a:solidFill>
                  <a:srgbClr val="FF0000"/>
                </a:solidFill>
              </a:rPr>
              <a:t>{</a:t>
            </a:r>
          </a:p>
          <a:p>
            <a:pPr>
              <a:lnSpc>
                <a:spcPct val="150000"/>
              </a:lnSpc>
            </a:pPr>
            <a:r>
              <a:rPr lang="en-US" sz="1200" dirty="0">
                <a:solidFill>
                  <a:srgbClr val="FF0000"/>
                </a:solidFill>
              </a:rPr>
              <a:t>  uint16_t </a:t>
            </a:r>
            <a:r>
              <a:rPr lang="en-US" sz="1200" dirty="0" err="1">
                <a:solidFill>
                  <a:srgbClr val="FF0000"/>
                </a:solidFill>
              </a:rPr>
              <a:t>crc</a:t>
            </a:r>
            <a:r>
              <a:rPr lang="en-US" sz="1200" dirty="0">
                <a:solidFill>
                  <a:srgbClr val="FF0000"/>
                </a:solidFill>
              </a:rPr>
              <a:t>=0xFFFF;</a:t>
            </a:r>
          </a:p>
          <a:p>
            <a:pPr>
              <a:lnSpc>
                <a:spcPct val="150000"/>
              </a:lnSpc>
            </a:pPr>
            <a:endParaRPr lang="en-US" sz="1200" dirty="0">
              <a:solidFill>
                <a:srgbClr val="FF0000"/>
              </a:solidFill>
            </a:endParaRPr>
          </a:p>
          <a:p>
            <a:pPr>
              <a:lnSpc>
                <a:spcPct val="150000"/>
              </a:lnSpc>
            </a:pPr>
            <a:r>
              <a:rPr lang="en-US" sz="1200" dirty="0">
                <a:solidFill>
                  <a:srgbClr val="FF0000"/>
                </a:solidFill>
              </a:rPr>
              <a:t>  for(int pos=0;pos&lt;</a:t>
            </a:r>
            <a:r>
              <a:rPr lang="en-US" sz="1200" dirty="0" err="1">
                <a:solidFill>
                  <a:srgbClr val="FF0000"/>
                </a:solidFill>
              </a:rPr>
              <a:t>len;pos</a:t>
            </a:r>
            <a:r>
              <a:rPr lang="en-US" sz="1200" dirty="0">
                <a:solidFill>
                  <a:srgbClr val="FF0000"/>
                </a:solidFill>
              </a:rPr>
              <a:t>++)</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 ^= </a:t>
            </a:r>
            <a:r>
              <a:rPr lang="en-US" sz="1200" dirty="0" err="1">
                <a:solidFill>
                  <a:srgbClr val="FF0000"/>
                </a:solidFill>
              </a:rPr>
              <a:t>buf</a:t>
            </a:r>
            <a:r>
              <a:rPr lang="en-US" sz="1200" dirty="0">
                <a:solidFill>
                  <a:srgbClr val="FF0000"/>
                </a:solidFill>
              </a:rPr>
              <a:t>[pos];</a:t>
            </a:r>
          </a:p>
          <a:p>
            <a:pPr>
              <a:lnSpc>
                <a:spcPct val="150000"/>
              </a:lnSpc>
            </a:pPr>
            <a:endParaRPr lang="en-US" sz="1200" dirty="0">
              <a:solidFill>
                <a:srgbClr val="FF0000"/>
              </a:solidFill>
            </a:endParaRPr>
          </a:p>
          <a:p>
            <a:pPr>
              <a:lnSpc>
                <a:spcPct val="150000"/>
              </a:lnSpc>
            </a:pPr>
            <a:r>
              <a:rPr lang="en-US" sz="1200" dirty="0">
                <a:solidFill>
                  <a:srgbClr val="FF0000"/>
                </a:solidFill>
              </a:rPr>
              <a:t>    for(int </a:t>
            </a:r>
            <a:r>
              <a:rPr lang="en-US" sz="1200" dirty="0" err="1">
                <a:solidFill>
                  <a:srgbClr val="FF0000"/>
                </a:solidFill>
              </a:rPr>
              <a:t>i</a:t>
            </a:r>
            <a:r>
              <a:rPr lang="en-US" sz="1200" dirty="0">
                <a:solidFill>
                  <a:srgbClr val="FF0000"/>
                </a:solidFill>
              </a:rPr>
              <a:t>=0;i&lt;8;i++)</a:t>
            </a:r>
          </a:p>
          <a:p>
            <a:pPr>
              <a:lnSpc>
                <a:spcPct val="150000"/>
              </a:lnSpc>
            </a:pPr>
            <a:r>
              <a:rPr lang="en-US" sz="1200" dirty="0">
                <a:solidFill>
                  <a:srgbClr val="FF0000"/>
                </a:solidFill>
              </a:rPr>
              <a:t>    {</a:t>
            </a:r>
          </a:p>
          <a:p>
            <a:pPr>
              <a:lnSpc>
                <a:spcPct val="150000"/>
              </a:lnSpc>
            </a:pPr>
            <a:r>
              <a:rPr lang="en-US" sz="1200" dirty="0">
                <a:solidFill>
                  <a:srgbClr val="FF0000"/>
                </a:solidFill>
              </a:rPr>
              <a:t>      if(</a:t>
            </a:r>
            <a:r>
              <a:rPr lang="en-US" sz="1200" dirty="0" err="1">
                <a:solidFill>
                  <a:srgbClr val="FF0000"/>
                </a:solidFill>
              </a:rPr>
              <a:t>crc</a:t>
            </a:r>
            <a:r>
              <a:rPr lang="en-US" sz="1200" dirty="0">
                <a:solidFill>
                  <a:srgbClr val="FF0000"/>
                </a:solidFill>
              </a:rPr>
              <a:t> &amp; 1)</a:t>
            </a:r>
          </a:p>
          <a:p>
            <a:pPr>
              <a:lnSpc>
                <a:spcPct val="150000"/>
              </a:lnSpc>
            </a:pPr>
            <a:r>
              <a:rPr lang="en-US" sz="1200" dirty="0">
                <a:solidFill>
                  <a:srgbClr val="FF0000"/>
                </a:solidFill>
              </a:rPr>
              <a:t>      {</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 &gt;&gt;= 1;</a:t>
            </a:r>
          </a:p>
          <a:p>
            <a:pPr>
              <a:lnSpc>
                <a:spcPct val="150000"/>
              </a:lnSpc>
            </a:pPr>
            <a:r>
              <a:rPr lang="en-US" sz="1200" dirty="0">
                <a:solidFill>
                  <a:srgbClr val="FF0000"/>
                </a:solidFill>
              </a:rPr>
              <a:t>        </a:t>
            </a:r>
            <a:r>
              <a:rPr lang="en-US" sz="1200" dirty="0" err="1">
                <a:solidFill>
                  <a:srgbClr val="FF0000"/>
                </a:solidFill>
              </a:rPr>
              <a:t>crc</a:t>
            </a:r>
            <a:r>
              <a:rPr lang="en-US" sz="1200" dirty="0">
                <a:solidFill>
                  <a:srgbClr val="FF0000"/>
                </a:solidFill>
              </a:rPr>
              <a:t> ^= 0xA001;</a:t>
            </a:r>
          </a:p>
          <a:p>
            <a:pPr>
              <a:lnSpc>
                <a:spcPct val="150000"/>
              </a:lnSpc>
            </a:pPr>
            <a:r>
              <a:rPr lang="en-US" sz="1200" dirty="0">
                <a:solidFill>
                  <a:srgbClr val="FF0000"/>
                </a:solidFill>
              </a:rPr>
              <a:t>      }</a:t>
            </a:r>
          </a:p>
          <a:p>
            <a:pPr>
              <a:lnSpc>
                <a:spcPct val="150000"/>
              </a:lnSpc>
            </a:pPr>
            <a:r>
              <a:rPr lang="en-US" sz="1200" dirty="0">
                <a:solidFill>
                  <a:srgbClr val="FF0000"/>
                </a:solidFill>
              </a:rPr>
              <a:t>      else </a:t>
            </a:r>
            <a:r>
              <a:rPr lang="en-US" sz="1200" dirty="0" err="1">
                <a:solidFill>
                  <a:srgbClr val="FF0000"/>
                </a:solidFill>
              </a:rPr>
              <a:t>crc</a:t>
            </a:r>
            <a:r>
              <a:rPr lang="en-US" sz="1200" dirty="0">
                <a:solidFill>
                  <a:srgbClr val="FF0000"/>
                </a:solidFill>
              </a:rPr>
              <a:t> &gt;&gt;= 1;</a:t>
            </a:r>
          </a:p>
          <a:p>
            <a:pPr>
              <a:lnSpc>
                <a:spcPct val="150000"/>
              </a:lnSpc>
            </a:pPr>
            <a:r>
              <a:rPr lang="en-US" sz="1200" dirty="0">
                <a:solidFill>
                  <a:srgbClr val="FF0000"/>
                </a:solidFill>
              </a:rPr>
              <a:t>    }</a:t>
            </a:r>
          </a:p>
          <a:p>
            <a:pPr>
              <a:lnSpc>
                <a:spcPct val="150000"/>
              </a:lnSpc>
            </a:pPr>
            <a:r>
              <a:rPr lang="en-US" sz="1200" dirty="0">
                <a:solidFill>
                  <a:srgbClr val="FF0000"/>
                </a:solidFill>
              </a:rPr>
              <a:t>  }</a:t>
            </a:r>
          </a:p>
          <a:p>
            <a:pPr>
              <a:lnSpc>
                <a:spcPct val="150000"/>
              </a:lnSpc>
            </a:pPr>
            <a:r>
              <a:rPr lang="en-US" sz="1200" dirty="0">
                <a:solidFill>
                  <a:srgbClr val="FF0000"/>
                </a:solidFill>
              </a:rPr>
              <a:t>  return </a:t>
            </a:r>
            <a:r>
              <a:rPr lang="en-US" sz="1200" dirty="0" err="1">
                <a:solidFill>
                  <a:srgbClr val="FF0000"/>
                </a:solidFill>
              </a:rPr>
              <a:t>crc</a:t>
            </a:r>
            <a:r>
              <a:rPr lang="en-US" sz="1200" dirty="0">
                <a:solidFill>
                  <a:srgbClr val="FF0000"/>
                </a:solidFill>
              </a:rPr>
              <a:t>;</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setup()</a:t>
            </a:r>
          </a:p>
          <a:p>
            <a:pPr>
              <a:lnSpc>
                <a:spcPct val="150000"/>
              </a:lnSpc>
            </a:pPr>
            <a:r>
              <a:rPr lang="en-US" sz="1200" dirty="0">
                <a:solidFill>
                  <a:srgbClr val="FF0000"/>
                </a:solidFill>
              </a:rPr>
              <a:t>{</a:t>
            </a:r>
          </a:p>
          <a:p>
            <a:pPr>
              <a:lnSpc>
                <a:spcPct val="150000"/>
              </a:lnSpc>
            </a:pPr>
            <a:r>
              <a:rPr lang="en-US" sz="1200" dirty="0">
                <a:solidFill>
                  <a:srgbClr val="FF0000"/>
                </a:solidFill>
              </a:rPr>
              <a:t>  </a:t>
            </a:r>
            <a:r>
              <a:rPr lang="en-US" sz="1200" dirty="0" err="1">
                <a:solidFill>
                  <a:srgbClr val="FF0000"/>
                </a:solidFill>
              </a:rPr>
              <a:t>Serial.begin</a:t>
            </a:r>
            <a:r>
              <a:rPr lang="en-US" sz="1200" dirty="0">
                <a:solidFill>
                  <a:srgbClr val="FF0000"/>
                </a:solidFill>
              </a:rPr>
              <a:t>(115200);</a:t>
            </a:r>
          </a:p>
          <a:p>
            <a:pPr>
              <a:lnSpc>
                <a:spcPct val="150000"/>
              </a:lnSpc>
            </a:pPr>
            <a:r>
              <a:rPr lang="en-US" sz="1200" dirty="0">
                <a:solidFill>
                  <a:srgbClr val="FF0000"/>
                </a:solidFill>
              </a:rPr>
              <a:t>  </a:t>
            </a:r>
            <a:r>
              <a:rPr lang="en-US" sz="1200" dirty="0" err="1">
                <a:solidFill>
                  <a:srgbClr val="FF0000"/>
                </a:solidFill>
              </a:rPr>
              <a:t>modbus.begin</a:t>
            </a:r>
            <a:r>
              <a:rPr lang="en-US" sz="1200" dirty="0">
                <a:solidFill>
                  <a:srgbClr val="FF0000"/>
                </a:solidFill>
              </a:rPr>
              <a:t>(4800);</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Serial.println</a:t>
            </a:r>
            <a:r>
              <a:rPr lang="en-US" sz="1200" dirty="0">
                <a:solidFill>
                  <a:srgbClr val="FF0000"/>
                </a:solidFill>
              </a:rPr>
              <a:t>("Slave 1 started");</a:t>
            </a:r>
          </a:p>
          <a:p>
            <a:pPr>
              <a:lnSpc>
                <a:spcPct val="150000"/>
              </a:lnSpc>
            </a:pPr>
            <a:r>
              <a:rPr lang="en-US" sz="1200" dirty="0">
                <a:solidFill>
                  <a:srgbClr val="FF0000"/>
                </a:solidFill>
              </a:rPr>
              <a:t>}</a:t>
            </a:r>
          </a:p>
          <a:p>
            <a:pPr>
              <a:lnSpc>
                <a:spcPct val="150000"/>
              </a:lnSpc>
            </a:pPr>
            <a:endParaRPr lang="en-US" sz="1200" dirty="0">
              <a:solidFill>
                <a:srgbClr val="FF0000"/>
              </a:solidFill>
            </a:endParaRPr>
          </a:p>
          <a:p>
            <a:pPr>
              <a:lnSpc>
                <a:spcPct val="150000"/>
              </a:lnSpc>
            </a:pPr>
            <a:r>
              <a:rPr lang="en-US" sz="1200" dirty="0">
                <a:solidFill>
                  <a:srgbClr val="FF0000"/>
                </a:solidFill>
              </a:rPr>
              <a:t>void loop()</a:t>
            </a:r>
          </a:p>
          <a:p>
            <a:pPr>
              <a:lnSpc>
                <a:spcPct val="150000"/>
              </a:lnSpc>
            </a:pPr>
            <a:r>
              <a:rPr lang="en-US" sz="1200" dirty="0">
                <a:solidFill>
                  <a:srgbClr val="FF0000"/>
                </a:solidFill>
              </a:rPr>
              <a:t>{</a:t>
            </a:r>
          </a:p>
          <a:p>
            <a:pPr>
              <a:lnSpc>
                <a:spcPct val="150000"/>
              </a:lnSpc>
            </a:pPr>
            <a:r>
              <a:rPr lang="en-US" sz="1200" dirty="0">
                <a:solidFill>
                  <a:srgbClr val="FF0000"/>
                </a:solidFill>
              </a:rPr>
              <a:t>  /* </a:t>
            </a:r>
            <a:r>
              <a:rPr lang="en-US" sz="1200" dirty="0" err="1">
                <a:solidFill>
                  <a:srgbClr val="FF0000"/>
                </a:solidFill>
              </a:rPr>
              <a:t>đọc</a:t>
            </a:r>
            <a:r>
              <a:rPr lang="en-US" sz="1200" dirty="0">
                <a:solidFill>
                  <a:srgbClr val="FF0000"/>
                </a:solidFill>
              </a:rPr>
              <a:t> </a:t>
            </a:r>
            <a:r>
              <a:rPr lang="en-US" sz="1200" dirty="0" err="1">
                <a:solidFill>
                  <a:srgbClr val="FF0000"/>
                </a:solidFill>
              </a:rPr>
              <a:t>điện</a:t>
            </a:r>
            <a:r>
              <a:rPr lang="en-US" sz="1200" dirty="0">
                <a:solidFill>
                  <a:srgbClr val="FF0000"/>
                </a:solidFill>
              </a:rPr>
              <a:t> </a:t>
            </a:r>
            <a:r>
              <a:rPr lang="en-US" sz="1200" dirty="0" err="1">
                <a:solidFill>
                  <a:srgbClr val="FF0000"/>
                </a:solidFill>
              </a:rPr>
              <a:t>áp</a:t>
            </a:r>
            <a:endParaRPr lang="en-US" sz="1200" dirty="0">
              <a:solidFill>
                <a:srgbClr val="FF0000"/>
              </a:solidFill>
            </a:endParaRPr>
          </a:p>
          <a:p>
            <a:pPr>
              <a:lnSpc>
                <a:spcPct val="150000"/>
              </a:lnSpc>
            </a:pPr>
            <a:r>
              <a:rPr lang="en-US" sz="1200" dirty="0">
                <a:solidFill>
                  <a:srgbClr val="FF0000"/>
                </a:solidFill>
              </a:rPr>
              <a:t> */</a:t>
            </a:r>
          </a:p>
          <a:p>
            <a:pPr>
              <a:lnSpc>
                <a:spcPct val="150000"/>
              </a:lnSpc>
            </a:pPr>
            <a:r>
              <a:rPr lang="en-US" sz="1200" dirty="0">
                <a:solidFill>
                  <a:srgbClr val="FF0000"/>
                </a:solidFill>
              </a:rPr>
              <a:t>  int </a:t>
            </a:r>
            <a:r>
              <a:rPr lang="en-US" sz="1200" dirty="0" err="1">
                <a:solidFill>
                  <a:srgbClr val="FF0000"/>
                </a:solidFill>
              </a:rPr>
              <a:t>adc</a:t>
            </a:r>
            <a:r>
              <a:rPr lang="en-US" sz="1200" dirty="0">
                <a:solidFill>
                  <a:srgbClr val="FF0000"/>
                </a:solidFill>
              </a:rPr>
              <a:t> = </a:t>
            </a:r>
            <a:r>
              <a:rPr lang="en-US" sz="1200" dirty="0" err="1">
                <a:solidFill>
                  <a:srgbClr val="FF0000"/>
                </a:solidFill>
              </a:rPr>
              <a:t>analogRead</a:t>
            </a:r>
            <a:r>
              <a:rPr lang="en-US" sz="1200" dirty="0">
                <a:solidFill>
                  <a:srgbClr val="FF0000"/>
                </a:solidFill>
              </a:rPr>
              <a:t>(TEMP_PIN);</a:t>
            </a:r>
          </a:p>
          <a:p>
            <a:pPr>
              <a:lnSpc>
                <a:spcPct val="150000"/>
              </a:lnSpc>
            </a:pPr>
            <a:endParaRPr lang="en-US" sz="1200" dirty="0">
              <a:solidFill>
                <a:srgbClr val="FF0000"/>
              </a:solidFill>
            </a:endParaRPr>
          </a:p>
          <a:p>
            <a:pPr>
              <a:lnSpc>
                <a:spcPct val="150000"/>
              </a:lnSpc>
            </a:pPr>
            <a:r>
              <a:rPr lang="en-US" sz="1200" dirty="0">
                <a:solidFill>
                  <a:srgbClr val="FF0000"/>
                </a:solidFill>
              </a:rPr>
              <a:t>  float voltage = </a:t>
            </a:r>
            <a:r>
              <a:rPr lang="en-US" sz="1200" dirty="0" err="1">
                <a:solidFill>
                  <a:srgbClr val="FF0000"/>
                </a:solidFill>
              </a:rPr>
              <a:t>adc</a:t>
            </a:r>
            <a:r>
              <a:rPr lang="en-US" sz="1200" dirty="0">
                <a:solidFill>
                  <a:srgbClr val="FF0000"/>
                </a:solidFill>
              </a:rPr>
              <a:t> * 5.0 / 1023.0;</a:t>
            </a:r>
          </a:p>
          <a:p>
            <a:pPr>
              <a:lnSpc>
                <a:spcPct val="150000"/>
              </a:lnSpc>
            </a:pPr>
            <a:r>
              <a:rPr lang="en-US" sz="1200" dirty="0">
                <a:solidFill>
                  <a:srgbClr val="FF0000"/>
                </a:solidFill>
              </a:rPr>
              <a:t> float temperature = voltage*1000 ;   // LM35</a:t>
            </a:r>
          </a:p>
          <a:p>
            <a:pPr>
              <a:lnSpc>
                <a:spcPct val="150000"/>
              </a:lnSpc>
            </a:pPr>
            <a:endParaRPr lang="en-US" sz="1200" dirty="0">
              <a:solidFill>
                <a:srgbClr val="FF0000"/>
              </a:solidFill>
            </a:endParaRPr>
          </a:p>
          <a:p>
            <a:pPr>
              <a:lnSpc>
                <a:spcPct val="150000"/>
              </a:lnSpc>
            </a:pPr>
            <a:r>
              <a:rPr lang="en-US" sz="1200" dirty="0">
                <a:solidFill>
                  <a:srgbClr val="FF0000"/>
                </a:solidFill>
              </a:rPr>
              <a:t>  holding[0] = (uint16_t)temperature;</a:t>
            </a:r>
          </a:p>
          <a:p>
            <a:pPr>
              <a:lnSpc>
                <a:spcPct val="150000"/>
              </a:lnSpc>
            </a:pPr>
            <a:r>
              <a:rPr lang="en-US" sz="1200" dirty="0">
                <a:solidFill>
                  <a:srgbClr val="FF0000"/>
                </a:solidFill>
              </a:rPr>
              <a:t> </a:t>
            </a:r>
          </a:p>
          <a:p>
            <a:pPr>
              <a:lnSpc>
                <a:spcPct val="150000"/>
              </a:lnSpc>
            </a:pPr>
            <a:r>
              <a:rPr lang="en-US" sz="1200" dirty="0">
                <a:solidFill>
                  <a:srgbClr val="FF0000"/>
                </a:solidFill>
              </a:rPr>
              <a:t>  if(</a:t>
            </a:r>
            <a:r>
              <a:rPr lang="en-US" sz="1200" dirty="0" err="1">
                <a:solidFill>
                  <a:srgbClr val="FF0000"/>
                </a:solidFill>
              </a:rPr>
              <a:t>modbus.available</a:t>
            </a:r>
            <a:r>
              <a:rPr lang="en-US" sz="1200" dirty="0">
                <a:solidFill>
                  <a:srgbClr val="FF0000"/>
                </a:solidFill>
              </a:rPr>
              <a:t>() &gt;= 8)</a:t>
            </a:r>
          </a:p>
          <a:p>
            <a:pPr>
              <a:lnSpc>
                <a:spcPct val="150000"/>
              </a:lnSpc>
            </a:pPr>
            <a:r>
              <a:rPr lang="en-US" sz="1200" dirty="0">
                <a:solidFill>
                  <a:srgbClr val="FF0000"/>
                </a:solidFill>
              </a:rPr>
              <a:t>  {</a:t>
            </a:r>
          </a:p>
          <a:p>
            <a:pPr>
              <a:lnSpc>
                <a:spcPct val="150000"/>
              </a:lnSpc>
            </a:pPr>
            <a:r>
              <a:rPr lang="en-US" sz="1200" dirty="0">
                <a:solidFill>
                  <a:srgbClr val="FF0000"/>
                </a:solidFill>
              </a:rPr>
              <a:t>    uint8_t req[8];</a:t>
            </a:r>
          </a:p>
          <a:p>
            <a:pPr>
              <a:lnSpc>
                <a:spcPct val="150000"/>
              </a:lnSpc>
            </a:pPr>
            <a:r>
              <a:rPr lang="en-US" sz="1200" dirty="0">
                <a:solidFill>
                  <a:srgbClr val="FF0000"/>
                </a:solidFill>
              </a:rPr>
              <a:t>    </a:t>
            </a:r>
            <a:r>
              <a:rPr lang="en-US" sz="1200" dirty="0" err="1">
                <a:solidFill>
                  <a:srgbClr val="FF0000"/>
                </a:solidFill>
              </a:rPr>
              <a:t>modbus.readBytes</a:t>
            </a:r>
            <a:r>
              <a:rPr lang="en-US" sz="1200" dirty="0">
                <a:solidFill>
                  <a:srgbClr val="FF0000"/>
                </a:solidFill>
              </a:rPr>
              <a:t>(req,8);</a:t>
            </a:r>
          </a:p>
          <a:p>
            <a:pPr>
              <a:lnSpc>
                <a:spcPct val="150000"/>
              </a:lnSpc>
            </a:pPr>
            <a:endParaRPr lang="en-US" sz="1200" dirty="0">
              <a:solidFill>
                <a:srgbClr val="FF0000"/>
              </a:solidFill>
            </a:endParaRPr>
          </a:p>
          <a:p>
            <a:pPr>
              <a:lnSpc>
                <a:spcPct val="150000"/>
              </a:lnSpc>
            </a:pPr>
            <a:r>
              <a:rPr lang="en-US" sz="1200" dirty="0">
                <a:solidFill>
                  <a:srgbClr val="FF0000"/>
                </a:solidFill>
              </a:rPr>
              <a:t>    if(req[0] != SLAVE_ID) return;</a:t>
            </a:r>
          </a:p>
          <a:p>
            <a:pPr>
              <a:lnSpc>
                <a:spcPct val="150000"/>
              </a:lnSpc>
            </a:pPr>
            <a:endParaRPr lang="en-US" sz="1200" dirty="0">
              <a:solidFill>
                <a:srgbClr val="FF0000"/>
              </a:solidFill>
            </a:endParaRPr>
          </a:p>
          <a:p>
            <a:pPr>
              <a:lnSpc>
                <a:spcPct val="150000"/>
              </a:lnSpc>
            </a:pPr>
            <a:r>
              <a:rPr lang="en-US" sz="1200" dirty="0">
                <a:solidFill>
                  <a:srgbClr val="FF0000"/>
                </a:solidFill>
              </a:rPr>
              <a:t>    uint16_t </a:t>
            </a:r>
            <a:r>
              <a:rPr lang="en-US" sz="1200" dirty="0" err="1">
                <a:solidFill>
                  <a:srgbClr val="FF0000"/>
                </a:solidFill>
              </a:rPr>
              <a:t>crc</a:t>
            </a:r>
            <a:r>
              <a:rPr lang="en-US" sz="1200" dirty="0">
                <a:solidFill>
                  <a:srgbClr val="FF0000"/>
                </a:solidFill>
              </a:rPr>
              <a:t> = crc16(req,6);</a:t>
            </a:r>
          </a:p>
          <a:p>
            <a:pPr>
              <a:lnSpc>
                <a:spcPct val="150000"/>
              </a:lnSpc>
            </a:pPr>
            <a:endParaRPr lang="en-US" sz="1200" dirty="0">
              <a:solidFill>
                <a:srgbClr val="FF0000"/>
              </a:solidFill>
            </a:endParaRPr>
          </a:p>
          <a:p>
            <a:pPr>
              <a:lnSpc>
                <a:spcPct val="150000"/>
              </a:lnSpc>
            </a:pPr>
            <a:r>
              <a:rPr lang="en-US" sz="1200" dirty="0">
                <a:solidFill>
                  <a:srgbClr val="FF0000"/>
                </a:solidFill>
              </a:rPr>
              <a:t>    if(req[6] != (</a:t>
            </a:r>
            <a:r>
              <a:rPr lang="en-US" sz="1200" dirty="0" err="1">
                <a:solidFill>
                  <a:srgbClr val="FF0000"/>
                </a:solidFill>
              </a:rPr>
              <a:t>crc</a:t>
            </a:r>
            <a:r>
              <a:rPr lang="en-US" sz="1200" dirty="0">
                <a:solidFill>
                  <a:srgbClr val="FF0000"/>
                </a:solidFill>
              </a:rPr>
              <a:t> &amp; 0xFF) || req[7] != (</a:t>
            </a:r>
            <a:r>
              <a:rPr lang="en-US" sz="1200" dirty="0" err="1">
                <a:solidFill>
                  <a:srgbClr val="FF0000"/>
                </a:solidFill>
              </a:rPr>
              <a:t>crc</a:t>
            </a:r>
            <a:r>
              <a:rPr lang="en-US" sz="1200" dirty="0">
                <a:solidFill>
                  <a:srgbClr val="FF0000"/>
                </a:solidFill>
              </a:rPr>
              <a:t> &gt;&gt; 8)) return;</a:t>
            </a:r>
          </a:p>
          <a:p>
            <a:pPr>
              <a:lnSpc>
                <a:spcPct val="150000"/>
              </a:lnSpc>
            </a:pPr>
            <a:endParaRPr lang="en-US" sz="1200" dirty="0">
              <a:solidFill>
                <a:srgbClr val="FF0000"/>
              </a:solidFill>
            </a:endParaRPr>
          </a:p>
          <a:p>
            <a:pPr>
              <a:lnSpc>
                <a:spcPct val="150000"/>
              </a:lnSpc>
            </a:pPr>
            <a:r>
              <a:rPr lang="en-US" sz="1200" dirty="0">
                <a:solidFill>
                  <a:srgbClr val="FF0000"/>
                </a:solidFill>
              </a:rPr>
              <a:t>    if(req[1] == 3)   // Read Holding Register</a:t>
            </a:r>
          </a:p>
          <a:p>
            <a:pPr>
              <a:lnSpc>
                <a:spcPct val="150000"/>
              </a:lnSpc>
            </a:pPr>
            <a:r>
              <a:rPr lang="en-US" sz="1200" dirty="0">
                <a:solidFill>
                  <a:srgbClr val="FF0000"/>
                </a:solidFill>
              </a:rPr>
              <a:t>    {</a:t>
            </a:r>
          </a:p>
          <a:p>
            <a:pPr>
              <a:lnSpc>
                <a:spcPct val="150000"/>
              </a:lnSpc>
            </a:pPr>
            <a:r>
              <a:rPr lang="en-US" sz="1200" dirty="0">
                <a:solidFill>
                  <a:srgbClr val="FF0000"/>
                </a:solidFill>
              </a:rPr>
              <a:t>      uint8_t resp[7];</a:t>
            </a:r>
          </a:p>
          <a:p>
            <a:pPr>
              <a:lnSpc>
                <a:spcPct val="150000"/>
              </a:lnSpc>
            </a:pPr>
            <a:endParaRPr lang="en-US" sz="1200" dirty="0">
              <a:solidFill>
                <a:srgbClr val="FF0000"/>
              </a:solidFill>
            </a:endParaRPr>
          </a:p>
          <a:p>
            <a:pPr>
              <a:lnSpc>
                <a:spcPct val="150000"/>
              </a:lnSpc>
            </a:pPr>
            <a:r>
              <a:rPr lang="en-US" sz="1200" dirty="0">
                <a:solidFill>
                  <a:srgbClr val="FF0000"/>
                </a:solidFill>
              </a:rPr>
              <a:t>      resp[0] = SLAVE_ID;</a:t>
            </a:r>
          </a:p>
          <a:p>
            <a:pPr>
              <a:lnSpc>
                <a:spcPct val="150000"/>
              </a:lnSpc>
            </a:pPr>
            <a:r>
              <a:rPr lang="en-US" sz="1200" dirty="0">
                <a:solidFill>
                  <a:srgbClr val="FF0000"/>
                </a:solidFill>
              </a:rPr>
              <a:t>      resp[1] = 3;</a:t>
            </a:r>
          </a:p>
          <a:p>
            <a:pPr>
              <a:lnSpc>
                <a:spcPct val="150000"/>
              </a:lnSpc>
            </a:pPr>
            <a:r>
              <a:rPr lang="en-US" sz="1200" dirty="0">
                <a:solidFill>
                  <a:srgbClr val="FF0000"/>
                </a:solidFill>
              </a:rPr>
              <a:t>      resp[2] = 2;</a:t>
            </a:r>
          </a:p>
          <a:p>
            <a:pPr>
              <a:lnSpc>
                <a:spcPct val="150000"/>
              </a:lnSpc>
            </a:pPr>
            <a:endParaRPr lang="en-US" sz="1200" dirty="0">
              <a:solidFill>
                <a:srgbClr val="FF0000"/>
              </a:solidFill>
            </a:endParaRPr>
          </a:p>
          <a:p>
            <a:pPr>
              <a:lnSpc>
                <a:spcPct val="150000"/>
              </a:lnSpc>
            </a:pPr>
            <a:r>
              <a:rPr lang="en-US" sz="1200" dirty="0">
                <a:solidFill>
                  <a:srgbClr val="FF0000"/>
                </a:solidFill>
              </a:rPr>
              <a:t>      resp[3] = holding[0] &gt;&gt; 8;</a:t>
            </a:r>
          </a:p>
          <a:p>
            <a:pPr>
              <a:lnSpc>
                <a:spcPct val="150000"/>
              </a:lnSpc>
            </a:pPr>
            <a:r>
              <a:rPr lang="en-US" sz="1200" dirty="0">
                <a:solidFill>
                  <a:srgbClr val="FF0000"/>
                </a:solidFill>
              </a:rPr>
              <a:t>      resp[4] = holding[0] &amp; 0xFF;</a:t>
            </a:r>
          </a:p>
          <a:p>
            <a:pPr>
              <a:lnSpc>
                <a:spcPct val="150000"/>
              </a:lnSpc>
            </a:pPr>
            <a:endParaRPr lang="en-US" sz="1200" dirty="0">
              <a:solidFill>
                <a:srgbClr val="FF0000"/>
              </a:solidFill>
            </a:endParaRPr>
          </a:p>
          <a:p>
            <a:pPr>
              <a:lnSpc>
                <a:spcPct val="150000"/>
              </a:lnSpc>
            </a:pPr>
            <a:r>
              <a:rPr lang="en-US" sz="1200" dirty="0">
                <a:solidFill>
                  <a:srgbClr val="FF0000"/>
                </a:solidFill>
              </a:rPr>
              <a:t>      uint16_t </a:t>
            </a:r>
            <a:r>
              <a:rPr lang="en-US" sz="1200" dirty="0" err="1">
                <a:solidFill>
                  <a:srgbClr val="FF0000"/>
                </a:solidFill>
              </a:rPr>
              <a:t>crcR</a:t>
            </a:r>
            <a:r>
              <a:rPr lang="en-US" sz="1200" dirty="0">
                <a:solidFill>
                  <a:srgbClr val="FF0000"/>
                </a:solidFill>
              </a:rPr>
              <a:t> = crc16(resp,5);</a:t>
            </a:r>
          </a:p>
          <a:p>
            <a:pPr>
              <a:lnSpc>
                <a:spcPct val="150000"/>
              </a:lnSpc>
            </a:pPr>
            <a:endParaRPr lang="en-US" sz="1200" dirty="0">
              <a:solidFill>
                <a:srgbClr val="FF0000"/>
              </a:solidFill>
            </a:endParaRPr>
          </a:p>
          <a:p>
            <a:pPr>
              <a:lnSpc>
                <a:spcPct val="150000"/>
              </a:lnSpc>
            </a:pPr>
            <a:r>
              <a:rPr lang="en-US" sz="1200" dirty="0">
                <a:solidFill>
                  <a:srgbClr val="FF0000"/>
                </a:solidFill>
              </a:rPr>
              <a:t>      resp[5] = </a:t>
            </a:r>
            <a:r>
              <a:rPr lang="en-US" sz="1200" dirty="0" err="1">
                <a:solidFill>
                  <a:srgbClr val="FF0000"/>
                </a:solidFill>
              </a:rPr>
              <a:t>crcR</a:t>
            </a:r>
            <a:r>
              <a:rPr lang="en-US" sz="1200" dirty="0">
                <a:solidFill>
                  <a:srgbClr val="FF0000"/>
                </a:solidFill>
              </a:rPr>
              <a:t> &amp; 0xFF;</a:t>
            </a:r>
          </a:p>
          <a:p>
            <a:pPr>
              <a:lnSpc>
                <a:spcPct val="150000"/>
              </a:lnSpc>
            </a:pPr>
            <a:r>
              <a:rPr lang="en-US" sz="1200" dirty="0">
                <a:solidFill>
                  <a:srgbClr val="FF0000"/>
                </a:solidFill>
              </a:rPr>
              <a:t>      resp[6] = </a:t>
            </a:r>
            <a:r>
              <a:rPr lang="en-US" sz="1200" dirty="0" err="1">
                <a:solidFill>
                  <a:srgbClr val="FF0000"/>
                </a:solidFill>
              </a:rPr>
              <a:t>crcR</a:t>
            </a:r>
            <a:r>
              <a:rPr lang="en-US" sz="1200" dirty="0">
                <a:solidFill>
                  <a:srgbClr val="FF0000"/>
                </a:solidFill>
              </a:rPr>
              <a:t> &gt;&gt; 8;</a:t>
            </a:r>
          </a:p>
          <a:p>
            <a:pPr>
              <a:lnSpc>
                <a:spcPct val="150000"/>
              </a:lnSpc>
            </a:pPr>
            <a:endParaRPr lang="en-US" sz="1200" dirty="0">
              <a:solidFill>
                <a:srgbClr val="FF0000"/>
              </a:solidFill>
            </a:endParaRPr>
          </a:p>
          <a:p>
            <a:pPr>
              <a:lnSpc>
                <a:spcPct val="150000"/>
              </a:lnSpc>
            </a:pPr>
            <a:r>
              <a:rPr lang="en-US" sz="1200" dirty="0">
                <a:solidFill>
                  <a:srgbClr val="FF0000"/>
                </a:solidFill>
              </a:rPr>
              <a:t>      </a:t>
            </a:r>
            <a:r>
              <a:rPr lang="en-US" sz="1200" dirty="0" err="1">
                <a:solidFill>
                  <a:srgbClr val="FF0000"/>
                </a:solidFill>
              </a:rPr>
              <a:t>modbus.write</a:t>
            </a:r>
            <a:r>
              <a:rPr lang="en-US" sz="1200" dirty="0">
                <a:solidFill>
                  <a:srgbClr val="FF0000"/>
                </a:solidFill>
              </a:rPr>
              <a:t>(resp,7);</a:t>
            </a:r>
          </a:p>
          <a:p>
            <a:pPr>
              <a:lnSpc>
                <a:spcPct val="150000"/>
              </a:lnSpc>
            </a:pPr>
            <a:r>
              <a:rPr lang="en-US" sz="1200" dirty="0">
                <a:solidFill>
                  <a:srgbClr val="FF0000"/>
                </a:solidFill>
              </a:rPr>
              <a:t>    }</a:t>
            </a:r>
          </a:p>
          <a:p>
            <a:pPr>
              <a:lnSpc>
                <a:spcPct val="150000"/>
              </a:lnSpc>
            </a:pPr>
            <a:r>
              <a:rPr lang="en-US" sz="1200" dirty="0">
                <a:solidFill>
                  <a:srgbClr val="FF0000"/>
                </a:solidFill>
              </a:rPr>
              <a:t>  }</a:t>
            </a:r>
          </a:p>
          <a:p>
            <a:pPr>
              <a:lnSpc>
                <a:spcPct val="150000"/>
              </a:lnSpc>
            </a:pPr>
            <a:r>
              <a:rPr lang="en-US" sz="1200" dirty="0">
                <a:solidFill>
                  <a:srgbClr val="FF0000"/>
                </a:solidFill>
              </a:rPr>
              <a:t>}</a:t>
            </a:r>
            <a:endParaRPr dirty="0">
              <a:latin typeface="Arial"/>
              <a:ea typeface="Arial"/>
              <a:cs typeface="Arial"/>
              <a:sym typeface="Arial"/>
            </a:endParaRPr>
          </a:p>
        </p:txBody>
      </p:sp>
      <p:sp>
        <p:nvSpPr>
          <p:cNvPr id="182" name="Google Shape;182;p5:notes">
            <a:extLst>
              <a:ext uri="{FF2B5EF4-FFF2-40B4-BE49-F238E27FC236}">
                <a16:creationId xmlns:a16="http://schemas.microsoft.com/office/drawing/2014/main" id="{D9CD3185-E2A9-D8F9-9F89-0D6C92652F4D}"/>
              </a:ext>
            </a:extLst>
          </p:cNvPr>
          <p:cNvSpPr txBox="1">
            <a:spLocks noGrp="1"/>
          </p:cNvSpPr>
          <p:nvPr>
            <p:ph type="sldNum" idx="12"/>
          </p:nvPr>
        </p:nvSpPr>
        <p:spPr>
          <a:xfrm>
            <a:off x="4023992" y="9721107"/>
            <a:ext cx="3078427" cy="513507"/>
          </a:xfrm>
          <a:prstGeom prst="rect">
            <a:avLst/>
          </a:prstGeom>
          <a:noFill/>
          <a:ln>
            <a:noFill/>
          </a:ln>
        </p:spPr>
        <p:txBody>
          <a:bodyPr spcFirstLastPara="1" wrap="square" lIns="99075" tIns="49525" rIns="99075" bIns="49525" anchor="b" anchorCtr="0">
            <a:noAutofit/>
          </a:bodyPr>
          <a:lstStyle/>
          <a:p>
            <a:pPr marL="0" lvl="0" indent="0" algn="r" rtl="0">
              <a:spcBef>
                <a:spcPts val="0"/>
              </a:spcBef>
              <a:spcAft>
                <a:spcPts val="0"/>
              </a:spcAft>
              <a:buNone/>
            </a:pPr>
            <a:fld id="{00000000-1234-1234-1234-123412341234}" type="slidenum">
              <a:rPr lang="en-US"/>
              <a:t>87</a:t>
            </a:fld>
            <a:endParaRPr/>
          </a:p>
        </p:txBody>
      </p:sp>
    </p:spTree>
    <p:extLst>
      <p:ext uri="{BB962C8B-B14F-4D97-AF65-F5344CB8AC3E}">
        <p14:creationId xmlns:p14="http://schemas.microsoft.com/office/powerpoint/2010/main" val="612496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및 내용">
  <p:cSld name="제목 및 내용">
    <p:spTree>
      <p:nvGrpSpPr>
        <p:cNvPr id="1" name="Shape 16"/>
        <p:cNvGrpSpPr/>
        <p:nvPr/>
      </p:nvGrpSpPr>
      <p:grpSpPr>
        <a:xfrm>
          <a:off x="0" y="0"/>
          <a:ext cx="0" cy="0"/>
          <a:chOff x="0" y="0"/>
          <a:chExt cx="0" cy="0"/>
        </a:xfrm>
      </p:grpSpPr>
      <p:cxnSp>
        <p:nvCxnSpPr>
          <p:cNvPr id="18" name="Google Shape;18;p238"/>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19" name="Google Shape;19;p238"/>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21"/>
        <p:cNvGrpSpPr/>
        <p:nvPr/>
      </p:nvGrpSpPr>
      <p:grpSpPr>
        <a:xfrm>
          <a:off x="0" y="0"/>
          <a:ext cx="0" cy="0"/>
          <a:chOff x="0" y="0"/>
          <a:chExt cx="0" cy="0"/>
        </a:xfrm>
      </p:grpSpPr>
      <p:cxnSp>
        <p:nvCxnSpPr>
          <p:cNvPr id="22" name="Google Shape;22;p239"/>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23" name="Google Shape;23;p239"/>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b="0" i="0" u="none" strike="noStrike" cap="none">
                <a:solidFill>
                  <a:srgbClr val="7F7F7F"/>
                </a:solidFill>
                <a:latin typeface="Arial"/>
                <a:ea typeface="Arial"/>
                <a:cs typeface="Arial"/>
                <a:sym typeface="Arial"/>
              </a:rPr>
              <a:t>‹#›</a:t>
            </a:fld>
            <a:endParaRPr sz="900" b="0" i="0" u="none" strike="noStrike" cap="none">
              <a:solidFill>
                <a:srgbClr val="7F7F7F"/>
              </a:solidFill>
              <a:latin typeface="Arial"/>
              <a:ea typeface="Arial"/>
              <a:cs typeface="Arial"/>
              <a:sym typeface="Arial"/>
            </a:endParaRPr>
          </a:p>
        </p:txBody>
      </p:sp>
      <p:sp>
        <p:nvSpPr>
          <p:cNvPr id="25" name="Google Shape;25;p239"/>
          <p:cNvSpPr txBox="1"/>
          <p:nvPr/>
        </p:nvSpPr>
        <p:spPr>
          <a:xfrm>
            <a:off x="6084277" y="6498000"/>
            <a:ext cx="3115030" cy="1384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3. </a:t>
            </a:r>
            <a:r>
              <a:rPr lang="en-US" sz="900" b="1" i="0" u="none" strike="noStrike" cap="none" dirty="0">
                <a:solidFill>
                  <a:schemeClr val="dk1"/>
                </a:solidFill>
                <a:latin typeface="Arial"/>
                <a:ea typeface="Arial"/>
                <a:cs typeface="Arial"/>
                <a:sym typeface="Arial"/>
              </a:rPr>
              <a:t>Giao </a:t>
            </a:r>
            <a:r>
              <a:rPr lang="en-US" sz="900" b="1" i="0" u="none" strike="noStrike" cap="none" dirty="0" err="1">
                <a:solidFill>
                  <a:schemeClr val="dk1"/>
                </a:solidFill>
                <a:latin typeface="Arial"/>
                <a:ea typeface="Arial"/>
                <a:cs typeface="Arial"/>
                <a:sym typeface="Arial"/>
              </a:rPr>
              <a:t>tiếp</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với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thống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cảm</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biến</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p:cSld name="구역 머리글">
    <p:spTree>
      <p:nvGrpSpPr>
        <p:cNvPr id="1" name="Shape 26"/>
        <p:cNvGrpSpPr/>
        <p:nvPr/>
      </p:nvGrpSpPr>
      <p:grpSpPr>
        <a:xfrm>
          <a:off x="0" y="0"/>
          <a:ext cx="0" cy="0"/>
          <a:chOff x="0" y="0"/>
          <a:chExt cx="0" cy="0"/>
        </a:xfrm>
      </p:grpSpPr>
      <p:cxnSp>
        <p:nvCxnSpPr>
          <p:cNvPr id="28" name="Google Shape;28;p240"/>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29" name="Google Shape;29;p240"/>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2" name="Google Shape;25;p239">
            <a:extLst>
              <a:ext uri="{FF2B5EF4-FFF2-40B4-BE49-F238E27FC236}">
                <a16:creationId xmlns:a16="http://schemas.microsoft.com/office/drawing/2014/main" id="{5B3964AC-42BF-5D27-D9D3-00FF55B56599}"/>
              </a:ext>
            </a:extLst>
          </p:cNvPr>
          <p:cNvSpPr txBox="1"/>
          <p:nvPr userDrawn="1"/>
        </p:nvSpPr>
        <p:spPr>
          <a:xfrm>
            <a:off x="6084277" y="6498000"/>
            <a:ext cx="3115030" cy="1384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3. </a:t>
            </a:r>
            <a:r>
              <a:rPr lang="en-US" sz="900" b="1" i="0" u="none" strike="noStrike" cap="none" dirty="0">
                <a:solidFill>
                  <a:schemeClr val="dk1"/>
                </a:solidFill>
                <a:latin typeface="Arial"/>
                <a:ea typeface="Arial"/>
                <a:cs typeface="Arial"/>
                <a:sym typeface="Arial"/>
              </a:rPr>
              <a:t>Giao </a:t>
            </a:r>
            <a:r>
              <a:rPr lang="en-US" sz="900" b="1" i="0" u="none" strike="noStrike" cap="none" dirty="0" err="1">
                <a:solidFill>
                  <a:schemeClr val="dk1"/>
                </a:solidFill>
                <a:latin typeface="Arial"/>
                <a:ea typeface="Arial"/>
                <a:cs typeface="Arial"/>
                <a:sym typeface="Arial"/>
              </a:rPr>
              <a:t>tiếp</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với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thống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cảm</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biến</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p:cSld name="콘텐츠 2개">
    <p:spTree>
      <p:nvGrpSpPr>
        <p:cNvPr id="1" name="Shape 32"/>
        <p:cNvGrpSpPr/>
        <p:nvPr/>
      </p:nvGrpSpPr>
      <p:grpSpPr>
        <a:xfrm>
          <a:off x="0" y="0"/>
          <a:ext cx="0" cy="0"/>
          <a:chOff x="0" y="0"/>
          <a:chExt cx="0" cy="0"/>
        </a:xfrm>
      </p:grpSpPr>
      <p:cxnSp>
        <p:nvCxnSpPr>
          <p:cNvPr id="34" name="Google Shape;34;p241"/>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35" name="Google Shape;35;p241"/>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3" name="Google Shape;25;p239">
            <a:extLst>
              <a:ext uri="{FF2B5EF4-FFF2-40B4-BE49-F238E27FC236}">
                <a16:creationId xmlns:a16="http://schemas.microsoft.com/office/drawing/2014/main" id="{A4243FE7-0CC7-399C-14BD-A8B9375ADC00}"/>
              </a:ext>
            </a:extLst>
          </p:cNvPr>
          <p:cNvSpPr txBox="1"/>
          <p:nvPr userDrawn="1"/>
        </p:nvSpPr>
        <p:spPr>
          <a:xfrm>
            <a:off x="6084277" y="6498000"/>
            <a:ext cx="3115030" cy="1384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3. </a:t>
            </a:r>
            <a:r>
              <a:rPr lang="en-US" sz="900" b="1" i="0" u="none" strike="noStrike" cap="none" dirty="0">
                <a:solidFill>
                  <a:schemeClr val="dk1"/>
                </a:solidFill>
                <a:latin typeface="Arial"/>
                <a:ea typeface="Arial"/>
                <a:cs typeface="Arial"/>
                <a:sym typeface="Arial"/>
              </a:rPr>
              <a:t>Giao </a:t>
            </a:r>
            <a:r>
              <a:rPr lang="en-US" sz="900" b="1" i="0" u="none" strike="noStrike" cap="none" dirty="0" err="1">
                <a:solidFill>
                  <a:schemeClr val="dk1"/>
                </a:solidFill>
                <a:latin typeface="Arial"/>
                <a:ea typeface="Arial"/>
                <a:cs typeface="Arial"/>
                <a:sym typeface="Arial"/>
              </a:rPr>
              <a:t>tiếp</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với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thống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cảm</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biến</a:t>
            </a:r>
            <a:endParaRPr lang="en-US" sz="9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p:cSld name="비교">
    <p:spTree>
      <p:nvGrpSpPr>
        <p:cNvPr id="1" name="Shape 47"/>
        <p:cNvGrpSpPr/>
        <p:nvPr/>
      </p:nvGrpSpPr>
      <p:grpSpPr>
        <a:xfrm>
          <a:off x="0" y="0"/>
          <a:ext cx="0" cy="0"/>
          <a:chOff x="0" y="0"/>
          <a:chExt cx="0" cy="0"/>
        </a:xfrm>
      </p:grpSpPr>
      <p:cxnSp>
        <p:nvCxnSpPr>
          <p:cNvPr id="48" name="Google Shape;48;p244"/>
          <p:cNvCxnSpPr/>
          <p:nvPr/>
        </p:nvCxnSpPr>
        <p:spPr>
          <a:xfrm>
            <a:off x="449612" y="6424935"/>
            <a:ext cx="90036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244"/>
          <p:cNvSpPr txBox="1"/>
          <p:nvPr/>
        </p:nvSpPr>
        <p:spPr>
          <a:xfrm>
            <a:off x="8839176" y="6498000"/>
            <a:ext cx="614036"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grpSp>
        <p:nvGrpSpPr>
          <p:cNvPr id="54" name="Google Shape;54;p244"/>
          <p:cNvGrpSpPr/>
          <p:nvPr/>
        </p:nvGrpSpPr>
        <p:grpSpPr>
          <a:xfrm>
            <a:off x="449999" y="1251375"/>
            <a:ext cx="9018001" cy="4993977"/>
            <a:chOff x="578678" y="1436153"/>
            <a:chExt cx="8748000" cy="4993977"/>
          </a:xfrm>
        </p:grpSpPr>
        <p:sp>
          <p:nvSpPr>
            <p:cNvPr id="55" name="Google Shape;55;p244"/>
            <p:cNvSpPr/>
            <p:nvPr/>
          </p:nvSpPr>
          <p:spPr>
            <a:xfrm>
              <a:off x="578678" y="1436153"/>
              <a:ext cx="8748000" cy="912275"/>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lgun Gothic"/>
                <a:ea typeface="Malgun Gothic"/>
                <a:cs typeface="Malgun Gothic"/>
                <a:sym typeface="Malgun Gothic"/>
              </a:endParaRPr>
            </a:p>
          </p:txBody>
        </p:sp>
        <p:sp>
          <p:nvSpPr>
            <p:cNvPr id="56" name="Google Shape;56;p244"/>
            <p:cNvSpPr/>
            <p:nvPr/>
          </p:nvSpPr>
          <p:spPr>
            <a:xfrm>
              <a:off x="578678" y="2286000"/>
              <a:ext cx="8748000" cy="4144130"/>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Malgun Gothic"/>
                <a:ea typeface="Malgun Gothic"/>
                <a:cs typeface="Malgun Gothic"/>
                <a:sym typeface="Malgun Gothic"/>
              </a:endParaRPr>
            </a:p>
          </p:txBody>
        </p:sp>
      </p:grpSp>
      <p:sp>
        <p:nvSpPr>
          <p:cNvPr id="3" name="Google Shape;25;p239">
            <a:extLst>
              <a:ext uri="{FF2B5EF4-FFF2-40B4-BE49-F238E27FC236}">
                <a16:creationId xmlns:a16="http://schemas.microsoft.com/office/drawing/2014/main" id="{371B0D09-79CA-A3ED-2989-4B5D0306A376}"/>
              </a:ext>
            </a:extLst>
          </p:cNvPr>
          <p:cNvSpPr txBox="1"/>
          <p:nvPr userDrawn="1"/>
        </p:nvSpPr>
        <p:spPr>
          <a:xfrm>
            <a:off x="6084277" y="6498000"/>
            <a:ext cx="3115030" cy="1384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3. </a:t>
            </a:r>
            <a:r>
              <a:rPr lang="en-US" sz="900" b="1" i="0" u="none" strike="noStrike" cap="none" dirty="0">
                <a:solidFill>
                  <a:schemeClr val="dk1"/>
                </a:solidFill>
                <a:latin typeface="Arial"/>
                <a:ea typeface="Arial"/>
                <a:cs typeface="Arial"/>
                <a:sym typeface="Arial"/>
              </a:rPr>
              <a:t>Giao </a:t>
            </a:r>
            <a:r>
              <a:rPr lang="en-US" sz="900" b="1" i="0" u="none" strike="noStrike" cap="none" dirty="0" err="1">
                <a:solidFill>
                  <a:schemeClr val="dk1"/>
                </a:solidFill>
                <a:latin typeface="Arial"/>
                <a:ea typeface="Arial"/>
                <a:cs typeface="Arial"/>
                <a:sym typeface="Arial"/>
              </a:rPr>
              <a:t>tiếp</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với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thống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cảm</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biến</a:t>
            </a:r>
            <a:endParaRPr lang="en-US" sz="9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Quiz">
  <p:cSld name="Quiz">
    <p:spTree>
      <p:nvGrpSpPr>
        <p:cNvPr id="1" name="Shape 115"/>
        <p:cNvGrpSpPr/>
        <p:nvPr/>
      </p:nvGrpSpPr>
      <p:grpSpPr>
        <a:xfrm>
          <a:off x="0" y="0"/>
          <a:ext cx="0" cy="0"/>
          <a:chOff x="0" y="0"/>
          <a:chExt cx="0" cy="0"/>
        </a:xfrm>
      </p:grpSpPr>
      <p:sp>
        <p:nvSpPr>
          <p:cNvPr id="116" name="Google Shape;116;p247"/>
          <p:cNvSpPr/>
          <p:nvPr/>
        </p:nvSpPr>
        <p:spPr>
          <a:xfrm>
            <a:off x="451162" y="1220478"/>
            <a:ext cx="8999020" cy="811746"/>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Malgun Gothic"/>
              <a:ea typeface="Malgun Gothic"/>
              <a:cs typeface="Malgun Gothic"/>
              <a:sym typeface="Malgun Gothic"/>
            </a:endParaRPr>
          </a:p>
        </p:txBody>
      </p:sp>
      <p:sp>
        <p:nvSpPr>
          <p:cNvPr id="117" name="Google Shape;117;p247"/>
          <p:cNvSpPr/>
          <p:nvPr/>
        </p:nvSpPr>
        <p:spPr>
          <a:xfrm>
            <a:off x="451162" y="2070324"/>
            <a:ext cx="8999020" cy="4231864"/>
          </a:xfrm>
          <a:prstGeom prst="rect">
            <a:avLst/>
          </a:prstGeom>
          <a:solidFill>
            <a:srgbClr val="ECEF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799">
              <a:solidFill>
                <a:schemeClr val="lt1"/>
              </a:solidFill>
              <a:latin typeface="Malgun Gothic"/>
              <a:ea typeface="Malgun Gothic"/>
              <a:cs typeface="Malgun Gothic"/>
              <a:sym typeface="Malgun Gothic"/>
            </a:endParaRPr>
          </a:p>
        </p:txBody>
      </p:sp>
      <p:sp>
        <p:nvSpPr>
          <p:cNvPr id="118" name="Google Shape;118;p247"/>
          <p:cNvSpPr/>
          <p:nvPr/>
        </p:nvSpPr>
        <p:spPr>
          <a:xfrm>
            <a:off x="646276" y="1415780"/>
            <a:ext cx="1059197"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99" b="1" i="0">
                <a:solidFill>
                  <a:srgbClr val="0D0D0D"/>
                </a:solidFill>
                <a:latin typeface="Arial"/>
                <a:ea typeface="Arial"/>
                <a:cs typeface="Arial"/>
                <a:sym typeface="Arial"/>
              </a:rPr>
              <a:t>Q1.</a:t>
            </a:r>
            <a:endParaRPr/>
          </a:p>
        </p:txBody>
      </p:sp>
      <p:pic>
        <p:nvPicPr>
          <p:cNvPr id="119" name="Google Shape;119;p247"/>
          <p:cNvPicPr preferRelativeResize="0"/>
          <p:nvPr/>
        </p:nvPicPr>
        <p:blipFill rotWithShape="1">
          <a:blip r:embed="rId2">
            <a:alphaModFix/>
          </a:blip>
          <a:srcRect/>
          <a:stretch/>
        </p:blipFill>
        <p:spPr>
          <a:xfrm>
            <a:off x="802139" y="5406365"/>
            <a:ext cx="112868" cy="109719"/>
          </a:xfrm>
          <a:prstGeom prst="rect">
            <a:avLst/>
          </a:prstGeom>
          <a:noFill/>
          <a:ln>
            <a:noFill/>
          </a:ln>
        </p:spPr>
      </p:pic>
      <p:cxnSp>
        <p:nvCxnSpPr>
          <p:cNvPr id="120" name="Google Shape;120;p247"/>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121" name="Google Shape;121;p247"/>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sp>
        <p:nvSpPr>
          <p:cNvPr id="3" name="Google Shape;25;p239">
            <a:extLst>
              <a:ext uri="{FF2B5EF4-FFF2-40B4-BE49-F238E27FC236}">
                <a16:creationId xmlns:a16="http://schemas.microsoft.com/office/drawing/2014/main" id="{1134E303-CE23-29D4-00A3-FE377A4F3648}"/>
              </a:ext>
            </a:extLst>
          </p:cNvPr>
          <p:cNvSpPr txBox="1"/>
          <p:nvPr userDrawn="1"/>
        </p:nvSpPr>
        <p:spPr>
          <a:xfrm>
            <a:off x="6084277" y="6498000"/>
            <a:ext cx="3115030" cy="1384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3. </a:t>
            </a:r>
            <a:r>
              <a:rPr lang="en-US" sz="900" b="1" i="0" u="none" strike="noStrike" cap="none" dirty="0">
                <a:solidFill>
                  <a:schemeClr val="dk1"/>
                </a:solidFill>
                <a:latin typeface="Arial"/>
                <a:ea typeface="Arial"/>
                <a:cs typeface="Arial"/>
                <a:sym typeface="Arial"/>
              </a:rPr>
              <a:t>Giao </a:t>
            </a:r>
            <a:r>
              <a:rPr lang="en-US" sz="900" b="1" i="0" u="none" strike="noStrike" cap="none" dirty="0" err="1">
                <a:solidFill>
                  <a:schemeClr val="dk1"/>
                </a:solidFill>
                <a:latin typeface="Arial"/>
                <a:ea typeface="Arial"/>
                <a:cs typeface="Arial"/>
                <a:sym typeface="Arial"/>
              </a:rPr>
              <a:t>tiếp</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với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thống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cảm</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biến</a:t>
            </a:r>
            <a:endParaRPr lang="en-US" sz="9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ody">
  <p:cSld name="Body">
    <p:spTree>
      <p:nvGrpSpPr>
        <p:cNvPr id="1" name="Shape 127"/>
        <p:cNvGrpSpPr/>
        <p:nvPr/>
      </p:nvGrpSpPr>
      <p:grpSpPr>
        <a:xfrm>
          <a:off x="0" y="0"/>
          <a:ext cx="0" cy="0"/>
          <a:chOff x="0" y="0"/>
          <a:chExt cx="0" cy="0"/>
        </a:xfrm>
      </p:grpSpPr>
      <p:cxnSp>
        <p:nvCxnSpPr>
          <p:cNvPr id="128" name="Google Shape;128;p248"/>
          <p:cNvCxnSpPr/>
          <p:nvPr/>
        </p:nvCxnSpPr>
        <p:spPr>
          <a:xfrm>
            <a:off x="449468" y="6424935"/>
            <a:ext cx="9000714"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p248"/>
          <p:cNvSpPr txBox="1"/>
          <p:nvPr/>
        </p:nvSpPr>
        <p:spPr>
          <a:xfrm>
            <a:off x="8836343" y="6498001"/>
            <a:ext cx="613839" cy="13849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7F7F7F"/>
              </a:buClr>
              <a:buSzPts val="900"/>
              <a:buFont typeface="Arial"/>
              <a:buNone/>
            </a:pPr>
            <a:fld id="{00000000-1234-1234-1234-123412341234}" type="slidenum">
              <a:rPr lang="en-US" sz="900">
                <a:solidFill>
                  <a:srgbClr val="7F7F7F"/>
                </a:solidFill>
                <a:latin typeface="Arial"/>
                <a:ea typeface="Arial"/>
                <a:cs typeface="Arial"/>
                <a:sym typeface="Arial"/>
              </a:rPr>
              <a:t>‹#›</a:t>
            </a:fld>
            <a:endParaRPr sz="900">
              <a:solidFill>
                <a:srgbClr val="7F7F7F"/>
              </a:solidFill>
              <a:latin typeface="Arial"/>
              <a:ea typeface="Arial"/>
              <a:cs typeface="Arial"/>
              <a:sym typeface="Arial"/>
            </a:endParaRPr>
          </a:p>
        </p:txBody>
      </p:sp>
      <p:cxnSp>
        <p:nvCxnSpPr>
          <p:cNvPr id="131" name="Google Shape;131;p248"/>
          <p:cNvCxnSpPr/>
          <p:nvPr/>
        </p:nvCxnSpPr>
        <p:spPr>
          <a:xfrm>
            <a:off x="449468" y="900000"/>
            <a:ext cx="9000714" cy="0"/>
          </a:xfrm>
          <a:prstGeom prst="straightConnector1">
            <a:avLst/>
          </a:prstGeom>
          <a:noFill/>
          <a:ln w="15875" cap="flat" cmpd="sng">
            <a:solidFill>
              <a:srgbClr val="0924A5"/>
            </a:solidFill>
            <a:prstDash val="solid"/>
            <a:miter lim="800000"/>
            <a:headEnd type="none" w="sm" len="sm"/>
            <a:tailEnd type="none" w="sm" len="sm"/>
          </a:ln>
        </p:spPr>
      </p:cxnSp>
      <p:sp>
        <p:nvSpPr>
          <p:cNvPr id="3" name="Google Shape;25;p239">
            <a:extLst>
              <a:ext uri="{FF2B5EF4-FFF2-40B4-BE49-F238E27FC236}">
                <a16:creationId xmlns:a16="http://schemas.microsoft.com/office/drawing/2014/main" id="{5162AC4A-F563-BCBB-3C0B-9322ADA15964}"/>
              </a:ext>
            </a:extLst>
          </p:cNvPr>
          <p:cNvSpPr txBox="1"/>
          <p:nvPr userDrawn="1"/>
        </p:nvSpPr>
        <p:spPr>
          <a:xfrm>
            <a:off x="6084277" y="6498000"/>
            <a:ext cx="3115030" cy="138499"/>
          </a:xfrm>
          <a:prstGeom prst="rect">
            <a:avLst/>
          </a:prstGeom>
          <a:noFill/>
          <a:ln>
            <a:noFill/>
          </a:ln>
        </p:spPr>
        <p:txBody>
          <a:bodyPr spcFirstLastPara="1" wrap="square" lIns="0" tIns="0" rIns="0" bIns="0" anchor="ctr" anchorCtr="0">
            <a:spAutoFit/>
          </a:bodyPr>
          <a:lstStyle/>
          <a:p>
            <a:pPr marL="0" marR="0" lvl="0" indent="0" algn="r" defTabSz="914400" rtl="0" eaLnBrk="1" fontAlgn="auto" latinLnBrk="0" hangingPunct="1">
              <a:lnSpc>
                <a:spcPct val="100000"/>
              </a:lnSpc>
              <a:spcBef>
                <a:spcPts val="0"/>
              </a:spcBef>
              <a:spcAft>
                <a:spcPts val="0"/>
              </a:spcAft>
              <a:buClr>
                <a:srgbClr val="7F7F7F"/>
              </a:buClr>
              <a:buSzPts val="900"/>
              <a:buFont typeface="Arial"/>
              <a:buNone/>
              <a:tabLst/>
              <a:defRPr/>
            </a:pPr>
            <a:r>
              <a:rPr lang="en-US" sz="900" b="1" i="0" u="none" strike="noStrike" cap="none" dirty="0" err="1">
                <a:solidFill>
                  <a:srgbClr val="7F7F7F"/>
                </a:solidFill>
                <a:latin typeface="Arial"/>
                <a:ea typeface="Arial"/>
                <a:cs typeface="Arial"/>
                <a:sym typeface="Arial"/>
              </a:rPr>
              <a:t>Chương</a:t>
            </a:r>
            <a:r>
              <a:rPr lang="en-US" sz="900" b="1" i="0" u="none" strike="noStrike" cap="none" dirty="0">
                <a:solidFill>
                  <a:srgbClr val="7F7F7F"/>
                </a:solidFill>
                <a:latin typeface="Arial"/>
                <a:ea typeface="Arial"/>
                <a:cs typeface="Arial"/>
                <a:sym typeface="Arial"/>
              </a:rPr>
              <a:t> 3. </a:t>
            </a:r>
            <a:r>
              <a:rPr lang="en-US" sz="900" b="1" i="0" u="none" strike="noStrike" cap="none" dirty="0">
                <a:solidFill>
                  <a:schemeClr val="dk1"/>
                </a:solidFill>
                <a:latin typeface="Arial"/>
                <a:ea typeface="Arial"/>
                <a:cs typeface="Arial"/>
                <a:sym typeface="Arial"/>
              </a:rPr>
              <a:t>Giao </a:t>
            </a:r>
            <a:r>
              <a:rPr lang="en-US" sz="900" b="1" i="0" u="none" strike="noStrike" cap="none" dirty="0" err="1">
                <a:solidFill>
                  <a:schemeClr val="dk1"/>
                </a:solidFill>
                <a:latin typeface="Arial"/>
                <a:ea typeface="Arial"/>
                <a:cs typeface="Arial"/>
                <a:sym typeface="Arial"/>
              </a:rPr>
              <a:t>tiếp</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với</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hệ</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thống</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cảm</a:t>
            </a:r>
            <a:r>
              <a:rPr lang="en-US" sz="900" b="1" i="0" u="none" strike="noStrike" cap="none" dirty="0">
                <a:solidFill>
                  <a:schemeClr val="dk1"/>
                </a:solidFill>
                <a:latin typeface="Arial"/>
                <a:ea typeface="Arial"/>
                <a:cs typeface="Arial"/>
                <a:sym typeface="Arial"/>
              </a:rPr>
              <a:t> </a:t>
            </a:r>
            <a:r>
              <a:rPr lang="en-US" sz="900" b="1" i="0" u="none" strike="noStrike" cap="none" dirty="0" err="1">
                <a:solidFill>
                  <a:schemeClr val="dk1"/>
                </a:solidFill>
                <a:latin typeface="Arial"/>
                <a:ea typeface="Arial"/>
                <a:cs typeface="Arial"/>
                <a:sym typeface="Arial"/>
              </a:rPr>
              <a:t>biến</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
        <p:cNvGrpSpPr/>
        <p:nvPr/>
      </p:nvGrpSpPr>
      <p:grpSpPr>
        <a:xfrm>
          <a:off x="0" y="0"/>
          <a:ext cx="0" cy="0"/>
          <a:chOff x="0" y="0"/>
          <a:chExt cx="0" cy="0"/>
        </a:xfrm>
      </p:grpSpPr>
      <p:sp>
        <p:nvSpPr>
          <p:cNvPr id="7" name="Google Shape;7;p236"/>
          <p:cNvSpPr txBox="1">
            <a:spLocks noGrp="1"/>
          </p:cNvSpPr>
          <p:nvPr>
            <p:ph type="title"/>
          </p:nvPr>
        </p:nvSpPr>
        <p:spPr>
          <a:xfrm>
            <a:off x="681038" y="365125"/>
            <a:ext cx="854075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algun Gothic"/>
              <a:buNone/>
              <a:defRPr sz="4400" b="0" i="0" u="none" strike="noStrike" cap="non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236"/>
          <p:cNvSpPr txBox="1">
            <a:spLocks noGrp="1"/>
          </p:cNvSpPr>
          <p:nvPr>
            <p:ph type="body" idx="1"/>
          </p:nvPr>
        </p:nvSpPr>
        <p:spPr>
          <a:xfrm>
            <a:off x="681038" y="1825625"/>
            <a:ext cx="854075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algun Gothic"/>
                <a:ea typeface="Malgun Gothic"/>
                <a:cs typeface="Malgun Gothic"/>
                <a:sym typeface="Malgun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algun Gothic"/>
                <a:ea typeface="Malgun Gothic"/>
                <a:cs typeface="Malgun Gothic"/>
                <a:sym typeface="Malgun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algun Gothic"/>
                <a:ea typeface="Malgun Gothic"/>
                <a:cs typeface="Malgun Gothic"/>
                <a:sym typeface="Malgun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algun Gothic"/>
                <a:ea typeface="Malgun Gothic"/>
                <a:cs typeface="Malgun Gothic"/>
                <a:sym typeface="Malgun Gothic"/>
              </a:defRPr>
            </a:lvl9pPr>
          </a:lstStyle>
          <a:p>
            <a:endParaRPr/>
          </a:p>
        </p:txBody>
      </p:sp>
      <p:sp>
        <p:nvSpPr>
          <p:cNvPr id="9" name="Google Shape;9;p236"/>
          <p:cNvSpPr txBox="1">
            <a:spLocks noGrp="1"/>
          </p:cNvSpPr>
          <p:nvPr>
            <p:ph type="dt" idx="10"/>
          </p:nvPr>
        </p:nvSpPr>
        <p:spPr>
          <a:xfrm>
            <a:off x="681038" y="6356350"/>
            <a:ext cx="222726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0" name="Google Shape;10;p236"/>
          <p:cNvSpPr txBox="1">
            <a:spLocks noGrp="1"/>
          </p:cNvSpPr>
          <p:nvPr>
            <p:ph type="ftr" idx="11"/>
          </p:nvPr>
        </p:nvSpPr>
        <p:spPr>
          <a:xfrm>
            <a:off x="3279775" y="6356350"/>
            <a:ext cx="3343275"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Malgun Gothic"/>
                <a:ea typeface="Malgun Gothic"/>
                <a:cs typeface="Malgun Gothic"/>
                <a:sym typeface="Malgun Gothic"/>
              </a:defRPr>
            </a:lvl1pPr>
            <a:lvl2pPr marR="0" lvl="1"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2pPr>
            <a:lvl3pPr marR="0" lvl="2"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3pPr>
            <a:lvl4pPr marR="0" lvl="3"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4pPr>
            <a:lvl5pPr marR="0" lvl="4"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5pPr>
            <a:lvl6pPr marR="0" lvl="5"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6pPr>
            <a:lvl7pPr marR="0" lvl="6"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7pPr>
            <a:lvl8pPr marR="0" lvl="7"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8pPr>
            <a:lvl9pPr marR="0" lvl="8" algn="l" rtl="0">
              <a:spcBef>
                <a:spcPts val="0"/>
              </a:spcBef>
              <a:spcAft>
                <a:spcPts val="0"/>
              </a:spcAft>
              <a:buSzPts val="1400"/>
              <a:buNone/>
              <a:defRPr sz="1800" b="0" i="0" u="none" strike="noStrike" cap="none">
                <a:solidFill>
                  <a:schemeClr val="dk1"/>
                </a:solidFill>
                <a:latin typeface="Malgun Gothic"/>
                <a:ea typeface="Malgun Gothic"/>
                <a:cs typeface="Malgun Gothic"/>
                <a:sym typeface="Malgun Gothic"/>
              </a:defRPr>
            </a:lvl9pPr>
          </a:lstStyle>
          <a:p>
            <a:endParaRPr/>
          </a:p>
        </p:txBody>
      </p:sp>
      <p:sp>
        <p:nvSpPr>
          <p:cNvPr id="11" name="Google Shape;11;p236"/>
          <p:cNvSpPr txBox="1">
            <a:spLocks noGrp="1"/>
          </p:cNvSpPr>
          <p:nvPr>
            <p:ph type="sldNum" idx="12"/>
          </p:nvPr>
        </p:nvSpPr>
        <p:spPr>
          <a:xfrm>
            <a:off x="6994525" y="6356350"/>
            <a:ext cx="2227263"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Malgun Gothic"/>
                <a:ea typeface="Malgun Gothic"/>
                <a:cs typeface="Malgun Gothic"/>
                <a:sym typeface="Malgun Gothic"/>
              </a:defRPr>
            </a:lvl1pPr>
            <a:lvl2pPr marL="0" marR="0" lvl="1" indent="0" algn="r" rtl="0">
              <a:spcBef>
                <a:spcPts val="0"/>
              </a:spcBef>
              <a:buNone/>
              <a:defRPr sz="1200" b="0" i="0" u="none" strike="noStrike" cap="none">
                <a:solidFill>
                  <a:srgbClr val="888888"/>
                </a:solidFill>
                <a:latin typeface="Malgun Gothic"/>
                <a:ea typeface="Malgun Gothic"/>
                <a:cs typeface="Malgun Gothic"/>
                <a:sym typeface="Malgun Gothic"/>
              </a:defRPr>
            </a:lvl2pPr>
            <a:lvl3pPr marL="0" marR="0" lvl="2" indent="0" algn="r" rtl="0">
              <a:spcBef>
                <a:spcPts val="0"/>
              </a:spcBef>
              <a:buNone/>
              <a:defRPr sz="1200" b="0" i="0" u="none" strike="noStrike" cap="none">
                <a:solidFill>
                  <a:srgbClr val="888888"/>
                </a:solidFill>
                <a:latin typeface="Malgun Gothic"/>
                <a:ea typeface="Malgun Gothic"/>
                <a:cs typeface="Malgun Gothic"/>
                <a:sym typeface="Malgun Gothic"/>
              </a:defRPr>
            </a:lvl3pPr>
            <a:lvl4pPr marL="0" marR="0" lvl="3" indent="0" algn="r" rtl="0">
              <a:spcBef>
                <a:spcPts val="0"/>
              </a:spcBef>
              <a:buNone/>
              <a:defRPr sz="1200" b="0" i="0" u="none" strike="noStrike" cap="none">
                <a:solidFill>
                  <a:srgbClr val="888888"/>
                </a:solidFill>
                <a:latin typeface="Malgun Gothic"/>
                <a:ea typeface="Malgun Gothic"/>
                <a:cs typeface="Malgun Gothic"/>
                <a:sym typeface="Malgun Gothic"/>
              </a:defRPr>
            </a:lvl4pPr>
            <a:lvl5pPr marL="0" marR="0" lvl="4" indent="0" algn="r" rtl="0">
              <a:spcBef>
                <a:spcPts val="0"/>
              </a:spcBef>
              <a:buNone/>
              <a:defRPr sz="1200" b="0" i="0" u="none" strike="noStrike" cap="none">
                <a:solidFill>
                  <a:srgbClr val="888888"/>
                </a:solidFill>
                <a:latin typeface="Malgun Gothic"/>
                <a:ea typeface="Malgun Gothic"/>
                <a:cs typeface="Malgun Gothic"/>
                <a:sym typeface="Malgun Gothic"/>
              </a:defRPr>
            </a:lvl5pPr>
            <a:lvl6pPr marL="0" marR="0" lvl="5" indent="0" algn="r" rtl="0">
              <a:spcBef>
                <a:spcPts val="0"/>
              </a:spcBef>
              <a:buNone/>
              <a:defRPr sz="1200" b="0" i="0" u="none" strike="noStrike" cap="none">
                <a:solidFill>
                  <a:srgbClr val="888888"/>
                </a:solidFill>
                <a:latin typeface="Malgun Gothic"/>
                <a:ea typeface="Malgun Gothic"/>
                <a:cs typeface="Malgun Gothic"/>
                <a:sym typeface="Malgun Gothic"/>
              </a:defRPr>
            </a:lvl6pPr>
            <a:lvl7pPr marL="0" marR="0" lvl="6" indent="0" algn="r" rtl="0">
              <a:spcBef>
                <a:spcPts val="0"/>
              </a:spcBef>
              <a:buNone/>
              <a:defRPr sz="1200" b="0" i="0" u="none" strike="noStrike" cap="none">
                <a:solidFill>
                  <a:srgbClr val="888888"/>
                </a:solidFill>
                <a:latin typeface="Malgun Gothic"/>
                <a:ea typeface="Malgun Gothic"/>
                <a:cs typeface="Malgun Gothic"/>
                <a:sym typeface="Malgun Gothic"/>
              </a:defRPr>
            </a:lvl7pPr>
            <a:lvl8pPr marL="0" marR="0" lvl="7" indent="0" algn="r" rtl="0">
              <a:spcBef>
                <a:spcPts val="0"/>
              </a:spcBef>
              <a:buNone/>
              <a:defRPr sz="1200" b="0" i="0" u="none" strike="noStrike" cap="none">
                <a:solidFill>
                  <a:srgbClr val="888888"/>
                </a:solidFill>
                <a:latin typeface="Malgun Gothic"/>
                <a:ea typeface="Malgun Gothic"/>
                <a:cs typeface="Malgun Gothic"/>
                <a:sym typeface="Malgun Gothic"/>
              </a:defRPr>
            </a:lvl8pPr>
            <a:lvl9pPr marL="0" marR="0" lvl="8" indent="0" algn="r" rtl="0">
              <a:spcBef>
                <a:spcPts val="0"/>
              </a:spcBef>
              <a:buNone/>
              <a:defRPr sz="1200" b="0" i="0" u="none" strike="noStrike" cap="none">
                <a:solidFill>
                  <a:srgbClr val="888888"/>
                </a:solidFill>
                <a:latin typeface="Malgun Gothic"/>
                <a:ea typeface="Malgun Gothic"/>
                <a:cs typeface="Malgun Gothic"/>
                <a:sym typeface="Malgun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6" r:id="rId5"/>
    <p:sldLayoutId id="2147483659" r:id="rId6"/>
    <p:sldLayoutId id="2147483660"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hyperlink" Target="https://www.tinkercad.com/things/jHI79RTFPob-fantabulous-wolt-kup/editel?returnTo=https%3A%2F%2Fwww.tinkercad.com%2Fdashboard" TargetMode="External"/><Relationship Id="rId2" Type="http://schemas.openxmlformats.org/officeDocument/2006/relationships/notesSlide" Target="../notesSlides/notesSlide80.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3.xml"/><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grpSp>
        <p:nvGrpSpPr>
          <p:cNvPr id="149" name="Google Shape;149;p2"/>
          <p:cNvGrpSpPr/>
          <p:nvPr/>
        </p:nvGrpSpPr>
        <p:grpSpPr>
          <a:xfrm>
            <a:off x="732970" y="2724996"/>
            <a:ext cx="8863093" cy="1211464"/>
            <a:chOff x="720000" y="2070000"/>
            <a:chExt cx="6700038" cy="1211464"/>
          </a:xfrm>
        </p:grpSpPr>
        <p:sp>
          <p:nvSpPr>
            <p:cNvPr id="150" name="Google Shape;150;p2"/>
            <p:cNvSpPr/>
            <p:nvPr/>
          </p:nvSpPr>
          <p:spPr>
            <a:xfrm>
              <a:off x="990000" y="2524714"/>
              <a:ext cx="6430038" cy="6771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400" b="1" i="0" u="none" strike="noStrike" cap="none" dirty="0">
                  <a:solidFill>
                    <a:schemeClr val="dk1"/>
                  </a:solidFill>
                  <a:latin typeface="Arial"/>
                  <a:ea typeface="Arial"/>
                  <a:cs typeface="Arial"/>
                  <a:sym typeface="Arial"/>
                </a:rPr>
                <a:t>Giao </a:t>
              </a:r>
              <a:r>
                <a:rPr lang="en-US" sz="4400" b="1" i="0" u="none" strike="noStrike" cap="none" dirty="0" err="1">
                  <a:solidFill>
                    <a:schemeClr val="dk1"/>
                  </a:solidFill>
                  <a:latin typeface="Arial"/>
                  <a:ea typeface="Arial"/>
                  <a:cs typeface="Arial"/>
                  <a:sym typeface="Arial"/>
                </a:rPr>
                <a:t>tiếp</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với</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hệ</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thống</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cảm</a:t>
              </a:r>
              <a:r>
                <a:rPr lang="en-US" sz="4400" b="1" i="0" u="none" strike="noStrike" cap="none" dirty="0">
                  <a:solidFill>
                    <a:schemeClr val="dk1"/>
                  </a:solidFill>
                  <a:latin typeface="Arial"/>
                  <a:ea typeface="Arial"/>
                  <a:cs typeface="Arial"/>
                  <a:sym typeface="Arial"/>
                </a:rPr>
                <a:t> </a:t>
              </a:r>
              <a:r>
                <a:rPr lang="en-US" sz="4400" b="1" i="0" u="none" strike="noStrike" cap="none" dirty="0" err="1">
                  <a:solidFill>
                    <a:schemeClr val="dk1"/>
                  </a:solidFill>
                  <a:latin typeface="Arial"/>
                  <a:ea typeface="Arial"/>
                  <a:cs typeface="Arial"/>
                  <a:sym typeface="Arial"/>
                </a:rPr>
                <a:t>biến</a:t>
              </a:r>
              <a:endParaRPr dirty="0"/>
            </a:p>
          </p:txBody>
        </p:sp>
        <p:sp>
          <p:nvSpPr>
            <p:cNvPr id="152" name="Google Shape;152;p2"/>
            <p:cNvSpPr/>
            <p:nvPr/>
          </p:nvSpPr>
          <p:spPr>
            <a:xfrm>
              <a:off x="990000" y="2070000"/>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i="0" u="none" strike="noStrike" cap="none" dirty="0">
                  <a:solidFill>
                    <a:srgbClr val="7F7F7F"/>
                  </a:solidFill>
                  <a:latin typeface="Arial"/>
                  <a:ea typeface="Arial"/>
                  <a:cs typeface="Arial"/>
                  <a:sym typeface="Arial"/>
                </a:rPr>
                <a:t>CHƯƠNG 3. </a:t>
              </a:r>
              <a:endParaRPr sz="5400" b="1" i="0" u="none" strike="noStrike" cap="none" dirty="0">
                <a:solidFill>
                  <a:srgbClr val="7F7F7F"/>
                </a:solidFill>
                <a:latin typeface="Arial"/>
                <a:ea typeface="Arial"/>
                <a:cs typeface="Arial"/>
                <a:sym typeface="Arial"/>
              </a:endParaRPr>
            </a:p>
          </p:txBody>
        </p:sp>
        <p:sp>
          <p:nvSpPr>
            <p:cNvPr id="153" name="Google Shape;153;p2"/>
            <p:cNvSpPr/>
            <p:nvPr/>
          </p:nvSpPr>
          <p:spPr>
            <a:xfrm>
              <a:off x="720000" y="2095275"/>
              <a:ext cx="60008" cy="1186189"/>
            </a:xfrm>
            <a:prstGeom prst="rect">
              <a:avLst/>
            </a:prstGeom>
            <a:solidFill>
              <a:srgbClr val="1428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grpSp>
        <p:nvGrpSpPr>
          <p:cNvPr id="160" name="Google Shape;160;p3"/>
          <p:cNvGrpSpPr/>
          <p:nvPr/>
        </p:nvGrpSpPr>
        <p:grpSpPr>
          <a:xfrm>
            <a:off x="449856" y="450955"/>
            <a:ext cx="8999458" cy="369214"/>
            <a:chOff x="450000" y="450000"/>
            <a:chExt cx="9002343" cy="369332"/>
          </a:xfrm>
        </p:grpSpPr>
        <p:sp>
          <p:nvSpPr>
            <p:cNvPr id="161" name="Google Shape;161;p3"/>
            <p:cNvSpPr/>
            <p:nvPr/>
          </p:nvSpPr>
          <p:spPr>
            <a:xfrm>
              <a:off x="450000" y="450000"/>
              <a:ext cx="8785226"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193EB0"/>
                  </a:solidFill>
                  <a:latin typeface="Arial"/>
                  <a:ea typeface="Arial"/>
                  <a:cs typeface="Arial"/>
                  <a:sym typeface="Arial"/>
                </a:rPr>
                <a:t>Mô tả chương</a:t>
              </a:r>
              <a:endParaRPr sz="2400" b="1">
                <a:solidFill>
                  <a:srgbClr val="193EB0"/>
                </a:solidFill>
                <a:latin typeface="Arial"/>
                <a:ea typeface="Arial"/>
                <a:cs typeface="Arial"/>
                <a:sym typeface="Arial"/>
              </a:endParaRPr>
            </a:p>
          </p:txBody>
        </p:sp>
        <p:cxnSp>
          <p:nvCxnSpPr>
            <p:cNvPr id="162" name="Google Shape;162;p3"/>
            <p:cNvCxnSpPr/>
            <p:nvPr/>
          </p:nvCxnSpPr>
          <p:spPr>
            <a:xfrm>
              <a:off x="3593437" y="630000"/>
              <a:ext cx="5858906" cy="0"/>
            </a:xfrm>
            <a:prstGeom prst="straightConnector1">
              <a:avLst/>
            </a:prstGeom>
            <a:noFill/>
            <a:ln w="12700" cap="flat" cmpd="sng">
              <a:solidFill>
                <a:srgbClr val="1428A0"/>
              </a:solidFill>
              <a:prstDash val="solid"/>
              <a:miter lim="800000"/>
              <a:headEnd type="none" w="sm" len="sm"/>
              <a:tailEnd type="none" w="sm" len="sm"/>
            </a:ln>
          </p:spPr>
        </p:cxnSp>
      </p:grpSp>
      <p:sp>
        <p:nvSpPr>
          <p:cNvPr id="163" name="Google Shape;163;p3"/>
          <p:cNvSpPr/>
          <p:nvPr/>
        </p:nvSpPr>
        <p:spPr>
          <a:xfrm>
            <a:off x="710975" y="1619179"/>
            <a:ext cx="8630058" cy="890876"/>
          </a:xfrm>
          <a:prstGeom prst="rect">
            <a:avLst/>
          </a:prstGeom>
          <a:noFill/>
          <a:ln w="19050" cap="flat" cmpd="sng">
            <a:solidFill>
              <a:srgbClr val="F2F2F2"/>
            </a:solidFill>
            <a:prstDash val="solid"/>
            <a:miter lim="800000"/>
            <a:headEnd type="none" w="sm" len="sm"/>
            <a:tailEnd type="none" w="sm" len="sm"/>
          </a:ln>
        </p:spPr>
        <p:txBody>
          <a:bodyPr spcFirstLastPara="1" wrap="square" lIns="143950" tIns="143950" rIns="143950" bIns="143950" anchor="t" anchorCtr="0">
            <a:spAutoFit/>
          </a:bodyPr>
          <a:lstStyle/>
          <a:p>
            <a:pPr marL="285664" marR="0" lvl="0" indent="-285664" algn="l" rtl="0">
              <a:spcBef>
                <a:spcPts val="0"/>
              </a:spcBef>
              <a:spcAft>
                <a:spcPts val="0"/>
              </a:spcAft>
              <a:buClr>
                <a:srgbClr val="A5A5A5"/>
              </a:buClr>
              <a:buSzPts val="1300"/>
              <a:buFont typeface="Noto Sans Symbols"/>
              <a:buChar char="✔"/>
            </a:pPr>
            <a:r>
              <a:rPr lang="vi-VN" sz="1300" dirty="0">
                <a:solidFill>
                  <a:srgbClr val="262626"/>
                </a:solidFill>
                <a:latin typeface="Arial"/>
                <a:ea typeface="Arial"/>
                <a:cs typeface="Arial"/>
                <a:sym typeface="Arial"/>
              </a:rPr>
              <a:t>Chương này trình bày nguyên lý giao tiếp cảm biến ở lớp vật lý, cấu trúc và cơ chế truyền dữ liệu của Modbus RS-485, giúp người học hiểu cách mở cổng và kết nối thiết bị qua giao tiếp 485, đồng thời thực hiện điều khiển thiết bị và thu nhận dữ liệu cảm biến thông qua RS-485 trong các hệ thống đo lường và giám sát.</a:t>
            </a:r>
            <a:endParaRPr dirty="0"/>
          </a:p>
        </p:txBody>
      </p:sp>
      <p:grpSp>
        <p:nvGrpSpPr>
          <p:cNvPr id="164" name="Google Shape;164;p3"/>
          <p:cNvGrpSpPr/>
          <p:nvPr/>
        </p:nvGrpSpPr>
        <p:grpSpPr>
          <a:xfrm>
            <a:off x="441605" y="1288351"/>
            <a:ext cx="8899428" cy="233692"/>
            <a:chOff x="441747" y="1714333"/>
            <a:chExt cx="8902281" cy="233767"/>
          </a:xfrm>
        </p:grpSpPr>
        <p:sp>
          <p:nvSpPr>
            <p:cNvPr id="165" name="Google Shape;165;p3"/>
            <p:cNvSpPr/>
            <p:nvPr/>
          </p:nvSpPr>
          <p:spPr>
            <a:xfrm>
              <a:off x="711203" y="1723495"/>
              <a:ext cx="86328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a:solidFill>
                    <a:srgbClr val="262626"/>
                  </a:solidFill>
                  <a:latin typeface="Arial"/>
                  <a:ea typeface="Arial"/>
                  <a:cs typeface="Arial"/>
                  <a:sym typeface="Arial"/>
                </a:rPr>
                <a:t>Mục tiêu của chương</a:t>
              </a:r>
              <a:endParaRPr sz="1400">
                <a:solidFill>
                  <a:srgbClr val="262626"/>
                </a:solidFill>
                <a:latin typeface="Arial"/>
                <a:ea typeface="Arial"/>
                <a:cs typeface="Arial"/>
                <a:sym typeface="Arial"/>
              </a:endParaRPr>
            </a:p>
          </p:txBody>
        </p:sp>
        <p:sp>
          <p:nvSpPr>
            <p:cNvPr id="166" name="Google Shape;166;p3"/>
            <p:cNvSpPr/>
            <p:nvPr/>
          </p:nvSpPr>
          <p:spPr>
            <a:xfrm>
              <a:off x="441747" y="1714333"/>
              <a:ext cx="216000" cy="233767"/>
            </a:xfrm>
            <a:custGeom>
              <a:avLst/>
              <a:gdLst/>
              <a:ahLst/>
              <a:cxnLst/>
              <a:rect l="l" t="t" r="r" b="b"/>
              <a:pathLst>
                <a:path w="21600" h="21251" extrusionOk="0">
                  <a:moveTo>
                    <a:pt x="0" y="7472"/>
                  </a:moveTo>
                  <a:cubicBezTo>
                    <a:pt x="0" y="6079"/>
                    <a:pt x="1085" y="4368"/>
                    <a:pt x="2412" y="3670"/>
                  </a:cubicBezTo>
                  <a:lnTo>
                    <a:pt x="8389" y="523"/>
                  </a:lnTo>
                  <a:cubicBezTo>
                    <a:pt x="9715" y="-175"/>
                    <a:pt x="11885" y="-175"/>
                    <a:pt x="13211" y="523"/>
                  </a:cubicBezTo>
                  <a:lnTo>
                    <a:pt x="19188" y="3670"/>
                  </a:lnTo>
                  <a:cubicBezTo>
                    <a:pt x="20515" y="4368"/>
                    <a:pt x="21600" y="6079"/>
                    <a:pt x="21600" y="7472"/>
                  </a:cubicBezTo>
                  <a:lnTo>
                    <a:pt x="21600" y="13778"/>
                  </a:lnTo>
                  <a:cubicBezTo>
                    <a:pt x="21600" y="15171"/>
                    <a:pt x="20515" y="16882"/>
                    <a:pt x="19188" y="17580"/>
                  </a:cubicBezTo>
                  <a:lnTo>
                    <a:pt x="13211" y="20727"/>
                  </a:lnTo>
                  <a:cubicBezTo>
                    <a:pt x="11885" y="21425"/>
                    <a:pt x="9715" y="21425"/>
                    <a:pt x="8389" y="20727"/>
                  </a:cubicBezTo>
                  <a:lnTo>
                    <a:pt x="2412" y="17580"/>
                  </a:lnTo>
                  <a:cubicBezTo>
                    <a:pt x="1085" y="16882"/>
                    <a:pt x="0" y="15171"/>
                    <a:pt x="0" y="13778"/>
                  </a:cubicBezTo>
                  <a:lnTo>
                    <a:pt x="0" y="7472"/>
                  </a:lnTo>
                  <a:close/>
                  <a:moveTo>
                    <a:pt x="0" y="7472"/>
                  </a:moveTo>
                </a:path>
              </a:pathLst>
            </a:custGeom>
            <a:solidFill>
              <a:srgbClr val="D8D8D8"/>
            </a:solidFill>
            <a:ln w="7620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799">
                <a:solidFill>
                  <a:schemeClr val="dk1"/>
                </a:solidFill>
                <a:latin typeface="Malgun Gothic"/>
                <a:ea typeface="Malgun Gothic"/>
                <a:cs typeface="Malgun Gothic"/>
                <a:sym typeface="Malgun Gothic"/>
              </a:endParaRPr>
            </a:p>
          </p:txBody>
        </p:sp>
      </p:grpSp>
      <p:grpSp>
        <p:nvGrpSpPr>
          <p:cNvPr id="167" name="Google Shape;167;p3"/>
          <p:cNvGrpSpPr/>
          <p:nvPr/>
        </p:nvGrpSpPr>
        <p:grpSpPr>
          <a:xfrm>
            <a:off x="449856" y="2973773"/>
            <a:ext cx="8899428" cy="233692"/>
            <a:chOff x="441747" y="1714333"/>
            <a:chExt cx="8902281" cy="233767"/>
          </a:xfrm>
        </p:grpSpPr>
        <p:sp>
          <p:nvSpPr>
            <p:cNvPr id="168" name="Google Shape;168;p3"/>
            <p:cNvSpPr/>
            <p:nvPr/>
          </p:nvSpPr>
          <p:spPr>
            <a:xfrm>
              <a:off x="711203" y="1723495"/>
              <a:ext cx="8632825"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262626"/>
                  </a:solidFill>
                  <a:latin typeface="Arial"/>
                  <a:ea typeface="Arial"/>
                  <a:cs typeface="Arial"/>
                  <a:sym typeface="Arial"/>
                </a:rPr>
                <a:t>Nội dung của chương</a:t>
              </a:r>
              <a:endParaRPr sz="1400" b="1">
                <a:solidFill>
                  <a:srgbClr val="262626"/>
                </a:solidFill>
                <a:latin typeface="Arial"/>
                <a:ea typeface="Arial"/>
                <a:cs typeface="Arial"/>
                <a:sym typeface="Arial"/>
              </a:endParaRPr>
            </a:p>
          </p:txBody>
        </p:sp>
        <p:sp>
          <p:nvSpPr>
            <p:cNvPr id="169" name="Google Shape;169;p3"/>
            <p:cNvSpPr/>
            <p:nvPr/>
          </p:nvSpPr>
          <p:spPr>
            <a:xfrm>
              <a:off x="441747" y="1714333"/>
              <a:ext cx="216000" cy="233767"/>
            </a:xfrm>
            <a:custGeom>
              <a:avLst/>
              <a:gdLst/>
              <a:ahLst/>
              <a:cxnLst/>
              <a:rect l="l" t="t" r="r" b="b"/>
              <a:pathLst>
                <a:path w="21600" h="21251" extrusionOk="0">
                  <a:moveTo>
                    <a:pt x="0" y="7472"/>
                  </a:moveTo>
                  <a:cubicBezTo>
                    <a:pt x="0" y="6079"/>
                    <a:pt x="1085" y="4368"/>
                    <a:pt x="2412" y="3670"/>
                  </a:cubicBezTo>
                  <a:lnTo>
                    <a:pt x="8389" y="523"/>
                  </a:lnTo>
                  <a:cubicBezTo>
                    <a:pt x="9715" y="-175"/>
                    <a:pt x="11885" y="-175"/>
                    <a:pt x="13211" y="523"/>
                  </a:cubicBezTo>
                  <a:lnTo>
                    <a:pt x="19188" y="3670"/>
                  </a:lnTo>
                  <a:cubicBezTo>
                    <a:pt x="20515" y="4368"/>
                    <a:pt x="21600" y="6079"/>
                    <a:pt x="21600" y="7472"/>
                  </a:cubicBezTo>
                  <a:lnTo>
                    <a:pt x="21600" y="13778"/>
                  </a:lnTo>
                  <a:cubicBezTo>
                    <a:pt x="21600" y="15171"/>
                    <a:pt x="20515" y="16882"/>
                    <a:pt x="19188" y="17580"/>
                  </a:cubicBezTo>
                  <a:lnTo>
                    <a:pt x="13211" y="20727"/>
                  </a:lnTo>
                  <a:cubicBezTo>
                    <a:pt x="11885" y="21425"/>
                    <a:pt x="9715" y="21425"/>
                    <a:pt x="8389" y="20727"/>
                  </a:cubicBezTo>
                  <a:lnTo>
                    <a:pt x="2412" y="17580"/>
                  </a:lnTo>
                  <a:cubicBezTo>
                    <a:pt x="1085" y="16882"/>
                    <a:pt x="0" y="15171"/>
                    <a:pt x="0" y="13778"/>
                  </a:cubicBezTo>
                  <a:lnTo>
                    <a:pt x="0" y="7472"/>
                  </a:lnTo>
                  <a:close/>
                  <a:moveTo>
                    <a:pt x="0" y="7472"/>
                  </a:moveTo>
                </a:path>
              </a:pathLst>
            </a:custGeom>
            <a:solidFill>
              <a:srgbClr val="D8D8D8"/>
            </a:solidFill>
            <a:ln w="76200" cap="flat" cmpd="sng">
              <a:solidFill>
                <a:schemeClr val="lt1"/>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799">
                <a:solidFill>
                  <a:schemeClr val="dk1"/>
                </a:solidFill>
                <a:latin typeface="Malgun Gothic"/>
                <a:ea typeface="Malgun Gothic"/>
                <a:cs typeface="Malgun Gothic"/>
                <a:sym typeface="Malgun Gothic"/>
              </a:endParaRPr>
            </a:p>
          </p:txBody>
        </p:sp>
      </p:grpSp>
      <p:sp>
        <p:nvSpPr>
          <p:cNvPr id="170" name="Google Shape;170;p3"/>
          <p:cNvSpPr/>
          <p:nvPr/>
        </p:nvSpPr>
        <p:spPr>
          <a:xfrm>
            <a:off x="710974" y="3278558"/>
            <a:ext cx="8630058" cy="1491040"/>
          </a:xfrm>
          <a:prstGeom prst="rect">
            <a:avLst/>
          </a:prstGeom>
          <a:noFill/>
          <a:ln w="19050" cap="flat" cmpd="sng">
            <a:solidFill>
              <a:srgbClr val="F2F2F2"/>
            </a:solidFill>
            <a:prstDash val="solid"/>
            <a:miter lim="800000"/>
            <a:headEnd type="none" w="sm" len="sm"/>
            <a:tailEnd type="none" w="sm" len="sm"/>
          </a:ln>
        </p:spPr>
        <p:txBody>
          <a:bodyPr spcFirstLastPara="1" wrap="square" lIns="143950" tIns="143950" rIns="143950" bIns="143950" anchor="t" anchorCtr="0">
            <a:spAutoFit/>
          </a:bodyPr>
          <a:lstStyle/>
          <a:p>
            <a:pPr marL="285664" lvl="0" indent="-285664">
              <a:buClr>
                <a:srgbClr val="A5A5A5"/>
              </a:buClr>
              <a:buSzPts val="1300"/>
              <a:buFont typeface="Noto Sans Symbols"/>
              <a:buChar char="✔"/>
            </a:pPr>
            <a:r>
              <a:rPr lang="vi-VN" sz="1300" dirty="0">
                <a:solidFill>
                  <a:srgbClr val="262626"/>
                </a:solidFill>
              </a:rPr>
              <a:t>Các giao tiếp cơ bản trong lớp vật lý</a:t>
            </a:r>
          </a:p>
          <a:p>
            <a:pPr marL="285664" lvl="0" indent="-285664">
              <a:buClr>
                <a:srgbClr val="A5A5A5"/>
              </a:buClr>
              <a:buSzPts val="1300"/>
              <a:buFont typeface="Noto Sans Symbols"/>
              <a:buChar char="✔"/>
            </a:pPr>
            <a:r>
              <a:rPr lang="en-US" sz="1300" dirty="0" err="1">
                <a:solidFill>
                  <a:srgbClr val="262626"/>
                </a:solidFill>
              </a:rPr>
              <a:t>Cơ</a:t>
            </a:r>
            <a:r>
              <a:rPr lang="en-US" sz="1300" dirty="0">
                <a:solidFill>
                  <a:srgbClr val="262626"/>
                </a:solidFill>
              </a:rPr>
              <a:t> </a:t>
            </a:r>
            <a:r>
              <a:rPr lang="en-US" sz="1300" dirty="0" err="1">
                <a:solidFill>
                  <a:srgbClr val="262626"/>
                </a:solidFill>
              </a:rPr>
              <a:t>sở</a:t>
            </a:r>
            <a:r>
              <a:rPr lang="en-US" sz="1300" dirty="0">
                <a:solidFill>
                  <a:srgbClr val="262626"/>
                </a:solidFill>
              </a:rPr>
              <a:t> </a:t>
            </a:r>
            <a:r>
              <a:rPr lang="en-US" sz="1300" dirty="0" err="1">
                <a:solidFill>
                  <a:srgbClr val="262626"/>
                </a:solidFill>
              </a:rPr>
              <a:t>kỹ</a:t>
            </a:r>
            <a:r>
              <a:rPr lang="en-US" sz="1300" dirty="0">
                <a:solidFill>
                  <a:srgbClr val="262626"/>
                </a:solidFill>
              </a:rPr>
              <a:t> </a:t>
            </a:r>
            <a:r>
              <a:rPr lang="en-US" sz="1300" dirty="0" err="1">
                <a:solidFill>
                  <a:srgbClr val="262626"/>
                </a:solidFill>
              </a:rPr>
              <a:t>thuật</a:t>
            </a:r>
            <a:r>
              <a:rPr lang="en-US" sz="1300" dirty="0">
                <a:solidFill>
                  <a:srgbClr val="262626"/>
                </a:solidFill>
              </a:rPr>
              <a:t> g</a:t>
            </a:r>
            <a:r>
              <a:rPr lang="vi-VN" sz="1300" dirty="0">
                <a:solidFill>
                  <a:srgbClr val="262626"/>
                </a:solidFill>
              </a:rPr>
              <a:t>iao tiếp dựa trên Modbus 485</a:t>
            </a:r>
          </a:p>
          <a:p>
            <a:pPr marL="285664" lvl="0" indent="-285664">
              <a:buClr>
                <a:srgbClr val="A5A5A5"/>
              </a:buClr>
              <a:buSzPts val="1300"/>
              <a:buFont typeface="Noto Sans Symbols"/>
              <a:buChar char="✔"/>
            </a:pPr>
            <a:r>
              <a:rPr lang="vi-VN" sz="1300" dirty="0">
                <a:solidFill>
                  <a:srgbClr val="262626"/>
                </a:solidFill>
              </a:rPr>
              <a:t>Cấu trúc dữ liệu trong giao tiếp Modbus 485</a:t>
            </a:r>
          </a:p>
          <a:p>
            <a:pPr marL="285664" lvl="0" indent="-285664">
              <a:buClr>
                <a:srgbClr val="A5A5A5"/>
              </a:buClr>
              <a:buSzPts val="1300"/>
              <a:buFont typeface="Noto Sans Symbols"/>
              <a:buChar char="✔"/>
            </a:pPr>
            <a:r>
              <a:rPr lang="vi-VN" sz="1300" dirty="0">
                <a:solidFill>
                  <a:srgbClr val="262626"/>
                </a:solidFill>
              </a:rPr>
              <a:t>Mở cổng kết nối 485 cho thiết bị</a:t>
            </a:r>
          </a:p>
          <a:p>
            <a:pPr marL="285664" lvl="0" indent="-285664">
              <a:buClr>
                <a:srgbClr val="A5A5A5"/>
              </a:buClr>
              <a:buSzPts val="1300"/>
              <a:buFont typeface="Noto Sans Symbols"/>
              <a:buChar char="✔"/>
            </a:pPr>
            <a:r>
              <a:rPr lang="vi-VN" sz="1300" dirty="0">
                <a:solidFill>
                  <a:srgbClr val="262626"/>
                </a:solidFill>
              </a:rPr>
              <a:t>Điều khiển thiết bị thông qua 485</a:t>
            </a:r>
          </a:p>
          <a:p>
            <a:pPr marL="285664" lvl="0" indent="-285664">
              <a:buClr>
                <a:srgbClr val="A5A5A5"/>
              </a:buClr>
              <a:buSzPts val="1300"/>
              <a:buFont typeface="Noto Sans Symbols"/>
              <a:buChar char="✔"/>
            </a:pPr>
            <a:r>
              <a:rPr lang="vi-VN" sz="1300" dirty="0">
                <a:solidFill>
                  <a:srgbClr val="262626"/>
                </a:solidFill>
              </a:rPr>
              <a:t>Nhận thông tin cảm biến thông qua giao tiếp 485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4"/>
          <p:cNvSpPr/>
          <p:nvPr/>
        </p:nvSpPr>
        <p:spPr>
          <a:xfrm>
            <a:off x="918081" y="990736"/>
            <a:ext cx="8819923"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Các giao tiếp cơ bản trong lớp vật lý</a:t>
            </a:r>
          </a:p>
        </p:txBody>
      </p:sp>
      <p:sp>
        <p:nvSpPr>
          <p:cNvPr id="177" name="Google Shape;177;p4"/>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1. </a:t>
            </a:r>
            <a:endParaRPr sz="5400" b="1" dirty="0">
              <a:solidFill>
                <a:srgbClr val="7F7F7F"/>
              </a:solidFill>
              <a:latin typeface="Arial"/>
              <a:ea typeface="Arial"/>
              <a:cs typeface="Arial"/>
              <a:sym typeface="Arial"/>
            </a:endParaRPr>
          </a:p>
        </p:txBody>
      </p:sp>
      <p:sp>
        <p:nvSpPr>
          <p:cNvPr id="178" name="Google Shape;178;p4"/>
          <p:cNvSpPr/>
          <p:nvPr/>
        </p:nvSpPr>
        <p:spPr>
          <a:xfrm>
            <a:off x="1000274" y="2318181"/>
            <a:ext cx="7671115" cy="1897955"/>
          </a:xfrm>
          <a:prstGeom prst="rect">
            <a:avLst/>
          </a:prstGeom>
          <a:noFill/>
          <a:ln>
            <a:noFill/>
          </a:ln>
        </p:spPr>
        <p:txBody>
          <a:bodyPr spcFirstLastPara="1" wrap="square" lIns="0" tIns="0" rIns="0" bIns="0" anchor="t" anchorCtr="0">
            <a:spAutoFit/>
          </a:bodyPr>
          <a:lstStyle/>
          <a:p>
            <a:pPr marL="176213" lvl="0" indent="-176213">
              <a:buClr>
                <a:srgbClr val="3F3F3F"/>
              </a:buClr>
              <a:buSzPts val="2160"/>
              <a:buFont typeface="Arial"/>
              <a:buChar char="•"/>
            </a:pPr>
            <a:r>
              <a:rPr lang="en-US" sz="1800" dirty="0">
                <a:solidFill>
                  <a:schemeClr val="tx1"/>
                </a:solidFill>
                <a:latin typeface="Arial"/>
                <a:ea typeface="Arial"/>
                <a:cs typeface="Arial"/>
                <a:sym typeface="Arial"/>
              </a:rPr>
              <a:t>1.1. UART </a:t>
            </a:r>
            <a:endParaRPr dirty="0">
              <a:solidFill>
                <a:schemeClr val="tx1"/>
              </a:solidFill>
            </a:endParaRP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1.2. </a:t>
            </a:r>
            <a:r>
              <a:rPr lang="en-US" sz="1800" dirty="0">
                <a:solidFill>
                  <a:schemeClr val="bg1">
                    <a:lumMod val="75000"/>
                  </a:schemeClr>
                </a:solidFill>
              </a:rPr>
              <a:t>SPI</a:t>
            </a: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1.3 I</a:t>
            </a:r>
            <a:r>
              <a:rPr lang="en-US" sz="1800" dirty="0">
                <a:solidFill>
                  <a:srgbClr val="A6A6A6"/>
                </a:solidFill>
              </a:rPr>
              <a:t>2C</a:t>
            </a: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latin typeface="Arial"/>
                <a:ea typeface="Arial"/>
                <a:cs typeface="Arial"/>
                <a:sym typeface="Arial"/>
              </a:rPr>
              <a:t>1.4 RS232</a:t>
            </a: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rPr>
              <a:t>1.5 RS422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6A0A2789-BBD7-F980-1C63-6B7910E8DEDC}"/>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59FE9831-0EB3-1C9E-8270-A4C3322CE78E}"/>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36284608-91B5-D9B3-371C-F39C333A1723}"/>
              </a:ext>
            </a:extLst>
          </p:cNvPr>
          <p:cNvSpPr/>
          <p:nvPr/>
        </p:nvSpPr>
        <p:spPr>
          <a:xfrm>
            <a:off x="162320" y="829718"/>
            <a:ext cx="9392645" cy="4201150"/>
          </a:xfrm>
          <a:prstGeom prst="rect">
            <a:avLst/>
          </a:prstGeom>
          <a:noFill/>
          <a:ln>
            <a:noFill/>
          </a:ln>
        </p:spPr>
        <p:txBody>
          <a:bodyPr spcFirstLastPara="1" wrap="square" lIns="0" tIns="0" rIns="0" bIns="0" anchor="t" anchorCtr="0">
            <a:spAutoFit/>
          </a:bodyPr>
          <a:lstStyle/>
          <a:p>
            <a:pPr algn="just">
              <a:lnSpc>
                <a:spcPct val="150000"/>
              </a:lnSpc>
            </a:pPr>
            <a:r>
              <a:rPr lang="vi-VN" dirty="0"/>
              <a:t>Giao tiếp thu phát không đồng bộ đa năng (UART), một giao thức truyền thông nối tiếp có thể được sử dụng để gửi dữ liệu giữa bo mạch Arduino và các thiết bị khác. </a:t>
            </a:r>
            <a:endParaRPr lang="en-US" dirty="0"/>
          </a:p>
          <a:p>
            <a:pPr algn="just">
              <a:lnSpc>
                <a:spcPct val="150000"/>
              </a:lnSpc>
            </a:pPr>
            <a:r>
              <a:rPr lang="vi-VN" dirty="0"/>
              <a:t>Đây là giao thức được sử dụng khi bạn gửi dữ liệu từ Arduino đến máy tính của mình, bằng cách sử dụng giao thức truyền thống.</a:t>
            </a:r>
          </a:p>
          <a:p>
            <a:pPr algn="just">
              <a:lnSpc>
                <a:spcPct val="150000"/>
              </a:lnSpc>
            </a:pPr>
            <a:r>
              <a:rPr lang="vi-VN" dirty="0"/>
              <a:t>UART là một trong những giao thức truyền thông nối tiếp (giữa các thiết bị) được sử dụng phổ biến nhất. Đây là giao thức được các bo mạch Arduino sử dụng để giao tiếp với máy tính. </a:t>
            </a:r>
            <a:endParaRPr lang="en-US" dirty="0"/>
          </a:p>
          <a:p>
            <a:pPr algn="just">
              <a:lnSpc>
                <a:spcPct val="150000"/>
              </a:lnSpc>
            </a:pPr>
            <a:r>
              <a:rPr lang="vi-VN" dirty="0"/>
              <a:t>Nó cho phép truyền thông nối tiếp không đồng bộ, trong đó định dạng dữ liệu và tốc độ truyền có thể cấu hình được. Đây là một trong những giao thức nối tiếp ra đời sớm nhất và mặc dù ở nhiều nơi nó đã được thay thế bởi </a:t>
            </a:r>
            <a:r>
              <a:rPr lang="vi-VN" b="1" dirty="0"/>
              <a:t>SPI</a:t>
            </a:r>
            <a:r>
              <a:rPr lang="vi-VN" dirty="0"/>
              <a:t> và </a:t>
            </a:r>
            <a:r>
              <a:rPr lang="vi-VN" b="1" dirty="0"/>
              <a:t>I2C,</a:t>
            </a:r>
            <a:r>
              <a:rPr lang="vi-VN" dirty="0"/>
              <a:t> nó vẫn được sử dụng rộng rãi cho các ứng dụng tốc độ thấp và thông lượng thấp vì nó rất đơn giản, chi phí thấp và dễ triển khai.</a:t>
            </a:r>
          </a:p>
          <a:p>
            <a:pPr algn="just">
              <a:lnSpc>
                <a:spcPct val="150000"/>
              </a:lnSpc>
            </a:pPr>
            <a:r>
              <a:rPr lang="vi-VN" dirty="0"/>
              <a:t>Giao tiếp qua UART được thực hiện bởi lớp </a:t>
            </a:r>
            <a:r>
              <a:rPr lang="vi-VN" b="1" dirty="0"/>
              <a:t>Serial</a:t>
            </a:r>
            <a:r>
              <a:rPr lang="vi-VN" dirty="0"/>
              <a:t> , lớp này có một số phương thức khả dụng, bao gồm đọc và ghi dữ liệu.</a:t>
            </a:r>
          </a:p>
          <a:p>
            <a:pPr marL="801688" lvl="1" indent="-174625">
              <a:lnSpc>
                <a:spcPct val="150000"/>
              </a:lnSpc>
              <a:buFont typeface="Arial" panose="020B0604020202020204" pitchFamily="34" charset="0"/>
              <a:buChar char="•"/>
            </a:pPr>
            <a:endParaRPr lang="vi-VN" dirty="0"/>
          </a:p>
        </p:txBody>
      </p:sp>
    </p:spTree>
    <p:extLst>
      <p:ext uri="{BB962C8B-B14F-4D97-AF65-F5344CB8AC3E}">
        <p14:creationId xmlns:p14="http://schemas.microsoft.com/office/powerpoint/2010/main" val="41037273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26E9DBC-E909-57A0-AD59-2DD51938E176}"/>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075B3A92-0BAC-294B-5915-E6EF5941AED9}"/>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67A4BD1C-8CAF-51B8-933E-80A0FA4D21E4}"/>
              </a:ext>
            </a:extLst>
          </p:cNvPr>
          <p:cNvSpPr/>
          <p:nvPr/>
        </p:nvSpPr>
        <p:spPr>
          <a:xfrm>
            <a:off x="162320" y="829718"/>
            <a:ext cx="9392645" cy="4201150"/>
          </a:xfrm>
          <a:prstGeom prst="rect">
            <a:avLst/>
          </a:prstGeom>
          <a:noFill/>
          <a:ln>
            <a:noFill/>
          </a:ln>
        </p:spPr>
        <p:txBody>
          <a:bodyPr spcFirstLastPara="1" wrap="square" lIns="0" tIns="0" rIns="0" bIns="0" anchor="t" anchorCtr="0">
            <a:spAutoFit/>
          </a:bodyPr>
          <a:lstStyle/>
          <a:p>
            <a:pPr algn="just">
              <a:lnSpc>
                <a:spcPct val="150000"/>
              </a:lnSpc>
            </a:pPr>
            <a:r>
              <a:rPr lang="vi-VN" dirty="0"/>
              <a:t>Với lớp Serial , bạn có thể gửi/nhận dữ liệu đến và từ máy tính của mình qua USB, hoặc đến một thiết bị được kết nối thông qua các chân RX/TX của Arduino.</a:t>
            </a:r>
          </a:p>
          <a:p>
            <a:pPr algn="just">
              <a:lnSpc>
                <a:spcPct val="150000"/>
              </a:lnSpc>
            </a:pPr>
            <a:r>
              <a:rPr lang="vi-VN" dirty="0"/>
              <a:t>Khi gửi dữ liệu qua USB, chúng ta sử dụngSerial</a:t>
            </a:r>
            <a:r>
              <a:rPr lang="en-US" dirty="0"/>
              <a:t>. </a:t>
            </a:r>
            <a:r>
              <a:rPr lang="vi-VN" dirty="0"/>
              <a:t>Khi gửi dữ liệu qua các chân RX/TX, chúng ta sử dụngSerial1.</a:t>
            </a:r>
          </a:p>
          <a:p>
            <a:pPr algn="just">
              <a:lnSpc>
                <a:spcPct val="150000"/>
              </a:lnSpc>
            </a:pPr>
            <a:r>
              <a:rPr lang="vi-VN" dirty="0"/>
              <a:t>Lớp Serial có một số phương thức, trong đó một số phương thức thiết yếu bao gồm:</a:t>
            </a:r>
          </a:p>
          <a:p>
            <a:pPr algn="just">
              <a:lnSpc>
                <a:spcPct val="150000"/>
              </a:lnSpc>
            </a:pPr>
            <a:endParaRPr lang="vi-VN" dirty="0"/>
          </a:p>
          <a:p>
            <a:pPr marL="285750" indent="-285750" algn="just">
              <a:lnSpc>
                <a:spcPct val="150000"/>
              </a:lnSpc>
              <a:buFont typeface="Arial" panose="020B0604020202020204" pitchFamily="34" charset="0"/>
              <a:buChar char="•"/>
            </a:pPr>
            <a:r>
              <a:rPr lang="vi-VN" dirty="0"/>
              <a:t>begin()- Bắt đầu giao tiếp nối tiếp, với tốc độ baud được chỉ định (nhiều ví dụ sử dụng một trong hai cách trên)9600hoặc115200).</a:t>
            </a:r>
          </a:p>
          <a:p>
            <a:pPr marL="285750" indent="-285750" algn="just">
              <a:lnSpc>
                <a:spcPct val="150000"/>
              </a:lnSpc>
              <a:buFont typeface="Arial" panose="020B0604020202020204" pitchFamily="34" charset="0"/>
              <a:buChar char="•"/>
            </a:pPr>
            <a:r>
              <a:rPr lang="vi-VN" dirty="0"/>
              <a:t>print()- In nội dung ra màn hình Serial Monitor.</a:t>
            </a:r>
          </a:p>
          <a:p>
            <a:pPr marL="285750" indent="-285750" algn="just">
              <a:lnSpc>
                <a:spcPct val="150000"/>
              </a:lnSpc>
              <a:buFont typeface="Arial" panose="020B0604020202020204" pitchFamily="34" charset="0"/>
              <a:buChar char="•"/>
            </a:pPr>
            <a:r>
              <a:rPr lang="vi-VN" dirty="0"/>
              <a:t>println()- In nội dung ra màn hình Serial Monitor và thêm một dòng mới.</a:t>
            </a:r>
          </a:p>
          <a:p>
            <a:pPr marL="285750" indent="-285750" algn="just">
              <a:lnSpc>
                <a:spcPct val="150000"/>
              </a:lnSpc>
              <a:buFont typeface="Arial" panose="020B0604020202020204" pitchFamily="34" charset="0"/>
              <a:buChar char="•"/>
            </a:pPr>
            <a:r>
              <a:rPr lang="vi-VN" dirty="0"/>
              <a:t>available()- Kiểm tra xem dữ liệu nối tiếp có khả dụng hay không (nếu bạn gửi lệnh từ Màn hình nối tiếp).</a:t>
            </a:r>
          </a:p>
          <a:p>
            <a:pPr marL="285750" indent="-285750" algn="just">
              <a:lnSpc>
                <a:spcPct val="150000"/>
              </a:lnSpc>
              <a:buFont typeface="Arial" panose="020B0604020202020204" pitchFamily="34" charset="0"/>
              <a:buChar char="•"/>
            </a:pPr>
            <a:r>
              <a:rPr lang="vi-VN" dirty="0"/>
              <a:t>read()- Đọc dữ liệu từ cổng nối tiếp.</a:t>
            </a:r>
          </a:p>
          <a:p>
            <a:pPr marL="285750" indent="-285750" algn="just">
              <a:lnSpc>
                <a:spcPct val="150000"/>
              </a:lnSpc>
              <a:buFont typeface="Arial" panose="020B0604020202020204" pitchFamily="34" charset="0"/>
              <a:buChar char="•"/>
            </a:pPr>
            <a:r>
              <a:rPr lang="vi-VN" dirty="0"/>
              <a:t>write()- Ghi dữ liệu vào cổng nối tiếp.</a:t>
            </a:r>
            <a:endParaRPr lang="en-US" dirty="0"/>
          </a:p>
          <a:p>
            <a:pPr algn="just">
              <a:lnSpc>
                <a:spcPct val="150000"/>
              </a:lnSpc>
            </a:pPr>
            <a:r>
              <a:rPr lang="vi-VN" dirty="0"/>
              <a:t>Ví dụ, để khởi tạo giao tiếp nối tiếp trên cả hai cổng nối tiếp, ta sẽ viết như sau:</a:t>
            </a:r>
          </a:p>
        </p:txBody>
      </p:sp>
      <p:sp>
        <p:nvSpPr>
          <p:cNvPr id="3" name="TextBox 2">
            <a:extLst>
              <a:ext uri="{FF2B5EF4-FFF2-40B4-BE49-F238E27FC236}">
                <a16:creationId xmlns:a16="http://schemas.microsoft.com/office/drawing/2014/main" id="{9917AD29-7294-8EC1-91A6-A553F8A289CD}"/>
              </a:ext>
            </a:extLst>
          </p:cNvPr>
          <p:cNvSpPr txBox="1"/>
          <p:nvPr/>
        </p:nvSpPr>
        <p:spPr>
          <a:xfrm>
            <a:off x="439220" y="5092423"/>
            <a:ext cx="4967554" cy="523220"/>
          </a:xfrm>
          <a:prstGeom prst="rect">
            <a:avLst/>
          </a:prstGeom>
          <a:noFill/>
        </p:spPr>
        <p:txBody>
          <a:bodyPr wrap="square">
            <a:spAutoFit/>
          </a:bodyPr>
          <a:lstStyle/>
          <a:p>
            <a:r>
              <a:rPr lang="en-US" dirty="0" err="1"/>
              <a:t>Serial.begin</a:t>
            </a:r>
            <a:r>
              <a:rPr lang="en-US" dirty="0"/>
              <a:t>(9600); //</a:t>
            </a:r>
            <a:r>
              <a:rPr lang="en-US" dirty="0" err="1"/>
              <a:t>init</a:t>
            </a:r>
            <a:r>
              <a:rPr lang="en-US" dirty="0"/>
              <a:t> communication over USB</a:t>
            </a:r>
          </a:p>
          <a:p>
            <a:r>
              <a:rPr lang="en-US" dirty="0"/>
              <a:t>Serial1.begin(9600); //communication over RX/TX pins</a:t>
            </a:r>
          </a:p>
        </p:txBody>
      </p:sp>
    </p:spTree>
    <p:extLst>
      <p:ext uri="{BB962C8B-B14F-4D97-AF65-F5344CB8AC3E}">
        <p14:creationId xmlns:p14="http://schemas.microsoft.com/office/powerpoint/2010/main" val="2205197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305B7B18-85A8-6916-9FFD-8780BACBD42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A2796995-4CE7-0928-7E45-40B59D7074EB}"/>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126DF5B-4284-9F5B-F98A-1CD4B54E39DC}"/>
              </a:ext>
            </a:extLst>
          </p:cNvPr>
          <p:cNvSpPr/>
          <p:nvPr/>
        </p:nvSpPr>
        <p:spPr>
          <a:xfrm>
            <a:off x="162320" y="829718"/>
            <a:ext cx="9392645" cy="1938992"/>
          </a:xfrm>
          <a:prstGeom prst="rect">
            <a:avLst/>
          </a:prstGeom>
          <a:noFill/>
          <a:ln>
            <a:noFill/>
          </a:ln>
        </p:spPr>
        <p:txBody>
          <a:bodyPr spcFirstLastPara="1" wrap="square" lIns="0" tIns="0" rIns="0" bIns="0" anchor="t" anchorCtr="0">
            <a:spAutoFit/>
          </a:bodyPr>
          <a:lstStyle/>
          <a:p>
            <a:pPr algn="just">
              <a:lnSpc>
                <a:spcPct val="150000"/>
              </a:lnSpc>
            </a:pPr>
            <a:r>
              <a:rPr lang="vi-VN" b="1" dirty="0"/>
              <a:t>Cách thức hoạt động của UART</a:t>
            </a:r>
          </a:p>
          <a:p>
            <a:pPr algn="just">
              <a:lnSpc>
                <a:spcPct val="150000"/>
              </a:lnSpc>
            </a:pPr>
            <a:r>
              <a:rPr lang="vi-VN" dirty="0"/>
              <a:t>Giao thức UART hoạt động bằng cách truyền dữ liệu dưới dạng một chuỗi các bit, bao gồm bit bắt đầu, các bit dữ liệu, bit chẵn lẻ (tùy chọn) và bit dừng. Không giống như giao tiếp song song, nơi nhiều bit được truyền đồng thời, UART gửi dữ liệu nối tiếp, từng bit một. Như tên gọi cho thấy, giao thức này hoạt động không đồng bộ, có nghĩa là nó không dựa vào tín hiệu xung nhịp chung. Thay vào đó, nó sử dụng tốc độ truyền (baud rate) được xác định trước để xác định thời gian truyền các bit dữ liệu.</a:t>
            </a:r>
          </a:p>
        </p:txBody>
      </p:sp>
      <p:pic>
        <p:nvPicPr>
          <p:cNvPr id="1026" name="Picture 2" descr="ảnh">
            <a:extLst>
              <a:ext uri="{FF2B5EF4-FFF2-40B4-BE49-F238E27FC236}">
                <a16:creationId xmlns:a16="http://schemas.microsoft.com/office/drawing/2014/main" id="{74CAC588-5D37-6A12-2DA9-06FDF0ADC6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2508" y="3024702"/>
            <a:ext cx="5577405" cy="3137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0114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A2B46E9-5B11-B64B-805C-7A7C48EFFD45}"/>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267F7C43-F434-27B8-95B1-4E63AF5B74AC}"/>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AE8B1680-3CA7-3E88-AEE4-381425CE1777}"/>
              </a:ext>
            </a:extLst>
          </p:cNvPr>
          <p:cNvSpPr/>
          <p:nvPr/>
        </p:nvSpPr>
        <p:spPr>
          <a:xfrm>
            <a:off x="162320" y="829718"/>
            <a:ext cx="9392645" cy="5170646"/>
          </a:xfrm>
          <a:prstGeom prst="rect">
            <a:avLst/>
          </a:prstGeom>
          <a:noFill/>
          <a:ln>
            <a:noFill/>
          </a:ln>
        </p:spPr>
        <p:txBody>
          <a:bodyPr spcFirstLastPara="1" wrap="square" lIns="0" tIns="0" rIns="0" bIns="0" anchor="t" anchorCtr="0">
            <a:spAutoFit/>
          </a:bodyPr>
          <a:lstStyle/>
          <a:p>
            <a:pPr algn="just">
              <a:lnSpc>
                <a:spcPct val="150000"/>
              </a:lnSpc>
            </a:pPr>
            <a:r>
              <a:rPr lang="vi-VN" b="1" dirty="0"/>
              <a:t>Các thành phần</a:t>
            </a:r>
            <a:endParaRPr lang="vi-VN" dirty="0"/>
          </a:p>
          <a:p>
            <a:pPr algn="just">
              <a:lnSpc>
                <a:spcPct val="150000"/>
              </a:lnSpc>
            </a:pPr>
            <a:r>
              <a:rPr lang="vi-VN" dirty="0"/>
              <a:t>Các thành phần chính của UART bao gồm bộ phát, bộ thu và tốc độ truyền dữ liệu (baud rate). Bộ phát thu thập dữ liệu từ nguồn, định dạng dữ liệu thành các bit nối tiếp và gửi qua chân TX (Transmit). Bộ thu nhận dữ liệu qua chân RX (Receive), xử lý dữ liệu nối tiếp đến và chuyển đổi nó thành dữ liệu song song cho hệ thống chủ. Tốc độ truyền dữ liệu (baud rate) xác định tốc độ truyền dữ liệu.</a:t>
            </a:r>
          </a:p>
          <a:p>
            <a:pPr algn="just">
              <a:lnSpc>
                <a:spcPct val="150000"/>
              </a:lnSpc>
            </a:pPr>
            <a:r>
              <a:rPr lang="vi-VN" b="1" dirty="0"/>
              <a:t>Định thời và đồng bộ hóa</a:t>
            </a:r>
          </a:p>
          <a:p>
            <a:pPr algn="just">
              <a:lnSpc>
                <a:spcPct val="150000"/>
              </a:lnSpc>
            </a:pPr>
            <a:r>
              <a:rPr lang="vi-VN" dirty="0"/>
              <a:t>Thời gian và đồng bộ hóa là những khía cạnh quan trọng của giao tiếp UART. Không giống như các giao thức truyền thông nối tiếp đồng bộ như SPI và I2C, UART hoạt động không đồng bộ, nghĩa là nó không dựa vào tín hiệu xung nhịp chung để điều phối việc truyền dữ liệu. Thay vào đó, nó sử dụng tốc độ baud được xác định trước để xác định thời gian của các bit dữ liệu.</a:t>
            </a:r>
          </a:p>
          <a:p>
            <a:pPr algn="just">
              <a:lnSpc>
                <a:spcPct val="150000"/>
              </a:lnSpc>
            </a:pPr>
            <a:r>
              <a:rPr lang="vi-VN" b="1" dirty="0"/>
              <a:t>Tốc độ Baud</a:t>
            </a:r>
            <a:endParaRPr lang="vi-VN" dirty="0"/>
          </a:p>
          <a:p>
            <a:pPr algn="just">
              <a:lnSpc>
                <a:spcPct val="150000"/>
              </a:lnSpc>
            </a:pPr>
            <a:r>
              <a:rPr lang="vi-VN" dirty="0"/>
              <a:t>Tốc độ baud là một tham số cơ bản trong giao tiếp UART. Nó xác định tốc độ truyền dữ liệu qua kênh truyền thông. Tốc độ baud được chỉ định bằng bit trên giây (bps) và biểu thị số bit được truyền trong một giây. Trong UART, cả thiết bị truyền và thiết bị nhận phải thống nhất cùng một tốc độ baud để đảm bảo giao tiếp thành công.</a:t>
            </a:r>
          </a:p>
          <a:p>
            <a:pPr algn="just">
              <a:lnSpc>
                <a:spcPct val="150000"/>
              </a:lnSpc>
            </a:pPr>
            <a:r>
              <a:rPr lang="vi-VN" dirty="0"/>
              <a:t>Trong đoạn mã của bạn, bạn thiết lập tốc độ truyền như sau:</a:t>
            </a:r>
            <a:endParaRPr lang="en-US" dirty="0"/>
          </a:p>
          <a:p>
            <a:pPr algn="just">
              <a:lnSpc>
                <a:spcPct val="150000"/>
              </a:lnSpc>
            </a:pPr>
            <a:endParaRPr lang="vi-VN" dirty="0"/>
          </a:p>
        </p:txBody>
      </p:sp>
      <p:sp>
        <p:nvSpPr>
          <p:cNvPr id="3" name="TextBox 2">
            <a:extLst>
              <a:ext uri="{FF2B5EF4-FFF2-40B4-BE49-F238E27FC236}">
                <a16:creationId xmlns:a16="http://schemas.microsoft.com/office/drawing/2014/main" id="{0510462B-1B0C-5057-07F7-B072E5EF0274}"/>
              </a:ext>
            </a:extLst>
          </p:cNvPr>
          <p:cNvSpPr txBox="1"/>
          <p:nvPr/>
        </p:nvSpPr>
        <p:spPr>
          <a:xfrm>
            <a:off x="162319" y="5846475"/>
            <a:ext cx="4967554" cy="307777"/>
          </a:xfrm>
          <a:prstGeom prst="rect">
            <a:avLst/>
          </a:prstGeom>
          <a:noFill/>
        </p:spPr>
        <p:txBody>
          <a:bodyPr wrap="square">
            <a:spAutoFit/>
          </a:bodyPr>
          <a:lstStyle/>
          <a:p>
            <a:r>
              <a:rPr lang="en-US" dirty="0" err="1"/>
              <a:t>Serial.begin</a:t>
            </a:r>
            <a:r>
              <a:rPr lang="en-US" dirty="0"/>
              <a:t>(9600);</a:t>
            </a:r>
          </a:p>
        </p:txBody>
      </p:sp>
    </p:spTree>
    <p:extLst>
      <p:ext uri="{BB962C8B-B14F-4D97-AF65-F5344CB8AC3E}">
        <p14:creationId xmlns:p14="http://schemas.microsoft.com/office/powerpoint/2010/main" val="1205545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E2D21E4-7400-EA93-F454-4A23B2B3443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D6AAD6D7-DDFA-50A9-DA7B-55C0B32859D6}"/>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4CAA48B2-6DEA-075D-EA98-09F5CA7CD073}"/>
              </a:ext>
            </a:extLst>
          </p:cNvPr>
          <p:cNvSpPr/>
          <p:nvPr/>
        </p:nvSpPr>
        <p:spPr>
          <a:xfrm>
            <a:off x="162320" y="829718"/>
            <a:ext cx="9392645" cy="4847481"/>
          </a:xfrm>
          <a:prstGeom prst="rect">
            <a:avLst/>
          </a:prstGeom>
          <a:noFill/>
          <a:ln>
            <a:noFill/>
          </a:ln>
        </p:spPr>
        <p:txBody>
          <a:bodyPr spcFirstLastPara="1" wrap="square" lIns="0" tIns="0" rIns="0" bIns="0" anchor="t" anchorCtr="0">
            <a:spAutoFit/>
          </a:bodyPr>
          <a:lstStyle/>
          <a:p>
            <a:pPr algn="just">
              <a:lnSpc>
                <a:spcPct val="150000"/>
              </a:lnSpc>
            </a:pPr>
            <a:r>
              <a:rPr lang="vi-VN" b="1" dirty="0"/>
              <a:t>Điều khiển luồng trong UART</a:t>
            </a:r>
          </a:p>
          <a:p>
            <a:pPr algn="just">
              <a:lnSpc>
                <a:spcPct val="150000"/>
              </a:lnSpc>
            </a:pPr>
            <a:endParaRPr lang="vi-VN" dirty="0"/>
          </a:p>
          <a:p>
            <a:pPr algn="just">
              <a:lnSpc>
                <a:spcPct val="150000"/>
              </a:lnSpc>
            </a:pPr>
            <a:r>
              <a:rPr lang="vi-VN" dirty="0"/>
              <a:t>Điều khiển luồng UART là một phương pháp cho phép các thiết bị chậm và nhanh giao tiếp với nhau qua UART mà không có nguy cơ mất dữ liệu. Hãy xem xét trường hợp hai thiết bị đang giao tiếp qua UART. Bộ phát T đang gửi một luồng byte dài đến bộ thu R. R là thiết bị chậm hơn T, và R không thể theo kịp. Nó cần phải xử lý dữ liệu hoặc làm trống một số bộ đệm trước khi có thể tiếp tục nhận dữ liệu.</a:t>
            </a:r>
          </a:p>
          <a:p>
            <a:pPr algn="just">
              <a:lnSpc>
                <a:spcPct val="150000"/>
              </a:lnSpc>
            </a:pPr>
            <a:endParaRPr lang="vi-VN" dirty="0"/>
          </a:p>
          <a:p>
            <a:pPr algn="just">
              <a:lnSpc>
                <a:spcPct val="150000"/>
              </a:lnSpc>
            </a:pPr>
            <a:r>
              <a:rPr lang="vi-VN" dirty="0"/>
              <a:t>R cần báo cho T tạm dừng truyền tín hiệu trong một thời gian. Đây là lúc cơ chế điều khiển luồng phát huy tác dụng. Cơ chế điều khiển luồng cung cấp tín hiệu bổ sung để thông báo cho bộ phát rằng nó nên dừng (tạm dừng) hoặc bắt đầu (tiếp tục) quá trình truyền tín hiệu.</a:t>
            </a:r>
          </a:p>
          <a:p>
            <a:pPr algn="just">
              <a:lnSpc>
                <a:spcPct val="150000"/>
              </a:lnSpc>
            </a:pPr>
            <a:endParaRPr lang="vi-VN" dirty="0"/>
          </a:p>
          <a:p>
            <a:pPr algn="just">
              <a:lnSpc>
                <a:spcPct val="150000"/>
              </a:lnSpc>
            </a:pPr>
            <a:r>
              <a:rPr lang="vi-VN" dirty="0"/>
              <a:t>Có nhiều hình thức điều khiển luồng dữ liệu khác nhau. Ví dụ, điều khiển luồng bằng phần cứng sử dụng các dây dẫn bổ sung, trong đó mức logic trên các dây dẫn này xác định xem bộ phát có nên tiếp tục gửi dữ liệu hay dừng lại. Với điều khiển luồng bằng phần mềm, các ký tự đặc biệt được gửi qua các đường dữ liệu thông thường để bắt đầu hoặc dừng quá trình truyền dữ liệu.</a:t>
            </a:r>
          </a:p>
        </p:txBody>
      </p:sp>
    </p:spTree>
    <p:extLst>
      <p:ext uri="{BB962C8B-B14F-4D97-AF65-F5344CB8AC3E}">
        <p14:creationId xmlns:p14="http://schemas.microsoft.com/office/powerpoint/2010/main" val="628643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760E3DF-5849-1CD1-936D-0363587748A1}"/>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7EEDF1BB-B9CA-0DD0-655B-63E9557FB386}"/>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07A9E361-FB83-D91D-82C2-6E70ED62897A}"/>
              </a:ext>
            </a:extLst>
          </p:cNvPr>
          <p:cNvSpPr/>
          <p:nvPr/>
        </p:nvSpPr>
        <p:spPr>
          <a:xfrm>
            <a:off x="162320" y="829718"/>
            <a:ext cx="9392645" cy="1292662"/>
          </a:xfrm>
          <a:prstGeom prst="rect">
            <a:avLst/>
          </a:prstGeom>
          <a:noFill/>
          <a:ln>
            <a:noFill/>
          </a:ln>
        </p:spPr>
        <p:txBody>
          <a:bodyPr spcFirstLastPara="1" wrap="square" lIns="0" tIns="0" rIns="0" bIns="0" anchor="t" anchorCtr="0">
            <a:spAutoFit/>
          </a:bodyPr>
          <a:lstStyle/>
          <a:p>
            <a:pPr algn="just">
              <a:lnSpc>
                <a:spcPct val="150000"/>
              </a:lnSpc>
            </a:pPr>
            <a:r>
              <a:rPr lang="vi-VN" b="1" dirty="0"/>
              <a:t>Thông báo UART</a:t>
            </a:r>
          </a:p>
          <a:p>
            <a:pPr algn="just">
              <a:lnSpc>
                <a:spcPct val="150000"/>
              </a:lnSpc>
            </a:pPr>
            <a:r>
              <a:rPr lang="vi-VN" dirty="0"/>
              <a:t>Trong giao tiếp UART, mỗi khung dữ liệu được bao bọc bởi các bit bắt đầu và kết thúc. Các bit này đóng vai trò quan trọng trong việc thiết lập ranh giới truyền dữ liệu và đảm bảo sự đồng bộ giữa người gửi và người nhận.</a:t>
            </a:r>
            <a:endParaRPr lang="vi-VN" b="1" dirty="0"/>
          </a:p>
          <a:p>
            <a:pPr algn="just">
              <a:lnSpc>
                <a:spcPct val="150000"/>
              </a:lnSpc>
            </a:pPr>
            <a:r>
              <a:rPr lang="vi-VN" b="1" dirty="0"/>
              <a:t>Định dạng khung</a:t>
            </a:r>
            <a:endParaRPr lang="vi-VN" dirty="0"/>
          </a:p>
        </p:txBody>
      </p:sp>
      <p:pic>
        <p:nvPicPr>
          <p:cNvPr id="2052" name="Picture 4" descr="ảnh">
            <a:extLst>
              <a:ext uri="{FF2B5EF4-FFF2-40B4-BE49-F238E27FC236}">
                <a16:creationId xmlns:a16="http://schemas.microsoft.com/office/drawing/2014/main" id="{3BC889F6-C31E-8038-AE35-197297C8C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7887" y="2122380"/>
            <a:ext cx="6193854" cy="3484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84433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A63008DC-CFB1-CD5D-52C6-BDF1B1C6C126}"/>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34323EA-E1EF-DC5D-17C8-A84ACC4688C2}"/>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E477DE44-6B71-B395-BA7D-5861C8D7B465}"/>
              </a:ext>
            </a:extLst>
          </p:cNvPr>
          <p:cNvSpPr/>
          <p:nvPr/>
        </p:nvSpPr>
        <p:spPr>
          <a:xfrm>
            <a:off x="162320" y="829718"/>
            <a:ext cx="9392645" cy="1938992"/>
          </a:xfrm>
          <a:prstGeom prst="rect">
            <a:avLst/>
          </a:prstGeom>
          <a:noFill/>
          <a:ln>
            <a:noFill/>
          </a:ln>
        </p:spPr>
        <p:txBody>
          <a:bodyPr spcFirstLastPara="1" wrap="square" lIns="0" tIns="0" rIns="0" bIns="0" anchor="t" anchorCtr="0">
            <a:spAutoFit/>
          </a:bodyPr>
          <a:lstStyle/>
          <a:p>
            <a:pPr>
              <a:lnSpc>
                <a:spcPct val="150000"/>
              </a:lnSpc>
            </a:pPr>
            <a:r>
              <a:rPr lang="vi-VN" b="1" dirty="0"/>
              <a:t>Bit bắt đầu</a:t>
            </a:r>
            <a:endParaRPr lang="vi-VN" dirty="0"/>
          </a:p>
          <a:p>
            <a:pPr>
              <a:lnSpc>
                <a:spcPct val="150000"/>
              </a:lnSpc>
            </a:pPr>
            <a:r>
              <a:rPr lang="vi-VN" dirty="0"/>
              <a:t>Một bit khởi đầu duy nhất được truyền đi ở đầu mỗi khung UART. Mục đích chính của bit khởi đầu là để báo hiệu sự bắt đầu của quá trình truyền dữ liệu và chuẩn bị cho bộ thu nhận dữ liệu.</a:t>
            </a:r>
          </a:p>
          <a:p>
            <a:pPr>
              <a:lnSpc>
                <a:spcPct val="150000"/>
              </a:lnSpc>
            </a:pPr>
            <a:r>
              <a:rPr lang="vi-VN" dirty="0"/>
              <a:t>Bit bắt đầu luôn ở mức logic thấp (0) đối với giao tiếp UART. Điều này có nghĩa là bit bắt đầu được truyền đi dưới dạng mức điện áp thấp hơn ngưỡng logic cao, thường là ở phía người nhận.</a:t>
            </a:r>
          </a:p>
          <a:p>
            <a:pPr>
              <a:lnSpc>
                <a:spcPct val="150000"/>
              </a:lnSpc>
            </a:pPr>
            <a:r>
              <a:rPr lang="vi-VN" dirty="0"/>
              <a:t>Khi bộ thu phát hiện bit bắt đầu, nó biết rằng một khung dữ liệu mới đang bắt đầu và chuẩn bị để nhận các bit đến.</a:t>
            </a:r>
          </a:p>
        </p:txBody>
      </p:sp>
      <p:pic>
        <p:nvPicPr>
          <p:cNvPr id="3074" name="Picture 2" descr="ảnh">
            <a:extLst>
              <a:ext uri="{FF2B5EF4-FFF2-40B4-BE49-F238E27FC236}">
                <a16:creationId xmlns:a16="http://schemas.microsoft.com/office/drawing/2014/main" id="{30FE981A-E95A-B870-562B-381F37ABC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384" y="2881816"/>
            <a:ext cx="6060290" cy="3409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4231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C2FE47F-571B-35A0-74AD-21EDA0777F04}"/>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09AB3B47-50DA-0679-C2E7-DFD961D8506F}"/>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429DD650-0515-D94E-26A8-1C4DB1C1760A}"/>
              </a:ext>
            </a:extLst>
          </p:cNvPr>
          <p:cNvSpPr/>
          <p:nvPr/>
        </p:nvSpPr>
        <p:spPr>
          <a:xfrm>
            <a:off x="162320" y="829718"/>
            <a:ext cx="9392645" cy="1615827"/>
          </a:xfrm>
          <a:prstGeom prst="rect">
            <a:avLst/>
          </a:prstGeom>
          <a:noFill/>
          <a:ln>
            <a:noFill/>
          </a:ln>
        </p:spPr>
        <p:txBody>
          <a:bodyPr spcFirstLastPara="1" wrap="square" lIns="0" tIns="0" rIns="0" bIns="0" anchor="t" anchorCtr="0">
            <a:spAutoFit/>
          </a:bodyPr>
          <a:lstStyle/>
          <a:p>
            <a:pPr>
              <a:lnSpc>
                <a:spcPct val="150000"/>
              </a:lnSpc>
            </a:pPr>
            <a:r>
              <a:rPr lang="vi-VN" b="1" dirty="0"/>
              <a:t>Các bit dữ liệu</a:t>
            </a:r>
          </a:p>
          <a:p>
            <a:pPr>
              <a:lnSpc>
                <a:spcPct val="150000"/>
              </a:lnSpc>
            </a:pPr>
            <a:r>
              <a:rPr lang="vi-VN" dirty="0"/>
              <a:t>Các bit dữ liệu là thành phần cơ bản của giao tiếp UART vì chúng mang thông tin thực tế cần truyền tải. Số lượng bit dữ liệu trong một khung UART có thể thay đổi, nhưng cấu hình phổ biến và được sử dụng rộng rãi là 8 bit. Tuy nhiên, UART hỗ trợ nhiều kích thước ký tự khác nhau, bao gồm cấu hình 7 bit và 6 bit, tùy thuộc vào yêu cầu cụ thể của ứng dụng</a:t>
            </a:r>
          </a:p>
        </p:txBody>
      </p:sp>
      <p:pic>
        <p:nvPicPr>
          <p:cNvPr id="4098" name="Picture 2" descr="Các bit dữ liệu">
            <a:extLst>
              <a:ext uri="{FF2B5EF4-FFF2-40B4-BE49-F238E27FC236}">
                <a16:creationId xmlns:a16="http://schemas.microsoft.com/office/drawing/2014/main" id="{D99B6C81-F49C-541B-71C2-24EE03552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7982" y="2542132"/>
            <a:ext cx="619125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76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CDF140E3-48FF-6E91-1B53-104FAD666444}"/>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A6BA8307-A431-9E47-44DF-DF9E10392563}"/>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DD5ADF7-63BF-5473-CC6C-FCBB9B2B193B}"/>
              </a:ext>
            </a:extLst>
          </p:cNvPr>
          <p:cNvSpPr/>
          <p:nvPr/>
        </p:nvSpPr>
        <p:spPr>
          <a:xfrm>
            <a:off x="162321" y="665332"/>
            <a:ext cx="9392645" cy="4847481"/>
          </a:xfrm>
          <a:prstGeom prst="rect">
            <a:avLst/>
          </a:prstGeom>
          <a:noFill/>
          <a:ln>
            <a:noFill/>
          </a:ln>
        </p:spPr>
        <p:txBody>
          <a:bodyPr spcFirstLastPara="1" wrap="square" lIns="0" tIns="0" rIns="0" bIns="0" anchor="t" anchorCtr="0">
            <a:spAutoFit/>
          </a:bodyPr>
          <a:lstStyle/>
          <a:p>
            <a:pPr>
              <a:lnSpc>
                <a:spcPct val="150000"/>
              </a:lnSpc>
            </a:pPr>
            <a:r>
              <a:rPr lang="vi-VN" b="1" dirty="0"/>
              <a:t>Kích thước ký tự</a:t>
            </a:r>
            <a:endParaRPr lang="vi-VN" dirty="0"/>
          </a:p>
          <a:p>
            <a:pPr>
              <a:lnSpc>
                <a:spcPct val="150000"/>
              </a:lnSpc>
            </a:pPr>
            <a:r>
              <a:rPr lang="vi-VN" dirty="0"/>
              <a:t>Kích thước ký tự trong giao tiếp UART được xác định bởi số bit dữ liệu trong một khung. Việc lựa chọn kích thước ký tự phù hợp với yêu cầu của dữ liệu được truyền tải là rất cần thiết. Dưới đây là một số cấu hình kích thước ký tự phổ biến:</a:t>
            </a:r>
          </a:p>
          <a:p>
            <a:pPr>
              <a:lnSpc>
                <a:spcPct val="150000"/>
              </a:lnSpc>
            </a:pPr>
            <a:r>
              <a:rPr lang="vi-VN" dirty="0"/>
              <a:t>8-bit: Đây là kích thước ký tự phổ biến nhất trong giao tiếp UART. Nó cho phép truyền một byte dữ liệu, có thể biểu diễn nhiều loại giá trị, bao gồm các ký tự ASCII, giá trị số, v.v.</a:t>
            </a:r>
          </a:p>
          <a:p>
            <a:pPr>
              <a:lnSpc>
                <a:spcPct val="150000"/>
              </a:lnSpc>
            </a:pPr>
            <a:r>
              <a:rPr lang="vi-VN" dirty="0"/>
              <a:t>7-bit: Trong trường hợp cần kích thước dữ liệu nhỏ hơn, kích thước ký tự 7-bit được sử dụng. Nó phù hợp cho các ứng dụng yêu cầu ít dữ liệu phụ trợ và có thể biểu diễn 128 giá trị khác nhau.</a:t>
            </a:r>
          </a:p>
          <a:p>
            <a:pPr>
              <a:lnSpc>
                <a:spcPct val="150000"/>
              </a:lnSpc>
            </a:pPr>
            <a:r>
              <a:rPr lang="vi-VN" dirty="0"/>
              <a:t>6-bit: Để biểu diễn dữ liệu nhỏ gọn hơn nữa, có thể sử dụng kích thước ký tự 6-bit. Cấu hình này cho phép biểu diễn 64 giá trị khác nhau.</a:t>
            </a:r>
          </a:p>
          <a:p>
            <a:pPr>
              <a:lnSpc>
                <a:spcPct val="150000"/>
              </a:lnSpc>
            </a:pPr>
            <a:r>
              <a:rPr lang="vi-VN" b="1" dirty="0"/>
              <a:t>Mã hóa dữ liệu</a:t>
            </a:r>
            <a:endParaRPr lang="vi-VN" dirty="0"/>
          </a:p>
          <a:p>
            <a:pPr>
              <a:lnSpc>
                <a:spcPct val="150000"/>
              </a:lnSpc>
            </a:pPr>
            <a:r>
              <a:rPr lang="vi-VN" dirty="0"/>
              <a:t>Các bit dữ liệu biểu diễn các ký tự hoặc dữ liệu bằng cách sử dụng mã hóa nhị phân, trong đó mỗi bit tương ứng với một lũy thừa của 2. Mỗi bit trong byte dữ liệu giữ một vị trí và trọng số cụ thể trong biểu diễn nhị phân. Mã hóa này cho phép truyền tải nhiều loại thông tin, làm cho UART trở nên linh hoạt đối với nhiều loại dữ liệu, từ các ký tự văn bản đơn giản đến dữ liệu nhị phân phức tạp.</a:t>
            </a:r>
          </a:p>
        </p:txBody>
      </p:sp>
    </p:spTree>
    <p:extLst>
      <p:ext uri="{BB962C8B-B14F-4D97-AF65-F5344CB8AC3E}">
        <p14:creationId xmlns:p14="http://schemas.microsoft.com/office/powerpoint/2010/main" val="3968579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B68275B-D0B2-A92D-8D8D-DFBB8CFFD68F}"/>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FE76CE7-1066-7EB7-D356-7940D90A414C}"/>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4CE587F0-A41F-EC18-BA43-8BB9A065B09F}"/>
              </a:ext>
            </a:extLst>
          </p:cNvPr>
          <p:cNvSpPr/>
          <p:nvPr/>
        </p:nvSpPr>
        <p:spPr>
          <a:xfrm>
            <a:off x="162321" y="665332"/>
            <a:ext cx="9392645" cy="3554819"/>
          </a:xfrm>
          <a:prstGeom prst="rect">
            <a:avLst/>
          </a:prstGeom>
          <a:noFill/>
          <a:ln>
            <a:noFill/>
          </a:ln>
        </p:spPr>
        <p:txBody>
          <a:bodyPr spcFirstLastPara="1" wrap="square" lIns="0" tIns="0" rIns="0" bIns="0" anchor="t" anchorCtr="0">
            <a:spAutoFit/>
          </a:bodyPr>
          <a:lstStyle/>
          <a:p>
            <a:pPr>
              <a:lnSpc>
                <a:spcPct val="150000"/>
              </a:lnSpc>
            </a:pPr>
            <a:r>
              <a:rPr lang="vi-VN" b="1" dirty="0"/>
              <a:t>Tính toàn vẹn dữ liệu</a:t>
            </a:r>
            <a:endParaRPr lang="vi-VN" dirty="0"/>
          </a:p>
          <a:p>
            <a:pPr>
              <a:lnSpc>
                <a:spcPct val="150000"/>
              </a:lnSpc>
            </a:pPr>
            <a:r>
              <a:rPr lang="vi-VN" dirty="0"/>
              <a:t>Độ chính xác của việc truyền dữ liệu trong giao tiếp UART phụ thuộc vào cấu hình chính xác của các bit dữ liệu. Điều cần thiết là cả bộ phát và bộ thu phải thống nhất về số lượng bit dữ liệu và cách mã hóa của chúng. Nếu cấu hình không chính xác, dữ liệu có thể bị hỏng. Ví dụ, nếu bộ phát gửi dữ liệu dưới dạng ký tự 8 bit, nhưng bộ thu được cấu hình để nhận ký tự 7 bit, dữ liệu có thể bị hiểu sai, dẫn đến lỗi trong thông tin nhận được</a:t>
            </a:r>
            <a:endParaRPr lang="en-US" dirty="0"/>
          </a:p>
          <a:p>
            <a:pPr>
              <a:lnSpc>
                <a:spcPct val="150000"/>
              </a:lnSpc>
            </a:pPr>
            <a:r>
              <a:rPr lang="en-US" b="1" dirty="0"/>
              <a:t>Parity</a:t>
            </a:r>
          </a:p>
          <a:p>
            <a:pPr>
              <a:lnSpc>
                <a:spcPct val="150000"/>
              </a:lnSpc>
            </a:pPr>
            <a:r>
              <a:rPr lang="vi-VN" dirty="0"/>
              <a:t>Ngoài các bit dữ liệu, giao tiếp UART có thể bao gồm một bit chẵn lẻ như một phần của khung dữ liệu. Chẵn lẻ là một cơ chế kiểm tra lỗi có thể giúp phát hiện các lỗi truyền dữ liệu. Chẵn lẻ có thể được đặt thành "lẻ" hoặc "chẵn", và nó đảm bảo rằng tổng số bit được đặt thành logic "1" trong một ký tự là chẵn hoặc lẻ, tùy thuộc vào loại chẵn lẻ được chọn. Sự hiện diện của bit chẵn lẻ cho phép người nhận xác minh tính toàn vẹn của dữ liệu nhận được. Nếu số lượng bit "1" không khớp với chẵn lẻ dự kiến, lỗi sẽ được phát hiện.</a:t>
            </a:r>
          </a:p>
        </p:txBody>
      </p:sp>
      <p:pic>
        <p:nvPicPr>
          <p:cNvPr id="5122" name="Picture 2" descr="Bit chẵn lẻ">
            <a:extLst>
              <a:ext uri="{FF2B5EF4-FFF2-40B4-BE49-F238E27FC236}">
                <a16:creationId xmlns:a16="http://schemas.microsoft.com/office/drawing/2014/main" id="{5B08EB43-A065-700E-7E97-737B7DE74E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4167" y="4420606"/>
            <a:ext cx="3309811" cy="1863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97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5E9282C-87B9-4F2C-EA11-582D200FBFA8}"/>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BB98A9EB-EF84-BCDB-CD66-281058D2896A}"/>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013FDB9B-E904-9BA3-EC0D-E106F1EBEE7A}"/>
              </a:ext>
            </a:extLst>
          </p:cNvPr>
          <p:cNvSpPr/>
          <p:nvPr/>
        </p:nvSpPr>
        <p:spPr>
          <a:xfrm>
            <a:off x="162321" y="665332"/>
            <a:ext cx="9392645" cy="1938992"/>
          </a:xfrm>
          <a:prstGeom prst="rect">
            <a:avLst/>
          </a:prstGeom>
          <a:noFill/>
          <a:ln>
            <a:noFill/>
          </a:ln>
        </p:spPr>
        <p:txBody>
          <a:bodyPr spcFirstLastPara="1" wrap="square" lIns="0" tIns="0" rIns="0" bIns="0" anchor="t" anchorCtr="0">
            <a:spAutoFit/>
          </a:bodyPr>
          <a:lstStyle/>
          <a:p>
            <a:pPr>
              <a:lnSpc>
                <a:spcPct val="150000"/>
              </a:lnSpc>
            </a:pPr>
            <a:r>
              <a:rPr lang="en-US" b="1" dirty="0"/>
              <a:t>Bit </a:t>
            </a:r>
            <a:r>
              <a:rPr lang="en-US" b="1" dirty="0" err="1"/>
              <a:t>dừng</a:t>
            </a:r>
            <a:endParaRPr lang="vi-VN" dirty="0"/>
          </a:p>
          <a:p>
            <a:pPr>
              <a:lnSpc>
                <a:spcPct val="150000"/>
              </a:lnSpc>
            </a:pPr>
            <a:r>
              <a:rPr lang="vi-VN" dirty="0"/>
              <a:t>Một hoặc nhiều bit dừng được gửi sau các bit dữ liệu trong mỗi khung UART. Bit dừng báo hiệu sự kết thúc của byte dữ liệu và cho biết quá trình truyền dữ liệu đã kết thúc. Cấu hình phổ biến nhất là sử dụng một bit dừng, nhưng trong trường hợp cần độ tin cậy cao hơn, có thể sử dụng hai bit dừng.</a:t>
            </a:r>
          </a:p>
          <a:p>
            <a:pPr>
              <a:lnSpc>
                <a:spcPct val="150000"/>
              </a:lnSpc>
            </a:pPr>
            <a:r>
              <a:rPr lang="vi-VN" dirty="0"/>
              <a:t>Cực tính của bit dừng có thể khác nhau, một số hệ thống sử dụng bit dừng cao và một số hệ thống khác sử dụng bit dừng thấp tùy thuộc vào cấu hình UART cụ thể.</a:t>
            </a:r>
          </a:p>
        </p:txBody>
      </p:sp>
      <p:pic>
        <p:nvPicPr>
          <p:cNvPr id="6146" name="Picture 2" descr="Dừng lại">
            <a:extLst>
              <a:ext uri="{FF2B5EF4-FFF2-40B4-BE49-F238E27FC236}">
                <a16:creationId xmlns:a16="http://schemas.microsoft.com/office/drawing/2014/main" id="{E2C732D6-ADBC-BFD8-184E-9AB1D2AC02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5787" y="2706518"/>
            <a:ext cx="6191250" cy="3486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485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B02C4ED-6FBC-13F7-9A51-4F1205AB268E}"/>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CDE86A74-0C6A-C8AF-55D8-DF0A2B529CC8}"/>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91643E9-8393-1886-7654-03AFA05D0B1F}"/>
              </a:ext>
            </a:extLst>
          </p:cNvPr>
          <p:cNvSpPr/>
          <p:nvPr/>
        </p:nvSpPr>
        <p:spPr>
          <a:xfrm>
            <a:off x="162321" y="665332"/>
            <a:ext cx="9392645" cy="3231654"/>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t>
            </a:r>
            <a:r>
              <a:rPr lang="en-US" b="1" dirty="0" err="1"/>
              <a:t>về</a:t>
            </a:r>
            <a:r>
              <a:rPr lang="en-US" b="1" dirty="0"/>
              <a:t> USB </a:t>
            </a:r>
            <a:r>
              <a:rPr lang="en-US" b="1" dirty="0" err="1"/>
              <a:t>nối</a:t>
            </a:r>
            <a:r>
              <a:rPr lang="en-US" b="1" dirty="0"/>
              <a:t> </a:t>
            </a:r>
            <a:r>
              <a:rPr lang="en-US" b="1" dirty="0" err="1"/>
              <a:t>tiếp</a:t>
            </a:r>
            <a:endParaRPr lang="en-US" b="1" dirty="0"/>
          </a:p>
          <a:p>
            <a:pPr>
              <a:lnSpc>
                <a:spcPct val="150000"/>
              </a:lnSpc>
            </a:pPr>
            <a:r>
              <a:rPr lang="vi-VN" dirty="0">
                <a:solidFill>
                  <a:srgbClr val="FF0000"/>
                </a:solidFill>
              </a:rPr>
              <a:t>void setup(){</a:t>
            </a:r>
          </a:p>
          <a:p>
            <a:pPr>
              <a:lnSpc>
                <a:spcPct val="150000"/>
              </a:lnSpc>
            </a:pPr>
            <a:r>
              <a:rPr lang="vi-VN" dirty="0">
                <a:solidFill>
                  <a:srgbClr val="FF0000"/>
                </a:solidFill>
              </a:rPr>
              <a:t>  Serial.begin(9600); //initialize serial communication at a 9600 baud rate</a:t>
            </a:r>
          </a:p>
          <a:p>
            <a:pPr>
              <a:lnSpc>
                <a:spcPct val="150000"/>
              </a:lnSpc>
            </a:pPr>
            <a:r>
              <a:rPr lang="vi-VN" dirty="0">
                <a:solidFill>
                  <a:srgbClr val="FF0000"/>
                </a:solidFill>
              </a:rPr>
              <a:t>}</a:t>
            </a:r>
          </a:p>
          <a:p>
            <a:pPr>
              <a:lnSpc>
                <a:spcPct val="150000"/>
              </a:lnSpc>
            </a:pPr>
            <a:r>
              <a:rPr lang="vi-VN" dirty="0">
                <a:solidFill>
                  <a:srgbClr val="FF0000"/>
                </a:solidFill>
              </a:rPr>
              <a:t>void loop(){</a:t>
            </a:r>
          </a:p>
          <a:p>
            <a:pPr>
              <a:lnSpc>
                <a:spcPct val="150000"/>
              </a:lnSpc>
            </a:pPr>
            <a:r>
              <a:rPr lang="vi-VN" dirty="0">
                <a:solidFill>
                  <a:srgbClr val="FF0000"/>
                </a:solidFill>
              </a:rPr>
              <a:t>  Serial.println("Hello world!");</a:t>
            </a:r>
          </a:p>
          <a:p>
            <a:pPr>
              <a:lnSpc>
                <a:spcPct val="150000"/>
              </a:lnSpc>
            </a:pPr>
            <a:r>
              <a:rPr lang="vi-VN" dirty="0">
                <a:solidFill>
                  <a:srgbClr val="FF0000"/>
                </a:solidFill>
              </a:rPr>
              <a:t>  delay(1000);</a:t>
            </a:r>
          </a:p>
          <a:p>
            <a:pPr>
              <a:lnSpc>
                <a:spcPct val="150000"/>
              </a:lnSpc>
            </a:pPr>
            <a:r>
              <a:rPr lang="vi-VN" dirty="0">
                <a:solidFill>
                  <a:srgbClr val="FF0000"/>
                </a:solidFill>
              </a:rPr>
              <a:t>}</a:t>
            </a:r>
            <a:endParaRPr lang="en-US" dirty="0">
              <a:solidFill>
                <a:srgbClr val="FF0000"/>
              </a:solidFill>
            </a:endParaRPr>
          </a:p>
          <a:p>
            <a:pPr>
              <a:lnSpc>
                <a:spcPct val="150000"/>
              </a:lnSpc>
            </a:pPr>
            <a:r>
              <a:rPr lang="en-US" dirty="0" err="1">
                <a:solidFill>
                  <a:schemeClr val="tx1"/>
                </a:solidFill>
              </a:rPr>
              <a:t>Ví</a:t>
            </a:r>
            <a:r>
              <a:rPr lang="en-US" dirty="0">
                <a:solidFill>
                  <a:schemeClr val="tx1"/>
                </a:solidFill>
              </a:rPr>
              <a:t> </a:t>
            </a:r>
            <a:r>
              <a:rPr lang="en-US" dirty="0" err="1">
                <a:solidFill>
                  <a:schemeClr val="tx1"/>
                </a:solidFill>
              </a:rPr>
              <a:t>dụ</a:t>
            </a:r>
            <a:r>
              <a:rPr lang="en-US" dirty="0">
                <a:solidFill>
                  <a:schemeClr val="tx1"/>
                </a:solidFill>
              </a:rPr>
              <a:t> </a:t>
            </a:r>
            <a:r>
              <a:rPr lang="en-US" dirty="0" err="1">
                <a:solidFill>
                  <a:schemeClr val="tx1"/>
                </a:solidFill>
              </a:rPr>
              <a:t>này</a:t>
            </a:r>
            <a:r>
              <a:rPr lang="en-US" dirty="0">
                <a:solidFill>
                  <a:schemeClr val="tx1"/>
                </a:solidFill>
              </a:rPr>
              <a:t> </a:t>
            </a:r>
            <a:r>
              <a:rPr lang="en-US" dirty="0" err="1">
                <a:solidFill>
                  <a:schemeClr val="tx1"/>
                </a:solidFill>
              </a:rPr>
              <a:t>sẽ</a:t>
            </a:r>
            <a:r>
              <a:rPr lang="en-US" dirty="0">
                <a:solidFill>
                  <a:schemeClr val="tx1"/>
                </a:solidFill>
              </a:rPr>
              <a:t> </a:t>
            </a:r>
            <a:r>
              <a:rPr lang="en-US" dirty="0" err="1">
                <a:solidFill>
                  <a:schemeClr val="tx1"/>
                </a:solidFill>
              </a:rPr>
              <a:t>gửi</a:t>
            </a:r>
            <a:r>
              <a:rPr lang="en-US" dirty="0">
                <a:solidFill>
                  <a:schemeClr val="tx1"/>
                </a:solidFill>
              </a:rPr>
              <a:t> </a:t>
            </a:r>
            <a:r>
              <a:rPr lang="en-US" dirty="0" err="1">
                <a:solidFill>
                  <a:schemeClr val="tx1"/>
                </a:solidFill>
              </a:rPr>
              <a:t>chuỗi</a:t>
            </a:r>
            <a:r>
              <a:rPr lang="en-US" dirty="0">
                <a:solidFill>
                  <a:schemeClr val="tx1"/>
                </a:solidFill>
              </a:rPr>
              <a:t> </a:t>
            </a:r>
            <a:r>
              <a:rPr lang="en-US" i="1" dirty="0">
                <a:solidFill>
                  <a:schemeClr val="tx1"/>
                </a:solidFill>
              </a:rPr>
              <a:t>Hello World! </a:t>
            </a:r>
            <a:r>
              <a:rPr lang="en-US" i="1" dirty="0" err="1">
                <a:solidFill>
                  <a:schemeClr val="tx1"/>
                </a:solidFill>
              </a:rPr>
              <a:t>t</a:t>
            </a:r>
            <a:r>
              <a:rPr lang="en-US" dirty="0" err="1">
                <a:solidFill>
                  <a:schemeClr val="tx1"/>
                </a:solidFill>
              </a:rPr>
              <a:t>ừ</a:t>
            </a:r>
            <a:r>
              <a:rPr lang="en-US" dirty="0">
                <a:solidFill>
                  <a:schemeClr val="tx1"/>
                </a:solidFill>
              </a:rPr>
              <a:t> Arduino sang </a:t>
            </a:r>
            <a:r>
              <a:rPr lang="en-US" dirty="0" err="1">
                <a:solidFill>
                  <a:schemeClr val="tx1"/>
                </a:solidFill>
              </a:rPr>
              <a:t>máy</a:t>
            </a:r>
            <a:r>
              <a:rPr lang="en-US" dirty="0">
                <a:solidFill>
                  <a:schemeClr val="tx1"/>
                </a:solidFill>
              </a:rPr>
              <a:t> </a:t>
            </a:r>
            <a:r>
              <a:rPr lang="en-US" dirty="0" err="1">
                <a:solidFill>
                  <a:schemeClr val="tx1"/>
                </a:solidFill>
              </a:rPr>
              <a:t>tính</a:t>
            </a:r>
            <a:r>
              <a:rPr lang="en-US" dirty="0">
                <a:solidFill>
                  <a:schemeClr val="tx1"/>
                </a:solidFill>
              </a:rPr>
              <a:t>, </a:t>
            </a:r>
            <a:r>
              <a:rPr lang="en-US" dirty="0" err="1">
                <a:solidFill>
                  <a:schemeClr val="tx1"/>
                </a:solidFill>
              </a:rPr>
              <a:t>sử</a:t>
            </a:r>
            <a:r>
              <a:rPr lang="en-US" dirty="0">
                <a:solidFill>
                  <a:schemeClr val="tx1"/>
                </a:solidFill>
              </a:rPr>
              <a:t> </a:t>
            </a:r>
            <a:r>
              <a:rPr lang="en-US" dirty="0" err="1">
                <a:solidFill>
                  <a:schemeClr val="tx1"/>
                </a:solidFill>
              </a:rPr>
              <a:t>dụng</a:t>
            </a:r>
            <a:r>
              <a:rPr lang="en-US" dirty="0">
                <a:solidFill>
                  <a:schemeClr val="tx1"/>
                </a:solidFill>
              </a:rPr>
              <a:t> </a:t>
            </a:r>
            <a:r>
              <a:rPr lang="en-US" dirty="0" err="1">
                <a:solidFill>
                  <a:schemeClr val="tx1"/>
                </a:solidFill>
              </a:rPr>
              <a:t>Serial.println</a:t>
            </a:r>
            <a:r>
              <a:rPr lang="en-US" dirty="0">
                <a:solidFill>
                  <a:schemeClr val="tx1"/>
                </a:solidFill>
              </a:rPr>
              <a:t>()</a:t>
            </a:r>
          </a:p>
          <a:p>
            <a:pPr>
              <a:lnSpc>
                <a:spcPct val="150000"/>
              </a:lnSpc>
            </a:pPr>
            <a:r>
              <a:rPr lang="en-US" dirty="0" err="1">
                <a:solidFill>
                  <a:schemeClr val="tx1"/>
                </a:solidFill>
              </a:rPr>
              <a:t>Chức</a:t>
            </a:r>
            <a:r>
              <a:rPr lang="en-US" dirty="0">
                <a:solidFill>
                  <a:schemeClr val="tx1"/>
                </a:solidFill>
              </a:rPr>
              <a:t> </a:t>
            </a:r>
            <a:r>
              <a:rPr lang="en-US" dirty="0" err="1">
                <a:solidFill>
                  <a:schemeClr val="tx1"/>
                </a:solidFill>
              </a:rPr>
              <a:t>năng</a:t>
            </a:r>
            <a:r>
              <a:rPr lang="en-US" dirty="0">
                <a:solidFill>
                  <a:schemeClr val="tx1"/>
                </a:solidFill>
              </a:rPr>
              <a:t> </a:t>
            </a:r>
            <a:r>
              <a:rPr lang="en-US" dirty="0" err="1">
                <a:solidFill>
                  <a:schemeClr val="tx1"/>
                </a:solidFill>
              </a:rPr>
              <a:t>này</a:t>
            </a:r>
            <a:r>
              <a:rPr lang="en-US" dirty="0">
                <a:solidFill>
                  <a:schemeClr val="tx1"/>
                </a:solidFill>
              </a:rPr>
              <a:t> </a:t>
            </a:r>
            <a:r>
              <a:rPr lang="en-US" dirty="0" err="1">
                <a:solidFill>
                  <a:schemeClr val="tx1"/>
                </a:solidFill>
              </a:rPr>
              <a:t>sẽ</a:t>
            </a:r>
            <a:r>
              <a:rPr lang="en-US" dirty="0">
                <a:solidFill>
                  <a:schemeClr val="tx1"/>
                </a:solidFill>
              </a:rPr>
              <a:t> </a:t>
            </a:r>
            <a:r>
              <a:rPr lang="en-US" dirty="0" err="1">
                <a:solidFill>
                  <a:schemeClr val="tx1"/>
                </a:solidFill>
              </a:rPr>
              <a:t>gửi</a:t>
            </a:r>
            <a:r>
              <a:rPr lang="en-US" dirty="0">
                <a:solidFill>
                  <a:schemeClr val="tx1"/>
                </a:solidFill>
              </a:rPr>
              <a:t> </a:t>
            </a:r>
            <a:r>
              <a:rPr lang="en-US" dirty="0" err="1">
                <a:solidFill>
                  <a:schemeClr val="tx1"/>
                </a:solidFill>
              </a:rPr>
              <a:t>dữ</a:t>
            </a:r>
            <a:r>
              <a:rPr lang="en-US" dirty="0">
                <a:solidFill>
                  <a:schemeClr val="tx1"/>
                </a:solidFill>
              </a:rPr>
              <a:t> </a:t>
            </a:r>
            <a:r>
              <a:rPr lang="en-US" dirty="0" err="1">
                <a:solidFill>
                  <a:schemeClr val="tx1"/>
                </a:solidFill>
              </a:rPr>
              <a:t>liệu</a:t>
            </a:r>
            <a:r>
              <a:rPr lang="en-US" dirty="0">
                <a:solidFill>
                  <a:schemeClr val="tx1"/>
                </a:solidFill>
              </a:rPr>
              <a:t> </a:t>
            </a:r>
            <a:r>
              <a:rPr lang="en-US" dirty="0" err="1">
                <a:solidFill>
                  <a:schemeClr val="tx1"/>
                </a:solidFill>
              </a:rPr>
              <a:t>mỗi</a:t>
            </a:r>
            <a:r>
              <a:rPr lang="en-US" dirty="0">
                <a:solidFill>
                  <a:schemeClr val="tx1"/>
                </a:solidFill>
              </a:rPr>
              <a:t> </a:t>
            </a:r>
            <a:r>
              <a:rPr lang="en-US" dirty="0" err="1">
                <a:solidFill>
                  <a:schemeClr val="tx1"/>
                </a:solidFill>
              </a:rPr>
              <a:t>giây</a:t>
            </a:r>
            <a:r>
              <a:rPr lang="en-US" dirty="0">
                <a:solidFill>
                  <a:schemeClr val="tx1"/>
                </a:solidFill>
              </a:rPr>
              <a:t> </a:t>
            </a:r>
            <a:r>
              <a:rPr lang="en-US" dirty="0" err="1">
                <a:solidFill>
                  <a:schemeClr val="tx1"/>
                </a:solidFill>
              </a:rPr>
              <a:t>một</a:t>
            </a:r>
            <a:r>
              <a:rPr lang="en-US" dirty="0">
                <a:solidFill>
                  <a:schemeClr val="tx1"/>
                </a:solidFill>
              </a:rPr>
              <a:t> </a:t>
            </a:r>
            <a:r>
              <a:rPr lang="en-US" dirty="0" err="1">
                <a:solidFill>
                  <a:schemeClr val="tx1"/>
                </a:solidFill>
              </a:rPr>
              <a:t>lần</a:t>
            </a:r>
            <a:r>
              <a:rPr lang="en-US" dirty="0">
                <a:solidFill>
                  <a:schemeClr val="tx1"/>
                </a:solidFill>
              </a:rPr>
              <a:t>.</a:t>
            </a:r>
            <a:endParaRPr lang="vi-VN" dirty="0">
              <a:solidFill>
                <a:schemeClr val="tx1"/>
              </a:solidFill>
            </a:endParaRPr>
          </a:p>
        </p:txBody>
      </p:sp>
    </p:spTree>
    <p:extLst>
      <p:ext uri="{BB962C8B-B14F-4D97-AF65-F5344CB8AC3E}">
        <p14:creationId xmlns:p14="http://schemas.microsoft.com/office/powerpoint/2010/main" val="3440150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1F5FBE81-0970-DDF6-0CC6-57F3605C35B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9407FBB-0671-DF32-278E-BEEBD1467491}"/>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CB61E9FE-5897-FD9F-B6F6-FFEF48BE2F90}"/>
              </a:ext>
            </a:extLst>
          </p:cNvPr>
          <p:cNvSpPr/>
          <p:nvPr/>
        </p:nvSpPr>
        <p:spPr>
          <a:xfrm>
            <a:off x="162321" y="665332"/>
            <a:ext cx="9392645" cy="5816977"/>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t>
            </a:r>
            <a:r>
              <a:rPr lang="en-US" b="1" dirty="0" err="1"/>
              <a:t>về</a:t>
            </a:r>
            <a:r>
              <a:rPr lang="en-US" b="1" dirty="0"/>
              <a:t> USB </a:t>
            </a:r>
            <a:r>
              <a:rPr lang="en-US" b="1" dirty="0" err="1"/>
              <a:t>nối</a:t>
            </a:r>
            <a:r>
              <a:rPr lang="en-US" b="1" dirty="0"/>
              <a:t> </a:t>
            </a:r>
            <a:r>
              <a:rPr lang="en-US" b="1" dirty="0" err="1"/>
              <a:t>tiếp</a:t>
            </a:r>
            <a:endParaRPr lang="en-US" b="1" dirty="0"/>
          </a:p>
          <a:p>
            <a:pPr>
              <a:lnSpc>
                <a:spcPct val="150000"/>
              </a:lnSpc>
            </a:pPr>
            <a:r>
              <a:rPr lang="vi-VN" dirty="0">
                <a:solidFill>
                  <a:srgbClr val="FF0000"/>
                </a:solidFill>
              </a:rPr>
              <a:t>int incomingByte = 0; // for incoming serial data</a:t>
            </a:r>
          </a:p>
          <a:p>
            <a:pPr>
              <a:lnSpc>
                <a:spcPct val="150000"/>
              </a:lnSpc>
            </a:pPr>
            <a:endParaRPr lang="vi-VN" dirty="0">
              <a:solidFill>
                <a:srgbClr val="FF0000"/>
              </a:solidFill>
            </a:endParaRPr>
          </a:p>
          <a:p>
            <a:pPr>
              <a:lnSpc>
                <a:spcPct val="150000"/>
              </a:lnSpc>
            </a:pPr>
            <a:r>
              <a:rPr lang="vi-VN" dirty="0">
                <a:solidFill>
                  <a:srgbClr val="FF0000"/>
                </a:solidFill>
              </a:rPr>
              <a:t>void setup() {</a:t>
            </a:r>
          </a:p>
          <a:p>
            <a:pPr>
              <a:lnSpc>
                <a:spcPct val="150000"/>
              </a:lnSpc>
            </a:pPr>
            <a:r>
              <a:rPr lang="vi-VN" dirty="0">
                <a:solidFill>
                  <a:srgbClr val="FF0000"/>
                </a:solidFill>
              </a:rPr>
              <a:t>  Serial.begin(9600); //initialize serial communication at a 9600 baud rate</a:t>
            </a:r>
          </a:p>
          <a:p>
            <a:pPr>
              <a:lnSpc>
                <a:spcPct val="150000"/>
              </a:lnSpc>
            </a:pPr>
            <a:r>
              <a:rPr lang="vi-VN" dirty="0">
                <a:solidFill>
                  <a:srgbClr val="FF0000"/>
                </a:solidFill>
              </a:rPr>
              <a:t>}</a:t>
            </a:r>
          </a:p>
          <a:p>
            <a:pPr>
              <a:lnSpc>
                <a:spcPct val="150000"/>
              </a:lnSpc>
            </a:pPr>
            <a:r>
              <a:rPr lang="vi-VN" dirty="0">
                <a:solidFill>
                  <a:srgbClr val="FF0000"/>
                </a:solidFill>
              </a:rPr>
              <a:t>void loop() {</a:t>
            </a:r>
          </a:p>
          <a:p>
            <a:pPr>
              <a:lnSpc>
                <a:spcPct val="150000"/>
              </a:lnSpc>
            </a:pPr>
            <a:r>
              <a:rPr lang="vi-VN" dirty="0">
                <a:solidFill>
                  <a:srgbClr val="FF0000"/>
                </a:solidFill>
              </a:rPr>
              <a:t>  // send data only when you receive data:</a:t>
            </a:r>
          </a:p>
          <a:p>
            <a:pPr>
              <a:lnSpc>
                <a:spcPct val="150000"/>
              </a:lnSpc>
            </a:pPr>
            <a:r>
              <a:rPr lang="vi-VN" dirty="0">
                <a:solidFill>
                  <a:srgbClr val="FF0000"/>
                </a:solidFill>
              </a:rPr>
              <a:t>  if (Serial.available() &gt; 0) {</a:t>
            </a:r>
          </a:p>
          <a:p>
            <a:pPr>
              <a:lnSpc>
                <a:spcPct val="150000"/>
              </a:lnSpc>
            </a:pPr>
            <a:r>
              <a:rPr lang="vi-VN" dirty="0">
                <a:solidFill>
                  <a:srgbClr val="FF0000"/>
                </a:solidFill>
              </a:rPr>
              <a:t>    // read the incoming byte:</a:t>
            </a:r>
          </a:p>
          <a:p>
            <a:pPr>
              <a:lnSpc>
                <a:spcPct val="150000"/>
              </a:lnSpc>
            </a:pPr>
            <a:r>
              <a:rPr lang="vi-VN" dirty="0">
                <a:solidFill>
                  <a:srgbClr val="FF0000"/>
                </a:solidFill>
              </a:rPr>
              <a:t>    incomingByte = Serial.read();</a:t>
            </a:r>
          </a:p>
          <a:p>
            <a:pPr>
              <a:lnSpc>
                <a:spcPct val="150000"/>
              </a:lnSpc>
            </a:pPr>
            <a:endParaRPr lang="vi-VN" dirty="0">
              <a:solidFill>
                <a:srgbClr val="FF0000"/>
              </a:solidFill>
            </a:endParaRPr>
          </a:p>
          <a:p>
            <a:pPr>
              <a:lnSpc>
                <a:spcPct val="150000"/>
              </a:lnSpc>
            </a:pPr>
            <a:r>
              <a:rPr lang="vi-VN" dirty="0">
                <a:solidFill>
                  <a:srgbClr val="FF0000"/>
                </a:solidFill>
              </a:rPr>
              <a:t>    // say what you got:</a:t>
            </a:r>
          </a:p>
          <a:p>
            <a:pPr>
              <a:lnSpc>
                <a:spcPct val="150000"/>
              </a:lnSpc>
            </a:pPr>
            <a:r>
              <a:rPr lang="vi-VN" dirty="0">
                <a:solidFill>
                  <a:srgbClr val="FF0000"/>
                </a:solidFill>
              </a:rPr>
              <a:t>    Serial.print("I received: ");</a:t>
            </a:r>
          </a:p>
          <a:p>
            <a:pPr>
              <a:lnSpc>
                <a:spcPct val="150000"/>
              </a:lnSpc>
            </a:pPr>
            <a:r>
              <a:rPr lang="vi-VN" dirty="0">
                <a:solidFill>
                  <a:srgbClr val="FF0000"/>
                </a:solidFill>
              </a:rPr>
              <a:t>    Serial.println(incomingByte, DEC);</a:t>
            </a:r>
          </a:p>
          <a:p>
            <a:pPr>
              <a:lnSpc>
                <a:spcPct val="150000"/>
              </a:lnSpc>
            </a:pPr>
            <a:r>
              <a:rPr lang="vi-VN" dirty="0">
                <a:solidFill>
                  <a:srgbClr val="FF0000"/>
                </a:solidFill>
              </a:rPr>
              <a:t>  }</a:t>
            </a:r>
          </a:p>
          <a:p>
            <a:pPr>
              <a:lnSpc>
                <a:spcPct val="150000"/>
              </a:lnSpc>
            </a:pPr>
            <a:r>
              <a:rPr lang="vi-VN" dirty="0">
                <a:solidFill>
                  <a:srgbClr val="FF0000"/>
                </a:solidFill>
              </a:rPr>
              <a:t>}</a:t>
            </a:r>
            <a:endParaRPr lang="en-US" dirty="0">
              <a:solidFill>
                <a:srgbClr val="FF0000"/>
              </a:solidFill>
            </a:endParaRPr>
          </a:p>
          <a:p>
            <a:pPr>
              <a:lnSpc>
                <a:spcPct val="150000"/>
              </a:lnSpc>
            </a:pPr>
            <a:r>
              <a:rPr lang="en-US" dirty="0" err="1">
                <a:solidFill>
                  <a:schemeClr val="tx1"/>
                </a:solidFill>
              </a:rPr>
              <a:t>Ví</a:t>
            </a:r>
            <a:r>
              <a:rPr lang="en-US" dirty="0">
                <a:solidFill>
                  <a:schemeClr val="tx1"/>
                </a:solidFill>
              </a:rPr>
              <a:t> </a:t>
            </a:r>
            <a:r>
              <a:rPr lang="en-US" dirty="0" err="1">
                <a:solidFill>
                  <a:schemeClr val="tx1"/>
                </a:solidFill>
              </a:rPr>
              <a:t>dụ</a:t>
            </a:r>
            <a:r>
              <a:rPr lang="en-US" dirty="0">
                <a:solidFill>
                  <a:schemeClr val="tx1"/>
                </a:solidFill>
              </a:rPr>
              <a:t> </a:t>
            </a:r>
            <a:r>
              <a:rPr lang="en-US" dirty="0" err="1">
                <a:solidFill>
                  <a:schemeClr val="tx1"/>
                </a:solidFill>
              </a:rPr>
              <a:t>này</a:t>
            </a:r>
            <a:r>
              <a:rPr lang="en-US" dirty="0">
                <a:solidFill>
                  <a:schemeClr val="tx1"/>
                </a:solidFill>
              </a:rPr>
              <a:t> </a:t>
            </a:r>
            <a:r>
              <a:rPr lang="en-US" dirty="0"/>
              <a:t>in </a:t>
            </a:r>
            <a:r>
              <a:rPr lang="en-US" dirty="0" err="1"/>
              <a:t>ra</a:t>
            </a:r>
            <a:r>
              <a:rPr lang="en-US" dirty="0"/>
              <a:t> </a:t>
            </a:r>
            <a:r>
              <a:rPr lang="en-US" dirty="0" err="1"/>
              <a:t>bất</a:t>
            </a:r>
            <a:r>
              <a:rPr lang="en-US" dirty="0"/>
              <a:t> </a:t>
            </a:r>
            <a:r>
              <a:rPr lang="en-US" dirty="0" err="1"/>
              <a:t>cứ</a:t>
            </a:r>
            <a:r>
              <a:rPr lang="en-US" dirty="0"/>
              <a:t> </a:t>
            </a:r>
            <a:r>
              <a:rPr lang="en-US" dirty="0" err="1"/>
              <a:t>thứ</a:t>
            </a:r>
            <a:r>
              <a:rPr lang="en-US" dirty="0"/>
              <a:t> </a:t>
            </a:r>
            <a:r>
              <a:rPr lang="en-US" dirty="0" err="1"/>
              <a:t>gì</a:t>
            </a:r>
            <a:r>
              <a:rPr lang="en-US" dirty="0"/>
              <a:t> </a:t>
            </a:r>
            <a:r>
              <a:rPr lang="en-US" dirty="0" err="1"/>
              <a:t>nhập</a:t>
            </a:r>
            <a:r>
              <a:rPr lang="en-US" dirty="0"/>
              <a:t> </a:t>
            </a:r>
            <a:r>
              <a:rPr lang="en-US" dirty="0" err="1"/>
              <a:t>vào</a:t>
            </a:r>
            <a:r>
              <a:rPr lang="en-US" dirty="0"/>
              <a:t> Serial Monitor</a:t>
            </a:r>
            <a:endParaRPr lang="vi-VN" dirty="0">
              <a:solidFill>
                <a:schemeClr val="tx1"/>
              </a:solidFill>
            </a:endParaRPr>
          </a:p>
        </p:txBody>
      </p:sp>
    </p:spTree>
    <p:extLst>
      <p:ext uri="{BB962C8B-B14F-4D97-AF65-F5344CB8AC3E}">
        <p14:creationId xmlns:p14="http://schemas.microsoft.com/office/powerpoint/2010/main" val="2548539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4DBCE06-9975-5CB4-DF72-BAFFC2BFFD9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F57A4D07-2BFE-36C4-2B3C-90AFE6A6A3AB}"/>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BC93AAA2-2C48-CB64-F68A-9431846515D2}"/>
              </a:ext>
            </a:extLst>
          </p:cNvPr>
          <p:cNvSpPr/>
          <p:nvPr/>
        </p:nvSpPr>
        <p:spPr>
          <a:xfrm>
            <a:off x="162321" y="665332"/>
            <a:ext cx="9392645" cy="646331"/>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t>
            </a:r>
            <a:r>
              <a:rPr lang="en-US" b="1" dirty="0" err="1"/>
              <a:t>về</a:t>
            </a:r>
            <a:r>
              <a:rPr lang="en-US" b="1" dirty="0"/>
              <a:t> </a:t>
            </a:r>
            <a:r>
              <a:rPr lang="en-US" b="1" dirty="0" err="1"/>
              <a:t>chân</a:t>
            </a:r>
            <a:r>
              <a:rPr lang="en-US" b="1" dirty="0"/>
              <a:t> RX/TX</a:t>
            </a:r>
          </a:p>
          <a:p>
            <a:pPr>
              <a:lnSpc>
                <a:spcPct val="150000"/>
              </a:lnSpc>
            </a:pPr>
            <a:r>
              <a:rPr lang="vi-VN" dirty="0"/>
              <a:t>Để thiết lập, hãy kết nối các chân TX và RX trên cả hai bo mạch, theo sơ đồ mạch bên dưới:</a:t>
            </a:r>
            <a:endParaRPr lang="en-US" b="1" dirty="0"/>
          </a:p>
        </p:txBody>
      </p:sp>
      <p:pic>
        <p:nvPicPr>
          <p:cNvPr id="7170" name="Picture 2" descr="ảnh">
            <a:extLst>
              <a:ext uri="{FF2B5EF4-FFF2-40B4-BE49-F238E27FC236}">
                <a16:creationId xmlns:a16="http://schemas.microsoft.com/office/drawing/2014/main" id="{4626D59C-D293-220C-2830-21109C7589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1" y="1311663"/>
            <a:ext cx="6070564" cy="3414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738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C0512E7-95D9-50F0-37D9-0608DC165C8A}"/>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75CCFBD-BFE9-8404-F34F-0A3251DA62FB}"/>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6FB741A8-E669-A464-A21C-1E5D66490B4F}"/>
              </a:ext>
            </a:extLst>
          </p:cNvPr>
          <p:cNvSpPr/>
          <p:nvPr/>
        </p:nvSpPr>
        <p:spPr>
          <a:xfrm>
            <a:off x="162321" y="665332"/>
            <a:ext cx="9392645" cy="5493812"/>
          </a:xfrm>
          <a:prstGeom prst="rect">
            <a:avLst/>
          </a:prstGeom>
          <a:noFill/>
          <a:ln>
            <a:noFill/>
          </a:ln>
        </p:spPr>
        <p:txBody>
          <a:bodyPr spcFirstLastPara="1" wrap="square" lIns="0" tIns="0" rIns="0" bIns="0" anchor="t" anchorCtr="0">
            <a:spAutoFit/>
          </a:bodyPr>
          <a:lstStyle/>
          <a:p>
            <a:pPr>
              <a:lnSpc>
                <a:spcPct val="150000"/>
              </a:lnSpc>
            </a:pPr>
            <a:r>
              <a:rPr lang="en-US" b="1" dirty="0" err="1">
                <a:solidFill>
                  <a:schemeClr val="tx1"/>
                </a:solidFill>
              </a:rPr>
              <a:t>Đoạn</a:t>
            </a:r>
            <a:r>
              <a:rPr lang="en-US" b="1" dirty="0">
                <a:solidFill>
                  <a:schemeClr val="tx1"/>
                </a:solidFill>
              </a:rPr>
              <a:t> </a:t>
            </a:r>
            <a:r>
              <a:rPr lang="en-US" b="1" dirty="0" err="1">
                <a:solidFill>
                  <a:schemeClr val="tx1"/>
                </a:solidFill>
              </a:rPr>
              <a:t>mã</a:t>
            </a:r>
            <a:r>
              <a:rPr lang="en-US" b="1" dirty="0">
                <a:solidFill>
                  <a:schemeClr val="tx1"/>
                </a:solidFill>
              </a:rPr>
              <a:t> </a:t>
            </a:r>
            <a:r>
              <a:rPr lang="en-US" b="1" dirty="0" err="1">
                <a:solidFill>
                  <a:schemeClr val="tx1"/>
                </a:solidFill>
              </a:rPr>
              <a:t>chung</a:t>
            </a:r>
            <a:r>
              <a:rPr lang="en-US" b="1" dirty="0">
                <a:solidFill>
                  <a:schemeClr val="tx1"/>
                </a:solidFill>
              </a:rPr>
              <a:t> </a:t>
            </a:r>
            <a:r>
              <a:rPr lang="en-US" b="1" dirty="0" err="1">
                <a:solidFill>
                  <a:schemeClr val="tx1"/>
                </a:solidFill>
              </a:rPr>
              <a:t>cho</a:t>
            </a:r>
            <a:r>
              <a:rPr lang="en-US" b="1" dirty="0">
                <a:solidFill>
                  <a:schemeClr val="tx1"/>
                </a:solidFill>
              </a:rPr>
              <a:t> 2 </a:t>
            </a:r>
            <a:r>
              <a:rPr lang="en-US" b="1" dirty="0" err="1">
                <a:solidFill>
                  <a:schemeClr val="tx1"/>
                </a:solidFill>
              </a:rPr>
              <a:t>thiết</a:t>
            </a:r>
            <a:r>
              <a:rPr lang="en-US" b="1" dirty="0">
                <a:solidFill>
                  <a:schemeClr val="tx1"/>
                </a:solidFill>
              </a:rPr>
              <a:t> </a:t>
            </a:r>
            <a:r>
              <a:rPr lang="en-US" b="1" dirty="0" err="1">
                <a:solidFill>
                  <a:schemeClr val="tx1"/>
                </a:solidFill>
              </a:rPr>
              <a:t>bị</a:t>
            </a:r>
            <a:endParaRPr lang="en-US" b="1" dirty="0">
              <a:solidFill>
                <a:schemeClr val="tx1"/>
              </a:solidFill>
            </a:endParaRPr>
          </a:p>
          <a:p>
            <a:pPr>
              <a:lnSpc>
                <a:spcPct val="150000"/>
              </a:lnSpc>
            </a:pPr>
            <a:r>
              <a:rPr lang="vi-VN" dirty="0">
                <a:solidFill>
                  <a:srgbClr val="FF0000"/>
                </a:solidFill>
              </a:rPr>
              <a:t>String sendMessage;</a:t>
            </a:r>
          </a:p>
          <a:p>
            <a:pPr>
              <a:lnSpc>
                <a:spcPct val="150000"/>
              </a:lnSpc>
            </a:pPr>
            <a:r>
              <a:rPr lang="vi-VN" dirty="0">
                <a:solidFill>
                  <a:srgbClr val="FF0000"/>
                </a:solidFill>
              </a:rPr>
              <a:t>String receivedMessage;</a:t>
            </a:r>
          </a:p>
          <a:p>
            <a:pPr>
              <a:lnSpc>
                <a:spcPct val="150000"/>
              </a:lnSpc>
            </a:pPr>
            <a:r>
              <a:rPr lang="vi-VN" dirty="0">
                <a:solidFill>
                  <a:srgbClr val="FF0000"/>
                </a:solidFill>
              </a:rPr>
              <a:t>void setup() {</a:t>
            </a:r>
          </a:p>
          <a:p>
            <a:pPr>
              <a:lnSpc>
                <a:spcPct val="150000"/>
              </a:lnSpc>
            </a:pPr>
            <a:r>
              <a:rPr lang="vi-VN" dirty="0">
                <a:solidFill>
                  <a:srgbClr val="FF0000"/>
                </a:solidFill>
              </a:rPr>
              <a:t>  Serial.begin(9600);    // Initialize the Serial monitor for debugging</a:t>
            </a:r>
          </a:p>
          <a:p>
            <a:pPr>
              <a:lnSpc>
                <a:spcPct val="150000"/>
              </a:lnSpc>
            </a:pPr>
            <a:r>
              <a:rPr lang="vi-VN" dirty="0">
                <a:solidFill>
                  <a:srgbClr val="FF0000"/>
                </a:solidFill>
              </a:rPr>
              <a:t>  Serial1.begin(9600);   // Initialize Serial1 for sending data</a:t>
            </a:r>
          </a:p>
          <a:p>
            <a:pPr>
              <a:lnSpc>
                <a:spcPct val="150000"/>
              </a:lnSpc>
            </a:pPr>
            <a:r>
              <a:rPr lang="vi-VN" dirty="0">
                <a:solidFill>
                  <a:srgbClr val="FF0000"/>
                </a:solidFill>
              </a:rPr>
              <a:t>}</a:t>
            </a:r>
          </a:p>
          <a:p>
            <a:pPr>
              <a:lnSpc>
                <a:spcPct val="150000"/>
              </a:lnSpc>
            </a:pPr>
            <a:r>
              <a:rPr lang="vi-VN" dirty="0">
                <a:solidFill>
                  <a:srgbClr val="FF0000"/>
                </a:solidFill>
              </a:rPr>
              <a:t>void loop() {</a:t>
            </a:r>
          </a:p>
          <a:p>
            <a:pPr>
              <a:lnSpc>
                <a:spcPct val="150000"/>
              </a:lnSpc>
            </a:pPr>
            <a:r>
              <a:rPr lang="vi-VN" dirty="0">
                <a:solidFill>
                  <a:srgbClr val="FF0000"/>
                </a:solidFill>
              </a:rPr>
              <a:t>  while (Serial1.available() &gt; 0) {</a:t>
            </a:r>
          </a:p>
          <a:p>
            <a:pPr>
              <a:lnSpc>
                <a:spcPct val="150000"/>
              </a:lnSpc>
            </a:pPr>
            <a:r>
              <a:rPr lang="vi-VN" dirty="0">
                <a:solidFill>
                  <a:srgbClr val="FF0000"/>
                </a:solidFill>
              </a:rPr>
              <a:t>    char receivedChar = Serial1.read();</a:t>
            </a:r>
          </a:p>
          <a:p>
            <a:pPr>
              <a:lnSpc>
                <a:spcPct val="150000"/>
              </a:lnSpc>
            </a:pPr>
            <a:r>
              <a:rPr lang="vi-VN" dirty="0">
                <a:solidFill>
                  <a:srgbClr val="FF0000"/>
                </a:solidFill>
              </a:rPr>
              <a:t>    if (receivedChar == '\n') {</a:t>
            </a:r>
          </a:p>
          <a:p>
            <a:pPr>
              <a:lnSpc>
                <a:spcPct val="150000"/>
              </a:lnSpc>
            </a:pPr>
            <a:r>
              <a:rPr lang="vi-VN" dirty="0">
                <a:solidFill>
                  <a:srgbClr val="FF0000"/>
                </a:solidFill>
              </a:rPr>
              <a:t>      Serial.println(receivedMessage);  // Print the received message in the Serial monitor</a:t>
            </a:r>
          </a:p>
          <a:p>
            <a:pPr>
              <a:lnSpc>
                <a:spcPct val="150000"/>
              </a:lnSpc>
            </a:pPr>
            <a:r>
              <a:rPr lang="vi-VN" dirty="0">
                <a:solidFill>
                  <a:srgbClr val="FF0000"/>
                </a:solidFill>
              </a:rPr>
              <a:t>      receivedMessage = "";  // Reset the received message</a:t>
            </a:r>
          </a:p>
          <a:p>
            <a:pPr>
              <a:lnSpc>
                <a:spcPct val="150000"/>
              </a:lnSpc>
            </a:pPr>
            <a:r>
              <a:rPr lang="vi-VN" dirty="0">
                <a:solidFill>
                  <a:srgbClr val="FF0000"/>
                </a:solidFill>
              </a:rPr>
              <a:t>    } else {</a:t>
            </a:r>
          </a:p>
          <a:p>
            <a:pPr>
              <a:lnSpc>
                <a:spcPct val="150000"/>
              </a:lnSpc>
            </a:pPr>
            <a:r>
              <a:rPr lang="vi-VN" dirty="0">
                <a:solidFill>
                  <a:srgbClr val="FF0000"/>
                </a:solidFill>
              </a:rPr>
              <a:t>      receivedMessage += receivedChar;  // Append characters to the received message</a:t>
            </a:r>
          </a:p>
          <a:p>
            <a:pPr>
              <a:lnSpc>
                <a:spcPct val="150000"/>
              </a:lnSpc>
            </a:pPr>
            <a:r>
              <a:rPr lang="vi-VN" dirty="0">
                <a:solidFill>
                  <a:srgbClr val="FF0000"/>
                </a:solidFill>
              </a:rPr>
              <a:t>    }</a:t>
            </a:r>
          </a:p>
          <a:p>
            <a:pPr>
              <a:lnSpc>
                <a:spcPct val="150000"/>
              </a:lnSpc>
            </a:pPr>
            <a:r>
              <a:rPr lang="vi-VN" dirty="0">
                <a:solidFill>
                  <a:srgbClr val="FF0000"/>
                </a:solidFill>
              </a:rPr>
              <a:t>  }</a:t>
            </a:r>
          </a:p>
        </p:txBody>
      </p:sp>
    </p:spTree>
    <p:extLst>
      <p:ext uri="{BB962C8B-B14F-4D97-AF65-F5344CB8AC3E}">
        <p14:creationId xmlns:p14="http://schemas.microsoft.com/office/powerpoint/2010/main" val="18533719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2042652B-2DDF-DB91-6FA5-B70E6FDC4794}"/>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A529410-5FB7-C74E-4EFB-DF48FA2853AA}"/>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1.1 UART</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916FCEF1-74BF-4E0E-1591-8F37F0272C6F}"/>
              </a:ext>
            </a:extLst>
          </p:cNvPr>
          <p:cNvSpPr/>
          <p:nvPr/>
        </p:nvSpPr>
        <p:spPr>
          <a:xfrm>
            <a:off x="162321" y="665332"/>
            <a:ext cx="9392645" cy="323165"/>
          </a:xfrm>
          <a:prstGeom prst="rect">
            <a:avLst/>
          </a:prstGeom>
          <a:noFill/>
          <a:ln>
            <a:noFill/>
          </a:ln>
        </p:spPr>
        <p:txBody>
          <a:bodyPr spcFirstLastPara="1" wrap="square" lIns="0" tIns="0" rIns="0" bIns="0" anchor="t" anchorCtr="0">
            <a:spAutoFit/>
          </a:bodyPr>
          <a:lstStyle/>
          <a:p>
            <a:pPr>
              <a:lnSpc>
                <a:spcPct val="150000"/>
              </a:lnSpc>
            </a:pPr>
            <a:r>
              <a:rPr lang="en-US" b="1" dirty="0" err="1">
                <a:solidFill>
                  <a:schemeClr val="tx1"/>
                </a:solidFill>
              </a:rPr>
              <a:t>Đoạn</a:t>
            </a:r>
            <a:r>
              <a:rPr lang="en-US" b="1" dirty="0">
                <a:solidFill>
                  <a:schemeClr val="tx1"/>
                </a:solidFill>
              </a:rPr>
              <a:t> </a:t>
            </a:r>
            <a:r>
              <a:rPr lang="en-US" b="1" dirty="0" err="1">
                <a:solidFill>
                  <a:schemeClr val="tx1"/>
                </a:solidFill>
              </a:rPr>
              <a:t>mã</a:t>
            </a:r>
            <a:r>
              <a:rPr lang="en-US" b="1" dirty="0">
                <a:solidFill>
                  <a:schemeClr val="tx1"/>
                </a:solidFill>
              </a:rPr>
              <a:t> </a:t>
            </a:r>
            <a:r>
              <a:rPr lang="en-US" b="1" dirty="0" err="1">
                <a:solidFill>
                  <a:schemeClr val="tx1"/>
                </a:solidFill>
              </a:rPr>
              <a:t>chung</a:t>
            </a:r>
            <a:r>
              <a:rPr lang="en-US" b="1" dirty="0">
                <a:solidFill>
                  <a:schemeClr val="tx1"/>
                </a:solidFill>
              </a:rPr>
              <a:t> </a:t>
            </a:r>
            <a:r>
              <a:rPr lang="en-US" b="1" dirty="0" err="1">
                <a:solidFill>
                  <a:schemeClr val="tx1"/>
                </a:solidFill>
              </a:rPr>
              <a:t>cho</a:t>
            </a:r>
            <a:r>
              <a:rPr lang="en-US" b="1" dirty="0">
                <a:solidFill>
                  <a:schemeClr val="tx1"/>
                </a:solidFill>
              </a:rPr>
              <a:t> 2 </a:t>
            </a:r>
            <a:r>
              <a:rPr lang="en-US" b="1" dirty="0" err="1">
                <a:solidFill>
                  <a:schemeClr val="tx1"/>
                </a:solidFill>
              </a:rPr>
              <a:t>thiết</a:t>
            </a:r>
            <a:r>
              <a:rPr lang="en-US" b="1" dirty="0">
                <a:solidFill>
                  <a:schemeClr val="tx1"/>
                </a:solidFill>
              </a:rPr>
              <a:t> </a:t>
            </a:r>
            <a:r>
              <a:rPr lang="en-US" b="1" dirty="0" err="1">
                <a:solidFill>
                  <a:schemeClr val="tx1"/>
                </a:solidFill>
              </a:rPr>
              <a:t>bị</a:t>
            </a:r>
            <a:endParaRPr lang="en-US" b="1" dirty="0">
              <a:solidFill>
                <a:schemeClr val="tx1"/>
              </a:solidFill>
            </a:endParaRPr>
          </a:p>
        </p:txBody>
      </p:sp>
      <p:sp>
        <p:nvSpPr>
          <p:cNvPr id="3" name="TextBox 2">
            <a:extLst>
              <a:ext uri="{FF2B5EF4-FFF2-40B4-BE49-F238E27FC236}">
                <a16:creationId xmlns:a16="http://schemas.microsoft.com/office/drawing/2014/main" id="{6023F187-ED9F-E0D1-5CE2-29ED262B205A}"/>
              </a:ext>
            </a:extLst>
          </p:cNvPr>
          <p:cNvSpPr txBox="1"/>
          <p:nvPr/>
        </p:nvSpPr>
        <p:spPr>
          <a:xfrm>
            <a:off x="499677" y="1463814"/>
            <a:ext cx="4967554" cy="3930371"/>
          </a:xfrm>
          <a:prstGeom prst="rect">
            <a:avLst/>
          </a:prstGeom>
          <a:noFill/>
        </p:spPr>
        <p:txBody>
          <a:bodyPr wrap="square">
            <a:spAutoFit/>
          </a:bodyPr>
          <a:lstStyle/>
          <a:p>
            <a:pPr>
              <a:lnSpc>
                <a:spcPct val="150000"/>
              </a:lnSpc>
            </a:pPr>
            <a:r>
              <a:rPr lang="vi-VN" sz="1400" dirty="0">
                <a:solidFill>
                  <a:srgbClr val="FF0000"/>
                </a:solidFill>
              </a:rPr>
              <a:t> if (Serial.available() &gt; 0) {</a:t>
            </a:r>
          </a:p>
          <a:p>
            <a:pPr>
              <a:lnSpc>
                <a:spcPct val="150000"/>
              </a:lnSpc>
            </a:pPr>
            <a:r>
              <a:rPr lang="vi-VN" sz="1400" dirty="0">
                <a:solidFill>
                  <a:srgbClr val="FF0000"/>
                </a:solidFill>
              </a:rPr>
              <a:t>    char inputChar = Serial.read();</a:t>
            </a:r>
          </a:p>
          <a:p>
            <a:pPr>
              <a:lnSpc>
                <a:spcPct val="150000"/>
              </a:lnSpc>
            </a:pPr>
            <a:r>
              <a:rPr lang="vi-VN" sz="1400" dirty="0">
                <a:solidFill>
                  <a:srgbClr val="FF0000"/>
                </a:solidFill>
              </a:rPr>
              <a:t>    if (inputChar == '\n') {</a:t>
            </a:r>
          </a:p>
          <a:p>
            <a:pPr>
              <a:lnSpc>
                <a:spcPct val="150000"/>
              </a:lnSpc>
            </a:pPr>
            <a:r>
              <a:rPr lang="vi-VN" sz="1400" dirty="0">
                <a:solidFill>
                  <a:srgbClr val="FF0000"/>
                </a:solidFill>
              </a:rPr>
              <a:t>      Serial1.println(sendMessage);  // Send the message through Serial1 with a newline character</a:t>
            </a:r>
          </a:p>
          <a:p>
            <a:pPr>
              <a:lnSpc>
                <a:spcPct val="150000"/>
              </a:lnSpc>
            </a:pPr>
            <a:r>
              <a:rPr lang="vi-VN" sz="1400" dirty="0">
                <a:solidFill>
                  <a:srgbClr val="FF0000"/>
                </a:solidFill>
              </a:rPr>
              <a:t>      sendMessage = "";  // Reset the message</a:t>
            </a:r>
          </a:p>
          <a:p>
            <a:pPr>
              <a:lnSpc>
                <a:spcPct val="150000"/>
              </a:lnSpc>
            </a:pPr>
            <a:r>
              <a:rPr lang="vi-VN" sz="1400" dirty="0">
                <a:solidFill>
                  <a:srgbClr val="FF0000"/>
                </a:solidFill>
              </a:rPr>
              <a:t>    } else {</a:t>
            </a:r>
          </a:p>
          <a:p>
            <a:pPr>
              <a:lnSpc>
                <a:spcPct val="150000"/>
              </a:lnSpc>
            </a:pPr>
            <a:r>
              <a:rPr lang="vi-VN" sz="1400" dirty="0">
                <a:solidFill>
                  <a:srgbClr val="FF0000"/>
                </a:solidFill>
              </a:rPr>
              <a:t>      sendMessage += inputChar;  // Append characters to the message</a:t>
            </a:r>
          </a:p>
          <a:p>
            <a:pPr>
              <a:lnSpc>
                <a:spcPct val="150000"/>
              </a:lnSpc>
            </a:pPr>
            <a:r>
              <a:rPr lang="vi-VN" sz="1400" dirty="0">
                <a:solidFill>
                  <a:srgbClr val="FF0000"/>
                </a:solidFill>
              </a:rPr>
              <a:t>    }</a:t>
            </a:r>
          </a:p>
          <a:p>
            <a:pPr>
              <a:lnSpc>
                <a:spcPct val="150000"/>
              </a:lnSpc>
            </a:pPr>
            <a:r>
              <a:rPr lang="vi-VN" sz="1400" dirty="0">
                <a:solidFill>
                  <a:srgbClr val="FF0000"/>
                </a:solidFill>
              </a:rPr>
              <a:t>  }</a:t>
            </a:r>
          </a:p>
          <a:p>
            <a:pPr>
              <a:lnSpc>
                <a:spcPct val="150000"/>
              </a:lnSpc>
            </a:pPr>
            <a:r>
              <a:rPr lang="vi-VN" sz="1400" dirty="0">
                <a:solidFill>
                  <a:srgbClr val="FF0000"/>
                </a:solidFill>
              </a:rPr>
              <a:t>}</a:t>
            </a:r>
            <a:endParaRPr lang="en-US" dirty="0"/>
          </a:p>
        </p:txBody>
      </p:sp>
    </p:spTree>
    <p:extLst>
      <p:ext uri="{BB962C8B-B14F-4D97-AF65-F5344CB8AC3E}">
        <p14:creationId xmlns:p14="http://schemas.microsoft.com/office/powerpoint/2010/main" val="1190760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00459E11-1FF2-2A5B-4F92-C445A549CB21}"/>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995A1027-DE19-7AAE-9A29-2590A7D3126C}"/>
              </a:ext>
            </a:extLst>
          </p:cNvPr>
          <p:cNvSpPr/>
          <p:nvPr/>
        </p:nvSpPr>
        <p:spPr>
          <a:xfrm>
            <a:off x="918081" y="990736"/>
            <a:ext cx="8819923"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Các giao tiếp cơ bản trong lớp vật lý</a:t>
            </a:r>
          </a:p>
        </p:txBody>
      </p:sp>
      <p:sp>
        <p:nvSpPr>
          <p:cNvPr id="177" name="Google Shape;177;p4">
            <a:extLst>
              <a:ext uri="{FF2B5EF4-FFF2-40B4-BE49-F238E27FC236}">
                <a16:creationId xmlns:a16="http://schemas.microsoft.com/office/drawing/2014/main" id="{E1E08F84-A7FF-5579-893B-DFCC0A01AD46}"/>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1.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8723B0D4-A191-366B-59B4-2F41295E18FE}"/>
              </a:ext>
            </a:extLst>
          </p:cNvPr>
          <p:cNvSpPr/>
          <p:nvPr/>
        </p:nvSpPr>
        <p:spPr>
          <a:xfrm>
            <a:off x="1000274" y="2318181"/>
            <a:ext cx="7671115" cy="1897955"/>
          </a:xfrm>
          <a:prstGeom prst="rect">
            <a:avLst/>
          </a:prstGeom>
          <a:noFill/>
          <a:ln>
            <a:noFill/>
          </a:ln>
        </p:spPr>
        <p:txBody>
          <a:bodyPr spcFirstLastPara="1" wrap="square" lIns="0" tIns="0" rIns="0" bIns="0" anchor="t" anchorCtr="0">
            <a:spAutoFit/>
          </a:bodyPr>
          <a:lstStyle/>
          <a:p>
            <a:pPr marL="176213" lvl="0" indent="-176213">
              <a:buClr>
                <a:srgbClr val="3F3F3F"/>
              </a:buClr>
              <a:buSzPts val="2160"/>
              <a:buFont typeface="Arial"/>
              <a:buChar char="•"/>
            </a:pPr>
            <a:r>
              <a:rPr lang="en-US" sz="1800" dirty="0">
                <a:solidFill>
                  <a:schemeClr val="bg1">
                    <a:lumMod val="75000"/>
                  </a:schemeClr>
                </a:solidFill>
                <a:latin typeface="Arial"/>
                <a:ea typeface="Arial"/>
                <a:cs typeface="Arial"/>
                <a:sym typeface="Arial"/>
              </a:rPr>
              <a:t>1.1. UART </a:t>
            </a:r>
            <a:endParaRPr dirty="0">
              <a:solidFill>
                <a:schemeClr val="bg1">
                  <a:lumMod val="75000"/>
                </a:schemeClr>
              </a:solidFill>
            </a:endParaRPr>
          </a:p>
          <a:p>
            <a:pPr marL="176213" marR="0" lvl="0" indent="-176213" algn="l" rtl="0">
              <a:spcBef>
                <a:spcPts val="1000"/>
              </a:spcBef>
              <a:spcAft>
                <a:spcPts val="0"/>
              </a:spcAft>
              <a:buClr>
                <a:srgbClr val="A6A6A6"/>
              </a:buClr>
              <a:buSzPts val="2160"/>
              <a:buFont typeface="Arial"/>
              <a:buChar char="•"/>
            </a:pPr>
            <a:r>
              <a:rPr lang="en-US" sz="1800" dirty="0">
                <a:solidFill>
                  <a:schemeClr val="tx1"/>
                </a:solidFill>
                <a:latin typeface="Arial"/>
                <a:ea typeface="Arial"/>
                <a:cs typeface="Arial"/>
                <a:sym typeface="Arial"/>
              </a:rPr>
              <a:t>1.2. </a:t>
            </a:r>
            <a:r>
              <a:rPr lang="en-US" sz="1800" dirty="0">
                <a:solidFill>
                  <a:schemeClr val="tx1"/>
                </a:solidFill>
              </a:rPr>
              <a:t>SPI</a:t>
            </a: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1.3 I</a:t>
            </a:r>
            <a:r>
              <a:rPr lang="en-US" sz="1800" dirty="0">
                <a:solidFill>
                  <a:srgbClr val="A6A6A6"/>
                </a:solidFill>
              </a:rPr>
              <a:t>2C</a:t>
            </a: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latin typeface="Arial"/>
                <a:ea typeface="Arial"/>
                <a:cs typeface="Arial"/>
                <a:sym typeface="Arial"/>
              </a:rPr>
              <a:t>1.4 RS232</a:t>
            </a:r>
          </a:p>
          <a:p>
            <a:pPr marL="176213" lvl="0" indent="-176213">
              <a:spcBef>
                <a:spcPts val="1000"/>
              </a:spcBef>
              <a:buClr>
                <a:srgbClr val="A6A6A6"/>
              </a:buClr>
              <a:buSzPts val="2160"/>
              <a:buFont typeface="Arial"/>
              <a:buChar char="•"/>
            </a:pPr>
            <a:r>
              <a:rPr lang="en-US" sz="1800" dirty="0">
                <a:solidFill>
                  <a:schemeClr val="bg1">
                    <a:lumMod val="75000"/>
                  </a:schemeClr>
                </a:solidFill>
              </a:rPr>
              <a:t>1.5 RS422</a:t>
            </a:r>
          </a:p>
        </p:txBody>
      </p:sp>
    </p:spTree>
    <p:extLst>
      <p:ext uri="{BB962C8B-B14F-4D97-AF65-F5344CB8AC3E}">
        <p14:creationId xmlns:p14="http://schemas.microsoft.com/office/powerpoint/2010/main" val="4137151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18B61AC-FEA4-9726-EF2C-2657B713E64D}"/>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4E60811-654C-468D-85D6-29BA671461EF}"/>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SPI</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85044A88-FDAA-7418-7D57-DEC986BC330E}"/>
              </a:ext>
            </a:extLst>
          </p:cNvPr>
          <p:cNvSpPr/>
          <p:nvPr/>
        </p:nvSpPr>
        <p:spPr>
          <a:xfrm>
            <a:off x="162320" y="829718"/>
            <a:ext cx="9392645" cy="3554819"/>
          </a:xfrm>
          <a:prstGeom prst="rect">
            <a:avLst/>
          </a:prstGeom>
          <a:noFill/>
          <a:ln>
            <a:noFill/>
          </a:ln>
        </p:spPr>
        <p:txBody>
          <a:bodyPr spcFirstLastPara="1" wrap="square" lIns="0" tIns="0" rIns="0" bIns="0" anchor="t" anchorCtr="0">
            <a:spAutoFit/>
          </a:bodyPr>
          <a:lstStyle/>
          <a:p>
            <a:pPr algn="just">
              <a:lnSpc>
                <a:spcPct val="150000"/>
              </a:lnSpc>
            </a:pPr>
            <a:r>
              <a:rPr lang="vi-VN" dirty="0"/>
              <a:t>Giao diện ngoại vi nối tiếp (SPI) là một giao thức dữ liệu nối tiếp đồng bộ được các vi điều khiển sử dụng để giao tiếp nhanh chóng với một hoặc nhiều thiết bị ngoại vi trong khoảng cách ngắn.</a:t>
            </a:r>
            <a:endParaRPr lang="en-US" dirty="0"/>
          </a:p>
          <a:p>
            <a:pPr algn="just">
              <a:lnSpc>
                <a:spcPct val="150000"/>
              </a:lnSpc>
            </a:pPr>
            <a:endParaRPr lang="en-US" dirty="0"/>
          </a:p>
          <a:p>
            <a:pPr algn="just">
              <a:lnSpc>
                <a:spcPct val="150000"/>
              </a:lnSpc>
            </a:pPr>
            <a:endParaRPr lang="en-US" dirty="0"/>
          </a:p>
          <a:p>
            <a:pPr algn="just">
              <a:lnSpc>
                <a:spcPct val="150000"/>
              </a:lnSpc>
            </a:pPr>
            <a:endParaRPr lang="en-US" dirty="0"/>
          </a:p>
          <a:p>
            <a:pPr algn="just">
              <a:lnSpc>
                <a:spcPct val="150000"/>
              </a:lnSpc>
            </a:pPr>
            <a:endParaRPr lang="en-US" dirty="0"/>
          </a:p>
          <a:p>
            <a:pPr algn="just">
              <a:lnSpc>
                <a:spcPct val="150000"/>
              </a:lnSpc>
            </a:pPr>
            <a:endParaRPr lang="en-US" dirty="0"/>
          </a:p>
          <a:p>
            <a:pPr algn="just">
              <a:lnSpc>
                <a:spcPct val="150000"/>
              </a:lnSpc>
            </a:pPr>
            <a:endParaRPr lang="en-US" dirty="0"/>
          </a:p>
          <a:p>
            <a:pPr algn="just">
              <a:lnSpc>
                <a:spcPct val="150000"/>
              </a:lnSpc>
            </a:pPr>
            <a:r>
              <a:rPr lang="vi-VN" dirty="0"/>
              <a:t>Thư viện SPI</a:t>
            </a:r>
          </a:p>
          <a:p>
            <a:pPr algn="just">
              <a:lnSpc>
                <a:spcPct val="150000"/>
              </a:lnSpc>
            </a:pPr>
            <a:r>
              <a:rPr lang="vi-VN" dirty="0"/>
              <a:t>Thư viện SPI đã được tích hợp sẵn trong mọi nhân/nền tảng Arduino, vì vậy bạn không cần cài đặt nó bên ngoài. Bạn có thể tìm hiểu thêm về các chức năng SPI trong các liên kết bên dưới:</a:t>
            </a:r>
          </a:p>
        </p:txBody>
      </p:sp>
      <p:graphicFrame>
        <p:nvGraphicFramePr>
          <p:cNvPr id="2" name="Table 1">
            <a:extLst>
              <a:ext uri="{FF2B5EF4-FFF2-40B4-BE49-F238E27FC236}">
                <a16:creationId xmlns:a16="http://schemas.microsoft.com/office/drawing/2014/main" id="{75BBBCD0-9905-0C91-5521-7CDBB336DA26}"/>
              </a:ext>
            </a:extLst>
          </p:cNvPr>
          <p:cNvGraphicFramePr>
            <a:graphicFrameLocks noGrp="1"/>
          </p:cNvGraphicFramePr>
          <p:nvPr/>
        </p:nvGraphicFramePr>
        <p:xfrm>
          <a:off x="394439" y="1873773"/>
          <a:ext cx="8540750" cy="1234440"/>
        </p:xfrm>
        <a:graphic>
          <a:graphicData uri="http://schemas.openxmlformats.org/drawingml/2006/table">
            <a:tbl>
              <a:tblPr/>
              <a:tblGrid>
                <a:gridCol w="4270375">
                  <a:extLst>
                    <a:ext uri="{9D8B030D-6E8A-4147-A177-3AD203B41FA5}">
                      <a16:colId xmlns:a16="http://schemas.microsoft.com/office/drawing/2014/main" val="3125277030"/>
                    </a:ext>
                  </a:extLst>
                </a:gridCol>
                <a:gridCol w="4270375">
                  <a:extLst>
                    <a:ext uri="{9D8B030D-6E8A-4147-A177-3AD203B41FA5}">
                      <a16:colId xmlns:a16="http://schemas.microsoft.com/office/drawing/2014/main" val="173087481"/>
                    </a:ext>
                  </a:extLst>
                </a:gridCol>
              </a:tblGrid>
              <a:tr h="0">
                <a:tc>
                  <a:txBody>
                    <a:bodyPr/>
                    <a:lstStyle/>
                    <a:p>
                      <a:pPr algn="l">
                        <a:buNone/>
                      </a:pPr>
                      <a:r>
                        <a:rPr lang="en-US">
                          <a:effectLst/>
                          <a:latin typeface="Open Sans" panose="020B0606030504020204" pitchFamily="34" charset="0"/>
                        </a:rPr>
                        <a:t>Master/Slave (OLD)</a:t>
                      </a:r>
                    </a:p>
                  </a:txBody>
                  <a:tcPr marL="76200" marR="76200" marT="76200" marB="762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5F5F5"/>
                    </a:solidFill>
                  </a:tcPr>
                </a:tc>
                <a:tc>
                  <a:txBody>
                    <a:bodyPr/>
                    <a:lstStyle/>
                    <a:p>
                      <a:pPr algn="l">
                        <a:buNone/>
                      </a:pPr>
                      <a:r>
                        <a:rPr lang="en-US">
                          <a:effectLst/>
                          <a:latin typeface="Open Sans" panose="020B0606030504020204" pitchFamily="34" charset="0"/>
                        </a:rPr>
                        <a:t>Controller/Peripheral (NEW)</a:t>
                      </a:r>
                    </a:p>
                  </a:txBody>
                  <a:tcPr marL="76200" marR="76200" marT="76200" marB="762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5F5F5"/>
                    </a:solidFill>
                  </a:tcPr>
                </a:tc>
                <a:extLst>
                  <a:ext uri="{0D108BD9-81ED-4DB2-BD59-A6C34878D82A}">
                    <a16:rowId xmlns:a16="http://schemas.microsoft.com/office/drawing/2014/main" val="396307716"/>
                  </a:ext>
                </a:extLst>
              </a:tr>
              <a:tr h="0">
                <a:tc>
                  <a:txBody>
                    <a:bodyPr/>
                    <a:lstStyle/>
                    <a:p>
                      <a:pPr>
                        <a:buNone/>
                      </a:pPr>
                      <a:r>
                        <a:rPr lang="en-US">
                          <a:effectLst/>
                          <a:latin typeface="Open Sans" panose="020B0606030504020204" pitchFamily="34" charset="0"/>
                        </a:rPr>
                        <a:t>Master In Slave Out (MISO)</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Controller In, Peripheral Out (CIPO)</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extLst>
                  <a:ext uri="{0D108BD9-81ED-4DB2-BD59-A6C34878D82A}">
                    <a16:rowId xmlns:a16="http://schemas.microsoft.com/office/drawing/2014/main" val="1441133935"/>
                  </a:ext>
                </a:extLst>
              </a:tr>
              <a:tr h="0">
                <a:tc>
                  <a:txBody>
                    <a:bodyPr/>
                    <a:lstStyle/>
                    <a:p>
                      <a:pPr>
                        <a:buNone/>
                      </a:pPr>
                      <a:r>
                        <a:rPr lang="en-US">
                          <a:effectLst/>
                          <a:latin typeface="Open Sans" panose="020B0606030504020204" pitchFamily="34" charset="0"/>
                        </a:rPr>
                        <a:t>Master Out Slave In (MOSI)</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Controller Out Peripheral In (COPI)</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extLst>
                  <a:ext uri="{0D108BD9-81ED-4DB2-BD59-A6C34878D82A}">
                    <a16:rowId xmlns:a16="http://schemas.microsoft.com/office/drawing/2014/main" val="4246111253"/>
                  </a:ext>
                </a:extLst>
              </a:tr>
              <a:tr h="0">
                <a:tc>
                  <a:txBody>
                    <a:bodyPr/>
                    <a:lstStyle/>
                    <a:p>
                      <a:pPr>
                        <a:buNone/>
                      </a:pPr>
                      <a:r>
                        <a:rPr lang="en-US">
                          <a:effectLst/>
                          <a:latin typeface="Open Sans" panose="020B0606030504020204" pitchFamily="34" charset="0"/>
                        </a:rPr>
                        <a:t>Slave Select pin (SS)</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dirty="0">
                          <a:effectLst/>
                          <a:latin typeface="Open Sans" panose="020B0606030504020204" pitchFamily="34" charset="0"/>
                        </a:rPr>
                        <a:t>Chip Select Pin (CS)</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extLst>
                  <a:ext uri="{0D108BD9-81ED-4DB2-BD59-A6C34878D82A}">
                    <a16:rowId xmlns:a16="http://schemas.microsoft.com/office/drawing/2014/main" val="523008339"/>
                  </a:ext>
                </a:extLst>
              </a:tr>
            </a:tbl>
          </a:graphicData>
        </a:graphic>
      </p:graphicFrame>
    </p:spTree>
    <p:extLst>
      <p:ext uri="{BB962C8B-B14F-4D97-AF65-F5344CB8AC3E}">
        <p14:creationId xmlns:p14="http://schemas.microsoft.com/office/powerpoint/2010/main" val="3748697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3E1F3915-123A-0351-A02F-623905FC6EBD}"/>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A5D01D1-6B2E-1F51-7CD9-511EB8CFA6CB}"/>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SPI</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C683D882-30A7-2DD5-20B3-677E3939156F}"/>
              </a:ext>
            </a:extLst>
          </p:cNvPr>
          <p:cNvSpPr/>
          <p:nvPr/>
        </p:nvSpPr>
        <p:spPr>
          <a:xfrm>
            <a:off x="162320" y="829718"/>
            <a:ext cx="9392645" cy="2908489"/>
          </a:xfrm>
          <a:prstGeom prst="rect">
            <a:avLst/>
          </a:prstGeom>
          <a:noFill/>
          <a:ln>
            <a:noFill/>
          </a:ln>
        </p:spPr>
        <p:txBody>
          <a:bodyPr spcFirstLastPara="1" wrap="square" lIns="0" tIns="0" rIns="0" bIns="0" anchor="t" anchorCtr="0">
            <a:spAutoFit/>
          </a:bodyPr>
          <a:lstStyle/>
          <a:p>
            <a:pPr algn="just">
              <a:lnSpc>
                <a:spcPct val="150000"/>
              </a:lnSpc>
            </a:pPr>
            <a:r>
              <a:rPr lang="vi-VN" dirty="0"/>
              <a:t>Với kết nối SPI, luôn có một thiết bị điều khiển (thường là vi điều khiển) điều khiển các thiết bị ngoại vi. Thông thường có ba đường dây chung cho tất cả các thiết bị:</a:t>
            </a:r>
          </a:p>
          <a:p>
            <a:pPr marL="285750" indent="-285750" algn="just">
              <a:lnSpc>
                <a:spcPct val="150000"/>
              </a:lnSpc>
              <a:buFont typeface="Arial" panose="020B0604020202020204" pitchFamily="34" charset="0"/>
              <a:buChar char="•"/>
            </a:pPr>
            <a:r>
              <a:rPr lang="vi-VN" dirty="0"/>
              <a:t>CIPO (Controller In Peripheral Out) - Đường dây ngoại vi dùng để gửi dữ liệu đến Bộ điều khiển.</a:t>
            </a:r>
          </a:p>
          <a:p>
            <a:pPr marL="285750" indent="-285750" algn="just">
              <a:lnSpc>
                <a:spcPct val="150000"/>
              </a:lnSpc>
              <a:buFont typeface="Arial" panose="020B0604020202020204" pitchFamily="34" charset="0"/>
              <a:buChar char="•"/>
            </a:pPr>
            <a:r>
              <a:rPr lang="vi-VN" dirty="0"/>
              <a:t>COPI (Controller Out Peripheral In) - Đường tín hiệu điều khiển dùng để gửi dữ liệu đến các thiết bị ngoại vi.</a:t>
            </a:r>
          </a:p>
          <a:p>
            <a:pPr marL="285750" indent="-285750" algn="just">
              <a:lnSpc>
                <a:spcPct val="150000"/>
              </a:lnSpc>
              <a:buFont typeface="Arial" panose="020B0604020202020204" pitchFamily="34" charset="0"/>
              <a:buChar char="•"/>
            </a:pPr>
            <a:r>
              <a:rPr lang="vi-VN" dirty="0"/>
              <a:t>SCK (Serial Clock) - Các xung nhịp đồng bộ hóa việc truyền dữ liệu do Bộ điều khiển tạo ra và có một đường dây riêng biệt cho mỗi thiết bị.</a:t>
            </a:r>
          </a:p>
          <a:p>
            <a:pPr algn="just">
              <a:lnSpc>
                <a:spcPct val="150000"/>
              </a:lnSpc>
            </a:pPr>
            <a:r>
              <a:rPr lang="vi-VN" dirty="0"/>
              <a:t>CS (Chip Select) - là chân trên mỗi thiết bị mà Bộ điều khiển có thể sử dụng để bật và tắt các thiết bị cụ thể. Khi chân Chip Select của một thiết bị ở mức thấp, nó sẽ giao tiếp với Bộ điều khiển. Khi ở mức cao, nó sẽ bỏ qua Bộ điều khiển. Điều này cho phép bạn có nhiều thiết bị SPI chia sẻ cùng một đường CIPO, COPI và SCK.</a:t>
            </a:r>
          </a:p>
        </p:txBody>
      </p:sp>
    </p:spTree>
    <p:extLst>
      <p:ext uri="{BB962C8B-B14F-4D97-AF65-F5344CB8AC3E}">
        <p14:creationId xmlns:p14="http://schemas.microsoft.com/office/powerpoint/2010/main" val="343347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D14397E-1FB6-0623-F17E-6DE2E7F362B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A1F51F7-37F3-1973-12A3-D69CCE22971E}"/>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SPI</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CDCD9F07-1ACA-B98F-5528-D44204A3D0F7}"/>
              </a:ext>
            </a:extLst>
          </p:cNvPr>
          <p:cNvSpPr/>
          <p:nvPr/>
        </p:nvSpPr>
        <p:spPr>
          <a:xfrm>
            <a:off x="162320" y="829718"/>
            <a:ext cx="9392645" cy="5816977"/>
          </a:xfrm>
          <a:prstGeom prst="rect">
            <a:avLst/>
          </a:prstGeom>
          <a:noFill/>
          <a:ln>
            <a:noFill/>
          </a:ln>
        </p:spPr>
        <p:txBody>
          <a:bodyPr spcFirstLastPara="1" wrap="square" lIns="0" tIns="0" rIns="0" bIns="0" anchor="t" anchorCtr="0">
            <a:spAutoFit/>
          </a:bodyPr>
          <a:lstStyle/>
          <a:p>
            <a:pPr algn="just">
              <a:lnSpc>
                <a:spcPct val="150000"/>
              </a:lnSpc>
            </a:pPr>
            <a:r>
              <a:rPr lang="vi-VN" b="1" dirty="0"/>
              <a:t>Để lập trình cho một thiết bị SPI mới, cần xem xét một số yếu tố quan trọng sau:</a:t>
            </a:r>
            <a:endParaRPr lang="en-US" b="1" dirty="0"/>
          </a:p>
          <a:p>
            <a:pPr marL="285750" indent="-285750" algn="just">
              <a:lnSpc>
                <a:spcPct val="150000"/>
              </a:lnSpc>
              <a:buFont typeface="Arial" panose="020B0604020202020204" pitchFamily="34" charset="0"/>
              <a:buChar char="•"/>
            </a:pPr>
            <a:r>
              <a:rPr lang="vi-VN" b="1" dirty="0"/>
              <a:t>Tốc độ SPI tối đa của thiết bị</a:t>
            </a:r>
            <a:endParaRPr lang="en-US" b="1" dirty="0"/>
          </a:p>
          <a:p>
            <a:pPr algn="just">
              <a:lnSpc>
                <a:spcPct val="150000"/>
              </a:lnSpc>
            </a:pPr>
            <a:r>
              <a:rPr lang="vi-VN" dirty="0"/>
              <a:t>Mỗi</a:t>
            </a:r>
            <a:r>
              <a:rPr lang="vi-VN" b="1" dirty="0"/>
              <a:t> </a:t>
            </a:r>
            <a:r>
              <a:rPr lang="vi-VN" dirty="0"/>
              <a:t>thiết bị SPI đều có giới hạn tốc độ truyền dữ liệu. Tham số đầu tiên trong hàm SPISettings được sử dụng để xác định tốc độ này. Ví dụ, nếu thiết bị hỗ trợ tốc độ tối đa 15 MHz thì giá trị 15000000 có thể được sử dụng. Thư viện SPI của Arduino sẽ tự động chọn tốc độ phù hợp nhất bằng hoặc thấp hơn giá trị đã chỉ định.</a:t>
            </a:r>
            <a:endParaRPr lang="en-US" dirty="0"/>
          </a:p>
          <a:p>
            <a:pPr marL="285750" indent="-285750" algn="just">
              <a:lnSpc>
                <a:spcPct val="150000"/>
              </a:lnSpc>
              <a:buFont typeface="Arial" panose="020B0604020202020204" pitchFamily="34" charset="0"/>
              <a:buChar char="•"/>
            </a:pPr>
            <a:r>
              <a:rPr lang="vi-VN" b="1" dirty="0"/>
              <a:t>Thứ tự truyền bit dữ liệu</a:t>
            </a:r>
            <a:endParaRPr lang="en-US" b="1" dirty="0"/>
          </a:p>
          <a:p>
            <a:pPr algn="just">
              <a:lnSpc>
                <a:spcPct val="150000"/>
              </a:lnSpc>
            </a:pPr>
            <a:r>
              <a:rPr lang="vi-VN" dirty="0"/>
              <a:t>Dữ liệu trong SPI có thể được truyền theo hai cách: bit quan trọng nhất trước hoặc bit ít quan trọng nhất trước. Tham số thứ hai của SPISettings dùng để thiết lập thứ tự này, bao gồm MSBFIRST hoặc LSBFIRST. Trong thực tế, phần lớn các thiết bị SPI sử dụng chế độ truyền MSB trước.</a:t>
            </a:r>
            <a:endParaRPr lang="en-US" dirty="0"/>
          </a:p>
          <a:p>
            <a:pPr marL="285750" indent="-285750" algn="just">
              <a:lnSpc>
                <a:spcPct val="150000"/>
              </a:lnSpc>
              <a:buFont typeface="Arial" panose="020B0604020202020204" pitchFamily="34" charset="0"/>
              <a:buChar char="•"/>
            </a:pPr>
            <a:r>
              <a:rPr lang="vi-VN" b="1" dirty="0"/>
              <a:t>Chế độ xung nhịp (SPI Mode)</a:t>
            </a:r>
            <a:endParaRPr lang="en-US" b="1" dirty="0"/>
          </a:p>
          <a:p>
            <a:pPr algn="just">
              <a:lnSpc>
                <a:spcPct val="150000"/>
              </a:lnSpc>
            </a:pPr>
            <a:r>
              <a:rPr lang="vi-VN" dirty="0"/>
              <a:t>Xung nhịp SPI có thể ở trạng thái nghỉ mức cao hoặc mức thấp, và dữ liệu có thể được lấy mẫu tại cạnh lên hoặc cạnh xuống của xung nhịp. Các đặc điểm này được xác định bởi tham số thứ ba trong SPISettings, tương ứng với các chế độ SPI khác nhau.</a:t>
            </a:r>
            <a:endParaRPr lang="en-US" dirty="0"/>
          </a:p>
          <a:p>
            <a:pPr marL="285750" indent="-285750" algn="just">
              <a:lnSpc>
                <a:spcPct val="150000"/>
              </a:lnSpc>
              <a:buFont typeface="Arial" panose="020B0604020202020204" pitchFamily="34" charset="0"/>
              <a:buChar char="•"/>
            </a:pPr>
            <a:r>
              <a:rPr lang="vi-VN" b="1" dirty="0"/>
              <a:t>Sự khác biệt giữa các thiết bị SPI</a:t>
            </a:r>
            <a:endParaRPr lang="en-US" b="1" dirty="0"/>
          </a:p>
          <a:p>
            <a:pPr algn="just">
              <a:lnSpc>
                <a:spcPct val="150000"/>
              </a:lnSpc>
            </a:pPr>
            <a:r>
              <a:rPr lang="vi-VN" dirty="0"/>
              <a:t>Chuẩn SPI tương đối linh hoạt và không hoàn toàn thống nhất giữa các thiết bị. Mỗi nhà sản xuất có thể triển khai giao thức này với một số khác biệt nhỏ về thời gian, chế độ xung nhịp hoặc cách truyền dữ liệu. Vì vậy, khi phát triển chương trình giao tiếp SPI, cần tham khảo kỹ datasheet của thiết bị để cấu hình các tham số phù hợp.</a:t>
            </a:r>
            <a:endParaRPr lang="en-US" dirty="0"/>
          </a:p>
          <a:p>
            <a:pPr algn="just">
              <a:lnSpc>
                <a:spcPct val="150000"/>
              </a:lnSpc>
            </a:pPr>
            <a:endParaRPr lang="en-US" dirty="0"/>
          </a:p>
        </p:txBody>
      </p:sp>
    </p:spTree>
    <p:extLst>
      <p:ext uri="{BB962C8B-B14F-4D97-AF65-F5344CB8AC3E}">
        <p14:creationId xmlns:p14="http://schemas.microsoft.com/office/powerpoint/2010/main" val="3038659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F09DB283-352D-0C82-B016-8ADAAD931111}"/>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D8377C29-858B-F1D7-2989-00141E8E2AD1}"/>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SPI</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BA9474E-8DE3-1849-9BC8-3346B4B8C138}"/>
              </a:ext>
            </a:extLst>
          </p:cNvPr>
          <p:cNvSpPr/>
          <p:nvPr/>
        </p:nvSpPr>
        <p:spPr>
          <a:xfrm>
            <a:off x="162320" y="829718"/>
            <a:ext cx="9392645" cy="1292662"/>
          </a:xfrm>
          <a:prstGeom prst="rect">
            <a:avLst/>
          </a:prstGeom>
          <a:noFill/>
          <a:ln>
            <a:noFill/>
          </a:ln>
        </p:spPr>
        <p:txBody>
          <a:bodyPr spcFirstLastPara="1" wrap="square" lIns="0" tIns="0" rIns="0" bIns="0" anchor="t" anchorCtr="0">
            <a:spAutoFit/>
          </a:bodyPr>
          <a:lstStyle/>
          <a:p>
            <a:pPr algn="just">
              <a:lnSpc>
                <a:spcPct val="150000"/>
              </a:lnSpc>
            </a:pPr>
            <a:endParaRPr lang="en-US" dirty="0"/>
          </a:p>
          <a:p>
            <a:pPr algn="just">
              <a:lnSpc>
                <a:spcPct val="150000"/>
              </a:lnSpc>
            </a:pPr>
            <a:r>
              <a:rPr lang="vi-VN" dirty="0"/>
              <a:t>Nhìn chung, có bốn chế độ truyền dữ liệu. Các chế độ này kiểm soát việc dữ liệu được truyền vào và ra theo cạnh lên hay cạnh xuống của tín hiệu xung nhịp dữ liệu (gọi là pha xung nhịp), và liệu xung nhịp có ở trạng thái nghỉ khi ở mức cao hay thấp (gọi là cực tính xung nhịp). Bốn chế độ này kết hợp cực tính và pha theo bảng sau:</a:t>
            </a:r>
          </a:p>
        </p:txBody>
      </p:sp>
      <p:graphicFrame>
        <p:nvGraphicFramePr>
          <p:cNvPr id="2" name="Table 1">
            <a:extLst>
              <a:ext uri="{FF2B5EF4-FFF2-40B4-BE49-F238E27FC236}">
                <a16:creationId xmlns:a16="http://schemas.microsoft.com/office/drawing/2014/main" id="{9FB0851F-09B5-C88F-3A33-47BD9C313800}"/>
              </a:ext>
            </a:extLst>
          </p:cNvPr>
          <p:cNvGraphicFramePr>
            <a:graphicFrameLocks noGrp="1"/>
          </p:cNvGraphicFramePr>
          <p:nvPr>
            <p:extLst>
              <p:ext uri="{D42A27DB-BD31-4B8C-83A1-F6EECF244321}">
                <p14:modId xmlns:p14="http://schemas.microsoft.com/office/powerpoint/2010/main" val="3501816990"/>
              </p:ext>
            </p:extLst>
          </p:nvPr>
        </p:nvGraphicFramePr>
        <p:xfrm>
          <a:off x="588267" y="2527238"/>
          <a:ext cx="8540750" cy="1737360"/>
        </p:xfrm>
        <a:graphic>
          <a:graphicData uri="http://schemas.openxmlformats.org/drawingml/2006/table">
            <a:tbl>
              <a:tblPr/>
              <a:tblGrid>
                <a:gridCol w="1708150">
                  <a:extLst>
                    <a:ext uri="{9D8B030D-6E8A-4147-A177-3AD203B41FA5}">
                      <a16:colId xmlns:a16="http://schemas.microsoft.com/office/drawing/2014/main" val="1550792508"/>
                    </a:ext>
                  </a:extLst>
                </a:gridCol>
                <a:gridCol w="1708150">
                  <a:extLst>
                    <a:ext uri="{9D8B030D-6E8A-4147-A177-3AD203B41FA5}">
                      <a16:colId xmlns:a16="http://schemas.microsoft.com/office/drawing/2014/main" val="3712220441"/>
                    </a:ext>
                  </a:extLst>
                </a:gridCol>
                <a:gridCol w="1708150">
                  <a:extLst>
                    <a:ext uri="{9D8B030D-6E8A-4147-A177-3AD203B41FA5}">
                      <a16:colId xmlns:a16="http://schemas.microsoft.com/office/drawing/2014/main" val="2091441639"/>
                    </a:ext>
                  </a:extLst>
                </a:gridCol>
                <a:gridCol w="1708150">
                  <a:extLst>
                    <a:ext uri="{9D8B030D-6E8A-4147-A177-3AD203B41FA5}">
                      <a16:colId xmlns:a16="http://schemas.microsoft.com/office/drawing/2014/main" val="3596414775"/>
                    </a:ext>
                  </a:extLst>
                </a:gridCol>
                <a:gridCol w="1708150">
                  <a:extLst>
                    <a:ext uri="{9D8B030D-6E8A-4147-A177-3AD203B41FA5}">
                      <a16:colId xmlns:a16="http://schemas.microsoft.com/office/drawing/2014/main" val="2825687862"/>
                    </a:ext>
                  </a:extLst>
                </a:gridCol>
              </a:tblGrid>
              <a:tr h="0">
                <a:tc>
                  <a:txBody>
                    <a:bodyPr/>
                    <a:lstStyle/>
                    <a:p>
                      <a:pPr algn="l">
                        <a:buNone/>
                      </a:pPr>
                      <a:r>
                        <a:rPr lang="en-US">
                          <a:effectLst/>
                          <a:latin typeface="Open Sans" panose="020B0606030504020204" pitchFamily="34" charset="0"/>
                        </a:rPr>
                        <a:t>Mode</a:t>
                      </a:r>
                    </a:p>
                  </a:txBody>
                  <a:tcPr marL="76200" marR="76200" marT="76200" marB="762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5F5F5"/>
                    </a:solidFill>
                  </a:tcPr>
                </a:tc>
                <a:tc>
                  <a:txBody>
                    <a:bodyPr/>
                    <a:lstStyle/>
                    <a:p>
                      <a:pPr algn="l">
                        <a:buNone/>
                      </a:pPr>
                      <a:r>
                        <a:rPr lang="en-US" dirty="0">
                          <a:effectLst/>
                          <a:latin typeface="Open Sans" panose="020B0606030504020204" pitchFamily="34" charset="0"/>
                        </a:rPr>
                        <a:t>Clock Polarity (CPOL)</a:t>
                      </a:r>
                    </a:p>
                  </a:txBody>
                  <a:tcPr marL="76200" marR="76200" marT="76200" marB="762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5F5F5"/>
                    </a:solidFill>
                  </a:tcPr>
                </a:tc>
                <a:tc>
                  <a:txBody>
                    <a:bodyPr/>
                    <a:lstStyle/>
                    <a:p>
                      <a:pPr algn="l">
                        <a:buNone/>
                      </a:pPr>
                      <a:r>
                        <a:rPr lang="en-US">
                          <a:effectLst/>
                          <a:latin typeface="Open Sans" panose="020B0606030504020204" pitchFamily="34" charset="0"/>
                        </a:rPr>
                        <a:t>Clock Phase (CPHA)</a:t>
                      </a:r>
                    </a:p>
                  </a:txBody>
                  <a:tcPr marL="76200" marR="76200" marT="76200" marB="762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5F5F5"/>
                    </a:solidFill>
                  </a:tcPr>
                </a:tc>
                <a:tc>
                  <a:txBody>
                    <a:bodyPr/>
                    <a:lstStyle/>
                    <a:p>
                      <a:pPr algn="l">
                        <a:buNone/>
                      </a:pPr>
                      <a:r>
                        <a:rPr lang="en-US">
                          <a:effectLst/>
                          <a:latin typeface="Open Sans" panose="020B0606030504020204" pitchFamily="34" charset="0"/>
                        </a:rPr>
                        <a:t>Output Edge</a:t>
                      </a:r>
                    </a:p>
                  </a:txBody>
                  <a:tcPr marL="76200" marR="76200" marT="76200" marB="762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5F5F5"/>
                    </a:solidFill>
                  </a:tcPr>
                </a:tc>
                <a:tc>
                  <a:txBody>
                    <a:bodyPr/>
                    <a:lstStyle/>
                    <a:p>
                      <a:pPr algn="l">
                        <a:buNone/>
                      </a:pPr>
                      <a:r>
                        <a:rPr lang="en-US" dirty="0">
                          <a:effectLst/>
                          <a:latin typeface="Open Sans" panose="020B0606030504020204" pitchFamily="34" charset="0"/>
                        </a:rPr>
                        <a:t>Data Capture</a:t>
                      </a:r>
                    </a:p>
                  </a:txBody>
                  <a:tcPr marL="76200" marR="76200" marT="76200" marB="762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5F5F5"/>
                    </a:solidFill>
                  </a:tcPr>
                </a:tc>
                <a:extLst>
                  <a:ext uri="{0D108BD9-81ED-4DB2-BD59-A6C34878D82A}">
                    <a16:rowId xmlns:a16="http://schemas.microsoft.com/office/drawing/2014/main" val="83874114"/>
                  </a:ext>
                </a:extLst>
              </a:tr>
              <a:tr h="0">
                <a:tc>
                  <a:txBody>
                    <a:bodyPr/>
                    <a:lstStyle/>
                    <a:p>
                      <a:pPr>
                        <a:buNone/>
                      </a:pPr>
                      <a:r>
                        <a:rPr lang="en-US">
                          <a:effectLst/>
                          <a:latin typeface="Open Sans" panose="020B0606030504020204" pitchFamily="34" charset="0"/>
                        </a:rPr>
                        <a:t>SPI_MODE0</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0</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0</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Falling</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Rising</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extLst>
                  <a:ext uri="{0D108BD9-81ED-4DB2-BD59-A6C34878D82A}">
                    <a16:rowId xmlns:a16="http://schemas.microsoft.com/office/drawing/2014/main" val="165597430"/>
                  </a:ext>
                </a:extLst>
              </a:tr>
              <a:tr h="0">
                <a:tc>
                  <a:txBody>
                    <a:bodyPr/>
                    <a:lstStyle/>
                    <a:p>
                      <a:pPr>
                        <a:buNone/>
                      </a:pPr>
                      <a:r>
                        <a:rPr lang="en-US">
                          <a:effectLst/>
                          <a:latin typeface="Open Sans" panose="020B0606030504020204" pitchFamily="34" charset="0"/>
                        </a:rPr>
                        <a:t>SPI_MODE1</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0</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1</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Rising</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Falling</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extLst>
                  <a:ext uri="{0D108BD9-81ED-4DB2-BD59-A6C34878D82A}">
                    <a16:rowId xmlns:a16="http://schemas.microsoft.com/office/drawing/2014/main" val="60902829"/>
                  </a:ext>
                </a:extLst>
              </a:tr>
              <a:tr h="0">
                <a:tc>
                  <a:txBody>
                    <a:bodyPr/>
                    <a:lstStyle/>
                    <a:p>
                      <a:pPr>
                        <a:buNone/>
                      </a:pPr>
                      <a:r>
                        <a:rPr lang="en-US">
                          <a:effectLst/>
                          <a:latin typeface="Open Sans" panose="020B0606030504020204" pitchFamily="34" charset="0"/>
                        </a:rPr>
                        <a:t>SPI_MODE2</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1</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0</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Rising</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Falling</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extLst>
                  <a:ext uri="{0D108BD9-81ED-4DB2-BD59-A6C34878D82A}">
                    <a16:rowId xmlns:a16="http://schemas.microsoft.com/office/drawing/2014/main" val="745386012"/>
                  </a:ext>
                </a:extLst>
              </a:tr>
              <a:tr h="0">
                <a:tc>
                  <a:txBody>
                    <a:bodyPr/>
                    <a:lstStyle/>
                    <a:p>
                      <a:pPr>
                        <a:buNone/>
                      </a:pPr>
                      <a:r>
                        <a:rPr lang="en-US">
                          <a:effectLst/>
                          <a:latin typeface="Open Sans" panose="020B0606030504020204" pitchFamily="34" charset="0"/>
                        </a:rPr>
                        <a:t>SPI_MODE3</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1</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1</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a:effectLst/>
                          <a:latin typeface="Open Sans" panose="020B0606030504020204" pitchFamily="34" charset="0"/>
                        </a:rPr>
                        <a:t>Falling</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tc>
                  <a:txBody>
                    <a:bodyPr/>
                    <a:lstStyle/>
                    <a:p>
                      <a:pPr>
                        <a:buNone/>
                      </a:pPr>
                      <a:r>
                        <a:rPr lang="en-US" dirty="0">
                          <a:effectLst/>
                          <a:latin typeface="Open Sans" panose="020B0606030504020204" pitchFamily="34" charset="0"/>
                        </a:rPr>
                        <a:t>Rising</a:t>
                      </a:r>
                    </a:p>
                  </a:txBody>
                  <a:tcPr marL="76200" marR="76200" marT="38100" marB="38100" anchor="ctr">
                    <a:lnL w="9525" cap="flat" cmpd="sng" algn="ctr">
                      <a:solidFill>
                        <a:srgbClr val="DAE3E3"/>
                      </a:solidFill>
                      <a:prstDash val="solid"/>
                      <a:round/>
                      <a:headEnd type="none" w="med" len="med"/>
                      <a:tailEnd type="none" w="med" len="med"/>
                    </a:lnL>
                    <a:lnR w="9525" cap="flat" cmpd="sng" algn="ctr">
                      <a:solidFill>
                        <a:srgbClr val="DAE3E3"/>
                      </a:solidFill>
                      <a:prstDash val="solid"/>
                      <a:round/>
                      <a:headEnd type="none" w="med" len="med"/>
                      <a:tailEnd type="none" w="med" len="med"/>
                    </a:lnR>
                    <a:lnT w="9525" cap="flat" cmpd="sng" algn="ctr">
                      <a:solidFill>
                        <a:srgbClr val="DAE3E3"/>
                      </a:solidFill>
                      <a:prstDash val="solid"/>
                      <a:round/>
                      <a:headEnd type="none" w="med" len="med"/>
                      <a:tailEnd type="none" w="med" len="med"/>
                    </a:lnT>
                    <a:lnB w="9525" cap="flat" cmpd="sng" algn="ctr">
                      <a:solidFill>
                        <a:srgbClr val="DAE3E3"/>
                      </a:solidFill>
                      <a:prstDash val="solid"/>
                      <a:round/>
                      <a:headEnd type="none" w="med" len="med"/>
                      <a:tailEnd type="none" w="med" len="med"/>
                    </a:lnB>
                    <a:solidFill>
                      <a:srgbClr val="FFFFFF"/>
                    </a:solidFill>
                  </a:tcPr>
                </a:tc>
                <a:extLst>
                  <a:ext uri="{0D108BD9-81ED-4DB2-BD59-A6C34878D82A}">
                    <a16:rowId xmlns:a16="http://schemas.microsoft.com/office/drawing/2014/main" val="3202276359"/>
                  </a:ext>
                </a:extLst>
              </a:tr>
            </a:tbl>
          </a:graphicData>
        </a:graphic>
      </p:graphicFrame>
      <p:sp>
        <p:nvSpPr>
          <p:cNvPr id="3" name="Rectangle 1">
            <a:extLst>
              <a:ext uri="{FF2B5EF4-FFF2-40B4-BE49-F238E27FC236}">
                <a16:creationId xmlns:a16="http://schemas.microsoft.com/office/drawing/2014/main" id="{6A4276CC-8828-1628-A9C5-B97E60776B3F}"/>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0927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5ABA447-86DA-1481-3556-660086144564}"/>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C90A44CA-F0C3-1B96-C1FC-61B3374238BF}"/>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1.2 SPI</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B54076C4-6CF4-64F8-30A0-19BFF4A9A377}"/>
              </a:ext>
            </a:extLst>
          </p:cNvPr>
          <p:cNvSpPr/>
          <p:nvPr/>
        </p:nvSpPr>
        <p:spPr>
          <a:xfrm>
            <a:off x="162320" y="829718"/>
            <a:ext cx="9392645" cy="2585323"/>
          </a:xfrm>
          <a:prstGeom prst="rect">
            <a:avLst/>
          </a:prstGeom>
          <a:noFill/>
          <a:ln>
            <a:noFill/>
          </a:ln>
        </p:spPr>
        <p:txBody>
          <a:bodyPr spcFirstLastPara="1" wrap="square" lIns="0" tIns="0" rIns="0" bIns="0" anchor="t" anchorCtr="0">
            <a:spAutoFit/>
          </a:bodyPr>
          <a:lstStyle/>
          <a:p>
            <a:pPr marL="285750" indent="-285750" algn="just">
              <a:lnSpc>
                <a:spcPct val="150000"/>
              </a:lnSpc>
              <a:buFont typeface="Arial" panose="020B0604020202020204" pitchFamily="34" charset="0"/>
              <a:buChar char="•"/>
            </a:pPr>
            <a:r>
              <a:rPr lang="vi-VN" dirty="0"/>
              <a:t>Sau khi có được các thông số SPI, sử dụng</a:t>
            </a:r>
            <a:r>
              <a:rPr lang="en-US" dirty="0"/>
              <a:t> </a:t>
            </a:r>
            <a:r>
              <a:rPr lang="vi-VN" i="1" dirty="0"/>
              <a:t>SPI.beginTransaction()</a:t>
            </a:r>
            <a:r>
              <a:rPr lang="en-US" dirty="0"/>
              <a:t> </a:t>
            </a:r>
            <a:r>
              <a:rPr lang="vi-VN" dirty="0"/>
              <a:t>Để bắt đầu sử dụng cổng SPI. Cổng SPI sẽ được cấu hình với tất cả các cài đặt. Cách đơn giản và hiệu quả nhất để sử dụng SPISettings là trực tiếp bên trong</a:t>
            </a:r>
            <a:r>
              <a:rPr lang="en-US" dirty="0"/>
              <a:t> </a:t>
            </a:r>
            <a:r>
              <a:rPr lang="vi-VN" dirty="0"/>
              <a:t>SPI.beginTransaction(). Ví dụ:</a:t>
            </a:r>
          </a:p>
          <a:p>
            <a:pPr algn="just">
              <a:lnSpc>
                <a:spcPct val="150000"/>
              </a:lnSpc>
            </a:pPr>
            <a:r>
              <a:rPr lang="en-US" dirty="0"/>
              <a:t>       </a:t>
            </a:r>
            <a:r>
              <a:rPr lang="vi-VN" i="1" dirty="0"/>
              <a:t>SPI.beginTransaction(SPISettings(14000000, MSBFIRST, SPI_MODE0));</a:t>
            </a:r>
          </a:p>
          <a:p>
            <a:pPr algn="just">
              <a:lnSpc>
                <a:spcPct val="150000"/>
              </a:lnSpc>
            </a:pPr>
            <a:endParaRPr lang="vi-VN" dirty="0"/>
          </a:p>
          <a:p>
            <a:pPr marL="285750" indent="-285750" algn="just">
              <a:lnSpc>
                <a:spcPct val="150000"/>
              </a:lnSpc>
              <a:buFont typeface="Arial" panose="020B0604020202020204" pitchFamily="34" charset="0"/>
              <a:buChar char="•"/>
            </a:pPr>
            <a:r>
              <a:rPr lang="vi-VN" dirty="0"/>
              <a:t>Với hầu hết các thiết bị SPI, sau</a:t>
            </a:r>
            <a:r>
              <a:rPr lang="en-US" dirty="0"/>
              <a:t> </a:t>
            </a:r>
            <a:r>
              <a:rPr lang="vi-VN" dirty="0"/>
              <a:t>SPI.beginTransaction()</a:t>
            </a:r>
            <a:r>
              <a:rPr lang="en-US" dirty="0"/>
              <a:t> </a:t>
            </a:r>
            <a:r>
              <a:rPr lang="vi-VN" dirty="0"/>
              <a:t>Chip Select</a:t>
            </a:r>
            <a:r>
              <a:rPr lang="en-US" dirty="0"/>
              <a:t> </a:t>
            </a:r>
            <a:r>
              <a:rPr lang="en-US" dirty="0" err="1"/>
              <a:t>cần</a:t>
            </a:r>
            <a:r>
              <a:rPr lang="en-US" dirty="0"/>
              <a:t> </a:t>
            </a:r>
            <a:r>
              <a:rPr lang="en-US" dirty="0" err="1"/>
              <a:t>được</a:t>
            </a:r>
            <a:r>
              <a:rPr lang="en-US" dirty="0"/>
              <a:t> </a:t>
            </a:r>
            <a:r>
              <a:rPr lang="en-US" dirty="0" err="1"/>
              <a:t>kéo</a:t>
            </a:r>
            <a:r>
              <a:rPr lang="vi-VN" dirty="0"/>
              <a:t> xuống mức THẤP, gọi</a:t>
            </a:r>
            <a:r>
              <a:rPr lang="en-US" dirty="0"/>
              <a:t> </a:t>
            </a:r>
            <a:r>
              <a:rPr lang="vi-VN" dirty="0"/>
              <a:t>SPI.transfer()</a:t>
            </a:r>
            <a:r>
              <a:rPr lang="en-US" dirty="0"/>
              <a:t> </a:t>
            </a:r>
            <a:r>
              <a:rPr lang="vi-VN" dirty="0"/>
              <a:t>Thực hiện truyền dữ liệu nhiều lần, sau đó ghi chân CS lên mức CAO, và cuối cùng gọi hàm.</a:t>
            </a:r>
            <a:r>
              <a:rPr lang="en-US" dirty="0"/>
              <a:t> </a:t>
            </a:r>
            <a:r>
              <a:rPr lang="vi-VN" dirty="0"/>
              <a:t>SPI.endTransaction().</a:t>
            </a:r>
          </a:p>
        </p:txBody>
      </p:sp>
      <p:sp>
        <p:nvSpPr>
          <p:cNvPr id="3" name="Rectangle 1">
            <a:extLst>
              <a:ext uri="{FF2B5EF4-FFF2-40B4-BE49-F238E27FC236}">
                <a16:creationId xmlns:a16="http://schemas.microsoft.com/office/drawing/2014/main" id="{CA6094B7-42CF-6967-6FAA-1B0F818CC7E9}"/>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28027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146D13FC-5D3C-B7D4-B3F1-FF72003C7FD4}"/>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4A657A0D-C7CF-27A1-F1C7-CC580ADA170B}"/>
              </a:ext>
            </a:extLst>
          </p:cNvPr>
          <p:cNvSpPr/>
          <p:nvPr/>
        </p:nvSpPr>
        <p:spPr>
          <a:xfrm>
            <a:off x="918081" y="990736"/>
            <a:ext cx="8819923"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Các giao tiếp cơ bản trong lớp vật lý</a:t>
            </a:r>
          </a:p>
        </p:txBody>
      </p:sp>
      <p:sp>
        <p:nvSpPr>
          <p:cNvPr id="177" name="Google Shape;177;p4">
            <a:extLst>
              <a:ext uri="{FF2B5EF4-FFF2-40B4-BE49-F238E27FC236}">
                <a16:creationId xmlns:a16="http://schemas.microsoft.com/office/drawing/2014/main" id="{6C350E4C-EE28-2B3C-CE2D-711A193F7CCC}"/>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1.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66BC029B-EA68-D18A-1A8B-DF374FB53067}"/>
              </a:ext>
            </a:extLst>
          </p:cNvPr>
          <p:cNvSpPr/>
          <p:nvPr/>
        </p:nvSpPr>
        <p:spPr>
          <a:xfrm>
            <a:off x="1000274" y="2318181"/>
            <a:ext cx="7671115" cy="1897955"/>
          </a:xfrm>
          <a:prstGeom prst="rect">
            <a:avLst/>
          </a:prstGeom>
          <a:noFill/>
          <a:ln>
            <a:noFill/>
          </a:ln>
        </p:spPr>
        <p:txBody>
          <a:bodyPr spcFirstLastPara="1" wrap="square" lIns="0" tIns="0" rIns="0" bIns="0" anchor="t" anchorCtr="0">
            <a:spAutoFit/>
          </a:bodyPr>
          <a:lstStyle/>
          <a:p>
            <a:pPr marL="176213" lvl="0" indent="-176213">
              <a:buClr>
                <a:srgbClr val="3F3F3F"/>
              </a:buClr>
              <a:buSzPts val="2160"/>
              <a:buFont typeface="Arial"/>
              <a:buChar char="•"/>
            </a:pPr>
            <a:r>
              <a:rPr lang="en-US" sz="1800" dirty="0">
                <a:solidFill>
                  <a:schemeClr val="bg1">
                    <a:lumMod val="75000"/>
                  </a:schemeClr>
                </a:solidFill>
                <a:latin typeface="Arial"/>
                <a:ea typeface="Arial"/>
                <a:cs typeface="Arial"/>
                <a:sym typeface="Arial"/>
              </a:rPr>
              <a:t>1.1. UART </a:t>
            </a:r>
            <a:endParaRPr dirty="0">
              <a:solidFill>
                <a:schemeClr val="bg1">
                  <a:lumMod val="75000"/>
                </a:schemeClr>
              </a:solidFill>
            </a:endParaRP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1.2. </a:t>
            </a:r>
            <a:r>
              <a:rPr lang="en-US" sz="1800" dirty="0">
                <a:solidFill>
                  <a:schemeClr val="bg1">
                    <a:lumMod val="75000"/>
                  </a:schemeClr>
                </a:solidFill>
              </a:rPr>
              <a:t>SPI</a:t>
            </a:r>
          </a:p>
          <a:p>
            <a:pPr marL="176213" marR="0" lvl="0" indent="-176213" algn="l" rtl="0">
              <a:spcBef>
                <a:spcPts val="1000"/>
              </a:spcBef>
              <a:spcAft>
                <a:spcPts val="0"/>
              </a:spcAft>
              <a:buClr>
                <a:srgbClr val="A6A6A6"/>
              </a:buClr>
              <a:buSzPts val="2160"/>
              <a:buFont typeface="Arial"/>
              <a:buChar char="•"/>
            </a:pPr>
            <a:r>
              <a:rPr lang="en-US" sz="1800" dirty="0">
                <a:solidFill>
                  <a:schemeClr val="tx1"/>
                </a:solidFill>
                <a:latin typeface="Arial"/>
                <a:ea typeface="Arial"/>
                <a:cs typeface="Arial"/>
                <a:sym typeface="Arial"/>
              </a:rPr>
              <a:t>1.3 I</a:t>
            </a:r>
            <a:r>
              <a:rPr lang="en-US" sz="1800" dirty="0">
                <a:solidFill>
                  <a:schemeClr val="tx1"/>
                </a:solidFill>
              </a:rPr>
              <a:t>2C</a:t>
            </a: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latin typeface="Arial"/>
                <a:ea typeface="Arial"/>
                <a:cs typeface="Arial"/>
                <a:sym typeface="Arial"/>
              </a:rPr>
              <a:t>1.4 RS232</a:t>
            </a:r>
          </a:p>
          <a:p>
            <a:pPr marL="176213" lvl="0" indent="-176213">
              <a:spcBef>
                <a:spcPts val="1000"/>
              </a:spcBef>
              <a:buClr>
                <a:srgbClr val="A6A6A6"/>
              </a:buClr>
              <a:buSzPts val="2160"/>
              <a:buFont typeface="Arial"/>
              <a:buChar char="•"/>
            </a:pPr>
            <a:r>
              <a:rPr lang="en-US" sz="1800" dirty="0">
                <a:solidFill>
                  <a:schemeClr val="bg1">
                    <a:lumMod val="75000"/>
                  </a:schemeClr>
                </a:solidFill>
              </a:rPr>
              <a:t>1.5 RS422</a:t>
            </a:r>
          </a:p>
        </p:txBody>
      </p:sp>
    </p:spTree>
    <p:extLst>
      <p:ext uri="{BB962C8B-B14F-4D97-AF65-F5344CB8AC3E}">
        <p14:creationId xmlns:p14="http://schemas.microsoft.com/office/powerpoint/2010/main" val="1161736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834475A-D1D8-22B0-5001-43B2FBDE2742}"/>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1D0C2AA-F772-4E1A-6012-11964BB23C18}"/>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Inter-Integrated Circuit (I2C) Protocol</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AE96FC07-4F0E-B6DE-52FC-25467775B2F1}"/>
              </a:ext>
            </a:extLst>
          </p:cNvPr>
          <p:cNvSpPr/>
          <p:nvPr/>
        </p:nvSpPr>
        <p:spPr>
          <a:xfrm>
            <a:off x="162320" y="829718"/>
            <a:ext cx="9392645" cy="4847481"/>
          </a:xfrm>
          <a:prstGeom prst="rect">
            <a:avLst/>
          </a:prstGeom>
          <a:noFill/>
          <a:ln>
            <a:noFill/>
          </a:ln>
        </p:spPr>
        <p:txBody>
          <a:bodyPr spcFirstLastPara="1" wrap="square" lIns="0" tIns="0" rIns="0" bIns="0" anchor="t" anchorCtr="0">
            <a:spAutoFit/>
          </a:bodyPr>
          <a:lstStyle/>
          <a:p>
            <a:pPr marL="285750" indent="-285750" algn="just">
              <a:lnSpc>
                <a:spcPct val="150000"/>
              </a:lnSpc>
              <a:buFont typeface="Arial" panose="020B0604020202020204" pitchFamily="34" charset="0"/>
              <a:buChar char="•"/>
            </a:pPr>
            <a:r>
              <a:rPr lang="vi-VN" dirty="0"/>
              <a:t>Một phương pháp hiệu quả để tăng khả năng mở rộng cho các dự án điện tử mà không làm phức tạp hệ thống dây dẫn là sử dụng giao thức giao tiếp liên mạch I2C. Giao thức này được hỗ trợ trên hầu hết các bo mạch Arduino.</a:t>
            </a:r>
            <a:endParaRPr lang="en-US" dirty="0"/>
          </a:p>
          <a:p>
            <a:pPr marL="285750" indent="-285750" algn="just">
              <a:lnSpc>
                <a:spcPct val="150000"/>
              </a:lnSpc>
              <a:buFont typeface="Arial" panose="020B0604020202020204" pitchFamily="34" charset="0"/>
              <a:buChar char="•"/>
            </a:pPr>
            <a:r>
              <a:rPr lang="vi-VN" dirty="0"/>
              <a:t>I2C cho phép kết nối nhiều thiết bị ngoại vi như cảm biến, màn hình hiển thị, bộ điều khiển động cơ và các module khác chỉ thông qua một số lượng dây dẫn rất ít. Nhờ đó, hệ thống có thể mở rộng linh hoạt hơn, đồng thời giảm đáng kể số lượng dây kết nối trong quá trình thiết kế và thử nghiệm. Bên cạnh đó, thư viện Wire Library cung cấp các hàm hỗ trợ giúp việc xây dựng và điều khiển các thiết bị I2C trở nên thuận tiện.</a:t>
            </a:r>
            <a:endParaRPr lang="en-US" dirty="0"/>
          </a:p>
          <a:p>
            <a:pPr algn="just">
              <a:lnSpc>
                <a:spcPct val="150000"/>
              </a:lnSpc>
            </a:pPr>
            <a:r>
              <a:rPr lang="vi-VN" b="1" dirty="0"/>
              <a:t>Giao thức I2C</a:t>
            </a:r>
            <a:endParaRPr lang="en-US" b="1" dirty="0"/>
          </a:p>
          <a:p>
            <a:pPr marL="285750" indent="-285750" algn="just">
              <a:lnSpc>
                <a:spcPct val="150000"/>
              </a:lnSpc>
              <a:buFont typeface="Arial" panose="020B0604020202020204" pitchFamily="34" charset="0"/>
              <a:buChar char="•"/>
            </a:pPr>
            <a:r>
              <a:rPr lang="vi-VN" dirty="0"/>
              <a:t>Giao thức I2C sử dụng hai đường tín hiệu chính để truyền và nhận dữ liệu:</a:t>
            </a:r>
            <a:endParaRPr lang="en-US" dirty="0"/>
          </a:p>
          <a:p>
            <a:pPr marL="1254125" lvl="2" indent="-401638" algn="just">
              <a:lnSpc>
                <a:spcPct val="150000"/>
              </a:lnSpc>
              <a:buFont typeface="Wingdings" panose="05000000000000000000" pitchFamily="2" charset="2"/>
              <a:buChar char="ü"/>
            </a:pPr>
            <a:r>
              <a:rPr lang="vi-VN" dirty="0"/>
              <a:t>SCL (Serial Clock Line): đường xung nhịp do thiết bị điều khiển tạo ra.</a:t>
            </a:r>
            <a:endParaRPr lang="en-US" dirty="0"/>
          </a:p>
          <a:p>
            <a:pPr marL="852488" algn="just">
              <a:lnSpc>
                <a:spcPct val="150000"/>
              </a:lnSpc>
              <a:buFont typeface="Wingdings" panose="05000000000000000000" pitchFamily="2" charset="2"/>
              <a:buChar char="ü"/>
            </a:pPr>
            <a:r>
              <a:rPr lang="en-US" dirty="0"/>
              <a:t>    </a:t>
            </a:r>
            <a:r>
              <a:rPr lang="vi-VN" dirty="0"/>
              <a:t>SDA (Serial Data Line): đường dữ liệu dùng để truyền thông tin giữa các thiết bị trên bus.</a:t>
            </a:r>
            <a:endParaRPr lang="en-US" dirty="0"/>
          </a:p>
          <a:p>
            <a:pPr marL="285750" indent="-285750" algn="just">
              <a:lnSpc>
                <a:spcPct val="150000"/>
              </a:lnSpc>
              <a:buFont typeface="Arial" panose="020B0604020202020204" pitchFamily="34" charset="0"/>
              <a:buChar char="•"/>
            </a:pPr>
            <a:r>
              <a:rPr lang="en-US" dirty="0"/>
              <a:t>T</a:t>
            </a:r>
            <a:r>
              <a:rPr lang="vi-VN" dirty="0"/>
              <a:t>rong hệ thống I2C, tồn tại một thiết bị điều khiển (controller) và một hoặc nhiều thiết bị ngoại vi (peripheral) được kết nối chung vào hai đường SCL và SDA.</a:t>
            </a:r>
            <a:endParaRPr lang="en-US" dirty="0"/>
          </a:p>
          <a:p>
            <a:pPr marL="285750" indent="-285750" algn="just">
              <a:lnSpc>
                <a:spcPct val="150000"/>
              </a:lnSpc>
              <a:buFont typeface="Arial" panose="020B0604020202020204" pitchFamily="34" charset="0"/>
              <a:buChar char="•"/>
            </a:pPr>
            <a:r>
              <a:rPr lang="vi-VN" dirty="0"/>
              <a:t>Khi tín hiệu xung nhịp trên SCL chuyển từ mức thấp lên mức cao (cạnh lên của xung nhịp), một bit dữ liệu sẽ được truyền trên đường SDA. Các xung nhịp tiếp theo tiếp tục đồng bộ hóa việc truyền dữ liệu cho đến khi hình thành một chuỗi thông tin bao gồm địa chỉ thiết bị (thường là 7 hoặc 8 bit), lệnh điều khiển hoặc dữ liệu cần truyền.</a:t>
            </a:r>
            <a:endParaRPr lang="en-US" dirty="0"/>
          </a:p>
        </p:txBody>
      </p:sp>
      <p:sp>
        <p:nvSpPr>
          <p:cNvPr id="3" name="Rectangle 1">
            <a:extLst>
              <a:ext uri="{FF2B5EF4-FFF2-40B4-BE49-F238E27FC236}">
                <a16:creationId xmlns:a16="http://schemas.microsoft.com/office/drawing/2014/main" id="{C7245011-CDCA-5D4D-A68A-6E58B9CC585B}"/>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89668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F725D54-8AE0-17CF-8A32-AAB3219EDD84}"/>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F2AEAE1F-B28D-272B-6885-E8591302C398}"/>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Inter-Integrated Circuit (I2C) Protocol</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41B54D7A-EE88-7305-CBBE-7469BEA5BE94}"/>
              </a:ext>
            </a:extLst>
          </p:cNvPr>
          <p:cNvSpPr/>
          <p:nvPr/>
        </p:nvSpPr>
        <p:spPr>
          <a:xfrm>
            <a:off x="162320" y="829718"/>
            <a:ext cx="9392645" cy="2262158"/>
          </a:xfrm>
          <a:prstGeom prst="rect">
            <a:avLst/>
          </a:prstGeom>
          <a:noFill/>
          <a:ln>
            <a:noFill/>
          </a:ln>
        </p:spPr>
        <p:txBody>
          <a:bodyPr spcFirstLastPara="1" wrap="square" lIns="0" tIns="0" rIns="0" bIns="0" anchor="t" anchorCtr="0">
            <a:spAutoFit/>
          </a:bodyPr>
          <a:lstStyle/>
          <a:p>
            <a:pPr marL="285750" indent="-285750" algn="just">
              <a:lnSpc>
                <a:spcPct val="150000"/>
              </a:lnSpc>
              <a:buFont typeface="Arial" panose="020B0604020202020204" pitchFamily="34" charset="0"/>
              <a:buChar char="•"/>
            </a:pPr>
            <a:r>
              <a:rPr lang="vi-VN" dirty="0"/>
              <a:t>Sau khi chuỗi dữ liệu được gửi đi từng bit một, thiết bị có địa chỉ tương ứng sẽ tiếp nhận yêu cầu và thực hiện thao tác cần thiết. Trong trường hợp cần phản hồi, thiết bị ngoại vi sẽ gửi dữ liệu trở lại thông qua cùng đường SDA, trong khi xung nhịp trên SCL vẫn do thiết bị điều khiển cung cấp để đồng bộ thời gian truyền.</a:t>
            </a:r>
            <a:endParaRPr lang="en-US" dirty="0"/>
          </a:p>
          <a:p>
            <a:pPr marL="285750" indent="-285750" algn="just">
              <a:lnSpc>
                <a:spcPct val="150000"/>
              </a:lnSpc>
              <a:buFont typeface="Arial" panose="020B0604020202020204" pitchFamily="34" charset="0"/>
              <a:buChar char="•"/>
            </a:pPr>
            <a:r>
              <a:rPr lang="vi-VN" dirty="0"/>
              <a:t>Mỗi thiết bị trên bus I2C hoạt động độc lập về chức năng, nhưng chỉ phản hồi khi nhận được yêu cầu từ thiết bị điều khiển. Nhờ cơ chế địa chỉ riêng cho từng thiết bị và khả năng chia sẻ chung hai đường truyền, một vi điều khiển có thể giao tiếp tuần tự với nhiều thiết bị khác nhau trên cùng một bus chỉ bằng hai chân kết nối.</a:t>
            </a:r>
            <a:endParaRPr lang="en-US" dirty="0"/>
          </a:p>
          <a:p>
            <a:pPr marL="285750" indent="-285750" algn="just">
              <a:lnSpc>
                <a:spcPct val="150000"/>
              </a:lnSpc>
              <a:buFont typeface="Arial" panose="020B0604020202020204" pitchFamily="34" charset="0"/>
              <a:buChar char="•"/>
            </a:pPr>
            <a:endParaRPr lang="vi-VN" dirty="0"/>
          </a:p>
        </p:txBody>
      </p:sp>
      <p:sp>
        <p:nvSpPr>
          <p:cNvPr id="3" name="Rectangle 1">
            <a:extLst>
              <a:ext uri="{FF2B5EF4-FFF2-40B4-BE49-F238E27FC236}">
                <a16:creationId xmlns:a16="http://schemas.microsoft.com/office/drawing/2014/main" id="{7F3FBAA2-255D-BD8B-6FFF-185E6FA70539}"/>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42" name="Picture 2" descr="ảnh">
            <a:extLst>
              <a:ext uri="{FF2B5EF4-FFF2-40B4-BE49-F238E27FC236}">
                <a16:creationId xmlns:a16="http://schemas.microsoft.com/office/drawing/2014/main" id="{6673FE02-B424-C2A3-E8A4-A67D955AA9D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5662"/>
          <a:stretch>
            <a:fillRect/>
          </a:stretch>
        </p:blipFill>
        <p:spPr bwMode="auto">
          <a:xfrm>
            <a:off x="162319" y="2838460"/>
            <a:ext cx="9530675" cy="34493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469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14C21EB-3078-755A-86D5-F322DEC3492E}"/>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216885D9-E57A-5ED1-3BE4-32F7D674561E}"/>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Inter-Integrated Circuit (I2C) Protocol</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E7807A0D-D27E-C4D9-E43A-DD879E31A7A8}"/>
              </a:ext>
            </a:extLst>
          </p:cNvPr>
          <p:cNvSpPr/>
          <p:nvPr/>
        </p:nvSpPr>
        <p:spPr>
          <a:xfrm>
            <a:off x="162320" y="829718"/>
            <a:ext cx="9392645" cy="3877985"/>
          </a:xfrm>
          <a:prstGeom prst="rect">
            <a:avLst/>
          </a:prstGeom>
          <a:noFill/>
          <a:ln>
            <a:noFill/>
          </a:ln>
        </p:spPr>
        <p:txBody>
          <a:bodyPr spcFirstLastPara="1" wrap="square" lIns="0" tIns="0" rIns="0" bIns="0" anchor="t" anchorCtr="0">
            <a:spAutoFit/>
          </a:bodyPr>
          <a:lstStyle/>
          <a:p>
            <a:pPr>
              <a:lnSpc>
                <a:spcPct val="150000"/>
              </a:lnSpc>
            </a:pPr>
            <a:r>
              <a:rPr lang="vi-VN" dirty="0"/>
              <a:t>Trong giao thức </a:t>
            </a:r>
            <a:r>
              <a:rPr lang="vi-VN" b="1" dirty="0"/>
              <a:t>I2C</a:t>
            </a:r>
            <a:r>
              <a:rPr lang="vi-VN" dirty="0"/>
              <a:t>, thiết bị điều khiển gửi các lệnh qua bus I2C thông qua đường dữ liệu </a:t>
            </a:r>
            <a:r>
              <a:rPr lang="vi-VN" b="1" dirty="0"/>
              <a:t>SDA</a:t>
            </a:r>
            <a:r>
              <a:rPr lang="vi-VN" dirty="0"/>
              <a:t>. Trước mỗi lệnh, một địa chỉ thiết bị sẽ được gửi kèm theo để đảm bảo chỉ thiết bị có địa chỉ tương ứng mới tiếp nhận và xử lý thông tin.</a:t>
            </a:r>
          </a:p>
          <a:p>
            <a:pPr>
              <a:lnSpc>
                <a:spcPct val="150000"/>
              </a:lnSpc>
            </a:pPr>
            <a:r>
              <a:rPr lang="vi-VN" dirty="0"/>
              <a:t>Sau phần địa chỉ là một bit xác định hướng truyền dữ liệu, cho biết thiết bị điều khiển muốn </a:t>
            </a:r>
            <a:r>
              <a:rPr lang="vi-VN" b="1" dirty="0"/>
              <a:t>đọc dữ liệu từ thiết bị ngoại vi</a:t>
            </a:r>
            <a:r>
              <a:rPr lang="vi-VN" dirty="0"/>
              <a:t> hay </a:t>
            </a:r>
            <a:r>
              <a:rPr lang="vi-VN" b="1" dirty="0"/>
              <a:t>ghi dữ liệu tới thiết bị ngoại vi</a:t>
            </a:r>
            <a:r>
              <a:rPr lang="vi-VN" dirty="0"/>
              <a:t>.</a:t>
            </a:r>
          </a:p>
          <a:p>
            <a:pPr>
              <a:lnSpc>
                <a:spcPct val="150000"/>
              </a:lnSpc>
            </a:pPr>
            <a:r>
              <a:rPr lang="vi-VN" dirty="0"/>
              <a:t>Trong quá trình truyền dữ liệu, mỗi thông điệp cần có tín hiệu </a:t>
            </a:r>
            <a:r>
              <a:rPr lang="vi-VN" b="1" dirty="0"/>
              <a:t>xác nhận (acknowledgement – ACK)</a:t>
            </a:r>
            <a:r>
              <a:rPr lang="vi-VN" dirty="0"/>
              <a:t> nhằm đảm bảo dữ liệu được truyền chính xác và tránh các lỗi không mong muốn. Sau khi nhận và xác nhận thông tin trước đó, thiết bị nhận sẽ gửi tín hiệu ACK để thông báo rằng quá trình truyền có thể tiếp tục với nhóm bit tiếp theo.</a:t>
            </a:r>
          </a:p>
          <a:p>
            <a:pPr>
              <a:lnSpc>
                <a:spcPct val="150000"/>
              </a:lnSpc>
            </a:pPr>
            <a:r>
              <a:rPr lang="vi-VN" dirty="0"/>
              <a:t>Một khung dữ liệu điển hình trong I2C có thể bao gồm:</a:t>
            </a:r>
          </a:p>
          <a:p>
            <a:pPr>
              <a:lnSpc>
                <a:spcPct val="150000"/>
              </a:lnSpc>
            </a:pPr>
            <a:r>
              <a:rPr lang="vi-VN" dirty="0"/>
              <a:t>8 bit dữ liệu</a:t>
            </a:r>
            <a:br>
              <a:rPr lang="vi-VN" dirty="0"/>
            </a:br>
            <a:r>
              <a:rPr lang="vi-VN" dirty="0"/>
              <a:t>1 bit xác nhận (ACK)</a:t>
            </a:r>
            <a:br>
              <a:rPr lang="vi-VN" dirty="0"/>
            </a:br>
            <a:r>
              <a:rPr lang="vi-VN" dirty="0"/>
              <a:t>8 bit dữ liệu tiếp theo</a:t>
            </a:r>
            <a:br>
              <a:rPr lang="vi-VN" dirty="0"/>
            </a:br>
            <a:r>
              <a:rPr lang="vi-VN" dirty="0"/>
              <a:t>1 bit xác nhận (ACK)</a:t>
            </a:r>
          </a:p>
        </p:txBody>
      </p:sp>
      <p:sp>
        <p:nvSpPr>
          <p:cNvPr id="3" name="Rectangle 1">
            <a:extLst>
              <a:ext uri="{FF2B5EF4-FFF2-40B4-BE49-F238E27FC236}">
                <a16:creationId xmlns:a16="http://schemas.microsoft.com/office/drawing/2014/main" id="{165F5C97-CAF3-2FEC-6B45-A9E1BF82725A}"/>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23455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86C70C8-2149-C740-0C33-C5EA8D226CD5}"/>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B93E4A2-D0A8-2579-0FAB-984BA04A26F9}"/>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Inter-Integrated Circuit (I2C) Protocol</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A20048D3-0986-CBFC-9DA6-C79348CFAD00}"/>
              </a:ext>
            </a:extLst>
          </p:cNvPr>
          <p:cNvSpPr/>
          <p:nvPr/>
        </p:nvSpPr>
        <p:spPr>
          <a:xfrm>
            <a:off x="162320" y="829718"/>
            <a:ext cx="9392645" cy="2262158"/>
          </a:xfrm>
          <a:prstGeom prst="rect">
            <a:avLst/>
          </a:prstGeom>
          <a:noFill/>
          <a:ln>
            <a:noFill/>
          </a:ln>
        </p:spPr>
        <p:txBody>
          <a:bodyPr spcFirstLastPara="1" wrap="square" lIns="0" tIns="0" rIns="0" bIns="0" anchor="t" anchorCtr="0">
            <a:spAutoFit/>
          </a:bodyPr>
          <a:lstStyle/>
          <a:p>
            <a:pPr>
              <a:lnSpc>
                <a:spcPct val="150000"/>
              </a:lnSpc>
            </a:pPr>
            <a:r>
              <a:rPr lang="vi-VN" dirty="0"/>
              <a:t>Quá trình này có thể tiếp tục cho đến khi toàn bộ dữ liệu được truyền hoàn tất.</a:t>
            </a:r>
          </a:p>
          <a:p>
            <a:pPr>
              <a:lnSpc>
                <a:spcPct val="150000"/>
              </a:lnSpc>
            </a:pPr>
            <a:r>
              <a:rPr lang="vi-VN" dirty="0"/>
              <a:t>Để thiết bị điều khiển và các thiết bị ngoại vi xác định chính xác thời điểm bắt đầu và kết thúc của dữ liệu, bus I2C sử dụng đường xung nhịp </a:t>
            </a:r>
            <a:r>
              <a:rPr lang="vi-VN" b="1" dirty="0"/>
              <a:t>SCL (Serial Clock Line)</a:t>
            </a:r>
            <a:r>
              <a:rPr lang="vi-VN" dirty="0"/>
              <a:t>. Đường SCL đồng bộ hóa xung nhịp giữa thiết bị điều khiển và các thiết bị trên bus, đảm bảo rằng tất cả các thiết bị cùng chuyển sang bit dữ liệu tiếp theo tại cùng một thời điểm.</a:t>
            </a:r>
          </a:p>
          <a:p>
            <a:pPr>
              <a:lnSpc>
                <a:spcPct val="150000"/>
              </a:lnSpc>
            </a:pPr>
            <a:r>
              <a:rPr lang="vi-VN" dirty="0"/>
              <a:t>Trong hệ sinh thái </a:t>
            </a:r>
            <a:r>
              <a:rPr lang="vi-VN" b="1" dirty="0"/>
              <a:t>Arduino</a:t>
            </a:r>
            <a:r>
              <a:rPr lang="vi-VN" dirty="0"/>
              <a:t>, phần lớn các chi tiết về cơ chế truyền thông I2C được xử lý bởi </a:t>
            </a:r>
            <a:r>
              <a:rPr lang="vi-VN" b="1" dirty="0"/>
              <a:t>Wire Library</a:t>
            </a:r>
            <a:r>
              <a:rPr lang="vi-VN" dirty="0"/>
              <a:t>. Thư viện này cung cấp các hàm hỗ trợ giúp việc giao tiếp với các thiết bị I2C trở nên đơn giản hơn, do đó không cần phải trực tiếp xử lý toàn bộ các bước truyền bit và tín hiệu xác nhận ở mức thấp.</a:t>
            </a:r>
          </a:p>
        </p:txBody>
      </p:sp>
      <p:sp>
        <p:nvSpPr>
          <p:cNvPr id="3" name="Rectangle 1">
            <a:extLst>
              <a:ext uri="{FF2B5EF4-FFF2-40B4-BE49-F238E27FC236}">
                <a16:creationId xmlns:a16="http://schemas.microsoft.com/office/drawing/2014/main" id="{FEEC69A5-C1B6-B441-E2E6-BD2F257B2828}"/>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2619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34435F4F-CEBF-AC65-A8C5-C8A40B4033AD}"/>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0EBC101F-24B0-0B5B-3958-A722D2444AC7}"/>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Inter-Integrated Circuit (I2C) Protocol</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1E2B29BD-40BB-F8F2-7B69-6FB2132939D0}"/>
              </a:ext>
            </a:extLst>
          </p:cNvPr>
          <p:cNvSpPr/>
          <p:nvPr/>
        </p:nvSpPr>
        <p:spPr>
          <a:xfrm>
            <a:off x="162320" y="829718"/>
            <a:ext cx="9392645" cy="1292662"/>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t>
            </a:r>
            <a:r>
              <a:rPr lang="en-US" b="1" dirty="0" err="1"/>
              <a:t>giao</a:t>
            </a:r>
            <a:r>
              <a:rPr lang="en-US" b="1" dirty="0"/>
              <a:t> </a:t>
            </a:r>
            <a:r>
              <a:rPr lang="en-US" b="1" dirty="0" err="1"/>
              <a:t>tiếp</a:t>
            </a:r>
            <a:r>
              <a:rPr lang="en-US" b="1" dirty="0"/>
              <a:t> </a:t>
            </a:r>
            <a:r>
              <a:rPr lang="en-US" b="1" dirty="0" err="1"/>
              <a:t>gia</a:t>
            </a:r>
            <a:r>
              <a:rPr lang="en-US" b="1" dirty="0"/>
              <a:t> </a:t>
            </a:r>
            <a:r>
              <a:rPr lang="en-US" b="1" dirty="0" err="1"/>
              <a:t>tốc</a:t>
            </a:r>
            <a:r>
              <a:rPr lang="en-US" b="1" dirty="0"/>
              <a:t> </a:t>
            </a:r>
            <a:r>
              <a:rPr lang="en-US" b="1" dirty="0" err="1"/>
              <a:t>kế</a:t>
            </a:r>
            <a:endParaRPr lang="en-US" b="1" dirty="0"/>
          </a:p>
          <a:p>
            <a:pPr>
              <a:lnSpc>
                <a:spcPct val="150000"/>
              </a:lnSpc>
            </a:pPr>
            <a:r>
              <a:rPr lang="vi-VN" dirty="0"/>
              <a:t>Đoạn mã này cho phép đọc dữ liệu gia tốc từ mô-đun gia tốc 6 trục Grove bằng thư viện LSM6DS3 của Seeded Arduino .</a:t>
            </a:r>
            <a:endParaRPr lang="en-US" dirty="0"/>
          </a:p>
          <a:p>
            <a:pPr>
              <a:lnSpc>
                <a:spcPct val="150000"/>
              </a:lnSpc>
            </a:pPr>
            <a:endParaRPr lang="vi-VN" dirty="0"/>
          </a:p>
        </p:txBody>
      </p:sp>
      <p:sp>
        <p:nvSpPr>
          <p:cNvPr id="3" name="Rectangle 1">
            <a:extLst>
              <a:ext uri="{FF2B5EF4-FFF2-40B4-BE49-F238E27FC236}">
                <a16:creationId xmlns:a16="http://schemas.microsoft.com/office/drawing/2014/main" id="{37BB170E-CA10-E718-C11F-19CE779BE0FB}"/>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1266" name="Picture 2" descr="ảnh">
            <a:extLst>
              <a:ext uri="{FF2B5EF4-FFF2-40B4-BE49-F238E27FC236}">
                <a16:creationId xmlns:a16="http://schemas.microsoft.com/office/drawing/2014/main" id="{88D5601F-7944-FA20-33C2-BA95BC2BC8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513" t="16309" r="20631" b="18216"/>
          <a:stretch>
            <a:fillRect/>
          </a:stretch>
        </p:blipFill>
        <p:spPr bwMode="auto">
          <a:xfrm>
            <a:off x="5386416" y="1817385"/>
            <a:ext cx="3935003" cy="25491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55D62D4-9720-B7FD-6A00-08D814D6C306}"/>
              </a:ext>
            </a:extLst>
          </p:cNvPr>
          <p:cNvSpPr txBox="1"/>
          <p:nvPr/>
        </p:nvSpPr>
        <p:spPr>
          <a:xfrm>
            <a:off x="290591" y="2122380"/>
            <a:ext cx="4967554" cy="4185761"/>
          </a:xfrm>
          <a:prstGeom prst="rect">
            <a:avLst/>
          </a:prstGeom>
          <a:noFill/>
        </p:spPr>
        <p:txBody>
          <a:bodyPr wrap="square">
            <a:spAutoFit/>
          </a:bodyPr>
          <a:lstStyle/>
          <a:p>
            <a:r>
              <a:rPr lang="en-US" dirty="0">
                <a:solidFill>
                  <a:srgbClr val="FF0000"/>
                </a:solidFill>
              </a:rPr>
              <a:t>#include "LSM6DS3.h"</a:t>
            </a:r>
          </a:p>
          <a:p>
            <a:r>
              <a:rPr lang="en-US" dirty="0">
                <a:solidFill>
                  <a:srgbClr val="FF0000"/>
                </a:solidFill>
              </a:rPr>
              <a:t>#include "</a:t>
            </a:r>
            <a:r>
              <a:rPr lang="en-US" dirty="0" err="1">
                <a:solidFill>
                  <a:srgbClr val="FF0000"/>
                </a:solidFill>
              </a:rPr>
              <a:t>Wire.h</a:t>
            </a:r>
            <a:r>
              <a:rPr lang="en-US" dirty="0">
                <a:solidFill>
                  <a:srgbClr val="FF0000"/>
                </a:solidFill>
              </a:rPr>
              <a:t>"</a:t>
            </a:r>
          </a:p>
          <a:p>
            <a:endParaRPr lang="en-US" dirty="0">
              <a:solidFill>
                <a:srgbClr val="FF0000"/>
              </a:solidFill>
            </a:endParaRPr>
          </a:p>
          <a:p>
            <a:r>
              <a:rPr lang="en-US" dirty="0">
                <a:solidFill>
                  <a:srgbClr val="FF0000"/>
                </a:solidFill>
              </a:rPr>
              <a:t>//Create instance of Accelerometer class</a:t>
            </a:r>
          </a:p>
          <a:p>
            <a:r>
              <a:rPr lang="en-US" dirty="0">
                <a:solidFill>
                  <a:srgbClr val="FF0000"/>
                </a:solidFill>
              </a:rPr>
              <a:t>LSM6DS3 accelerometer(I2C_MODE, 0x6A);</a:t>
            </a:r>
          </a:p>
          <a:p>
            <a:endParaRPr lang="en-US" dirty="0">
              <a:solidFill>
                <a:srgbClr val="FF0000"/>
              </a:solidFill>
            </a:endParaRPr>
          </a:p>
          <a:p>
            <a:r>
              <a:rPr lang="en-US" dirty="0">
                <a:solidFill>
                  <a:srgbClr val="FF0000"/>
                </a:solidFill>
              </a:rPr>
              <a:t>void setup() {</a:t>
            </a:r>
          </a:p>
          <a:p>
            <a:r>
              <a:rPr lang="en-US" dirty="0">
                <a:solidFill>
                  <a:srgbClr val="FF0000"/>
                </a:solidFill>
              </a:rPr>
              <a:t>    // put your setup code here, to run once:</a:t>
            </a:r>
          </a:p>
          <a:p>
            <a:r>
              <a:rPr lang="en-US" dirty="0">
                <a:solidFill>
                  <a:srgbClr val="FF0000"/>
                </a:solidFill>
              </a:rPr>
              <a:t>    </a:t>
            </a:r>
            <a:r>
              <a:rPr lang="en-US" dirty="0" err="1">
                <a:solidFill>
                  <a:srgbClr val="FF0000"/>
                </a:solidFill>
              </a:rPr>
              <a:t>Serial.begin</a:t>
            </a:r>
            <a:r>
              <a:rPr lang="en-US" dirty="0">
                <a:solidFill>
                  <a:srgbClr val="FF0000"/>
                </a:solidFill>
              </a:rPr>
              <a:t>(9600);</a:t>
            </a:r>
          </a:p>
          <a:p>
            <a:r>
              <a:rPr lang="en-US" dirty="0">
                <a:solidFill>
                  <a:srgbClr val="FF0000"/>
                </a:solidFill>
              </a:rPr>
              <a:t>    while (!Serial);</a:t>
            </a:r>
          </a:p>
          <a:p>
            <a:endParaRPr lang="en-US" dirty="0">
              <a:solidFill>
                <a:srgbClr val="FF0000"/>
              </a:solidFill>
            </a:endParaRPr>
          </a:p>
          <a:p>
            <a:r>
              <a:rPr lang="en-US" dirty="0">
                <a:solidFill>
                  <a:srgbClr val="FF0000"/>
                </a:solidFill>
              </a:rPr>
              <a:t>    if (</a:t>
            </a:r>
            <a:r>
              <a:rPr lang="en-US" dirty="0" err="1">
                <a:solidFill>
                  <a:srgbClr val="FF0000"/>
                </a:solidFill>
              </a:rPr>
              <a:t>accelerometer.begin</a:t>
            </a:r>
            <a:r>
              <a:rPr lang="en-US" dirty="0">
                <a:solidFill>
                  <a:srgbClr val="FF0000"/>
                </a:solidFill>
              </a:rPr>
              <a:t>() != 0) {</a:t>
            </a:r>
          </a:p>
          <a:p>
            <a:r>
              <a:rPr lang="en-US" dirty="0">
                <a:solidFill>
                  <a:srgbClr val="FF0000"/>
                </a:solidFill>
              </a:rPr>
              <a:t>        </a:t>
            </a:r>
            <a:r>
              <a:rPr lang="en-US" dirty="0" err="1">
                <a:solidFill>
                  <a:srgbClr val="FF0000"/>
                </a:solidFill>
              </a:rPr>
              <a:t>Serial.println</a:t>
            </a:r>
            <a:r>
              <a:rPr lang="en-US" dirty="0">
                <a:solidFill>
                  <a:srgbClr val="FF0000"/>
                </a:solidFill>
              </a:rPr>
              <a:t>("LSM6DS3 not found, check your wiring.");</a:t>
            </a:r>
          </a:p>
          <a:p>
            <a:r>
              <a:rPr lang="en-US" dirty="0">
                <a:solidFill>
                  <a:srgbClr val="FF0000"/>
                </a:solidFill>
              </a:rPr>
              <a:t>    } else {</a:t>
            </a:r>
          </a:p>
          <a:p>
            <a:r>
              <a:rPr lang="en-US" dirty="0">
                <a:solidFill>
                  <a:srgbClr val="FF0000"/>
                </a:solidFill>
              </a:rPr>
              <a:t>        </a:t>
            </a:r>
            <a:r>
              <a:rPr lang="en-US" dirty="0" err="1">
                <a:solidFill>
                  <a:srgbClr val="FF0000"/>
                </a:solidFill>
              </a:rPr>
              <a:t>Serial.println</a:t>
            </a:r>
            <a:r>
              <a:rPr lang="en-US" dirty="0">
                <a:solidFill>
                  <a:srgbClr val="FF0000"/>
                </a:solidFill>
              </a:rPr>
              <a:t>("LSM6DS3 found!");</a:t>
            </a:r>
          </a:p>
          <a:p>
            <a:r>
              <a:rPr lang="en-US" dirty="0">
                <a:solidFill>
                  <a:srgbClr val="FF0000"/>
                </a:solidFill>
              </a:rPr>
              <a:t>    }</a:t>
            </a:r>
          </a:p>
          <a:p>
            <a:r>
              <a:rPr lang="en-US" dirty="0">
                <a:solidFill>
                  <a:srgbClr val="FF0000"/>
                </a:solidFill>
              </a:rPr>
              <a:t>}</a:t>
            </a:r>
          </a:p>
          <a:p>
            <a:endParaRPr lang="en-US" dirty="0">
              <a:solidFill>
                <a:srgbClr val="FF0000"/>
              </a:solidFill>
            </a:endParaRPr>
          </a:p>
        </p:txBody>
      </p:sp>
    </p:spTree>
    <p:extLst>
      <p:ext uri="{BB962C8B-B14F-4D97-AF65-F5344CB8AC3E}">
        <p14:creationId xmlns:p14="http://schemas.microsoft.com/office/powerpoint/2010/main" val="1190769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65668E1-8982-900E-5D19-D9A6DEA0C441}"/>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5BAD014-0DA3-E42F-AE7C-9F4E5EAA8EA4}"/>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1.3 Inter-Integrated Circuit (I2C) Protocol</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DC9576B2-5CB2-7245-6DAA-C0FA8B80B690}"/>
              </a:ext>
            </a:extLst>
          </p:cNvPr>
          <p:cNvSpPr/>
          <p:nvPr/>
        </p:nvSpPr>
        <p:spPr>
          <a:xfrm>
            <a:off x="162320" y="829718"/>
            <a:ext cx="9392645" cy="1292662"/>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t>
            </a:r>
            <a:r>
              <a:rPr lang="en-US" b="1" dirty="0" err="1"/>
              <a:t>giao</a:t>
            </a:r>
            <a:r>
              <a:rPr lang="en-US" b="1" dirty="0"/>
              <a:t> </a:t>
            </a:r>
            <a:r>
              <a:rPr lang="en-US" b="1" dirty="0" err="1"/>
              <a:t>tiếp</a:t>
            </a:r>
            <a:r>
              <a:rPr lang="en-US" b="1" dirty="0"/>
              <a:t> </a:t>
            </a:r>
            <a:r>
              <a:rPr lang="en-US" b="1" dirty="0" err="1"/>
              <a:t>gia</a:t>
            </a:r>
            <a:r>
              <a:rPr lang="en-US" b="1" dirty="0"/>
              <a:t> </a:t>
            </a:r>
            <a:r>
              <a:rPr lang="en-US" b="1" dirty="0" err="1"/>
              <a:t>tốc</a:t>
            </a:r>
            <a:r>
              <a:rPr lang="en-US" b="1" dirty="0"/>
              <a:t> </a:t>
            </a:r>
            <a:r>
              <a:rPr lang="en-US" b="1" dirty="0" err="1"/>
              <a:t>kế</a:t>
            </a:r>
            <a:endParaRPr lang="en-US" b="1" dirty="0"/>
          </a:p>
          <a:p>
            <a:pPr>
              <a:lnSpc>
                <a:spcPct val="150000"/>
              </a:lnSpc>
            </a:pPr>
            <a:r>
              <a:rPr lang="vi-VN" dirty="0"/>
              <a:t>Đoạn mã này cho phép đọc dữ liệu gia tốc từ mô-đun gia tốc 6 trục Grove bằng thư viện LSM6DS3 của Seeded Arduino .</a:t>
            </a:r>
            <a:endParaRPr lang="en-US" dirty="0"/>
          </a:p>
          <a:p>
            <a:pPr>
              <a:lnSpc>
                <a:spcPct val="150000"/>
              </a:lnSpc>
            </a:pPr>
            <a:endParaRPr lang="vi-VN" dirty="0"/>
          </a:p>
        </p:txBody>
      </p:sp>
      <p:sp>
        <p:nvSpPr>
          <p:cNvPr id="3" name="Rectangle 1">
            <a:extLst>
              <a:ext uri="{FF2B5EF4-FFF2-40B4-BE49-F238E27FC236}">
                <a16:creationId xmlns:a16="http://schemas.microsoft.com/office/drawing/2014/main" id="{EF24E434-E540-812A-7BE1-76F35E5494E5}"/>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1266" name="Picture 2" descr="ảnh">
            <a:extLst>
              <a:ext uri="{FF2B5EF4-FFF2-40B4-BE49-F238E27FC236}">
                <a16:creationId xmlns:a16="http://schemas.microsoft.com/office/drawing/2014/main" id="{2EAA34D0-AEB2-590D-2A8A-C4A5EDB8F6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513" t="16309" r="20631" b="18216"/>
          <a:stretch>
            <a:fillRect/>
          </a:stretch>
        </p:blipFill>
        <p:spPr bwMode="auto">
          <a:xfrm>
            <a:off x="5386416" y="1817385"/>
            <a:ext cx="3935003" cy="254912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500A792-319D-5878-EEF8-32F20645009F}"/>
              </a:ext>
            </a:extLst>
          </p:cNvPr>
          <p:cNvSpPr txBox="1"/>
          <p:nvPr/>
        </p:nvSpPr>
        <p:spPr>
          <a:xfrm>
            <a:off x="185316" y="1817385"/>
            <a:ext cx="4967554" cy="4616648"/>
          </a:xfrm>
          <a:prstGeom prst="rect">
            <a:avLst/>
          </a:prstGeom>
          <a:noFill/>
        </p:spPr>
        <p:txBody>
          <a:bodyPr wrap="square">
            <a:spAutoFit/>
          </a:bodyPr>
          <a:lstStyle/>
          <a:p>
            <a:r>
              <a:rPr lang="en-US" dirty="0">
                <a:solidFill>
                  <a:srgbClr val="FF0000"/>
                </a:solidFill>
              </a:rPr>
              <a:t>void loop() {</a:t>
            </a:r>
          </a:p>
          <a:p>
            <a:r>
              <a:rPr lang="en-US" dirty="0">
                <a:solidFill>
                  <a:srgbClr val="FF0000"/>
                </a:solidFill>
              </a:rPr>
              <a:t>    //Gyroscope</a:t>
            </a:r>
          </a:p>
          <a:p>
            <a:r>
              <a:rPr lang="en-US" dirty="0">
                <a:solidFill>
                  <a:srgbClr val="FF0000"/>
                </a:solidFill>
              </a:rPr>
              <a:t>    </a:t>
            </a:r>
            <a:r>
              <a:rPr lang="en-US" dirty="0" err="1">
                <a:solidFill>
                  <a:srgbClr val="FF0000"/>
                </a:solidFill>
              </a:rPr>
              <a:t>Serial.print</a:t>
            </a:r>
            <a:r>
              <a:rPr lang="en-US" dirty="0">
                <a:solidFill>
                  <a:srgbClr val="FF0000"/>
                </a:solidFill>
              </a:rPr>
              <a:t>("\</a:t>
            </a:r>
            <a:r>
              <a:rPr lang="en-US" dirty="0" err="1">
                <a:solidFill>
                  <a:srgbClr val="FF0000"/>
                </a:solidFill>
              </a:rPr>
              <a:t>nGyroscope</a:t>
            </a:r>
            <a:r>
              <a:rPr lang="en-US" dirty="0">
                <a:solidFill>
                  <a:srgbClr val="FF0000"/>
                </a:solidFill>
              </a:rPr>
              <a:t>:\n");</a:t>
            </a:r>
          </a:p>
          <a:p>
            <a:r>
              <a:rPr lang="en-US" dirty="0">
                <a:solidFill>
                  <a:srgbClr val="FF0000"/>
                </a:solidFill>
              </a:rPr>
              <a:t>    </a:t>
            </a:r>
            <a:r>
              <a:rPr lang="en-US" dirty="0" err="1">
                <a:solidFill>
                  <a:srgbClr val="FF0000"/>
                </a:solidFill>
              </a:rPr>
              <a:t>Serial.print</a:t>
            </a:r>
            <a:r>
              <a:rPr lang="en-US" dirty="0">
                <a:solidFill>
                  <a:srgbClr val="FF0000"/>
                </a:solidFill>
              </a:rPr>
              <a:t>(" X1 = ");</a:t>
            </a:r>
          </a:p>
          <a:p>
            <a:r>
              <a:rPr lang="en-US" dirty="0">
                <a:solidFill>
                  <a:srgbClr val="FF0000"/>
                </a:solidFill>
              </a:rPr>
              <a:t>    </a:t>
            </a:r>
            <a:r>
              <a:rPr lang="en-US" dirty="0" err="1">
                <a:solidFill>
                  <a:srgbClr val="FF0000"/>
                </a:solidFill>
              </a:rPr>
              <a:t>Serial.println</a:t>
            </a:r>
            <a:r>
              <a:rPr lang="en-US" dirty="0">
                <a:solidFill>
                  <a:srgbClr val="FF0000"/>
                </a:solidFill>
              </a:rPr>
              <a:t>(</a:t>
            </a:r>
            <a:r>
              <a:rPr lang="en-US" dirty="0" err="1">
                <a:solidFill>
                  <a:srgbClr val="FF0000"/>
                </a:solidFill>
              </a:rPr>
              <a:t>accelerometer.readFloatGyroX</a:t>
            </a:r>
            <a:r>
              <a:rPr lang="en-US" dirty="0">
                <a:solidFill>
                  <a:srgbClr val="FF0000"/>
                </a:solidFill>
              </a:rPr>
              <a:t>(), 4);</a:t>
            </a:r>
          </a:p>
          <a:p>
            <a:r>
              <a:rPr lang="en-US" dirty="0">
                <a:solidFill>
                  <a:srgbClr val="FF0000"/>
                </a:solidFill>
              </a:rPr>
              <a:t>    </a:t>
            </a:r>
            <a:r>
              <a:rPr lang="en-US" dirty="0" err="1">
                <a:solidFill>
                  <a:srgbClr val="FF0000"/>
                </a:solidFill>
              </a:rPr>
              <a:t>Serial.print</a:t>
            </a:r>
            <a:r>
              <a:rPr lang="en-US" dirty="0">
                <a:solidFill>
                  <a:srgbClr val="FF0000"/>
                </a:solidFill>
              </a:rPr>
              <a:t>(" Y1 = ");</a:t>
            </a:r>
          </a:p>
          <a:p>
            <a:r>
              <a:rPr lang="en-US" dirty="0">
                <a:solidFill>
                  <a:srgbClr val="FF0000"/>
                </a:solidFill>
              </a:rPr>
              <a:t>    </a:t>
            </a:r>
            <a:r>
              <a:rPr lang="en-US" dirty="0" err="1">
                <a:solidFill>
                  <a:srgbClr val="FF0000"/>
                </a:solidFill>
              </a:rPr>
              <a:t>Serial.println</a:t>
            </a:r>
            <a:r>
              <a:rPr lang="en-US" dirty="0">
                <a:solidFill>
                  <a:srgbClr val="FF0000"/>
                </a:solidFill>
              </a:rPr>
              <a:t>(</a:t>
            </a:r>
            <a:r>
              <a:rPr lang="en-US" dirty="0" err="1">
                <a:solidFill>
                  <a:srgbClr val="FF0000"/>
                </a:solidFill>
              </a:rPr>
              <a:t>accelerometer.readFloatGyroY</a:t>
            </a:r>
            <a:r>
              <a:rPr lang="en-US" dirty="0">
                <a:solidFill>
                  <a:srgbClr val="FF0000"/>
                </a:solidFill>
              </a:rPr>
              <a:t>(), 4);</a:t>
            </a:r>
          </a:p>
          <a:p>
            <a:r>
              <a:rPr lang="en-US" dirty="0">
                <a:solidFill>
                  <a:srgbClr val="FF0000"/>
                </a:solidFill>
              </a:rPr>
              <a:t>    </a:t>
            </a:r>
            <a:r>
              <a:rPr lang="en-US" dirty="0" err="1">
                <a:solidFill>
                  <a:srgbClr val="FF0000"/>
                </a:solidFill>
              </a:rPr>
              <a:t>Serial.print</a:t>
            </a:r>
            <a:r>
              <a:rPr lang="en-US" dirty="0">
                <a:solidFill>
                  <a:srgbClr val="FF0000"/>
                </a:solidFill>
              </a:rPr>
              <a:t>(" Z1 = ");</a:t>
            </a:r>
          </a:p>
          <a:p>
            <a:r>
              <a:rPr lang="en-US" dirty="0">
                <a:solidFill>
                  <a:srgbClr val="FF0000"/>
                </a:solidFill>
              </a:rPr>
              <a:t>    </a:t>
            </a:r>
            <a:r>
              <a:rPr lang="en-US" dirty="0" err="1">
                <a:solidFill>
                  <a:srgbClr val="FF0000"/>
                </a:solidFill>
              </a:rPr>
              <a:t>Serial.println</a:t>
            </a:r>
            <a:r>
              <a:rPr lang="en-US" dirty="0">
                <a:solidFill>
                  <a:srgbClr val="FF0000"/>
                </a:solidFill>
              </a:rPr>
              <a:t>(</a:t>
            </a:r>
            <a:r>
              <a:rPr lang="en-US" dirty="0" err="1">
                <a:solidFill>
                  <a:srgbClr val="FF0000"/>
                </a:solidFill>
              </a:rPr>
              <a:t>accelerometer.readFloatGyroZ</a:t>
            </a:r>
            <a:r>
              <a:rPr lang="en-US" dirty="0">
                <a:solidFill>
                  <a:srgbClr val="FF0000"/>
                </a:solidFill>
              </a:rPr>
              <a:t>(), 4);</a:t>
            </a:r>
          </a:p>
          <a:p>
            <a:endParaRPr lang="en-US" dirty="0">
              <a:solidFill>
                <a:srgbClr val="FF0000"/>
              </a:solidFill>
            </a:endParaRPr>
          </a:p>
          <a:p>
            <a:r>
              <a:rPr lang="en-US" dirty="0">
                <a:solidFill>
                  <a:srgbClr val="FF0000"/>
                </a:solidFill>
              </a:rPr>
              <a:t>    //Accelerometer</a:t>
            </a:r>
          </a:p>
          <a:p>
            <a:r>
              <a:rPr lang="en-US" dirty="0">
                <a:solidFill>
                  <a:srgbClr val="FF0000"/>
                </a:solidFill>
              </a:rPr>
              <a:t>    </a:t>
            </a:r>
            <a:r>
              <a:rPr lang="en-US" dirty="0" err="1">
                <a:solidFill>
                  <a:srgbClr val="FF0000"/>
                </a:solidFill>
              </a:rPr>
              <a:t>Serial.print</a:t>
            </a:r>
            <a:r>
              <a:rPr lang="en-US" dirty="0">
                <a:solidFill>
                  <a:srgbClr val="FF0000"/>
                </a:solidFill>
              </a:rPr>
              <a:t>("\</a:t>
            </a:r>
            <a:r>
              <a:rPr lang="en-US" dirty="0" err="1">
                <a:solidFill>
                  <a:srgbClr val="FF0000"/>
                </a:solidFill>
              </a:rPr>
              <a:t>nAccelerometer</a:t>
            </a:r>
            <a:r>
              <a:rPr lang="en-US" dirty="0">
                <a:solidFill>
                  <a:srgbClr val="FF0000"/>
                </a:solidFill>
              </a:rPr>
              <a:t>:\n");</a:t>
            </a:r>
          </a:p>
          <a:p>
            <a:r>
              <a:rPr lang="en-US" dirty="0">
                <a:solidFill>
                  <a:srgbClr val="FF0000"/>
                </a:solidFill>
              </a:rPr>
              <a:t>    </a:t>
            </a:r>
            <a:r>
              <a:rPr lang="en-US" dirty="0" err="1">
                <a:solidFill>
                  <a:srgbClr val="FF0000"/>
                </a:solidFill>
              </a:rPr>
              <a:t>Serial.print</a:t>
            </a:r>
            <a:r>
              <a:rPr lang="en-US" dirty="0">
                <a:solidFill>
                  <a:srgbClr val="FF0000"/>
                </a:solidFill>
              </a:rPr>
              <a:t>(" X1 = ");</a:t>
            </a:r>
          </a:p>
          <a:p>
            <a:r>
              <a:rPr lang="en-US" dirty="0">
                <a:solidFill>
                  <a:srgbClr val="FF0000"/>
                </a:solidFill>
              </a:rPr>
              <a:t>    </a:t>
            </a:r>
            <a:r>
              <a:rPr lang="en-US" dirty="0" err="1">
                <a:solidFill>
                  <a:srgbClr val="FF0000"/>
                </a:solidFill>
              </a:rPr>
              <a:t>Serial.println</a:t>
            </a:r>
            <a:r>
              <a:rPr lang="en-US" dirty="0">
                <a:solidFill>
                  <a:srgbClr val="FF0000"/>
                </a:solidFill>
              </a:rPr>
              <a:t>(</a:t>
            </a:r>
            <a:r>
              <a:rPr lang="en-US" dirty="0" err="1">
                <a:solidFill>
                  <a:srgbClr val="FF0000"/>
                </a:solidFill>
              </a:rPr>
              <a:t>accelerometer.readFloatAccelX</a:t>
            </a:r>
            <a:r>
              <a:rPr lang="en-US" dirty="0">
                <a:solidFill>
                  <a:srgbClr val="FF0000"/>
                </a:solidFill>
              </a:rPr>
              <a:t>(), 4);</a:t>
            </a:r>
          </a:p>
          <a:p>
            <a:r>
              <a:rPr lang="en-US" dirty="0">
                <a:solidFill>
                  <a:srgbClr val="FF0000"/>
                </a:solidFill>
              </a:rPr>
              <a:t>    </a:t>
            </a:r>
            <a:r>
              <a:rPr lang="en-US" dirty="0" err="1">
                <a:solidFill>
                  <a:srgbClr val="FF0000"/>
                </a:solidFill>
              </a:rPr>
              <a:t>Serial.print</a:t>
            </a:r>
            <a:r>
              <a:rPr lang="en-US" dirty="0">
                <a:solidFill>
                  <a:srgbClr val="FF0000"/>
                </a:solidFill>
              </a:rPr>
              <a:t>(" Y1 = ");</a:t>
            </a:r>
          </a:p>
          <a:p>
            <a:r>
              <a:rPr lang="en-US" dirty="0">
                <a:solidFill>
                  <a:srgbClr val="FF0000"/>
                </a:solidFill>
              </a:rPr>
              <a:t>    </a:t>
            </a:r>
            <a:r>
              <a:rPr lang="en-US" dirty="0" err="1">
                <a:solidFill>
                  <a:srgbClr val="FF0000"/>
                </a:solidFill>
              </a:rPr>
              <a:t>Serial.println</a:t>
            </a:r>
            <a:r>
              <a:rPr lang="en-US" dirty="0">
                <a:solidFill>
                  <a:srgbClr val="FF0000"/>
                </a:solidFill>
              </a:rPr>
              <a:t>(</a:t>
            </a:r>
            <a:r>
              <a:rPr lang="en-US" dirty="0" err="1">
                <a:solidFill>
                  <a:srgbClr val="FF0000"/>
                </a:solidFill>
              </a:rPr>
              <a:t>accelerometer.readFloatAccelY</a:t>
            </a:r>
            <a:r>
              <a:rPr lang="en-US" dirty="0">
                <a:solidFill>
                  <a:srgbClr val="FF0000"/>
                </a:solidFill>
              </a:rPr>
              <a:t>(), 4);</a:t>
            </a:r>
          </a:p>
          <a:p>
            <a:r>
              <a:rPr lang="en-US" dirty="0">
                <a:solidFill>
                  <a:srgbClr val="FF0000"/>
                </a:solidFill>
              </a:rPr>
              <a:t>    </a:t>
            </a:r>
            <a:r>
              <a:rPr lang="en-US" dirty="0" err="1">
                <a:solidFill>
                  <a:srgbClr val="FF0000"/>
                </a:solidFill>
              </a:rPr>
              <a:t>Serial.print</a:t>
            </a:r>
            <a:r>
              <a:rPr lang="en-US" dirty="0">
                <a:solidFill>
                  <a:srgbClr val="FF0000"/>
                </a:solidFill>
              </a:rPr>
              <a:t>(" Z1 = ");</a:t>
            </a:r>
          </a:p>
          <a:p>
            <a:r>
              <a:rPr lang="en-US" dirty="0">
                <a:solidFill>
                  <a:srgbClr val="FF0000"/>
                </a:solidFill>
              </a:rPr>
              <a:t>    </a:t>
            </a:r>
            <a:r>
              <a:rPr lang="en-US" dirty="0" err="1">
                <a:solidFill>
                  <a:srgbClr val="FF0000"/>
                </a:solidFill>
              </a:rPr>
              <a:t>Serial.println</a:t>
            </a:r>
            <a:r>
              <a:rPr lang="en-US" dirty="0">
                <a:solidFill>
                  <a:srgbClr val="FF0000"/>
                </a:solidFill>
              </a:rPr>
              <a:t>(</a:t>
            </a:r>
            <a:r>
              <a:rPr lang="en-US" dirty="0" err="1">
                <a:solidFill>
                  <a:srgbClr val="FF0000"/>
                </a:solidFill>
              </a:rPr>
              <a:t>accelerometer.readFloatAccelZ</a:t>
            </a:r>
            <a:r>
              <a:rPr lang="en-US" dirty="0">
                <a:solidFill>
                  <a:srgbClr val="FF0000"/>
                </a:solidFill>
              </a:rPr>
              <a:t>(), 4);</a:t>
            </a:r>
          </a:p>
          <a:p>
            <a:endParaRPr lang="en-US" dirty="0">
              <a:solidFill>
                <a:srgbClr val="FF0000"/>
              </a:solidFill>
            </a:endParaRPr>
          </a:p>
          <a:p>
            <a:r>
              <a:rPr lang="en-US" dirty="0">
                <a:solidFill>
                  <a:srgbClr val="FF0000"/>
                </a:solidFill>
              </a:rPr>
              <a:t>    delay(1000);</a:t>
            </a:r>
          </a:p>
          <a:p>
            <a:r>
              <a:rPr lang="en-US" dirty="0">
                <a:solidFill>
                  <a:srgbClr val="FF0000"/>
                </a:solidFill>
              </a:rPr>
              <a:t>}</a:t>
            </a:r>
          </a:p>
        </p:txBody>
      </p:sp>
    </p:spTree>
    <p:extLst>
      <p:ext uri="{BB962C8B-B14F-4D97-AF65-F5344CB8AC3E}">
        <p14:creationId xmlns:p14="http://schemas.microsoft.com/office/powerpoint/2010/main" val="38674465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39891338-703E-CB25-E4A4-5621790B7AC7}"/>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185E69FB-A55B-6DE1-63C4-705E2B80D6FD}"/>
              </a:ext>
            </a:extLst>
          </p:cNvPr>
          <p:cNvSpPr/>
          <p:nvPr/>
        </p:nvSpPr>
        <p:spPr>
          <a:xfrm>
            <a:off x="918081" y="990736"/>
            <a:ext cx="8819923"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Các giao tiếp cơ bản trong lớp vật lý</a:t>
            </a:r>
          </a:p>
        </p:txBody>
      </p:sp>
      <p:sp>
        <p:nvSpPr>
          <p:cNvPr id="177" name="Google Shape;177;p4">
            <a:extLst>
              <a:ext uri="{FF2B5EF4-FFF2-40B4-BE49-F238E27FC236}">
                <a16:creationId xmlns:a16="http://schemas.microsoft.com/office/drawing/2014/main" id="{94FE3A5A-E0FC-4F19-C97D-E1FAC8767DD4}"/>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1.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2FD9EDA8-3E6E-6B80-64DB-3DBEC42B8CA6}"/>
              </a:ext>
            </a:extLst>
          </p:cNvPr>
          <p:cNvSpPr/>
          <p:nvPr/>
        </p:nvSpPr>
        <p:spPr>
          <a:xfrm>
            <a:off x="1000274" y="2318181"/>
            <a:ext cx="7671115" cy="1897955"/>
          </a:xfrm>
          <a:prstGeom prst="rect">
            <a:avLst/>
          </a:prstGeom>
          <a:noFill/>
          <a:ln>
            <a:noFill/>
          </a:ln>
        </p:spPr>
        <p:txBody>
          <a:bodyPr spcFirstLastPara="1" wrap="square" lIns="0" tIns="0" rIns="0" bIns="0" anchor="t" anchorCtr="0">
            <a:spAutoFit/>
          </a:bodyPr>
          <a:lstStyle/>
          <a:p>
            <a:pPr marL="176213" lvl="0" indent="-176213">
              <a:buClr>
                <a:srgbClr val="3F3F3F"/>
              </a:buClr>
              <a:buSzPts val="2160"/>
              <a:buFont typeface="Arial"/>
              <a:buChar char="•"/>
            </a:pPr>
            <a:r>
              <a:rPr lang="en-US" sz="1800" dirty="0">
                <a:solidFill>
                  <a:schemeClr val="bg1">
                    <a:lumMod val="75000"/>
                  </a:schemeClr>
                </a:solidFill>
                <a:latin typeface="Arial"/>
                <a:ea typeface="Arial"/>
                <a:cs typeface="Arial"/>
                <a:sym typeface="Arial"/>
              </a:rPr>
              <a:t>1.1. UART </a:t>
            </a:r>
            <a:endParaRPr dirty="0">
              <a:solidFill>
                <a:schemeClr val="bg1">
                  <a:lumMod val="75000"/>
                </a:schemeClr>
              </a:solidFill>
            </a:endParaRP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1.2. </a:t>
            </a:r>
            <a:r>
              <a:rPr lang="en-US" sz="1800" dirty="0">
                <a:solidFill>
                  <a:schemeClr val="bg1">
                    <a:lumMod val="75000"/>
                  </a:schemeClr>
                </a:solidFill>
              </a:rPr>
              <a:t>SPI</a:t>
            </a: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1.3 I</a:t>
            </a:r>
            <a:r>
              <a:rPr lang="en-US" sz="1800" dirty="0">
                <a:solidFill>
                  <a:srgbClr val="A6A6A6"/>
                </a:solidFill>
              </a:rPr>
              <a:t>2C</a:t>
            </a:r>
          </a:p>
          <a:p>
            <a:pPr marL="176213" marR="0" lvl="0" indent="-176213" algn="l" rtl="0">
              <a:spcBef>
                <a:spcPts val="1000"/>
              </a:spcBef>
              <a:spcAft>
                <a:spcPts val="0"/>
              </a:spcAft>
              <a:buClr>
                <a:srgbClr val="A6A6A6"/>
              </a:buClr>
              <a:buSzPts val="2160"/>
              <a:buFont typeface="Arial"/>
              <a:buChar char="•"/>
            </a:pPr>
            <a:r>
              <a:rPr lang="en-US" sz="1800" dirty="0">
                <a:solidFill>
                  <a:schemeClr val="tx1"/>
                </a:solidFill>
                <a:latin typeface="Arial"/>
                <a:ea typeface="Arial"/>
                <a:cs typeface="Arial"/>
                <a:sym typeface="Arial"/>
              </a:rPr>
              <a:t>1.4 RS232</a:t>
            </a:r>
          </a:p>
          <a:p>
            <a:pPr marL="176213" lvl="0" indent="-176213">
              <a:spcBef>
                <a:spcPts val="1000"/>
              </a:spcBef>
              <a:buClr>
                <a:srgbClr val="A6A6A6"/>
              </a:buClr>
              <a:buSzPts val="2160"/>
              <a:buFont typeface="Arial"/>
              <a:buChar char="•"/>
            </a:pPr>
            <a:r>
              <a:rPr lang="en-US" sz="1800" dirty="0">
                <a:solidFill>
                  <a:schemeClr val="bg1">
                    <a:lumMod val="75000"/>
                  </a:schemeClr>
                </a:solidFill>
              </a:rPr>
              <a:t>1.5 RS422</a:t>
            </a:r>
          </a:p>
        </p:txBody>
      </p:sp>
    </p:spTree>
    <p:extLst>
      <p:ext uri="{BB962C8B-B14F-4D97-AF65-F5344CB8AC3E}">
        <p14:creationId xmlns:p14="http://schemas.microsoft.com/office/powerpoint/2010/main" val="9293710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B74B7A1-F285-3988-D062-F5D4E62037CE}"/>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40E847EC-E6FA-8FAD-E764-0965152540E2}"/>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1.4 RS232</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F1AF62BF-3903-B009-C9D1-ABE26617A679}"/>
              </a:ext>
            </a:extLst>
          </p:cNvPr>
          <p:cNvSpPr/>
          <p:nvPr/>
        </p:nvSpPr>
        <p:spPr>
          <a:xfrm>
            <a:off x="162320" y="829718"/>
            <a:ext cx="9392645" cy="5170646"/>
          </a:xfrm>
          <a:prstGeom prst="rect">
            <a:avLst/>
          </a:prstGeom>
          <a:noFill/>
          <a:ln>
            <a:noFill/>
          </a:ln>
        </p:spPr>
        <p:txBody>
          <a:bodyPr spcFirstLastPara="1" wrap="square" lIns="0" tIns="0" rIns="0" bIns="0" anchor="t" anchorCtr="0">
            <a:spAutoFit/>
          </a:bodyPr>
          <a:lstStyle/>
          <a:p>
            <a:pPr algn="just">
              <a:lnSpc>
                <a:spcPct val="150000"/>
              </a:lnSpc>
            </a:pPr>
            <a:r>
              <a:rPr lang="vi-VN" dirty="0"/>
              <a:t>RS-232 (tương ứng với chuẩn châu Âu là CCITT V.24) lúc đầu được xây dựng phục vụ chủ yếu trong việc ghép nối điểm-điểm giữa hai thiết bị đầu cuối (DTE, Data Terminal Equtpment), ví dụ glữa hai máy tính (PC, PLC. v.v...), glữa máy tính và máy in, hoặc giữa một thiết bị đầu cuối và và một thiết bị truyền dữ liệu (DCE, Data Communication Equtpment)</a:t>
            </a:r>
            <a:endParaRPr lang="en-US" dirty="0"/>
          </a:p>
          <a:p>
            <a:pPr algn="just">
              <a:lnSpc>
                <a:spcPct val="150000"/>
              </a:lnSpc>
            </a:pPr>
            <a:r>
              <a:rPr lang="vi-VN" dirty="0"/>
              <a:t>Mặc dù tính năng hạn chế, RS-232 là một trong các chuẩn tín hiệu có từ lâu nhất, vì thế được sử dụng rất rộng rãi. Ngày nay, mỗi máy tính cá nhân đều có một vài cổng RS-232 (cổng COM), có thể sử dụng tự do để nốivới các thiết bị ngoại vi hoặc với các máy tính khác. Nhiều thiết bị công</a:t>
            </a:r>
            <a:r>
              <a:rPr lang="en-US" dirty="0"/>
              <a:t> </a:t>
            </a:r>
            <a:r>
              <a:rPr lang="vi-VN" dirty="0"/>
              <a:t>nghiệp cũng tích hợp cổng RS-232 phục vụ lập trình hoặc tham số hóa. </a:t>
            </a:r>
            <a:endParaRPr lang="en-US" dirty="0"/>
          </a:p>
          <a:p>
            <a:pPr algn="just">
              <a:lnSpc>
                <a:spcPct val="150000"/>
              </a:lnSpc>
            </a:pPr>
            <a:r>
              <a:rPr lang="vi-VN" b="1" dirty="0"/>
              <a:t>Đặc tính điện học </a:t>
            </a:r>
            <a:endParaRPr lang="en-US" b="1" dirty="0"/>
          </a:p>
          <a:p>
            <a:pPr algn="just">
              <a:lnSpc>
                <a:spcPct val="150000"/>
              </a:lnSpc>
            </a:pPr>
            <a:r>
              <a:rPr lang="vi-VN" dirty="0"/>
              <a:t>RS-232 sử dụng phương thức truyền không đối xứng, tức là sử dụng tínhiệu điện áp chênh lệch giữa một dây dẫn và đất. Mức điện áp được sửdụng dao động trong khoảng từ -15V tới 15V. Khoảng từ 3V đến 15V ứngvới giá trị logic 0, khoảng từ -15V đến -3V ứng với giá trị logic 1,. Chính vì từ -3V tới 3V là phạm vi không được định nghĩa, trong trường</a:t>
            </a:r>
            <a:r>
              <a:rPr lang="en-US" dirty="0"/>
              <a:t> </a:t>
            </a:r>
            <a:r>
              <a:rPr lang="vi-VN" dirty="0"/>
              <a:t>hợp thay đổi giá trị logic từ 0 lên 1 hoặc từ 1 xuống 0 một tín hiệu phải</a:t>
            </a:r>
            <a:r>
              <a:rPr lang="en-US" dirty="0"/>
              <a:t> </a:t>
            </a:r>
            <a:r>
              <a:rPr lang="vi-VN" dirty="0"/>
              <a:t>vượt qua khoảng quá độ đó trong một thời gian ngắn hợp lý. Ví dụ, tiêu</a:t>
            </a:r>
            <a:r>
              <a:rPr lang="en-US" dirty="0"/>
              <a:t> </a:t>
            </a:r>
            <a:r>
              <a:rPr lang="vi-VN" dirty="0"/>
              <a:t>chuẩn DIN 66259 phần 2 qui định độ dốc tối thiểu của một tín hiệu phải</a:t>
            </a:r>
            <a:r>
              <a:rPr lang="en-US" dirty="0"/>
              <a:t> </a:t>
            </a:r>
            <a:r>
              <a:rPr lang="vi-VN" dirty="0"/>
              <a:t>là 6V/ms họặc 3% nhịp xung, tùy theo giá trị nào nhỏ hơn. Điều này dẫn</a:t>
            </a:r>
            <a:r>
              <a:rPr lang="en-US" dirty="0"/>
              <a:t> </a:t>
            </a:r>
            <a:r>
              <a:rPr lang="vi-VN" dirty="0"/>
              <a:t>đến việc phải hạn chế về điện dung của các thiết bị tham gia và của cả</a:t>
            </a:r>
            <a:r>
              <a:rPr lang="en-US" dirty="0"/>
              <a:t> </a:t>
            </a:r>
            <a:r>
              <a:rPr lang="vi-VN" dirty="0"/>
              <a:t>đường truyền. </a:t>
            </a:r>
          </a:p>
        </p:txBody>
      </p:sp>
      <p:sp>
        <p:nvSpPr>
          <p:cNvPr id="3" name="Rectangle 1">
            <a:extLst>
              <a:ext uri="{FF2B5EF4-FFF2-40B4-BE49-F238E27FC236}">
                <a16:creationId xmlns:a16="http://schemas.microsoft.com/office/drawing/2014/main" id="{B6E3FAF6-8B7A-ADD9-E7AC-E81A3587FD9D}"/>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457931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0D3DA6D-2AC5-6567-0972-519459292764}"/>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6D100CE-821B-BF2C-24E3-EA3AD26B733C}"/>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1.4 RS232</a:t>
            </a:r>
          </a:p>
          <a:p>
            <a:pPr marL="0" marR="0" lvl="0" indent="0" algn="l" rtl="0">
              <a:spcBef>
                <a:spcPts val="0"/>
              </a:spcBef>
              <a:spcAft>
                <a:spcPts val="0"/>
              </a:spcAft>
              <a:buNone/>
            </a:pPr>
            <a:endParaRPr dirty="0"/>
          </a:p>
        </p:txBody>
      </p:sp>
      <p:sp>
        <p:nvSpPr>
          <p:cNvPr id="3" name="Rectangle 1">
            <a:extLst>
              <a:ext uri="{FF2B5EF4-FFF2-40B4-BE49-F238E27FC236}">
                <a16:creationId xmlns:a16="http://schemas.microsoft.com/office/drawing/2014/main" id="{518E3F44-E413-D9B9-91EB-CBF509B09017}"/>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F6A27A75-7E1E-A636-B13C-D984F52995EE}"/>
              </a:ext>
            </a:extLst>
          </p:cNvPr>
          <p:cNvPicPr>
            <a:picLocks noChangeAspect="1"/>
          </p:cNvPicPr>
          <p:nvPr/>
        </p:nvPicPr>
        <p:blipFill>
          <a:blip r:embed="rId3"/>
          <a:stretch>
            <a:fillRect/>
          </a:stretch>
        </p:blipFill>
        <p:spPr>
          <a:xfrm>
            <a:off x="1031026" y="555310"/>
            <a:ext cx="7267575" cy="3219450"/>
          </a:xfrm>
          <a:prstGeom prst="rect">
            <a:avLst/>
          </a:prstGeom>
        </p:spPr>
      </p:pic>
      <p:sp>
        <p:nvSpPr>
          <p:cNvPr id="6" name="TextBox 5">
            <a:extLst>
              <a:ext uri="{FF2B5EF4-FFF2-40B4-BE49-F238E27FC236}">
                <a16:creationId xmlns:a16="http://schemas.microsoft.com/office/drawing/2014/main" id="{25CF5C61-675B-2FAA-B26B-EE9A2EB8928E}"/>
              </a:ext>
            </a:extLst>
          </p:cNvPr>
          <p:cNvSpPr txBox="1"/>
          <p:nvPr/>
        </p:nvSpPr>
        <p:spPr>
          <a:xfrm>
            <a:off x="626557" y="3866225"/>
            <a:ext cx="8384983" cy="1668214"/>
          </a:xfrm>
          <a:prstGeom prst="rect">
            <a:avLst/>
          </a:prstGeom>
          <a:noFill/>
        </p:spPr>
        <p:txBody>
          <a:bodyPr wrap="square">
            <a:spAutoFit/>
          </a:bodyPr>
          <a:lstStyle/>
          <a:p>
            <a:pPr>
              <a:lnSpc>
                <a:spcPct val="150000"/>
              </a:lnSpc>
            </a:pPr>
            <a:r>
              <a:rPr lang="vi-VN" dirty="0"/>
              <a:t>Tốc độ truyền dẫn tối đa phụ thuộc vào chiều dài dây dẫn. Đa số các hệthống hiện nay chỉ hỗ trợ tới tốc độ 19.2kBd (chiều dài cho phép 30-50m).Gần đây, sự tiến bộ trong vi mạch đã góp phần nâng cao tốc độ của cácmodem lên nhiều lần so với ngưỡng 19.2kBd. Hiện nay đã có những mạchthu phát đạt tốc độ 460kBd và hơn nữa, tuy nhiên tốc độ truyền dẫn thựctế lớn hơn 115.2 kBd theo chuẩn RS-232 trong một hệ thống làm việc dựa vào ngắt là một điều khó có thể thực hiện.</a:t>
            </a:r>
            <a:endParaRPr lang="en-US" dirty="0"/>
          </a:p>
        </p:txBody>
      </p:sp>
    </p:spTree>
    <p:extLst>
      <p:ext uri="{BB962C8B-B14F-4D97-AF65-F5344CB8AC3E}">
        <p14:creationId xmlns:p14="http://schemas.microsoft.com/office/powerpoint/2010/main" val="38726054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A59ABA3B-7B01-85BB-C806-7CD83F439CC0}"/>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350A38D-6104-220C-4A86-F53C6AFB1ACB}"/>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1.4 RS232</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9D60BA25-D357-9168-F430-7E74B43676E1}"/>
              </a:ext>
            </a:extLst>
          </p:cNvPr>
          <p:cNvSpPr/>
          <p:nvPr/>
        </p:nvSpPr>
        <p:spPr>
          <a:xfrm>
            <a:off x="162320" y="829718"/>
            <a:ext cx="9392645" cy="4847481"/>
          </a:xfrm>
          <a:prstGeom prst="rect">
            <a:avLst/>
          </a:prstGeom>
          <a:noFill/>
          <a:ln>
            <a:noFill/>
          </a:ln>
        </p:spPr>
        <p:txBody>
          <a:bodyPr spcFirstLastPara="1" wrap="square" lIns="0" tIns="0" rIns="0" bIns="0" anchor="t" anchorCtr="0">
            <a:spAutoFit/>
          </a:bodyPr>
          <a:lstStyle/>
          <a:p>
            <a:pPr algn="just">
              <a:lnSpc>
                <a:spcPct val="150000"/>
              </a:lnSpc>
            </a:pPr>
            <a:r>
              <a:rPr lang="vi-VN" dirty="0"/>
              <a:t>Một ưu điểm của chuấn RS-232 là có thể sử dụng công suất phát tương đối thấp, nhờ trở kháng đầu vào hạn chế trong phạm vi từ 3-7k</a:t>
            </a:r>
            <a:r>
              <a:rPr lang="en-US" dirty="0"/>
              <a:t>Ohm</a:t>
            </a:r>
            <a:r>
              <a:rPr lang="vi-VN" dirty="0"/>
              <a:t>. </a:t>
            </a:r>
            <a:endParaRPr lang="en-US" dirty="0"/>
          </a:p>
          <a:p>
            <a:pPr algn="just">
              <a:lnSpc>
                <a:spcPct val="150000"/>
              </a:lnSpc>
            </a:pPr>
            <a:r>
              <a:rPr lang="vi-VN" b="1" dirty="0"/>
              <a:t>Đặc tính </a:t>
            </a:r>
            <a:r>
              <a:rPr lang="en-US" b="1" dirty="0" err="1"/>
              <a:t>cơ</a:t>
            </a:r>
            <a:r>
              <a:rPr lang="en-US" b="1" dirty="0"/>
              <a:t> </a:t>
            </a:r>
            <a:r>
              <a:rPr lang="en-US" b="1" dirty="0" err="1"/>
              <a:t>học</a:t>
            </a:r>
            <a:endParaRPr lang="en-US" b="1" dirty="0"/>
          </a:p>
          <a:p>
            <a:pPr algn="just">
              <a:lnSpc>
                <a:spcPct val="150000"/>
              </a:lnSpc>
            </a:pPr>
            <a:r>
              <a:rPr lang="vi-VN" dirty="0"/>
              <a:t>Chuẩn EIA/TIA-232F qui định ba loại giắc cắm RS-232 là DB-9 (chín chân), DB-25 (25 chân) và ALT-A (26 chân), trong đó hai loại đầu được sử dụng rộng rãi hơn. Loại DB-9 cũng đã được chuẩn hóa riêng trong EIA/TIA-574. Trên Hình 2.36 là sơ đồ giắc cắm loại 9 chân cũng như chiều các tín hiệu ghép nối giữa một DTE và một DCE,. Ý nghĩa của các chân quan trọng được mô tả dưới đây. </a:t>
            </a:r>
            <a:endParaRPr lang="en-US" dirty="0"/>
          </a:p>
          <a:p>
            <a:pPr marL="285750" indent="-285750" algn="just">
              <a:lnSpc>
                <a:spcPct val="150000"/>
              </a:lnSpc>
              <a:buFont typeface="Arial" panose="020B0604020202020204" pitchFamily="34" charset="0"/>
              <a:buChar char="•"/>
            </a:pPr>
            <a:r>
              <a:rPr lang="vi-VN" dirty="0"/>
              <a:t>RxD (Receive Data): Đường nhận dữ liệu </a:t>
            </a:r>
            <a:endParaRPr lang="en-US" dirty="0"/>
          </a:p>
          <a:p>
            <a:pPr marL="285750" indent="-285750" algn="just">
              <a:lnSpc>
                <a:spcPct val="150000"/>
              </a:lnSpc>
              <a:buFont typeface="Arial" panose="020B0604020202020204" pitchFamily="34" charset="0"/>
              <a:buChar char="•"/>
            </a:pPr>
            <a:r>
              <a:rPr lang="vi-VN" dirty="0"/>
              <a:t>TxD (Transmit Data): Đường gửi dữ liệu </a:t>
            </a:r>
            <a:endParaRPr lang="en-US" dirty="0"/>
          </a:p>
          <a:p>
            <a:pPr marL="285750" indent="-285750" algn="just">
              <a:lnSpc>
                <a:spcPct val="150000"/>
              </a:lnSpc>
              <a:buFont typeface="Arial" panose="020B0604020202020204" pitchFamily="34" charset="0"/>
              <a:buChar char="•"/>
            </a:pPr>
            <a:r>
              <a:rPr lang="vi-VN" dirty="0"/>
              <a:t>DTR (Data Terminal Ready): Chân DTR thường ở trạng thái ON khi thiết bị đầu cuối sẵn sàng thiết lập kênh truyền thông. Qua việc giữ mạch DTR ở trạng thái ON, thiết bị đầu cuối cho phép DCE của nó ở chế độ “tự trả lời" chấp nhận lời gọi không yêu cầu. Mạch DTR ở trạng thái OFF chỉ khi thiết bị đầu cuối không muốn DCE của nó chấp nhận lời gọi từ xa (chế độ cục bộ).</a:t>
            </a:r>
            <a:endParaRPr lang="en-US" dirty="0"/>
          </a:p>
          <a:p>
            <a:pPr marL="285750" indent="-285750" algn="just">
              <a:lnSpc>
                <a:spcPct val="150000"/>
              </a:lnSpc>
              <a:buFont typeface="Arial" panose="020B0604020202020204" pitchFamily="34" charset="0"/>
              <a:buChar char="•"/>
            </a:pPr>
            <a:r>
              <a:rPr lang="vi-VN" dirty="0"/>
              <a:t> DSR (Data Set Ready, DCE Ready): Cå hai modem chuyển mạch DSR sang ON khi một đường truyền thông đã được thiết lập giữa hai bên.</a:t>
            </a:r>
          </a:p>
        </p:txBody>
      </p:sp>
      <p:sp>
        <p:nvSpPr>
          <p:cNvPr id="3" name="Rectangle 1">
            <a:extLst>
              <a:ext uri="{FF2B5EF4-FFF2-40B4-BE49-F238E27FC236}">
                <a16:creationId xmlns:a16="http://schemas.microsoft.com/office/drawing/2014/main" id="{6247D582-0E8C-1CF9-6FFE-5EA5A68E0B35}"/>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38646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35BF8968-FAE8-0596-4EC2-2029FED76536}"/>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D3CB81E-55B7-80C4-C905-7B15A759D0A9}"/>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1.4 RS232</a:t>
            </a:r>
          </a:p>
          <a:p>
            <a:pPr marL="0" marR="0" lvl="0" indent="0" algn="l" rtl="0">
              <a:spcBef>
                <a:spcPts val="0"/>
              </a:spcBef>
              <a:spcAft>
                <a:spcPts val="0"/>
              </a:spcAft>
              <a:buNone/>
            </a:pPr>
            <a:endParaRPr dirty="0"/>
          </a:p>
        </p:txBody>
      </p:sp>
      <p:sp>
        <p:nvSpPr>
          <p:cNvPr id="3" name="Rectangle 1">
            <a:extLst>
              <a:ext uri="{FF2B5EF4-FFF2-40B4-BE49-F238E27FC236}">
                <a16:creationId xmlns:a16="http://schemas.microsoft.com/office/drawing/2014/main" id="{E8214878-6987-AB70-2E21-15D158920563}"/>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EAA6732D-8E9A-B24E-76DA-BB9341C6929F}"/>
              </a:ext>
            </a:extLst>
          </p:cNvPr>
          <p:cNvPicPr>
            <a:picLocks noChangeAspect="1"/>
          </p:cNvPicPr>
          <p:nvPr/>
        </p:nvPicPr>
        <p:blipFill>
          <a:blip r:embed="rId3"/>
          <a:stretch>
            <a:fillRect/>
          </a:stretch>
        </p:blipFill>
        <p:spPr>
          <a:xfrm>
            <a:off x="1331912" y="1100137"/>
            <a:ext cx="7239000" cy="4657725"/>
          </a:xfrm>
          <a:prstGeom prst="rect">
            <a:avLst/>
          </a:prstGeom>
        </p:spPr>
      </p:pic>
    </p:spTree>
    <p:extLst>
      <p:ext uri="{BB962C8B-B14F-4D97-AF65-F5344CB8AC3E}">
        <p14:creationId xmlns:p14="http://schemas.microsoft.com/office/powerpoint/2010/main" val="35473358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6AC68C51-8B51-58A6-6221-20611EE9984B}"/>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A827E97-CAFC-D790-39B4-08D6FA8B39DD}"/>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1.4 RS232</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9E4AD616-35DE-829F-2265-4D1A9C3251DC}"/>
              </a:ext>
            </a:extLst>
          </p:cNvPr>
          <p:cNvSpPr/>
          <p:nvPr/>
        </p:nvSpPr>
        <p:spPr>
          <a:xfrm>
            <a:off x="162320" y="829718"/>
            <a:ext cx="9392645" cy="3554819"/>
          </a:xfrm>
          <a:prstGeom prst="rect">
            <a:avLst/>
          </a:prstGeom>
          <a:noFill/>
          <a:ln>
            <a:noFill/>
          </a:ln>
        </p:spPr>
        <p:txBody>
          <a:bodyPr spcFirstLastPara="1" wrap="square" lIns="0" tIns="0" rIns="0" bIns="0" anchor="t" anchorCtr="0">
            <a:spAutoFit/>
          </a:bodyPr>
          <a:lstStyle/>
          <a:p>
            <a:pPr algn="just">
              <a:lnSpc>
                <a:spcPct val="150000"/>
              </a:lnSpc>
            </a:pPr>
            <a:r>
              <a:rPr lang="vi-VN" b="1" dirty="0"/>
              <a:t>Đặc tính </a:t>
            </a:r>
            <a:r>
              <a:rPr lang="en-US" b="1" dirty="0" err="1"/>
              <a:t>cơ</a:t>
            </a:r>
            <a:r>
              <a:rPr lang="en-US" b="1" dirty="0"/>
              <a:t> </a:t>
            </a:r>
            <a:r>
              <a:rPr lang="en-US" b="1" dirty="0" err="1"/>
              <a:t>học</a:t>
            </a:r>
            <a:endParaRPr lang="en-US" b="1" dirty="0"/>
          </a:p>
          <a:p>
            <a:pPr marL="285750" indent="-285750" algn="just">
              <a:lnSpc>
                <a:spcPct val="150000"/>
              </a:lnSpc>
              <a:buFont typeface="Arial" panose="020B0604020202020204" pitchFamily="34" charset="0"/>
              <a:buChar char="•"/>
            </a:pPr>
            <a:r>
              <a:rPr lang="vi-VN" dirty="0"/>
              <a:t>DCD (Data Carrier Detect): Chân DCD được sử dụng để kiểm soát truy nhập đường truyền. Một trạm nhận tín hiệu DCD là OFF sẽ hiểu là trạm đối tác chưa đóng mạch yêu cầu gửi dữ liệu (chân RTS) và vì thế có thể đoạt quyền kiểm soát đường truyền nếu cần thiết. Ngược lại, tín hiệu DCD là ON chỉ thị bên đối tác đã gửi tín hiệu RTS và giành quyền kiểm soát đường truyền.</a:t>
            </a:r>
            <a:endParaRPr lang="en-US" dirty="0"/>
          </a:p>
          <a:p>
            <a:pPr marL="285750" indent="-285750" algn="just">
              <a:lnSpc>
                <a:spcPct val="150000"/>
              </a:lnSpc>
              <a:buFont typeface="Arial" panose="020B0604020202020204" pitchFamily="34" charset="0"/>
              <a:buChar char="•"/>
            </a:pPr>
            <a:r>
              <a:rPr lang="vi-VN" dirty="0"/>
              <a:t> RTS (Request To Send): Đường RTS kiểm soát chiều truyền dữ liệu. Khi một trạm cần gửi dữ liệu, nó đóng mạch RTS sang ON để báo hiệu với modem của nó. Thông tin này cũng được chuyển tiếp tới modem xa.</a:t>
            </a:r>
            <a:endParaRPr lang="en-US" dirty="0"/>
          </a:p>
          <a:p>
            <a:pPr marL="285750" indent="-285750" algn="just">
              <a:lnSpc>
                <a:spcPct val="150000"/>
              </a:lnSpc>
              <a:buFont typeface="Arial" panose="020B0604020202020204" pitchFamily="34" charset="0"/>
              <a:buChar char="•"/>
            </a:pPr>
            <a:r>
              <a:rPr lang="vi-VN" dirty="0"/>
              <a:t> CTS (Clear To Send): Khi CTS chuyển sang ON, một trạm được thông báo rằng modem của nó đã sẵn sàng nhận dữ liệu từ trạm và kiểm soát đường điện thoại cho việc truyền dữ liệu đi xa. </a:t>
            </a:r>
            <a:endParaRPr lang="en-US" dirty="0"/>
          </a:p>
          <a:p>
            <a:pPr marL="285750" indent="-285750" algn="just">
              <a:lnSpc>
                <a:spcPct val="150000"/>
              </a:lnSpc>
              <a:buFont typeface="Arial" panose="020B0604020202020204" pitchFamily="34" charset="0"/>
              <a:buChar char="•"/>
            </a:pPr>
            <a:r>
              <a:rPr lang="vi-VN" dirty="0"/>
              <a:t>RI (Ring Indicator): Khi modem nhận được một lời gọi, mạch RI chuyển ON/OFF một cách tuần tự với chuông điện thoại để báo hiệu cho trạm đầu cuối. Tín hiệu này chỉ thị rằng một modem xa yêu cầu thiết lập liên kết dial-up.</a:t>
            </a:r>
          </a:p>
        </p:txBody>
      </p:sp>
      <p:sp>
        <p:nvSpPr>
          <p:cNvPr id="3" name="Rectangle 1">
            <a:extLst>
              <a:ext uri="{FF2B5EF4-FFF2-40B4-BE49-F238E27FC236}">
                <a16:creationId xmlns:a16="http://schemas.microsoft.com/office/drawing/2014/main" id="{F7C027C9-0C55-14DC-5BF4-37793AFB2190}"/>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93820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17A35B7-57C1-61C6-5002-29F8F35163F7}"/>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346C39D5-1D23-90BF-8C88-BB557816B7B2}"/>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1.4 RS232</a:t>
            </a:r>
          </a:p>
          <a:p>
            <a:pPr marL="0" marR="0" lvl="0" indent="0" algn="l" rtl="0">
              <a:spcBef>
                <a:spcPts val="0"/>
              </a:spcBef>
              <a:spcAft>
                <a:spcPts val="0"/>
              </a:spcAft>
              <a:buNone/>
            </a:pPr>
            <a:endParaRPr dirty="0"/>
          </a:p>
        </p:txBody>
      </p:sp>
      <p:sp>
        <p:nvSpPr>
          <p:cNvPr id="3" name="Rectangle 1">
            <a:extLst>
              <a:ext uri="{FF2B5EF4-FFF2-40B4-BE49-F238E27FC236}">
                <a16:creationId xmlns:a16="http://schemas.microsoft.com/office/drawing/2014/main" id="{E70F5539-EE82-6ECA-153A-620ECE40036D}"/>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FDDCD130-6C96-E514-A0E6-3897A1827AB3}"/>
              </a:ext>
            </a:extLst>
          </p:cNvPr>
          <p:cNvPicPr>
            <a:picLocks noChangeAspect="1"/>
          </p:cNvPicPr>
          <p:nvPr/>
        </p:nvPicPr>
        <p:blipFill>
          <a:blip r:embed="rId3"/>
          <a:stretch>
            <a:fillRect/>
          </a:stretch>
        </p:blipFill>
        <p:spPr>
          <a:xfrm>
            <a:off x="2136712" y="663391"/>
            <a:ext cx="5629399" cy="5268330"/>
          </a:xfrm>
          <a:prstGeom prst="rect">
            <a:avLst/>
          </a:prstGeom>
        </p:spPr>
      </p:pic>
    </p:spTree>
    <p:extLst>
      <p:ext uri="{BB962C8B-B14F-4D97-AF65-F5344CB8AC3E}">
        <p14:creationId xmlns:p14="http://schemas.microsoft.com/office/powerpoint/2010/main" val="376621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5560AED-BFFB-3E85-DE51-15E0506F577E}"/>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CA84D8DD-B1B9-9130-F2FE-8C54D7932DD7}"/>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1.4 RS232</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B3FBD70A-6747-FDAA-205F-4F86C89C3BED}"/>
              </a:ext>
            </a:extLst>
          </p:cNvPr>
          <p:cNvSpPr/>
          <p:nvPr/>
        </p:nvSpPr>
        <p:spPr>
          <a:xfrm>
            <a:off x="162320" y="829718"/>
            <a:ext cx="9004986" cy="2585323"/>
          </a:xfrm>
          <a:prstGeom prst="rect">
            <a:avLst/>
          </a:prstGeom>
          <a:noFill/>
          <a:ln>
            <a:noFill/>
          </a:ln>
        </p:spPr>
        <p:txBody>
          <a:bodyPr spcFirstLastPara="1" wrap="square" lIns="0" tIns="0" rIns="0" bIns="0" anchor="t" anchorCtr="0">
            <a:spAutoFit/>
          </a:bodyPr>
          <a:lstStyle/>
          <a:p>
            <a:pPr algn="just">
              <a:lnSpc>
                <a:spcPct val="150000"/>
              </a:lnSpc>
            </a:pPr>
            <a:r>
              <a:rPr lang="vi-VN" b="1" dirty="0"/>
              <a:t>Chế độ làm việc </a:t>
            </a:r>
            <a:endParaRPr lang="en-US" b="1" dirty="0"/>
          </a:p>
          <a:p>
            <a:pPr algn="just">
              <a:lnSpc>
                <a:spcPct val="150000"/>
              </a:lnSpc>
            </a:pPr>
            <a:r>
              <a:rPr lang="vi-VN" dirty="0"/>
              <a:t>Chế độ làm việc của hệ thống RS-232 là hai chiều toàn phần (</a:t>
            </a:r>
            <a:r>
              <a:rPr lang="en-US" dirty="0"/>
              <a:t>f</a:t>
            </a:r>
            <a:r>
              <a:rPr lang="vi-VN" dirty="0"/>
              <a:t>ullduplex), tức là hai thiết bị tham gia cùng có tể thu và phát tín hiệu cùng một lúc. Như vậy, việc thực hiện truyền thông cần tối thiểu 3 dây dẫn trong đó hai dây tín hiệu nối chéo các đầu thu phát của hai trạm và một dây đất, như a minh họa. Với cấu hình tối thiểu này, việc đảm bảo độ an toàn truyền dẫn tín hiệu thuộc về trách nhiệm của phần mềm. </a:t>
            </a:r>
            <a:endParaRPr lang="en-US" dirty="0"/>
          </a:p>
          <a:p>
            <a:pPr algn="just">
              <a:lnSpc>
                <a:spcPct val="150000"/>
              </a:lnSpc>
            </a:pPr>
            <a:r>
              <a:rPr lang="vi-VN" dirty="0"/>
              <a:t>Hình </a:t>
            </a:r>
            <a:r>
              <a:rPr lang="en-US" dirty="0" err="1"/>
              <a:t>bên</a:t>
            </a:r>
            <a:r>
              <a:rPr lang="vi-VN" dirty="0"/>
              <a:t> minh họa một ví dụ ghép nối trực tiếp giữa hai thiết bị thực hiện chế độ bắt tay (handshake mode) không thông qua modem. Qua việc sử dụng các dây dẫn DTR và DSR, độ an toàn giao tiếp sẽ được đảm bảo. Trong trường hợp này, các chân RTS và CTS được nối ngắn. </a:t>
            </a:r>
          </a:p>
        </p:txBody>
      </p:sp>
      <p:sp>
        <p:nvSpPr>
          <p:cNvPr id="3" name="Rectangle 1">
            <a:extLst>
              <a:ext uri="{FF2B5EF4-FFF2-40B4-BE49-F238E27FC236}">
                <a16:creationId xmlns:a16="http://schemas.microsoft.com/office/drawing/2014/main" id="{E605BE86-DB75-AC1C-1ED1-64AEF52AE9B5}"/>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CB4D4835-2265-2EA9-6DA0-277EA5A8A419}"/>
              </a:ext>
            </a:extLst>
          </p:cNvPr>
          <p:cNvPicPr>
            <a:picLocks noChangeAspect="1"/>
          </p:cNvPicPr>
          <p:nvPr/>
        </p:nvPicPr>
        <p:blipFill>
          <a:blip r:embed="rId3"/>
          <a:stretch>
            <a:fillRect/>
          </a:stretch>
        </p:blipFill>
        <p:spPr>
          <a:xfrm>
            <a:off x="1592494" y="3503732"/>
            <a:ext cx="6545947" cy="2900440"/>
          </a:xfrm>
          <a:prstGeom prst="rect">
            <a:avLst/>
          </a:prstGeom>
        </p:spPr>
      </p:pic>
    </p:spTree>
    <p:extLst>
      <p:ext uri="{BB962C8B-B14F-4D97-AF65-F5344CB8AC3E}">
        <p14:creationId xmlns:p14="http://schemas.microsoft.com/office/powerpoint/2010/main" val="5468287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CFB61560-3655-14D2-F91D-670C453158EB}"/>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1CBAF2AA-7BB8-8D54-66CE-223B260DFF97}"/>
              </a:ext>
            </a:extLst>
          </p:cNvPr>
          <p:cNvSpPr/>
          <p:nvPr/>
        </p:nvSpPr>
        <p:spPr>
          <a:xfrm>
            <a:off x="918081" y="990736"/>
            <a:ext cx="8819923"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Các giao tiếp cơ bản trong lớp vật lý</a:t>
            </a:r>
          </a:p>
        </p:txBody>
      </p:sp>
      <p:sp>
        <p:nvSpPr>
          <p:cNvPr id="177" name="Google Shape;177;p4">
            <a:extLst>
              <a:ext uri="{FF2B5EF4-FFF2-40B4-BE49-F238E27FC236}">
                <a16:creationId xmlns:a16="http://schemas.microsoft.com/office/drawing/2014/main" id="{B74BFB03-4D66-DA22-33A0-2E0FAC6FF280}"/>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1.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9DB73B56-4F37-8080-90E3-7BE7F763E0E1}"/>
              </a:ext>
            </a:extLst>
          </p:cNvPr>
          <p:cNvSpPr/>
          <p:nvPr/>
        </p:nvSpPr>
        <p:spPr>
          <a:xfrm>
            <a:off x="1000274" y="2318181"/>
            <a:ext cx="7671115" cy="1897955"/>
          </a:xfrm>
          <a:prstGeom prst="rect">
            <a:avLst/>
          </a:prstGeom>
          <a:noFill/>
          <a:ln>
            <a:noFill/>
          </a:ln>
        </p:spPr>
        <p:txBody>
          <a:bodyPr spcFirstLastPara="1" wrap="square" lIns="0" tIns="0" rIns="0" bIns="0" anchor="t" anchorCtr="0">
            <a:spAutoFit/>
          </a:bodyPr>
          <a:lstStyle/>
          <a:p>
            <a:pPr marL="176213" lvl="0" indent="-176213">
              <a:buClr>
                <a:srgbClr val="3F3F3F"/>
              </a:buClr>
              <a:buSzPts val="2160"/>
              <a:buFont typeface="Arial"/>
              <a:buChar char="•"/>
            </a:pPr>
            <a:r>
              <a:rPr lang="en-US" sz="1800" dirty="0">
                <a:solidFill>
                  <a:schemeClr val="bg1">
                    <a:lumMod val="65000"/>
                  </a:schemeClr>
                </a:solidFill>
                <a:latin typeface="Arial"/>
                <a:ea typeface="Arial"/>
                <a:cs typeface="Arial"/>
                <a:sym typeface="Arial"/>
              </a:rPr>
              <a:t>1.1. UART </a:t>
            </a:r>
            <a:endParaRPr dirty="0">
              <a:solidFill>
                <a:schemeClr val="bg1">
                  <a:lumMod val="65000"/>
                </a:schemeClr>
              </a:solidFill>
            </a:endParaRP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1.2. </a:t>
            </a:r>
            <a:r>
              <a:rPr lang="en-US" sz="1800" dirty="0">
                <a:solidFill>
                  <a:schemeClr val="bg1">
                    <a:lumMod val="75000"/>
                  </a:schemeClr>
                </a:solidFill>
              </a:rPr>
              <a:t>SPI</a:t>
            </a: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1.3 I</a:t>
            </a:r>
            <a:r>
              <a:rPr lang="en-US" sz="1800" dirty="0">
                <a:solidFill>
                  <a:srgbClr val="A6A6A6"/>
                </a:solidFill>
              </a:rPr>
              <a:t>2C</a:t>
            </a:r>
          </a:p>
          <a:p>
            <a:pPr marL="176213" marR="0" lvl="0" indent="-176213" algn="l" rtl="0">
              <a:spcBef>
                <a:spcPts val="1000"/>
              </a:spcBef>
              <a:spcAft>
                <a:spcPts val="0"/>
              </a:spcAft>
              <a:buClr>
                <a:srgbClr val="A6A6A6"/>
              </a:buClr>
              <a:buSzPts val="2160"/>
              <a:buFont typeface="Arial"/>
              <a:buChar char="•"/>
            </a:pPr>
            <a:r>
              <a:rPr lang="en-US" sz="1800" dirty="0">
                <a:solidFill>
                  <a:srgbClr val="A6A6A6"/>
                </a:solidFill>
                <a:latin typeface="Arial"/>
                <a:ea typeface="Arial"/>
                <a:cs typeface="Arial"/>
                <a:sym typeface="Arial"/>
              </a:rPr>
              <a:t>1.4 RS232</a:t>
            </a:r>
          </a:p>
          <a:p>
            <a:pPr marL="176213" marR="0" lvl="0" indent="-176213" algn="l" rtl="0">
              <a:spcBef>
                <a:spcPts val="1000"/>
              </a:spcBef>
              <a:spcAft>
                <a:spcPts val="0"/>
              </a:spcAft>
              <a:buClr>
                <a:srgbClr val="A6A6A6"/>
              </a:buClr>
              <a:buSzPts val="2160"/>
              <a:buFont typeface="Arial"/>
              <a:buChar char="•"/>
            </a:pPr>
            <a:r>
              <a:rPr lang="en-US" sz="1800" dirty="0">
                <a:solidFill>
                  <a:schemeClr val="tx1"/>
                </a:solidFill>
              </a:rPr>
              <a:t>1.5 RS422</a:t>
            </a:r>
          </a:p>
        </p:txBody>
      </p:sp>
    </p:spTree>
    <p:extLst>
      <p:ext uri="{BB962C8B-B14F-4D97-AF65-F5344CB8AC3E}">
        <p14:creationId xmlns:p14="http://schemas.microsoft.com/office/powerpoint/2010/main" val="3006483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1D18B94-A852-5E4A-D790-E386D5AA949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DB997E6B-7A92-4836-F045-95F6054C24A8}"/>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1.4 RS422</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3B6C82C3-627A-82D9-6840-1F5B8264638C}"/>
              </a:ext>
            </a:extLst>
          </p:cNvPr>
          <p:cNvSpPr/>
          <p:nvPr/>
        </p:nvSpPr>
        <p:spPr>
          <a:xfrm>
            <a:off x="162320" y="829718"/>
            <a:ext cx="9392645" cy="1292662"/>
          </a:xfrm>
          <a:prstGeom prst="rect">
            <a:avLst/>
          </a:prstGeom>
          <a:noFill/>
          <a:ln>
            <a:noFill/>
          </a:ln>
        </p:spPr>
        <p:txBody>
          <a:bodyPr spcFirstLastPara="1" wrap="square" lIns="0" tIns="0" rIns="0" bIns="0" anchor="t" anchorCtr="0">
            <a:spAutoFit/>
          </a:bodyPr>
          <a:lstStyle/>
          <a:p>
            <a:pPr algn="just">
              <a:lnSpc>
                <a:spcPct val="150000"/>
              </a:lnSpc>
            </a:pPr>
            <a:r>
              <a:rPr lang="vi-VN" dirty="0"/>
              <a:t>RS-422 sử dụng tín hiệu điện áp chênh lệch đối xứng giữa hai dây dẫn A và B, nhờ vậy giảm được nhiễu và cho phép tăng chiều dài dây dẫn một cách đáng kể. RS-422 thích hợp cho phạm vi truyền dẫn tới 1200 mét mà không cần bộ lặp. Điện áp chênh lệch dương ứng với trạng thái logic 0 và âm ứng với trạng thái logic 1. Điện áp chênh lệch ở đầu vào bên nhận có thể xuống tới 200mV. Một vài thông số quan trọngđược tóm tắt trong bảng</a:t>
            </a:r>
            <a:endParaRPr lang="en-US" dirty="0"/>
          </a:p>
        </p:txBody>
      </p:sp>
      <p:sp>
        <p:nvSpPr>
          <p:cNvPr id="3" name="Rectangle 1">
            <a:extLst>
              <a:ext uri="{FF2B5EF4-FFF2-40B4-BE49-F238E27FC236}">
                <a16:creationId xmlns:a16="http://schemas.microsoft.com/office/drawing/2014/main" id="{2A91E868-7A9D-D33E-96C4-C358F380464E}"/>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95932C93-622A-80D5-FE71-622A2B36846C}"/>
              </a:ext>
            </a:extLst>
          </p:cNvPr>
          <p:cNvPicPr>
            <a:picLocks noChangeAspect="1"/>
          </p:cNvPicPr>
          <p:nvPr/>
        </p:nvPicPr>
        <p:blipFill>
          <a:blip r:embed="rId3"/>
          <a:stretch>
            <a:fillRect/>
          </a:stretch>
        </p:blipFill>
        <p:spPr>
          <a:xfrm>
            <a:off x="1196279" y="2399283"/>
            <a:ext cx="7324725" cy="3990975"/>
          </a:xfrm>
          <a:prstGeom prst="rect">
            <a:avLst/>
          </a:prstGeom>
        </p:spPr>
      </p:pic>
    </p:spTree>
    <p:extLst>
      <p:ext uri="{BB962C8B-B14F-4D97-AF65-F5344CB8AC3E}">
        <p14:creationId xmlns:p14="http://schemas.microsoft.com/office/powerpoint/2010/main" val="30060434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8DD89D3-719A-9168-AD4E-30F9B2EDAF41}"/>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024FEF51-465A-919B-4E5A-DC586B6B16CE}"/>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1.4 RS422</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1EF5A9D2-F166-2714-A420-B888638F3132}"/>
              </a:ext>
            </a:extLst>
          </p:cNvPr>
          <p:cNvSpPr/>
          <p:nvPr/>
        </p:nvSpPr>
        <p:spPr>
          <a:xfrm>
            <a:off x="162320" y="829718"/>
            <a:ext cx="9392645" cy="3554819"/>
          </a:xfrm>
          <a:prstGeom prst="rect">
            <a:avLst/>
          </a:prstGeom>
          <a:noFill/>
          <a:ln>
            <a:noFill/>
          </a:ln>
        </p:spPr>
        <p:txBody>
          <a:bodyPr spcFirstLastPara="1" wrap="square" lIns="0" tIns="0" rIns="0" bIns="0" anchor="t" anchorCtr="0">
            <a:spAutoFit/>
          </a:bodyPr>
          <a:lstStyle/>
          <a:p>
            <a:pPr algn="just">
              <a:lnSpc>
                <a:spcPct val="150000"/>
              </a:lnSpc>
            </a:pPr>
            <a:r>
              <a:rPr lang="vi-VN" dirty="0"/>
              <a:t>Trong cấu hình ghép nối tối thiểu cho RS-422 cần một đôi dây dùng truyền dẫn tín hiệu (A và B). Trong cấu hình này chỉ có thể dùng phương pháp truyền một chiều (simplex) hoặc hai chiều gián đoạn (half-duplex)</a:t>
            </a:r>
            <a:r>
              <a:rPr lang="en-US" dirty="0"/>
              <a:t> t</a:t>
            </a:r>
            <a:r>
              <a:rPr lang="vi-VN" dirty="0"/>
              <a:t>ức trong một thời điểm chỉ có một tín hiệu duy nhất được truyền đi.</a:t>
            </a:r>
            <a:endParaRPr lang="en-US" dirty="0"/>
          </a:p>
          <a:p>
            <a:pPr algn="just">
              <a:lnSpc>
                <a:spcPct val="150000"/>
              </a:lnSpc>
            </a:pPr>
            <a:r>
              <a:rPr lang="vi-VN" dirty="0"/>
              <a:t> Để thực hiện truyền hai chiều toàn phần (full-duplex) ta cần hai đôi dây. RS-422 có khả năng ghép nối điểm-điểm, hoặc điểm-nhiều điểm trong một mạng đơn giản - cụ thể là duy nhất một trạm được phát và 10 trạm có thể nhận tín hiệu. </a:t>
            </a:r>
            <a:endParaRPr lang="en-US" dirty="0"/>
          </a:p>
          <a:p>
            <a:pPr algn="just">
              <a:lnSpc>
                <a:spcPct val="150000"/>
              </a:lnSpc>
            </a:pPr>
            <a:r>
              <a:rPr lang="vi-VN" dirty="0"/>
              <a:t>Tuy vậy, trong thực tế RS-422 thường chi được dùng để ghép nối điểm-điểm với mục đích thay thế RS-232 cho khoảng cách truyền thông lớn và tốc độ cao hơn. </a:t>
            </a:r>
            <a:endParaRPr lang="en-US" dirty="0"/>
          </a:p>
          <a:p>
            <a:pPr algn="just">
              <a:lnSpc>
                <a:spcPct val="150000"/>
              </a:lnSpc>
            </a:pPr>
            <a:r>
              <a:rPr lang="vi-VN" dirty="0"/>
              <a:t>Trong cả hai trường hợp sử dụng cấu hình hai dây hay bốn dây, việc sử dụng thêm một dây đất (C) đóng một vai trò khác rất quan trọng, tuy không giúp gì cho việc xác định giá trị logic tương ứng với mức tín hiệu. Trên một khoảng cách vài trăm đến hàng ngàn mét, mức điện áp đất có thể rất khác nhau.</a:t>
            </a:r>
            <a:endParaRPr lang="en-US" dirty="0"/>
          </a:p>
        </p:txBody>
      </p:sp>
      <p:sp>
        <p:nvSpPr>
          <p:cNvPr id="3" name="Rectangle 1">
            <a:extLst>
              <a:ext uri="{FF2B5EF4-FFF2-40B4-BE49-F238E27FC236}">
                <a16:creationId xmlns:a16="http://schemas.microsoft.com/office/drawing/2014/main" id="{AEC52BB7-3B99-864F-9915-0976D01D4535}"/>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24318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0EECEEEE-285C-F580-FCE0-A900DD8F992F}"/>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72BFF091-8940-9502-0F52-B4857A09EC54}"/>
              </a:ext>
            </a:extLst>
          </p:cNvPr>
          <p:cNvSpPr/>
          <p:nvPr/>
        </p:nvSpPr>
        <p:spPr>
          <a:xfrm>
            <a:off x="918081" y="3076390"/>
            <a:ext cx="8819923" cy="11079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vi-VN" sz="3600" b="1" dirty="0">
                <a:solidFill>
                  <a:schemeClr val="dk1"/>
                </a:solidFill>
              </a:rPr>
              <a:t>Cơ sở kỹ thuật giao tiếp dựa trên Modbus 485</a:t>
            </a:r>
          </a:p>
        </p:txBody>
      </p:sp>
      <p:sp>
        <p:nvSpPr>
          <p:cNvPr id="177" name="Google Shape;177;p4">
            <a:extLst>
              <a:ext uri="{FF2B5EF4-FFF2-40B4-BE49-F238E27FC236}">
                <a16:creationId xmlns:a16="http://schemas.microsoft.com/office/drawing/2014/main" id="{2A2CC11D-F9EE-FFBC-FCCB-3B3E4A34FD93}"/>
              </a:ext>
            </a:extLst>
          </p:cNvPr>
          <p:cNvSpPr/>
          <p:nvPr/>
        </p:nvSpPr>
        <p:spPr>
          <a:xfrm>
            <a:off x="918081" y="2768613"/>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2. </a:t>
            </a:r>
            <a:endParaRPr sz="5400" b="1" dirty="0">
              <a:solidFill>
                <a:srgbClr val="7F7F7F"/>
              </a:solidFill>
              <a:latin typeface="Arial"/>
              <a:ea typeface="Arial"/>
              <a:cs typeface="Arial"/>
              <a:sym typeface="Arial"/>
            </a:endParaRPr>
          </a:p>
        </p:txBody>
      </p:sp>
    </p:spTree>
    <p:extLst>
      <p:ext uri="{BB962C8B-B14F-4D97-AF65-F5344CB8AC3E}">
        <p14:creationId xmlns:p14="http://schemas.microsoft.com/office/powerpoint/2010/main" val="27807900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B939CC8-7AED-13C0-5207-44ADFC308051}"/>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DD33BDB8-3AC0-A130-3791-55197D003E2F}"/>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B5E0E929-7A1A-C528-7068-B9F0CE5AF610}"/>
              </a:ext>
            </a:extLst>
          </p:cNvPr>
          <p:cNvSpPr/>
          <p:nvPr/>
        </p:nvSpPr>
        <p:spPr>
          <a:xfrm>
            <a:off x="162320" y="829718"/>
            <a:ext cx="9392645" cy="1292662"/>
          </a:xfrm>
          <a:prstGeom prst="rect">
            <a:avLst/>
          </a:prstGeom>
          <a:noFill/>
          <a:ln>
            <a:noFill/>
          </a:ln>
        </p:spPr>
        <p:txBody>
          <a:bodyPr spcFirstLastPara="1" wrap="square" lIns="0" tIns="0" rIns="0" bIns="0" anchor="t" anchorCtr="0">
            <a:spAutoFit/>
          </a:bodyPr>
          <a:lstStyle/>
          <a:p>
            <a:pPr algn="just">
              <a:lnSpc>
                <a:spcPct val="150000"/>
              </a:lnSpc>
            </a:pPr>
            <a:r>
              <a:rPr lang="vi-VN" b="1" dirty="0"/>
              <a:t>Đặc tính điện học </a:t>
            </a:r>
            <a:endParaRPr lang="en-US" b="1" dirty="0"/>
          </a:p>
          <a:p>
            <a:pPr algn="just">
              <a:lnSpc>
                <a:spcPct val="150000"/>
              </a:lnSpc>
            </a:pPr>
            <a:r>
              <a:rPr lang="vi-VN" dirty="0"/>
              <a:t>Về các đặc tính điện học, RS-485 và RS-422 giống nhau về cơ bản. RS485 cũng sử dụng tín hiệu điện áp chênh lệch đối xứng giữa hai dây dẫn A và B. Ngưỡng giới hạn qui định cho VCM đối với RS-485 được nới rộng ra khoảng -7V đến 12V, cũng như trở kháng đầu vào cho phép lớn gấp ba lần so với RS-422..</a:t>
            </a:r>
            <a:endParaRPr lang="en-US" dirty="0"/>
          </a:p>
        </p:txBody>
      </p:sp>
      <p:sp>
        <p:nvSpPr>
          <p:cNvPr id="3" name="Rectangle 1">
            <a:extLst>
              <a:ext uri="{FF2B5EF4-FFF2-40B4-BE49-F238E27FC236}">
                <a16:creationId xmlns:a16="http://schemas.microsoft.com/office/drawing/2014/main" id="{646673B2-62CD-5B5F-3C90-CE6A9781E543}"/>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80BFDD90-2898-BC15-14F4-6C4982369E14}"/>
              </a:ext>
            </a:extLst>
          </p:cNvPr>
          <p:cNvPicPr>
            <a:picLocks noChangeAspect="1"/>
          </p:cNvPicPr>
          <p:nvPr/>
        </p:nvPicPr>
        <p:blipFill>
          <a:blip r:embed="rId3"/>
          <a:stretch>
            <a:fillRect/>
          </a:stretch>
        </p:blipFill>
        <p:spPr>
          <a:xfrm>
            <a:off x="1143892" y="2247472"/>
            <a:ext cx="7429500" cy="3657600"/>
          </a:xfrm>
          <a:prstGeom prst="rect">
            <a:avLst/>
          </a:prstGeom>
        </p:spPr>
      </p:pic>
    </p:spTree>
    <p:extLst>
      <p:ext uri="{BB962C8B-B14F-4D97-AF65-F5344CB8AC3E}">
        <p14:creationId xmlns:p14="http://schemas.microsoft.com/office/powerpoint/2010/main" val="21378888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3B396AE-BF8D-48BB-7F7F-93505BB4A66F}"/>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BD3D6220-D464-2480-ED8E-F63B3C79EDD9}"/>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62485AB4-FBBE-23A9-26B7-7569647E7548}"/>
              </a:ext>
            </a:extLst>
          </p:cNvPr>
          <p:cNvSpPr/>
          <p:nvPr/>
        </p:nvSpPr>
        <p:spPr>
          <a:xfrm>
            <a:off x="162320" y="829718"/>
            <a:ext cx="9392645" cy="3554819"/>
          </a:xfrm>
          <a:prstGeom prst="rect">
            <a:avLst/>
          </a:prstGeom>
          <a:noFill/>
          <a:ln>
            <a:noFill/>
          </a:ln>
        </p:spPr>
        <p:txBody>
          <a:bodyPr spcFirstLastPara="1" wrap="square" lIns="0" tIns="0" rIns="0" bIns="0" anchor="t" anchorCtr="0">
            <a:spAutoFit/>
          </a:bodyPr>
          <a:lstStyle/>
          <a:p>
            <a:pPr algn="just">
              <a:lnSpc>
                <a:spcPct val="150000"/>
              </a:lnSpc>
            </a:pPr>
            <a:r>
              <a:rPr lang="vi-VN" b="1" dirty="0"/>
              <a:t>Đặc tính điện học </a:t>
            </a:r>
            <a:endParaRPr lang="en-US" b="1" dirty="0"/>
          </a:p>
          <a:p>
            <a:pPr algn="just">
              <a:lnSpc>
                <a:spcPct val="150000"/>
              </a:lnSpc>
            </a:pPr>
            <a:r>
              <a:rPr lang="vi-VN" dirty="0"/>
              <a:t>Đặc tính khác nhau cơ bản của RS-485 so với RS-422 là khả năng ghép nối nhiều điểm, vì thế được dùng phổ biến trong các hệ thống bus trường. Cụ thể, 32 trạm có thể tham gia ghép nối, được định địa chỉ và giao tiếp đồng thời trong một đoạn RS-485 mà không cần bộ lặp. </a:t>
            </a:r>
            <a:endParaRPr lang="en-US" dirty="0"/>
          </a:p>
          <a:p>
            <a:pPr algn="just">
              <a:lnSpc>
                <a:spcPct val="150000"/>
              </a:lnSpc>
            </a:pPr>
            <a:r>
              <a:rPr lang="vi-VN" dirty="0"/>
              <a:t>Để đạt được điều này, trong một thời điểm chỉ một trạm được phép kiểm soát đường dẫn và phát tín hiệu, vì thế một bộ kích thích đều phải đưa về chế độ trở kháng cao mỗi khi rỗi, tạo điều kiện cho các bộ kích thích ở các trạm khác tham gia. Chế độ này được gọi là trị-state. Một số vi mạch RS-485 tự động xử lý tình huống này, trong nhiều trường hợp khác việc đó thuộc về trách nhiệm của phần mềm điều khiển truyền thông. Trong mạch của bộ kích thích RS-485 có một tín hiệu vào "Enable" được dùng cho mục đích chuyển bộ kích thích về trạng thái phát tín hiệu hoặc tri-state.</a:t>
            </a:r>
            <a:endParaRPr lang="en-US" dirty="0"/>
          </a:p>
          <a:p>
            <a:pPr algn="just">
              <a:lnSpc>
                <a:spcPct val="150000"/>
              </a:lnSpc>
            </a:pPr>
            <a:r>
              <a:rPr lang="vi-VN" dirty="0"/>
              <a:t>Mặc dù phạm vi làm việc tối đa là từ -6V đến 6V (trong trường hợp hở mạch), trạng thái logic của tín hiệu chỉ được định nghĩa trong khoảng từ ±1,5V đến ±5V đối với đầu ra (bên phát) và từ ±0,2V đến ±5V đối với đầu vào (bên thu)</a:t>
            </a:r>
            <a:endParaRPr lang="en-US" dirty="0"/>
          </a:p>
        </p:txBody>
      </p:sp>
      <p:sp>
        <p:nvSpPr>
          <p:cNvPr id="3" name="Rectangle 1">
            <a:extLst>
              <a:ext uri="{FF2B5EF4-FFF2-40B4-BE49-F238E27FC236}">
                <a16:creationId xmlns:a16="http://schemas.microsoft.com/office/drawing/2014/main" id="{9B6F14B7-2533-D9AC-8D16-EE90DD67212A}"/>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01C374F9-3D61-5076-27A8-93120B0BDC59}"/>
              </a:ext>
            </a:extLst>
          </p:cNvPr>
          <p:cNvPicPr>
            <a:picLocks noChangeAspect="1"/>
          </p:cNvPicPr>
          <p:nvPr/>
        </p:nvPicPr>
        <p:blipFill>
          <a:blip r:embed="rId3"/>
          <a:stretch>
            <a:fillRect/>
          </a:stretch>
        </p:blipFill>
        <p:spPr>
          <a:xfrm>
            <a:off x="2321228" y="4384537"/>
            <a:ext cx="5148083" cy="2101707"/>
          </a:xfrm>
          <a:prstGeom prst="rect">
            <a:avLst/>
          </a:prstGeom>
        </p:spPr>
      </p:pic>
    </p:spTree>
    <p:extLst>
      <p:ext uri="{BB962C8B-B14F-4D97-AF65-F5344CB8AC3E}">
        <p14:creationId xmlns:p14="http://schemas.microsoft.com/office/powerpoint/2010/main" val="40560734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7C6860F8-28A1-07CA-0AEA-3D054363FAFD}"/>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ACFDE44D-CC44-4F12-2F3A-9F43FA23EFE1}"/>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4020EF13-0F1C-6BAB-B120-2287F806C27B}"/>
              </a:ext>
            </a:extLst>
          </p:cNvPr>
          <p:cNvSpPr/>
          <p:nvPr/>
        </p:nvSpPr>
        <p:spPr>
          <a:xfrm>
            <a:off x="198946" y="696053"/>
            <a:ext cx="9392645" cy="4201150"/>
          </a:xfrm>
          <a:prstGeom prst="rect">
            <a:avLst/>
          </a:prstGeom>
          <a:noFill/>
          <a:ln>
            <a:noFill/>
          </a:ln>
        </p:spPr>
        <p:txBody>
          <a:bodyPr spcFirstLastPara="1" wrap="square" lIns="0" tIns="0" rIns="0" bIns="0" anchor="t" anchorCtr="0">
            <a:spAutoFit/>
          </a:bodyPr>
          <a:lstStyle/>
          <a:p>
            <a:pPr algn="just">
              <a:lnSpc>
                <a:spcPct val="150000"/>
              </a:lnSpc>
            </a:pPr>
            <a:r>
              <a:rPr lang="vi-VN" b="1" dirty="0"/>
              <a:t>Số trạm tham gia </a:t>
            </a:r>
            <a:endParaRPr lang="en-US" b="1" dirty="0"/>
          </a:p>
          <a:p>
            <a:pPr algn="just">
              <a:lnSpc>
                <a:spcPct val="150000"/>
              </a:lnSpc>
            </a:pPr>
            <a:r>
              <a:rPr lang="vi-VN" dirty="0"/>
              <a:t>RS-485 cho phép nối mạng 32 tải đơn vị (unit load, UL), ứng với 32 bộ thu phát hoặc nhiều hơn, tùy theo cách chọn tải cho mỗi thiết bị thành viên.. Thông thường, mỗi bộ thu phát được thiết kế tương đương với một tải đơn vị. Gần đây cũng có những cố gắng giảm tải xuống còn 1/2UL hoặc 1/4UL, tức là tăng trở kháng đầu vào lên hai hoặc bốn lần, với mục đích tăng số trạm lên 64 hoặc 128. </a:t>
            </a:r>
            <a:endParaRPr lang="en-US" dirty="0"/>
          </a:p>
          <a:p>
            <a:pPr algn="just">
              <a:lnSpc>
                <a:spcPct val="150000"/>
              </a:lnSpc>
            </a:pPr>
            <a:r>
              <a:rPr lang="en-US" dirty="0"/>
              <a:t>T</a:t>
            </a:r>
            <a:r>
              <a:rPr lang="vi-VN" dirty="0"/>
              <a:t>uy nhiên, tăng số trạm theo cách này sẽ gắn với việc phải giảm tốc độ truyền thông, vì các trạm có trở kháng lớn sẽ hoạt động chậm hơn. </a:t>
            </a:r>
            <a:endParaRPr lang="en-US" dirty="0"/>
          </a:p>
          <a:p>
            <a:pPr algn="just">
              <a:lnSpc>
                <a:spcPct val="150000"/>
              </a:lnSpc>
            </a:pPr>
            <a:r>
              <a:rPr lang="vi-VN" dirty="0"/>
              <a:t>Giới hạn 32 tải đơn vị xuất phát từ đặc tính kỹ thuật của hệ thống truyền thông nhiều điểm. Các tải được mắc song song và vì thế việc tăng tải sẽ làm suy giảm tín hiệu vượt quá mức cho phép. Theo qui định chuẩn, một bộ kích thích tín hiệu phải đảm bảo dòng tổng cộng 60mA vừa đủ để cung cấp cho: </a:t>
            </a:r>
            <a:endParaRPr lang="en-US" dirty="0"/>
          </a:p>
          <a:p>
            <a:pPr marL="285750" indent="-285750" algn="just">
              <a:lnSpc>
                <a:spcPct val="150000"/>
              </a:lnSpc>
              <a:buFont typeface="Arial" panose="020B0604020202020204" pitchFamily="34" charset="0"/>
              <a:buChar char="•"/>
            </a:pPr>
            <a:r>
              <a:rPr lang="vi-VN" dirty="0"/>
              <a:t>Hai trở đầu cuối mắc song song tương ứng tải 602 (1202 tại mỗi đầu) với điện áp tối thiểu 1,5V, tạo dòng tương đương với 25mA</a:t>
            </a:r>
            <a:endParaRPr lang="en-US" dirty="0"/>
          </a:p>
          <a:p>
            <a:pPr marL="285750" indent="-285750" algn="just">
              <a:lnSpc>
                <a:spcPct val="150000"/>
              </a:lnSpc>
              <a:buFont typeface="Arial" panose="020B0604020202020204" pitchFamily="34" charset="0"/>
              <a:buChar char="•"/>
            </a:pPr>
            <a:r>
              <a:rPr lang="vi-VN" dirty="0"/>
              <a:t> 32 tải đơn vị mắc song song với dòng 1mA qua mỗi tải (trường hợp xấu nhất), tạo dòng tương đương với 32mA.</a:t>
            </a:r>
            <a:endParaRPr lang="en-US" dirty="0"/>
          </a:p>
        </p:txBody>
      </p:sp>
      <p:sp>
        <p:nvSpPr>
          <p:cNvPr id="3" name="Rectangle 1">
            <a:extLst>
              <a:ext uri="{FF2B5EF4-FFF2-40B4-BE49-F238E27FC236}">
                <a16:creationId xmlns:a16="http://schemas.microsoft.com/office/drawing/2014/main" id="{C30EABAF-421D-1A97-8840-D4A866722D2F}"/>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360679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982CC40-4FF2-7E74-DC1E-49673228B685}"/>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9C67C96-C84C-02D3-D4AF-C59E37590FF4}"/>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2B679588-2954-4A98-D314-863CF1EF5409}"/>
              </a:ext>
            </a:extLst>
          </p:cNvPr>
          <p:cNvSpPr/>
          <p:nvPr/>
        </p:nvSpPr>
        <p:spPr>
          <a:xfrm>
            <a:off x="198946" y="696053"/>
            <a:ext cx="9392645" cy="2908489"/>
          </a:xfrm>
          <a:prstGeom prst="rect">
            <a:avLst/>
          </a:prstGeom>
          <a:noFill/>
          <a:ln>
            <a:noFill/>
          </a:ln>
        </p:spPr>
        <p:txBody>
          <a:bodyPr spcFirstLastPara="1" wrap="square" lIns="0" tIns="0" rIns="0" bIns="0" anchor="t" anchorCtr="0">
            <a:spAutoFit/>
          </a:bodyPr>
          <a:lstStyle/>
          <a:p>
            <a:pPr algn="just">
              <a:lnSpc>
                <a:spcPct val="150000"/>
              </a:lnSpc>
            </a:pPr>
            <a:r>
              <a:rPr lang="vi-VN" b="1" dirty="0"/>
              <a:t>Tốc độ truyền tải và chiều dài dây dẫn </a:t>
            </a:r>
            <a:endParaRPr lang="en-US" b="1" dirty="0"/>
          </a:p>
          <a:p>
            <a:pPr algn="just">
              <a:lnSpc>
                <a:spcPct val="150000"/>
              </a:lnSpc>
            </a:pPr>
            <a:r>
              <a:rPr lang="vi-VN" dirty="0"/>
              <a:t>Cũng như RS-422, RS-485 cho phép khoảng cách tối đa giữa trạm đầu và trạm cuối trong một đoạn mạng là 1200m, không phụ thuộc vào số trạm tham gia. Tốc độ truyền dẫn tối đa có thể lên tới 10Mbit/s, một số hệ thống gần đây có khả năng làm việc với tốc độ 12Mbit/s. Tuy nhiên có sự ràng buộc giữa tốc độ truyền dẫn tối đa và độ dài dây dẫn cho phép, tức là một mạng dài 1200m không thể làm việc với tốc độ 10MBd. Quan hệ giữa chúng phụ thuộc nhiều vào chất lượng cáp dẫn được dùng cũng như phụ thuộc vào việc đánh giá chất lượng tín hiệu.</a:t>
            </a:r>
            <a:endParaRPr lang="en-US" dirty="0"/>
          </a:p>
          <a:p>
            <a:pPr algn="just">
              <a:lnSpc>
                <a:spcPct val="150000"/>
              </a:lnSpc>
            </a:pPr>
            <a:r>
              <a:rPr lang="vi-VN" dirty="0"/>
              <a:t>Tốc độ truyền tối đa cũng phụ thuộc vào chất lượng cáp mạng, cụ thể là đôi dây xoắn kiểu STP có khả năng chống nhiễu tốt hơn loại UTP và vì thế có thể truyền với tốc độ cao hơn. Có thể sử dụng các bộ lặp để tăng số trạm trong một mạng, cũng như chiều dài dây dẫn lên nhiều lần, đồng thời đảm bảo được chất lượng tín hiệu. </a:t>
            </a:r>
            <a:endParaRPr lang="en-US" dirty="0"/>
          </a:p>
        </p:txBody>
      </p:sp>
      <p:sp>
        <p:nvSpPr>
          <p:cNvPr id="3" name="Rectangle 1">
            <a:extLst>
              <a:ext uri="{FF2B5EF4-FFF2-40B4-BE49-F238E27FC236}">
                <a16:creationId xmlns:a16="http://schemas.microsoft.com/office/drawing/2014/main" id="{7BD22663-C997-C661-7D70-4F6FCCCBF373}"/>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07066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AC2FC12-FB62-98B3-6D34-A8131F990676}"/>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E456E858-6457-7E7E-1FC0-1572C430E431}"/>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B05CFB97-795A-B3C0-ECD2-DF767866BF43}"/>
              </a:ext>
            </a:extLst>
          </p:cNvPr>
          <p:cNvSpPr/>
          <p:nvPr/>
        </p:nvSpPr>
        <p:spPr>
          <a:xfrm>
            <a:off x="198946" y="696053"/>
            <a:ext cx="9392645" cy="2585323"/>
          </a:xfrm>
          <a:prstGeom prst="rect">
            <a:avLst/>
          </a:prstGeom>
          <a:noFill/>
          <a:ln>
            <a:noFill/>
          </a:ln>
        </p:spPr>
        <p:txBody>
          <a:bodyPr spcFirstLastPara="1" wrap="square" lIns="0" tIns="0" rIns="0" bIns="0" anchor="t" anchorCtr="0">
            <a:spAutoFit/>
          </a:bodyPr>
          <a:lstStyle/>
          <a:p>
            <a:pPr algn="just">
              <a:lnSpc>
                <a:spcPct val="150000"/>
              </a:lnSpc>
            </a:pPr>
            <a:r>
              <a:rPr lang="vi-VN" b="1" dirty="0"/>
              <a:t>Cấu hình mạng </a:t>
            </a:r>
            <a:endParaRPr lang="en-US" b="1" dirty="0"/>
          </a:p>
          <a:p>
            <a:pPr algn="just">
              <a:lnSpc>
                <a:spcPct val="150000"/>
              </a:lnSpc>
            </a:pPr>
            <a:r>
              <a:rPr lang="vi-VN" dirty="0"/>
              <a:t>RS-485 là chuẩn duy nhất do EIA đưa ra mà có khả năng truyền thông đa điểm thực sự chỉ dùng một đường dẫn chung duy nhất, được gọi là bus. Chính vì vậy mà nó được dùng làm chuẩn cho lớp vật lý ở đa số các hệ thống bus hiện thời. Cấu hình phổ biến nhất là sử dụng hai dây dẫn cho việc truyền tín hiệu. Trong trường hợp này, hệ thống chỉ có thể làm việc với chế độ hai chiều gián đoạn (half-duplex) và các trạm có thể nhận quyền bình đẳng trong việc truy nhập đường dẫn.</a:t>
            </a:r>
            <a:endParaRPr lang="en-US" dirty="0"/>
          </a:p>
          <a:p>
            <a:pPr algn="just">
              <a:lnSpc>
                <a:spcPct val="150000"/>
              </a:lnSpc>
            </a:pPr>
            <a:r>
              <a:rPr lang="en-US" dirty="0"/>
              <a:t>Đ</a:t>
            </a:r>
            <a:r>
              <a:rPr lang="vi-VN" dirty="0"/>
              <a:t>ường dẫn được kết thúc bằng hai trở tại hai đầu chứ không được phép ở giữa đường dây. Vì mục đích đơn giản, dây đất không được vẽ ở đây, tuy nhiên trong thực tế việc nối dây đất là rất cần thiết.</a:t>
            </a:r>
            <a:endParaRPr lang="en-US" dirty="0"/>
          </a:p>
        </p:txBody>
      </p:sp>
      <p:sp>
        <p:nvSpPr>
          <p:cNvPr id="3" name="Rectangle 1">
            <a:extLst>
              <a:ext uri="{FF2B5EF4-FFF2-40B4-BE49-F238E27FC236}">
                <a16:creationId xmlns:a16="http://schemas.microsoft.com/office/drawing/2014/main" id="{3733E19A-C5DA-829A-DE86-FE2177CEF4B6}"/>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C887336E-E85E-67AD-EEEA-A657397A06F0}"/>
              </a:ext>
            </a:extLst>
          </p:cNvPr>
          <p:cNvPicPr>
            <a:picLocks noChangeAspect="1"/>
          </p:cNvPicPr>
          <p:nvPr/>
        </p:nvPicPr>
        <p:blipFill>
          <a:blip r:embed="rId3"/>
          <a:stretch>
            <a:fillRect/>
          </a:stretch>
        </p:blipFill>
        <p:spPr>
          <a:xfrm>
            <a:off x="1784349" y="3531100"/>
            <a:ext cx="6334125" cy="2857500"/>
          </a:xfrm>
          <a:prstGeom prst="rect">
            <a:avLst/>
          </a:prstGeom>
        </p:spPr>
      </p:pic>
    </p:spTree>
    <p:extLst>
      <p:ext uri="{BB962C8B-B14F-4D97-AF65-F5344CB8AC3E}">
        <p14:creationId xmlns:p14="http://schemas.microsoft.com/office/powerpoint/2010/main" val="3402722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0860DFD-DB74-24FE-868A-F0C98DA43364}"/>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1374092E-64BD-22C2-5B5A-B040231FBCFF}"/>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84FCF58E-3E12-FF6C-4845-79DE6190B964}"/>
              </a:ext>
            </a:extLst>
          </p:cNvPr>
          <p:cNvSpPr/>
          <p:nvPr/>
        </p:nvSpPr>
        <p:spPr>
          <a:xfrm>
            <a:off x="198946" y="696053"/>
            <a:ext cx="9392645" cy="2262158"/>
          </a:xfrm>
          <a:prstGeom prst="rect">
            <a:avLst/>
          </a:prstGeom>
          <a:noFill/>
          <a:ln>
            <a:noFill/>
          </a:ln>
        </p:spPr>
        <p:txBody>
          <a:bodyPr spcFirstLastPara="1" wrap="square" lIns="0" tIns="0" rIns="0" bIns="0" anchor="t" anchorCtr="0">
            <a:spAutoFit/>
          </a:bodyPr>
          <a:lstStyle/>
          <a:p>
            <a:pPr algn="just">
              <a:lnSpc>
                <a:spcPct val="150000"/>
              </a:lnSpc>
            </a:pPr>
            <a:r>
              <a:rPr lang="vi-VN" b="1" dirty="0"/>
              <a:t>Tốc độ truyền tải và chiều dài dây dẫn </a:t>
            </a:r>
            <a:endParaRPr lang="en-US" b="1" dirty="0"/>
          </a:p>
          <a:p>
            <a:pPr algn="just">
              <a:lnSpc>
                <a:spcPct val="150000"/>
              </a:lnSpc>
            </a:pPr>
            <a:r>
              <a:rPr lang="vi-VN" dirty="0"/>
              <a:t>Một mạng RS-485 cũng có thể được nối theo kiểu 4 dây, như Hình 2.44 mô tả. </a:t>
            </a:r>
            <a:endParaRPr lang="en-US" dirty="0"/>
          </a:p>
          <a:p>
            <a:pPr algn="just">
              <a:lnSpc>
                <a:spcPct val="150000"/>
              </a:lnSpc>
            </a:pPr>
            <a:r>
              <a:rPr lang="vi-VN" dirty="0"/>
              <a:t>Một trạm chủ (master) đóng vai trò điều khiển toàn bộ giao tiếp giữa các trạm kể cả việc truy nhập đường dẫn. </a:t>
            </a:r>
            <a:endParaRPr lang="en-US" dirty="0"/>
          </a:p>
          <a:p>
            <a:pPr algn="just">
              <a:lnSpc>
                <a:spcPct val="150000"/>
              </a:lnSpc>
            </a:pPr>
            <a:r>
              <a:rPr lang="vi-VN" dirty="0"/>
              <a:t>Các trạm tớ (slave) không thể liên hệ trực tiếp mà đều phải qua trạm chủ. Trạm chủ phát tín hiệu yêu cầu và các trạm tớ có trách nhiệm đáp ứng. Vấn đề kiểm soát thâm nhập đường dẫn ở đây chính là việc khống chế các trạm tớ không trả lời cùng một lúc. Với cấu hình này, việc truyền thống có thể thực hiện chế độ hai chiều toàn phần (full-duplex), phù hợp với các ứng dụng đòi hỏi tốc độ truyền tải thông tin cao, tuy nhiên ở đây phải trả giá cho hai đường dây bổ sung.</a:t>
            </a:r>
            <a:endParaRPr lang="en-US" dirty="0"/>
          </a:p>
        </p:txBody>
      </p:sp>
      <p:sp>
        <p:nvSpPr>
          <p:cNvPr id="3" name="Rectangle 1">
            <a:extLst>
              <a:ext uri="{FF2B5EF4-FFF2-40B4-BE49-F238E27FC236}">
                <a16:creationId xmlns:a16="http://schemas.microsoft.com/office/drawing/2014/main" id="{38D9D031-E9DE-2508-DD2F-FF6B0F87BBD5}"/>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FB191354-6BC5-5286-B08E-8CFD14AF0A8A}"/>
              </a:ext>
            </a:extLst>
          </p:cNvPr>
          <p:cNvPicPr>
            <a:picLocks noChangeAspect="1"/>
          </p:cNvPicPr>
          <p:nvPr/>
        </p:nvPicPr>
        <p:blipFill>
          <a:blip r:embed="rId3"/>
          <a:stretch>
            <a:fillRect/>
          </a:stretch>
        </p:blipFill>
        <p:spPr>
          <a:xfrm>
            <a:off x="2178121" y="3054129"/>
            <a:ext cx="5776341" cy="3306195"/>
          </a:xfrm>
          <a:prstGeom prst="rect">
            <a:avLst/>
          </a:prstGeom>
        </p:spPr>
      </p:pic>
    </p:spTree>
    <p:extLst>
      <p:ext uri="{BB962C8B-B14F-4D97-AF65-F5344CB8AC3E}">
        <p14:creationId xmlns:p14="http://schemas.microsoft.com/office/powerpoint/2010/main" val="16793451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685FDEF-32D2-CFA2-7462-3D38DD71EF7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4E8CC20B-D8F7-69F0-397F-BA2D45C5EA0F}"/>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62D6F0F6-8B17-BE93-73E5-19E5CD6C6F4B}"/>
              </a:ext>
            </a:extLst>
          </p:cNvPr>
          <p:cNvSpPr/>
          <p:nvPr/>
        </p:nvSpPr>
        <p:spPr>
          <a:xfrm>
            <a:off x="198946" y="696053"/>
            <a:ext cx="9392645" cy="3231654"/>
          </a:xfrm>
          <a:prstGeom prst="rect">
            <a:avLst/>
          </a:prstGeom>
          <a:noFill/>
          <a:ln>
            <a:noFill/>
          </a:ln>
        </p:spPr>
        <p:txBody>
          <a:bodyPr spcFirstLastPara="1" wrap="square" lIns="0" tIns="0" rIns="0" bIns="0" anchor="t" anchorCtr="0">
            <a:spAutoFit/>
          </a:bodyPr>
          <a:lstStyle/>
          <a:p>
            <a:pPr algn="just">
              <a:lnSpc>
                <a:spcPct val="150000"/>
              </a:lnSpc>
            </a:pPr>
            <a:r>
              <a:rPr lang="vi-VN" b="1" dirty="0"/>
              <a:t>Tốc độ truyền tải và chiều dài dây dẫn </a:t>
            </a:r>
            <a:endParaRPr lang="en-US" b="1" dirty="0"/>
          </a:p>
          <a:p>
            <a:pPr algn="just">
              <a:lnSpc>
                <a:spcPct val="150000"/>
              </a:lnSpc>
            </a:pPr>
            <a:r>
              <a:rPr lang="vi-VN" dirty="0"/>
              <a:t>Trong trường hợp cáp truyền ngắn và tốc độ truyền thấp, ta có thể không cần dùng trở đầu cuối. Tín hiệu phản xạ sẽ suy giảm và triệt tiêu sau vài lần qua lại. Tốc độ truyền dẫn thấp có nghĩa là chu kỳ nhịp bus dài. Nếu tín hiệu phản xạ triệt tiêu hoàn toàn trước thời điểm trích mẫu ở nhịp tiếp thep (thường vào glữa chu kỳ) thì tín hiệu mang thông tin së không bị ảnh hưởng.</a:t>
            </a:r>
            <a:endParaRPr lang="en-US" dirty="0"/>
          </a:p>
          <a:p>
            <a:pPr algn="just">
              <a:lnSpc>
                <a:spcPct val="150000"/>
              </a:lnSpc>
            </a:pPr>
            <a:r>
              <a:rPr lang="vi-VN" dirty="0"/>
              <a:t>Phương pháp được dùng phổ biến nhất là chỉ dùng một điện trở thuần nối giữa ha</a:t>
            </a:r>
            <a:r>
              <a:rPr lang="en-US" dirty="0" err="1"/>
              <a:t>i</a:t>
            </a:r>
            <a:r>
              <a:rPr lang="vi-VN" dirty="0"/>
              <a:t> dây A và B tại mỗi đầu. Phương pháp này còn được gọi là chặn song song. Điện trở được chọn có giá trị tương đương với trở kháng đặc trưng (trở kháng sóng) của cáp nối. Như vậy sẽ không có tín hiệu phản xạ và chất lượng tín hiệu mang thông tin sẽ được đảm bảo. Nhược điểm của phương pháp này là sự hao tổn nguồn tại hai điện trở.</a:t>
            </a:r>
            <a:endParaRPr lang="en-US" dirty="0"/>
          </a:p>
          <a:p>
            <a:pPr algn="just">
              <a:lnSpc>
                <a:spcPct val="150000"/>
              </a:lnSpc>
            </a:pPr>
            <a:endParaRPr lang="en-US" dirty="0"/>
          </a:p>
        </p:txBody>
      </p:sp>
      <p:sp>
        <p:nvSpPr>
          <p:cNvPr id="3" name="Rectangle 1">
            <a:extLst>
              <a:ext uri="{FF2B5EF4-FFF2-40B4-BE49-F238E27FC236}">
                <a16:creationId xmlns:a16="http://schemas.microsoft.com/office/drawing/2014/main" id="{59401347-A466-E2FB-8FC6-0F3CC632024C}"/>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89671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6F338225-541F-A39F-0FDE-96A378A1E4A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23E4BFE9-28A9-A418-13AB-AC2CF32548A0}"/>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dirty="0">
                <a:solidFill>
                  <a:srgbClr val="0C0C0C"/>
                </a:solidFill>
                <a:latin typeface="Arial"/>
                <a:ea typeface="Arial"/>
                <a:cs typeface="Arial"/>
                <a:sym typeface="Arial"/>
              </a:rPr>
              <a:t>2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315C9B3F-BBF2-2A8C-38C6-24718FF329AA}"/>
              </a:ext>
            </a:extLst>
          </p:cNvPr>
          <p:cNvSpPr/>
          <p:nvPr/>
        </p:nvSpPr>
        <p:spPr>
          <a:xfrm>
            <a:off x="198946" y="696053"/>
            <a:ext cx="9392645" cy="3554819"/>
          </a:xfrm>
          <a:prstGeom prst="rect">
            <a:avLst/>
          </a:prstGeom>
          <a:noFill/>
          <a:ln>
            <a:noFill/>
          </a:ln>
        </p:spPr>
        <p:txBody>
          <a:bodyPr spcFirstLastPara="1" wrap="square" lIns="0" tIns="0" rIns="0" bIns="0" anchor="t" anchorCtr="0">
            <a:spAutoFit/>
          </a:bodyPr>
          <a:lstStyle/>
          <a:p>
            <a:pPr algn="just">
              <a:lnSpc>
                <a:spcPct val="150000"/>
              </a:lnSpc>
            </a:pPr>
            <a:r>
              <a:rPr lang="vi-VN" b="1" dirty="0"/>
              <a:t>Nối đất </a:t>
            </a:r>
            <a:endParaRPr lang="en-US" b="1" dirty="0"/>
          </a:p>
          <a:p>
            <a:pPr algn="just">
              <a:lnSpc>
                <a:spcPct val="150000"/>
              </a:lnSpc>
            </a:pPr>
            <a:r>
              <a:rPr lang="vi-VN" dirty="0"/>
              <a:t>Mặc dù mức tín hiệu được xác định bằng điện áp chênh lệch giữa hai dây dẫn A và B không có liên quan tới đất, hệ thống RS-485 vẫn cần một đường dây nối đất để tạo một đường thoát cho nhiễu chế độ chung và các dòng khác, ví dụ dòng đầu vào bộ thu. </a:t>
            </a:r>
            <a:endParaRPr lang="en-US" dirty="0"/>
          </a:p>
          <a:p>
            <a:pPr algn="just">
              <a:lnSpc>
                <a:spcPct val="150000"/>
              </a:lnSpc>
            </a:pPr>
            <a:r>
              <a:rPr lang="vi-VN" dirty="0"/>
              <a:t>Một sai lầm thường gặp trong thực tế là chỉ dùng hai dây để nối hai trạm.</a:t>
            </a:r>
            <a:endParaRPr lang="en-US" dirty="0"/>
          </a:p>
          <a:p>
            <a:pPr algn="just">
              <a:lnSpc>
                <a:spcPct val="150000"/>
              </a:lnSpc>
            </a:pPr>
            <a:r>
              <a:rPr lang="vi-VN" dirty="0"/>
              <a:t> Trong trường hợp như vậy, dòng chế độ chung sẽ tìm cách quay ngược trở lại nguồn phát, bức xạ nhiễu ra môi trường xung quanh, ảnh hưởng tới tính tương thích điện từ của hệ thống. </a:t>
            </a:r>
            <a:endParaRPr lang="en-US" dirty="0"/>
          </a:p>
          <a:p>
            <a:pPr algn="just">
              <a:lnSpc>
                <a:spcPct val="150000"/>
              </a:lnSpc>
            </a:pPr>
            <a:r>
              <a:rPr lang="vi-VN" dirty="0"/>
              <a:t>Nối đất sẽ có tác dụng tạo một đường thoát trở kháng nhỏ tại một vị </a:t>
            </a:r>
            <a:r>
              <a:rPr lang="en-US" dirty="0" err="1"/>
              <a:t>trí</a:t>
            </a:r>
            <a:r>
              <a:rPr lang="vi-VN" dirty="0"/>
              <a:t> xác định, nhờ vậy giảm thiểu tác hại gây nhiễu. Hơn thế nữa, với cấu hình trở đầu cuối tin cậy, việc nối đất tạo thiên áp sẽ giữ một mức điện áp tối thiểu giữa hai dây A và B trong trường hợp kể cả khi bus </a:t>
            </a:r>
            <a:r>
              <a:rPr lang="en-US" dirty="0" err="1"/>
              <a:t>không</a:t>
            </a:r>
            <a:r>
              <a:rPr lang="en-US" dirty="0"/>
              <a:t> </a:t>
            </a:r>
            <a:r>
              <a:rPr lang="en-US" dirty="0" err="1"/>
              <a:t>truyền</a:t>
            </a:r>
            <a:r>
              <a:rPr lang="en-US" dirty="0"/>
              <a:t> </a:t>
            </a:r>
            <a:r>
              <a:rPr lang="en-US" dirty="0" err="1"/>
              <a:t>tải</a:t>
            </a:r>
            <a:r>
              <a:rPr lang="vi-VN" dirty="0"/>
              <a:t> hoặc có sự có.</a:t>
            </a:r>
            <a:endParaRPr lang="en-US" dirty="0"/>
          </a:p>
          <a:p>
            <a:pPr algn="just">
              <a:lnSpc>
                <a:spcPct val="150000"/>
              </a:lnSpc>
            </a:pPr>
            <a:endParaRPr lang="en-US" dirty="0"/>
          </a:p>
        </p:txBody>
      </p:sp>
      <p:sp>
        <p:nvSpPr>
          <p:cNvPr id="3" name="Rectangle 1">
            <a:extLst>
              <a:ext uri="{FF2B5EF4-FFF2-40B4-BE49-F238E27FC236}">
                <a16:creationId xmlns:a16="http://schemas.microsoft.com/office/drawing/2014/main" id="{DB7D0DD1-EC8F-709C-3C88-FA2DAA6C830F}"/>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87140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BBDE4F9A-06AB-7A61-0BD9-17B86CA000C3}"/>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8E3589EB-F830-AE3F-5853-D35888CE5E3E}"/>
              </a:ext>
            </a:extLst>
          </p:cNvPr>
          <p:cNvSpPr/>
          <p:nvPr/>
        </p:nvSpPr>
        <p:spPr>
          <a:xfrm>
            <a:off x="918081" y="990736"/>
            <a:ext cx="8819923" cy="1107996"/>
          </a:xfrm>
          <a:prstGeom prst="rect">
            <a:avLst/>
          </a:prstGeom>
          <a:noFill/>
          <a:ln>
            <a:noFill/>
          </a:ln>
        </p:spPr>
        <p:txBody>
          <a:bodyPr spcFirstLastPara="1" wrap="square" lIns="0" tIns="0" rIns="0" bIns="0" anchor="t" anchorCtr="0">
            <a:spAutoFit/>
          </a:bodyPr>
          <a:lstStyle/>
          <a:p>
            <a:pPr lvl="0"/>
            <a:r>
              <a:rPr lang="vi-VN" sz="3600" b="1" dirty="0">
                <a:solidFill>
                  <a:schemeClr val="dk1"/>
                </a:solidFill>
              </a:rPr>
              <a:t>Cấu trúc dữ liệu trong giao tiếp Modbus 485</a:t>
            </a:r>
          </a:p>
        </p:txBody>
      </p:sp>
      <p:sp>
        <p:nvSpPr>
          <p:cNvPr id="177" name="Google Shape;177;p4">
            <a:extLst>
              <a:ext uri="{FF2B5EF4-FFF2-40B4-BE49-F238E27FC236}">
                <a16:creationId xmlns:a16="http://schemas.microsoft.com/office/drawing/2014/main" id="{A0ED03A3-7E5E-769D-FE4F-2DEC6563E591}"/>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3.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0A8546E6-4EEB-9956-6589-8BA8A38F09CF}"/>
              </a:ext>
            </a:extLst>
          </p:cNvPr>
          <p:cNvSpPr/>
          <p:nvPr/>
        </p:nvSpPr>
        <p:spPr>
          <a:xfrm>
            <a:off x="1000274" y="2318181"/>
            <a:ext cx="7671115" cy="1661993"/>
          </a:xfrm>
          <a:prstGeom prst="rect">
            <a:avLst/>
          </a:prstGeom>
          <a:noFill/>
          <a:ln>
            <a:noFill/>
          </a:ln>
        </p:spPr>
        <p:txBody>
          <a:bodyPr spcFirstLastPara="1" wrap="square" lIns="0" tIns="0" rIns="0" bIns="0" anchor="t" anchorCtr="0">
            <a:spAutoFit/>
          </a:bodyPr>
          <a:lstStyle/>
          <a:p>
            <a:pPr marL="176213" lvl="0" indent="-176213">
              <a:lnSpc>
                <a:spcPct val="150000"/>
              </a:lnSpc>
              <a:buClr>
                <a:srgbClr val="3F3F3F"/>
              </a:buClr>
              <a:buSzPts val="2160"/>
              <a:buFont typeface="Arial"/>
              <a:buChar char="•"/>
            </a:pPr>
            <a:r>
              <a:rPr lang="en-US" sz="1800" dirty="0">
                <a:solidFill>
                  <a:schemeClr val="tx1"/>
                </a:solidFill>
              </a:rPr>
              <a:t>3.1 Giao </a:t>
            </a:r>
            <a:r>
              <a:rPr lang="en-US" sz="1800" dirty="0" err="1">
                <a:solidFill>
                  <a:schemeClr val="tx1"/>
                </a:solidFill>
              </a:rPr>
              <a:t>thức</a:t>
            </a:r>
            <a:r>
              <a:rPr lang="en-US" sz="1800" dirty="0">
                <a:solidFill>
                  <a:schemeClr val="tx1"/>
                </a:solidFill>
              </a:rPr>
              <a:t> Modbus </a:t>
            </a:r>
            <a:r>
              <a:rPr lang="en-US" sz="1800" dirty="0" err="1">
                <a:solidFill>
                  <a:schemeClr val="tx1"/>
                </a:solidFill>
              </a:rPr>
              <a:t>là</a:t>
            </a:r>
            <a:r>
              <a:rPr lang="en-US" sz="1800" dirty="0">
                <a:solidFill>
                  <a:schemeClr val="tx1"/>
                </a:solidFill>
              </a:rPr>
              <a:t> </a:t>
            </a:r>
            <a:r>
              <a:rPr lang="en-US" sz="1800" dirty="0" err="1">
                <a:solidFill>
                  <a:schemeClr val="tx1"/>
                </a:solidFill>
              </a:rPr>
              <a:t>gì</a:t>
            </a:r>
            <a:endParaRPr lang="en-US" sz="1800" dirty="0">
              <a:solidFill>
                <a:schemeClr val="tx1"/>
              </a:solidFill>
            </a:endParaRPr>
          </a:p>
          <a:p>
            <a:pPr marL="176213" lvl="0" indent="-176213">
              <a:lnSpc>
                <a:spcPct val="150000"/>
              </a:lnSpc>
              <a:buClr>
                <a:srgbClr val="3F3F3F"/>
              </a:buClr>
              <a:buSzPts val="2160"/>
              <a:buFont typeface="Arial"/>
              <a:buChar char="•"/>
            </a:pPr>
            <a:r>
              <a:rPr lang="en-US" sz="1800" dirty="0">
                <a:solidFill>
                  <a:schemeClr val="bg1">
                    <a:lumMod val="75000"/>
                  </a:schemeClr>
                </a:solidFill>
              </a:rPr>
              <a:t>3.2 Các </a:t>
            </a:r>
            <a:r>
              <a:rPr lang="en-US" sz="1800" dirty="0" err="1">
                <a:solidFill>
                  <a:schemeClr val="bg1">
                    <a:lumMod val="75000"/>
                  </a:schemeClr>
                </a:solidFill>
              </a:rPr>
              <a:t>thành</a:t>
            </a:r>
            <a:r>
              <a:rPr lang="en-US" sz="1800" dirty="0">
                <a:solidFill>
                  <a:schemeClr val="bg1">
                    <a:lumMod val="75000"/>
                  </a:schemeClr>
                </a:solidFill>
              </a:rPr>
              <a:t> </a:t>
            </a:r>
            <a:r>
              <a:rPr lang="en-US" sz="1800" dirty="0" err="1">
                <a:solidFill>
                  <a:schemeClr val="bg1">
                    <a:lumMod val="75000"/>
                  </a:schemeClr>
                </a:solidFill>
              </a:rPr>
              <a:t>phần</a:t>
            </a:r>
            <a:r>
              <a:rPr lang="en-US" sz="1800" dirty="0">
                <a:solidFill>
                  <a:schemeClr val="bg1">
                    <a:lumMod val="75000"/>
                  </a:schemeClr>
                </a:solidFill>
              </a:rPr>
              <a:t> </a:t>
            </a:r>
            <a:r>
              <a:rPr lang="en-US" sz="1800" dirty="0" err="1">
                <a:solidFill>
                  <a:schemeClr val="bg1">
                    <a:lumMod val="75000"/>
                  </a:schemeClr>
                </a:solidFill>
              </a:rPr>
              <a:t>giao</a:t>
            </a:r>
            <a:r>
              <a:rPr lang="en-US" sz="1800" dirty="0">
                <a:solidFill>
                  <a:schemeClr val="bg1">
                    <a:lumMod val="75000"/>
                  </a:schemeClr>
                </a:solidFill>
              </a:rPr>
              <a:t> </a:t>
            </a:r>
            <a:r>
              <a:rPr lang="en-US" sz="1800" dirty="0" err="1">
                <a:solidFill>
                  <a:schemeClr val="bg1">
                    <a:lumMod val="75000"/>
                  </a:schemeClr>
                </a:solidFill>
              </a:rPr>
              <a:t>thức</a:t>
            </a:r>
            <a:r>
              <a:rPr lang="en-US" sz="1800" dirty="0">
                <a:solidFill>
                  <a:schemeClr val="bg1">
                    <a:lumMod val="75000"/>
                  </a:schemeClr>
                </a:solidFill>
              </a:rPr>
              <a:t> Modbus</a:t>
            </a:r>
          </a:p>
          <a:p>
            <a:pPr marL="176213" lvl="0" indent="-176213">
              <a:lnSpc>
                <a:spcPct val="150000"/>
              </a:lnSpc>
              <a:buClr>
                <a:srgbClr val="3F3F3F"/>
              </a:buClr>
              <a:buSzPts val="2160"/>
              <a:buFont typeface="Arial"/>
              <a:buChar char="•"/>
            </a:pPr>
            <a:r>
              <a:rPr lang="en-US" sz="1800" dirty="0">
                <a:solidFill>
                  <a:schemeClr val="bg1">
                    <a:lumMod val="75000"/>
                  </a:schemeClr>
                </a:solidFill>
              </a:rPr>
              <a:t>3.3 Các </a:t>
            </a:r>
            <a:r>
              <a:rPr lang="en-US" sz="1800" dirty="0" err="1">
                <a:solidFill>
                  <a:schemeClr val="bg1">
                    <a:lumMod val="75000"/>
                  </a:schemeClr>
                </a:solidFill>
              </a:rPr>
              <a:t>biến</a:t>
            </a:r>
            <a:r>
              <a:rPr lang="en-US" sz="1800" dirty="0">
                <a:solidFill>
                  <a:schemeClr val="bg1">
                    <a:lumMod val="75000"/>
                  </a:schemeClr>
                </a:solidFill>
              </a:rPr>
              <a:t> </a:t>
            </a:r>
            <a:r>
              <a:rPr lang="en-US" sz="1800" dirty="0" err="1">
                <a:solidFill>
                  <a:schemeClr val="bg1">
                    <a:lumMod val="75000"/>
                  </a:schemeClr>
                </a:solidFill>
              </a:rPr>
              <a:t>thể</a:t>
            </a:r>
            <a:r>
              <a:rPr lang="en-US" sz="1800" dirty="0">
                <a:solidFill>
                  <a:schemeClr val="bg1">
                    <a:lumMod val="75000"/>
                  </a:schemeClr>
                </a:solidFill>
              </a:rPr>
              <a:t> Modbus</a:t>
            </a:r>
          </a:p>
          <a:p>
            <a:pPr marL="176213" lvl="0" indent="-176213">
              <a:lnSpc>
                <a:spcPct val="150000"/>
              </a:lnSpc>
              <a:buClr>
                <a:srgbClr val="3F3F3F"/>
              </a:buClr>
              <a:buSzPts val="2160"/>
              <a:buFont typeface="Arial"/>
              <a:buChar char="•"/>
            </a:pPr>
            <a:r>
              <a:rPr lang="en-US" sz="1800" dirty="0">
                <a:solidFill>
                  <a:schemeClr val="bg1">
                    <a:lumMod val="75000"/>
                  </a:schemeClr>
                </a:solidFill>
              </a:rPr>
              <a:t>3.4 </a:t>
            </a:r>
            <a:r>
              <a:rPr lang="en-US" sz="1800" dirty="0" err="1">
                <a:solidFill>
                  <a:schemeClr val="bg1">
                    <a:lumMod val="75000"/>
                  </a:schemeClr>
                </a:solidFill>
              </a:rPr>
              <a:t>Ứng</a:t>
            </a:r>
            <a:r>
              <a:rPr lang="en-US" sz="1800" dirty="0">
                <a:solidFill>
                  <a:schemeClr val="bg1">
                    <a:lumMod val="75000"/>
                  </a:schemeClr>
                </a:solidFill>
              </a:rPr>
              <a:t> </a:t>
            </a:r>
            <a:r>
              <a:rPr lang="en-US" sz="1800" dirty="0" err="1">
                <a:solidFill>
                  <a:schemeClr val="bg1">
                    <a:lumMod val="75000"/>
                  </a:schemeClr>
                </a:solidFill>
              </a:rPr>
              <a:t>dụng</a:t>
            </a:r>
            <a:r>
              <a:rPr lang="en-US" sz="1800" dirty="0">
                <a:solidFill>
                  <a:schemeClr val="bg1">
                    <a:lumMod val="75000"/>
                  </a:schemeClr>
                </a:solidFill>
              </a:rPr>
              <a:t> </a:t>
            </a:r>
            <a:r>
              <a:rPr lang="en-US" sz="1800" dirty="0" err="1">
                <a:solidFill>
                  <a:schemeClr val="bg1">
                    <a:lumMod val="75000"/>
                  </a:schemeClr>
                </a:solidFill>
              </a:rPr>
              <a:t>giao</a:t>
            </a:r>
            <a:r>
              <a:rPr lang="en-US" sz="1800" dirty="0">
                <a:solidFill>
                  <a:schemeClr val="bg1">
                    <a:lumMod val="75000"/>
                  </a:schemeClr>
                </a:solidFill>
              </a:rPr>
              <a:t> </a:t>
            </a:r>
            <a:r>
              <a:rPr lang="en-US" sz="1800" dirty="0" err="1">
                <a:solidFill>
                  <a:schemeClr val="bg1">
                    <a:lumMod val="75000"/>
                  </a:schemeClr>
                </a:solidFill>
              </a:rPr>
              <a:t>thức</a:t>
            </a:r>
            <a:r>
              <a:rPr lang="en-US" sz="1800" dirty="0">
                <a:solidFill>
                  <a:schemeClr val="bg1">
                    <a:lumMod val="75000"/>
                  </a:schemeClr>
                </a:solidFill>
              </a:rPr>
              <a:t> Modbus </a:t>
            </a:r>
            <a:r>
              <a:rPr lang="en-US" sz="1800" dirty="0" err="1">
                <a:solidFill>
                  <a:schemeClr val="bg1">
                    <a:lumMod val="75000"/>
                  </a:schemeClr>
                </a:solidFill>
              </a:rPr>
              <a:t>trong</a:t>
            </a:r>
            <a:r>
              <a:rPr lang="en-US" sz="1800" dirty="0">
                <a:solidFill>
                  <a:schemeClr val="bg1">
                    <a:lumMod val="75000"/>
                  </a:schemeClr>
                </a:solidFill>
              </a:rPr>
              <a:t> </a:t>
            </a:r>
            <a:r>
              <a:rPr lang="en-US" sz="1800" dirty="0" err="1">
                <a:solidFill>
                  <a:schemeClr val="bg1">
                    <a:lumMod val="75000"/>
                  </a:schemeClr>
                </a:solidFill>
              </a:rPr>
              <a:t>công</a:t>
            </a:r>
            <a:r>
              <a:rPr lang="en-US" sz="1800" dirty="0">
                <a:solidFill>
                  <a:schemeClr val="bg1">
                    <a:lumMod val="75000"/>
                  </a:schemeClr>
                </a:solidFill>
              </a:rPr>
              <a:t> </a:t>
            </a:r>
            <a:r>
              <a:rPr lang="en-US" sz="1800" dirty="0" err="1">
                <a:solidFill>
                  <a:schemeClr val="bg1">
                    <a:lumMod val="75000"/>
                  </a:schemeClr>
                </a:solidFill>
              </a:rPr>
              <a:t>nghiệp</a:t>
            </a:r>
            <a:r>
              <a:rPr lang="en-US" sz="1800" dirty="0">
                <a:solidFill>
                  <a:schemeClr val="bg1">
                    <a:lumMod val="75000"/>
                  </a:schemeClr>
                </a:solidFill>
              </a:rPr>
              <a:t> </a:t>
            </a:r>
            <a:r>
              <a:rPr lang="en-US" sz="1800" dirty="0" err="1">
                <a:solidFill>
                  <a:schemeClr val="bg1">
                    <a:lumMod val="75000"/>
                  </a:schemeClr>
                </a:solidFill>
              </a:rPr>
              <a:t>và</a:t>
            </a:r>
            <a:r>
              <a:rPr lang="en-US" sz="1800" dirty="0">
                <a:solidFill>
                  <a:schemeClr val="bg1">
                    <a:lumMod val="75000"/>
                  </a:schemeClr>
                </a:solidFill>
              </a:rPr>
              <a:t> IOT</a:t>
            </a:r>
            <a:endParaRPr sz="1800" dirty="0">
              <a:solidFill>
                <a:schemeClr val="bg1">
                  <a:lumMod val="75000"/>
                </a:schemeClr>
              </a:solidFill>
            </a:endParaRPr>
          </a:p>
        </p:txBody>
      </p:sp>
    </p:spTree>
    <p:extLst>
      <p:ext uri="{BB962C8B-B14F-4D97-AF65-F5344CB8AC3E}">
        <p14:creationId xmlns:p14="http://schemas.microsoft.com/office/powerpoint/2010/main" val="14104474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36B46AF-D307-BDDE-F1C7-B25E12BB88C8}"/>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0CB7C4BA-50BE-18E0-EB90-2C384A3B4C15}"/>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F3AADBD-90A0-4E35-5A76-CEC834D0C7E1}"/>
              </a:ext>
            </a:extLst>
          </p:cNvPr>
          <p:cNvSpPr/>
          <p:nvPr/>
        </p:nvSpPr>
        <p:spPr>
          <a:xfrm>
            <a:off x="198946" y="696053"/>
            <a:ext cx="9392645" cy="5170646"/>
          </a:xfrm>
          <a:prstGeom prst="rect">
            <a:avLst/>
          </a:prstGeom>
          <a:noFill/>
          <a:ln>
            <a:noFill/>
          </a:ln>
        </p:spPr>
        <p:txBody>
          <a:bodyPr spcFirstLastPara="1" wrap="square" lIns="0" tIns="0" rIns="0" bIns="0" anchor="t" anchorCtr="0">
            <a:spAutoFit/>
          </a:bodyPr>
          <a:lstStyle/>
          <a:p>
            <a:pPr>
              <a:lnSpc>
                <a:spcPct val="150000"/>
              </a:lnSpc>
            </a:pPr>
            <a:r>
              <a:rPr lang="vi-VN" b="1" dirty="0"/>
              <a:t>Giới thiệu về Modbus</a:t>
            </a:r>
          </a:p>
          <a:p>
            <a:pPr>
              <a:lnSpc>
                <a:spcPct val="150000"/>
              </a:lnSpc>
            </a:pPr>
            <a:r>
              <a:rPr lang="vi-VN" dirty="0"/>
              <a:t>Modbus là một </a:t>
            </a:r>
            <a:r>
              <a:rPr lang="vi-VN" b="1" dirty="0"/>
              <a:t>giao thức truyền thông nối tiếp</a:t>
            </a:r>
            <a:r>
              <a:rPr lang="vi-VN" dirty="0"/>
              <a:t> được sử dụng để kết nối và trao đổi dữ liệu giữa các thiết bị trong hệ thống tự động hóa công nghiệp. Giao thức này được phát triển vào năm </a:t>
            </a:r>
            <a:r>
              <a:rPr lang="vi-VN" b="1" dirty="0"/>
              <a:t>1979 bởi Modicon</a:t>
            </a:r>
            <a:r>
              <a:rPr lang="vi-VN" dirty="0"/>
              <a:t>, và sau đó trở thành một trong những chuẩn truyền thông phổ biến nhất trong lĩnh vực điều khiển công nghiệp. Nhờ cấu trúc đơn giản, dễ triển khai và khả năng tương thích với nhiều loại thiết bị khác nhau, Modbus hiện nay được sử dụng rộng rãi trong các hệ thống giám sát và điều khiển tự động.</a:t>
            </a:r>
          </a:p>
          <a:p>
            <a:pPr>
              <a:lnSpc>
                <a:spcPct val="150000"/>
              </a:lnSpc>
            </a:pPr>
            <a:r>
              <a:rPr lang="vi-VN" dirty="0"/>
              <a:t>Modbus hoạt động theo mô hình </a:t>
            </a:r>
            <a:r>
              <a:rPr lang="vi-VN" b="1" dirty="0"/>
              <a:t>Master – Slave</a:t>
            </a:r>
            <a:r>
              <a:rPr lang="vi-VN" dirty="0"/>
              <a:t> (hoặc Client – Server). Trong mô hình này, thiết bị Master đóng vai trò điều khiển trung tâm, có nhiệm vụ gửi các yêu cầu đọc dữ liệu hoặc lệnh điều khiển đến các thiết bị Slave. Các thiết bị Slave như cảm biến, bộ truyền động, bộ điều khiển hoặc PLC sẽ tiếp nhận yêu cầu từ Master và phản hồi lại dữ liệu tương ứng. Mỗi thiết bị Slave trong mạng Modbus đều được gán một địa chỉ riêng để Master có thể xác định và giao tiếp đúng với thiết bị cần truy cập.</a:t>
            </a:r>
          </a:p>
          <a:p>
            <a:pPr algn="just">
              <a:lnSpc>
                <a:spcPct val="150000"/>
              </a:lnSpc>
            </a:pPr>
            <a:r>
              <a:rPr lang="vi-VN" dirty="0"/>
              <a:t>Giao thức Modbus hỗ trợ nhiều hình thức truyền thông khác nhau. Trong các hệ thống truyền thông nối tiếp, Modbus thường được triển khai trên các chuẩn vật lý như </a:t>
            </a:r>
            <a:r>
              <a:rPr lang="vi-VN" b="1" dirty="0"/>
              <a:t>RS-232</a:t>
            </a:r>
            <a:r>
              <a:rPr lang="vi-VN" dirty="0"/>
              <a:t> hoặc </a:t>
            </a:r>
            <a:r>
              <a:rPr lang="vi-VN" b="1" dirty="0"/>
              <a:t>RS-485</a:t>
            </a:r>
            <a:r>
              <a:rPr lang="vi-VN" dirty="0"/>
              <a:t>. Ngoài ra, Modbus cũng có phiên bản hoạt động trên mạng Ethernet gọi là </a:t>
            </a:r>
            <a:r>
              <a:rPr lang="vi-VN" b="1" dirty="0"/>
              <a:t>Modbus TCP</a:t>
            </a:r>
            <a:r>
              <a:rPr lang="vi-VN" dirty="0"/>
              <a:t>, cho phép truyền dữ liệu qua mạng TCP/IP với tốc độ cao và khoảng cách truyền lớn hơn.</a:t>
            </a:r>
          </a:p>
          <a:p>
            <a:pPr algn="just">
              <a:lnSpc>
                <a:spcPct val="150000"/>
              </a:lnSpc>
            </a:pPr>
            <a:endParaRPr lang="en-US" dirty="0"/>
          </a:p>
        </p:txBody>
      </p:sp>
      <p:sp>
        <p:nvSpPr>
          <p:cNvPr id="3" name="Rectangle 1">
            <a:extLst>
              <a:ext uri="{FF2B5EF4-FFF2-40B4-BE49-F238E27FC236}">
                <a16:creationId xmlns:a16="http://schemas.microsoft.com/office/drawing/2014/main" id="{866C9041-6060-EF7B-7FE4-2363F9867CAF}"/>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548888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D5DB740-5FAF-01FD-4572-1BA088272328}"/>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38467883-6A5B-B3B7-034D-417FBE08AE55}"/>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65D7B846-905D-837E-C257-E12FB95B3419}"/>
              </a:ext>
            </a:extLst>
          </p:cNvPr>
          <p:cNvSpPr/>
          <p:nvPr/>
        </p:nvSpPr>
        <p:spPr>
          <a:xfrm>
            <a:off x="198946" y="696053"/>
            <a:ext cx="9392645" cy="4524315"/>
          </a:xfrm>
          <a:prstGeom prst="rect">
            <a:avLst/>
          </a:prstGeom>
          <a:noFill/>
          <a:ln>
            <a:noFill/>
          </a:ln>
        </p:spPr>
        <p:txBody>
          <a:bodyPr spcFirstLastPara="1" wrap="square" lIns="0" tIns="0" rIns="0" bIns="0" anchor="t" anchorCtr="0">
            <a:spAutoFit/>
          </a:bodyPr>
          <a:lstStyle/>
          <a:p>
            <a:pPr>
              <a:lnSpc>
                <a:spcPct val="150000"/>
              </a:lnSpc>
            </a:pPr>
            <a:r>
              <a:rPr lang="vi-VN" b="1" dirty="0"/>
              <a:t>Giới thiệu về Modbus</a:t>
            </a:r>
          </a:p>
          <a:p>
            <a:pPr>
              <a:lnSpc>
                <a:spcPct val="150000"/>
              </a:lnSpc>
            </a:pPr>
            <a:r>
              <a:rPr lang="vi-VN" dirty="0"/>
              <a:t>Một đặc điểm quan trọng của Modbus là việc tổ chức dữ liệu trong thiết bị theo các vùng bộ nhớ tiêu chuẩn. Giao thức này định nghĩa bốn loại vùng lưu trữ dữ liệu chính gồm: </a:t>
            </a:r>
            <a:r>
              <a:rPr lang="vi-VN" b="1" dirty="0"/>
              <a:t>Coils</a:t>
            </a:r>
            <a:r>
              <a:rPr lang="vi-VN" dirty="0"/>
              <a:t>, </a:t>
            </a:r>
            <a:r>
              <a:rPr lang="vi-VN" b="1" dirty="0"/>
              <a:t>Discrete Inputs</a:t>
            </a:r>
            <a:r>
              <a:rPr lang="vi-VN" dirty="0"/>
              <a:t>, </a:t>
            </a:r>
            <a:r>
              <a:rPr lang="vi-VN" b="1" dirty="0"/>
              <a:t>Input Registers</a:t>
            </a:r>
            <a:r>
              <a:rPr lang="vi-VN" dirty="0"/>
              <a:t> và </a:t>
            </a:r>
            <a:r>
              <a:rPr lang="vi-VN" b="1" dirty="0"/>
              <a:t>Holding Registers</a:t>
            </a:r>
            <a:r>
              <a:rPr lang="vi-VN" dirty="0"/>
              <a:t>. Nhờ tính mở, dễ triển khai và khả năng tương thích với nhiều loại thiết bị công nghiệp khác nhau, Modbus đã trở thành một trong những </a:t>
            </a:r>
            <a:r>
              <a:rPr lang="vi-VN" b="1" dirty="0"/>
              <a:t>chuẩn giao tiếp quan trọng trong các hệ thống SCADA, PLC và các mạng điều khiển công nghiệp hiện đại</a:t>
            </a:r>
            <a:r>
              <a:rPr lang="vi-VN" dirty="0"/>
              <a:t>.</a:t>
            </a: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gn="just">
              <a:lnSpc>
                <a:spcPct val="150000"/>
              </a:lnSpc>
            </a:pPr>
            <a:endParaRPr lang="en-US" dirty="0"/>
          </a:p>
        </p:txBody>
      </p:sp>
      <p:sp>
        <p:nvSpPr>
          <p:cNvPr id="3" name="Rectangle 1">
            <a:extLst>
              <a:ext uri="{FF2B5EF4-FFF2-40B4-BE49-F238E27FC236}">
                <a16:creationId xmlns:a16="http://schemas.microsoft.com/office/drawing/2014/main" id="{79D4DEAC-4A6C-9352-A180-7EE86ED64116}"/>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404F7C6E-3613-3E97-A8BB-D84E56D4F774}"/>
              </a:ext>
            </a:extLst>
          </p:cNvPr>
          <p:cNvPicPr>
            <a:picLocks noChangeAspect="1"/>
          </p:cNvPicPr>
          <p:nvPr/>
        </p:nvPicPr>
        <p:blipFill>
          <a:blip r:embed="rId3"/>
          <a:stretch>
            <a:fillRect/>
          </a:stretch>
        </p:blipFill>
        <p:spPr>
          <a:xfrm>
            <a:off x="1607816" y="2578067"/>
            <a:ext cx="7200900" cy="2276475"/>
          </a:xfrm>
          <a:prstGeom prst="rect">
            <a:avLst/>
          </a:prstGeom>
        </p:spPr>
      </p:pic>
    </p:spTree>
    <p:extLst>
      <p:ext uri="{BB962C8B-B14F-4D97-AF65-F5344CB8AC3E}">
        <p14:creationId xmlns:p14="http://schemas.microsoft.com/office/powerpoint/2010/main" val="5863465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2DB7D437-751F-9AF5-0B1A-9BB5DA6071B8}"/>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4FD936D3-3CB4-DB4D-646E-4BFADABAC201}"/>
              </a:ext>
            </a:extLst>
          </p:cNvPr>
          <p:cNvSpPr/>
          <p:nvPr/>
        </p:nvSpPr>
        <p:spPr>
          <a:xfrm>
            <a:off x="918081" y="990736"/>
            <a:ext cx="8819923" cy="1107996"/>
          </a:xfrm>
          <a:prstGeom prst="rect">
            <a:avLst/>
          </a:prstGeom>
          <a:noFill/>
          <a:ln>
            <a:noFill/>
          </a:ln>
        </p:spPr>
        <p:txBody>
          <a:bodyPr spcFirstLastPara="1" wrap="square" lIns="0" tIns="0" rIns="0" bIns="0" anchor="t" anchorCtr="0">
            <a:spAutoFit/>
          </a:bodyPr>
          <a:lstStyle/>
          <a:p>
            <a:pPr lvl="0"/>
            <a:r>
              <a:rPr lang="vi-VN" sz="3600" b="1" dirty="0">
                <a:solidFill>
                  <a:schemeClr val="dk1"/>
                </a:solidFill>
              </a:rPr>
              <a:t>Cấu trúc dữ liệu trong giao tiếp Modbus 485</a:t>
            </a:r>
          </a:p>
        </p:txBody>
      </p:sp>
      <p:sp>
        <p:nvSpPr>
          <p:cNvPr id="177" name="Google Shape;177;p4">
            <a:extLst>
              <a:ext uri="{FF2B5EF4-FFF2-40B4-BE49-F238E27FC236}">
                <a16:creationId xmlns:a16="http://schemas.microsoft.com/office/drawing/2014/main" id="{24490025-40EE-F383-82CA-1782AB0CA382}"/>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3.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B6EC2C9C-599D-27B8-4D07-2F0505231F42}"/>
              </a:ext>
            </a:extLst>
          </p:cNvPr>
          <p:cNvSpPr/>
          <p:nvPr/>
        </p:nvSpPr>
        <p:spPr>
          <a:xfrm>
            <a:off x="1000274" y="2318181"/>
            <a:ext cx="7671115" cy="1661993"/>
          </a:xfrm>
          <a:prstGeom prst="rect">
            <a:avLst/>
          </a:prstGeom>
          <a:noFill/>
          <a:ln>
            <a:noFill/>
          </a:ln>
        </p:spPr>
        <p:txBody>
          <a:bodyPr spcFirstLastPara="1" wrap="square" lIns="0" tIns="0" rIns="0" bIns="0" anchor="t" anchorCtr="0">
            <a:spAutoFit/>
          </a:bodyPr>
          <a:lstStyle/>
          <a:p>
            <a:pPr marL="176213" lvl="0" indent="-176213">
              <a:lnSpc>
                <a:spcPct val="150000"/>
              </a:lnSpc>
              <a:buClr>
                <a:srgbClr val="3F3F3F"/>
              </a:buClr>
              <a:buSzPts val="2160"/>
              <a:buFont typeface="Arial"/>
              <a:buChar char="•"/>
            </a:pPr>
            <a:r>
              <a:rPr lang="en-US" sz="1800" dirty="0">
                <a:solidFill>
                  <a:schemeClr val="bg1">
                    <a:lumMod val="75000"/>
                  </a:schemeClr>
                </a:solidFill>
              </a:rPr>
              <a:t>3.1 Giao </a:t>
            </a:r>
            <a:r>
              <a:rPr lang="en-US" sz="1800" dirty="0" err="1">
                <a:solidFill>
                  <a:schemeClr val="bg1">
                    <a:lumMod val="75000"/>
                  </a:schemeClr>
                </a:solidFill>
              </a:rPr>
              <a:t>thức</a:t>
            </a:r>
            <a:r>
              <a:rPr lang="en-US" sz="1800" dirty="0">
                <a:solidFill>
                  <a:schemeClr val="bg1">
                    <a:lumMod val="75000"/>
                  </a:schemeClr>
                </a:solidFill>
              </a:rPr>
              <a:t> Modbus </a:t>
            </a:r>
            <a:r>
              <a:rPr lang="en-US" sz="1800" dirty="0" err="1">
                <a:solidFill>
                  <a:schemeClr val="bg1">
                    <a:lumMod val="75000"/>
                  </a:schemeClr>
                </a:solidFill>
              </a:rPr>
              <a:t>là</a:t>
            </a:r>
            <a:r>
              <a:rPr lang="en-US" sz="1800" dirty="0">
                <a:solidFill>
                  <a:schemeClr val="bg1">
                    <a:lumMod val="75000"/>
                  </a:schemeClr>
                </a:solidFill>
              </a:rPr>
              <a:t> </a:t>
            </a:r>
            <a:r>
              <a:rPr lang="en-US" sz="1800" dirty="0" err="1">
                <a:solidFill>
                  <a:schemeClr val="bg1">
                    <a:lumMod val="75000"/>
                  </a:schemeClr>
                </a:solidFill>
              </a:rPr>
              <a:t>gì</a:t>
            </a:r>
            <a:endParaRPr lang="en-US" sz="1800" dirty="0">
              <a:solidFill>
                <a:schemeClr val="bg1">
                  <a:lumMod val="75000"/>
                </a:schemeClr>
              </a:solidFill>
            </a:endParaRPr>
          </a:p>
          <a:p>
            <a:pPr marL="176213" lvl="0" indent="-176213">
              <a:lnSpc>
                <a:spcPct val="150000"/>
              </a:lnSpc>
              <a:buClr>
                <a:srgbClr val="3F3F3F"/>
              </a:buClr>
              <a:buSzPts val="2160"/>
              <a:buFont typeface="Arial"/>
              <a:buChar char="•"/>
            </a:pPr>
            <a:r>
              <a:rPr lang="en-US" sz="1800" dirty="0">
                <a:solidFill>
                  <a:schemeClr val="tx1"/>
                </a:solidFill>
              </a:rPr>
              <a:t>3.2 Các </a:t>
            </a:r>
            <a:r>
              <a:rPr lang="en-US" sz="1800" dirty="0" err="1">
                <a:solidFill>
                  <a:schemeClr val="tx1"/>
                </a:solidFill>
              </a:rPr>
              <a:t>thành</a:t>
            </a:r>
            <a:r>
              <a:rPr lang="en-US" sz="1800" dirty="0">
                <a:solidFill>
                  <a:schemeClr val="tx1"/>
                </a:solidFill>
              </a:rPr>
              <a:t> </a:t>
            </a:r>
            <a:r>
              <a:rPr lang="en-US" sz="1800" dirty="0" err="1">
                <a:solidFill>
                  <a:schemeClr val="tx1"/>
                </a:solidFill>
              </a:rPr>
              <a:t>phần</a:t>
            </a:r>
            <a:r>
              <a:rPr lang="en-US" sz="1800" dirty="0">
                <a:solidFill>
                  <a:schemeClr val="tx1"/>
                </a:solidFill>
              </a:rPr>
              <a:t> </a:t>
            </a:r>
            <a:r>
              <a:rPr lang="en-US" sz="1800" dirty="0" err="1">
                <a:solidFill>
                  <a:schemeClr val="tx1"/>
                </a:solidFill>
              </a:rPr>
              <a:t>giao</a:t>
            </a:r>
            <a:r>
              <a:rPr lang="en-US" sz="1800" dirty="0">
                <a:solidFill>
                  <a:schemeClr val="tx1"/>
                </a:solidFill>
              </a:rPr>
              <a:t> </a:t>
            </a:r>
            <a:r>
              <a:rPr lang="en-US" sz="1800" dirty="0" err="1">
                <a:solidFill>
                  <a:schemeClr val="tx1"/>
                </a:solidFill>
              </a:rPr>
              <a:t>thức</a:t>
            </a:r>
            <a:r>
              <a:rPr lang="en-US" sz="1800" dirty="0">
                <a:solidFill>
                  <a:schemeClr val="tx1"/>
                </a:solidFill>
              </a:rPr>
              <a:t> Modbus</a:t>
            </a:r>
          </a:p>
          <a:p>
            <a:pPr marL="176213" lvl="0" indent="-176213">
              <a:lnSpc>
                <a:spcPct val="150000"/>
              </a:lnSpc>
              <a:buClr>
                <a:srgbClr val="3F3F3F"/>
              </a:buClr>
              <a:buSzPts val="2160"/>
              <a:buFont typeface="Arial"/>
              <a:buChar char="•"/>
            </a:pPr>
            <a:r>
              <a:rPr lang="en-US" sz="1800" dirty="0">
                <a:solidFill>
                  <a:schemeClr val="bg1">
                    <a:lumMod val="75000"/>
                  </a:schemeClr>
                </a:solidFill>
              </a:rPr>
              <a:t>3.3 Các </a:t>
            </a:r>
            <a:r>
              <a:rPr lang="en-US" sz="1800" dirty="0" err="1">
                <a:solidFill>
                  <a:schemeClr val="bg1">
                    <a:lumMod val="75000"/>
                  </a:schemeClr>
                </a:solidFill>
              </a:rPr>
              <a:t>biến</a:t>
            </a:r>
            <a:r>
              <a:rPr lang="en-US" sz="1800" dirty="0">
                <a:solidFill>
                  <a:schemeClr val="bg1">
                    <a:lumMod val="75000"/>
                  </a:schemeClr>
                </a:solidFill>
              </a:rPr>
              <a:t> </a:t>
            </a:r>
            <a:r>
              <a:rPr lang="en-US" sz="1800" dirty="0" err="1">
                <a:solidFill>
                  <a:schemeClr val="bg1">
                    <a:lumMod val="75000"/>
                  </a:schemeClr>
                </a:solidFill>
              </a:rPr>
              <a:t>thể</a:t>
            </a:r>
            <a:r>
              <a:rPr lang="en-US" sz="1800" dirty="0">
                <a:solidFill>
                  <a:schemeClr val="bg1">
                    <a:lumMod val="75000"/>
                  </a:schemeClr>
                </a:solidFill>
              </a:rPr>
              <a:t> Modbus</a:t>
            </a:r>
          </a:p>
          <a:p>
            <a:pPr marL="176213" lvl="0" indent="-176213">
              <a:lnSpc>
                <a:spcPct val="150000"/>
              </a:lnSpc>
              <a:buClr>
                <a:srgbClr val="3F3F3F"/>
              </a:buClr>
              <a:buSzPts val="2160"/>
              <a:buFont typeface="Arial"/>
              <a:buChar char="•"/>
            </a:pPr>
            <a:r>
              <a:rPr lang="en-US" sz="1800" dirty="0">
                <a:solidFill>
                  <a:schemeClr val="bg1">
                    <a:lumMod val="75000"/>
                  </a:schemeClr>
                </a:solidFill>
              </a:rPr>
              <a:t>3.4 </a:t>
            </a:r>
            <a:r>
              <a:rPr lang="en-US" sz="1800" dirty="0" err="1">
                <a:solidFill>
                  <a:schemeClr val="bg1">
                    <a:lumMod val="75000"/>
                  </a:schemeClr>
                </a:solidFill>
              </a:rPr>
              <a:t>Ứng</a:t>
            </a:r>
            <a:r>
              <a:rPr lang="en-US" sz="1800" dirty="0">
                <a:solidFill>
                  <a:schemeClr val="bg1">
                    <a:lumMod val="75000"/>
                  </a:schemeClr>
                </a:solidFill>
              </a:rPr>
              <a:t> </a:t>
            </a:r>
            <a:r>
              <a:rPr lang="en-US" sz="1800" dirty="0" err="1">
                <a:solidFill>
                  <a:schemeClr val="bg1">
                    <a:lumMod val="75000"/>
                  </a:schemeClr>
                </a:solidFill>
              </a:rPr>
              <a:t>dụng</a:t>
            </a:r>
            <a:r>
              <a:rPr lang="en-US" sz="1800" dirty="0">
                <a:solidFill>
                  <a:schemeClr val="bg1">
                    <a:lumMod val="75000"/>
                  </a:schemeClr>
                </a:solidFill>
              </a:rPr>
              <a:t> </a:t>
            </a:r>
            <a:r>
              <a:rPr lang="en-US" sz="1800" dirty="0" err="1">
                <a:solidFill>
                  <a:schemeClr val="bg1">
                    <a:lumMod val="75000"/>
                  </a:schemeClr>
                </a:solidFill>
              </a:rPr>
              <a:t>giao</a:t>
            </a:r>
            <a:r>
              <a:rPr lang="en-US" sz="1800" dirty="0">
                <a:solidFill>
                  <a:schemeClr val="bg1">
                    <a:lumMod val="75000"/>
                  </a:schemeClr>
                </a:solidFill>
              </a:rPr>
              <a:t> </a:t>
            </a:r>
            <a:r>
              <a:rPr lang="en-US" sz="1800" dirty="0" err="1">
                <a:solidFill>
                  <a:schemeClr val="bg1">
                    <a:lumMod val="75000"/>
                  </a:schemeClr>
                </a:solidFill>
              </a:rPr>
              <a:t>thức</a:t>
            </a:r>
            <a:r>
              <a:rPr lang="en-US" sz="1800" dirty="0">
                <a:solidFill>
                  <a:schemeClr val="bg1">
                    <a:lumMod val="75000"/>
                  </a:schemeClr>
                </a:solidFill>
              </a:rPr>
              <a:t> Modbus </a:t>
            </a:r>
            <a:r>
              <a:rPr lang="en-US" sz="1800" dirty="0" err="1">
                <a:solidFill>
                  <a:schemeClr val="bg1">
                    <a:lumMod val="75000"/>
                  </a:schemeClr>
                </a:solidFill>
              </a:rPr>
              <a:t>trong</a:t>
            </a:r>
            <a:r>
              <a:rPr lang="en-US" sz="1800" dirty="0">
                <a:solidFill>
                  <a:schemeClr val="bg1">
                    <a:lumMod val="75000"/>
                  </a:schemeClr>
                </a:solidFill>
              </a:rPr>
              <a:t> </a:t>
            </a:r>
            <a:r>
              <a:rPr lang="en-US" sz="1800" dirty="0" err="1">
                <a:solidFill>
                  <a:schemeClr val="bg1">
                    <a:lumMod val="75000"/>
                  </a:schemeClr>
                </a:solidFill>
              </a:rPr>
              <a:t>công</a:t>
            </a:r>
            <a:r>
              <a:rPr lang="en-US" sz="1800" dirty="0">
                <a:solidFill>
                  <a:schemeClr val="bg1">
                    <a:lumMod val="75000"/>
                  </a:schemeClr>
                </a:solidFill>
              </a:rPr>
              <a:t> </a:t>
            </a:r>
            <a:r>
              <a:rPr lang="en-US" sz="1800" dirty="0" err="1">
                <a:solidFill>
                  <a:schemeClr val="bg1">
                    <a:lumMod val="75000"/>
                  </a:schemeClr>
                </a:solidFill>
              </a:rPr>
              <a:t>nghiệp</a:t>
            </a:r>
            <a:r>
              <a:rPr lang="en-US" sz="1800" dirty="0">
                <a:solidFill>
                  <a:schemeClr val="bg1">
                    <a:lumMod val="75000"/>
                  </a:schemeClr>
                </a:solidFill>
              </a:rPr>
              <a:t> </a:t>
            </a:r>
            <a:r>
              <a:rPr lang="en-US" sz="1800" dirty="0" err="1">
                <a:solidFill>
                  <a:schemeClr val="bg1">
                    <a:lumMod val="75000"/>
                  </a:schemeClr>
                </a:solidFill>
              </a:rPr>
              <a:t>và</a:t>
            </a:r>
            <a:r>
              <a:rPr lang="en-US" sz="1800" dirty="0">
                <a:solidFill>
                  <a:schemeClr val="bg1">
                    <a:lumMod val="75000"/>
                  </a:schemeClr>
                </a:solidFill>
              </a:rPr>
              <a:t> IOT</a:t>
            </a:r>
            <a:endParaRPr sz="1800" dirty="0">
              <a:solidFill>
                <a:schemeClr val="bg1">
                  <a:lumMod val="75000"/>
                </a:schemeClr>
              </a:solidFill>
            </a:endParaRPr>
          </a:p>
        </p:txBody>
      </p:sp>
    </p:spTree>
    <p:extLst>
      <p:ext uri="{BB962C8B-B14F-4D97-AF65-F5344CB8AC3E}">
        <p14:creationId xmlns:p14="http://schemas.microsoft.com/office/powerpoint/2010/main" val="24648092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45ADC13-8FD1-2945-74D8-EDAB6DD5303B}"/>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21380361-842E-3D5A-34CE-DCDC2AFC37B6}"/>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445BA819-5715-B882-4684-C2C10F4CA3B6}"/>
              </a:ext>
            </a:extLst>
          </p:cNvPr>
          <p:cNvSpPr/>
          <p:nvPr/>
        </p:nvSpPr>
        <p:spPr>
          <a:xfrm>
            <a:off x="198946" y="696053"/>
            <a:ext cx="9392645" cy="5816977"/>
          </a:xfrm>
          <a:prstGeom prst="rect">
            <a:avLst/>
          </a:prstGeom>
          <a:noFill/>
          <a:ln>
            <a:noFill/>
          </a:ln>
        </p:spPr>
        <p:txBody>
          <a:bodyPr spcFirstLastPara="1" wrap="square" lIns="0" tIns="0" rIns="0" bIns="0" anchor="t" anchorCtr="0">
            <a:spAutoFit/>
          </a:bodyPr>
          <a:lstStyle/>
          <a:p>
            <a:pPr>
              <a:lnSpc>
                <a:spcPct val="150000"/>
              </a:lnSpc>
            </a:pPr>
            <a:r>
              <a:rPr lang="vi-VN" b="1" dirty="0"/>
              <a:t>Các thành phần của giao thức Modbus</a:t>
            </a:r>
          </a:p>
          <a:p>
            <a:pPr>
              <a:lnSpc>
                <a:spcPct val="150000"/>
              </a:lnSpc>
            </a:pPr>
            <a:r>
              <a:rPr lang="vi-VN" b="1" dirty="0"/>
              <a:t>Thiết bị/Máy móc Modbus</a:t>
            </a:r>
          </a:p>
          <a:p>
            <a:pPr>
              <a:lnSpc>
                <a:spcPct val="150000"/>
              </a:lnSpc>
            </a:pPr>
            <a:r>
              <a:rPr lang="vi-VN" dirty="0"/>
              <a:t>Các thiết bị hoặc máy móc Modbus là những thiết bị vật lý thực tế giao tiếp với nhau bằng giao thức Modbus. Các thiết bị này có thể là bất cứ thứ gì, từ cảm biến nhiệt độ đến bộ điều khiển động cơ, và chúng có thể được đặt ở bất cứ đâu, từ nhà máy đến mỏ dầu xa xôi.</a:t>
            </a:r>
          </a:p>
          <a:p>
            <a:pPr>
              <a:lnSpc>
                <a:spcPct val="150000"/>
              </a:lnSpc>
            </a:pPr>
            <a:r>
              <a:rPr lang="vi-VN" b="1" dirty="0"/>
              <a:t>Bộ điều khiển Modbus</a:t>
            </a:r>
          </a:p>
          <a:p>
            <a:pPr>
              <a:lnSpc>
                <a:spcPct val="150000"/>
              </a:lnSpc>
            </a:pPr>
            <a:r>
              <a:rPr lang="vi-VN" dirty="0"/>
              <a:t>Bộ điều khiển Modbus (Modbus master) là thiết bị khởi tạo giao dịch Modbus. Nó gửi yêu cầu đến thiết bị phụ Modbus (Modbus slave) và chờ phản hồi. Bộ điều khiển có thể giao tiếp với nhiều thiết bị phụ và có thể yêu cầu các loại dữ liệu khác nhau từ mỗi thiết bị.</a:t>
            </a:r>
          </a:p>
          <a:p>
            <a:pPr>
              <a:lnSpc>
                <a:spcPct val="150000"/>
              </a:lnSpc>
            </a:pPr>
            <a:r>
              <a:rPr lang="vi-VN" b="1" dirty="0"/>
              <a:t>Modbus Slave</a:t>
            </a:r>
          </a:p>
          <a:p>
            <a:pPr>
              <a:lnSpc>
                <a:spcPct val="150000"/>
              </a:lnSpc>
            </a:pPr>
            <a:r>
              <a:rPr lang="vi-VN" dirty="0"/>
              <a:t>Thiết bị Modbus slave là thiết bị chờ nhận yêu cầu từ thiết bị Modbus master. Khi nhận được yêu cầu, nó sẽ xử lý và gửi phản hồi trở lại cho master. Thiết bị slave không chủ động khởi tạo quá trình giao tiếp; nó chỉ phản hồi lại các yêu cầu từ master.</a:t>
            </a:r>
          </a:p>
          <a:p>
            <a:pPr>
              <a:lnSpc>
                <a:spcPct val="150000"/>
              </a:lnSpc>
            </a:pPr>
            <a:r>
              <a:rPr lang="vi-VN" b="1" dirty="0"/>
              <a:t>Mô hình dữ liệu và thanh ghi</a:t>
            </a:r>
          </a:p>
          <a:p>
            <a:pPr>
              <a:lnSpc>
                <a:spcPct val="150000"/>
              </a:lnSpc>
            </a:pPr>
            <a:r>
              <a:rPr lang="vi-VN" dirty="0"/>
              <a:t>Mô hình dữ liệu Modbus dựa trên một loạt các thanh ghi. Các thanh ghi này đơn giản là các vị trí bộ nhớ trong thiết bị có thể lưu trữ dữ liệu — chúng đại diện cho vùng lưu trữ bên trong thiết bị. Có hai loại thanh ghi:</a:t>
            </a:r>
          </a:p>
          <a:p>
            <a:pPr marL="285750" indent="-285750">
              <a:lnSpc>
                <a:spcPct val="150000"/>
              </a:lnSpc>
              <a:buFont typeface="Arial" panose="020B0604020202020204" pitchFamily="34" charset="0"/>
              <a:buChar char="•"/>
            </a:pPr>
            <a:r>
              <a:rPr lang="vi-VN" dirty="0"/>
              <a:t>Các thanh ghi giữ: Có thể được đọc và ghi bởi bộ điều khiển Modbus chính.</a:t>
            </a:r>
          </a:p>
          <a:p>
            <a:pPr marL="285750" indent="-285750">
              <a:lnSpc>
                <a:spcPct val="150000"/>
              </a:lnSpc>
              <a:buFont typeface="Arial" panose="020B0604020202020204" pitchFamily="34" charset="0"/>
              <a:buChar char="•"/>
            </a:pPr>
            <a:r>
              <a:rPr lang="vi-VN" dirty="0"/>
              <a:t>Các thanh ghi đầu vào: Chỉ có thể được đọc bởi thiết bị chủ.</a:t>
            </a:r>
          </a:p>
        </p:txBody>
      </p:sp>
      <p:sp>
        <p:nvSpPr>
          <p:cNvPr id="3" name="Rectangle 1">
            <a:extLst>
              <a:ext uri="{FF2B5EF4-FFF2-40B4-BE49-F238E27FC236}">
                <a16:creationId xmlns:a16="http://schemas.microsoft.com/office/drawing/2014/main" id="{47E4B2CC-CA1A-A2B9-F157-1FF09D5C4EFE}"/>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69664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18142A51-2BBC-BE91-F216-5120BCA99ACC}"/>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003817DA-1B0A-356B-D173-5065D478229F}"/>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C81576B-2C4C-2045-759E-A862B1EA3C39}"/>
              </a:ext>
            </a:extLst>
          </p:cNvPr>
          <p:cNvSpPr/>
          <p:nvPr/>
        </p:nvSpPr>
        <p:spPr>
          <a:xfrm>
            <a:off x="198946" y="696053"/>
            <a:ext cx="9392645" cy="5816977"/>
          </a:xfrm>
          <a:prstGeom prst="rect">
            <a:avLst/>
          </a:prstGeom>
          <a:noFill/>
          <a:ln>
            <a:noFill/>
          </a:ln>
        </p:spPr>
        <p:txBody>
          <a:bodyPr spcFirstLastPara="1" wrap="square" lIns="0" tIns="0" rIns="0" bIns="0" anchor="t" anchorCtr="0">
            <a:spAutoFit/>
          </a:bodyPr>
          <a:lstStyle/>
          <a:p>
            <a:pPr>
              <a:lnSpc>
                <a:spcPct val="150000"/>
              </a:lnSpc>
            </a:pPr>
            <a:r>
              <a:rPr lang="vi-VN" b="1" dirty="0"/>
              <a:t>Các thành phần của giao thức Modbus</a:t>
            </a:r>
          </a:p>
          <a:p>
            <a:pPr>
              <a:lnSpc>
                <a:spcPct val="150000"/>
              </a:lnSpc>
            </a:pPr>
            <a:r>
              <a:rPr lang="vi-VN" b="1" dirty="0"/>
              <a:t>Các loại đầu vào</a:t>
            </a:r>
          </a:p>
          <a:p>
            <a:pPr>
              <a:lnSpc>
                <a:spcPct val="150000"/>
              </a:lnSpc>
            </a:pPr>
            <a:r>
              <a:rPr lang="vi-VN" dirty="0"/>
              <a:t>Hệ thống Modbus có hai loại đầu vào chính:</a:t>
            </a:r>
          </a:p>
          <a:p>
            <a:pPr marL="285750" indent="-285750">
              <a:lnSpc>
                <a:spcPct val="150000"/>
              </a:lnSpc>
              <a:buFont typeface="Arial" panose="020B0604020202020204" pitchFamily="34" charset="0"/>
              <a:buChar char="•"/>
            </a:pPr>
            <a:r>
              <a:rPr lang="en-US" dirty="0"/>
              <a:t>Coil </a:t>
            </a:r>
            <a:r>
              <a:rPr lang="vi-VN" dirty="0"/>
              <a:t>là một loại dữ liệu trong giao thức Modbus biểu thị các trạng thái nhị phân, chẳng hạn như BẬT/TẮT hoặc ĐÚNG/SAI. Chúng có thể được đọc và ghi bởi một thiết bị chủ Modbus.</a:t>
            </a:r>
          </a:p>
          <a:p>
            <a:pPr marL="285750" indent="-285750">
              <a:lnSpc>
                <a:spcPct val="150000"/>
              </a:lnSpc>
              <a:buFont typeface="Arial" panose="020B0604020202020204" pitchFamily="34" charset="0"/>
              <a:buChar char="•"/>
            </a:pPr>
            <a:r>
              <a:rPr lang="vi-VN" dirty="0"/>
              <a:t>Các tín hiệu đầu vào rời rạc tương tự như cuộn dây ở chỗ chúng biểu diễn các trạng thái nhị phân. Tuy nhiên, không giống như cuộn dây, chúng chỉ có thể được đọc chứ không thể ghi.</a:t>
            </a:r>
          </a:p>
          <a:p>
            <a:pPr>
              <a:lnSpc>
                <a:spcPct val="150000"/>
              </a:lnSpc>
            </a:pPr>
            <a:r>
              <a:rPr lang="vi-VN" b="1" dirty="0"/>
              <a:t>Khung thông báo Modbus</a:t>
            </a:r>
          </a:p>
          <a:p>
            <a:pPr>
              <a:lnSpc>
                <a:spcPct val="150000"/>
              </a:lnSpc>
            </a:pPr>
            <a:r>
              <a:rPr lang="vi-VN" dirty="0"/>
              <a:t>Khung Modbus là cấu trúc của một thông điệp Modbus. Nó bao gồm khung bắt đầu, mã chức năng, dữ liệu và khung kết thúc. Bảng sau đây hiển thị cấu trúc của khung chi tiết hơn, theo biến thể ASCII của giao thức </a:t>
            </a: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r>
              <a:rPr lang="vi-VN" b="1" dirty="0"/>
              <a:t>Các chế độ giao tiếp Modbus</a:t>
            </a:r>
          </a:p>
          <a:p>
            <a:pPr>
              <a:lnSpc>
                <a:spcPct val="150000"/>
              </a:lnSpc>
            </a:pPr>
            <a:r>
              <a:rPr lang="vi-VN" dirty="0"/>
              <a:t>Giao thức Modbus có ba chế độ giao tiếp chính:</a:t>
            </a:r>
          </a:p>
          <a:p>
            <a:pPr marL="285750" indent="-285750">
              <a:lnSpc>
                <a:spcPct val="150000"/>
              </a:lnSpc>
              <a:buFont typeface="Arial" panose="020B0604020202020204" pitchFamily="34" charset="0"/>
              <a:buChar char="•"/>
            </a:pPr>
            <a:r>
              <a:rPr lang="vi-VN" dirty="0"/>
              <a:t>RTU (Thiết bị đầu cuối từ xa)</a:t>
            </a:r>
          </a:p>
          <a:p>
            <a:pPr marL="285750" indent="-285750">
              <a:lnSpc>
                <a:spcPct val="150000"/>
              </a:lnSpc>
              <a:buFont typeface="Arial" panose="020B0604020202020204" pitchFamily="34" charset="0"/>
              <a:buChar char="•"/>
            </a:pPr>
            <a:r>
              <a:rPr lang="vi-VN" dirty="0"/>
              <a:t>ASCII (Mã chuẩn Mỹ để trao đổi thông tin)</a:t>
            </a:r>
          </a:p>
          <a:p>
            <a:pPr marL="285750" indent="-285750">
              <a:lnSpc>
                <a:spcPct val="150000"/>
              </a:lnSpc>
              <a:buFont typeface="Arial" panose="020B0604020202020204" pitchFamily="34" charset="0"/>
              <a:buChar char="•"/>
            </a:pPr>
            <a:r>
              <a:rPr lang="vi-VN" dirty="0"/>
              <a:t>TCP/IP (Giao thức điều khiển truyền dẫn/Giao thức Internet)</a:t>
            </a:r>
          </a:p>
        </p:txBody>
      </p:sp>
      <p:sp>
        <p:nvSpPr>
          <p:cNvPr id="3" name="Rectangle 1">
            <a:extLst>
              <a:ext uri="{FF2B5EF4-FFF2-40B4-BE49-F238E27FC236}">
                <a16:creationId xmlns:a16="http://schemas.microsoft.com/office/drawing/2014/main" id="{F4F021A7-B8D8-1FB8-1415-76AB48E9608C}"/>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B94186BC-6FEC-AD2A-85F0-9A5C2C49789F}"/>
              </a:ext>
            </a:extLst>
          </p:cNvPr>
          <p:cNvGraphicFramePr>
            <a:graphicFrameLocks noGrp="1"/>
          </p:cNvGraphicFramePr>
          <p:nvPr>
            <p:extLst>
              <p:ext uri="{D42A27DB-BD31-4B8C-83A1-F6EECF244321}">
                <p14:modId xmlns:p14="http://schemas.microsoft.com/office/powerpoint/2010/main" val="968843613"/>
              </p:ext>
            </p:extLst>
          </p:nvPr>
        </p:nvGraphicFramePr>
        <p:xfrm>
          <a:off x="1390068" y="4179380"/>
          <a:ext cx="7010400" cy="609600"/>
        </p:xfrm>
        <a:graphic>
          <a:graphicData uri="http://schemas.openxmlformats.org/drawingml/2006/table">
            <a:tbl>
              <a:tblPr/>
              <a:tblGrid>
                <a:gridCol w="1168400">
                  <a:extLst>
                    <a:ext uri="{9D8B030D-6E8A-4147-A177-3AD203B41FA5}">
                      <a16:colId xmlns:a16="http://schemas.microsoft.com/office/drawing/2014/main" val="1773194335"/>
                    </a:ext>
                  </a:extLst>
                </a:gridCol>
                <a:gridCol w="1168400">
                  <a:extLst>
                    <a:ext uri="{9D8B030D-6E8A-4147-A177-3AD203B41FA5}">
                      <a16:colId xmlns:a16="http://schemas.microsoft.com/office/drawing/2014/main" val="3716987174"/>
                    </a:ext>
                  </a:extLst>
                </a:gridCol>
                <a:gridCol w="1168400">
                  <a:extLst>
                    <a:ext uri="{9D8B030D-6E8A-4147-A177-3AD203B41FA5}">
                      <a16:colId xmlns:a16="http://schemas.microsoft.com/office/drawing/2014/main" val="2375422198"/>
                    </a:ext>
                  </a:extLst>
                </a:gridCol>
                <a:gridCol w="1168400">
                  <a:extLst>
                    <a:ext uri="{9D8B030D-6E8A-4147-A177-3AD203B41FA5}">
                      <a16:colId xmlns:a16="http://schemas.microsoft.com/office/drawing/2014/main" val="2994711867"/>
                    </a:ext>
                  </a:extLst>
                </a:gridCol>
                <a:gridCol w="1168400">
                  <a:extLst>
                    <a:ext uri="{9D8B030D-6E8A-4147-A177-3AD203B41FA5}">
                      <a16:colId xmlns:a16="http://schemas.microsoft.com/office/drawing/2014/main" val="1349090757"/>
                    </a:ext>
                  </a:extLst>
                </a:gridCol>
                <a:gridCol w="1168400">
                  <a:extLst>
                    <a:ext uri="{9D8B030D-6E8A-4147-A177-3AD203B41FA5}">
                      <a16:colId xmlns:a16="http://schemas.microsoft.com/office/drawing/2014/main" val="2009016811"/>
                    </a:ext>
                  </a:extLst>
                </a:gridCol>
              </a:tblGrid>
              <a:tr h="0">
                <a:tc>
                  <a:txBody>
                    <a:bodyPr/>
                    <a:lstStyle/>
                    <a:p>
                      <a:pPr algn="l">
                        <a:buNone/>
                      </a:pPr>
                      <a:r>
                        <a:rPr lang="en-US" b="1">
                          <a:effectLst/>
                        </a:rPr>
                        <a:t>Start</a:t>
                      </a:r>
                    </a:p>
                  </a:txBody>
                  <a:tcPr anchor="ctr">
                    <a:lnL w="12700" cap="flat" cmpd="sng" algn="ctr">
                      <a:solidFill>
                        <a:srgbClr val="900EF5"/>
                      </a:solidFill>
                      <a:prstDash val="solid"/>
                      <a:round/>
                      <a:headEnd type="none" w="med" len="med"/>
                      <a:tailEnd type="none" w="med" len="med"/>
                    </a:lnL>
                    <a:lnR w="12700" cap="flat" cmpd="sng" algn="ctr">
                      <a:solidFill>
                        <a:srgbClr val="0003F4"/>
                      </a:solidFill>
                      <a:prstDash val="solid"/>
                      <a:round/>
                      <a:headEnd type="none" w="med" len="med"/>
                      <a:tailEnd type="none" w="med" len="med"/>
                    </a:lnR>
                    <a:lnT w="9525" cap="flat" cmpd="sng" algn="ctr">
                      <a:solidFill>
                        <a:srgbClr val="900EF5"/>
                      </a:solidFill>
                      <a:prstDash val="solid"/>
                      <a:round/>
                      <a:headEnd type="none" w="med" len="med"/>
                      <a:tailEnd type="none" w="med" len="med"/>
                    </a:lnT>
                    <a:lnB w="12700" cap="flat" cmpd="sng" algn="ctr">
                      <a:solidFill>
                        <a:srgbClr val="F003F4"/>
                      </a:solidFill>
                      <a:prstDash val="solid"/>
                      <a:round/>
                      <a:headEnd type="none" w="med" len="med"/>
                      <a:tailEnd type="none" w="med" len="med"/>
                    </a:lnB>
                    <a:solidFill>
                      <a:srgbClr val="FFFFFF"/>
                    </a:solidFill>
                  </a:tcPr>
                </a:tc>
                <a:tc>
                  <a:txBody>
                    <a:bodyPr/>
                    <a:lstStyle/>
                    <a:p>
                      <a:pPr algn="l">
                        <a:buNone/>
                      </a:pPr>
                      <a:r>
                        <a:rPr lang="en-US" b="1">
                          <a:effectLst/>
                        </a:rPr>
                        <a:t>Address</a:t>
                      </a:r>
                    </a:p>
                  </a:txBody>
                  <a:tcPr anchor="ctr">
                    <a:lnL w="12700" cap="flat" cmpd="sng" algn="ctr">
                      <a:solidFill>
                        <a:srgbClr val="0003F4"/>
                      </a:solidFill>
                      <a:prstDash val="solid"/>
                      <a:round/>
                      <a:headEnd type="none" w="med" len="med"/>
                      <a:tailEnd type="none" w="med" len="med"/>
                    </a:lnL>
                    <a:lnR w="12700" cap="flat" cmpd="sng" algn="ctr">
                      <a:solidFill>
                        <a:srgbClr val="4002F4"/>
                      </a:solidFill>
                      <a:prstDash val="solid"/>
                      <a:round/>
                      <a:headEnd type="none" w="med" len="med"/>
                      <a:tailEnd type="none" w="med" len="med"/>
                    </a:lnR>
                    <a:lnT w="9525" cap="flat" cmpd="sng" algn="ctr">
                      <a:solidFill>
                        <a:srgbClr val="0003F4"/>
                      </a:solidFill>
                      <a:prstDash val="solid"/>
                      <a:round/>
                      <a:headEnd type="none" w="med" len="med"/>
                      <a:tailEnd type="none" w="med" len="med"/>
                    </a:lnT>
                    <a:lnB w="12700" cap="flat" cmpd="sng" algn="ctr">
                      <a:solidFill>
                        <a:srgbClr val="2019F4"/>
                      </a:solidFill>
                      <a:prstDash val="solid"/>
                      <a:round/>
                      <a:headEnd type="none" w="med" len="med"/>
                      <a:tailEnd type="none" w="med" len="med"/>
                    </a:lnB>
                    <a:solidFill>
                      <a:srgbClr val="FFFFFF"/>
                    </a:solidFill>
                  </a:tcPr>
                </a:tc>
                <a:tc>
                  <a:txBody>
                    <a:bodyPr/>
                    <a:lstStyle/>
                    <a:p>
                      <a:pPr algn="l">
                        <a:buNone/>
                      </a:pPr>
                      <a:r>
                        <a:rPr lang="en-US" b="1">
                          <a:effectLst/>
                        </a:rPr>
                        <a:t>Function</a:t>
                      </a:r>
                    </a:p>
                  </a:txBody>
                  <a:tcPr anchor="ctr">
                    <a:lnL w="12700" cap="flat" cmpd="sng" algn="ctr">
                      <a:solidFill>
                        <a:srgbClr val="4002F4"/>
                      </a:solidFill>
                      <a:prstDash val="solid"/>
                      <a:round/>
                      <a:headEnd type="none" w="med" len="med"/>
                      <a:tailEnd type="none" w="med" len="med"/>
                    </a:lnL>
                    <a:lnR w="12700" cap="flat" cmpd="sng" algn="ctr">
                      <a:solidFill>
                        <a:srgbClr val="700BF4"/>
                      </a:solidFill>
                      <a:prstDash val="solid"/>
                      <a:round/>
                      <a:headEnd type="none" w="med" len="med"/>
                      <a:tailEnd type="none" w="med" len="med"/>
                    </a:lnR>
                    <a:lnT w="9525" cap="flat" cmpd="sng" algn="ctr">
                      <a:solidFill>
                        <a:srgbClr val="4002F4"/>
                      </a:solidFill>
                      <a:prstDash val="solid"/>
                      <a:round/>
                      <a:headEnd type="none" w="med" len="med"/>
                      <a:tailEnd type="none" w="med" len="med"/>
                    </a:lnT>
                    <a:lnB w="12700" cap="flat" cmpd="sng" algn="ctr">
                      <a:solidFill>
                        <a:srgbClr val="4014F4"/>
                      </a:solidFill>
                      <a:prstDash val="solid"/>
                      <a:round/>
                      <a:headEnd type="none" w="med" len="med"/>
                      <a:tailEnd type="none" w="med" len="med"/>
                    </a:lnB>
                    <a:solidFill>
                      <a:srgbClr val="FFFFFF"/>
                    </a:solidFill>
                  </a:tcPr>
                </a:tc>
                <a:tc>
                  <a:txBody>
                    <a:bodyPr/>
                    <a:lstStyle/>
                    <a:p>
                      <a:pPr algn="l">
                        <a:buNone/>
                      </a:pPr>
                      <a:r>
                        <a:rPr lang="en-US" b="1">
                          <a:effectLst/>
                        </a:rPr>
                        <a:t>Data</a:t>
                      </a:r>
                    </a:p>
                  </a:txBody>
                  <a:tcPr anchor="ctr">
                    <a:lnL w="12700" cap="flat" cmpd="sng" algn="ctr">
                      <a:solidFill>
                        <a:srgbClr val="700BF4"/>
                      </a:solidFill>
                      <a:prstDash val="solid"/>
                      <a:round/>
                      <a:headEnd type="none" w="med" len="med"/>
                      <a:tailEnd type="none" w="med" len="med"/>
                    </a:lnL>
                    <a:lnR w="12700" cap="flat" cmpd="sng" algn="ctr">
                      <a:solidFill>
                        <a:srgbClr val="4002F4"/>
                      </a:solidFill>
                      <a:prstDash val="solid"/>
                      <a:round/>
                      <a:headEnd type="none" w="med" len="med"/>
                      <a:tailEnd type="none" w="med" len="med"/>
                    </a:lnR>
                    <a:lnT w="9525" cap="flat" cmpd="sng" algn="ctr">
                      <a:solidFill>
                        <a:srgbClr val="700BF4"/>
                      </a:solidFill>
                      <a:prstDash val="solid"/>
                      <a:round/>
                      <a:headEnd type="none" w="med" len="med"/>
                      <a:tailEnd type="none" w="med" len="med"/>
                    </a:lnT>
                    <a:lnB w="12700" cap="flat" cmpd="sng" algn="ctr">
                      <a:solidFill>
                        <a:srgbClr val="8013F4"/>
                      </a:solidFill>
                      <a:prstDash val="solid"/>
                      <a:round/>
                      <a:headEnd type="none" w="med" len="med"/>
                      <a:tailEnd type="none" w="med" len="med"/>
                    </a:lnB>
                    <a:solidFill>
                      <a:srgbClr val="FFFFFF"/>
                    </a:solidFill>
                  </a:tcPr>
                </a:tc>
                <a:tc>
                  <a:txBody>
                    <a:bodyPr/>
                    <a:lstStyle/>
                    <a:p>
                      <a:pPr algn="l">
                        <a:buNone/>
                      </a:pPr>
                      <a:r>
                        <a:rPr lang="en-US" b="1">
                          <a:effectLst/>
                        </a:rPr>
                        <a:t>LRC</a:t>
                      </a:r>
                    </a:p>
                  </a:txBody>
                  <a:tcPr anchor="ctr">
                    <a:lnL w="12700" cap="flat" cmpd="sng" algn="ctr">
                      <a:solidFill>
                        <a:srgbClr val="4002F4"/>
                      </a:solidFill>
                      <a:prstDash val="solid"/>
                      <a:round/>
                      <a:headEnd type="none" w="med" len="med"/>
                      <a:tailEnd type="none" w="med" len="med"/>
                    </a:lnL>
                    <a:lnR w="12700" cap="flat" cmpd="sng" algn="ctr">
                      <a:solidFill>
                        <a:srgbClr val="E007F4"/>
                      </a:solidFill>
                      <a:prstDash val="solid"/>
                      <a:round/>
                      <a:headEnd type="none" w="med" len="med"/>
                      <a:tailEnd type="none" w="med" len="med"/>
                    </a:lnR>
                    <a:lnT w="9525" cap="flat" cmpd="sng" algn="ctr">
                      <a:solidFill>
                        <a:srgbClr val="4002F4"/>
                      </a:solidFill>
                      <a:prstDash val="solid"/>
                      <a:round/>
                      <a:headEnd type="none" w="med" len="med"/>
                      <a:tailEnd type="none" w="med" len="med"/>
                    </a:lnT>
                    <a:lnB w="12700" cap="flat" cmpd="sng" algn="ctr">
                      <a:solidFill>
                        <a:srgbClr val="D014F4"/>
                      </a:solidFill>
                      <a:prstDash val="solid"/>
                      <a:round/>
                      <a:headEnd type="none" w="med" len="med"/>
                      <a:tailEnd type="none" w="med" len="med"/>
                    </a:lnB>
                    <a:solidFill>
                      <a:srgbClr val="FFFFFF"/>
                    </a:solidFill>
                  </a:tcPr>
                </a:tc>
                <a:tc>
                  <a:txBody>
                    <a:bodyPr/>
                    <a:lstStyle/>
                    <a:p>
                      <a:pPr algn="l">
                        <a:buNone/>
                      </a:pPr>
                      <a:r>
                        <a:rPr lang="en-US" b="1">
                          <a:effectLst/>
                        </a:rPr>
                        <a:t>End</a:t>
                      </a:r>
                    </a:p>
                  </a:txBody>
                  <a:tcPr anchor="ctr">
                    <a:lnL w="12700" cap="flat" cmpd="sng" algn="ctr">
                      <a:solidFill>
                        <a:srgbClr val="E007F4"/>
                      </a:solidFill>
                      <a:prstDash val="solid"/>
                      <a:round/>
                      <a:headEnd type="none" w="med" len="med"/>
                      <a:tailEnd type="none" w="med" len="med"/>
                    </a:lnL>
                    <a:lnR w="12700" cap="flat" cmpd="sng" algn="ctr">
                      <a:solidFill>
                        <a:srgbClr val="E007F4"/>
                      </a:solidFill>
                      <a:prstDash val="solid"/>
                      <a:round/>
                      <a:headEnd type="none" w="med" len="med"/>
                      <a:tailEnd type="none" w="med" len="med"/>
                    </a:lnR>
                    <a:lnT w="9525" cap="flat" cmpd="sng" algn="ctr">
                      <a:solidFill>
                        <a:srgbClr val="E007F4"/>
                      </a:solidFill>
                      <a:prstDash val="solid"/>
                      <a:round/>
                      <a:headEnd type="none" w="med" len="med"/>
                      <a:tailEnd type="none" w="med" len="med"/>
                    </a:lnT>
                    <a:lnB w="12700" cap="flat" cmpd="sng" algn="ctr">
                      <a:solidFill>
                        <a:srgbClr val="8016F4"/>
                      </a:solidFill>
                      <a:prstDash val="solid"/>
                      <a:round/>
                      <a:headEnd type="none" w="med" len="med"/>
                      <a:tailEnd type="none" w="med" len="med"/>
                    </a:lnB>
                    <a:solidFill>
                      <a:srgbClr val="FFFFFF"/>
                    </a:solidFill>
                  </a:tcPr>
                </a:tc>
                <a:extLst>
                  <a:ext uri="{0D108BD9-81ED-4DB2-BD59-A6C34878D82A}">
                    <a16:rowId xmlns:a16="http://schemas.microsoft.com/office/drawing/2014/main" val="916486080"/>
                  </a:ext>
                </a:extLst>
              </a:tr>
              <a:tr h="0">
                <a:tc>
                  <a:txBody>
                    <a:bodyPr/>
                    <a:lstStyle/>
                    <a:p>
                      <a:pPr algn="l" fontAlgn="t">
                        <a:buNone/>
                      </a:pPr>
                      <a:r>
                        <a:rPr lang="en-US">
                          <a:effectLst/>
                        </a:rPr>
                        <a:t>:</a:t>
                      </a:r>
                    </a:p>
                  </a:txBody>
                  <a:tcPr>
                    <a:lnL w="12700" cap="flat" cmpd="sng" algn="ctr">
                      <a:solidFill>
                        <a:srgbClr val="F003F4"/>
                      </a:solidFill>
                      <a:prstDash val="solid"/>
                      <a:round/>
                      <a:headEnd type="none" w="med" len="med"/>
                      <a:tailEnd type="none" w="med" len="med"/>
                    </a:lnL>
                    <a:lnR w="12700" cap="flat" cmpd="sng" algn="ctr">
                      <a:solidFill>
                        <a:srgbClr val="2019F4"/>
                      </a:solidFill>
                      <a:prstDash val="solid"/>
                      <a:round/>
                      <a:headEnd type="none" w="med" len="med"/>
                      <a:tailEnd type="none" w="med" len="med"/>
                    </a:lnR>
                    <a:lnT w="12700" cap="flat" cmpd="sng" algn="ctr">
                      <a:solidFill>
                        <a:srgbClr val="F003F4"/>
                      </a:solidFill>
                      <a:prstDash val="solid"/>
                      <a:round/>
                      <a:headEnd type="none" w="med" len="med"/>
                      <a:tailEnd type="none" w="med" len="med"/>
                    </a:lnT>
                    <a:lnB w="9525" cap="flat" cmpd="sng" algn="ctr">
                      <a:solidFill>
                        <a:srgbClr val="F003F4"/>
                      </a:solidFill>
                      <a:prstDash val="solid"/>
                      <a:round/>
                      <a:headEnd type="none" w="med" len="med"/>
                      <a:tailEnd type="none" w="med" len="med"/>
                    </a:lnB>
                    <a:solidFill>
                      <a:srgbClr val="FFFFFF"/>
                    </a:solidFill>
                  </a:tcPr>
                </a:tc>
                <a:tc>
                  <a:txBody>
                    <a:bodyPr/>
                    <a:lstStyle/>
                    <a:p>
                      <a:pPr algn="l" fontAlgn="t">
                        <a:buNone/>
                      </a:pPr>
                      <a:r>
                        <a:rPr lang="en-US">
                          <a:effectLst/>
                        </a:rPr>
                        <a:t>2 Chars</a:t>
                      </a:r>
                    </a:p>
                  </a:txBody>
                  <a:tcPr>
                    <a:lnL w="12700" cap="flat" cmpd="sng" algn="ctr">
                      <a:solidFill>
                        <a:srgbClr val="2019F4"/>
                      </a:solidFill>
                      <a:prstDash val="solid"/>
                      <a:round/>
                      <a:headEnd type="none" w="med" len="med"/>
                      <a:tailEnd type="none" w="med" len="med"/>
                    </a:lnL>
                    <a:lnR w="12700" cap="flat" cmpd="sng" algn="ctr">
                      <a:solidFill>
                        <a:srgbClr val="4014F4"/>
                      </a:solidFill>
                      <a:prstDash val="solid"/>
                      <a:round/>
                      <a:headEnd type="none" w="med" len="med"/>
                      <a:tailEnd type="none" w="med" len="med"/>
                    </a:lnR>
                    <a:lnT w="12700" cap="flat" cmpd="sng" algn="ctr">
                      <a:solidFill>
                        <a:srgbClr val="2019F4"/>
                      </a:solidFill>
                      <a:prstDash val="solid"/>
                      <a:round/>
                      <a:headEnd type="none" w="med" len="med"/>
                      <a:tailEnd type="none" w="med" len="med"/>
                    </a:lnT>
                    <a:lnB w="9525" cap="flat" cmpd="sng" algn="ctr">
                      <a:solidFill>
                        <a:srgbClr val="2019F4"/>
                      </a:solidFill>
                      <a:prstDash val="solid"/>
                      <a:round/>
                      <a:headEnd type="none" w="med" len="med"/>
                      <a:tailEnd type="none" w="med" len="med"/>
                    </a:lnB>
                    <a:solidFill>
                      <a:srgbClr val="FFFFFF"/>
                    </a:solidFill>
                  </a:tcPr>
                </a:tc>
                <a:tc>
                  <a:txBody>
                    <a:bodyPr/>
                    <a:lstStyle/>
                    <a:p>
                      <a:pPr algn="l" fontAlgn="t">
                        <a:buNone/>
                      </a:pPr>
                      <a:r>
                        <a:rPr lang="en-US">
                          <a:effectLst/>
                        </a:rPr>
                        <a:t>2 Chars</a:t>
                      </a:r>
                    </a:p>
                  </a:txBody>
                  <a:tcPr>
                    <a:lnL w="12700" cap="flat" cmpd="sng" algn="ctr">
                      <a:solidFill>
                        <a:srgbClr val="4014F4"/>
                      </a:solidFill>
                      <a:prstDash val="solid"/>
                      <a:round/>
                      <a:headEnd type="none" w="med" len="med"/>
                      <a:tailEnd type="none" w="med" len="med"/>
                    </a:lnL>
                    <a:lnR w="12700" cap="flat" cmpd="sng" algn="ctr">
                      <a:solidFill>
                        <a:srgbClr val="8013F4"/>
                      </a:solidFill>
                      <a:prstDash val="solid"/>
                      <a:round/>
                      <a:headEnd type="none" w="med" len="med"/>
                      <a:tailEnd type="none" w="med" len="med"/>
                    </a:lnR>
                    <a:lnT w="12700" cap="flat" cmpd="sng" algn="ctr">
                      <a:solidFill>
                        <a:srgbClr val="4014F4"/>
                      </a:solidFill>
                      <a:prstDash val="solid"/>
                      <a:round/>
                      <a:headEnd type="none" w="med" len="med"/>
                      <a:tailEnd type="none" w="med" len="med"/>
                    </a:lnT>
                    <a:lnB w="9525" cap="flat" cmpd="sng" algn="ctr">
                      <a:solidFill>
                        <a:srgbClr val="4014F4"/>
                      </a:solidFill>
                      <a:prstDash val="solid"/>
                      <a:round/>
                      <a:headEnd type="none" w="med" len="med"/>
                      <a:tailEnd type="none" w="med" len="med"/>
                    </a:lnB>
                    <a:solidFill>
                      <a:srgbClr val="FFFFFF"/>
                    </a:solidFill>
                  </a:tcPr>
                </a:tc>
                <a:tc>
                  <a:txBody>
                    <a:bodyPr/>
                    <a:lstStyle/>
                    <a:p>
                      <a:pPr algn="l" fontAlgn="t">
                        <a:buNone/>
                      </a:pPr>
                      <a:r>
                        <a:rPr lang="en-US">
                          <a:effectLst/>
                        </a:rPr>
                        <a:t>N Chars</a:t>
                      </a:r>
                    </a:p>
                  </a:txBody>
                  <a:tcPr>
                    <a:lnL w="12700" cap="flat" cmpd="sng" algn="ctr">
                      <a:solidFill>
                        <a:srgbClr val="8013F4"/>
                      </a:solidFill>
                      <a:prstDash val="solid"/>
                      <a:round/>
                      <a:headEnd type="none" w="med" len="med"/>
                      <a:tailEnd type="none" w="med" len="med"/>
                    </a:lnL>
                    <a:lnR w="12700" cap="flat" cmpd="sng" algn="ctr">
                      <a:solidFill>
                        <a:srgbClr val="D014F4"/>
                      </a:solidFill>
                      <a:prstDash val="solid"/>
                      <a:round/>
                      <a:headEnd type="none" w="med" len="med"/>
                      <a:tailEnd type="none" w="med" len="med"/>
                    </a:lnR>
                    <a:lnT w="12700" cap="flat" cmpd="sng" algn="ctr">
                      <a:solidFill>
                        <a:srgbClr val="8013F4"/>
                      </a:solidFill>
                      <a:prstDash val="solid"/>
                      <a:round/>
                      <a:headEnd type="none" w="med" len="med"/>
                      <a:tailEnd type="none" w="med" len="med"/>
                    </a:lnT>
                    <a:lnB w="9525" cap="flat" cmpd="sng" algn="ctr">
                      <a:solidFill>
                        <a:srgbClr val="8013F4"/>
                      </a:solidFill>
                      <a:prstDash val="solid"/>
                      <a:round/>
                      <a:headEnd type="none" w="med" len="med"/>
                      <a:tailEnd type="none" w="med" len="med"/>
                    </a:lnB>
                    <a:solidFill>
                      <a:srgbClr val="FFFFFF"/>
                    </a:solidFill>
                  </a:tcPr>
                </a:tc>
                <a:tc>
                  <a:txBody>
                    <a:bodyPr/>
                    <a:lstStyle/>
                    <a:p>
                      <a:pPr algn="l" fontAlgn="t">
                        <a:buNone/>
                      </a:pPr>
                      <a:r>
                        <a:rPr lang="en-US">
                          <a:effectLst/>
                        </a:rPr>
                        <a:t>2 Chars</a:t>
                      </a:r>
                    </a:p>
                  </a:txBody>
                  <a:tcPr>
                    <a:lnL w="12700" cap="flat" cmpd="sng" algn="ctr">
                      <a:solidFill>
                        <a:srgbClr val="D014F4"/>
                      </a:solidFill>
                      <a:prstDash val="solid"/>
                      <a:round/>
                      <a:headEnd type="none" w="med" len="med"/>
                      <a:tailEnd type="none" w="med" len="med"/>
                    </a:lnL>
                    <a:lnR w="12700" cap="flat" cmpd="sng" algn="ctr">
                      <a:solidFill>
                        <a:srgbClr val="8016F4"/>
                      </a:solidFill>
                      <a:prstDash val="solid"/>
                      <a:round/>
                      <a:headEnd type="none" w="med" len="med"/>
                      <a:tailEnd type="none" w="med" len="med"/>
                    </a:lnR>
                    <a:lnT w="12700" cap="flat" cmpd="sng" algn="ctr">
                      <a:solidFill>
                        <a:srgbClr val="D014F4"/>
                      </a:solidFill>
                      <a:prstDash val="solid"/>
                      <a:round/>
                      <a:headEnd type="none" w="med" len="med"/>
                      <a:tailEnd type="none" w="med" len="med"/>
                    </a:lnT>
                    <a:lnB w="9525" cap="flat" cmpd="sng" algn="ctr">
                      <a:solidFill>
                        <a:srgbClr val="D014F4"/>
                      </a:solidFill>
                      <a:prstDash val="solid"/>
                      <a:round/>
                      <a:headEnd type="none" w="med" len="med"/>
                      <a:tailEnd type="none" w="med" len="med"/>
                    </a:lnB>
                    <a:solidFill>
                      <a:srgbClr val="FFFFFF"/>
                    </a:solidFill>
                  </a:tcPr>
                </a:tc>
                <a:tc>
                  <a:txBody>
                    <a:bodyPr/>
                    <a:lstStyle/>
                    <a:p>
                      <a:pPr algn="l" fontAlgn="t">
                        <a:buNone/>
                      </a:pPr>
                      <a:r>
                        <a:rPr lang="en-US" dirty="0">
                          <a:effectLst/>
                        </a:rPr>
                        <a:t>CR LF</a:t>
                      </a:r>
                    </a:p>
                  </a:txBody>
                  <a:tcPr>
                    <a:lnL w="12700" cap="flat" cmpd="sng" algn="ctr">
                      <a:solidFill>
                        <a:srgbClr val="8016F4"/>
                      </a:solidFill>
                      <a:prstDash val="solid"/>
                      <a:round/>
                      <a:headEnd type="none" w="med" len="med"/>
                      <a:tailEnd type="none" w="med" len="med"/>
                    </a:lnL>
                    <a:lnR w="12700" cap="flat" cmpd="sng" algn="ctr">
                      <a:solidFill>
                        <a:srgbClr val="8016F4"/>
                      </a:solidFill>
                      <a:prstDash val="solid"/>
                      <a:round/>
                      <a:headEnd type="none" w="med" len="med"/>
                      <a:tailEnd type="none" w="med" len="med"/>
                    </a:lnR>
                    <a:lnT w="12700" cap="flat" cmpd="sng" algn="ctr">
                      <a:solidFill>
                        <a:srgbClr val="8016F4"/>
                      </a:solidFill>
                      <a:prstDash val="solid"/>
                      <a:round/>
                      <a:headEnd type="none" w="med" len="med"/>
                      <a:tailEnd type="none" w="med" len="med"/>
                    </a:lnT>
                    <a:lnB w="9525" cap="flat" cmpd="sng" algn="ctr">
                      <a:solidFill>
                        <a:srgbClr val="8016F4"/>
                      </a:solidFill>
                      <a:prstDash val="solid"/>
                      <a:round/>
                      <a:headEnd type="none" w="med" len="med"/>
                      <a:tailEnd type="none" w="med" len="med"/>
                    </a:lnB>
                    <a:solidFill>
                      <a:srgbClr val="FFFFFF"/>
                    </a:solidFill>
                  </a:tcPr>
                </a:tc>
                <a:extLst>
                  <a:ext uri="{0D108BD9-81ED-4DB2-BD59-A6C34878D82A}">
                    <a16:rowId xmlns:a16="http://schemas.microsoft.com/office/drawing/2014/main" val="3818276968"/>
                  </a:ext>
                </a:extLst>
              </a:tr>
            </a:tbl>
          </a:graphicData>
        </a:graphic>
      </p:graphicFrame>
    </p:spTree>
    <p:extLst>
      <p:ext uri="{BB962C8B-B14F-4D97-AF65-F5344CB8AC3E}">
        <p14:creationId xmlns:p14="http://schemas.microsoft.com/office/powerpoint/2010/main" val="29206244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94DAB70-9653-502E-0081-EBC0CE515E3C}"/>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4D49B0B5-DF6B-B85B-7C4E-FEFC94CCD53E}"/>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10CDFFB0-8AD9-1F99-686C-C8F0043CA17F}"/>
              </a:ext>
            </a:extLst>
          </p:cNvPr>
          <p:cNvSpPr/>
          <p:nvPr/>
        </p:nvSpPr>
        <p:spPr>
          <a:xfrm>
            <a:off x="198946" y="696053"/>
            <a:ext cx="9392645" cy="5493812"/>
          </a:xfrm>
          <a:prstGeom prst="rect">
            <a:avLst/>
          </a:prstGeom>
          <a:noFill/>
          <a:ln>
            <a:noFill/>
          </a:ln>
        </p:spPr>
        <p:txBody>
          <a:bodyPr spcFirstLastPara="1" wrap="square" lIns="0" tIns="0" rIns="0" bIns="0" anchor="t" anchorCtr="0">
            <a:spAutoFit/>
          </a:bodyPr>
          <a:lstStyle/>
          <a:p>
            <a:pPr>
              <a:lnSpc>
                <a:spcPct val="150000"/>
              </a:lnSpc>
            </a:pPr>
            <a:r>
              <a:rPr lang="vi-VN" b="1" dirty="0"/>
              <a:t>Các thành phần của giao thức Modbus</a:t>
            </a:r>
          </a:p>
          <a:p>
            <a:pPr>
              <a:lnSpc>
                <a:spcPct val="150000"/>
              </a:lnSpc>
            </a:pPr>
            <a:r>
              <a:rPr lang="vi-VN" dirty="0"/>
              <a:t>Giao thức Modbus định nghĩa nhiều </a:t>
            </a:r>
            <a:r>
              <a:rPr lang="vi-VN" b="1" dirty="0"/>
              <a:t>mã chức năng (function codes)</a:t>
            </a:r>
            <a:r>
              <a:rPr lang="vi-VN" dirty="0"/>
              <a:t> khác nhau nhằm cho phép thiết bị truy cập và thao tác với các vùng bộ nhớ trong hệ thống. Các mã chức năng này được sử dụng bởi thiết bị Master để yêu cầu thiết bị Slave thực hiện các thao tác như đọc dữ liệu, ghi dữ liệu hoặc thay đổi trạng thái của các vùng bộ nhớ. </a:t>
            </a: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gn="just">
              <a:lnSpc>
                <a:spcPct val="150000"/>
              </a:lnSpc>
            </a:pPr>
            <a:endParaRPr lang="en-US" dirty="0"/>
          </a:p>
        </p:txBody>
      </p:sp>
      <p:sp>
        <p:nvSpPr>
          <p:cNvPr id="3" name="Rectangle 1">
            <a:extLst>
              <a:ext uri="{FF2B5EF4-FFF2-40B4-BE49-F238E27FC236}">
                <a16:creationId xmlns:a16="http://schemas.microsoft.com/office/drawing/2014/main" id="{0254D284-7128-563D-90B7-7384C671116F}"/>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AD00C2E9-ED1F-0F74-0646-4CEE67967340}"/>
              </a:ext>
            </a:extLst>
          </p:cNvPr>
          <p:cNvPicPr>
            <a:picLocks noChangeAspect="1"/>
          </p:cNvPicPr>
          <p:nvPr/>
        </p:nvPicPr>
        <p:blipFill>
          <a:blip r:embed="rId3"/>
          <a:stretch>
            <a:fillRect/>
          </a:stretch>
        </p:blipFill>
        <p:spPr>
          <a:xfrm>
            <a:off x="1523375" y="2160790"/>
            <a:ext cx="7143750" cy="4029075"/>
          </a:xfrm>
          <a:prstGeom prst="rect">
            <a:avLst/>
          </a:prstGeom>
        </p:spPr>
      </p:pic>
    </p:spTree>
    <p:extLst>
      <p:ext uri="{BB962C8B-B14F-4D97-AF65-F5344CB8AC3E}">
        <p14:creationId xmlns:p14="http://schemas.microsoft.com/office/powerpoint/2010/main" val="34332942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ED5F998-C871-9FBD-CB32-C3FC5AB3967B}"/>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7E3535B0-FC16-104F-3DFE-7D69DC4D3FFE}"/>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AD3C776A-9F01-EB56-9ACE-CD35E2895431}"/>
              </a:ext>
            </a:extLst>
          </p:cNvPr>
          <p:cNvSpPr/>
          <p:nvPr/>
        </p:nvSpPr>
        <p:spPr>
          <a:xfrm>
            <a:off x="198946" y="696053"/>
            <a:ext cx="9392645" cy="6140142"/>
          </a:xfrm>
          <a:prstGeom prst="rect">
            <a:avLst/>
          </a:prstGeom>
          <a:noFill/>
          <a:ln>
            <a:noFill/>
          </a:ln>
        </p:spPr>
        <p:txBody>
          <a:bodyPr spcFirstLastPara="1" wrap="square" lIns="0" tIns="0" rIns="0" bIns="0" anchor="t" anchorCtr="0">
            <a:spAutoFit/>
          </a:bodyPr>
          <a:lstStyle/>
          <a:p>
            <a:pPr>
              <a:lnSpc>
                <a:spcPct val="150000"/>
              </a:lnSpc>
            </a:pPr>
            <a:r>
              <a:rPr lang="vi-VN" b="1" dirty="0"/>
              <a:t>Giới thiệu về Các thành phần của giao thức Modbus</a:t>
            </a:r>
          </a:p>
          <a:p>
            <a:pPr>
              <a:lnSpc>
                <a:spcPct val="150000"/>
              </a:lnSpc>
            </a:pPr>
            <a:r>
              <a:rPr lang="vi-VN" dirty="0"/>
              <a:t>Giả sử </a:t>
            </a:r>
            <a:r>
              <a:rPr lang="vi-VN" b="1" dirty="0"/>
              <a:t>Slave ID là 01H</a:t>
            </a:r>
            <a:r>
              <a:rPr lang="vi-VN" dirty="0"/>
              <a:t>, và </a:t>
            </a:r>
            <a:r>
              <a:rPr lang="vi-VN" b="1" dirty="0"/>
              <a:t>địa chỉ bắt đầu của Holding Register cần đọc là 006BH</a:t>
            </a:r>
            <a:r>
              <a:rPr lang="vi-VN" dirty="0"/>
              <a:t>, đồng thời cần </a:t>
            </a:r>
            <a:r>
              <a:rPr lang="vi-VN" b="1" dirty="0"/>
              <a:t>đọc 2 thanh ghi (register)</a:t>
            </a:r>
            <a:r>
              <a:rPr lang="vi-VN" dirty="0"/>
              <a:t>. Khi đó, khung lệnh yêu cầu (request frame) được gửi đi như sau:</a:t>
            </a: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r>
              <a:rPr lang="vi-VN" dirty="0"/>
              <a:t>Trong đó:</a:t>
            </a:r>
          </a:p>
          <a:p>
            <a:pPr marL="285750" indent="-285750">
              <a:lnSpc>
                <a:spcPct val="150000"/>
              </a:lnSpc>
              <a:buFont typeface="Arial" panose="020B0604020202020204" pitchFamily="34" charset="0"/>
              <a:buChar char="•"/>
            </a:pPr>
            <a:r>
              <a:rPr lang="vi-VN" dirty="0"/>
              <a:t>Slave ID</a:t>
            </a:r>
            <a:r>
              <a:rPr lang="en-US" dirty="0"/>
              <a:t>: </a:t>
            </a:r>
            <a:r>
              <a:rPr lang="vi-VN" dirty="0"/>
              <a:t>Xác định địa chỉ của thiết bị Slave cần giao tiếp. Trong ví dụ này là </a:t>
            </a:r>
            <a:r>
              <a:rPr lang="vi-VN" b="1" dirty="0"/>
              <a:t>01</a:t>
            </a:r>
            <a:r>
              <a:rPr lang="vi-VN" dirty="0"/>
              <a:t>.</a:t>
            </a:r>
          </a:p>
          <a:p>
            <a:pPr marL="285750" indent="-285750">
              <a:lnSpc>
                <a:spcPct val="150000"/>
              </a:lnSpc>
              <a:buFont typeface="Arial" panose="020B0604020202020204" pitchFamily="34" charset="0"/>
              <a:buChar char="•"/>
            </a:pPr>
            <a:r>
              <a:rPr lang="vi-VN" dirty="0"/>
              <a:t>Function Code</a:t>
            </a:r>
            <a:r>
              <a:rPr lang="en-US" dirty="0"/>
              <a:t>: </a:t>
            </a:r>
            <a:r>
              <a:rPr lang="vi-VN" dirty="0"/>
              <a:t>Mã chức năng </a:t>
            </a:r>
            <a:r>
              <a:rPr lang="vi-VN" b="1" dirty="0"/>
              <a:t>03</a:t>
            </a:r>
            <a:r>
              <a:rPr lang="vi-VN" dirty="0"/>
              <a:t>, dùng để </a:t>
            </a:r>
            <a:r>
              <a:rPr lang="vi-VN" b="1" dirty="0"/>
              <a:t>đọc Holding Registers</a:t>
            </a:r>
            <a:r>
              <a:rPr lang="vi-VN" dirty="0"/>
              <a:t> trong giao thức </a:t>
            </a:r>
            <a:r>
              <a:rPr lang="vi-VN" b="1" dirty="0"/>
              <a:t>Modbus</a:t>
            </a:r>
            <a:r>
              <a:rPr lang="vi-VN" dirty="0"/>
              <a:t>.</a:t>
            </a:r>
          </a:p>
          <a:p>
            <a:pPr marL="285750" indent="-285750">
              <a:lnSpc>
                <a:spcPct val="150000"/>
              </a:lnSpc>
              <a:buFont typeface="Arial" panose="020B0604020202020204" pitchFamily="34" charset="0"/>
              <a:buChar char="•"/>
            </a:pPr>
            <a:r>
              <a:rPr lang="vi-VN" dirty="0"/>
              <a:t>Starting Address</a:t>
            </a:r>
            <a:r>
              <a:rPr lang="en-US" dirty="0"/>
              <a:t> :</a:t>
            </a:r>
            <a:r>
              <a:rPr lang="vi-VN" dirty="0"/>
              <a:t>Địa chỉ bắt đầu của thanh ghi cần đọc là </a:t>
            </a:r>
            <a:r>
              <a:rPr lang="vi-VN" b="1" dirty="0"/>
              <a:t>006BH</a:t>
            </a:r>
            <a:r>
              <a:rPr lang="vi-VN" dirty="0"/>
              <a:t>. Do địa chỉ được truyền dưới dạng 2 byte nên gồm:</a:t>
            </a:r>
            <a:r>
              <a:rPr lang="en-US" dirty="0"/>
              <a:t>  </a:t>
            </a:r>
          </a:p>
          <a:p>
            <a:pPr>
              <a:lnSpc>
                <a:spcPct val="150000"/>
              </a:lnSpc>
            </a:pPr>
            <a:r>
              <a:rPr lang="en-US" dirty="0"/>
              <a:t>	</a:t>
            </a:r>
            <a:r>
              <a:rPr lang="vi-VN" dirty="0"/>
              <a:t>High Byte: 00</a:t>
            </a:r>
            <a:endParaRPr lang="en-US" dirty="0"/>
          </a:p>
          <a:p>
            <a:pPr>
              <a:lnSpc>
                <a:spcPct val="150000"/>
              </a:lnSpc>
            </a:pPr>
            <a:r>
              <a:rPr lang="en-US" dirty="0"/>
              <a:t>	</a:t>
            </a:r>
            <a:r>
              <a:rPr lang="vi-VN" dirty="0"/>
              <a:t>Low Byte: 6B</a:t>
            </a:r>
          </a:p>
          <a:p>
            <a:pPr marL="285750" indent="-285750">
              <a:lnSpc>
                <a:spcPct val="150000"/>
              </a:lnSpc>
              <a:buFont typeface="Arial" panose="020B0604020202020204" pitchFamily="34" charset="0"/>
              <a:buChar char="•"/>
            </a:pPr>
            <a:r>
              <a:rPr lang="vi-VN" dirty="0"/>
              <a:t>Number of Registers</a:t>
            </a:r>
            <a:r>
              <a:rPr lang="en-US" dirty="0"/>
              <a:t> </a:t>
            </a:r>
            <a:r>
              <a:rPr lang="vi-VN" dirty="0"/>
              <a:t>Số lượng thanh ghi cần đọc là </a:t>
            </a:r>
            <a:r>
              <a:rPr lang="vi-VN" b="1" dirty="0"/>
              <a:t>2</a:t>
            </a:r>
            <a:r>
              <a:rPr lang="vi-VN" dirty="0"/>
              <a:t>, cũng được biểu diễn bằng 2 byte:</a:t>
            </a:r>
          </a:p>
          <a:p>
            <a:pPr>
              <a:lnSpc>
                <a:spcPct val="150000"/>
              </a:lnSpc>
            </a:pPr>
            <a:r>
              <a:rPr lang="en-US" dirty="0"/>
              <a:t>	</a:t>
            </a:r>
            <a:r>
              <a:rPr lang="vi-VN" dirty="0"/>
              <a:t>High Byte: 00</a:t>
            </a:r>
          </a:p>
          <a:p>
            <a:pPr>
              <a:lnSpc>
                <a:spcPct val="150000"/>
              </a:lnSpc>
            </a:pPr>
            <a:r>
              <a:rPr lang="en-US" dirty="0"/>
              <a:t>	</a:t>
            </a:r>
            <a:r>
              <a:rPr lang="vi-VN" dirty="0"/>
              <a:t>Low Byte: 02</a:t>
            </a:r>
          </a:p>
          <a:p>
            <a:pPr algn="just">
              <a:lnSpc>
                <a:spcPct val="150000"/>
              </a:lnSpc>
            </a:pPr>
            <a:endParaRPr lang="en-US" dirty="0"/>
          </a:p>
        </p:txBody>
      </p:sp>
      <p:sp>
        <p:nvSpPr>
          <p:cNvPr id="3" name="Rectangle 1">
            <a:extLst>
              <a:ext uri="{FF2B5EF4-FFF2-40B4-BE49-F238E27FC236}">
                <a16:creationId xmlns:a16="http://schemas.microsoft.com/office/drawing/2014/main" id="{457BEAF4-1986-DFD2-90B2-152662B90D10}"/>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44A1DEE9-44CB-E57B-78CD-9001BF4C3D96}"/>
              </a:ext>
            </a:extLst>
          </p:cNvPr>
          <p:cNvPicPr>
            <a:picLocks noChangeAspect="1"/>
          </p:cNvPicPr>
          <p:nvPr/>
        </p:nvPicPr>
        <p:blipFill>
          <a:blip r:embed="rId3"/>
          <a:stretch>
            <a:fillRect/>
          </a:stretch>
        </p:blipFill>
        <p:spPr>
          <a:xfrm>
            <a:off x="1370012" y="1675544"/>
            <a:ext cx="7162800" cy="1438275"/>
          </a:xfrm>
          <a:prstGeom prst="rect">
            <a:avLst/>
          </a:prstGeom>
        </p:spPr>
      </p:pic>
    </p:spTree>
    <p:extLst>
      <p:ext uri="{BB962C8B-B14F-4D97-AF65-F5344CB8AC3E}">
        <p14:creationId xmlns:p14="http://schemas.microsoft.com/office/powerpoint/2010/main" val="22283180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ACA73BF-1996-6C01-2FD9-D75F686D952B}"/>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9215C83-B253-6859-F293-FDAD0BF058EA}"/>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706D9E6-D579-C00F-A523-B0C4180E85F6}"/>
              </a:ext>
            </a:extLst>
          </p:cNvPr>
          <p:cNvSpPr/>
          <p:nvPr/>
        </p:nvSpPr>
        <p:spPr>
          <a:xfrm>
            <a:off x="198946" y="696053"/>
            <a:ext cx="9392645" cy="5816977"/>
          </a:xfrm>
          <a:prstGeom prst="rect">
            <a:avLst/>
          </a:prstGeom>
          <a:noFill/>
          <a:ln>
            <a:noFill/>
          </a:ln>
        </p:spPr>
        <p:txBody>
          <a:bodyPr spcFirstLastPara="1" wrap="square" lIns="0" tIns="0" rIns="0" bIns="0" anchor="t" anchorCtr="0">
            <a:spAutoFit/>
          </a:bodyPr>
          <a:lstStyle/>
          <a:p>
            <a:pPr>
              <a:lnSpc>
                <a:spcPct val="150000"/>
              </a:lnSpc>
            </a:pPr>
            <a:r>
              <a:rPr lang="vi-VN" b="1" dirty="0"/>
              <a:t>Các thành phần của giao thức Modbus</a:t>
            </a:r>
          </a:p>
          <a:p>
            <a:pPr>
              <a:lnSpc>
                <a:spcPct val="150000"/>
              </a:lnSpc>
            </a:pPr>
            <a:r>
              <a:rPr lang="vi-VN" b="1" dirty="0"/>
              <a:t>Cấu trúc dữ liệu phản hồi</a:t>
            </a:r>
          </a:p>
          <a:p>
            <a:pPr>
              <a:lnSpc>
                <a:spcPct val="150000"/>
              </a:lnSpc>
            </a:pPr>
            <a:r>
              <a:rPr lang="vi-VN" dirty="0"/>
              <a:t>Mỗi </a:t>
            </a:r>
            <a:r>
              <a:rPr lang="vi-VN" b="1" dirty="0"/>
              <a:t>Holding Register</a:t>
            </a:r>
            <a:r>
              <a:rPr lang="vi-VN" dirty="0"/>
              <a:t> có </a:t>
            </a:r>
            <a:r>
              <a:rPr lang="vi-VN" b="1" dirty="0"/>
              <a:t>độ dài 2 byte</a:t>
            </a:r>
            <a:r>
              <a:rPr lang="vi-VN" dirty="0"/>
              <a:t>. Trong quá trình truyền dữ liệu:</a:t>
            </a:r>
          </a:p>
          <a:p>
            <a:pPr>
              <a:lnSpc>
                <a:spcPct val="150000"/>
              </a:lnSpc>
            </a:pPr>
            <a:r>
              <a:rPr lang="vi-VN" dirty="0"/>
              <a:t>Các thanh ghi có </a:t>
            </a:r>
            <a:r>
              <a:rPr lang="vi-VN" b="1" dirty="0"/>
              <a:t>địa chỉ thấp sẽ được truyền trước</a:t>
            </a:r>
            <a:r>
              <a:rPr lang="vi-VN" dirty="0"/>
              <a:t>, sau đó đến các thanh ghi có </a:t>
            </a:r>
            <a:r>
              <a:rPr lang="vi-VN" b="1" dirty="0"/>
              <a:t>địa chỉ cao hơn</a:t>
            </a:r>
            <a:r>
              <a:rPr lang="vi-VN" dirty="0"/>
              <a:t>.</a:t>
            </a:r>
          </a:p>
          <a:p>
            <a:pPr>
              <a:lnSpc>
                <a:spcPct val="150000"/>
              </a:lnSpc>
            </a:pPr>
            <a:r>
              <a:rPr lang="vi-VN" dirty="0"/>
              <a:t>Đối với </a:t>
            </a:r>
            <a:r>
              <a:rPr lang="vi-VN" b="1" dirty="0"/>
              <a:t>mỗi thanh ghi</a:t>
            </a:r>
            <a:r>
              <a:rPr lang="vi-VN" dirty="0"/>
              <a:t>, thứ tự truyền dữ liệu sẽ là:</a:t>
            </a:r>
          </a:p>
          <a:p>
            <a:pPr>
              <a:lnSpc>
                <a:spcPct val="150000"/>
              </a:lnSpc>
            </a:pPr>
            <a:r>
              <a:rPr lang="vi-VN" dirty="0"/>
              <a:t>High Byte → Low Byte</a:t>
            </a:r>
          </a:p>
          <a:p>
            <a:pPr>
              <a:lnSpc>
                <a:spcPct val="150000"/>
              </a:lnSpc>
            </a:pPr>
            <a:r>
              <a:rPr lang="vi-VN" dirty="0"/>
              <a:t>Khung phản hồi (response frame) từ Slave sẽ có dạng:</a:t>
            </a:r>
            <a:endParaRPr lang="en-US" dirty="0"/>
          </a:p>
          <a:p>
            <a:pPr>
              <a:lnSpc>
                <a:spcPct val="150000"/>
              </a:lnSpc>
            </a:pPr>
            <a:endParaRPr lang="en-US" dirty="0"/>
          </a:p>
          <a:p>
            <a:pPr>
              <a:lnSpc>
                <a:spcPct val="150000"/>
              </a:lnSpc>
            </a:pPr>
            <a:endParaRPr lang="en-US" dirty="0"/>
          </a:p>
          <a:p>
            <a:pPr>
              <a:lnSpc>
                <a:spcPct val="150000"/>
              </a:lnSpc>
            </a:pPr>
            <a:endParaRPr lang="en-US" dirty="0"/>
          </a:p>
          <a:p>
            <a:pPr>
              <a:lnSpc>
                <a:spcPct val="150000"/>
              </a:lnSpc>
            </a:pPr>
            <a:r>
              <a:rPr lang="vi-VN" dirty="0"/>
              <a:t>Trong đó:</a:t>
            </a:r>
          </a:p>
          <a:p>
            <a:pPr>
              <a:lnSpc>
                <a:spcPct val="150000"/>
              </a:lnSpc>
            </a:pPr>
            <a:r>
              <a:rPr lang="vi-VN" dirty="0"/>
              <a:t>Slave ID</a:t>
            </a:r>
            <a:r>
              <a:rPr lang="en-US" dirty="0"/>
              <a:t>: </a:t>
            </a:r>
            <a:r>
              <a:rPr lang="vi-VN" dirty="0"/>
              <a:t>Vẫn là </a:t>
            </a:r>
            <a:r>
              <a:rPr lang="vi-VN" b="1" dirty="0"/>
              <a:t>01</a:t>
            </a:r>
            <a:r>
              <a:rPr lang="vi-VN" dirty="0"/>
              <a:t>, cho biết phản hồi đến từ thiết bị Slave có địa chỉ 01.</a:t>
            </a:r>
          </a:p>
          <a:p>
            <a:pPr>
              <a:lnSpc>
                <a:spcPct val="150000"/>
              </a:lnSpc>
            </a:pPr>
            <a:r>
              <a:rPr lang="vi-VN" dirty="0"/>
              <a:t>Function Code</a:t>
            </a:r>
            <a:r>
              <a:rPr lang="en-US" dirty="0"/>
              <a:t>: </a:t>
            </a:r>
            <a:r>
              <a:rPr lang="vi-VN" dirty="0"/>
              <a:t>Vẫn là </a:t>
            </a:r>
            <a:r>
              <a:rPr lang="vi-VN" b="1" dirty="0"/>
              <a:t>03</a:t>
            </a:r>
            <a:r>
              <a:rPr lang="vi-VN" dirty="0"/>
              <a:t>, cho biết phản hồi cho lệnh đọc Holding Register.</a:t>
            </a:r>
          </a:p>
          <a:p>
            <a:pPr>
              <a:lnSpc>
                <a:spcPct val="150000"/>
              </a:lnSpc>
            </a:pPr>
            <a:r>
              <a:rPr lang="vi-VN" dirty="0"/>
              <a:t>Number of Bytes</a:t>
            </a:r>
            <a:r>
              <a:rPr lang="en-US" dirty="0"/>
              <a:t>:</a:t>
            </a:r>
            <a:r>
              <a:rPr lang="vi-VN" dirty="0"/>
              <a:t>Số byte dữ liệu được trả về. Vì đọc </a:t>
            </a:r>
            <a:r>
              <a:rPr lang="vi-VN" b="1" dirty="0"/>
              <a:t>2 thanh ghi</a:t>
            </a:r>
            <a:r>
              <a:rPr lang="vi-VN" dirty="0"/>
              <a:t>, mỗi thanh ghi </a:t>
            </a:r>
            <a:r>
              <a:rPr lang="vi-VN" b="1" dirty="0"/>
              <a:t>2 byte</a:t>
            </a:r>
            <a:r>
              <a:rPr lang="vi-VN" dirty="0"/>
              <a:t>, nên tổng số byte dữ liệu là:</a:t>
            </a:r>
          </a:p>
          <a:p>
            <a:pPr>
              <a:lnSpc>
                <a:spcPct val="150000"/>
              </a:lnSpc>
            </a:pPr>
            <a:r>
              <a:rPr lang="vi-VN" dirty="0"/>
              <a:t>2 × 2 = </a:t>
            </a:r>
            <a:r>
              <a:rPr lang="vi-VN" b="1" dirty="0"/>
              <a:t>4 byte</a:t>
            </a:r>
            <a:endParaRPr lang="vi-VN" dirty="0"/>
          </a:p>
          <a:p>
            <a:pPr>
              <a:lnSpc>
                <a:spcPct val="150000"/>
              </a:lnSpc>
            </a:pPr>
            <a:r>
              <a:rPr lang="vi-VN" dirty="0"/>
              <a:t>Dữ liệu của các thanh ghi</a:t>
            </a:r>
            <a:r>
              <a:rPr lang="en-US" dirty="0"/>
              <a:t>:</a:t>
            </a:r>
            <a:r>
              <a:rPr lang="vi-VN" dirty="0"/>
              <a:t>Các giá trị của thanh ghi </a:t>
            </a:r>
            <a:r>
              <a:rPr lang="vi-VN" b="1" dirty="0"/>
              <a:t>006BH</a:t>
            </a:r>
            <a:r>
              <a:rPr lang="vi-VN" dirty="0"/>
              <a:t> và </a:t>
            </a:r>
            <a:r>
              <a:rPr lang="vi-VN" b="1" dirty="0"/>
              <a:t>006CH</a:t>
            </a:r>
            <a:r>
              <a:rPr lang="vi-VN" dirty="0"/>
              <a:t> được gửi lần lượt theo thứ tự </a:t>
            </a:r>
            <a:r>
              <a:rPr lang="vi-VN" b="1" dirty="0"/>
              <a:t>High Byte trước, Low Byte sau</a:t>
            </a:r>
            <a:r>
              <a:rPr lang="vi-VN" dirty="0"/>
              <a:t>. </a:t>
            </a:r>
            <a:endParaRPr lang="en-US" dirty="0"/>
          </a:p>
          <a:p>
            <a:pPr>
              <a:lnSpc>
                <a:spcPct val="150000"/>
              </a:lnSpc>
            </a:pPr>
            <a:r>
              <a:rPr lang="vi-VN" dirty="0"/>
              <a:t>Trong ví dụ này, cả hai thanh ghi đều có giá trị </a:t>
            </a:r>
            <a:r>
              <a:rPr lang="vi-VN" b="1" dirty="0"/>
              <a:t>0000H</a:t>
            </a:r>
            <a:r>
              <a:rPr lang="vi-VN" dirty="0"/>
              <a:t>, nên dữ liệu phản hồi là:</a:t>
            </a:r>
            <a:r>
              <a:rPr lang="en-US" dirty="0"/>
              <a:t> </a:t>
            </a:r>
            <a:r>
              <a:rPr lang="vi-VN" dirty="0"/>
              <a:t>00 00 00 00.</a:t>
            </a:r>
          </a:p>
        </p:txBody>
      </p:sp>
      <p:sp>
        <p:nvSpPr>
          <p:cNvPr id="3" name="Rectangle 1">
            <a:extLst>
              <a:ext uri="{FF2B5EF4-FFF2-40B4-BE49-F238E27FC236}">
                <a16:creationId xmlns:a16="http://schemas.microsoft.com/office/drawing/2014/main" id="{24799ED5-DF67-DA0D-AA02-4E8275DF72FE}"/>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AE1ECB63-5C17-7104-3113-A53735DB959F}"/>
              </a:ext>
            </a:extLst>
          </p:cNvPr>
          <p:cNvPicPr>
            <a:picLocks noChangeAspect="1"/>
          </p:cNvPicPr>
          <p:nvPr/>
        </p:nvPicPr>
        <p:blipFill>
          <a:blip r:embed="rId3"/>
          <a:stretch>
            <a:fillRect/>
          </a:stretch>
        </p:blipFill>
        <p:spPr>
          <a:xfrm>
            <a:off x="1350962" y="3031672"/>
            <a:ext cx="7200900" cy="1219200"/>
          </a:xfrm>
          <a:prstGeom prst="rect">
            <a:avLst/>
          </a:prstGeom>
        </p:spPr>
      </p:pic>
    </p:spTree>
    <p:extLst>
      <p:ext uri="{BB962C8B-B14F-4D97-AF65-F5344CB8AC3E}">
        <p14:creationId xmlns:p14="http://schemas.microsoft.com/office/powerpoint/2010/main" val="69071032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527A2A3-B296-23CA-51A8-DC9785A55866}"/>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7D421E56-18F9-3AA7-AF46-4DA6EEE804AA}"/>
              </a:ext>
            </a:extLst>
          </p:cNvPr>
          <p:cNvSpPr/>
          <p:nvPr/>
        </p:nvSpPr>
        <p:spPr>
          <a:xfrm>
            <a:off x="918081" y="990736"/>
            <a:ext cx="8819923" cy="1107996"/>
          </a:xfrm>
          <a:prstGeom prst="rect">
            <a:avLst/>
          </a:prstGeom>
          <a:noFill/>
          <a:ln>
            <a:noFill/>
          </a:ln>
        </p:spPr>
        <p:txBody>
          <a:bodyPr spcFirstLastPara="1" wrap="square" lIns="0" tIns="0" rIns="0" bIns="0" anchor="t" anchorCtr="0">
            <a:spAutoFit/>
          </a:bodyPr>
          <a:lstStyle/>
          <a:p>
            <a:pPr lvl="0"/>
            <a:r>
              <a:rPr lang="vi-VN" sz="3600" b="1" dirty="0">
                <a:solidFill>
                  <a:schemeClr val="dk1"/>
                </a:solidFill>
              </a:rPr>
              <a:t>Cấu trúc dữ liệu trong giao tiếp Modbus 485</a:t>
            </a:r>
          </a:p>
        </p:txBody>
      </p:sp>
      <p:sp>
        <p:nvSpPr>
          <p:cNvPr id="177" name="Google Shape;177;p4">
            <a:extLst>
              <a:ext uri="{FF2B5EF4-FFF2-40B4-BE49-F238E27FC236}">
                <a16:creationId xmlns:a16="http://schemas.microsoft.com/office/drawing/2014/main" id="{8E23CDDD-E775-8EEB-6524-00763D362A57}"/>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3.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72A20E2C-0974-CF75-8752-9FB090B36F22}"/>
              </a:ext>
            </a:extLst>
          </p:cNvPr>
          <p:cNvSpPr/>
          <p:nvPr/>
        </p:nvSpPr>
        <p:spPr>
          <a:xfrm>
            <a:off x="1000274" y="2318181"/>
            <a:ext cx="7671115" cy="1661993"/>
          </a:xfrm>
          <a:prstGeom prst="rect">
            <a:avLst/>
          </a:prstGeom>
          <a:noFill/>
          <a:ln>
            <a:noFill/>
          </a:ln>
        </p:spPr>
        <p:txBody>
          <a:bodyPr spcFirstLastPara="1" wrap="square" lIns="0" tIns="0" rIns="0" bIns="0" anchor="t" anchorCtr="0">
            <a:spAutoFit/>
          </a:bodyPr>
          <a:lstStyle/>
          <a:p>
            <a:pPr marL="176213" lvl="0" indent="-176213">
              <a:lnSpc>
                <a:spcPct val="150000"/>
              </a:lnSpc>
              <a:buClr>
                <a:srgbClr val="3F3F3F"/>
              </a:buClr>
              <a:buSzPts val="2160"/>
              <a:buFont typeface="Arial"/>
              <a:buChar char="•"/>
            </a:pPr>
            <a:r>
              <a:rPr lang="en-US" sz="1800" dirty="0">
                <a:solidFill>
                  <a:schemeClr val="bg1">
                    <a:lumMod val="75000"/>
                  </a:schemeClr>
                </a:solidFill>
              </a:rPr>
              <a:t>3.1 Giao </a:t>
            </a:r>
            <a:r>
              <a:rPr lang="en-US" sz="1800" dirty="0" err="1">
                <a:solidFill>
                  <a:schemeClr val="bg1">
                    <a:lumMod val="75000"/>
                  </a:schemeClr>
                </a:solidFill>
              </a:rPr>
              <a:t>thức</a:t>
            </a:r>
            <a:r>
              <a:rPr lang="en-US" sz="1800" dirty="0">
                <a:solidFill>
                  <a:schemeClr val="bg1">
                    <a:lumMod val="75000"/>
                  </a:schemeClr>
                </a:solidFill>
              </a:rPr>
              <a:t> Modbus </a:t>
            </a:r>
            <a:r>
              <a:rPr lang="en-US" sz="1800" dirty="0" err="1">
                <a:solidFill>
                  <a:schemeClr val="bg1">
                    <a:lumMod val="75000"/>
                  </a:schemeClr>
                </a:solidFill>
              </a:rPr>
              <a:t>là</a:t>
            </a:r>
            <a:r>
              <a:rPr lang="en-US" sz="1800" dirty="0">
                <a:solidFill>
                  <a:schemeClr val="bg1">
                    <a:lumMod val="75000"/>
                  </a:schemeClr>
                </a:solidFill>
              </a:rPr>
              <a:t> </a:t>
            </a:r>
            <a:r>
              <a:rPr lang="en-US" sz="1800" dirty="0" err="1">
                <a:solidFill>
                  <a:schemeClr val="bg1">
                    <a:lumMod val="75000"/>
                  </a:schemeClr>
                </a:solidFill>
              </a:rPr>
              <a:t>gì</a:t>
            </a:r>
            <a:endParaRPr lang="en-US" sz="1800" dirty="0">
              <a:solidFill>
                <a:schemeClr val="bg1">
                  <a:lumMod val="75000"/>
                </a:schemeClr>
              </a:solidFill>
            </a:endParaRPr>
          </a:p>
          <a:p>
            <a:pPr marL="176213" lvl="0" indent="-176213">
              <a:lnSpc>
                <a:spcPct val="150000"/>
              </a:lnSpc>
              <a:buClr>
                <a:srgbClr val="3F3F3F"/>
              </a:buClr>
              <a:buSzPts val="2160"/>
              <a:buFont typeface="Arial"/>
              <a:buChar char="•"/>
            </a:pPr>
            <a:r>
              <a:rPr lang="en-US" sz="1800" dirty="0">
                <a:solidFill>
                  <a:schemeClr val="bg1">
                    <a:lumMod val="75000"/>
                  </a:schemeClr>
                </a:solidFill>
              </a:rPr>
              <a:t>3.2 Các </a:t>
            </a:r>
            <a:r>
              <a:rPr lang="en-US" sz="1800" dirty="0" err="1">
                <a:solidFill>
                  <a:schemeClr val="bg1">
                    <a:lumMod val="75000"/>
                  </a:schemeClr>
                </a:solidFill>
              </a:rPr>
              <a:t>thành</a:t>
            </a:r>
            <a:r>
              <a:rPr lang="en-US" sz="1800" dirty="0">
                <a:solidFill>
                  <a:schemeClr val="bg1">
                    <a:lumMod val="75000"/>
                  </a:schemeClr>
                </a:solidFill>
              </a:rPr>
              <a:t> </a:t>
            </a:r>
            <a:r>
              <a:rPr lang="en-US" sz="1800" dirty="0" err="1">
                <a:solidFill>
                  <a:schemeClr val="bg1">
                    <a:lumMod val="75000"/>
                  </a:schemeClr>
                </a:solidFill>
              </a:rPr>
              <a:t>phần</a:t>
            </a:r>
            <a:r>
              <a:rPr lang="en-US" sz="1800" dirty="0">
                <a:solidFill>
                  <a:schemeClr val="bg1">
                    <a:lumMod val="75000"/>
                  </a:schemeClr>
                </a:solidFill>
              </a:rPr>
              <a:t> </a:t>
            </a:r>
            <a:r>
              <a:rPr lang="en-US" sz="1800" dirty="0" err="1">
                <a:solidFill>
                  <a:schemeClr val="bg1">
                    <a:lumMod val="75000"/>
                  </a:schemeClr>
                </a:solidFill>
              </a:rPr>
              <a:t>giao</a:t>
            </a:r>
            <a:r>
              <a:rPr lang="en-US" sz="1800" dirty="0">
                <a:solidFill>
                  <a:schemeClr val="bg1">
                    <a:lumMod val="75000"/>
                  </a:schemeClr>
                </a:solidFill>
              </a:rPr>
              <a:t> </a:t>
            </a:r>
            <a:r>
              <a:rPr lang="en-US" sz="1800" dirty="0" err="1">
                <a:solidFill>
                  <a:schemeClr val="bg1">
                    <a:lumMod val="75000"/>
                  </a:schemeClr>
                </a:solidFill>
              </a:rPr>
              <a:t>thức</a:t>
            </a:r>
            <a:r>
              <a:rPr lang="en-US" sz="1800" dirty="0">
                <a:solidFill>
                  <a:schemeClr val="bg1">
                    <a:lumMod val="75000"/>
                  </a:schemeClr>
                </a:solidFill>
              </a:rPr>
              <a:t> Modbus</a:t>
            </a:r>
          </a:p>
          <a:p>
            <a:pPr marL="176213" lvl="0" indent="-176213">
              <a:lnSpc>
                <a:spcPct val="150000"/>
              </a:lnSpc>
              <a:buClr>
                <a:srgbClr val="3F3F3F"/>
              </a:buClr>
              <a:buSzPts val="2160"/>
              <a:buFont typeface="Arial"/>
              <a:buChar char="•"/>
            </a:pPr>
            <a:r>
              <a:rPr lang="en-US" sz="1800" dirty="0">
                <a:solidFill>
                  <a:schemeClr val="tx1"/>
                </a:solidFill>
              </a:rPr>
              <a:t>3.3 Các </a:t>
            </a:r>
            <a:r>
              <a:rPr lang="en-US" sz="1800" dirty="0" err="1">
                <a:solidFill>
                  <a:schemeClr val="tx1"/>
                </a:solidFill>
              </a:rPr>
              <a:t>biến</a:t>
            </a:r>
            <a:r>
              <a:rPr lang="en-US" sz="1800" dirty="0">
                <a:solidFill>
                  <a:schemeClr val="tx1"/>
                </a:solidFill>
              </a:rPr>
              <a:t> </a:t>
            </a:r>
            <a:r>
              <a:rPr lang="en-US" sz="1800" dirty="0" err="1">
                <a:solidFill>
                  <a:schemeClr val="tx1"/>
                </a:solidFill>
              </a:rPr>
              <a:t>thể</a:t>
            </a:r>
            <a:r>
              <a:rPr lang="en-US" sz="1800" dirty="0">
                <a:solidFill>
                  <a:schemeClr val="tx1"/>
                </a:solidFill>
              </a:rPr>
              <a:t> Modbus</a:t>
            </a:r>
          </a:p>
          <a:p>
            <a:pPr marL="176213" lvl="0" indent="-176213">
              <a:lnSpc>
                <a:spcPct val="150000"/>
              </a:lnSpc>
              <a:buClr>
                <a:srgbClr val="3F3F3F"/>
              </a:buClr>
              <a:buSzPts val="2160"/>
              <a:buFont typeface="Arial"/>
              <a:buChar char="•"/>
            </a:pPr>
            <a:r>
              <a:rPr lang="en-US" sz="1800" dirty="0">
                <a:solidFill>
                  <a:schemeClr val="bg1">
                    <a:lumMod val="75000"/>
                  </a:schemeClr>
                </a:solidFill>
              </a:rPr>
              <a:t>3.4 </a:t>
            </a:r>
            <a:r>
              <a:rPr lang="en-US" sz="1800" dirty="0" err="1">
                <a:solidFill>
                  <a:schemeClr val="bg1">
                    <a:lumMod val="75000"/>
                  </a:schemeClr>
                </a:solidFill>
              </a:rPr>
              <a:t>Ứng</a:t>
            </a:r>
            <a:r>
              <a:rPr lang="en-US" sz="1800" dirty="0">
                <a:solidFill>
                  <a:schemeClr val="bg1">
                    <a:lumMod val="75000"/>
                  </a:schemeClr>
                </a:solidFill>
              </a:rPr>
              <a:t> </a:t>
            </a:r>
            <a:r>
              <a:rPr lang="en-US" sz="1800" dirty="0" err="1">
                <a:solidFill>
                  <a:schemeClr val="bg1">
                    <a:lumMod val="75000"/>
                  </a:schemeClr>
                </a:solidFill>
              </a:rPr>
              <a:t>dụng</a:t>
            </a:r>
            <a:r>
              <a:rPr lang="en-US" sz="1800" dirty="0">
                <a:solidFill>
                  <a:schemeClr val="bg1">
                    <a:lumMod val="75000"/>
                  </a:schemeClr>
                </a:solidFill>
              </a:rPr>
              <a:t> </a:t>
            </a:r>
            <a:r>
              <a:rPr lang="en-US" sz="1800" dirty="0" err="1">
                <a:solidFill>
                  <a:schemeClr val="bg1">
                    <a:lumMod val="75000"/>
                  </a:schemeClr>
                </a:solidFill>
              </a:rPr>
              <a:t>giao</a:t>
            </a:r>
            <a:r>
              <a:rPr lang="en-US" sz="1800" dirty="0">
                <a:solidFill>
                  <a:schemeClr val="bg1">
                    <a:lumMod val="75000"/>
                  </a:schemeClr>
                </a:solidFill>
              </a:rPr>
              <a:t> </a:t>
            </a:r>
            <a:r>
              <a:rPr lang="en-US" sz="1800" dirty="0" err="1">
                <a:solidFill>
                  <a:schemeClr val="bg1">
                    <a:lumMod val="75000"/>
                  </a:schemeClr>
                </a:solidFill>
              </a:rPr>
              <a:t>thức</a:t>
            </a:r>
            <a:r>
              <a:rPr lang="en-US" sz="1800" dirty="0">
                <a:solidFill>
                  <a:schemeClr val="bg1">
                    <a:lumMod val="75000"/>
                  </a:schemeClr>
                </a:solidFill>
              </a:rPr>
              <a:t> Modbus </a:t>
            </a:r>
            <a:r>
              <a:rPr lang="en-US" sz="1800" dirty="0" err="1">
                <a:solidFill>
                  <a:schemeClr val="bg1">
                    <a:lumMod val="75000"/>
                  </a:schemeClr>
                </a:solidFill>
              </a:rPr>
              <a:t>trong</a:t>
            </a:r>
            <a:r>
              <a:rPr lang="en-US" sz="1800" dirty="0">
                <a:solidFill>
                  <a:schemeClr val="bg1">
                    <a:lumMod val="75000"/>
                  </a:schemeClr>
                </a:solidFill>
              </a:rPr>
              <a:t> </a:t>
            </a:r>
            <a:r>
              <a:rPr lang="en-US" sz="1800" dirty="0" err="1">
                <a:solidFill>
                  <a:schemeClr val="bg1">
                    <a:lumMod val="75000"/>
                  </a:schemeClr>
                </a:solidFill>
              </a:rPr>
              <a:t>công</a:t>
            </a:r>
            <a:r>
              <a:rPr lang="en-US" sz="1800" dirty="0">
                <a:solidFill>
                  <a:schemeClr val="bg1">
                    <a:lumMod val="75000"/>
                  </a:schemeClr>
                </a:solidFill>
              </a:rPr>
              <a:t> </a:t>
            </a:r>
            <a:r>
              <a:rPr lang="en-US" sz="1800" dirty="0" err="1">
                <a:solidFill>
                  <a:schemeClr val="bg1">
                    <a:lumMod val="75000"/>
                  </a:schemeClr>
                </a:solidFill>
              </a:rPr>
              <a:t>nghiệp</a:t>
            </a:r>
            <a:r>
              <a:rPr lang="en-US" sz="1800" dirty="0">
                <a:solidFill>
                  <a:schemeClr val="bg1">
                    <a:lumMod val="75000"/>
                  </a:schemeClr>
                </a:solidFill>
              </a:rPr>
              <a:t> </a:t>
            </a:r>
            <a:r>
              <a:rPr lang="en-US" sz="1800" dirty="0" err="1">
                <a:solidFill>
                  <a:schemeClr val="bg1">
                    <a:lumMod val="75000"/>
                  </a:schemeClr>
                </a:solidFill>
              </a:rPr>
              <a:t>và</a:t>
            </a:r>
            <a:r>
              <a:rPr lang="en-US" sz="1800" dirty="0">
                <a:solidFill>
                  <a:schemeClr val="bg1">
                    <a:lumMod val="75000"/>
                  </a:schemeClr>
                </a:solidFill>
              </a:rPr>
              <a:t> IOT</a:t>
            </a:r>
            <a:endParaRPr sz="1800" dirty="0">
              <a:solidFill>
                <a:schemeClr val="bg1">
                  <a:lumMod val="75000"/>
                </a:schemeClr>
              </a:solidFill>
            </a:endParaRPr>
          </a:p>
        </p:txBody>
      </p:sp>
    </p:spTree>
    <p:extLst>
      <p:ext uri="{BB962C8B-B14F-4D97-AF65-F5344CB8AC3E}">
        <p14:creationId xmlns:p14="http://schemas.microsoft.com/office/powerpoint/2010/main" val="30040570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D62F0C5-334E-9278-EEDB-07905A15CB61}"/>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CA186548-C422-922A-B2ED-5A247CC52DF7}"/>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98B63557-E2C2-3237-C333-EA8AA114101C}"/>
              </a:ext>
            </a:extLst>
          </p:cNvPr>
          <p:cNvSpPr/>
          <p:nvPr/>
        </p:nvSpPr>
        <p:spPr>
          <a:xfrm>
            <a:off x="198946" y="696053"/>
            <a:ext cx="9392645" cy="5170646"/>
          </a:xfrm>
          <a:prstGeom prst="rect">
            <a:avLst/>
          </a:prstGeom>
          <a:noFill/>
          <a:ln>
            <a:noFill/>
          </a:ln>
        </p:spPr>
        <p:txBody>
          <a:bodyPr spcFirstLastPara="1" wrap="square" lIns="0" tIns="0" rIns="0" bIns="0" anchor="t" anchorCtr="0">
            <a:spAutoFit/>
          </a:bodyPr>
          <a:lstStyle/>
          <a:p>
            <a:pPr>
              <a:lnSpc>
                <a:spcPct val="150000"/>
              </a:lnSpc>
            </a:pPr>
            <a:r>
              <a:rPr lang="vi-VN" b="1" dirty="0"/>
              <a:t>Các biến thể của giao thức Modbus: RTU, TCP, ASCII </a:t>
            </a:r>
            <a:endParaRPr lang="en-US" b="1" dirty="0"/>
          </a:p>
          <a:p>
            <a:pPr>
              <a:lnSpc>
                <a:spcPct val="150000"/>
              </a:lnSpc>
            </a:pPr>
            <a:r>
              <a:rPr lang="vi-VN" dirty="0"/>
              <a:t>Giao thức Modbus có nhiều biến thể khác nhau. Các biến thể chính bao gồm:</a:t>
            </a:r>
          </a:p>
          <a:p>
            <a:pPr>
              <a:lnSpc>
                <a:spcPct val="150000"/>
              </a:lnSpc>
            </a:pPr>
            <a:r>
              <a:rPr lang="vi-VN" b="1" dirty="0"/>
              <a:t>Modbus RTU</a:t>
            </a:r>
          </a:p>
          <a:p>
            <a:pPr>
              <a:lnSpc>
                <a:spcPct val="150000"/>
              </a:lnSpc>
            </a:pPr>
            <a:r>
              <a:rPr lang="vi-VN" dirty="0"/>
              <a:t>Modbus RTU (Remote Terminal Unit) là một triển khai nhị phân của giao thức Modbus. Nó thường được sử dụng trên giao tiếp nối tiếp và nổi tiếng với khả năng biểu diễn dữ liệu nhỏ gọn, giúp nó hoạt động hiệu quả và nhanh chóng. Hiệu quả này làm cho việc triển khai nó trong các thiết bị phần cứng khá đơn giản. Giao tiếp theo giao thức này sử dụng các giao diện vật lý như RS-485 hoặc RS-232.</a:t>
            </a:r>
          </a:p>
          <a:p>
            <a:pPr>
              <a:lnSpc>
                <a:spcPct val="150000"/>
              </a:lnSpc>
            </a:pPr>
            <a:r>
              <a:rPr lang="vi-VN" dirty="0"/>
              <a:t>Modbus RTU qua TCP là sự kết hợp giữa giao thức Modbus RTU và Modbus TCP. Mặc dù Ethernet là phương tiện vật lý, việc truyền dữ liệu vẫn tuân theo định dạng RTU trong chế độ này. Ưu điểm đáng kể của sự kết hợp này là khả năng tích hợp các hệ thống dựa trên RTU hiện có vào Ethernet, với việc cập nhật phần cứng tối thiểu. Do đó, các nhà thiết kế thường sử dụng phương pháp này khi mở rộng phạm vi điều khiển, cố gắng tận dụng tối đa các thiết bị và cấu trúc hiện có.</a:t>
            </a:r>
          </a:p>
          <a:p>
            <a:pPr>
              <a:lnSpc>
                <a:spcPct val="150000"/>
              </a:lnSpc>
            </a:pPr>
            <a:r>
              <a:rPr lang="vi-VN" b="1" dirty="0"/>
              <a:t>Modbus ASCII</a:t>
            </a:r>
          </a:p>
          <a:p>
            <a:pPr>
              <a:lnSpc>
                <a:spcPct val="150000"/>
              </a:lnSpc>
            </a:pPr>
            <a:r>
              <a:rPr lang="vi-VN" dirty="0"/>
              <a:t>Modbus ASCII (American Standard Code for Information Interchange) là một phiên bản mã ASCII của giao thức Modbus. Nó kém hiệu quả hơn Modbus RTU, nhưng dễ sử dụng và gỡ lỗi hơn vì sử dụng các ký tự dễ đọc đối với con người.</a:t>
            </a:r>
          </a:p>
        </p:txBody>
      </p:sp>
      <p:sp>
        <p:nvSpPr>
          <p:cNvPr id="3" name="Rectangle 1">
            <a:extLst>
              <a:ext uri="{FF2B5EF4-FFF2-40B4-BE49-F238E27FC236}">
                <a16:creationId xmlns:a16="http://schemas.microsoft.com/office/drawing/2014/main" id="{846E7B28-74F5-80F6-7FE4-8A1352F51811}"/>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86081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3CBDC7E-F97B-3887-9E64-276C87CD2CA0}"/>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35A49F7-8282-FF82-9712-E252184FF394}"/>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12976F3C-38EC-48CE-09D7-D98737B38625}"/>
              </a:ext>
            </a:extLst>
          </p:cNvPr>
          <p:cNvSpPr/>
          <p:nvPr/>
        </p:nvSpPr>
        <p:spPr>
          <a:xfrm>
            <a:off x="198946" y="696053"/>
            <a:ext cx="9392645" cy="3877985"/>
          </a:xfrm>
          <a:prstGeom prst="rect">
            <a:avLst/>
          </a:prstGeom>
          <a:noFill/>
          <a:ln>
            <a:noFill/>
          </a:ln>
        </p:spPr>
        <p:txBody>
          <a:bodyPr spcFirstLastPara="1" wrap="square" lIns="0" tIns="0" rIns="0" bIns="0" anchor="t" anchorCtr="0">
            <a:spAutoFit/>
          </a:bodyPr>
          <a:lstStyle/>
          <a:p>
            <a:pPr>
              <a:lnSpc>
                <a:spcPct val="150000"/>
              </a:lnSpc>
            </a:pPr>
            <a:r>
              <a:rPr lang="vi-VN" b="1" dirty="0"/>
              <a:t>Các biến thể của giao thức Modbus: RTU, TCP, ASCII</a:t>
            </a:r>
          </a:p>
          <a:p>
            <a:pPr>
              <a:lnSpc>
                <a:spcPct val="150000"/>
              </a:lnSpc>
            </a:pPr>
            <a:r>
              <a:rPr lang="vi-VN" b="1" dirty="0"/>
              <a:t>Modbus TCP/IP</a:t>
            </a:r>
          </a:p>
          <a:p>
            <a:pPr>
              <a:lnSpc>
                <a:spcPct val="150000"/>
              </a:lnSpc>
            </a:pPr>
            <a:r>
              <a:rPr lang="vi-VN" dirty="0"/>
              <a:t>Modbus TCP/IP là một phiên bản của giao thức Modbus được sử dụng trên mạng TCP/IP. Nó cho phép giao tiếp ở khoảng cách xa và giữa các mạng khác nhau.</a:t>
            </a:r>
          </a:p>
          <a:p>
            <a:pPr>
              <a:lnSpc>
                <a:spcPct val="150000"/>
              </a:lnSpc>
            </a:pPr>
            <a:r>
              <a:rPr lang="vi-VN" b="1" dirty="0"/>
              <a:t>Modbus UDP</a:t>
            </a:r>
          </a:p>
          <a:p>
            <a:pPr>
              <a:lnSpc>
                <a:spcPct val="150000"/>
              </a:lnSpc>
            </a:pPr>
            <a:r>
              <a:rPr lang="vi-VN" dirty="0"/>
              <a:t>Modbus UDP (User Datagram Protocol) là một phiên bản của giao thức Modbus sử dụng giao thức truyền tải UDP. Nó kém tin cậy hơn Modbus TCP/IP vì không đảm bảo việc truyền tải hoặc trình tự chính xác của các gói dữ liệu, nhưng nó nhanh hơn và yêu cầu ít băng thông hơn.</a:t>
            </a:r>
          </a:p>
          <a:p>
            <a:pPr>
              <a:lnSpc>
                <a:spcPct val="150000"/>
              </a:lnSpc>
            </a:pPr>
            <a:r>
              <a:rPr lang="vi-VN" b="1" dirty="0"/>
              <a:t>Modbus Plus</a:t>
            </a:r>
          </a:p>
          <a:p>
            <a:pPr>
              <a:lnSpc>
                <a:spcPct val="150000"/>
              </a:lnSpc>
            </a:pPr>
            <a:r>
              <a:rPr lang="vi-VN" dirty="0"/>
              <a:t>Modbus Plus (MB+ hoặc Modbus+) là một biến thể độc quyền của giao thức Modbus, được giới thiệu bởi Schneider Electric. Đây là một giao thức truyền thông ngang hàng, cung cấp tốc độ cao hơn và khả năng truyền dữ liệu ổn định hơn so với Modbus tiêu chuẩn.</a:t>
            </a:r>
          </a:p>
        </p:txBody>
      </p:sp>
      <p:sp>
        <p:nvSpPr>
          <p:cNvPr id="3" name="Rectangle 1">
            <a:extLst>
              <a:ext uri="{FF2B5EF4-FFF2-40B4-BE49-F238E27FC236}">
                <a16:creationId xmlns:a16="http://schemas.microsoft.com/office/drawing/2014/main" id="{EB676500-D7B9-38D3-0865-0A4C597B51CA}"/>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5BB6BC64-FE1C-6091-83C3-56CD57FB5B16}"/>
              </a:ext>
            </a:extLst>
          </p:cNvPr>
          <p:cNvGraphicFramePr>
            <a:graphicFrameLocks noGrp="1"/>
          </p:cNvGraphicFramePr>
          <p:nvPr>
            <p:extLst>
              <p:ext uri="{D42A27DB-BD31-4B8C-83A1-F6EECF244321}">
                <p14:modId xmlns:p14="http://schemas.microsoft.com/office/powerpoint/2010/main" val="1747329789"/>
              </p:ext>
            </p:extLst>
          </p:nvPr>
        </p:nvGraphicFramePr>
        <p:xfrm>
          <a:off x="1446212" y="4574038"/>
          <a:ext cx="7010400" cy="1859280"/>
        </p:xfrm>
        <a:graphic>
          <a:graphicData uri="http://schemas.openxmlformats.org/drawingml/2006/table">
            <a:tbl>
              <a:tblPr/>
              <a:tblGrid>
                <a:gridCol w="1402080">
                  <a:extLst>
                    <a:ext uri="{9D8B030D-6E8A-4147-A177-3AD203B41FA5}">
                      <a16:colId xmlns:a16="http://schemas.microsoft.com/office/drawing/2014/main" val="4261006601"/>
                    </a:ext>
                  </a:extLst>
                </a:gridCol>
                <a:gridCol w="1402080">
                  <a:extLst>
                    <a:ext uri="{9D8B030D-6E8A-4147-A177-3AD203B41FA5}">
                      <a16:colId xmlns:a16="http://schemas.microsoft.com/office/drawing/2014/main" val="2033465231"/>
                    </a:ext>
                  </a:extLst>
                </a:gridCol>
                <a:gridCol w="1402080">
                  <a:extLst>
                    <a:ext uri="{9D8B030D-6E8A-4147-A177-3AD203B41FA5}">
                      <a16:colId xmlns:a16="http://schemas.microsoft.com/office/drawing/2014/main" val="3142039817"/>
                    </a:ext>
                  </a:extLst>
                </a:gridCol>
                <a:gridCol w="1402080">
                  <a:extLst>
                    <a:ext uri="{9D8B030D-6E8A-4147-A177-3AD203B41FA5}">
                      <a16:colId xmlns:a16="http://schemas.microsoft.com/office/drawing/2014/main" val="1233590527"/>
                    </a:ext>
                  </a:extLst>
                </a:gridCol>
                <a:gridCol w="1402080">
                  <a:extLst>
                    <a:ext uri="{9D8B030D-6E8A-4147-A177-3AD203B41FA5}">
                      <a16:colId xmlns:a16="http://schemas.microsoft.com/office/drawing/2014/main" val="1081063796"/>
                    </a:ext>
                  </a:extLst>
                </a:gridCol>
              </a:tblGrid>
              <a:tr h="0">
                <a:tc>
                  <a:txBody>
                    <a:bodyPr/>
                    <a:lstStyle/>
                    <a:p>
                      <a:pPr algn="l">
                        <a:buNone/>
                      </a:pPr>
                      <a:r>
                        <a:rPr lang="en-US" b="1">
                          <a:effectLst/>
                        </a:rPr>
                        <a:t>Variant</a:t>
                      </a:r>
                    </a:p>
                  </a:txBody>
                  <a:tcPr anchor="ctr">
                    <a:lnL w="12700" cap="flat" cmpd="sng" algn="ctr">
                      <a:solidFill>
                        <a:srgbClr val="30E96A"/>
                      </a:solidFill>
                      <a:prstDash val="solid"/>
                      <a:round/>
                      <a:headEnd type="none" w="med" len="med"/>
                      <a:tailEnd type="none" w="med" len="med"/>
                    </a:lnL>
                    <a:lnR w="12700" cap="flat" cmpd="sng" algn="ctr">
                      <a:solidFill>
                        <a:srgbClr val="60E36A"/>
                      </a:solidFill>
                      <a:prstDash val="solid"/>
                      <a:round/>
                      <a:headEnd type="none" w="med" len="med"/>
                      <a:tailEnd type="none" w="med" len="med"/>
                    </a:lnR>
                    <a:lnT w="9525" cap="flat" cmpd="sng" algn="ctr">
                      <a:solidFill>
                        <a:srgbClr val="30E96A"/>
                      </a:solidFill>
                      <a:prstDash val="solid"/>
                      <a:round/>
                      <a:headEnd type="none" w="med" len="med"/>
                      <a:tailEnd type="none" w="med" len="med"/>
                    </a:lnT>
                    <a:lnB w="12700" cap="flat" cmpd="sng" algn="ctr">
                      <a:solidFill>
                        <a:srgbClr val="A0EE6A"/>
                      </a:solidFill>
                      <a:prstDash val="solid"/>
                      <a:round/>
                      <a:headEnd type="none" w="med" len="med"/>
                      <a:tailEnd type="none" w="med" len="med"/>
                    </a:lnB>
                    <a:solidFill>
                      <a:srgbClr val="FFFFFF"/>
                    </a:solidFill>
                  </a:tcPr>
                </a:tc>
                <a:tc>
                  <a:txBody>
                    <a:bodyPr/>
                    <a:lstStyle/>
                    <a:p>
                      <a:pPr algn="l">
                        <a:buNone/>
                      </a:pPr>
                      <a:r>
                        <a:rPr lang="en-US" b="1">
                          <a:effectLst/>
                        </a:rPr>
                        <a:t>Medium</a:t>
                      </a:r>
                    </a:p>
                  </a:txBody>
                  <a:tcPr anchor="ctr">
                    <a:lnL w="12700" cap="flat" cmpd="sng" algn="ctr">
                      <a:solidFill>
                        <a:srgbClr val="60E36A"/>
                      </a:solidFill>
                      <a:prstDash val="solid"/>
                      <a:round/>
                      <a:headEnd type="none" w="med" len="med"/>
                      <a:tailEnd type="none" w="med" len="med"/>
                    </a:lnL>
                    <a:lnR w="12700" cap="flat" cmpd="sng" algn="ctr">
                      <a:solidFill>
                        <a:srgbClr val="F0E36A"/>
                      </a:solidFill>
                      <a:prstDash val="solid"/>
                      <a:round/>
                      <a:headEnd type="none" w="med" len="med"/>
                      <a:tailEnd type="none" w="med" len="med"/>
                    </a:lnR>
                    <a:lnT w="9525" cap="flat" cmpd="sng" algn="ctr">
                      <a:solidFill>
                        <a:srgbClr val="60E36A"/>
                      </a:solidFill>
                      <a:prstDash val="solid"/>
                      <a:round/>
                      <a:headEnd type="none" w="med" len="med"/>
                      <a:tailEnd type="none" w="med" len="med"/>
                    </a:lnT>
                    <a:lnB w="12700" cap="flat" cmpd="sng" algn="ctr">
                      <a:solidFill>
                        <a:srgbClr val="E0F06A"/>
                      </a:solidFill>
                      <a:prstDash val="solid"/>
                      <a:round/>
                      <a:headEnd type="none" w="med" len="med"/>
                      <a:tailEnd type="none" w="med" len="med"/>
                    </a:lnB>
                    <a:solidFill>
                      <a:srgbClr val="FFFFFF"/>
                    </a:solidFill>
                  </a:tcPr>
                </a:tc>
                <a:tc>
                  <a:txBody>
                    <a:bodyPr/>
                    <a:lstStyle/>
                    <a:p>
                      <a:pPr algn="l">
                        <a:buNone/>
                      </a:pPr>
                      <a:r>
                        <a:rPr lang="en-US" b="1">
                          <a:effectLst/>
                        </a:rPr>
                        <a:t>Format</a:t>
                      </a:r>
                    </a:p>
                  </a:txBody>
                  <a:tcPr anchor="ctr">
                    <a:lnL w="12700" cap="flat" cmpd="sng" algn="ctr">
                      <a:solidFill>
                        <a:srgbClr val="F0E36A"/>
                      </a:solidFill>
                      <a:prstDash val="solid"/>
                      <a:round/>
                      <a:headEnd type="none" w="med" len="med"/>
                      <a:tailEnd type="none" w="med" len="med"/>
                    </a:lnL>
                    <a:lnR w="12700" cap="flat" cmpd="sng" algn="ctr">
                      <a:solidFill>
                        <a:srgbClr val="60EF6A"/>
                      </a:solidFill>
                      <a:prstDash val="solid"/>
                      <a:round/>
                      <a:headEnd type="none" w="med" len="med"/>
                      <a:tailEnd type="none" w="med" len="med"/>
                    </a:lnR>
                    <a:lnT w="9525" cap="flat" cmpd="sng" algn="ctr">
                      <a:solidFill>
                        <a:srgbClr val="F0E36A"/>
                      </a:solidFill>
                      <a:prstDash val="solid"/>
                      <a:round/>
                      <a:headEnd type="none" w="med" len="med"/>
                      <a:tailEnd type="none" w="med" len="med"/>
                    </a:lnT>
                    <a:lnB w="12700" cap="flat" cmpd="sng" algn="ctr">
                      <a:solidFill>
                        <a:srgbClr val="80F66A"/>
                      </a:solidFill>
                      <a:prstDash val="solid"/>
                      <a:round/>
                      <a:headEnd type="none" w="med" len="med"/>
                      <a:tailEnd type="none" w="med" len="med"/>
                    </a:lnB>
                    <a:solidFill>
                      <a:srgbClr val="FFFFFF"/>
                    </a:solidFill>
                  </a:tcPr>
                </a:tc>
                <a:tc>
                  <a:txBody>
                    <a:bodyPr/>
                    <a:lstStyle/>
                    <a:p>
                      <a:pPr algn="l">
                        <a:buNone/>
                      </a:pPr>
                      <a:r>
                        <a:rPr lang="en-US" b="1">
                          <a:effectLst/>
                        </a:rPr>
                        <a:t>Error Check</a:t>
                      </a:r>
                    </a:p>
                  </a:txBody>
                  <a:tcPr anchor="ctr">
                    <a:lnL w="12700" cap="flat" cmpd="sng" algn="ctr">
                      <a:solidFill>
                        <a:srgbClr val="60EF6A"/>
                      </a:solidFill>
                      <a:prstDash val="solid"/>
                      <a:round/>
                      <a:headEnd type="none" w="med" len="med"/>
                      <a:tailEnd type="none" w="med" len="med"/>
                    </a:lnL>
                    <a:lnR w="12700" cap="flat" cmpd="sng" algn="ctr">
                      <a:solidFill>
                        <a:srgbClr val="50F66A"/>
                      </a:solidFill>
                      <a:prstDash val="solid"/>
                      <a:round/>
                      <a:headEnd type="none" w="med" len="med"/>
                      <a:tailEnd type="none" w="med" len="med"/>
                    </a:lnR>
                    <a:lnT w="9525" cap="flat" cmpd="sng" algn="ctr">
                      <a:solidFill>
                        <a:srgbClr val="60EF6A"/>
                      </a:solidFill>
                      <a:prstDash val="solid"/>
                      <a:round/>
                      <a:headEnd type="none" w="med" len="med"/>
                      <a:tailEnd type="none" w="med" len="med"/>
                    </a:lnT>
                    <a:lnB w="12700" cap="flat" cmpd="sng" algn="ctr">
                      <a:solidFill>
                        <a:srgbClr val="D0516B"/>
                      </a:solidFill>
                      <a:prstDash val="solid"/>
                      <a:round/>
                      <a:headEnd type="none" w="med" len="med"/>
                      <a:tailEnd type="none" w="med" len="med"/>
                    </a:lnB>
                    <a:solidFill>
                      <a:srgbClr val="FFFFFF"/>
                    </a:solidFill>
                  </a:tcPr>
                </a:tc>
                <a:tc>
                  <a:txBody>
                    <a:bodyPr/>
                    <a:lstStyle/>
                    <a:p>
                      <a:pPr algn="l">
                        <a:buNone/>
                      </a:pPr>
                      <a:r>
                        <a:rPr lang="en-US" b="1">
                          <a:effectLst/>
                        </a:rPr>
                        <a:t>Key Use Case</a:t>
                      </a:r>
                    </a:p>
                  </a:txBody>
                  <a:tcPr anchor="ctr">
                    <a:lnL w="12700" cap="flat" cmpd="sng" algn="ctr">
                      <a:solidFill>
                        <a:srgbClr val="50F66A"/>
                      </a:solidFill>
                      <a:prstDash val="solid"/>
                      <a:round/>
                      <a:headEnd type="none" w="med" len="med"/>
                      <a:tailEnd type="none" w="med" len="med"/>
                    </a:lnL>
                    <a:lnR w="12700" cap="flat" cmpd="sng" algn="ctr">
                      <a:solidFill>
                        <a:srgbClr val="50F66A"/>
                      </a:solidFill>
                      <a:prstDash val="solid"/>
                      <a:round/>
                      <a:headEnd type="none" w="med" len="med"/>
                      <a:tailEnd type="none" w="med" len="med"/>
                    </a:lnR>
                    <a:lnT w="9525" cap="flat" cmpd="sng" algn="ctr">
                      <a:solidFill>
                        <a:srgbClr val="50F66A"/>
                      </a:solidFill>
                      <a:prstDash val="solid"/>
                      <a:round/>
                      <a:headEnd type="none" w="med" len="med"/>
                      <a:tailEnd type="none" w="med" len="med"/>
                    </a:lnT>
                    <a:lnB w="12700" cap="flat" cmpd="sng" algn="ctr">
                      <a:solidFill>
                        <a:srgbClr val="60526B"/>
                      </a:solidFill>
                      <a:prstDash val="solid"/>
                      <a:round/>
                      <a:headEnd type="none" w="med" len="med"/>
                      <a:tailEnd type="none" w="med" len="med"/>
                    </a:lnB>
                    <a:solidFill>
                      <a:srgbClr val="FFFFFF"/>
                    </a:solidFill>
                  </a:tcPr>
                </a:tc>
                <a:extLst>
                  <a:ext uri="{0D108BD9-81ED-4DB2-BD59-A6C34878D82A}">
                    <a16:rowId xmlns:a16="http://schemas.microsoft.com/office/drawing/2014/main" val="229170449"/>
                  </a:ext>
                </a:extLst>
              </a:tr>
              <a:tr h="0">
                <a:tc>
                  <a:txBody>
                    <a:bodyPr/>
                    <a:lstStyle/>
                    <a:p>
                      <a:pPr algn="l" fontAlgn="t">
                        <a:buNone/>
                      </a:pPr>
                      <a:r>
                        <a:rPr lang="en-US">
                          <a:effectLst/>
                        </a:rPr>
                        <a:t>Modbus RTU</a:t>
                      </a:r>
                    </a:p>
                  </a:txBody>
                  <a:tcPr>
                    <a:lnL w="12700" cap="flat" cmpd="sng" algn="ctr">
                      <a:solidFill>
                        <a:srgbClr val="A0EE6A"/>
                      </a:solidFill>
                      <a:prstDash val="solid"/>
                      <a:round/>
                      <a:headEnd type="none" w="med" len="med"/>
                      <a:tailEnd type="none" w="med" len="med"/>
                    </a:lnL>
                    <a:lnR w="12700" cap="flat" cmpd="sng" algn="ctr">
                      <a:solidFill>
                        <a:srgbClr val="E0F06A"/>
                      </a:solidFill>
                      <a:prstDash val="solid"/>
                      <a:round/>
                      <a:headEnd type="none" w="med" len="med"/>
                      <a:tailEnd type="none" w="med" len="med"/>
                    </a:lnR>
                    <a:lnT w="12700" cap="flat" cmpd="sng" algn="ctr">
                      <a:solidFill>
                        <a:srgbClr val="A0EE6A"/>
                      </a:solidFill>
                      <a:prstDash val="solid"/>
                      <a:round/>
                      <a:headEnd type="none" w="med" len="med"/>
                      <a:tailEnd type="none" w="med" len="med"/>
                    </a:lnT>
                    <a:lnB w="12700" cap="flat" cmpd="sng" algn="ctr">
                      <a:solidFill>
                        <a:srgbClr val="50536B"/>
                      </a:solidFill>
                      <a:prstDash val="solid"/>
                      <a:round/>
                      <a:headEnd type="none" w="med" len="med"/>
                      <a:tailEnd type="none" w="med" len="med"/>
                    </a:lnB>
                    <a:solidFill>
                      <a:srgbClr val="FFFFFF"/>
                    </a:solidFill>
                  </a:tcPr>
                </a:tc>
                <a:tc>
                  <a:txBody>
                    <a:bodyPr/>
                    <a:lstStyle/>
                    <a:p>
                      <a:pPr algn="l" fontAlgn="t">
                        <a:buNone/>
                      </a:pPr>
                      <a:r>
                        <a:rPr lang="en-US">
                          <a:effectLst/>
                        </a:rPr>
                        <a:t>Serial</a:t>
                      </a:r>
                    </a:p>
                  </a:txBody>
                  <a:tcPr>
                    <a:lnL w="12700" cap="flat" cmpd="sng" algn="ctr">
                      <a:solidFill>
                        <a:srgbClr val="E0F06A"/>
                      </a:solidFill>
                      <a:prstDash val="solid"/>
                      <a:round/>
                      <a:headEnd type="none" w="med" len="med"/>
                      <a:tailEnd type="none" w="med" len="med"/>
                    </a:lnL>
                    <a:lnR w="12700" cap="flat" cmpd="sng" algn="ctr">
                      <a:solidFill>
                        <a:srgbClr val="80F66A"/>
                      </a:solidFill>
                      <a:prstDash val="solid"/>
                      <a:round/>
                      <a:headEnd type="none" w="med" len="med"/>
                      <a:tailEnd type="none" w="med" len="med"/>
                    </a:lnR>
                    <a:lnT w="12700" cap="flat" cmpd="sng" algn="ctr">
                      <a:solidFill>
                        <a:srgbClr val="E0F06A"/>
                      </a:solidFill>
                      <a:prstDash val="solid"/>
                      <a:round/>
                      <a:headEnd type="none" w="med" len="med"/>
                      <a:tailEnd type="none" w="med" len="med"/>
                    </a:lnT>
                    <a:lnB w="12700" cap="flat" cmpd="sng" algn="ctr">
                      <a:solidFill>
                        <a:srgbClr val="10636B"/>
                      </a:solidFill>
                      <a:prstDash val="solid"/>
                      <a:round/>
                      <a:headEnd type="none" w="med" len="med"/>
                      <a:tailEnd type="none" w="med" len="med"/>
                    </a:lnB>
                    <a:solidFill>
                      <a:srgbClr val="FFFFFF"/>
                    </a:solidFill>
                  </a:tcPr>
                </a:tc>
                <a:tc>
                  <a:txBody>
                    <a:bodyPr/>
                    <a:lstStyle/>
                    <a:p>
                      <a:pPr algn="l" fontAlgn="t">
                        <a:buNone/>
                      </a:pPr>
                      <a:r>
                        <a:rPr lang="en-US">
                          <a:effectLst/>
                        </a:rPr>
                        <a:t>Binary</a:t>
                      </a:r>
                    </a:p>
                  </a:txBody>
                  <a:tcPr>
                    <a:lnL w="12700" cap="flat" cmpd="sng" algn="ctr">
                      <a:solidFill>
                        <a:srgbClr val="80F66A"/>
                      </a:solidFill>
                      <a:prstDash val="solid"/>
                      <a:round/>
                      <a:headEnd type="none" w="med" len="med"/>
                      <a:tailEnd type="none" w="med" len="med"/>
                    </a:lnL>
                    <a:lnR w="12700" cap="flat" cmpd="sng" algn="ctr">
                      <a:solidFill>
                        <a:srgbClr val="D0516B"/>
                      </a:solidFill>
                      <a:prstDash val="solid"/>
                      <a:round/>
                      <a:headEnd type="none" w="med" len="med"/>
                      <a:tailEnd type="none" w="med" len="med"/>
                    </a:lnR>
                    <a:lnT w="12700" cap="flat" cmpd="sng" algn="ctr">
                      <a:solidFill>
                        <a:srgbClr val="80F66A"/>
                      </a:solidFill>
                      <a:prstDash val="solid"/>
                      <a:round/>
                      <a:headEnd type="none" w="med" len="med"/>
                      <a:tailEnd type="none" w="med" len="med"/>
                    </a:lnT>
                    <a:lnB w="12700" cap="flat" cmpd="sng" algn="ctr">
                      <a:solidFill>
                        <a:srgbClr val="305B6B"/>
                      </a:solidFill>
                      <a:prstDash val="solid"/>
                      <a:round/>
                      <a:headEnd type="none" w="med" len="med"/>
                      <a:tailEnd type="none" w="med" len="med"/>
                    </a:lnB>
                    <a:solidFill>
                      <a:srgbClr val="FFFFFF"/>
                    </a:solidFill>
                  </a:tcPr>
                </a:tc>
                <a:tc>
                  <a:txBody>
                    <a:bodyPr/>
                    <a:lstStyle/>
                    <a:p>
                      <a:pPr algn="l" fontAlgn="t">
                        <a:buNone/>
                      </a:pPr>
                      <a:r>
                        <a:rPr lang="en-US">
                          <a:effectLst/>
                        </a:rPr>
                        <a:t>CRC</a:t>
                      </a:r>
                    </a:p>
                  </a:txBody>
                  <a:tcPr>
                    <a:lnL w="12700" cap="flat" cmpd="sng" algn="ctr">
                      <a:solidFill>
                        <a:srgbClr val="D0516B"/>
                      </a:solidFill>
                      <a:prstDash val="solid"/>
                      <a:round/>
                      <a:headEnd type="none" w="med" len="med"/>
                      <a:tailEnd type="none" w="med" len="med"/>
                    </a:lnL>
                    <a:lnR w="12700" cap="flat" cmpd="sng" algn="ctr">
                      <a:solidFill>
                        <a:srgbClr val="60526B"/>
                      </a:solidFill>
                      <a:prstDash val="solid"/>
                      <a:round/>
                      <a:headEnd type="none" w="med" len="med"/>
                      <a:tailEnd type="none" w="med" len="med"/>
                    </a:lnR>
                    <a:lnT w="12700" cap="flat" cmpd="sng" algn="ctr">
                      <a:solidFill>
                        <a:srgbClr val="D0516B"/>
                      </a:solidFill>
                      <a:prstDash val="solid"/>
                      <a:round/>
                      <a:headEnd type="none" w="med" len="med"/>
                      <a:tailEnd type="none" w="med" len="med"/>
                    </a:lnT>
                    <a:lnB w="12700" cap="flat" cmpd="sng" algn="ctr">
                      <a:solidFill>
                        <a:srgbClr val="D0756B"/>
                      </a:solidFill>
                      <a:prstDash val="solid"/>
                      <a:round/>
                      <a:headEnd type="none" w="med" len="med"/>
                      <a:tailEnd type="none" w="med" len="med"/>
                    </a:lnB>
                    <a:solidFill>
                      <a:srgbClr val="FFFFFF"/>
                    </a:solidFill>
                  </a:tcPr>
                </a:tc>
                <a:tc>
                  <a:txBody>
                    <a:bodyPr/>
                    <a:lstStyle/>
                    <a:p>
                      <a:pPr algn="l" fontAlgn="t">
                        <a:buNone/>
                      </a:pPr>
                      <a:r>
                        <a:rPr lang="en-US">
                          <a:effectLst/>
                        </a:rPr>
                        <a:t>Short-range control</a:t>
                      </a:r>
                    </a:p>
                  </a:txBody>
                  <a:tcPr>
                    <a:lnL w="12700" cap="flat" cmpd="sng" algn="ctr">
                      <a:solidFill>
                        <a:srgbClr val="60526B"/>
                      </a:solidFill>
                      <a:prstDash val="solid"/>
                      <a:round/>
                      <a:headEnd type="none" w="med" len="med"/>
                      <a:tailEnd type="none" w="med" len="med"/>
                    </a:lnL>
                    <a:lnR w="12700" cap="flat" cmpd="sng" algn="ctr">
                      <a:solidFill>
                        <a:srgbClr val="60526B"/>
                      </a:solidFill>
                      <a:prstDash val="solid"/>
                      <a:round/>
                      <a:headEnd type="none" w="med" len="med"/>
                      <a:tailEnd type="none" w="med" len="med"/>
                    </a:lnR>
                    <a:lnT w="12700" cap="flat" cmpd="sng" algn="ctr">
                      <a:solidFill>
                        <a:srgbClr val="60526B"/>
                      </a:solidFill>
                      <a:prstDash val="solid"/>
                      <a:round/>
                      <a:headEnd type="none" w="med" len="med"/>
                      <a:tailEnd type="none" w="med" len="med"/>
                    </a:lnT>
                    <a:lnB w="12700" cap="flat" cmpd="sng" algn="ctr">
                      <a:solidFill>
                        <a:srgbClr val="10756B"/>
                      </a:solidFill>
                      <a:prstDash val="solid"/>
                      <a:round/>
                      <a:headEnd type="none" w="med" len="med"/>
                      <a:tailEnd type="none" w="med" len="med"/>
                    </a:lnB>
                    <a:solidFill>
                      <a:srgbClr val="FFFFFF"/>
                    </a:solidFill>
                  </a:tcPr>
                </a:tc>
                <a:extLst>
                  <a:ext uri="{0D108BD9-81ED-4DB2-BD59-A6C34878D82A}">
                    <a16:rowId xmlns:a16="http://schemas.microsoft.com/office/drawing/2014/main" val="2104962554"/>
                  </a:ext>
                </a:extLst>
              </a:tr>
              <a:tr h="0">
                <a:tc>
                  <a:txBody>
                    <a:bodyPr/>
                    <a:lstStyle/>
                    <a:p>
                      <a:pPr algn="l" fontAlgn="t">
                        <a:buNone/>
                      </a:pPr>
                      <a:r>
                        <a:rPr lang="en-US">
                          <a:effectLst/>
                        </a:rPr>
                        <a:t>Modbus TCP/IP</a:t>
                      </a:r>
                    </a:p>
                  </a:txBody>
                  <a:tcPr>
                    <a:lnL w="12700" cap="flat" cmpd="sng" algn="ctr">
                      <a:solidFill>
                        <a:srgbClr val="50536B"/>
                      </a:solidFill>
                      <a:prstDash val="solid"/>
                      <a:round/>
                      <a:headEnd type="none" w="med" len="med"/>
                      <a:tailEnd type="none" w="med" len="med"/>
                    </a:lnL>
                    <a:lnR w="12700" cap="flat" cmpd="sng" algn="ctr">
                      <a:solidFill>
                        <a:srgbClr val="10636B"/>
                      </a:solidFill>
                      <a:prstDash val="solid"/>
                      <a:round/>
                      <a:headEnd type="none" w="med" len="med"/>
                      <a:tailEnd type="none" w="med" len="med"/>
                    </a:lnR>
                    <a:lnT w="12700" cap="flat" cmpd="sng" algn="ctr">
                      <a:solidFill>
                        <a:srgbClr val="50536B"/>
                      </a:solidFill>
                      <a:prstDash val="solid"/>
                      <a:round/>
                      <a:headEnd type="none" w="med" len="med"/>
                      <a:tailEnd type="none" w="med" len="med"/>
                    </a:lnT>
                    <a:lnB w="12700" cap="flat" cmpd="sng" algn="ctr">
                      <a:solidFill>
                        <a:srgbClr val="10756B"/>
                      </a:solidFill>
                      <a:prstDash val="solid"/>
                      <a:round/>
                      <a:headEnd type="none" w="med" len="med"/>
                      <a:tailEnd type="none" w="med" len="med"/>
                    </a:lnB>
                    <a:solidFill>
                      <a:srgbClr val="FFFFFF"/>
                    </a:solidFill>
                  </a:tcPr>
                </a:tc>
                <a:tc>
                  <a:txBody>
                    <a:bodyPr/>
                    <a:lstStyle/>
                    <a:p>
                      <a:pPr algn="l" fontAlgn="t">
                        <a:buNone/>
                      </a:pPr>
                      <a:r>
                        <a:rPr lang="en-US">
                          <a:effectLst/>
                        </a:rPr>
                        <a:t>Ethernet</a:t>
                      </a:r>
                    </a:p>
                  </a:txBody>
                  <a:tcPr>
                    <a:lnL w="12700" cap="flat" cmpd="sng" algn="ctr">
                      <a:solidFill>
                        <a:srgbClr val="10636B"/>
                      </a:solidFill>
                      <a:prstDash val="solid"/>
                      <a:round/>
                      <a:headEnd type="none" w="med" len="med"/>
                      <a:tailEnd type="none" w="med" len="med"/>
                    </a:lnL>
                    <a:lnR w="12700" cap="flat" cmpd="sng" algn="ctr">
                      <a:solidFill>
                        <a:srgbClr val="305B6B"/>
                      </a:solidFill>
                      <a:prstDash val="solid"/>
                      <a:round/>
                      <a:headEnd type="none" w="med" len="med"/>
                      <a:tailEnd type="none" w="med" len="med"/>
                    </a:lnR>
                    <a:lnT w="12700" cap="flat" cmpd="sng" algn="ctr">
                      <a:solidFill>
                        <a:srgbClr val="10636B"/>
                      </a:solidFill>
                      <a:prstDash val="solid"/>
                      <a:round/>
                      <a:headEnd type="none" w="med" len="med"/>
                      <a:tailEnd type="none" w="med" len="med"/>
                    </a:lnT>
                    <a:lnB w="12700" cap="flat" cmpd="sng" algn="ctr">
                      <a:solidFill>
                        <a:srgbClr val="00886B"/>
                      </a:solidFill>
                      <a:prstDash val="solid"/>
                      <a:round/>
                      <a:headEnd type="none" w="med" len="med"/>
                      <a:tailEnd type="none" w="med" len="med"/>
                    </a:lnB>
                    <a:solidFill>
                      <a:srgbClr val="FFFFFF"/>
                    </a:solidFill>
                  </a:tcPr>
                </a:tc>
                <a:tc>
                  <a:txBody>
                    <a:bodyPr/>
                    <a:lstStyle/>
                    <a:p>
                      <a:pPr algn="l" fontAlgn="t">
                        <a:buNone/>
                      </a:pPr>
                      <a:r>
                        <a:rPr lang="en-US">
                          <a:effectLst/>
                        </a:rPr>
                        <a:t>Binary</a:t>
                      </a:r>
                    </a:p>
                  </a:txBody>
                  <a:tcPr>
                    <a:lnL w="12700" cap="flat" cmpd="sng" algn="ctr">
                      <a:solidFill>
                        <a:srgbClr val="305B6B"/>
                      </a:solidFill>
                      <a:prstDash val="solid"/>
                      <a:round/>
                      <a:headEnd type="none" w="med" len="med"/>
                      <a:tailEnd type="none" w="med" len="med"/>
                    </a:lnL>
                    <a:lnR w="12700" cap="flat" cmpd="sng" algn="ctr">
                      <a:solidFill>
                        <a:srgbClr val="D0756B"/>
                      </a:solidFill>
                      <a:prstDash val="solid"/>
                      <a:round/>
                      <a:headEnd type="none" w="med" len="med"/>
                      <a:tailEnd type="none" w="med" len="med"/>
                    </a:lnR>
                    <a:lnT w="12700" cap="flat" cmpd="sng" algn="ctr">
                      <a:solidFill>
                        <a:srgbClr val="305B6B"/>
                      </a:solidFill>
                      <a:prstDash val="solid"/>
                      <a:round/>
                      <a:headEnd type="none" w="med" len="med"/>
                      <a:tailEnd type="none" w="med" len="med"/>
                    </a:lnT>
                    <a:lnB w="12700" cap="flat" cmpd="sng" algn="ctr">
                      <a:solidFill>
                        <a:srgbClr val="50896B"/>
                      </a:solidFill>
                      <a:prstDash val="solid"/>
                      <a:round/>
                      <a:headEnd type="none" w="med" len="med"/>
                      <a:tailEnd type="none" w="med" len="med"/>
                    </a:lnB>
                    <a:solidFill>
                      <a:srgbClr val="FFFFFF"/>
                    </a:solidFill>
                  </a:tcPr>
                </a:tc>
                <a:tc>
                  <a:txBody>
                    <a:bodyPr/>
                    <a:lstStyle/>
                    <a:p>
                      <a:pPr algn="l" fontAlgn="t">
                        <a:buNone/>
                      </a:pPr>
                      <a:r>
                        <a:rPr lang="en-US">
                          <a:effectLst/>
                        </a:rPr>
                        <a:t>TCP</a:t>
                      </a:r>
                    </a:p>
                  </a:txBody>
                  <a:tcPr>
                    <a:lnL w="12700" cap="flat" cmpd="sng" algn="ctr">
                      <a:solidFill>
                        <a:srgbClr val="D0756B"/>
                      </a:solidFill>
                      <a:prstDash val="solid"/>
                      <a:round/>
                      <a:headEnd type="none" w="med" len="med"/>
                      <a:tailEnd type="none" w="med" len="med"/>
                    </a:lnL>
                    <a:lnR w="12700" cap="flat" cmpd="sng" algn="ctr">
                      <a:solidFill>
                        <a:srgbClr val="10756B"/>
                      </a:solidFill>
                      <a:prstDash val="solid"/>
                      <a:round/>
                      <a:headEnd type="none" w="med" len="med"/>
                      <a:tailEnd type="none" w="med" len="med"/>
                    </a:lnR>
                    <a:lnT w="12700" cap="flat" cmpd="sng" algn="ctr">
                      <a:solidFill>
                        <a:srgbClr val="D0756B"/>
                      </a:solidFill>
                      <a:prstDash val="solid"/>
                      <a:round/>
                      <a:headEnd type="none" w="med" len="med"/>
                      <a:tailEnd type="none" w="med" len="med"/>
                    </a:lnT>
                    <a:lnB w="12700" cap="flat" cmpd="sng" algn="ctr">
                      <a:solidFill>
                        <a:srgbClr val="809B6B"/>
                      </a:solidFill>
                      <a:prstDash val="solid"/>
                      <a:round/>
                      <a:headEnd type="none" w="med" len="med"/>
                      <a:tailEnd type="none" w="med" len="med"/>
                    </a:lnB>
                    <a:solidFill>
                      <a:srgbClr val="FFFFFF"/>
                    </a:solidFill>
                  </a:tcPr>
                </a:tc>
                <a:tc>
                  <a:txBody>
                    <a:bodyPr/>
                    <a:lstStyle/>
                    <a:p>
                      <a:pPr algn="l" fontAlgn="t">
                        <a:buNone/>
                      </a:pPr>
                      <a:r>
                        <a:rPr lang="en-US">
                          <a:effectLst/>
                        </a:rPr>
                        <a:t>IoT, long-distance</a:t>
                      </a:r>
                    </a:p>
                  </a:txBody>
                  <a:tcPr>
                    <a:lnL w="12700" cap="flat" cmpd="sng" algn="ctr">
                      <a:solidFill>
                        <a:srgbClr val="10756B"/>
                      </a:solidFill>
                      <a:prstDash val="solid"/>
                      <a:round/>
                      <a:headEnd type="none" w="med" len="med"/>
                      <a:tailEnd type="none" w="med" len="med"/>
                    </a:lnL>
                    <a:lnR w="12700" cap="flat" cmpd="sng" algn="ctr">
                      <a:solidFill>
                        <a:srgbClr val="10756B"/>
                      </a:solidFill>
                      <a:prstDash val="solid"/>
                      <a:round/>
                      <a:headEnd type="none" w="med" len="med"/>
                      <a:tailEnd type="none" w="med" len="med"/>
                    </a:lnR>
                    <a:lnT w="12700" cap="flat" cmpd="sng" algn="ctr">
                      <a:solidFill>
                        <a:srgbClr val="10756B"/>
                      </a:solidFill>
                      <a:prstDash val="solid"/>
                      <a:round/>
                      <a:headEnd type="none" w="med" len="med"/>
                      <a:tailEnd type="none" w="med" len="med"/>
                    </a:lnT>
                    <a:lnB w="12700" cap="flat" cmpd="sng" algn="ctr">
                      <a:solidFill>
                        <a:srgbClr val="20A46B"/>
                      </a:solidFill>
                      <a:prstDash val="solid"/>
                      <a:round/>
                      <a:headEnd type="none" w="med" len="med"/>
                      <a:tailEnd type="none" w="med" len="med"/>
                    </a:lnB>
                    <a:solidFill>
                      <a:srgbClr val="FFFFFF"/>
                    </a:solidFill>
                  </a:tcPr>
                </a:tc>
                <a:extLst>
                  <a:ext uri="{0D108BD9-81ED-4DB2-BD59-A6C34878D82A}">
                    <a16:rowId xmlns:a16="http://schemas.microsoft.com/office/drawing/2014/main" val="839925858"/>
                  </a:ext>
                </a:extLst>
              </a:tr>
              <a:tr h="0">
                <a:tc>
                  <a:txBody>
                    <a:bodyPr/>
                    <a:lstStyle/>
                    <a:p>
                      <a:pPr algn="l" fontAlgn="t">
                        <a:buNone/>
                      </a:pPr>
                      <a:r>
                        <a:rPr lang="en-US">
                          <a:effectLst/>
                        </a:rPr>
                        <a:t>Modbus ASCII</a:t>
                      </a:r>
                    </a:p>
                  </a:txBody>
                  <a:tcPr>
                    <a:lnL w="12700" cap="flat" cmpd="sng" algn="ctr">
                      <a:solidFill>
                        <a:srgbClr val="10756B"/>
                      </a:solidFill>
                      <a:prstDash val="solid"/>
                      <a:round/>
                      <a:headEnd type="none" w="med" len="med"/>
                      <a:tailEnd type="none" w="med" len="med"/>
                    </a:lnL>
                    <a:lnR w="12700" cap="flat" cmpd="sng" algn="ctr">
                      <a:solidFill>
                        <a:srgbClr val="00886B"/>
                      </a:solidFill>
                      <a:prstDash val="solid"/>
                      <a:round/>
                      <a:headEnd type="none" w="med" len="med"/>
                      <a:tailEnd type="none" w="med" len="med"/>
                    </a:lnR>
                    <a:lnT w="12700" cap="flat" cmpd="sng" algn="ctr">
                      <a:solidFill>
                        <a:srgbClr val="10756B"/>
                      </a:solidFill>
                      <a:prstDash val="solid"/>
                      <a:round/>
                      <a:headEnd type="none" w="med" len="med"/>
                      <a:tailEnd type="none" w="med" len="med"/>
                    </a:lnT>
                    <a:lnB w="9525" cap="flat" cmpd="sng" algn="ctr">
                      <a:solidFill>
                        <a:srgbClr val="10756B"/>
                      </a:solidFill>
                      <a:prstDash val="solid"/>
                      <a:round/>
                      <a:headEnd type="none" w="med" len="med"/>
                      <a:tailEnd type="none" w="med" len="med"/>
                    </a:lnB>
                    <a:solidFill>
                      <a:srgbClr val="FFFFFF"/>
                    </a:solidFill>
                  </a:tcPr>
                </a:tc>
                <a:tc>
                  <a:txBody>
                    <a:bodyPr/>
                    <a:lstStyle/>
                    <a:p>
                      <a:pPr algn="l" fontAlgn="t">
                        <a:buNone/>
                      </a:pPr>
                      <a:r>
                        <a:rPr lang="en-US">
                          <a:effectLst/>
                        </a:rPr>
                        <a:t>Serial</a:t>
                      </a:r>
                    </a:p>
                  </a:txBody>
                  <a:tcPr>
                    <a:lnL w="12700" cap="flat" cmpd="sng" algn="ctr">
                      <a:solidFill>
                        <a:srgbClr val="00886B"/>
                      </a:solidFill>
                      <a:prstDash val="solid"/>
                      <a:round/>
                      <a:headEnd type="none" w="med" len="med"/>
                      <a:tailEnd type="none" w="med" len="med"/>
                    </a:lnL>
                    <a:lnR w="12700" cap="flat" cmpd="sng" algn="ctr">
                      <a:solidFill>
                        <a:srgbClr val="50896B"/>
                      </a:solidFill>
                      <a:prstDash val="solid"/>
                      <a:round/>
                      <a:headEnd type="none" w="med" len="med"/>
                      <a:tailEnd type="none" w="med" len="med"/>
                    </a:lnR>
                    <a:lnT w="12700" cap="flat" cmpd="sng" algn="ctr">
                      <a:solidFill>
                        <a:srgbClr val="00886B"/>
                      </a:solidFill>
                      <a:prstDash val="solid"/>
                      <a:round/>
                      <a:headEnd type="none" w="med" len="med"/>
                      <a:tailEnd type="none" w="med" len="med"/>
                    </a:lnT>
                    <a:lnB w="9525" cap="flat" cmpd="sng" algn="ctr">
                      <a:solidFill>
                        <a:srgbClr val="00886B"/>
                      </a:solidFill>
                      <a:prstDash val="solid"/>
                      <a:round/>
                      <a:headEnd type="none" w="med" len="med"/>
                      <a:tailEnd type="none" w="med" len="med"/>
                    </a:lnB>
                    <a:solidFill>
                      <a:srgbClr val="FFFFFF"/>
                    </a:solidFill>
                  </a:tcPr>
                </a:tc>
                <a:tc>
                  <a:txBody>
                    <a:bodyPr/>
                    <a:lstStyle/>
                    <a:p>
                      <a:pPr algn="l" fontAlgn="t">
                        <a:buNone/>
                      </a:pPr>
                      <a:r>
                        <a:rPr lang="en-US">
                          <a:effectLst/>
                        </a:rPr>
                        <a:t>ASCII</a:t>
                      </a:r>
                    </a:p>
                  </a:txBody>
                  <a:tcPr>
                    <a:lnL w="12700" cap="flat" cmpd="sng" algn="ctr">
                      <a:solidFill>
                        <a:srgbClr val="50896B"/>
                      </a:solidFill>
                      <a:prstDash val="solid"/>
                      <a:round/>
                      <a:headEnd type="none" w="med" len="med"/>
                      <a:tailEnd type="none" w="med" len="med"/>
                    </a:lnL>
                    <a:lnR w="12700" cap="flat" cmpd="sng" algn="ctr">
                      <a:solidFill>
                        <a:srgbClr val="809B6B"/>
                      </a:solidFill>
                      <a:prstDash val="solid"/>
                      <a:round/>
                      <a:headEnd type="none" w="med" len="med"/>
                      <a:tailEnd type="none" w="med" len="med"/>
                    </a:lnR>
                    <a:lnT w="12700" cap="flat" cmpd="sng" algn="ctr">
                      <a:solidFill>
                        <a:srgbClr val="50896B"/>
                      </a:solidFill>
                      <a:prstDash val="solid"/>
                      <a:round/>
                      <a:headEnd type="none" w="med" len="med"/>
                      <a:tailEnd type="none" w="med" len="med"/>
                    </a:lnT>
                    <a:lnB w="9525" cap="flat" cmpd="sng" algn="ctr">
                      <a:solidFill>
                        <a:srgbClr val="50896B"/>
                      </a:solidFill>
                      <a:prstDash val="solid"/>
                      <a:round/>
                      <a:headEnd type="none" w="med" len="med"/>
                      <a:tailEnd type="none" w="med" len="med"/>
                    </a:lnB>
                    <a:solidFill>
                      <a:srgbClr val="FFFFFF"/>
                    </a:solidFill>
                  </a:tcPr>
                </a:tc>
                <a:tc>
                  <a:txBody>
                    <a:bodyPr/>
                    <a:lstStyle/>
                    <a:p>
                      <a:pPr algn="l" fontAlgn="t">
                        <a:buNone/>
                      </a:pPr>
                      <a:r>
                        <a:rPr lang="en-US">
                          <a:effectLst/>
                        </a:rPr>
                        <a:t>LRC</a:t>
                      </a:r>
                    </a:p>
                  </a:txBody>
                  <a:tcPr>
                    <a:lnL w="12700" cap="flat" cmpd="sng" algn="ctr">
                      <a:solidFill>
                        <a:srgbClr val="809B6B"/>
                      </a:solidFill>
                      <a:prstDash val="solid"/>
                      <a:round/>
                      <a:headEnd type="none" w="med" len="med"/>
                      <a:tailEnd type="none" w="med" len="med"/>
                    </a:lnL>
                    <a:lnR w="12700" cap="flat" cmpd="sng" algn="ctr">
                      <a:solidFill>
                        <a:srgbClr val="20A46B"/>
                      </a:solidFill>
                      <a:prstDash val="solid"/>
                      <a:round/>
                      <a:headEnd type="none" w="med" len="med"/>
                      <a:tailEnd type="none" w="med" len="med"/>
                    </a:lnR>
                    <a:lnT w="12700" cap="flat" cmpd="sng" algn="ctr">
                      <a:solidFill>
                        <a:srgbClr val="809B6B"/>
                      </a:solidFill>
                      <a:prstDash val="solid"/>
                      <a:round/>
                      <a:headEnd type="none" w="med" len="med"/>
                      <a:tailEnd type="none" w="med" len="med"/>
                    </a:lnT>
                    <a:lnB w="9525" cap="flat" cmpd="sng" algn="ctr">
                      <a:solidFill>
                        <a:srgbClr val="809B6B"/>
                      </a:solidFill>
                      <a:prstDash val="solid"/>
                      <a:round/>
                      <a:headEnd type="none" w="med" len="med"/>
                      <a:tailEnd type="none" w="med" len="med"/>
                    </a:lnB>
                    <a:solidFill>
                      <a:srgbClr val="FFFFFF"/>
                    </a:solidFill>
                  </a:tcPr>
                </a:tc>
                <a:tc>
                  <a:txBody>
                    <a:bodyPr/>
                    <a:lstStyle/>
                    <a:p>
                      <a:pPr algn="l" fontAlgn="t">
                        <a:buNone/>
                      </a:pPr>
                      <a:r>
                        <a:rPr lang="en-US" dirty="0">
                          <a:effectLst/>
                        </a:rPr>
                        <a:t>Debugging, HMI</a:t>
                      </a:r>
                    </a:p>
                  </a:txBody>
                  <a:tcPr>
                    <a:lnL w="12700" cap="flat" cmpd="sng" algn="ctr">
                      <a:solidFill>
                        <a:srgbClr val="20A46B"/>
                      </a:solidFill>
                      <a:prstDash val="solid"/>
                      <a:round/>
                      <a:headEnd type="none" w="med" len="med"/>
                      <a:tailEnd type="none" w="med" len="med"/>
                    </a:lnL>
                    <a:lnR w="12700" cap="flat" cmpd="sng" algn="ctr">
                      <a:solidFill>
                        <a:srgbClr val="20A46B"/>
                      </a:solidFill>
                      <a:prstDash val="solid"/>
                      <a:round/>
                      <a:headEnd type="none" w="med" len="med"/>
                      <a:tailEnd type="none" w="med" len="med"/>
                    </a:lnR>
                    <a:lnT w="12700" cap="flat" cmpd="sng" algn="ctr">
                      <a:solidFill>
                        <a:srgbClr val="20A46B"/>
                      </a:solidFill>
                      <a:prstDash val="solid"/>
                      <a:round/>
                      <a:headEnd type="none" w="med" len="med"/>
                      <a:tailEnd type="none" w="med" len="med"/>
                    </a:lnT>
                    <a:lnB w="9525" cap="flat" cmpd="sng" algn="ctr">
                      <a:solidFill>
                        <a:srgbClr val="20A46B"/>
                      </a:solidFill>
                      <a:prstDash val="solid"/>
                      <a:round/>
                      <a:headEnd type="none" w="med" len="med"/>
                      <a:tailEnd type="none" w="med" len="med"/>
                    </a:lnB>
                    <a:solidFill>
                      <a:srgbClr val="FFFFFF"/>
                    </a:solidFill>
                  </a:tcPr>
                </a:tc>
                <a:extLst>
                  <a:ext uri="{0D108BD9-81ED-4DB2-BD59-A6C34878D82A}">
                    <a16:rowId xmlns:a16="http://schemas.microsoft.com/office/drawing/2014/main" val="932905872"/>
                  </a:ext>
                </a:extLst>
              </a:tr>
            </a:tbl>
          </a:graphicData>
        </a:graphic>
      </p:graphicFrame>
    </p:spTree>
    <p:extLst>
      <p:ext uri="{BB962C8B-B14F-4D97-AF65-F5344CB8AC3E}">
        <p14:creationId xmlns:p14="http://schemas.microsoft.com/office/powerpoint/2010/main" val="14166875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E398D77-C53B-C3B4-FBA9-EF4C24D2778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634D9E2F-638D-C112-917F-7850AC9A7522}"/>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599F9947-B50A-369D-9A87-17BED1C992D8}"/>
              </a:ext>
            </a:extLst>
          </p:cNvPr>
          <p:cNvSpPr/>
          <p:nvPr/>
        </p:nvSpPr>
        <p:spPr>
          <a:xfrm>
            <a:off x="198946" y="696053"/>
            <a:ext cx="9392645" cy="5170646"/>
          </a:xfrm>
          <a:prstGeom prst="rect">
            <a:avLst/>
          </a:prstGeom>
          <a:noFill/>
          <a:ln>
            <a:noFill/>
          </a:ln>
        </p:spPr>
        <p:txBody>
          <a:bodyPr spcFirstLastPara="1" wrap="square" lIns="0" tIns="0" rIns="0" bIns="0" anchor="t" anchorCtr="0">
            <a:spAutoFit/>
          </a:bodyPr>
          <a:lstStyle/>
          <a:p>
            <a:pPr>
              <a:lnSpc>
                <a:spcPct val="150000"/>
              </a:lnSpc>
            </a:pPr>
            <a:r>
              <a:rPr lang="vi-VN" b="1" dirty="0"/>
              <a:t>Các biến thể của giao thức Modbus: RTU, TCP, ASCII</a:t>
            </a:r>
          </a:p>
          <a:p>
            <a:pPr>
              <a:lnSpc>
                <a:spcPct val="150000"/>
              </a:lnSpc>
            </a:pPr>
            <a:r>
              <a:rPr lang="vi-VN" dirty="0"/>
              <a:t>Giao thức Modbus có nhiều biến thể khác nhau. Các biến thể chính bao gồm:</a:t>
            </a:r>
          </a:p>
          <a:p>
            <a:pPr>
              <a:lnSpc>
                <a:spcPct val="150000"/>
              </a:lnSpc>
            </a:pPr>
            <a:r>
              <a:rPr lang="vi-VN" b="1" dirty="0"/>
              <a:t>Modbus RTU</a:t>
            </a:r>
          </a:p>
          <a:p>
            <a:pPr>
              <a:lnSpc>
                <a:spcPct val="150000"/>
              </a:lnSpc>
            </a:pPr>
            <a:r>
              <a:rPr lang="vi-VN" dirty="0"/>
              <a:t>Modbus RTU (Remote Terminal Unit) là một triển khai nhị phân của giao thức Modbus. Nó thường được sử dụng trên giao tiếp nối tiếp và nổi tiếng với khả năng biểu diễn dữ liệu nhỏ gọn, giúp nó hoạt động hiệu quả và nhanh chóng. Hiệu quả này làm cho việc triển khai nó trong các thiết bị phần cứng khá đơn giản. Giao tiếp theo giao thức này sử dụng các giao diện vật lý như RS-485 hoặc RS-232.</a:t>
            </a:r>
          </a:p>
          <a:p>
            <a:pPr>
              <a:lnSpc>
                <a:spcPct val="150000"/>
              </a:lnSpc>
            </a:pPr>
            <a:r>
              <a:rPr lang="vi-VN" dirty="0"/>
              <a:t>Modbus RTU qua TCP là sự kết hợp giữa giao thức Modbus RTU và Modbus TCP. Mặc dù Ethernet là phương tiện vật lý, việc truyền dữ liệu vẫn tuân theo định dạng RTU trong chế độ này. Ưu điểm đáng kể của sự kết hợp này là khả năng tích hợp các hệ thống dựa trên RTU hiện có vào Ethernet, với việc cập nhật phần cứng tối thiểu. Do đó, các nhà thiết kế thường sử dụng phương pháp này khi mở rộng phạm vi điều khiển, cố gắng tận dụng tối đa các thiết bị và cấu trúc hiện có.</a:t>
            </a:r>
          </a:p>
          <a:p>
            <a:pPr>
              <a:lnSpc>
                <a:spcPct val="150000"/>
              </a:lnSpc>
            </a:pPr>
            <a:r>
              <a:rPr lang="vi-VN" b="1" dirty="0"/>
              <a:t>Modbus ASCII</a:t>
            </a:r>
          </a:p>
          <a:p>
            <a:pPr>
              <a:lnSpc>
                <a:spcPct val="150000"/>
              </a:lnSpc>
            </a:pPr>
            <a:r>
              <a:rPr lang="vi-VN" dirty="0"/>
              <a:t>Modbus ASCII (American Standard Code for Information Interchange) là một phiên bản mã ASCII của giao thức Modbus. Nó kém hiệu quả hơn Modbus RTU, nhưng dễ sử dụng và gỡ lỗi hơn vì sử dụng các ký tự dễ đọc đối với con người.</a:t>
            </a:r>
          </a:p>
        </p:txBody>
      </p:sp>
      <p:sp>
        <p:nvSpPr>
          <p:cNvPr id="3" name="Rectangle 1">
            <a:extLst>
              <a:ext uri="{FF2B5EF4-FFF2-40B4-BE49-F238E27FC236}">
                <a16:creationId xmlns:a16="http://schemas.microsoft.com/office/drawing/2014/main" id="{94547DC4-AC9A-9DB2-A0AB-DC5BEFD54C8E}"/>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55840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AD0A13C4-B181-74C4-D550-4B297BB93BD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C2E5BF4-925B-FF8F-66F0-9E25AF8B67B1}"/>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178F7CBF-3448-FC39-3051-29CB1D198CA1}"/>
              </a:ext>
            </a:extLst>
          </p:cNvPr>
          <p:cNvSpPr/>
          <p:nvPr/>
        </p:nvSpPr>
        <p:spPr>
          <a:xfrm>
            <a:off x="198946" y="696053"/>
            <a:ext cx="9392645" cy="5170646"/>
          </a:xfrm>
          <a:prstGeom prst="rect">
            <a:avLst/>
          </a:prstGeom>
          <a:noFill/>
          <a:ln>
            <a:noFill/>
          </a:ln>
        </p:spPr>
        <p:txBody>
          <a:bodyPr spcFirstLastPara="1" wrap="square" lIns="0" tIns="0" rIns="0" bIns="0" anchor="t" anchorCtr="0">
            <a:spAutoFit/>
          </a:bodyPr>
          <a:lstStyle/>
          <a:p>
            <a:pPr>
              <a:lnSpc>
                <a:spcPct val="150000"/>
              </a:lnSpc>
            </a:pPr>
            <a:r>
              <a:rPr lang="vi-VN" b="1" dirty="0"/>
              <a:t>Sự khác biệt giữa Modbus TCP, RTU và ASCII</a:t>
            </a:r>
          </a:p>
          <a:p>
            <a:pPr>
              <a:lnSpc>
                <a:spcPct val="150000"/>
              </a:lnSpc>
            </a:pPr>
            <a:r>
              <a:rPr lang="vi-VN" b="1" dirty="0"/>
              <a:t>So sánh Modbus TCP và RTU</a:t>
            </a:r>
          </a:p>
          <a:p>
            <a:pPr>
              <a:lnSpc>
                <a:spcPct val="150000"/>
              </a:lnSpc>
            </a:pPr>
            <a:r>
              <a:rPr lang="vi-VN" dirty="0"/>
              <a:t>Sự khác biệt chính giữa Modbus TCP và Modbus RTU nằm ở phương tiện truyền thông và kịch bản ứng dụng của chúng. Modbus TCP chủ yếu phù hợp cho truyền thông mạng, đặc biệt là truyền thông đường dài, trong khi Modbus RTU rất tốt cho truyền thông nối tiếp, đặc biệt là truyền thông khoảng cách ngắn giữa các thiết bị.</a:t>
            </a:r>
            <a:endParaRPr lang="vi-VN" b="1" dirty="0"/>
          </a:p>
          <a:p>
            <a:pPr>
              <a:lnSpc>
                <a:spcPct val="150000"/>
              </a:lnSpc>
            </a:pPr>
            <a:r>
              <a:rPr lang="vi-VN" dirty="0"/>
              <a:t>Modbus TCP là giao thức Modbus dựa trên TCP/IP, chủ yếu được sử dụng trong giao tiếp mạng LAN hoặc internet. Trong Modbus TCP, mỗi thông điệp bao gồm một tiêu đề mang thông tin meta về thông điệp, chẳng hạn như độ dài và mã định danh giao dịch. Không giống như Modbus RTU, Modbus TCP thiếu chức năng kiểm tra tính toàn vẹn CRC. Tiêu đề của nó chủ yếu đóng vai trò là dấu hiệu cho các thông điệp Modbus hoàn chỉnh và vị trí của chúng trong các giao dịch. Tuy nhiên, do thiếu chức năng phát hiện lỗi CRC, Modbus TCP dựa vào giao thức mạng TCP/IP cơ bản để đảm bảo tính toàn vẹn dữ liệu và truyền dữ liệu chính xác.</a:t>
            </a:r>
            <a:endParaRPr lang="vi-VN" b="1" dirty="0"/>
          </a:p>
          <a:p>
            <a:pPr>
              <a:lnSpc>
                <a:spcPct val="150000"/>
              </a:lnSpc>
            </a:pPr>
            <a:r>
              <a:rPr lang="vi-VN" dirty="0"/>
              <a:t>Giao thức Modbus RTU không bao gồm các tiêu đề thông báo riêng biệt, nhưng nó tích hợp chức năng phát hiện lỗi CRC vào các thông báo của mình. Biến thể này cung cấp một phương pháp hiệu quả để phát hiện các sai lệch trong các thông báo được truyền đi – cả về nội dung và thứ tự truyền tải. Tuy nhiên, nếu không có các tiêu đề thông báo cụ thể, bất kỳ thay đổi nào được thực hiện đối với thông tin được truyền đi sẽ không thể xác định được trong chi tiết giao dịch chỉ dựa trên thông báo.</a:t>
            </a:r>
          </a:p>
        </p:txBody>
      </p:sp>
      <p:sp>
        <p:nvSpPr>
          <p:cNvPr id="3" name="Rectangle 1">
            <a:extLst>
              <a:ext uri="{FF2B5EF4-FFF2-40B4-BE49-F238E27FC236}">
                <a16:creationId xmlns:a16="http://schemas.microsoft.com/office/drawing/2014/main" id="{18494A38-E97E-1DB2-7429-99E8C9990AFE}"/>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521204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13A0AB8-B050-E669-2B4F-7D10A6A3DDF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BE27E23C-7B27-A405-6C5C-84B5321F234D}"/>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71DC111E-FA6D-2140-F2D4-13E9839A3D8C}"/>
              </a:ext>
            </a:extLst>
          </p:cNvPr>
          <p:cNvSpPr/>
          <p:nvPr/>
        </p:nvSpPr>
        <p:spPr>
          <a:xfrm>
            <a:off x="198946" y="696053"/>
            <a:ext cx="9392645" cy="1938992"/>
          </a:xfrm>
          <a:prstGeom prst="rect">
            <a:avLst/>
          </a:prstGeom>
          <a:noFill/>
          <a:ln>
            <a:noFill/>
          </a:ln>
        </p:spPr>
        <p:txBody>
          <a:bodyPr spcFirstLastPara="1" wrap="square" lIns="0" tIns="0" rIns="0" bIns="0" anchor="t" anchorCtr="0">
            <a:spAutoFit/>
          </a:bodyPr>
          <a:lstStyle/>
          <a:p>
            <a:pPr>
              <a:lnSpc>
                <a:spcPct val="150000"/>
              </a:lnSpc>
            </a:pPr>
            <a:r>
              <a:rPr lang="vi-VN" b="1" dirty="0"/>
              <a:t>Sự khác biệt giữa Modbus TCP, RTU và ASCII</a:t>
            </a:r>
          </a:p>
          <a:p>
            <a:pPr>
              <a:lnSpc>
                <a:spcPct val="150000"/>
              </a:lnSpc>
            </a:pPr>
            <a:r>
              <a:rPr lang="vi-VN" b="1" dirty="0"/>
              <a:t>Modbus RTU so với ASCII</a:t>
            </a:r>
          </a:p>
          <a:p>
            <a:pPr>
              <a:lnSpc>
                <a:spcPct val="150000"/>
              </a:lnSpc>
            </a:pPr>
            <a:r>
              <a:rPr lang="vi-VN" dirty="0"/>
              <a:t>So với Modbus RTU, Modbus ASCII có hiệu suất truyền dữ liệu thấp hơn. Độ dài thông điệp của Modbus ASCII xấp xỉ gấp đôi so với Modbus RTU. Tuy nhiên, định dạng ASCII mang lại sự tiện lợi trong việc gỡ lỗi dữ liệu, khiến nó đặc biệt hữu ích trong các môi trường yêu cầu tương tác giữa người và máy.</a:t>
            </a:r>
            <a:endParaRPr lang="en-US" dirty="0"/>
          </a:p>
          <a:p>
            <a:pPr>
              <a:lnSpc>
                <a:spcPct val="150000"/>
              </a:lnSpc>
            </a:pPr>
            <a:endParaRPr lang="vi-VN" dirty="0"/>
          </a:p>
        </p:txBody>
      </p:sp>
      <p:sp>
        <p:nvSpPr>
          <p:cNvPr id="3" name="Rectangle 1">
            <a:extLst>
              <a:ext uri="{FF2B5EF4-FFF2-40B4-BE49-F238E27FC236}">
                <a16:creationId xmlns:a16="http://schemas.microsoft.com/office/drawing/2014/main" id="{05109BE8-2C97-4730-387F-B51C6A10A609}"/>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44992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52D9E40E-C650-7D18-F3BD-02564CAB6E47}"/>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3AA814AA-9DD3-1A95-2C60-B0BC3B483E8E}"/>
              </a:ext>
            </a:extLst>
          </p:cNvPr>
          <p:cNvSpPr/>
          <p:nvPr/>
        </p:nvSpPr>
        <p:spPr>
          <a:xfrm>
            <a:off x="918081" y="990736"/>
            <a:ext cx="8819923" cy="1107996"/>
          </a:xfrm>
          <a:prstGeom prst="rect">
            <a:avLst/>
          </a:prstGeom>
          <a:noFill/>
          <a:ln>
            <a:noFill/>
          </a:ln>
        </p:spPr>
        <p:txBody>
          <a:bodyPr spcFirstLastPara="1" wrap="square" lIns="0" tIns="0" rIns="0" bIns="0" anchor="t" anchorCtr="0">
            <a:spAutoFit/>
          </a:bodyPr>
          <a:lstStyle/>
          <a:p>
            <a:pPr lvl="0"/>
            <a:r>
              <a:rPr lang="vi-VN" sz="3600" b="1" dirty="0">
                <a:solidFill>
                  <a:schemeClr val="dk1"/>
                </a:solidFill>
              </a:rPr>
              <a:t>Cấu trúc dữ liệu trong giao tiếp Modbus 485</a:t>
            </a:r>
          </a:p>
        </p:txBody>
      </p:sp>
      <p:sp>
        <p:nvSpPr>
          <p:cNvPr id="177" name="Google Shape;177;p4">
            <a:extLst>
              <a:ext uri="{FF2B5EF4-FFF2-40B4-BE49-F238E27FC236}">
                <a16:creationId xmlns:a16="http://schemas.microsoft.com/office/drawing/2014/main" id="{0037C24B-8E11-B670-A4BB-68A0119B2D31}"/>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3.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16EB8260-2497-75D5-2E42-D02F1E0C2088}"/>
              </a:ext>
            </a:extLst>
          </p:cNvPr>
          <p:cNvSpPr/>
          <p:nvPr/>
        </p:nvSpPr>
        <p:spPr>
          <a:xfrm>
            <a:off x="1000274" y="2318181"/>
            <a:ext cx="7671115" cy="1661993"/>
          </a:xfrm>
          <a:prstGeom prst="rect">
            <a:avLst/>
          </a:prstGeom>
          <a:noFill/>
          <a:ln>
            <a:noFill/>
          </a:ln>
        </p:spPr>
        <p:txBody>
          <a:bodyPr spcFirstLastPara="1" wrap="square" lIns="0" tIns="0" rIns="0" bIns="0" anchor="t" anchorCtr="0">
            <a:spAutoFit/>
          </a:bodyPr>
          <a:lstStyle/>
          <a:p>
            <a:pPr marL="176213" lvl="0" indent="-176213">
              <a:lnSpc>
                <a:spcPct val="150000"/>
              </a:lnSpc>
              <a:buClr>
                <a:srgbClr val="3F3F3F"/>
              </a:buClr>
              <a:buSzPts val="2160"/>
              <a:buFont typeface="Arial"/>
              <a:buChar char="•"/>
            </a:pPr>
            <a:r>
              <a:rPr lang="en-US" sz="1800" dirty="0">
                <a:solidFill>
                  <a:schemeClr val="bg1">
                    <a:lumMod val="75000"/>
                  </a:schemeClr>
                </a:solidFill>
              </a:rPr>
              <a:t>3.1 Giao </a:t>
            </a:r>
            <a:r>
              <a:rPr lang="en-US" sz="1800" dirty="0" err="1">
                <a:solidFill>
                  <a:schemeClr val="bg1">
                    <a:lumMod val="75000"/>
                  </a:schemeClr>
                </a:solidFill>
              </a:rPr>
              <a:t>thức</a:t>
            </a:r>
            <a:r>
              <a:rPr lang="en-US" sz="1800" dirty="0">
                <a:solidFill>
                  <a:schemeClr val="bg1">
                    <a:lumMod val="75000"/>
                  </a:schemeClr>
                </a:solidFill>
              </a:rPr>
              <a:t> Modbus </a:t>
            </a:r>
            <a:r>
              <a:rPr lang="en-US" sz="1800" dirty="0" err="1">
                <a:solidFill>
                  <a:schemeClr val="bg1">
                    <a:lumMod val="75000"/>
                  </a:schemeClr>
                </a:solidFill>
              </a:rPr>
              <a:t>là</a:t>
            </a:r>
            <a:r>
              <a:rPr lang="en-US" sz="1800" dirty="0">
                <a:solidFill>
                  <a:schemeClr val="bg1">
                    <a:lumMod val="75000"/>
                  </a:schemeClr>
                </a:solidFill>
              </a:rPr>
              <a:t> </a:t>
            </a:r>
            <a:r>
              <a:rPr lang="en-US" sz="1800" dirty="0" err="1">
                <a:solidFill>
                  <a:schemeClr val="bg1">
                    <a:lumMod val="75000"/>
                  </a:schemeClr>
                </a:solidFill>
              </a:rPr>
              <a:t>gì</a:t>
            </a:r>
            <a:endParaRPr lang="en-US" sz="1800" dirty="0">
              <a:solidFill>
                <a:schemeClr val="bg1">
                  <a:lumMod val="75000"/>
                </a:schemeClr>
              </a:solidFill>
            </a:endParaRPr>
          </a:p>
          <a:p>
            <a:pPr marL="176213" lvl="0" indent="-176213">
              <a:lnSpc>
                <a:spcPct val="150000"/>
              </a:lnSpc>
              <a:buClr>
                <a:srgbClr val="3F3F3F"/>
              </a:buClr>
              <a:buSzPts val="2160"/>
              <a:buFont typeface="Arial"/>
              <a:buChar char="•"/>
            </a:pPr>
            <a:r>
              <a:rPr lang="en-US" sz="1800" dirty="0">
                <a:solidFill>
                  <a:schemeClr val="bg1">
                    <a:lumMod val="75000"/>
                  </a:schemeClr>
                </a:solidFill>
              </a:rPr>
              <a:t>3.2 Các </a:t>
            </a:r>
            <a:r>
              <a:rPr lang="en-US" sz="1800" dirty="0" err="1">
                <a:solidFill>
                  <a:schemeClr val="bg1">
                    <a:lumMod val="75000"/>
                  </a:schemeClr>
                </a:solidFill>
              </a:rPr>
              <a:t>thành</a:t>
            </a:r>
            <a:r>
              <a:rPr lang="en-US" sz="1800" dirty="0">
                <a:solidFill>
                  <a:schemeClr val="bg1">
                    <a:lumMod val="75000"/>
                  </a:schemeClr>
                </a:solidFill>
              </a:rPr>
              <a:t> </a:t>
            </a:r>
            <a:r>
              <a:rPr lang="en-US" sz="1800" dirty="0" err="1">
                <a:solidFill>
                  <a:schemeClr val="bg1">
                    <a:lumMod val="75000"/>
                  </a:schemeClr>
                </a:solidFill>
              </a:rPr>
              <a:t>phần</a:t>
            </a:r>
            <a:r>
              <a:rPr lang="en-US" sz="1800" dirty="0">
                <a:solidFill>
                  <a:schemeClr val="bg1">
                    <a:lumMod val="75000"/>
                  </a:schemeClr>
                </a:solidFill>
              </a:rPr>
              <a:t> </a:t>
            </a:r>
            <a:r>
              <a:rPr lang="en-US" sz="1800" dirty="0" err="1">
                <a:solidFill>
                  <a:schemeClr val="bg1">
                    <a:lumMod val="75000"/>
                  </a:schemeClr>
                </a:solidFill>
              </a:rPr>
              <a:t>giao</a:t>
            </a:r>
            <a:r>
              <a:rPr lang="en-US" sz="1800" dirty="0">
                <a:solidFill>
                  <a:schemeClr val="bg1">
                    <a:lumMod val="75000"/>
                  </a:schemeClr>
                </a:solidFill>
              </a:rPr>
              <a:t> </a:t>
            </a:r>
            <a:r>
              <a:rPr lang="en-US" sz="1800" dirty="0" err="1">
                <a:solidFill>
                  <a:schemeClr val="bg1">
                    <a:lumMod val="75000"/>
                  </a:schemeClr>
                </a:solidFill>
              </a:rPr>
              <a:t>thức</a:t>
            </a:r>
            <a:r>
              <a:rPr lang="en-US" sz="1800" dirty="0">
                <a:solidFill>
                  <a:schemeClr val="bg1">
                    <a:lumMod val="75000"/>
                  </a:schemeClr>
                </a:solidFill>
              </a:rPr>
              <a:t> Modbus</a:t>
            </a:r>
          </a:p>
          <a:p>
            <a:pPr marL="176213" lvl="0" indent="-176213">
              <a:lnSpc>
                <a:spcPct val="150000"/>
              </a:lnSpc>
              <a:buClr>
                <a:srgbClr val="3F3F3F"/>
              </a:buClr>
              <a:buSzPts val="2160"/>
              <a:buFont typeface="Arial"/>
              <a:buChar char="•"/>
            </a:pPr>
            <a:r>
              <a:rPr lang="en-US" sz="1800" dirty="0">
                <a:solidFill>
                  <a:schemeClr val="bg1">
                    <a:lumMod val="75000"/>
                  </a:schemeClr>
                </a:solidFill>
              </a:rPr>
              <a:t>3.3 Các </a:t>
            </a:r>
            <a:r>
              <a:rPr lang="en-US" sz="1800" dirty="0" err="1">
                <a:solidFill>
                  <a:schemeClr val="bg1">
                    <a:lumMod val="75000"/>
                  </a:schemeClr>
                </a:solidFill>
              </a:rPr>
              <a:t>biến</a:t>
            </a:r>
            <a:r>
              <a:rPr lang="en-US" sz="1800" dirty="0">
                <a:solidFill>
                  <a:schemeClr val="bg1">
                    <a:lumMod val="75000"/>
                  </a:schemeClr>
                </a:solidFill>
              </a:rPr>
              <a:t> </a:t>
            </a:r>
            <a:r>
              <a:rPr lang="en-US" sz="1800" dirty="0" err="1">
                <a:solidFill>
                  <a:schemeClr val="bg1">
                    <a:lumMod val="75000"/>
                  </a:schemeClr>
                </a:solidFill>
              </a:rPr>
              <a:t>thể</a:t>
            </a:r>
            <a:r>
              <a:rPr lang="en-US" sz="1800" dirty="0">
                <a:solidFill>
                  <a:schemeClr val="bg1">
                    <a:lumMod val="75000"/>
                  </a:schemeClr>
                </a:solidFill>
              </a:rPr>
              <a:t> Modbus</a:t>
            </a:r>
          </a:p>
          <a:p>
            <a:pPr marL="176213" lvl="0" indent="-176213">
              <a:lnSpc>
                <a:spcPct val="150000"/>
              </a:lnSpc>
              <a:buClr>
                <a:srgbClr val="3F3F3F"/>
              </a:buClr>
              <a:buSzPts val="2160"/>
              <a:buFont typeface="Arial"/>
              <a:buChar char="•"/>
            </a:pPr>
            <a:r>
              <a:rPr lang="en-US" sz="1800" dirty="0">
                <a:solidFill>
                  <a:schemeClr val="tx1"/>
                </a:solidFill>
              </a:rPr>
              <a:t>3.4 </a:t>
            </a:r>
            <a:r>
              <a:rPr lang="en-US" sz="1800" dirty="0" err="1">
                <a:solidFill>
                  <a:schemeClr val="tx1"/>
                </a:solidFill>
              </a:rPr>
              <a:t>Ứng</a:t>
            </a:r>
            <a:r>
              <a:rPr lang="en-US" sz="1800" dirty="0">
                <a:solidFill>
                  <a:schemeClr val="tx1"/>
                </a:solidFill>
              </a:rPr>
              <a:t> </a:t>
            </a:r>
            <a:r>
              <a:rPr lang="en-US" sz="1800" dirty="0" err="1">
                <a:solidFill>
                  <a:schemeClr val="tx1"/>
                </a:solidFill>
              </a:rPr>
              <a:t>dụng</a:t>
            </a:r>
            <a:r>
              <a:rPr lang="en-US" sz="1800" dirty="0">
                <a:solidFill>
                  <a:schemeClr val="tx1"/>
                </a:solidFill>
              </a:rPr>
              <a:t> </a:t>
            </a:r>
            <a:r>
              <a:rPr lang="en-US" sz="1800" dirty="0" err="1">
                <a:solidFill>
                  <a:schemeClr val="tx1"/>
                </a:solidFill>
              </a:rPr>
              <a:t>giao</a:t>
            </a:r>
            <a:r>
              <a:rPr lang="en-US" sz="1800" dirty="0">
                <a:solidFill>
                  <a:schemeClr val="tx1"/>
                </a:solidFill>
              </a:rPr>
              <a:t> </a:t>
            </a:r>
            <a:r>
              <a:rPr lang="en-US" sz="1800" dirty="0" err="1">
                <a:solidFill>
                  <a:schemeClr val="tx1"/>
                </a:solidFill>
              </a:rPr>
              <a:t>thức</a:t>
            </a:r>
            <a:r>
              <a:rPr lang="en-US" sz="1800" dirty="0">
                <a:solidFill>
                  <a:schemeClr val="tx1"/>
                </a:solidFill>
              </a:rPr>
              <a:t> Modbus </a:t>
            </a:r>
            <a:r>
              <a:rPr lang="en-US" sz="1800" dirty="0" err="1">
                <a:solidFill>
                  <a:schemeClr val="tx1"/>
                </a:solidFill>
              </a:rPr>
              <a:t>trong</a:t>
            </a:r>
            <a:r>
              <a:rPr lang="en-US" sz="1800" dirty="0">
                <a:solidFill>
                  <a:schemeClr val="tx1"/>
                </a:solidFill>
              </a:rPr>
              <a:t> </a:t>
            </a:r>
            <a:r>
              <a:rPr lang="en-US" sz="1800" dirty="0" err="1">
                <a:solidFill>
                  <a:schemeClr val="tx1"/>
                </a:solidFill>
              </a:rPr>
              <a:t>công</a:t>
            </a:r>
            <a:r>
              <a:rPr lang="en-US" sz="1800" dirty="0">
                <a:solidFill>
                  <a:schemeClr val="tx1"/>
                </a:solidFill>
              </a:rPr>
              <a:t> </a:t>
            </a:r>
            <a:r>
              <a:rPr lang="en-US" sz="1800" dirty="0" err="1">
                <a:solidFill>
                  <a:schemeClr val="tx1"/>
                </a:solidFill>
              </a:rPr>
              <a:t>nghiệp</a:t>
            </a:r>
            <a:r>
              <a:rPr lang="en-US" sz="1800" dirty="0">
                <a:solidFill>
                  <a:schemeClr val="tx1"/>
                </a:solidFill>
              </a:rPr>
              <a:t> </a:t>
            </a:r>
            <a:r>
              <a:rPr lang="en-US" sz="1800" dirty="0" err="1">
                <a:solidFill>
                  <a:schemeClr val="tx1"/>
                </a:solidFill>
              </a:rPr>
              <a:t>và</a:t>
            </a:r>
            <a:r>
              <a:rPr lang="en-US" sz="1800" dirty="0">
                <a:solidFill>
                  <a:schemeClr val="tx1"/>
                </a:solidFill>
              </a:rPr>
              <a:t> IOT</a:t>
            </a:r>
            <a:endParaRPr sz="1800" dirty="0">
              <a:solidFill>
                <a:schemeClr val="tx1"/>
              </a:solidFill>
            </a:endParaRPr>
          </a:p>
        </p:txBody>
      </p:sp>
    </p:spTree>
    <p:extLst>
      <p:ext uri="{BB962C8B-B14F-4D97-AF65-F5344CB8AC3E}">
        <p14:creationId xmlns:p14="http://schemas.microsoft.com/office/powerpoint/2010/main" val="25496619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356CCF0-6BEE-E6AB-57C1-CAF01FA49746}"/>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77E7DCD5-81D7-F9DA-185C-AD82C992662C}"/>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0C54EA25-2229-4538-4269-4A5D018CC81A}"/>
              </a:ext>
            </a:extLst>
          </p:cNvPr>
          <p:cNvSpPr/>
          <p:nvPr/>
        </p:nvSpPr>
        <p:spPr>
          <a:xfrm>
            <a:off x="198946" y="696053"/>
            <a:ext cx="9392645" cy="5170646"/>
          </a:xfrm>
          <a:prstGeom prst="rect">
            <a:avLst/>
          </a:prstGeom>
          <a:noFill/>
          <a:ln>
            <a:noFill/>
          </a:ln>
        </p:spPr>
        <p:txBody>
          <a:bodyPr spcFirstLastPara="1" wrap="square" lIns="0" tIns="0" rIns="0" bIns="0" anchor="t" anchorCtr="0">
            <a:spAutoFit/>
          </a:bodyPr>
          <a:lstStyle/>
          <a:p>
            <a:pPr>
              <a:lnSpc>
                <a:spcPct val="150000"/>
              </a:lnSpc>
            </a:pPr>
            <a:r>
              <a:rPr lang="vi-VN" b="1" dirty="0"/>
              <a:t>Ứng dụn</a:t>
            </a:r>
            <a:r>
              <a:rPr lang="en-US" b="1" dirty="0"/>
              <a:t>g</a:t>
            </a:r>
            <a:r>
              <a:rPr lang="vi-VN" b="1" dirty="0"/>
              <a:t> của giao thức Modbus trong công nghiệp và IoT</a:t>
            </a:r>
          </a:p>
          <a:p>
            <a:pPr>
              <a:lnSpc>
                <a:spcPct val="150000"/>
              </a:lnSpc>
            </a:pPr>
            <a:r>
              <a:rPr lang="vi-VN" b="1" dirty="0"/>
              <a:t>Tự động hóa công nghiệp</a:t>
            </a:r>
          </a:p>
          <a:p>
            <a:pPr>
              <a:lnSpc>
                <a:spcPct val="150000"/>
              </a:lnSpc>
            </a:pPr>
            <a:r>
              <a:rPr lang="vi-VN" dirty="0"/>
              <a:t>Giao thức Modbus được ứng dụng rộng rãi trong lĩnh vực tự động hóa công nghiệp. Trong môi trường công nghiệp, việc duy trì một mạng lưới truyền thông đáng tin cậy và hiệu quả giữa nhiều thiết bị và máy móc là rất cần thiết. Modbus cho phép giao tiếp dễ dàng và tiêu chuẩn hóa giữa nhiều loại thiết bị, chẳng hạn như bộ điều khiển logic lập trình (PLC), cảm biến và bộ truyền động. Nó thường được sử dụng trong các nhà máy sản xuất, nhà máy điện, nhà máy lọc dầu và các môi trường công nghiệp khác để giám sát và điều khiển thiết bị và quy trình.</a:t>
            </a:r>
          </a:p>
          <a:p>
            <a:pPr>
              <a:lnSpc>
                <a:spcPct val="150000"/>
              </a:lnSpc>
            </a:pPr>
            <a:r>
              <a:rPr lang="vi-VN" b="1" dirty="0"/>
              <a:t>Hệ thống xe</a:t>
            </a:r>
          </a:p>
          <a:p>
            <a:pPr>
              <a:lnSpc>
                <a:spcPct val="150000"/>
              </a:lnSpc>
            </a:pPr>
            <a:r>
              <a:rPr lang="vi-VN" dirty="0"/>
              <a:t>Giao thức Modbus cũng được sử dụng trong các hệ thống xe hơi, đặc biệt là trong lĩnh vực xe điện. Nó hỗ trợ giám sát và điều khiển nhiều thông số khác nhau, bao gồm hệ thống quản lý pin, hệ thống sạc và hệ thống biến tần. Modbus cung cấp một giao thức hiệu quả và dễ triển khai để đảm bảo hoạt động trơn tru của các hệ thống này.</a:t>
            </a:r>
          </a:p>
          <a:p>
            <a:pPr>
              <a:lnSpc>
                <a:spcPct val="150000"/>
              </a:lnSpc>
            </a:pPr>
            <a:r>
              <a:rPr lang="vi-VN" b="1" dirty="0"/>
              <a:t>Truyền thông trong IoT</a:t>
            </a:r>
          </a:p>
          <a:p>
            <a:pPr>
              <a:lnSpc>
                <a:spcPct val="150000"/>
              </a:lnSpc>
            </a:pPr>
            <a:r>
              <a:rPr lang="vi-VN" dirty="0"/>
              <a:t>Với sự phát triển của Internet vạn vật (IoT), giao thức Modbus đã trở nên vô cùng quan trọng. Modbus, đặc biệt là Modbus TCP/IP, được sử dụng để cho phép giao tiếp giữa các thiết bị IoT, cảm biến và bộ điều khiển thông qua mạng Ethernet. Sự đơn giản và khả năng hỗ trợ rộng rãi khiến nó trở thành lựa chọn phổ biến cho giao tiếp IoT.</a:t>
            </a:r>
            <a:endParaRPr lang="en-US" dirty="0"/>
          </a:p>
          <a:p>
            <a:pPr>
              <a:lnSpc>
                <a:spcPct val="150000"/>
              </a:lnSpc>
            </a:pPr>
            <a:endParaRPr lang="vi-VN" dirty="0"/>
          </a:p>
        </p:txBody>
      </p:sp>
      <p:sp>
        <p:nvSpPr>
          <p:cNvPr id="3" name="Rectangle 1">
            <a:extLst>
              <a:ext uri="{FF2B5EF4-FFF2-40B4-BE49-F238E27FC236}">
                <a16:creationId xmlns:a16="http://schemas.microsoft.com/office/drawing/2014/main" id="{0CB470FC-4B83-997D-940A-7912DAAFD57B}"/>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023868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C3CE063-5B36-0139-FF9D-B10B179782B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BC32AE4-EF45-CA08-DADC-B5F3E536A549}"/>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A0F89E2C-1A88-71E6-62EC-997CF5C3CA0A}"/>
              </a:ext>
            </a:extLst>
          </p:cNvPr>
          <p:cNvSpPr/>
          <p:nvPr/>
        </p:nvSpPr>
        <p:spPr>
          <a:xfrm>
            <a:off x="198946" y="696053"/>
            <a:ext cx="9392645" cy="5170646"/>
          </a:xfrm>
          <a:prstGeom prst="rect">
            <a:avLst/>
          </a:prstGeom>
          <a:noFill/>
          <a:ln>
            <a:noFill/>
          </a:ln>
        </p:spPr>
        <p:txBody>
          <a:bodyPr spcFirstLastPara="1" wrap="square" lIns="0" tIns="0" rIns="0" bIns="0" anchor="t" anchorCtr="0">
            <a:spAutoFit/>
          </a:bodyPr>
          <a:lstStyle/>
          <a:p>
            <a:pPr>
              <a:lnSpc>
                <a:spcPct val="150000"/>
              </a:lnSpc>
            </a:pPr>
            <a:r>
              <a:rPr lang="vi-VN" b="1" dirty="0"/>
              <a:t>Ứng dụn</a:t>
            </a:r>
            <a:r>
              <a:rPr lang="en-US" b="1" dirty="0"/>
              <a:t>g</a:t>
            </a:r>
            <a:r>
              <a:rPr lang="vi-VN" b="1" dirty="0"/>
              <a:t> của giao thức Modbus trong công nghiệp và IoT</a:t>
            </a:r>
          </a:p>
          <a:p>
            <a:pPr>
              <a:lnSpc>
                <a:spcPct val="150000"/>
              </a:lnSpc>
            </a:pPr>
            <a:r>
              <a:rPr lang="vi-VN" b="1" dirty="0"/>
              <a:t>Giao tiếp giữa c</a:t>
            </a:r>
            <a:r>
              <a:rPr lang="en-US" b="1" dirty="0"/>
              <a:t>ả</a:t>
            </a:r>
            <a:r>
              <a:rPr lang="vi-VN" b="1" dirty="0"/>
              <a:t>m biến và bộ truyền động</a:t>
            </a:r>
          </a:p>
          <a:p>
            <a:pPr>
              <a:lnSpc>
                <a:spcPct val="150000"/>
              </a:lnSpc>
            </a:pPr>
            <a:r>
              <a:rPr lang="vi-VN" dirty="0"/>
              <a:t>Giao thức Modbus đóng vai trò quan trọng trong việc tạo điều kiện thuận lợi cho giao tiếp giữa các cảm biến và bộ chấp hành. Nó cung cấp một giao diện tiêu chuẩn để truyền dữ liệu, chẳng hạn như các giá trị đo từ cảm biến hoặc tín hiệu điều khiển cho bộ chấp hành. Điều này cho phép hệ thống điều khiển trung tâm hoặc PLC giám sát và điều khiển nhiều loại thiết bị một cách phối hợp. Việc sử dụng giao thức Modbus trong giao tiếp giữa cảm biến và bộ chấp hành rất phổ biến trong nhiều lĩnh vực, từ máy móc công nghiệp đến hệ thống giám sát môi trường.</a:t>
            </a:r>
          </a:p>
          <a:p>
            <a:pPr>
              <a:lnSpc>
                <a:spcPct val="150000"/>
              </a:lnSpc>
            </a:pPr>
            <a:r>
              <a:rPr lang="vi-VN" b="1" dirty="0"/>
              <a:t>Những hạn chế của giao thức Modbus</a:t>
            </a:r>
          </a:p>
          <a:p>
            <a:pPr>
              <a:lnSpc>
                <a:spcPct val="150000"/>
              </a:lnSpc>
            </a:pPr>
            <a:r>
              <a:rPr lang="vi-VN" dirty="0"/>
              <a:t>Mặc dù giao thức Modbus mang lại nhiều lợi ích, nhưng nó cũng có một số hạn chế. Chỉ có một thiết bị chủ (master) có thể điều khiển quá trình truyền thông, nghĩa là tất cả các thiết bị phụ (slave) phải chờ yêu cầu trước khi phản hồi. Điều này có thể dẫn đến các vấn đề về độ trễ trong các hệ thống tự động hóa phức tạp.</a:t>
            </a:r>
          </a:p>
          <a:p>
            <a:pPr>
              <a:lnSpc>
                <a:spcPct val="150000"/>
              </a:lnSpc>
            </a:pPr>
            <a:r>
              <a:rPr lang="vi-VN" dirty="0"/>
              <a:t>Ngoài ra, Modbus không hỗ trợ dữ liệu có dấu thời gian, do đó không phù hợp cho việc ghi nhật ký sự kiện chính xác hoặc các ứng dụng nhạy cảm về thời gian.</a:t>
            </a:r>
          </a:p>
          <a:p>
            <a:pPr>
              <a:lnSpc>
                <a:spcPct val="150000"/>
              </a:lnSpc>
            </a:pPr>
            <a:r>
              <a:rPr lang="vi-VN" dirty="0"/>
              <a:t>Mặc dù có những hạn chế này, giao thức Modbus vẫn là lựa chọn phổ biến cho nhiều ứng dụng nhờ tính đơn giản, mạnh mẽ và khả năng tương thích rộng rãi.</a:t>
            </a:r>
          </a:p>
          <a:p>
            <a:pPr>
              <a:lnSpc>
                <a:spcPct val="150000"/>
              </a:lnSpc>
            </a:pPr>
            <a:endParaRPr lang="vi-VN" dirty="0"/>
          </a:p>
        </p:txBody>
      </p:sp>
      <p:sp>
        <p:nvSpPr>
          <p:cNvPr id="3" name="Rectangle 1">
            <a:extLst>
              <a:ext uri="{FF2B5EF4-FFF2-40B4-BE49-F238E27FC236}">
                <a16:creationId xmlns:a16="http://schemas.microsoft.com/office/drawing/2014/main" id="{4E7E6F66-82B9-9F45-2AD4-84D17F8592F6}"/>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939976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F52F5C4B-E088-F386-626E-099E66FB9C98}"/>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7CD8CE01-F182-E318-ACA3-AC42EC1C5D0D}"/>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660AFB83-E168-28CC-176D-315BED198FD7}"/>
              </a:ext>
            </a:extLst>
          </p:cNvPr>
          <p:cNvSpPr/>
          <p:nvPr/>
        </p:nvSpPr>
        <p:spPr>
          <a:xfrm>
            <a:off x="198946" y="696053"/>
            <a:ext cx="9392645" cy="5170646"/>
          </a:xfrm>
          <a:prstGeom prst="rect">
            <a:avLst/>
          </a:prstGeom>
          <a:noFill/>
          <a:ln>
            <a:noFill/>
          </a:ln>
        </p:spPr>
        <p:txBody>
          <a:bodyPr spcFirstLastPara="1" wrap="square" lIns="0" tIns="0" rIns="0" bIns="0" anchor="t" anchorCtr="0">
            <a:spAutoFit/>
          </a:bodyPr>
          <a:lstStyle/>
          <a:p>
            <a:pPr>
              <a:lnSpc>
                <a:spcPct val="150000"/>
              </a:lnSpc>
            </a:pPr>
            <a:r>
              <a:rPr lang="vi-VN" b="1" dirty="0"/>
              <a:t>Ứng dụn</a:t>
            </a:r>
            <a:r>
              <a:rPr lang="en-US" b="1" dirty="0"/>
              <a:t>g</a:t>
            </a:r>
            <a:r>
              <a:rPr lang="vi-VN" b="1" dirty="0"/>
              <a:t> của giao thức Modbus trong công nghiệp và IoT</a:t>
            </a:r>
          </a:p>
          <a:p>
            <a:pPr>
              <a:lnSpc>
                <a:spcPct val="150000"/>
              </a:lnSpc>
            </a:pPr>
            <a:r>
              <a:rPr lang="vi-VN" b="1" dirty="0"/>
              <a:t>So sánh Modbus với các giao thức khác</a:t>
            </a:r>
          </a:p>
          <a:p>
            <a:pPr>
              <a:lnSpc>
                <a:spcPct val="150000"/>
              </a:lnSpc>
            </a:pPr>
            <a:r>
              <a:rPr lang="vi-VN" dirty="0"/>
              <a:t>Giao thức Modbus là nền tảng của truyền thông công nghiệp, nhưng nó so sánh như thế nào với các giao thức phổ biến khác như OPC-UA, MQTT, Sparkplug, HTTP và BACnet? Phần này cung cấp hướng dẫn nhanh giúp bạn hiểu vị trí của giao thức Modbus so với các giao thức khác, dựa trên các biến thể của nó (RTU, TCP, ASCII) đã được thảo luận trước đó.</a:t>
            </a:r>
          </a:p>
          <a:p>
            <a:pPr>
              <a:lnSpc>
                <a:spcPct val="150000"/>
              </a:lnSpc>
            </a:pPr>
            <a:r>
              <a:rPr lang="vi-VN" b="1" dirty="0"/>
              <a:t>So sánh giao thức Modbus và OPC-UA</a:t>
            </a:r>
          </a:p>
          <a:p>
            <a:pPr>
              <a:lnSpc>
                <a:spcPct val="150000"/>
              </a:lnSpc>
            </a:pPr>
            <a:r>
              <a:rPr lang="vi-VN" dirty="0"/>
              <a:t>Đặc điểm : Giao thức Modbus có dung lượng nhỏ và chi phí hoạt động thấp, lý tưởng cho việc trao đổi dữ liệu đơn giản. Tuy nhiên, OPC-UA cung cấp tính bảo mật mạnh mẽ và chức năng phức tạp hơn.</a:t>
            </a:r>
          </a:p>
          <a:p>
            <a:pPr>
              <a:lnSpc>
                <a:spcPct val="150000"/>
              </a:lnSpc>
            </a:pPr>
            <a:r>
              <a:rPr lang="vi-VN" dirty="0"/>
              <a:t>Trường hợp sử dụng : Chọn Modbus để đạt hiệu quả cao ở cấp độ thiết bị; lựa chọn OPC-UA trong các hệ thống nhà máy an toàn và có khả năng tương tác.</a:t>
            </a:r>
          </a:p>
          <a:p>
            <a:pPr>
              <a:lnSpc>
                <a:spcPct val="150000"/>
              </a:lnSpc>
            </a:pPr>
            <a:r>
              <a:rPr lang="vi-VN" b="1" dirty="0"/>
              <a:t>Giao thức Modbus so với MQTT</a:t>
            </a:r>
          </a:p>
          <a:p>
            <a:pPr>
              <a:lnSpc>
                <a:spcPct val="150000"/>
              </a:lnSpc>
            </a:pPr>
            <a:r>
              <a:rPr lang="vi-VN" dirty="0"/>
              <a:t>Kết nối : MQTT duy trì các kết nối liên tục thông qua một máy chủ trung gian, không giống như mô hình dựa trên yêu cầu của giao thức Modbus.</a:t>
            </a:r>
          </a:p>
          <a:p>
            <a:pPr>
              <a:lnSpc>
                <a:spcPct val="150000"/>
              </a:lnSpc>
            </a:pPr>
            <a:r>
              <a:rPr lang="vi-VN" dirty="0"/>
              <a:t>Trường hợp sử dụng : MQTT phù hợp với việc tích hợp đám mây IoT, trong khi giao thức Modbus lại vượt trội trong các thiết lập công nghiệp nối tiếp.</a:t>
            </a:r>
          </a:p>
        </p:txBody>
      </p:sp>
      <p:sp>
        <p:nvSpPr>
          <p:cNvPr id="3" name="Rectangle 1">
            <a:extLst>
              <a:ext uri="{FF2B5EF4-FFF2-40B4-BE49-F238E27FC236}">
                <a16:creationId xmlns:a16="http://schemas.microsoft.com/office/drawing/2014/main" id="{94EEDECC-35F1-F8A6-280F-7839B0A47E95}"/>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455341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6C811E0-95ED-8F3F-3560-ADD57673F779}"/>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BDF960E4-046D-2588-C94C-9CDB27EE4969}"/>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0AEFE115-66BF-56A5-7E71-F819ACB52728}"/>
              </a:ext>
            </a:extLst>
          </p:cNvPr>
          <p:cNvSpPr/>
          <p:nvPr/>
        </p:nvSpPr>
        <p:spPr>
          <a:xfrm>
            <a:off x="198946" y="696053"/>
            <a:ext cx="9392645" cy="2908489"/>
          </a:xfrm>
          <a:prstGeom prst="rect">
            <a:avLst/>
          </a:prstGeom>
          <a:noFill/>
          <a:ln>
            <a:noFill/>
          </a:ln>
        </p:spPr>
        <p:txBody>
          <a:bodyPr spcFirstLastPara="1" wrap="square" lIns="0" tIns="0" rIns="0" bIns="0" anchor="t" anchorCtr="0">
            <a:spAutoFit/>
          </a:bodyPr>
          <a:lstStyle/>
          <a:p>
            <a:pPr>
              <a:lnSpc>
                <a:spcPct val="150000"/>
              </a:lnSpc>
            </a:pPr>
            <a:r>
              <a:rPr lang="vi-VN" b="1" dirty="0"/>
              <a:t>Ứng dụn</a:t>
            </a:r>
            <a:r>
              <a:rPr lang="en-US" b="1" dirty="0"/>
              <a:t>g</a:t>
            </a:r>
            <a:r>
              <a:rPr lang="vi-VN" b="1" dirty="0"/>
              <a:t> của giao thức Modbus trong công nghiệp và IoT</a:t>
            </a:r>
          </a:p>
          <a:p>
            <a:pPr>
              <a:lnSpc>
                <a:spcPct val="150000"/>
              </a:lnSpc>
            </a:pPr>
            <a:r>
              <a:rPr lang="vi-VN" b="1" dirty="0"/>
              <a:t>Giao thức Modbus so với HTTP</a:t>
            </a:r>
          </a:p>
          <a:p>
            <a:pPr>
              <a:lnSpc>
                <a:spcPct val="150000"/>
              </a:lnSpc>
            </a:pPr>
            <a:r>
              <a:rPr lang="vi-VN" dirty="0"/>
              <a:t>Chi phí vận hành cao : Chi phí vận hành cao của HTTP trái ngược với cách tiếp cận tinh gọn của giao thức Modbus.</a:t>
            </a:r>
          </a:p>
          <a:p>
            <a:pPr>
              <a:lnSpc>
                <a:spcPct val="150000"/>
              </a:lnSpc>
            </a:pPr>
            <a:r>
              <a:rPr lang="vi-VN" dirty="0"/>
              <a:t>Trường hợp sử dụng : HTTP dành cho các hệ thống dựa trên web, trong khi Modbus hướng đến các mạng công nghiệp.</a:t>
            </a:r>
          </a:p>
          <a:p>
            <a:pPr>
              <a:lnSpc>
                <a:spcPct val="150000"/>
              </a:lnSpc>
            </a:pPr>
            <a:r>
              <a:rPr lang="vi-VN" b="1" dirty="0"/>
              <a:t>Giao thức Modbus so với BACnet</a:t>
            </a:r>
          </a:p>
          <a:p>
            <a:pPr>
              <a:lnSpc>
                <a:spcPct val="150000"/>
              </a:lnSpc>
            </a:pPr>
            <a:r>
              <a:rPr lang="vi-VN" dirty="0"/>
              <a:t>Thiết kế : BACnet hỗ trợ các tính năng tự động hóa tòa nhà tiên tiến; giao thức Modbus ưu tiên sự đơn giản.</a:t>
            </a:r>
          </a:p>
          <a:p>
            <a:pPr>
              <a:lnSpc>
                <a:spcPct val="150000"/>
              </a:lnSpc>
            </a:pPr>
            <a:r>
              <a:rPr lang="vi-VN" dirty="0"/>
              <a:t>Ứng dụng thực tế : BACnet lý tưởng cho việc điều khiển hệ thống HVAC và chiếu sáng, trong khi Modbus chiếm ưu thế trong PLC và cảm biến.</a:t>
            </a:r>
          </a:p>
        </p:txBody>
      </p:sp>
      <p:sp>
        <p:nvSpPr>
          <p:cNvPr id="3" name="Rectangle 1">
            <a:extLst>
              <a:ext uri="{FF2B5EF4-FFF2-40B4-BE49-F238E27FC236}">
                <a16:creationId xmlns:a16="http://schemas.microsoft.com/office/drawing/2014/main" id="{6843E722-A219-C593-1FB2-3E4CB4BA0DFB}"/>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7091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0C5CA82E-6D6A-0685-9CAC-B81E1A7C1DD5}"/>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DF17E5A8-5E63-A124-CBBB-05C0E6C4905A}"/>
              </a:ext>
            </a:extLst>
          </p:cNvPr>
          <p:cNvSpPr/>
          <p:nvPr/>
        </p:nvSpPr>
        <p:spPr>
          <a:xfrm>
            <a:off x="1000274" y="990736"/>
            <a:ext cx="8819923" cy="553998"/>
          </a:xfrm>
          <a:prstGeom prst="rect">
            <a:avLst/>
          </a:prstGeom>
          <a:noFill/>
          <a:ln>
            <a:noFill/>
          </a:ln>
        </p:spPr>
        <p:txBody>
          <a:bodyPr spcFirstLastPara="1" wrap="square" lIns="0" tIns="0" rIns="0" bIns="0" anchor="t" anchorCtr="0">
            <a:spAutoFit/>
          </a:bodyPr>
          <a:lstStyle/>
          <a:p>
            <a:pPr lvl="0"/>
            <a:r>
              <a:rPr lang="vi-VN" sz="3600" b="1" dirty="0">
                <a:solidFill>
                  <a:schemeClr val="dk1"/>
                </a:solidFill>
              </a:rPr>
              <a:t>Mở cổng kết nối 485 cho thiết bị</a:t>
            </a:r>
          </a:p>
        </p:txBody>
      </p:sp>
      <p:sp>
        <p:nvSpPr>
          <p:cNvPr id="177" name="Google Shape;177;p4">
            <a:extLst>
              <a:ext uri="{FF2B5EF4-FFF2-40B4-BE49-F238E27FC236}">
                <a16:creationId xmlns:a16="http://schemas.microsoft.com/office/drawing/2014/main" id="{D92D512D-0BDA-0B00-E93B-B5F691F778BC}"/>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4. </a:t>
            </a:r>
            <a:endParaRPr sz="5400" b="1" dirty="0">
              <a:solidFill>
                <a:srgbClr val="7F7F7F"/>
              </a:solidFill>
              <a:latin typeface="Arial"/>
              <a:ea typeface="Arial"/>
              <a:cs typeface="Arial"/>
              <a:sym typeface="Arial"/>
            </a:endParaRPr>
          </a:p>
        </p:txBody>
      </p:sp>
      <p:sp>
        <p:nvSpPr>
          <p:cNvPr id="178" name="Google Shape;178;p4">
            <a:extLst>
              <a:ext uri="{FF2B5EF4-FFF2-40B4-BE49-F238E27FC236}">
                <a16:creationId xmlns:a16="http://schemas.microsoft.com/office/drawing/2014/main" id="{B4BFD00C-D000-37FB-8701-4A69E19EB069}"/>
              </a:ext>
            </a:extLst>
          </p:cNvPr>
          <p:cNvSpPr/>
          <p:nvPr/>
        </p:nvSpPr>
        <p:spPr>
          <a:xfrm>
            <a:off x="1000274" y="2318181"/>
            <a:ext cx="7671115" cy="1769715"/>
          </a:xfrm>
          <a:prstGeom prst="rect">
            <a:avLst/>
          </a:prstGeom>
          <a:noFill/>
          <a:ln>
            <a:noFill/>
          </a:ln>
        </p:spPr>
        <p:txBody>
          <a:bodyPr spcFirstLastPara="1" wrap="square" lIns="0" tIns="0" rIns="0" bIns="0" anchor="t" anchorCtr="0">
            <a:spAutoFit/>
          </a:bodyPr>
          <a:lstStyle/>
          <a:p>
            <a:pPr marL="176213" lvl="0" indent="-176213">
              <a:buClr>
                <a:srgbClr val="3F3F3F"/>
              </a:buClr>
              <a:buSzPts val="2160"/>
              <a:buFont typeface="Arial"/>
              <a:buChar char="•"/>
            </a:pPr>
            <a:r>
              <a:rPr lang="en-US" sz="1800" dirty="0">
                <a:solidFill>
                  <a:schemeClr val="tx1"/>
                </a:solidFill>
                <a:latin typeface="Arial"/>
                <a:ea typeface="Arial"/>
                <a:cs typeface="Arial"/>
                <a:sym typeface="Arial"/>
              </a:rPr>
              <a:t>1.1. </a:t>
            </a:r>
            <a:r>
              <a:rPr lang="en-US" sz="1800" dirty="0" err="1">
                <a:solidFill>
                  <a:schemeClr val="tx1"/>
                </a:solidFill>
              </a:rPr>
              <a:t>Thực</a:t>
            </a:r>
            <a:r>
              <a:rPr lang="en-US" sz="1800" dirty="0">
                <a:solidFill>
                  <a:schemeClr val="tx1"/>
                </a:solidFill>
              </a:rPr>
              <a:t> </a:t>
            </a:r>
            <a:r>
              <a:rPr lang="en-US" sz="1800" dirty="0" err="1">
                <a:solidFill>
                  <a:schemeClr val="tx1"/>
                </a:solidFill>
              </a:rPr>
              <a:t>trạng</a:t>
            </a:r>
            <a:r>
              <a:rPr lang="en-US" sz="1800" dirty="0">
                <a:solidFill>
                  <a:schemeClr val="tx1"/>
                </a:solidFill>
              </a:rPr>
              <a:t> </a:t>
            </a:r>
            <a:r>
              <a:rPr lang="en-US" sz="1800" dirty="0" err="1">
                <a:solidFill>
                  <a:schemeClr val="tx1"/>
                </a:solidFill>
              </a:rPr>
              <a:t>và</a:t>
            </a:r>
            <a:r>
              <a:rPr lang="en-US" sz="1800" dirty="0">
                <a:solidFill>
                  <a:schemeClr val="tx1"/>
                </a:solidFill>
              </a:rPr>
              <a:t> </a:t>
            </a:r>
            <a:r>
              <a:rPr lang="en-US" sz="1800" dirty="0" err="1">
                <a:solidFill>
                  <a:schemeClr val="tx1"/>
                </a:solidFill>
              </a:rPr>
              <a:t>hạn</a:t>
            </a:r>
            <a:r>
              <a:rPr lang="en-US" sz="1800" dirty="0">
                <a:solidFill>
                  <a:schemeClr val="tx1"/>
                </a:solidFill>
              </a:rPr>
              <a:t> </a:t>
            </a:r>
            <a:r>
              <a:rPr lang="en-US" sz="1800" dirty="0" err="1">
                <a:solidFill>
                  <a:schemeClr val="tx1"/>
                </a:solidFill>
              </a:rPr>
              <a:t>chế</a:t>
            </a:r>
            <a:r>
              <a:rPr lang="en-US" sz="1800" dirty="0">
                <a:solidFill>
                  <a:schemeClr val="tx1"/>
                </a:solidFill>
              </a:rPr>
              <a:t> </a:t>
            </a:r>
            <a:r>
              <a:rPr lang="en-US" sz="1800" dirty="0" err="1">
                <a:solidFill>
                  <a:schemeClr val="tx1"/>
                </a:solidFill>
              </a:rPr>
              <a:t>của</a:t>
            </a:r>
            <a:r>
              <a:rPr lang="en-US" sz="1800" dirty="0">
                <a:solidFill>
                  <a:schemeClr val="tx1"/>
                </a:solidFill>
              </a:rPr>
              <a:t> </a:t>
            </a:r>
            <a:r>
              <a:rPr lang="en-US" sz="1800" dirty="0" err="1">
                <a:solidFill>
                  <a:schemeClr val="tx1"/>
                </a:solidFill>
              </a:rPr>
              <a:t>hệ</a:t>
            </a:r>
            <a:r>
              <a:rPr lang="en-US" sz="1800" dirty="0">
                <a:solidFill>
                  <a:schemeClr val="tx1"/>
                </a:solidFill>
              </a:rPr>
              <a:t> </a:t>
            </a:r>
            <a:r>
              <a:rPr lang="en-US" sz="1800" dirty="0" err="1">
                <a:solidFill>
                  <a:schemeClr val="tx1"/>
                </a:solidFill>
              </a:rPr>
              <a:t>thống</a:t>
            </a:r>
            <a:r>
              <a:rPr lang="en-US" sz="1800" dirty="0">
                <a:solidFill>
                  <a:schemeClr val="tx1"/>
                </a:solidFill>
              </a:rPr>
              <a:t> </a:t>
            </a:r>
            <a:r>
              <a:rPr lang="en-US" sz="1800" dirty="0" err="1">
                <a:solidFill>
                  <a:schemeClr val="tx1"/>
                </a:solidFill>
              </a:rPr>
              <a:t>giám</a:t>
            </a:r>
            <a:r>
              <a:rPr lang="en-US" sz="1800" dirty="0">
                <a:solidFill>
                  <a:schemeClr val="tx1"/>
                </a:solidFill>
              </a:rPr>
              <a:t> </a:t>
            </a:r>
            <a:r>
              <a:rPr lang="en-US" sz="1800" dirty="0" err="1">
                <a:solidFill>
                  <a:schemeClr val="tx1"/>
                </a:solidFill>
              </a:rPr>
              <a:t>sát</a:t>
            </a:r>
            <a:r>
              <a:rPr lang="en-US" sz="1800" dirty="0">
                <a:solidFill>
                  <a:schemeClr val="tx1"/>
                </a:solidFill>
              </a:rPr>
              <a:t> </a:t>
            </a:r>
            <a:r>
              <a:rPr lang="en-US" sz="1800" dirty="0" err="1">
                <a:solidFill>
                  <a:schemeClr val="tx1"/>
                </a:solidFill>
              </a:rPr>
              <a:t>truyền</a:t>
            </a:r>
            <a:r>
              <a:rPr lang="en-US" sz="1800" dirty="0">
                <a:solidFill>
                  <a:schemeClr val="tx1"/>
                </a:solidFill>
              </a:rPr>
              <a:t> </a:t>
            </a:r>
            <a:r>
              <a:rPr lang="en-US" sz="1800" dirty="0" err="1">
                <a:solidFill>
                  <a:schemeClr val="tx1"/>
                </a:solidFill>
              </a:rPr>
              <a:t>thống</a:t>
            </a:r>
            <a:r>
              <a:rPr lang="en-US" sz="1800" dirty="0">
                <a:solidFill>
                  <a:schemeClr val="tx1"/>
                </a:solidFill>
              </a:rPr>
              <a:t>, </a:t>
            </a:r>
            <a:r>
              <a:rPr lang="en-US" sz="1800" dirty="0" err="1">
                <a:solidFill>
                  <a:schemeClr val="tx1"/>
                </a:solidFill>
              </a:rPr>
              <a:t>nhu</a:t>
            </a:r>
            <a:r>
              <a:rPr lang="en-US" sz="1800" dirty="0">
                <a:solidFill>
                  <a:schemeClr val="tx1"/>
                </a:solidFill>
              </a:rPr>
              <a:t> </a:t>
            </a:r>
            <a:r>
              <a:rPr lang="en-US" sz="1800" dirty="0" err="1">
                <a:solidFill>
                  <a:schemeClr val="tx1"/>
                </a:solidFill>
              </a:rPr>
              <a:t>cầu</a:t>
            </a:r>
            <a:r>
              <a:rPr lang="en-US" sz="1800" dirty="0">
                <a:solidFill>
                  <a:schemeClr val="tx1"/>
                </a:solidFill>
              </a:rPr>
              <a:t> </a:t>
            </a:r>
            <a:r>
              <a:rPr lang="en-US" sz="1800" dirty="0" err="1">
                <a:solidFill>
                  <a:schemeClr val="tx1"/>
                </a:solidFill>
              </a:rPr>
              <a:t>về</a:t>
            </a:r>
            <a:r>
              <a:rPr lang="en-US" sz="1800" dirty="0">
                <a:solidFill>
                  <a:schemeClr val="tx1"/>
                </a:solidFill>
              </a:rPr>
              <a:t> IOT platform </a:t>
            </a:r>
            <a:r>
              <a:rPr lang="en-US" sz="1800" dirty="0" err="1">
                <a:solidFill>
                  <a:schemeClr val="tx1"/>
                </a:solidFill>
              </a:rPr>
              <a:t>tổng</a:t>
            </a:r>
            <a:r>
              <a:rPr lang="en-US" sz="1800" dirty="0">
                <a:solidFill>
                  <a:schemeClr val="tx1"/>
                </a:solidFill>
              </a:rPr>
              <a:t> </a:t>
            </a:r>
            <a:r>
              <a:rPr lang="en-US" sz="1800" dirty="0" err="1">
                <a:solidFill>
                  <a:schemeClr val="tx1"/>
                </a:solidFill>
              </a:rPr>
              <a:t>quát</a:t>
            </a:r>
            <a:r>
              <a:rPr lang="en-US" sz="1800" dirty="0">
                <a:solidFill>
                  <a:schemeClr val="tx1"/>
                </a:solidFill>
              </a:rPr>
              <a:t> </a:t>
            </a:r>
            <a:r>
              <a:rPr lang="en-US" sz="1800" dirty="0" err="1">
                <a:solidFill>
                  <a:schemeClr val="tx1"/>
                </a:solidFill>
              </a:rPr>
              <a:t>và</a:t>
            </a:r>
            <a:r>
              <a:rPr lang="en-US" sz="1800" dirty="0">
                <a:solidFill>
                  <a:schemeClr val="tx1"/>
                </a:solidFill>
              </a:rPr>
              <a:t> </a:t>
            </a:r>
            <a:r>
              <a:rPr lang="en-US" sz="1800" dirty="0" err="1">
                <a:solidFill>
                  <a:schemeClr val="tx1"/>
                </a:solidFill>
              </a:rPr>
              <a:t>linh</a:t>
            </a:r>
            <a:r>
              <a:rPr lang="en-US" sz="1800" dirty="0">
                <a:solidFill>
                  <a:schemeClr val="tx1"/>
                </a:solidFill>
              </a:rPr>
              <a:t> </a:t>
            </a:r>
            <a:r>
              <a:rPr lang="en-US" sz="1800" dirty="0" err="1">
                <a:solidFill>
                  <a:schemeClr val="tx1"/>
                </a:solidFill>
              </a:rPr>
              <a:t>hoạt</a:t>
            </a:r>
            <a:endParaRPr dirty="0">
              <a:solidFill>
                <a:schemeClr val="tx1"/>
              </a:solidFill>
            </a:endParaRP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1.2. </a:t>
            </a:r>
            <a:r>
              <a:rPr lang="en-US" sz="1800" dirty="0" err="1">
                <a:solidFill>
                  <a:schemeClr val="bg1">
                    <a:lumMod val="75000"/>
                  </a:schemeClr>
                </a:solidFill>
              </a:rPr>
              <a:t>Kiến</a:t>
            </a:r>
            <a:r>
              <a:rPr lang="en-US" sz="1800" dirty="0">
                <a:solidFill>
                  <a:schemeClr val="bg1">
                    <a:lumMod val="75000"/>
                  </a:schemeClr>
                </a:solidFill>
              </a:rPr>
              <a:t> </a:t>
            </a:r>
            <a:r>
              <a:rPr lang="en-US" sz="1800" dirty="0" err="1">
                <a:solidFill>
                  <a:schemeClr val="bg1">
                    <a:lumMod val="75000"/>
                  </a:schemeClr>
                </a:solidFill>
              </a:rPr>
              <a:t>trúc</a:t>
            </a:r>
            <a:r>
              <a:rPr lang="en-US" sz="1800" dirty="0">
                <a:solidFill>
                  <a:schemeClr val="bg1">
                    <a:lumMod val="75000"/>
                  </a:schemeClr>
                </a:solidFill>
              </a:rPr>
              <a:t> </a:t>
            </a:r>
            <a:r>
              <a:rPr lang="en-US" sz="1800" dirty="0" err="1">
                <a:solidFill>
                  <a:schemeClr val="bg1">
                    <a:lumMod val="75000"/>
                  </a:schemeClr>
                </a:solidFill>
              </a:rPr>
              <a:t>và</a:t>
            </a:r>
            <a:r>
              <a:rPr lang="en-US" sz="1800" dirty="0">
                <a:solidFill>
                  <a:schemeClr val="bg1">
                    <a:lumMod val="75000"/>
                  </a:schemeClr>
                </a:solidFill>
              </a:rPr>
              <a:t> </a:t>
            </a:r>
            <a:r>
              <a:rPr lang="en-US" sz="1800" dirty="0" err="1">
                <a:solidFill>
                  <a:schemeClr val="bg1">
                    <a:lumMod val="75000"/>
                  </a:schemeClr>
                </a:solidFill>
              </a:rPr>
              <a:t>kĩ</a:t>
            </a:r>
            <a:r>
              <a:rPr lang="en-US" sz="1800" dirty="0">
                <a:solidFill>
                  <a:schemeClr val="bg1">
                    <a:lumMod val="75000"/>
                  </a:schemeClr>
                </a:solidFill>
              </a:rPr>
              <a:t> </a:t>
            </a:r>
            <a:r>
              <a:rPr lang="en-US" sz="1800" dirty="0" err="1">
                <a:solidFill>
                  <a:schemeClr val="bg1">
                    <a:lumMod val="75000"/>
                  </a:schemeClr>
                </a:solidFill>
              </a:rPr>
              <a:t>thuật</a:t>
            </a:r>
            <a:r>
              <a:rPr lang="en-US" sz="1800" dirty="0">
                <a:solidFill>
                  <a:schemeClr val="bg1">
                    <a:lumMod val="75000"/>
                  </a:schemeClr>
                </a:solidFill>
              </a:rPr>
              <a:t> </a:t>
            </a:r>
            <a:r>
              <a:rPr lang="en-US" sz="1800" dirty="0" err="1">
                <a:solidFill>
                  <a:schemeClr val="bg1">
                    <a:lumMod val="75000"/>
                  </a:schemeClr>
                </a:solidFill>
              </a:rPr>
              <a:t>các</a:t>
            </a:r>
            <a:r>
              <a:rPr lang="en-US" sz="1800" dirty="0">
                <a:solidFill>
                  <a:schemeClr val="bg1">
                    <a:lumMod val="75000"/>
                  </a:schemeClr>
                </a:solidFill>
              </a:rPr>
              <a:t> </a:t>
            </a:r>
            <a:r>
              <a:rPr lang="en-US" sz="1800" dirty="0" err="1">
                <a:solidFill>
                  <a:schemeClr val="bg1">
                    <a:lumMod val="75000"/>
                  </a:schemeClr>
                </a:solidFill>
              </a:rPr>
              <a:t>nền</a:t>
            </a:r>
            <a:r>
              <a:rPr lang="en-US" sz="1800" dirty="0">
                <a:solidFill>
                  <a:schemeClr val="bg1">
                    <a:lumMod val="75000"/>
                  </a:schemeClr>
                </a:solidFill>
              </a:rPr>
              <a:t> </a:t>
            </a:r>
            <a:r>
              <a:rPr lang="en-US" sz="1800" dirty="0" err="1">
                <a:solidFill>
                  <a:schemeClr val="bg1">
                    <a:lumMod val="75000"/>
                  </a:schemeClr>
                </a:solidFill>
              </a:rPr>
              <a:t>tảng</a:t>
            </a:r>
            <a:r>
              <a:rPr lang="en-US" sz="1800" dirty="0">
                <a:solidFill>
                  <a:schemeClr val="bg1">
                    <a:lumMod val="75000"/>
                  </a:schemeClr>
                </a:solidFill>
              </a:rPr>
              <a:t> IOT</a:t>
            </a:r>
          </a:p>
          <a:p>
            <a:pPr marL="176213" marR="0" lvl="0" indent="-176213" algn="l" rtl="0">
              <a:spcBef>
                <a:spcPts val="1000"/>
              </a:spcBef>
              <a:spcAft>
                <a:spcPts val="0"/>
              </a:spcAft>
              <a:buClr>
                <a:srgbClr val="A6A6A6"/>
              </a:buClr>
              <a:buSzPts val="2160"/>
              <a:buFont typeface="Arial"/>
              <a:buChar char="•"/>
            </a:pPr>
            <a:r>
              <a:rPr lang="en-US" sz="1800" dirty="0">
                <a:solidFill>
                  <a:schemeClr val="bg1">
                    <a:lumMod val="75000"/>
                  </a:schemeClr>
                </a:solidFill>
                <a:latin typeface="Arial"/>
                <a:ea typeface="Arial"/>
                <a:cs typeface="Arial"/>
                <a:sym typeface="Arial"/>
              </a:rPr>
              <a:t>1.3 Các </a:t>
            </a:r>
            <a:r>
              <a:rPr lang="en-US" sz="1800" dirty="0" err="1">
                <a:solidFill>
                  <a:schemeClr val="bg1">
                    <a:lumMod val="75000"/>
                  </a:schemeClr>
                </a:solidFill>
                <a:latin typeface="Arial"/>
                <a:ea typeface="Arial"/>
                <a:cs typeface="Arial"/>
                <a:sym typeface="Arial"/>
              </a:rPr>
              <a:t>nền</a:t>
            </a:r>
            <a:r>
              <a:rPr lang="en-US" sz="1800" dirty="0">
                <a:solidFill>
                  <a:schemeClr val="bg1">
                    <a:lumMod val="75000"/>
                  </a:schemeClr>
                </a:solidFill>
                <a:latin typeface="Arial"/>
                <a:ea typeface="Arial"/>
                <a:cs typeface="Arial"/>
                <a:sym typeface="Arial"/>
              </a:rPr>
              <a:t> </a:t>
            </a:r>
            <a:r>
              <a:rPr lang="en-US" sz="1800" dirty="0" err="1">
                <a:solidFill>
                  <a:schemeClr val="bg1">
                    <a:lumMod val="75000"/>
                  </a:schemeClr>
                </a:solidFill>
                <a:latin typeface="Arial"/>
                <a:ea typeface="Arial"/>
                <a:cs typeface="Arial"/>
                <a:sym typeface="Arial"/>
              </a:rPr>
              <a:t>tảng</a:t>
            </a:r>
            <a:r>
              <a:rPr lang="en-US" sz="1800" dirty="0">
                <a:solidFill>
                  <a:schemeClr val="bg1">
                    <a:lumMod val="75000"/>
                  </a:schemeClr>
                </a:solidFill>
                <a:latin typeface="Arial"/>
                <a:ea typeface="Arial"/>
                <a:cs typeface="Arial"/>
                <a:sym typeface="Arial"/>
              </a:rPr>
              <a:t> IOT</a:t>
            </a:r>
          </a:p>
          <a:p>
            <a:pPr marL="176213" marR="0" lvl="0" indent="-176213" algn="l" rtl="0">
              <a:spcBef>
                <a:spcPts val="1000"/>
              </a:spcBef>
              <a:spcAft>
                <a:spcPts val="0"/>
              </a:spcAft>
              <a:buClr>
                <a:srgbClr val="A6A6A6"/>
              </a:buClr>
              <a:buSzPts val="2160"/>
              <a:buFont typeface="Arial"/>
              <a:buChar char="•"/>
            </a:pPr>
            <a:endParaRPr sz="1800" dirty="0">
              <a:solidFill>
                <a:srgbClr val="A6A6A6"/>
              </a:solidFill>
              <a:latin typeface="Arial"/>
              <a:ea typeface="Arial"/>
              <a:cs typeface="Arial"/>
              <a:sym typeface="Arial"/>
            </a:endParaRPr>
          </a:p>
        </p:txBody>
      </p:sp>
    </p:spTree>
    <p:extLst>
      <p:ext uri="{BB962C8B-B14F-4D97-AF65-F5344CB8AC3E}">
        <p14:creationId xmlns:p14="http://schemas.microsoft.com/office/powerpoint/2010/main" val="12549796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755C279-4C6F-EDFA-50DE-313F0FB5DE3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9A8B3953-E742-48A6-A561-E1383C084B89}"/>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C8F7BC8F-9AFF-74AF-AEE4-77D65307BEED}"/>
              </a:ext>
            </a:extLst>
          </p:cNvPr>
          <p:cNvSpPr/>
          <p:nvPr/>
        </p:nvSpPr>
        <p:spPr>
          <a:xfrm>
            <a:off x="198946" y="696053"/>
            <a:ext cx="9392645" cy="1938992"/>
          </a:xfrm>
          <a:prstGeom prst="rect">
            <a:avLst/>
          </a:prstGeom>
          <a:noFill/>
          <a:ln>
            <a:noFill/>
          </a:ln>
        </p:spPr>
        <p:txBody>
          <a:bodyPr spcFirstLastPara="1" wrap="square" lIns="0" tIns="0" rIns="0" bIns="0" anchor="t" anchorCtr="0">
            <a:spAutoFit/>
          </a:bodyPr>
          <a:lstStyle/>
          <a:p>
            <a:pPr>
              <a:lnSpc>
                <a:spcPct val="150000"/>
              </a:lnSpc>
            </a:pPr>
            <a:r>
              <a:rPr lang="vi-VN" b="1" dirty="0"/>
              <a:t>Mở cổng kết nối RS-485 cho thiết bị và lập trình trên Arduino</a:t>
            </a:r>
            <a:endParaRPr lang="en-US" b="1" dirty="0"/>
          </a:p>
          <a:p>
            <a:pPr>
              <a:lnSpc>
                <a:spcPct val="150000"/>
              </a:lnSpc>
            </a:pPr>
            <a:r>
              <a:rPr lang="vi-VN" dirty="0"/>
              <a:t>Trong nhiều hệ thống công nghiệp, các thiết bị giao tiếp qua chuẩn RS-485 để truyền dữ liệu ở khoảng cách xa và chống nhiễu tốt. Chuẩn này thường được sử dụng cùng giao thức Modbus để kết nối cảm biến, PLC, bộ điều khiển và các thiết bị đo lường.Để Arduino có thể giao tiếp với mạng RS-485, cần sử dụng một module chuyển đổi TTL ↔ RS485, phổ biến nhất là module MAX485.</a:t>
            </a:r>
            <a:endParaRPr lang="en-US" dirty="0"/>
          </a:p>
          <a:p>
            <a:pPr>
              <a:lnSpc>
                <a:spcPct val="150000"/>
              </a:lnSpc>
            </a:pPr>
            <a:endParaRPr lang="vi-VN" dirty="0"/>
          </a:p>
        </p:txBody>
      </p:sp>
      <p:sp>
        <p:nvSpPr>
          <p:cNvPr id="3" name="Rectangle 1">
            <a:extLst>
              <a:ext uri="{FF2B5EF4-FFF2-40B4-BE49-F238E27FC236}">
                <a16:creationId xmlns:a16="http://schemas.microsoft.com/office/drawing/2014/main" id="{013FB3E0-7B73-8190-12E3-D08BA33BE186}"/>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1DD17495-13D2-1E61-9233-60759DDF858D}"/>
              </a:ext>
            </a:extLst>
          </p:cNvPr>
          <p:cNvPicPr>
            <a:picLocks noChangeAspect="1"/>
          </p:cNvPicPr>
          <p:nvPr/>
        </p:nvPicPr>
        <p:blipFill>
          <a:blip r:embed="rId3"/>
          <a:stretch>
            <a:fillRect/>
          </a:stretch>
        </p:blipFill>
        <p:spPr>
          <a:xfrm>
            <a:off x="1609143" y="2382965"/>
            <a:ext cx="6572250" cy="3990975"/>
          </a:xfrm>
          <a:prstGeom prst="rect">
            <a:avLst/>
          </a:prstGeom>
        </p:spPr>
      </p:pic>
    </p:spTree>
    <p:extLst>
      <p:ext uri="{BB962C8B-B14F-4D97-AF65-F5344CB8AC3E}">
        <p14:creationId xmlns:p14="http://schemas.microsoft.com/office/powerpoint/2010/main" val="155845621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AD595B4-0265-40BF-E8F6-3006D49C790B}"/>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F27321B3-9A56-F273-2B52-BDF8CBC7EA69}"/>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BFE5CB3B-682C-892A-BD8B-7189493C5E9F}"/>
              </a:ext>
            </a:extLst>
          </p:cNvPr>
          <p:cNvSpPr/>
          <p:nvPr/>
        </p:nvSpPr>
        <p:spPr>
          <a:xfrm>
            <a:off x="198946" y="696053"/>
            <a:ext cx="9392645" cy="2908489"/>
          </a:xfrm>
          <a:prstGeom prst="rect">
            <a:avLst/>
          </a:prstGeom>
          <a:noFill/>
          <a:ln>
            <a:noFill/>
          </a:ln>
        </p:spPr>
        <p:txBody>
          <a:bodyPr spcFirstLastPara="1" wrap="square" lIns="0" tIns="0" rIns="0" bIns="0" anchor="t" anchorCtr="0">
            <a:spAutoFit/>
          </a:bodyPr>
          <a:lstStyle/>
          <a:p>
            <a:pPr>
              <a:lnSpc>
                <a:spcPct val="150000"/>
              </a:lnSpc>
            </a:pPr>
            <a:r>
              <a:rPr lang="vi-VN" b="1" dirty="0"/>
              <a:t>Mở cổng kết nối RS-485 cho thiết bị và lập trình trên Arduino</a:t>
            </a:r>
            <a:endParaRPr lang="en-US" b="1" dirty="0"/>
          </a:p>
          <a:p>
            <a:pPr>
              <a:lnSpc>
                <a:spcPct val="150000"/>
              </a:lnSpc>
            </a:pPr>
            <a:r>
              <a:rPr lang="vi-VN" dirty="0"/>
              <a:t>Các chân của module gồm có:</a:t>
            </a:r>
          </a:p>
          <a:p>
            <a:pPr>
              <a:lnSpc>
                <a:spcPct val="150000"/>
              </a:lnSpc>
            </a:pPr>
            <a:r>
              <a:rPr lang="vi-VN" dirty="0"/>
              <a:t>DI- DATA IN (Dữ liệu vào) PIN 1</a:t>
            </a:r>
          </a:p>
          <a:p>
            <a:pPr>
              <a:lnSpc>
                <a:spcPct val="150000"/>
              </a:lnSpc>
            </a:pPr>
            <a:r>
              <a:rPr lang="vi-VN" dirty="0"/>
              <a:t>RO - RECEIVE OUT (Tín hiệu nhận đầu ra) PIN 0</a:t>
            </a:r>
          </a:p>
          <a:p>
            <a:pPr>
              <a:lnSpc>
                <a:spcPct val="150000"/>
              </a:lnSpc>
            </a:pPr>
            <a:r>
              <a:rPr lang="vi-VN" dirty="0"/>
              <a:t>DE- DATA ENABLE; RE RECEIVE ENABLE (Cho phép dữ liệu vào và cho phép được nhận) 2 chân này thường để nối liền với nhau và kết nối với Pin 2</a:t>
            </a:r>
          </a:p>
          <a:p>
            <a:pPr>
              <a:lnSpc>
                <a:spcPct val="150000"/>
              </a:lnSpc>
            </a:pPr>
            <a:r>
              <a:rPr lang="vi-VN" dirty="0"/>
              <a:t>VCC nối với +5v</a:t>
            </a:r>
          </a:p>
          <a:p>
            <a:pPr>
              <a:lnSpc>
                <a:spcPct val="150000"/>
              </a:lnSpc>
            </a:pPr>
            <a:r>
              <a:rPr lang="vi-VN" dirty="0"/>
              <a:t>GND nối với GND, GND của 2 arduino có thể dùng cáp để nối hoặc cần được nối đất tại chỗ</a:t>
            </a:r>
          </a:p>
          <a:p>
            <a:pPr>
              <a:lnSpc>
                <a:spcPct val="150000"/>
              </a:lnSpc>
            </a:pPr>
            <a:r>
              <a:rPr lang="vi-VN" dirty="0"/>
              <a:t>A nối với A; B nối với B thông qua cáp cặp xoắn</a:t>
            </a:r>
          </a:p>
        </p:txBody>
      </p:sp>
      <p:sp>
        <p:nvSpPr>
          <p:cNvPr id="3" name="Rectangle 1">
            <a:extLst>
              <a:ext uri="{FF2B5EF4-FFF2-40B4-BE49-F238E27FC236}">
                <a16:creationId xmlns:a16="http://schemas.microsoft.com/office/drawing/2014/main" id="{5BE54C5E-CF53-5D13-AFDD-4C0ACF2D126F}"/>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098" name="Picture 2" descr="Mô-đun MAX485 RS-485 Mô-đun Chuyển Đổi TTL Sang RS485 MAX485CSA, Cho Arduino  | Lazada.vn">
            <a:extLst>
              <a:ext uri="{FF2B5EF4-FFF2-40B4-BE49-F238E27FC236}">
                <a16:creationId xmlns:a16="http://schemas.microsoft.com/office/drawing/2014/main" id="{B0F104EC-A1FA-9387-794A-014951643D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371" b="12660"/>
          <a:stretch>
            <a:fillRect/>
          </a:stretch>
        </p:blipFill>
        <p:spPr bwMode="auto">
          <a:xfrm>
            <a:off x="2776019" y="3872222"/>
            <a:ext cx="3777590" cy="2416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195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D3C1E95-AB2A-87A2-82E2-8C352154D984}"/>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48F6A59C-9213-59AB-E71E-29E5343183C8}"/>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F0987FDC-548D-E35B-91CA-C709A34D2727}"/>
              </a:ext>
            </a:extLst>
          </p:cNvPr>
          <p:cNvSpPr/>
          <p:nvPr/>
        </p:nvSpPr>
        <p:spPr>
          <a:xfrm>
            <a:off x="198946" y="696053"/>
            <a:ext cx="9392645" cy="4955203"/>
          </a:xfrm>
          <a:prstGeom prst="rect">
            <a:avLst/>
          </a:prstGeom>
          <a:noFill/>
          <a:ln>
            <a:noFill/>
          </a:ln>
        </p:spPr>
        <p:txBody>
          <a:bodyPr spcFirstLastPara="1" wrap="square" lIns="0" tIns="0" rIns="0" bIns="0" anchor="t" anchorCtr="0">
            <a:spAutoFit/>
          </a:bodyPr>
          <a:lstStyle/>
          <a:p>
            <a:r>
              <a:rPr lang="en-US" b="1" dirty="0" err="1"/>
              <a:t>Mở</a:t>
            </a:r>
            <a:r>
              <a:rPr lang="en-US" b="1" dirty="0"/>
              <a:t> </a:t>
            </a:r>
            <a:r>
              <a:rPr lang="en-US" b="1" dirty="0" err="1"/>
              <a:t>cổng</a:t>
            </a:r>
            <a:r>
              <a:rPr lang="en-US" b="1" dirty="0"/>
              <a:t> </a:t>
            </a:r>
            <a:r>
              <a:rPr lang="en-US" b="1" dirty="0" err="1"/>
              <a:t>truyền</a:t>
            </a:r>
            <a:r>
              <a:rPr lang="en-US" b="1" dirty="0"/>
              <a:t> </a:t>
            </a:r>
            <a:r>
              <a:rPr lang="en-US" b="1" dirty="0" err="1"/>
              <a:t>thông</a:t>
            </a:r>
            <a:r>
              <a:rPr lang="en-US" b="1" dirty="0"/>
              <a:t> RS485 </a:t>
            </a:r>
            <a:r>
              <a:rPr lang="en-US" b="1" dirty="0" err="1"/>
              <a:t>trên</a:t>
            </a:r>
            <a:r>
              <a:rPr lang="en-US" b="1" dirty="0"/>
              <a:t> Arduino</a:t>
            </a:r>
          </a:p>
          <a:p>
            <a:r>
              <a:rPr lang="en-US" dirty="0"/>
              <a:t>Arduino </a:t>
            </a:r>
            <a:r>
              <a:rPr lang="en-US" dirty="0" err="1"/>
              <a:t>sử</a:t>
            </a:r>
            <a:r>
              <a:rPr lang="en-US" dirty="0"/>
              <a:t> </a:t>
            </a:r>
            <a:r>
              <a:rPr lang="en-US" dirty="0" err="1"/>
              <a:t>dụng</a:t>
            </a:r>
            <a:r>
              <a:rPr lang="en-US" dirty="0"/>
              <a:t> </a:t>
            </a:r>
            <a:r>
              <a:rPr lang="en-US" b="1" dirty="0"/>
              <a:t>UART Serial</a:t>
            </a:r>
            <a:r>
              <a:rPr lang="en-US" dirty="0"/>
              <a:t> </a:t>
            </a:r>
            <a:r>
              <a:rPr lang="en-US" dirty="0" err="1"/>
              <a:t>để</a:t>
            </a:r>
            <a:r>
              <a:rPr lang="en-US" dirty="0"/>
              <a:t> </a:t>
            </a:r>
            <a:r>
              <a:rPr lang="en-US" dirty="0" err="1"/>
              <a:t>giao</a:t>
            </a:r>
            <a:r>
              <a:rPr lang="en-US" dirty="0"/>
              <a:t> </a:t>
            </a:r>
            <a:r>
              <a:rPr lang="en-US" dirty="0" err="1"/>
              <a:t>tiếp</a:t>
            </a:r>
            <a:r>
              <a:rPr lang="en-US" dirty="0"/>
              <a:t>. Khi </a:t>
            </a:r>
            <a:r>
              <a:rPr lang="en-US" dirty="0" err="1"/>
              <a:t>làm</a:t>
            </a:r>
            <a:r>
              <a:rPr lang="en-US" dirty="0"/>
              <a:t> </a:t>
            </a:r>
            <a:r>
              <a:rPr lang="en-US" dirty="0" err="1"/>
              <a:t>việc</a:t>
            </a:r>
            <a:r>
              <a:rPr lang="en-US" dirty="0"/>
              <a:t> </a:t>
            </a:r>
            <a:r>
              <a:rPr lang="en-US" dirty="0" err="1"/>
              <a:t>với</a:t>
            </a:r>
            <a:r>
              <a:rPr lang="en-US" dirty="0"/>
              <a:t> RS485, ta </a:t>
            </a:r>
            <a:r>
              <a:rPr lang="en-US" dirty="0" err="1"/>
              <a:t>cấu</a:t>
            </a:r>
            <a:r>
              <a:rPr lang="en-US" dirty="0"/>
              <a:t> </a:t>
            </a:r>
            <a:r>
              <a:rPr lang="en-US" dirty="0" err="1"/>
              <a:t>hình</a:t>
            </a:r>
            <a:r>
              <a:rPr lang="en-US" dirty="0"/>
              <a:t> </a:t>
            </a:r>
            <a:r>
              <a:rPr lang="en-US" dirty="0" err="1"/>
              <a:t>cổng</a:t>
            </a:r>
            <a:r>
              <a:rPr lang="en-US" dirty="0"/>
              <a:t> Serial </a:t>
            </a:r>
            <a:r>
              <a:rPr lang="en-US" dirty="0" err="1"/>
              <a:t>với</a:t>
            </a:r>
            <a:r>
              <a:rPr lang="en-US" dirty="0"/>
              <a:t> </a:t>
            </a:r>
            <a:r>
              <a:rPr lang="en-US" dirty="0" err="1"/>
              <a:t>tốc</a:t>
            </a:r>
            <a:r>
              <a:rPr lang="en-US" dirty="0"/>
              <a:t> </a:t>
            </a:r>
            <a:r>
              <a:rPr lang="en-US" dirty="0" err="1"/>
              <a:t>độ</a:t>
            </a:r>
            <a:r>
              <a:rPr lang="en-US" dirty="0"/>
              <a:t> baud </a:t>
            </a:r>
            <a:r>
              <a:rPr lang="en-US" dirty="0" err="1"/>
              <a:t>giống</a:t>
            </a:r>
            <a:r>
              <a:rPr lang="en-US" dirty="0"/>
              <a:t> </a:t>
            </a:r>
            <a:r>
              <a:rPr lang="en-US" dirty="0" err="1"/>
              <a:t>thiết</a:t>
            </a:r>
            <a:r>
              <a:rPr lang="en-US" dirty="0"/>
              <a:t> </a:t>
            </a:r>
            <a:r>
              <a:rPr lang="en-US" dirty="0" err="1"/>
              <a:t>bị</a:t>
            </a:r>
            <a:r>
              <a:rPr lang="en-US" dirty="0"/>
              <a:t>.</a:t>
            </a:r>
          </a:p>
          <a:p>
            <a:r>
              <a:rPr lang="en-US" dirty="0" err="1"/>
              <a:t>Ví</a:t>
            </a:r>
            <a:r>
              <a:rPr lang="en-US" dirty="0"/>
              <a:t> </a:t>
            </a:r>
            <a:r>
              <a:rPr lang="en-US" dirty="0" err="1"/>
              <a:t>dụ</a:t>
            </a:r>
            <a:r>
              <a:rPr lang="en-US" dirty="0"/>
              <a:t>:</a:t>
            </a:r>
          </a:p>
          <a:p>
            <a:r>
              <a:rPr lang="en-US" dirty="0">
                <a:solidFill>
                  <a:srgbClr val="FF0000"/>
                </a:solidFill>
              </a:rPr>
              <a:t>#define MAX485_DE 2</a:t>
            </a:r>
            <a:br>
              <a:rPr lang="en-US" dirty="0">
                <a:solidFill>
                  <a:srgbClr val="FF0000"/>
                </a:solidFill>
              </a:rPr>
            </a:br>
            <a:r>
              <a:rPr lang="en-US" dirty="0">
                <a:solidFill>
                  <a:srgbClr val="FF0000"/>
                </a:solidFill>
              </a:rPr>
              <a:t>#define MAX485_RE 2</a:t>
            </a:r>
            <a:br>
              <a:rPr lang="en-US" dirty="0">
                <a:solidFill>
                  <a:srgbClr val="FF0000"/>
                </a:solidFill>
              </a:rPr>
            </a:br>
            <a:br>
              <a:rPr lang="en-US" dirty="0">
                <a:solidFill>
                  <a:srgbClr val="FF0000"/>
                </a:solidFill>
              </a:rPr>
            </a:br>
            <a:r>
              <a:rPr lang="en-US" dirty="0">
                <a:solidFill>
                  <a:srgbClr val="FF0000"/>
                </a:solidFill>
              </a:rPr>
              <a:t>void setup() {</a:t>
            </a:r>
            <a:br>
              <a:rPr lang="en-US" dirty="0">
                <a:solidFill>
                  <a:srgbClr val="FF0000"/>
                </a:solidFill>
              </a:rPr>
            </a:br>
            <a:r>
              <a:rPr lang="en-US" dirty="0">
                <a:solidFill>
                  <a:srgbClr val="FF0000"/>
                </a:solidFill>
              </a:rPr>
              <a:t>  </a:t>
            </a:r>
            <a:r>
              <a:rPr lang="en-US" dirty="0" err="1">
                <a:solidFill>
                  <a:srgbClr val="FF0000"/>
                </a:solidFill>
              </a:rPr>
              <a:t>pinMode</a:t>
            </a:r>
            <a:r>
              <a:rPr lang="en-US" dirty="0">
                <a:solidFill>
                  <a:srgbClr val="FF0000"/>
                </a:solidFill>
              </a:rPr>
              <a:t>(MAX485_DE, OUTPUT);</a:t>
            </a:r>
            <a:br>
              <a:rPr lang="en-US" dirty="0">
                <a:solidFill>
                  <a:srgbClr val="FF0000"/>
                </a:solidFill>
              </a:rPr>
            </a:br>
            <a:r>
              <a:rPr lang="en-US" dirty="0">
                <a:solidFill>
                  <a:srgbClr val="FF0000"/>
                </a:solidFill>
              </a:rPr>
              <a:t>  </a:t>
            </a:r>
            <a:r>
              <a:rPr lang="en-US" dirty="0" err="1">
                <a:solidFill>
                  <a:srgbClr val="FF0000"/>
                </a:solidFill>
              </a:rPr>
              <a:t>pinMode</a:t>
            </a:r>
            <a:r>
              <a:rPr lang="en-US" dirty="0">
                <a:solidFill>
                  <a:srgbClr val="FF0000"/>
                </a:solidFill>
              </a:rPr>
              <a:t>(MAX485_RE, OUTPUT);</a:t>
            </a:r>
            <a:br>
              <a:rPr lang="en-US" dirty="0">
                <a:solidFill>
                  <a:srgbClr val="FF0000"/>
                </a:solidFill>
              </a:rPr>
            </a:br>
            <a:br>
              <a:rPr lang="en-US" dirty="0">
                <a:solidFill>
                  <a:srgbClr val="FF0000"/>
                </a:solidFill>
              </a:rPr>
            </a:br>
            <a:r>
              <a:rPr lang="en-US" dirty="0">
                <a:solidFill>
                  <a:srgbClr val="FF0000"/>
                </a:solidFill>
              </a:rPr>
              <a:t>  </a:t>
            </a:r>
            <a:r>
              <a:rPr lang="en-US" dirty="0" err="1">
                <a:solidFill>
                  <a:srgbClr val="FF0000"/>
                </a:solidFill>
              </a:rPr>
              <a:t>digitalWrite</a:t>
            </a:r>
            <a:r>
              <a:rPr lang="en-US" dirty="0">
                <a:solidFill>
                  <a:srgbClr val="FF0000"/>
                </a:solidFill>
              </a:rPr>
              <a:t>(MAX485_DE, LOW); </a:t>
            </a:r>
            <a:br>
              <a:rPr lang="en-US" dirty="0">
                <a:solidFill>
                  <a:srgbClr val="FF0000"/>
                </a:solidFill>
              </a:rPr>
            </a:br>
            <a:r>
              <a:rPr lang="en-US" dirty="0">
                <a:solidFill>
                  <a:srgbClr val="FF0000"/>
                </a:solidFill>
              </a:rPr>
              <a:t>  </a:t>
            </a:r>
            <a:r>
              <a:rPr lang="en-US" dirty="0" err="1">
                <a:solidFill>
                  <a:srgbClr val="FF0000"/>
                </a:solidFill>
              </a:rPr>
              <a:t>digitalWrite</a:t>
            </a:r>
            <a:r>
              <a:rPr lang="en-US" dirty="0">
                <a:solidFill>
                  <a:srgbClr val="FF0000"/>
                </a:solidFill>
              </a:rPr>
              <a:t>(MAX485_RE, LOW); </a:t>
            </a:r>
            <a:br>
              <a:rPr lang="en-US" dirty="0">
                <a:solidFill>
                  <a:srgbClr val="FF0000"/>
                </a:solidFill>
              </a:rPr>
            </a:br>
            <a:br>
              <a:rPr lang="en-US" dirty="0">
                <a:solidFill>
                  <a:srgbClr val="FF0000"/>
                </a:solidFill>
              </a:rPr>
            </a:br>
            <a:r>
              <a:rPr lang="en-US" dirty="0">
                <a:solidFill>
                  <a:srgbClr val="FF0000"/>
                </a:solidFill>
              </a:rPr>
              <a:t>  </a:t>
            </a:r>
            <a:r>
              <a:rPr lang="en-US" dirty="0" err="1">
                <a:solidFill>
                  <a:srgbClr val="FF0000"/>
                </a:solidFill>
              </a:rPr>
              <a:t>Serial.begin</a:t>
            </a:r>
            <a:r>
              <a:rPr lang="en-US" dirty="0">
                <a:solidFill>
                  <a:srgbClr val="FF0000"/>
                </a:solidFill>
              </a:rPr>
              <a:t>(9600);   // </a:t>
            </a:r>
            <a:r>
              <a:rPr lang="en-US" dirty="0" err="1">
                <a:solidFill>
                  <a:srgbClr val="FF0000"/>
                </a:solidFill>
              </a:rPr>
              <a:t>tốc</a:t>
            </a:r>
            <a:r>
              <a:rPr lang="en-US" dirty="0">
                <a:solidFill>
                  <a:srgbClr val="FF0000"/>
                </a:solidFill>
              </a:rPr>
              <a:t> </a:t>
            </a:r>
            <a:r>
              <a:rPr lang="en-US" dirty="0" err="1">
                <a:solidFill>
                  <a:srgbClr val="FF0000"/>
                </a:solidFill>
              </a:rPr>
              <a:t>độ</a:t>
            </a:r>
            <a:r>
              <a:rPr lang="en-US" dirty="0">
                <a:solidFill>
                  <a:srgbClr val="FF0000"/>
                </a:solidFill>
              </a:rPr>
              <a:t> </a:t>
            </a:r>
            <a:r>
              <a:rPr lang="en-US" dirty="0" err="1">
                <a:solidFill>
                  <a:srgbClr val="FF0000"/>
                </a:solidFill>
              </a:rPr>
              <a:t>truyền</a:t>
            </a:r>
            <a:br>
              <a:rPr lang="en-US" dirty="0">
                <a:solidFill>
                  <a:srgbClr val="FF0000"/>
                </a:solidFill>
              </a:rPr>
            </a:br>
            <a:r>
              <a:rPr lang="en-US" dirty="0">
                <a:solidFill>
                  <a:srgbClr val="FF0000"/>
                </a:solidFill>
              </a:rPr>
              <a:t>}</a:t>
            </a:r>
            <a:br>
              <a:rPr lang="en-US" dirty="0">
                <a:solidFill>
                  <a:srgbClr val="FF0000"/>
                </a:solidFill>
              </a:rPr>
            </a:br>
            <a:br>
              <a:rPr lang="en-US" dirty="0">
                <a:solidFill>
                  <a:srgbClr val="FF0000"/>
                </a:solidFill>
              </a:rPr>
            </a:br>
            <a:r>
              <a:rPr lang="en-US" dirty="0">
                <a:solidFill>
                  <a:srgbClr val="FF0000"/>
                </a:solidFill>
              </a:rPr>
              <a:t>void loop() {</a:t>
            </a:r>
            <a:br>
              <a:rPr lang="en-US" dirty="0">
                <a:solidFill>
                  <a:srgbClr val="FF0000"/>
                </a:solidFill>
              </a:rPr>
            </a:br>
            <a:br>
              <a:rPr lang="en-US" dirty="0">
                <a:solidFill>
                  <a:srgbClr val="FF0000"/>
                </a:solidFill>
              </a:rPr>
            </a:br>
            <a:r>
              <a:rPr lang="en-US" dirty="0">
                <a:solidFill>
                  <a:srgbClr val="FF0000"/>
                </a:solidFill>
              </a:rPr>
              <a:t>}</a:t>
            </a:r>
          </a:p>
          <a:p>
            <a:r>
              <a:rPr lang="en-US" dirty="0"/>
              <a:t>Trong </a:t>
            </a:r>
            <a:r>
              <a:rPr lang="en-US" dirty="0" err="1"/>
              <a:t>đó</a:t>
            </a:r>
            <a:endParaRPr lang="en-US" dirty="0"/>
          </a:p>
          <a:p>
            <a:r>
              <a:rPr lang="en-US" dirty="0"/>
              <a:t>LOW → </a:t>
            </a:r>
            <a:r>
              <a:rPr lang="en-US" dirty="0" err="1"/>
              <a:t>chế</a:t>
            </a:r>
            <a:r>
              <a:rPr lang="en-US" dirty="0"/>
              <a:t> </a:t>
            </a:r>
            <a:r>
              <a:rPr lang="en-US" dirty="0" err="1"/>
              <a:t>độ</a:t>
            </a:r>
            <a:r>
              <a:rPr lang="en-US" dirty="0"/>
              <a:t> </a:t>
            </a:r>
            <a:r>
              <a:rPr lang="en-US" dirty="0" err="1"/>
              <a:t>nhận</a:t>
            </a:r>
            <a:r>
              <a:rPr lang="en-US" dirty="0"/>
              <a:t> </a:t>
            </a:r>
            <a:r>
              <a:rPr lang="en-US" dirty="0" err="1"/>
              <a:t>dữ</a:t>
            </a:r>
            <a:r>
              <a:rPr lang="en-US" dirty="0"/>
              <a:t> </a:t>
            </a:r>
            <a:r>
              <a:rPr lang="en-US" dirty="0" err="1"/>
              <a:t>liệu</a:t>
            </a:r>
            <a:br>
              <a:rPr lang="en-US" dirty="0"/>
            </a:br>
            <a:r>
              <a:rPr lang="en-US" dirty="0"/>
              <a:t>HIGH → </a:t>
            </a:r>
            <a:r>
              <a:rPr lang="en-US" dirty="0" err="1"/>
              <a:t>chế</a:t>
            </a:r>
            <a:r>
              <a:rPr lang="en-US" dirty="0"/>
              <a:t> </a:t>
            </a:r>
            <a:r>
              <a:rPr lang="en-US" dirty="0" err="1"/>
              <a:t>độ</a:t>
            </a:r>
            <a:r>
              <a:rPr lang="en-US" dirty="0"/>
              <a:t> </a:t>
            </a:r>
            <a:r>
              <a:rPr lang="en-US" dirty="0" err="1"/>
              <a:t>truyền</a:t>
            </a:r>
            <a:r>
              <a:rPr lang="en-US" dirty="0"/>
              <a:t> </a:t>
            </a:r>
            <a:r>
              <a:rPr lang="en-US" dirty="0" err="1"/>
              <a:t>dữ</a:t>
            </a:r>
            <a:r>
              <a:rPr lang="en-US" dirty="0"/>
              <a:t> </a:t>
            </a:r>
            <a:r>
              <a:rPr lang="en-US" dirty="0" err="1"/>
              <a:t>liệu</a:t>
            </a:r>
            <a:endParaRPr lang="en-US" dirty="0"/>
          </a:p>
        </p:txBody>
      </p:sp>
      <p:sp>
        <p:nvSpPr>
          <p:cNvPr id="3" name="Rectangle 1">
            <a:extLst>
              <a:ext uri="{FF2B5EF4-FFF2-40B4-BE49-F238E27FC236}">
                <a16:creationId xmlns:a16="http://schemas.microsoft.com/office/drawing/2014/main" id="{76F73242-87D8-5167-A951-31DDBD1F5AF4}"/>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903672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00D9ADE-DECE-1F05-E4BE-FF7D8BB61D08}"/>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EDB1BA7-BB46-1F41-B976-6EACBECCC721}"/>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6B98B5C2-91E9-7B5A-9FE2-4743FE1424EB}"/>
              </a:ext>
            </a:extLst>
          </p:cNvPr>
          <p:cNvSpPr/>
          <p:nvPr/>
        </p:nvSpPr>
        <p:spPr>
          <a:xfrm>
            <a:off x="198946" y="696053"/>
            <a:ext cx="9392645" cy="5816977"/>
          </a:xfrm>
          <a:prstGeom prst="rect">
            <a:avLst/>
          </a:prstGeom>
          <a:noFill/>
          <a:ln>
            <a:noFill/>
          </a:ln>
        </p:spPr>
        <p:txBody>
          <a:bodyPr spcFirstLastPara="1" wrap="square" lIns="0" tIns="0" rIns="0" bIns="0" anchor="t" anchorCtr="0">
            <a:spAutoFit/>
          </a:bodyPr>
          <a:lstStyle/>
          <a:p>
            <a:pPr>
              <a:lnSpc>
                <a:spcPct val="150000"/>
              </a:lnSpc>
            </a:pPr>
            <a:r>
              <a:rPr lang="vi-VN" b="1" dirty="0"/>
              <a:t>Cấu hình địa chỉ thiết bị (Slave Address)</a:t>
            </a:r>
          </a:p>
          <a:p>
            <a:pPr>
              <a:lnSpc>
                <a:spcPct val="150000"/>
              </a:lnSpc>
            </a:pPr>
            <a:r>
              <a:rPr lang="vi-VN" dirty="0"/>
              <a:t>Trong mạng </a:t>
            </a:r>
            <a:r>
              <a:rPr lang="vi-VN" b="1" dirty="0"/>
              <a:t>Modbus RS485</a:t>
            </a:r>
            <a:r>
              <a:rPr lang="vi-VN" dirty="0"/>
              <a:t>, mỗi thiết bị phải có </a:t>
            </a:r>
            <a:r>
              <a:rPr lang="vi-VN" b="1" dirty="0"/>
              <a:t>một địa chỉ riêng (Slave ID)</a:t>
            </a:r>
            <a:r>
              <a:rPr lang="vi-VN" dirty="0"/>
              <a:t> để Master có thể truy cập đúng thiết bị.</a:t>
            </a:r>
          </a:p>
          <a:p>
            <a:pPr>
              <a:lnSpc>
                <a:spcPct val="150000"/>
              </a:lnSpc>
            </a:pPr>
            <a:r>
              <a:rPr lang="vi-VN" dirty="0"/>
              <a:t>Phạm vi địa chỉ:</a:t>
            </a:r>
          </a:p>
          <a:p>
            <a:pPr>
              <a:lnSpc>
                <a:spcPct val="150000"/>
              </a:lnSpc>
            </a:pPr>
            <a:r>
              <a:rPr lang="vi-VN" dirty="0"/>
              <a:t>1 → 247</a:t>
            </a:r>
          </a:p>
          <a:p>
            <a:pPr>
              <a:lnSpc>
                <a:spcPct val="150000"/>
              </a:lnSpc>
            </a:pPr>
            <a:r>
              <a:rPr lang="vi-VN" dirty="0"/>
              <a:t>Ví dụ:</a:t>
            </a:r>
          </a:p>
          <a:p>
            <a:pPr>
              <a:lnSpc>
                <a:spcPct val="150000"/>
              </a:lnSpc>
            </a:pPr>
            <a:r>
              <a:rPr lang="vi-VN" dirty="0"/>
              <a:t>Thiết bị cảm biến 1 → ID = 01</a:t>
            </a:r>
            <a:br>
              <a:rPr lang="vi-VN" dirty="0"/>
            </a:br>
            <a:r>
              <a:rPr lang="vi-VN" dirty="0"/>
              <a:t>Thiết bị cảm biến 2 → ID = 02</a:t>
            </a:r>
            <a:br>
              <a:rPr lang="vi-VN" dirty="0"/>
            </a:br>
            <a:r>
              <a:rPr lang="vi-VN" dirty="0"/>
              <a:t>Địa chỉ này thường được cấu hình theo một trong ba cách:</a:t>
            </a:r>
          </a:p>
          <a:p>
            <a:pPr>
              <a:lnSpc>
                <a:spcPct val="150000"/>
              </a:lnSpc>
            </a:pPr>
            <a:r>
              <a:rPr lang="vi-VN" b="1" dirty="0"/>
              <a:t>Cách</a:t>
            </a:r>
            <a:r>
              <a:rPr lang="vi-VN" dirty="0"/>
              <a:t> 1: Cấu hình bằng phần mềm của nhà sản xuất</a:t>
            </a:r>
            <a:r>
              <a:rPr lang="en-US" dirty="0"/>
              <a:t> (</a:t>
            </a:r>
            <a:r>
              <a:rPr lang="vi-VN" dirty="0"/>
              <a:t>thay đổi địa chỉ Modbus bằng phần mềm PC</a:t>
            </a:r>
            <a:r>
              <a:rPr lang="en-US" dirty="0"/>
              <a:t>)</a:t>
            </a:r>
            <a:br>
              <a:rPr lang="vi-VN" dirty="0"/>
            </a:br>
            <a:r>
              <a:rPr lang="vi-VN" b="1" dirty="0"/>
              <a:t>Cách</a:t>
            </a:r>
            <a:r>
              <a:rPr lang="vi-VN" dirty="0"/>
              <a:t> 2: Gửi lệnh Modbus để thay đổi địa chỉ</a:t>
            </a:r>
            <a:br>
              <a:rPr lang="vi-VN" dirty="0"/>
            </a:br>
            <a:r>
              <a:rPr lang="vi-VN" dirty="0"/>
              <a:t>Master gửi lệnh ghi vào thanh ghi cấu hình của thiết bị.</a:t>
            </a:r>
          </a:p>
          <a:p>
            <a:pPr>
              <a:lnSpc>
                <a:spcPct val="150000"/>
              </a:lnSpc>
            </a:pPr>
            <a:r>
              <a:rPr lang="vi-VN" dirty="0"/>
              <a:t>Ví dụ khung lệnh:</a:t>
            </a:r>
          </a:p>
          <a:p>
            <a:pPr>
              <a:lnSpc>
                <a:spcPct val="150000"/>
              </a:lnSpc>
            </a:pPr>
            <a:r>
              <a:rPr lang="vi-VN" dirty="0"/>
              <a:t>Slave ID: 01</a:t>
            </a:r>
            <a:br>
              <a:rPr lang="vi-VN" dirty="0"/>
            </a:br>
            <a:r>
              <a:rPr lang="vi-VN" dirty="0"/>
              <a:t>Function Code: 06 (Write Register)</a:t>
            </a:r>
            <a:br>
              <a:rPr lang="vi-VN" dirty="0"/>
            </a:br>
            <a:r>
              <a:rPr lang="vi-VN" dirty="0"/>
              <a:t>Register Address: 0001</a:t>
            </a:r>
            <a:br>
              <a:rPr lang="vi-VN" dirty="0"/>
            </a:br>
            <a:r>
              <a:rPr lang="vi-VN" dirty="0"/>
              <a:t>Data: 0002</a:t>
            </a:r>
          </a:p>
          <a:p>
            <a:pPr>
              <a:lnSpc>
                <a:spcPct val="150000"/>
              </a:lnSpc>
            </a:pPr>
            <a:r>
              <a:rPr lang="vi-VN" dirty="0"/>
              <a:t>→ thay đổi địa chỉ thành 02.</a:t>
            </a:r>
          </a:p>
          <a:p>
            <a:pPr>
              <a:lnSpc>
                <a:spcPct val="150000"/>
              </a:lnSpc>
            </a:pPr>
            <a:r>
              <a:rPr lang="vi-VN" b="1" dirty="0"/>
              <a:t>Cách</a:t>
            </a:r>
            <a:r>
              <a:rPr lang="vi-VN" dirty="0"/>
              <a:t> 3: Thiết lập bằng DIP switch trên thiết bị</a:t>
            </a:r>
            <a:r>
              <a:rPr lang="en-US" dirty="0"/>
              <a:t> (</a:t>
            </a:r>
            <a:r>
              <a:rPr lang="vi-VN" dirty="0"/>
              <a:t>Một số thiết bị có công tắc để đặt địa chỉ.</a:t>
            </a:r>
            <a:r>
              <a:rPr lang="en-US" dirty="0"/>
              <a:t>)</a:t>
            </a:r>
            <a:endParaRPr lang="vi-VN" dirty="0"/>
          </a:p>
        </p:txBody>
      </p:sp>
      <p:sp>
        <p:nvSpPr>
          <p:cNvPr id="3" name="Rectangle 1">
            <a:extLst>
              <a:ext uri="{FF2B5EF4-FFF2-40B4-BE49-F238E27FC236}">
                <a16:creationId xmlns:a16="http://schemas.microsoft.com/office/drawing/2014/main" id="{BA10F46D-BF6D-817A-A2CF-6FC8B1E116C5}"/>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36995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4744F024-E789-1739-E52E-9D170058CD6A}"/>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45948919-50EA-D562-4779-9E2DC14E91A3}"/>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3A8AE706-8332-4E0E-18F9-DA572CAFAF1D}"/>
              </a:ext>
            </a:extLst>
          </p:cNvPr>
          <p:cNvSpPr/>
          <p:nvPr/>
        </p:nvSpPr>
        <p:spPr>
          <a:xfrm>
            <a:off x="198946" y="696053"/>
            <a:ext cx="9392645" cy="6140142"/>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Arduino </a:t>
            </a:r>
            <a:r>
              <a:rPr lang="en-US" b="1" dirty="0" err="1"/>
              <a:t>đọc</a:t>
            </a:r>
            <a:r>
              <a:rPr lang="en-US" b="1" dirty="0"/>
              <a:t> </a:t>
            </a:r>
            <a:r>
              <a:rPr lang="en-US" b="1" dirty="0" err="1"/>
              <a:t>dữ</a:t>
            </a:r>
            <a:r>
              <a:rPr lang="en-US" b="1" dirty="0"/>
              <a:t> </a:t>
            </a:r>
            <a:r>
              <a:rPr lang="en-US" b="1" dirty="0" err="1"/>
              <a:t>liệu</a:t>
            </a:r>
            <a:r>
              <a:rPr lang="en-US" b="1" dirty="0"/>
              <a:t> Modbus RS485</a:t>
            </a:r>
          </a:p>
          <a:p>
            <a:pPr>
              <a:lnSpc>
                <a:spcPct val="150000"/>
              </a:lnSpc>
            </a:pPr>
            <a:r>
              <a:rPr lang="en-US" dirty="0" err="1"/>
              <a:t>Ví</a:t>
            </a:r>
            <a:r>
              <a:rPr lang="en-US" dirty="0"/>
              <a:t> </a:t>
            </a:r>
            <a:r>
              <a:rPr lang="en-US" dirty="0" err="1"/>
              <a:t>dụ</a:t>
            </a:r>
            <a:r>
              <a:rPr lang="en-US" dirty="0"/>
              <a:t> </a:t>
            </a:r>
            <a:r>
              <a:rPr lang="en-US" dirty="0" err="1"/>
              <a:t>gửi</a:t>
            </a:r>
            <a:r>
              <a:rPr lang="en-US" dirty="0"/>
              <a:t> </a:t>
            </a:r>
            <a:r>
              <a:rPr lang="en-US" dirty="0" err="1"/>
              <a:t>lệnh</a:t>
            </a:r>
            <a:r>
              <a:rPr lang="en-US" dirty="0"/>
              <a:t> </a:t>
            </a:r>
            <a:r>
              <a:rPr lang="en-US" dirty="0" err="1"/>
              <a:t>đọc</a:t>
            </a:r>
            <a:r>
              <a:rPr lang="en-US" dirty="0"/>
              <a:t> </a:t>
            </a:r>
            <a:r>
              <a:rPr lang="en-US" b="1" dirty="0"/>
              <a:t>Holding Register</a:t>
            </a:r>
            <a:r>
              <a:rPr lang="en-US" dirty="0"/>
              <a:t>:</a:t>
            </a:r>
          </a:p>
          <a:p>
            <a:pPr>
              <a:lnSpc>
                <a:spcPct val="150000"/>
              </a:lnSpc>
            </a:pPr>
            <a:r>
              <a:rPr lang="en-US" dirty="0">
                <a:solidFill>
                  <a:srgbClr val="FF0000"/>
                </a:solidFill>
              </a:rPr>
              <a:t>byte request[] = {0x01,0x03,0x00,0x6B,0x00,0x02,0x76,0x87};</a:t>
            </a:r>
            <a:br>
              <a:rPr lang="en-US" dirty="0">
                <a:solidFill>
                  <a:srgbClr val="FF0000"/>
                </a:solidFill>
              </a:rPr>
            </a:br>
            <a:br>
              <a:rPr lang="en-US" dirty="0">
                <a:solidFill>
                  <a:srgbClr val="FF0000"/>
                </a:solidFill>
              </a:rPr>
            </a:br>
            <a:r>
              <a:rPr lang="en-US" dirty="0">
                <a:solidFill>
                  <a:srgbClr val="FF0000"/>
                </a:solidFill>
              </a:rPr>
              <a:t>void loop(){</a:t>
            </a:r>
            <a:br>
              <a:rPr lang="en-US" dirty="0">
                <a:solidFill>
                  <a:srgbClr val="FF0000"/>
                </a:solidFill>
              </a:rPr>
            </a:br>
            <a:br>
              <a:rPr lang="en-US" dirty="0">
                <a:solidFill>
                  <a:srgbClr val="FF0000"/>
                </a:solidFill>
              </a:rPr>
            </a:br>
            <a:r>
              <a:rPr lang="en-US" dirty="0">
                <a:solidFill>
                  <a:srgbClr val="FF0000"/>
                </a:solidFill>
              </a:rPr>
              <a:t>  </a:t>
            </a:r>
            <a:r>
              <a:rPr lang="en-US" dirty="0" err="1">
                <a:solidFill>
                  <a:srgbClr val="FF0000"/>
                </a:solidFill>
              </a:rPr>
              <a:t>digitalWrite</a:t>
            </a:r>
            <a:r>
              <a:rPr lang="en-US" dirty="0">
                <a:solidFill>
                  <a:srgbClr val="FF0000"/>
                </a:solidFill>
              </a:rPr>
              <a:t>(MAX485_DE, HIGH);</a:t>
            </a:r>
            <a:br>
              <a:rPr lang="en-US" dirty="0">
                <a:solidFill>
                  <a:srgbClr val="FF0000"/>
                </a:solidFill>
              </a:rPr>
            </a:br>
            <a:r>
              <a:rPr lang="en-US" dirty="0">
                <a:solidFill>
                  <a:srgbClr val="FF0000"/>
                </a:solidFill>
              </a:rPr>
              <a:t>  </a:t>
            </a:r>
            <a:r>
              <a:rPr lang="en-US" dirty="0" err="1">
                <a:solidFill>
                  <a:srgbClr val="FF0000"/>
                </a:solidFill>
              </a:rPr>
              <a:t>digitalWrite</a:t>
            </a:r>
            <a:r>
              <a:rPr lang="en-US" dirty="0">
                <a:solidFill>
                  <a:srgbClr val="FF0000"/>
                </a:solidFill>
              </a:rPr>
              <a:t>(MAX485_RE, HIGH);</a:t>
            </a:r>
            <a:br>
              <a:rPr lang="en-US" dirty="0">
                <a:solidFill>
                  <a:srgbClr val="FF0000"/>
                </a:solidFill>
              </a:rPr>
            </a:br>
            <a:r>
              <a:rPr lang="en-US" dirty="0">
                <a:solidFill>
                  <a:srgbClr val="FF0000"/>
                </a:solidFill>
              </a:rPr>
              <a:t>  </a:t>
            </a:r>
            <a:r>
              <a:rPr lang="en-US" dirty="0" err="1">
                <a:solidFill>
                  <a:srgbClr val="FF0000"/>
                </a:solidFill>
              </a:rPr>
              <a:t>Serial.write</a:t>
            </a:r>
            <a:r>
              <a:rPr lang="en-US" dirty="0">
                <a:solidFill>
                  <a:srgbClr val="FF0000"/>
                </a:solidFill>
              </a:rPr>
              <a:t>(request,8);</a:t>
            </a:r>
            <a:br>
              <a:rPr lang="en-US" dirty="0">
                <a:solidFill>
                  <a:srgbClr val="FF0000"/>
                </a:solidFill>
              </a:rPr>
            </a:br>
            <a:r>
              <a:rPr lang="en-US" dirty="0">
                <a:solidFill>
                  <a:srgbClr val="FF0000"/>
                </a:solidFill>
              </a:rPr>
              <a:t>  delay(10);</a:t>
            </a:r>
            <a:br>
              <a:rPr lang="en-US" dirty="0">
                <a:solidFill>
                  <a:srgbClr val="FF0000"/>
                </a:solidFill>
              </a:rPr>
            </a:br>
            <a:r>
              <a:rPr lang="en-US" dirty="0">
                <a:solidFill>
                  <a:srgbClr val="FF0000"/>
                </a:solidFill>
              </a:rPr>
              <a:t>  </a:t>
            </a:r>
            <a:r>
              <a:rPr lang="en-US" dirty="0" err="1">
                <a:solidFill>
                  <a:srgbClr val="FF0000"/>
                </a:solidFill>
              </a:rPr>
              <a:t>digitalWrite</a:t>
            </a:r>
            <a:r>
              <a:rPr lang="en-US" dirty="0">
                <a:solidFill>
                  <a:srgbClr val="FF0000"/>
                </a:solidFill>
              </a:rPr>
              <a:t>(MAX485_DE, LOW);</a:t>
            </a:r>
            <a:br>
              <a:rPr lang="en-US" dirty="0">
                <a:solidFill>
                  <a:srgbClr val="FF0000"/>
                </a:solidFill>
              </a:rPr>
            </a:br>
            <a:r>
              <a:rPr lang="en-US" dirty="0">
                <a:solidFill>
                  <a:srgbClr val="FF0000"/>
                </a:solidFill>
              </a:rPr>
              <a:t>  </a:t>
            </a:r>
            <a:r>
              <a:rPr lang="en-US" dirty="0" err="1">
                <a:solidFill>
                  <a:srgbClr val="FF0000"/>
                </a:solidFill>
              </a:rPr>
              <a:t>digitalWrite</a:t>
            </a:r>
            <a:r>
              <a:rPr lang="en-US" dirty="0">
                <a:solidFill>
                  <a:srgbClr val="FF0000"/>
                </a:solidFill>
              </a:rPr>
              <a:t>(MAX485_RE, LOW);</a:t>
            </a:r>
            <a:br>
              <a:rPr lang="en-US" dirty="0">
                <a:solidFill>
                  <a:srgbClr val="FF0000"/>
                </a:solidFill>
              </a:rPr>
            </a:br>
            <a:r>
              <a:rPr lang="en-US" dirty="0">
                <a:solidFill>
                  <a:srgbClr val="FF0000"/>
                </a:solidFill>
              </a:rPr>
              <a:t>  while(</a:t>
            </a:r>
            <a:r>
              <a:rPr lang="en-US" dirty="0" err="1">
                <a:solidFill>
                  <a:srgbClr val="FF0000"/>
                </a:solidFill>
              </a:rPr>
              <a:t>Serial.available</a:t>
            </a:r>
            <a:r>
              <a:rPr lang="en-US" dirty="0">
                <a:solidFill>
                  <a:srgbClr val="FF0000"/>
                </a:solidFill>
              </a:rPr>
              <a:t>()){</a:t>
            </a:r>
            <a:br>
              <a:rPr lang="en-US" dirty="0">
                <a:solidFill>
                  <a:srgbClr val="FF0000"/>
                </a:solidFill>
              </a:rPr>
            </a:br>
            <a:r>
              <a:rPr lang="en-US" dirty="0">
                <a:solidFill>
                  <a:srgbClr val="FF0000"/>
                </a:solidFill>
              </a:rPr>
              <a:t>    byte data = </a:t>
            </a:r>
            <a:r>
              <a:rPr lang="en-US" dirty="0" err="1">
                <a:solidFill>
                  <a:srgbClr val="FF0000"/>
                </a:solidFill>
              </a:rPr>
              <a:t>Serial.read</a:t>
            </a:r>
            <a:r>
              <a:rPr lang="en-US" dirty="0">
                <a:solidFill>
                  <a:srgbClr val="FF0000"/>
                </a:solidFill>
              </a:rPr>
              <a:t>();</a:t>
            </a:r>
            <a:br>
              <a:rPr lang="en-US" dirty="0">
                <a:solidFill>
                  <a:srgbClr val="FF0000"/>
                </a:solidFill>
              </a:rPr>
            </a:br>
            <a:r>
              <a:rPr lang="en-US" dirty="0">
                <a:solidFill>
                  <a:srgbClr val="FF0000"/>
                </a:solidFill>
              </a:rPr>
              <a:t>  }</a:t>
            </a:r>
            <a:br>
              <a:rPr lang="en-US" dirty="0">
                <a:solidFill>
                  <a:srgbClr val="FF0000"/>
                </a:solidFill>
              </a:rPr>
            </a:br>
            <a:r>
              <a:rPr lang="en-US" dirty="0">
                <a:solidFill>
                  <a:srgbClr val="FF0000"/>
                </a:solidFill>
              </a:rPr>
              <a:t>}</a:t>
            </a:r>
          </a:p>
          <a:p>
            <a:pPr>
              <a:lnSpc>
                <a:spcPct val="150000"/>
              </a:lnSpc>
            </a:pPr>
            <a:r>
              <a:rPr lang="en-US" dirty="0"/>
              <a:t>Trong </a:t>
            </a:r>
            <a:r>
              <a:rPr lang="en-US" dirty="0" err="1"/>
              <a:t>đó</a:t>
            </a:r>
            <a:r>
              <a:rPr lang="en-US" dirty="0"/>
              <a:t>:</a:t>
            </a:r>
          </a:p>
          <a:p>
            <a:pPr>
              <a:lnSpc>
                <a:spcPct val="150000"/>
              </a:lnSpc>
            </a:pPr>
            <a:r>
              <a:rPr lang="en-US" dirty="0"/>
              <a:t>01 → Slave ID    03 → Function Code (Read Holding Register)   0x6B → </a:t>
            </a:r>
            <a:r>
              <a:rPr lang="en-US" dirty="0" err="1"/>
              <a:t>địa</a:t>
            </a:r>
            <a:r>
              <a:rPr lang="en-US" dirty="0"/>
              <a:t> </a:t>
            </a:r>
            <a:r>
              <a:rPr lang="en-US" dirty="0" err="1"/>
              <a:t>chỉ</a:t>
            </a:r>
            <a:r>
              <a:rPr lang="en-US" dirty="0"/>
              <a:t> </a:t>
            </a:r>
            <a:r>
              <a:rPr lang="en-US" dirty="0" err="1"/>
              <a:t>thanh</a:t>
            </a:r>
            <a:r>
              <a:rPr lang="en-US" dirty="0"/>
              <a:t> </a:t>
            </a:r>
            <a:r>
              <a:rPr lang="en-US" dirty="0" err="1"/>
              <a:t>ghi</a:t>
            </a:r>
            <a:r>
              <a:rPr lang="en-US" dirty="0"/>
              <a:t>    0x02 → </a:t>
            </a:r>
            <a:r>
              <a:rPr lang="en-US" dirty="0" err="1"/>
              <a:t>số</a:t>
            </a:r>
            <a:r>
              <a:rPr lang="en-US" dirty="0"/>
              <a:t> </a:t>
            </a:r>
            <a:r>
              <a:rPr lang="en-US" dirty="0" err="1"/>
              <a:t>thanh</a:t>
            </a:r>
            <a:r>
              <a:rPr lang="en-US" dirty="0"/>
              <a:t> </a:t>
            </a:r>
            <a:r>
              <a:rPr lang="en-US" dirty="0" err="1"/>
              <a:t>ghi</a:t>
            </a:r>
            <a:r>
              <a:rPr lang="en-US" dirty="0"/>
              <a:t> </a:t>
            </a:r>
            <a:r>
              <a:rPr lang="en-US" dirty="0" err="1"/>
              <a:t>đọc</a:t>
            </a:r>
            <a:endParaRPr lang="en-US" dirty="0"/>
          </a:p>
          <a:p>
            <a:pPr>
              <a:lnSpc>
                <a:spcPct val="150000"/>
              </a:lnSpc>
            </a:pPr>
            <a:endParaRPr lang="vi-VN" dirty="0"/>
          </a:p>
        </p:txBody>
      </p:sp>
      <p:sp>
        <p:nvSpPr>
          <p:cNvPr id="3" name="Rectangle 1">
            <a:extLst>
              <a:ext uri="{FF2B5EF4-FFF2-40B4-BE49-F238E27FC236}">
                <a16:creationId xmlns:a16="http://schemas.microsoft.com/office/drawing/2014/main" id="{1E55F517-C1E4-65FF-2352-FAF9085B09A2}"/>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221602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B16B6C93-8763-60EC-0F19-81F0D3D5C40E}"/>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BEFD7BE2-D85B-8F0F-7234-B70A47309B63}"/>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282C165D-E103-BB16-9B53-91637018367E}"/>
              </a:ext>
            </a:extLst>
          </p:cNvPr>
          <p:cNvSpPr/>
          <p:nvPr/>
        </p:nvSpPr>
        <p:spPr>
          <a:xfrm>
            <a:off x="198946" y="696053"/>
            <a:ext cx="9392645" cy="646331"/>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Arduino </a:t>
            </a:r>
            <a:r>
              <a:rPr lang="en-US" b="1" dirty="0" err="1"/>
              <a:t>giao</a:t>
            </a:r>
            <a:r>
              <a:rPr lang="en-US" b="1" dirty="0"/>
              <a:t> </a:t>
            </a:r>
            <a:r>
              <a:rPr lang="en-US" b="1" dirty="0" err="1"/>
              <a:t>tiếp</a:t>
            </a:r>
            <a:r>
              <a:rPr lang="en-US" b="1" dirty="0"/>
              <a:t> </a:t>
            </a:r>
            <a:r>
              <a:rPr lang="vi-VN" b="1" dirty="0">
                <a:solidFill>
                  <a:schemeClr val="dk1"/>
                </a:solidFill>
              </a:rPr>
              <a:t>Modbus 485</a:t>
            </a:r>
            <a:endParaRPr lang="en-US" b="1" dirty="0"/>
          </a:p>
          <a:p>
            <a:pPr>
              <a:lnSpc>
                <a:spcPct val="150000"/>
              </a:lnSpc>
            </a:pPr>
            <a:endParaRPr lang="vi-VN" dirty="0"/>
          </a:p>
        </p:txBody>
      </p:sp>
      <p:sp>
        <p:nvSpPr>
          <p:cNvPr id="3" name="Rectangle 1">
            <a:extLst>
              <a:ext uri="{FF2B5EF4-FFF2-40B4-BE49-F238E27FC236}">
                <a16:creationId xmlns:a16="http://schemas.microsoft.com/office/drawing/2014/main" id="{A7045F58-D01A-8F7B-5AB3-ACE7AB17DAF2}"/>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42D4E84B-62BF-4D55-0987-ABC1BC587367}"/>
              </a:ext>
            </a:extLst>
          </p:cNvPr>
          <p:cNvPicPr>
            <a:picLocks noChangeAspect="1"/>
          </p:cNvPicPr>
          <p:nvPr/>
        </p:nvPicPr>
        <p:blipFill>
          <a:blip r:embed="rId3"/>
          <a:stretch>
            <a:fillRect/>
          </a:stretch>
        </p:blipFill>
        <p:spPr>
          <a:xfrm>
            <a:off x="1856901" y="1280828"/>
            <a:ext cx="5178211" cy="4803169"/>
          </a:xfrm>
          <a:prstGeom prst="rect">
            <a:avLst/>
          </a:prstGeom>
        </p:spPr>
      </p:pic>
    </p:spTree>
    <p:extLst>
      <p:ext uri="{BB962C8B-B14F-4D97-AF65-F5344CB8AC3E}">
        <p14:creationId xmlns:p14="http://schemas.microsoft.com/office/powerpoint/2010/main" val="2699162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93AEC372-14E1-E718-D33C-AB4DE8E3C7F0}"/>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E87D420C-2C3E-A1AD-D1C5-B74DB80F4C5F}"/>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rgbClr val="0C0C0C"/>
                </a:solidFill>
                <a:latin typeface="Arial"/>
                <a:ea typeface="Arial"/>
                <a:cs typeface="Arial"/>
                <a:sym typeface="Arial"/>
              </a:rPr>
              <a:t>3 </a:t>
            </a:r>
            <a:r>
              <a:rPr lang="vi-VN" sz="2400" b="1" dirty="0">
                <a:solidFill>
                  <a:schemeClr val="dk1"/>
                </a:solidFill>
              </a:rPr>
              <a:t>Cấu trúc dữ liệu trong giao tiếp Modbus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A18595BD-6372-CDAC-6E1F-B13FF17CD374}"/>
              </a:ext>
            </a:extLst>
          </p:cNvPr>
          <p:cNvSpPr/>
          <p:nvPr/>
        </p:nvSpPr>
        <p:spPr>
          <a:xfrm>
            <a:off x="198946" y="696053"/>
            <a:ext cx="9392645" cy="1292662"/>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Arduino </a:t>
            </a:r>
            <a:r>
              <a:rPr lang="en-US" b="1" dirty="0" err="1"/>
              <a:t>giao</a:t>
            </a:r>
            <a:r>
              <a:rPr lang="en-US" b="1" dirty="0"/>
              <a:t> </a:t>
            </a:r>
            <a:r>
              <a:rPr lang="en-US" b="1" dirty="0" err="1"/>
              <a:t>tiếp</a:t>
            </a:r>
            <a:r>
              <a:rPr lang="en-US" b="1" dirty="0"/>
              <a:t> </a:t>
            </a:r>
            <a:r>
              <a:rPr lang="vi-VN" b="1" dirty="0">
                <a:solidFill>
                  <a:schemeClr val="dk1"/>
                </a:solidFill>
              </a:rPr>
              <a:t>Modbus 485</a:t>
            </a:r>
            <a:endParaRPr lang="en-US" b="1" dirty="0">
              <a:solidFill>
                <a:schemeClr val="dk1"/>
              </a:solidFill>
            </a:endParaRPr>
          </a:p>
          <a:p>
            <a:pPr>
              <a:lnSpc>
                <a:spcPct val="150000"/>
              </a:lnSpc>
            </a:pPr>
            <a:r>
              <a:rPr lang="en-US" b="1" dirty="0">
                <a:hlinkClick r:id="rId3"/>
              </a:rPr>
              <a:t>https://www.tinkercad.com/things/jHI79RTFPob-fantabulous-wolt-kup/editel?returnTo=https%3A%2F%2Fwww.tinkercad.com%2Fdashboard</a:t>
            </a:r>
            <a:endParaRPr lang="en-US" b="1" dirty="0"/>
          </a:p>
          <a:p>
            <a:pPr>
              <a:lnSpc>
                <a:spcPct val="150000"/>
              </a:lnSpc>
            </a:pPr>
            <a:endParaRPr lang="vi-VN" dirty="0"/>
          </a:p>
        </p:txBody>
      </p:sp>
      <p:sp>
        <p:nvSpPr>
          <p:cNvPr id="3" name="Rectangle 1">
            <a:extLst>
              <a:ext uri="{FF2B5EF4-FFF2-40B4-BE49-F238E27FC236}">
                <a16:creationId xmlns:a16="http://schemas.microsoft.com/office/drawing/2014/main" id="{FA603958-4C84-5EFB-0224-D71AE37F866A}"/>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B200CD4B-DF9D-1DF3-E1B5-717EA4F84200}"/>
              </a:ext>
            </a:extLst>
          </p:cNvPr>
          <p:cNvPicPr>
            <a:picLocks noChangeAspect="1"/>
          </p:cNvPicPr>
          <p:nvPr/>
        </p:nvPicPr>
        <p:blipFill>
          <a:blip r:embed="rId4"/>
          <a:stretch>
            <a:fillRect/>
          </a:stretch>
        </p:blipFill>
        <p:spPr>
          <a:xfrm>
            <a:off x="903766" y="2646249"/>
            <a:ext cx="3490889" cy="3238055"/>
          </a:xfrm>
          <a:prstGeom prst="rect">
            <a:avLst/>
          </a:prstGeom>
        </p:spPr>
      </p:pic>
      <p:pic>
        <p:nvPicPr>
          <p:cNvPr id="5" name="Picture 4">
            <a:extLst>
              <a:ext uri="{FF2B5EF4-FFF2-40B4-BE49-F238E27FC236}">
                <a16:creationId xmlns:a16="http://schemas.microsoft.com/office/drawing/2014/main" id="{49F56580-87EF-1B98-3004-0B0730383E26}"/>
              </a:ext>
            </a:extLst>
          </p:cNvPr>
          <p:cNvPicPr>
            <a:picLocks noChangeAspect="1"/>
          </p:cNvPicPr>
          <p:nvPr/>
        </p:nvPicPr>
        <p:blipFill>
          <a:blip r:embed="rId5"/>
          <a:stretch>
            <a:fillRect/>
          </a:stretch>
        </p:blipFill>
        <p:spPr>
          <a:xfrm>
            <a:off x="5652010" y="2150773"/>
            <a:ext cx="3143446" cy="3908663"/>
          </a:xfrm>
          <a:prstGeom prst="rect">
            <a:avLst/>
          </a:prstGeom>
        </p:spPr>
      </p:pic>
    </p:spTree>
    <p:extLst>
      <p:ext uri="{BB962C8B-B14F-4D97-AF65-F5344CB8AC3E}">
        <p14:creationId xmlns:p14="http://schemas.microsoft.com/office/powerpoint/2010/main" val="23378476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54676FB6-7528-8E8C-F1BE-AE294FFD166D}"/>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766E98CB-FFDE-4E12-84E1-9AD3C25C09BB}"/>
              </a:ext>
            </a:extLst>
          </p:cNvPr>
          <p:cNvSpPr/>
          <p:nvPr/>
        </p:nvSpPr>
        <p:spPr>
          <a:xfrm>
            <a:off x="1000274" y="990736"/>
            <a:ext cx="8819923" cy="553998"/>
          </a:xfrm>
          <a:prstGeom prst="rect">
            <a:avLst/>
          </a:prstGeom>
          <a:noFill/>
          <a:ln>
            <a:noFill/>
          </a:ln>
        </p:spPr>
        <p:txBody>
          <a:bodyPr spcFirstLastPara="1" wrap="square" lIns="0" tIns="0" rIns="0" bIns="0" anchor="t" anchorCtr="0">
            <a:spAutoFit/>
          </a:bodyPr>
          <a:lstStyle/>
          <a:p>
            <a:pPr lvl="0"/>
            <a:r>
              <a:rPr lang="vi-VN" sz="3600" b="1" dirty="0">
                <a:solidFill>
                  <a:schemeClr val="dk1"/>
                </a:solidFill>
              </a:rPr>
              <a:t>Điều khiển thiết bị thông qua 485</a:t>
            </a:r>
          </a:p>
        </p:txBody>
      </p:sp>
      <p:sp>
        <p:nvSpPr>
          <p:cNvPr id="177" name="Google Shape;177;p4">
            <a:extLst>
              <a:ext uri="{FF2B5EF4-FFF2-40B4-BE49-F238E27FC236}">
                <a16:creationId xmlns:a16="http://schemas.microsoft.com/office/drawing/2014/main" id="{ACA80C10-43C3-008A-BFE5-632030F6D4F2}"/>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5. </a:t>
            </a:r>
            <a:endParaRPr sz="5400" b="1" dirty="0">
              <a:solidFill>
                <a:srgbClr val="7F7F7F"/>
              </a:solidFill>
              <a:latin typeface="Arial"/>
              <a:ea typeface="Arial"/>
              <a:cs typeface="Arial"/>
              <a:sym typeface="Arial"/>
            </a:endParaRPr>
          </a:p>
        </p:txBody>
      </p:sp>
    </p:spTree>
    <p:extLst>
      <p:ext uri="{BB962C8B-B14F-4D97-AF65-F5344CB8AC3E}">
        <p14:creationId xmlns:p14="http://schemas.microsoft.com/office/powerpoint/2010/main" val="19696592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EF62D3A5-D66D-C3BD-4174-47F9822585BA}"/>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EAEFCAED-EBCD-62B2-BB16-D0726442FE7A}"/>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chemeClr val="dk1"/>
                </a:solidFill>
              </a:rPr>
              <a:t>4 </a:t>
            </a:r>
            <a:r>
              <a:rPr lang="vi-VN" sz="2400" b="1" dirty="0">
                <a:solidFill>
                  <a:schemeClr val="dk1"/>
                </a:solidFill>
              </a:rPr>
              <a:t>Điều khiển thiết bị thông qua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D74D1FC4-7CE3-B74F-A332-4E9716413EDD}"/>
              </a:ext>
            </a:extLst>
          </p:cNvPr>
          <p:cNvSpPr/>
          <p:nvPr/>
        </p:nvSpPr>
        <p:spPr>
          <a:xfrm>
            <a:off x="198946" y="696053"/>
            <a:ext cx="9392645" cy="646331"/>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Arduino </a:t>
            </a:r>
            <a:r>
              <a:rPr lang="en-US" b="1" dirty="0" err="1"/>
              <a:t>giao</a:t>
            </a:r>
            <a:r>
              <a:rPr lang="en-US" b="1" dirty="0"/>
              <a:t> </a:t>
            </a:r>
            <a:r>
              <a:rPr lang="en-US" b="1" dirty="0" err="1"/>
              <a:t>tiếp</a:t>
            </a:r>
            <a:r>
              <a:rPr lang="en-US" b="1" dirty="0"/>
              <a:t> </a:t>
            </a:r>
            <a:r>
              <a:rPr lang="vi-VN" b="1" dirty="0">
                <a:solidFill>
                  <a:schemeClr val="dk1"/>
                </a:solidFill>
              </a:rPr>
              <a:t>Modbus 485</a:t>
            </a:r>
            <a:r>
              <a:rPr lang="en-US" b="1" dirty="0">
                <a:solidFill>
                  <a:schemeClr val="dk1"/>
                </a:solidFill>
              </a:rPr>
              <a:t> </a:t>
            </a:r>
            <a:r>
              <a:rPr lang="en-US" b="1" dirty="0" err="1">
                <a:solidFill>
                  <a:schemeClr val="dk1"/>
                </a:solidFill>
              </a:rPr>
              <a:t>điều</a:t>
            </a:r>
            <a:r>
              <a:rPr lang="en-US" b="1" dirty="0">
                <a:solidFill>
                  <a:schemeClr val="dk1"/>
                </a:solidFill>
              </a:rPr>
              <a:t> </a:t>
            </a:r>
            <a:r>
              <a:rPr lang="en-US" b="1" dirty="0" err="1">
                <a:solidFill>
                  <a:schemeClr val="dk1"/>
                </a:solidFill>
              </a:rPr>
              <a:t>khiển</a:t>
            </a:r>
            <a:r>
              <a:rPr lang="en-US" b="1" dirty="0">
                <a:solidFill>
                  <a:schemeClr val="dk1"/>
                </a:solidFill>
              </a:rPr>
              <a:t> led ở slave</a:t>
            </a:r>
            <a:endParaRPr lang="en-US" b="1" dirty="0"/>
          </a:p>
          <a:p>
            <a:pPr>
              <a:lnSpc>
                <a:spcPct val="150000"/>
              </a:lnSpc>
            </a:pPr>
            <a:endParaRPr lang="vi-VN" dirty="0"/>
          </a:p>
        </p:txBody>
      </p:sp>
      <p:sp>
        <p:nvSpPr>
          <p:cNvPr id="3" name="Rectangle 1">
            <a:extLst>
              <a:ext uri="{FF2B5EF4-FFF2-40B4-BE49-F238E27FC236}">
                <a16:creationId xmlns:a16="http://schemas.microsoft.com/office/drawing/2014/main" id="{2F55275B-2EB6-EE60-0F76-1EB9E46FB4BB}"/>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E14BBC17-F1D4-0658-F3BD-B2C0D0455AC5}"/>
              </a:ext>
            </a:extLst>
          </p:cNvPr>
          <p:cNvPicPr>
            <a:picLocks noChangeAspect="1"/>
          </p:cNvPicPr>
          <p:nvPr/>
        </p:nvPicPr>
        <p:blipFill>
          <a:blip r:embed="rId3"/>
          <a:stretch>
            <a:fillRect/>
          </a:stretch>
        </p:blipFill>
        <p:spPr>
          <a:xfrm>
            <a:off x="2352780" y="1213103"/>
            <a:ext cx="4468099" cy="4948844"/>
          </a:xfrm>
          <a:prstGeom prst="rect">
            <a:avLst/>
          </a:prstGeom>
        </p:spPr>
      </p:pic>
    </p:spTree>
    <p:extLst>
      <p:ext uri="{BB962C8B-B14F-4D97-AF65-F5344CB8AC3E}">
        <p14:creationId xmlns:p14="http://schemas.microsoft.com/office/powerpoint/2010/main" val="15650152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0EC74BA9-28E6-FBA8-EE7E-5E8F86CDDCCD}"/>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ED8F2770-3670-9106-1B43-DBB73D3CAC28}"/>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chemeClr val="dk1"/>
                </a:solidFill>
              </a:rPr>
              <a:t>4 </a:t>
            </a:r>
            <a:r>
              <a:rPr lang="vi-VN" sz="2400" b="1" dirty="0">
                <a:solidFill>
                  <a:schemeClr val="dk1"/>
                </a:solidFill>
              </a:rPr>
              <a:t>Điều khiển thiết bị thông qua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06746A96-75AE-1A95-BA07-BE4BC11F4B28}"/>
              </a:ext>
            </a:extLst>
          </p:cNvPr>
          <p:cNvSpPr/>
          <p:nvPr/>
        </p:nvSpPr>
        <p:spPr>
          <a:xfrm>
            <a:off x="198946" y="696053"/>
            <a:ext cx="9392645" cy="646331"/>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Arduino </a:t>
            </a:r>
            <a:r>
              <a:rPr lang="en-US" b="1" dirty="0" err="1"/>
              <a:t>giao</a:t>
            </a:r>
            <a:r>
              <a:rPr lang="en-US" b="1" dirty="0"/>
              <a:t> </a:t>
            </a:r>
            <a:r>
              <a:rPr lang="en-US" b="1" dirty="0" err="1"/>
              <a:t>tiếp</a:t>
            </a:r>
            <a:r>
              <a:rPr lang="en-US" b="1" dirty="0"/>
              <a:t> </a:t>
            </a:r>
            <a:r>
              <a:rPr lang="vi-VN" b="1" dirty="0">
                <a:solidFill>
                  <a:schemeClr val="dk1"/>
                </a:solidFill>
              </a:rPr>
              <a:t>Modbus 485</a:t>
            </a:r>
            <a:r>
              <a:rPr lang="en-US" b="1" dirty="0">
                <a:solidFill>
                  <a:schemeClr val="dk1"/>
                </a:solidFill>
              </a:rPr>
              <a:t> </a:t>
            </a:r>
            <a:r>
              <a:rPr lang="en-US" b="1" dirty="0" err="1">
                <a:solidFill>
                  <a:schemeClr val="dk1"/>
                </a:solidFill>
              </a:rPr>
              <a:t>điều</a:t>
            </a:r>
            <a:r>
              <a:rPr lang="en-US" b="1" dirty="0">
                <a:solidFill>
                  <a:schemeClr val="dk1"/>
                </a:solidFill>
              </a:rPr>
              <a:t> </a:t>
            </a:r>
            <a:r>
              <a:rPr lang="en-US" b="1" dirty="0" err="1">
                <a:solidFill>
                  <a:schemeClr val="dk1"/>
                </a:solidFill>
              </a:rPr>
              <a:t>khiển</a:t>
            </a:r>
            <a:r>
              <a:rPr lang="en-US" b="1" dirty="0">
                <a:solidFill>
                  <a:schemeClr val="dk1"/>
                </a:solidFill>
              </a:rPr>
              <a:t> led ở slave</a:t>
            </a:r>
            <a:endParaRPr lang="en-US" b="1" dirty="0"/>
          </a:p>
          <a:p>
            <a:pPr>
              <a:lnSpc>
                <a:spcPct val="150000"/>
              </a:lnSpc>
            </a:pPr>
            <a:endParaRPr lang="vi-VN" dirty="0"/>
          </a:p>
        </p:txBody>
      </p:sp>
      <p:sp>
        <p:nvSpPr>
          <p:cNvPr id="3" name="Rectangle 1">
            <a:extLst>
              <a:ext uri="{FF2B5EF4-FFF2-40B4-BE49-F238E27FC236}">
                <a16:creationId xmlns:a16="http://schemas.microsoft.com/office/drawing/2014/main" id="{82C6EE36-212D-6EA8-C8E6-5256945972A6}"/>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66A457D7-B97F-8335-D80A-C0A2D4A85F81}"/>
              </a:ext>
            </a:extLst>
          </p:cNvPr>
          <p:cNvPicPr>
            <a:picLocks noChangeAspect="1"/>
          </p:cNvPicPr>
          <p:nvPr/>
        </p:nvPicPr>
        <p:blipFill>
          <a:blip r:embed="rId3"/>
          <a:stretch>
            <a:fillRect/>
          </a:stretch>
        </p:blipFill>
        <p:spPr>
          <a:xfrm>
            <a:off x="2352780" y="1213103"/>
            <a:ext cx="4468099" cy="4948844"/>
          </a:xfrm>
          <a:prstGeom prst="rect">
            <a:avLst/>
          </a:prstGeom>
        </p:spPr>
      </p:pic>
    </p:spTree>
    <p:extLst>
      <p:ext uri="{BB962C8B-B14F-4D97-AF65-F5344CB8AC3E}">
        <p14:creationId xmlns:p14="http://schemas.microsoft.com/office/powerpoint/2010/main" val="21125020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5482DE20-C398-0436-90E6-D1A5D2D1A1D3}"/>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8E6554AA-CD3F-93F7-9E41-5E53B95FCF1B}"/>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chemeClr val="dk1"/>
                </a:solidFill>
              </a:rPr>
              <a:t>4 </a:t>
            </a:r>
            <a:r>
              <a:rPr lang="vi-VN" sz="2400" b="1" dirty="0">
                <a:solidFill>
                  <a:schemeClr val="dk1"/>
                </a:solidFill>
              </a:rPr>
              <a:t>Điều khiển thiết bị thông qua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9DCFE1D1-3FA0-9A16-ACC7-C46AE17A869F}"/>
              </a:ext>
            </a:extLst>
          </p:cNvPr>
          <p:cNvSpPr/>
          <p:nvPr/>
        </p:nvSpPr>
        <p:spPr>
          <a:xfrm>
            <a:off x="198946" y="696053"/>
            <a:ext cx="9392645" cy="646331"/>
          </a:xfrm>
          <a:prstGeom prst="rect">
            <a:avLst/>
          </a:prstGeom>
          <a:noFill/>
          <a:ln>
            <a:noFill/>
          </a:ln>
        </p:spPr>
        <p:txBody>
          <a:bodyPr spcFirstLastPara="1" wrap="square" lIns="0" tIns="0" rIns="0" bIns="0" anchor="t" anchorCtr="0">
            <a:spAutoFit/>
          </a:bodyPr>
          <a:lstStyle/>
          <a:p>
            <a:pPr>
              <a:lnSpc>
                <a:spcPct val="150000"/>
              </a:lnSpc>
            </a:pPr>
            <a:r>
              <a:rPr lang="en-US" b="1" dirty="0" err="1"/>
              <a:t>Bài</a:t>
            </a:r>
            <a:r>
              <a:rPr lang="en-US" b="1" dirty="0"/>
              <a:t> </a:t>
            </a:r>
            <a:r>
              <a:rPr lang="en-US" b="1" dirty="0" err="1"/>
              <a:t>tập</a:t>
            </a:r>
            <a:r>
              <a:rPr lang="en-US" b="1" dirty="0"/>
              <a:t>: </a:t>
            </a:r>
            <a:r>
              <a:rPr lang="en-US" b="1" dirty="0" err="1"/>
              <a:t>điều</a:t>
            </a:r>
            <a:r>
              <a:rPr lang="en-US" b="1" dirty="0"/>
              <a:t> </a:t>
            </a:r>
            <a:r>
              <a:rPr lang="en-US" b="1" dirty="0" err="1"/>
              <a:t>khiển</a:t>
            </a:r>
            <a:r>
              <a:rPr lang="en-US" b="1" dirty="0"/>
              <a:t> </a:t>
            </a:r>
            <a:r>
              <a:rPr lang="en-US" b="1" dirty="0" err="1"/>
              <a:t>đèn</a:t>
            </a:r>
            <a:r>
              <a:rPr lang="en-US" b="1" dirty="0"/>
              <a:t> ở 2 slave</a:t>
            </a:r>
          </a:p>
          <a:p>
            <a:pPr>
              <a:lnSpc>
                <a:spcPct val="150000"/>
              </a:lnSpc>
            </a:pPr>
            <a:endParaRPr lang="vi-VN" dirty="0"/>
          </a:p>
        </p:txBody>
      </p:sp>
      <p:sp>
        <p:nvSpPr>
          <p:cNvPr id="3" name="Rectangle 1">
            <a:extLst>
              <a:ext uri="{FF2B5EF4-FFF2-40B4-BE49-F238E27FC236}">
                <a16:creationId xmlns:a16="http://schemas.microsoft.com/office/drawing/2014/main" id="{DC95D8DF-01F0-E545-67C2-D223DB5C510B}"/>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59934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D5CEBB3A-AB43-DACF-611F-06F074620362}"/>
            </a:ext>
          </a:extLst>
        </p:cNvPr>
        <p:cNvGrpSpPr/>
        <p:nvPr/>
      </p:nvGrpSpPr>
      <p:grpSpPr>
        <a:xfrm>
          <a:off x="0" y="0"/>
          <a:ext cx="0" cy="0"/>
          <a:chOff x="0" y="0"/>
          <a:chExt cx="0" cy="0"/>
        </a:xfrm>
      </p:grpSpPr>
      <p:sp>
        <p:nvSpPr>
          <p:cNvPr id="176" name="Google Shape;176;p4">
            <a:extLst>
              <a:ext uri="{FF2B5EF4-FFF2-40B4-BE49-F238E27FC236}">
                <a16:creationId xmlns:a16="http://schemas.microsoft.com/office/drawing/2014/main" id="{2797C93C-8FF4-0F7B-FFBC-41168D44CA43}"/>
              </a:ext>
            </a:extLst>
          </p:cNvPr>
          <p:cNvSpPr/>
          <p:nvPr/>
        </p:nvSpPr>
        <p:spPr>
          <a:xfrm>
            <a:off x="1000274" y="990736"/>
            <a:ext cx="8819923" cy="1107996"/>
          </a:xfrm>
          <a:prstGeom prst="rect">
            <a:avLst/>
          </a:prstGeom>
          <a:noFill/>
          <a:ln>
            <a:noFill/>
          </a:ln>
        </p:spPr>
        <p:txBody>
          <a:bodyPr spcFirstLastPara="1" wrap="square" lIns="0" tIns="0" rIns="0" bIns="0" anchor="t" anchorCtr="0">
            <a:spAutoFit/>
          </a:bodyPr>
          <a:lstStyle/>
          <a:p>
            <a:pPr lvl="0"/>
            <a:r>
              <a:rPr lang="vi-VN" sz="3600" b="1" dirty="0">
                <a:solidFill>
                  <a:schemeClr val="dk1"/>
                </a:solidFill>
              </a:rPr>
              <a:t>Nhận thông tin cảm biến thông qua giao tiếp 485</a:t>
            </a:r>
          </a:p>
        </p:txBody>
      </p:sp>
      <p:sp>
        <p:nvSpPr>
          <p:cNvPr id="177" name="Google Shape;177;p4">
            <a:extLst>
              <a:ext uri="{FF2B5EF4-FFF2-40B4-BE49-F238E27FC236}">
                <a16:creationId xmlns:a16="http://schemas.microsoft.com/office/drawing/2014/main" id="{248AC961-4A2C-4145-0E4C-E9C0325B1BF8}"/>
              </a:ext>
            </a:extLst>
          </p:cNvPr>
          <p:cNvSpPr/>
          <p:nvPr/>
        </p:nvSpPr>
        <p:spPr>
          <a:xfrm>
            <a:off x="918081" y="682959"/>
            <a:ext cx="5479711" cy="307777"/>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000" b="1" dirty="0">
                <a:solidFill>
                  <a:srgbClr val="7F7F7F"/>
                </a:solidFill>
                <a:latin typeface="Arial"/>
                <a:ea typeface="Arial"/>
                <a:cs typeface="Arial"/>
                <a:sym typeface="Arial"/>
              </a:rPr>
              <a:t>6. </a:t>
            </a:r>
            <a:endParaRPr sz="5400" b="1" dirty="0">
              <a:solidFill>
                <a:srgbClr val="7F7F7F"/>
              </a:solidFill>
              <a:latin typeface="Arial"/>
              <a:ea typeface="Arial"/>
              <a:cs typeface="Arial"/>
              <a:sym typeface="Arial"/>
            </a:endParaRPr>
          </a:p>
        </p:txBody>
      </p:sp>
    </p:spTree>
    <p:extLst>
      <p:ext uri="{BB962C8B-B14F-4D97-AF65-F5344CB8AC3E}">
        <p14:creationId xmlns:p14="http://schemas.microsoft.com/office/powerpoint/2010/main" val="190889337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DD315539-F77F-D4F8-AA55-BA058B85A34E}"/>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DD1FBDD4-1EA5-95E0-6432-529F6CE0E7F4}"/>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chemeClr val="dk1"/>
                </a:solidFill>
              </a:rPr>
              <a:t>4 </a:t>
            </a:r>
            <a:r>
              <a:rPr lang="en-US" sz="2400" b="1" dirty="0" err="1">
                <a:solidFill>
                  <a:schemeClr val="dk1"/>
                </a:solidFill>
              </a:rPr>
              <a:t>Nhận</a:t>
            </a:r>
            <a:r>
              <a:rPr lang="en-US" sz="2400" b="1" dirty="0">
                <a:solidFill>
                  <a:schemeClr val="dk1"/>
                </a:solidFill>
              </a:rPr>
              <a:t> </a:t>
            </a:r>
            <a:r>
              <a:rPr lang="en-US" sz="2400" b="1" dirty="0" err="1">
                <a:solidFill>
                  <a:schemeClr val="dk1"/>
                </a:solidFill>
              </a:rPr>
              <a:t>giá</a:t>
            </a:r>
            <a:r>
              <a:rPr lang="en-US" sz="2400" b="1" dirty="0">
                <a:solidFill>
                  <a:schemeClr val="dk1"/>
                </a:solidFill>
              </a:rPr>
              <a:t> </a:t>
            </a:r>
            <a:r>
              <a:rPr lang="en-US" sz="2400" b="1" dirty="0" err="1">
                <a:solidFill>
                  <a:schemeClr val="dk1"/>
                </a:solidFill>
              </a:rPr>
              <a:t>trị</a:t>
            </a:r>
            <a:r>
              <a:rPr lang="en-US" sz="2400" b="1" dirty="0">
                <a:solidFill>
                  <a:schemeClr val="dk1"/>
                </a:solidFill>
              </a:rPr>
              <a:t> </a:t>
            </a:r>
            <a:r>
              <a:rPr lang="en-US" sz="2400" b="1" dirty="0" err="1">
                <a:solidFill>
                  <a:schemeClr val="dk1"/>
                </a:solidFill>
              </a:rPr>
              <a:t>cảm</a:t>
            </a:r>
            <a:r>
              <a:rPr lang="en-US" sz="2400" b="1" dirty="0">
                <a:solidFill>
                  <a:schemeClr val="dk1"/>
                </a:solidFill>
              </a:rPr>
              <a:t> </a:t>
            </a:r>
            <a:r>
              <a:rPr lang="en-US" sz="2400" b="1" dirty="0" err="1">
                <a:solidFill>
                  <a:schemeClr val="dk1"/>
                </a:solidFill>
              </a:rPr>
              <a:t>biến</a:t>
            </a:r>
            <a:r>
              <a:rPr lang="en-US" sz="2400" b="1" dirty="0">
                <a:solidFill>
                  <a:schemeClr val="dk1"/>
                </a:solidFill>
              </a:rPr>
              <a:t> </a:t>
            </a:r>
            <a:r>
              <a:rPr lang="en-US" sz="2400" b="1" dirty="0" err="1">
                <a:solidFill>
                  <a:schemeClr val="dk1"/>
                </a:solidFill>
              </a:rPr>
              <a:t>từ</a:t>
            </a:r>
            <a:r>
              <a:rPr lang="en-US" sz="2400" b="1" dirty="0">
                <a:solidFill>
                  <a:schemeClr val="dk1"/>
                </a:solidFill>
              </a:rPr>
              <a:t> </a:t>
            </a:r>
            <a:r>
              <a:rPr lang="vi-VN" sz="2400" b="1" dirty="0">
                <a:solidFill>
                  <a:schemeClr val="dk1"/>
                </a:solidFill>
              </a:rPr>
              <a:t>thiết bị thông qua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2A64E7DD-2976-A585-5DDA-6E6A0F329438}"/>
              </a:ext>
            </a:extLst>
          </p:cNvPr>
          <p:cNvSpPr/>
          <p:nvPr/>
        </p:nvSpPr>
        <p:spPr>
          <a:xfrm>
            <a:off x="198946" y="696053"/>
            <a:ext cx="9392645" cy="646331"/>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Arduino </a:t>
            </a:r>
            <a:r>
              <a:rPr lang="en-US" b="1" dirty="0" err="1"/>
              <a:t>giao</a:t>
            </a:r>
            <a:r>
              <a:rPr lang="en-US" b="1" dirty="0"/>
              <a:t> </a:t>
            </a:r>
            <a:r>
              <a:rPr lang="en-US" b="1" dirty="0" err="1"/>
              <a:t>tiếp</a:t>
            </a:r>
            <a:r>
              <a:rPr lang="en-US" b="1" dirty="0"/>
              <a:t> </a:t>
            </a:r>
            <a:r>
              <a:rPr lang="vi-VN" b="1" dirty="0">
                <a:solidFill>
                  <a:schemeClr val="dk1"/>
                </a:solidFill>
              </a:rPr>
              <a:t>Modbus 485</a:t>
            </a:r>
            <a:r>
              <a:rPr lang="en-US" b="1" dirty="0">
                <a:solidFill>
                  <a:schemeClr val="dk1"/>
                </a:solidFill>
              </a:rPr>
              <a:t> </a:t>
            </a:r>
            <a:r>
              <a:rPr lang="en-US" b="1" dirty="0" err="1">
                <a:solidFill>
                  <a:schemeClr val="dk1"/>
                </a:solidFill>
              </a:rPr>
              <a:t>đọc</a:t>
            </a:r>
            <a:r>
              <a:rPr lang="en-US" b="1" dirty="0">
                <a:solidFill>
                  <a:schemeClr val="dk1"/>
                </a:solidFill>
              </a:rPr>
              <a:t> </a:t>
            </a:r>
            <a:r>
              <a:rPr lang="en-US" b="1" dirty="0" err="1">
                <a:solidFill>
                  <a:schemeClr val="dk1"/>
                </a:solidFill>
              </a:rPr>
              <a:t>giá</a:t>
            </a:r>
            <a:r>
              <a:rPr lang="en-US" b="1" dirty="0">
                <a:solidFill>
                  <a:schemeClr val="dk1"/>
                </a:solidFill>
              </a:rPr>
              <a:t> </a:t>
            </a:r>
            <a:r>
              <a:rPr lang="en-US" b="1" dirty="0" err="1">
                <a:solidFill>
                  <a:schemeClr val="dk1"/>
                </a:solidFill>
              </a:rPr>
              <a:t>trị</a:t>
            </a:r>
            <a:r>
              <a:rPr lang="en-US" b="1" dirty="0">
                <a:solidFill>
                  <a:schemeClr val="dk1"/>
                </a:solidFill>
              </a:rPr>
              <a:t>  </a:t>
            </a:r>
            <a:r>
              <a:rPr lang="en-US" b="1" dirty="0" err="1">
                <a:solidFill>
                  <a:schemeClr val="dk1"/>
                </a:solidFill>
              </a:rPr>
              <a:t>điện</a:t>
            </a:r>
            <a:r>
              <a:rPr lang="en-US" b="1" dirty="0">
                <a:solidFill>
                  <a:schemeClr val="dk1"/>
                </a:solidFill>
              </a:rPr>
              <a:t> </a:t>
            </a:r>
            <a:r>
              <a:rPr lang="en-US" b="1" dirty="0" err="1">
                <a:solidFill>
                  <a:schemeClr val="dk1"/>
                </a:solidFill>
              </a:rPr>
              <a:t>áp</a:t>
            </a:r>
            <a:r>
              <a:rPr lang="en-US" b="1" dirty="0">
                <a:solidFill>
                  <a:schemeClr val="dk1"/>
                </a:solidFill>
              </a:rPr>
              <a:t> </a:t>
            </a:r>
            <a:r>
              <a:rPr lang="en-US" b="1" dirty="0" err="1">
                <a:solidFill>
                  <a:schemeClr val="dk1"/>
                </a:solidFill>
              </a:rPr>
              <a:t>trên</a:t>
            </a:r>
            <a:r>
              <a:rPr lang="en-US" b="1" dirty="0">
                <a:solidFill>
                  <a:schemeClr val="dk1"/>
                </a:solidFill>
              </a:rPr>
              <a:t> </a:t>
            </a:r>
            <a:r>
              <a:rPr lang="en-US" b="1" dirty="0" err="1">
                <a:solidFill>
                  <a:schemeClr val="dk1"/>
                </a:solidFill>
              </a:rPr>
              <a:t>biến</a:t>
            </a:r>
            <a:r>
              <a:rPr lang="en-US" b="1" dirty="0">
                <a:solidFill>
                  <a:schemeClr val="dk1"/>
                </a:solidFill>
              </a:rPr>
              <a:t> </a:t>
            </a:r>
            <a:r>
              <a:rPr lang="en-US" b="1" dirty="0" err="1">
                <a:solidFill>
                  <a:schemeClr val="dk1"/>
                </a:solidFill>
              </a:rPr>
              <a:t>trở</a:t>
            </a:r>
            <a:endParaRPr lang="en-US" b="1" dirty="0"/>
          </a:p>
          <a:p>
            <a:pPr>
              <a:lnSpc>
                <a:spcPct val="150000"/>
              </a:lnSpc>
            </a:pPr>
            <a:endParaRPr lang="vi-VN" dirty="0"/>
          </a:p>
        </p:txBody>
      </p:sp>
      <p:sp>
        <p:nvSpPr>
          <p:cNvPr id="3" name="Rectangle 1">
            <a:extLst>
              <a:ext uri="{FF2B5EF4-FFF2-40B4-BE49-F238E27FC236}">
                <a16:creationId xmlns:a16="http://schemas.microsoft.com/office/drawing/2014/main" id="{6BF99F26-B67B-9092-C6E1-21B141B3973D}"/>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63911FBE-ED43-167E-FFF6-9D32A70486E7}"/>
              </a:ext>
            </a:extLst>
          </p:cNvPr>
          <p:cNvPicPr>
            <a:picLocks noChangeAspect="1"/>
          </p:cNvPicPr>
          <p:nvPr/>
        </p:nvPicPr>
        <p:blipFill>
          <a:blip r:embed="rId3"/>
          <a:stretch>
            <a:fillRect/>
          </a:stretch>
        </p:blipFill>
        <p:spPr>
          <a:xfrm>
            <a:off x="2930769" y="1266911"/>
            <a:ext cx="4359131" cy="4895036"/>
          </a:xfrm>
          <a:prstGeom prst="rect">
            <a:avLst/>
          </a:prstGeom>
        </p:spPr>
      </p:pic>
    </p:spTree>
    <p:extLst>
      <p:ext uri="{BB962C8B-B14F-4D97-AF65-F5344CB8AC3E}">
        <p14:creationId xmlns:p14="http://schemas.microsoft.com/office/powerpoint/2010/main" val="22253493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83">
          <a:extLst>
            <a:ext uri="{FF2B5EF4-FFF2-40B4-BE49-F238E27FC236}">
              <a16:creationId xmlns:a16="http://schemas.microsoft.com/office/drawing/2014/main" id="{87C0856C-87B2-43D1-9B6D-566738E57DA1}"/>
            </a:ext>
          </a:extLst>
        </p:cNvPr>
        <p:cNvGrpSpPr/>
        <p:nvPr/>
      </p:nvGrpSpPr>
      <p:grpSpPr>
        <a:xfrm>
          <a:off x="0" y="0"/>
          <a:ext cx="0" cy="0"/>
          <a:chOff x="0" y="0"/>
          <a:chExt cx="0" cy="0"/>
        </a:xfrm>
      </p:grpSpPr>
      <p:sp>
        <p:nvSpPr>
          <p:cNvPr id="184" name="Google Shape;184;p5">
            <a:extLst>
              <a:ext uri="{FF2B5EF4-FFF2-40B4-BE49-F238E27FC236}">
                <a16:creationId xmlns:a16="http://schemas.microsoft.com/office/drawing/2014/main" id="{4A7115B5-AF7B-27D0-2E04-A085B25A8544}"/>
              </a:ext>
            </a:extLst>
          </p:cNvPr>
          <p:cNvSpPr/>
          <p:nvPr/>
        </p:nvSpPr>
        <p:spPr>
          <a:xfrm>
            <a:off x="162321" y="244943"/>
            <a:ext cx="9004986" cy="584775"/>
          </a:xfrm>
          <a:prstGeom prst="rect">
            <a:avLst/>
          </a:prstGeom>
          <a:noFill/>
          <a:ln>
            <a:noFill/>
          </a:ln>
        </p:spPr>
        <p:txBody>
          <a:bodyPr spcFirstLastPara="1" wrap="square" lIns="0" tIns="0" rIns="0" bIns="0" anchor="t" anchorCtr="0">
            <a:spAutoFit/>
          </a:bodyPr>
          <a:lstStyle/>
          <a:p>
            <a:pPr lvl="0"/>
            <a:r>
              <a:rPr lang="en-US" sz="2400" b="1" dirty="0">
                <a:solidFill>
                  <a:schemeClr val="dk1"/>
                </a:solidFill>
              </a:rPr>
              <a:t>4 </a:t>
            </a:r>
            <a:r>
              <a:rPr lang="en-US" sz="2400" b="1" dirty="0" err="1">
                <a:solidFill>
                  <a:schemeClr val="dk1"/>
                </a:solidFill>
              </a:rPr>
              <a:t>Nhận</a:t>
            </a:r>
            <a:r>
              <a:rPr lang="en-US" sz="2400" b="1" dirty="0">
                <a:solidFill>
                  <a:schemeClr val="dk1"/>
                </a:solidFill>
              </a:rPr>
              <a:t> </a:t>
            </a:r>
            <a:r>
              <a:rPr lang="en-US" sz="2400" b="1" dirty="0" err="1">
                <a:solidFill>
                  <a:schemeClr val="dk1"/>
                </a:solidFill>
              </a:rPr>
              <a:t>giá</a:t>
            </a:r>
            <a:r>
              <a:rPr lang="en-US" sz="2400" b="1" dirty="0">
                <a:solidFill>
                  <a:schemeClr val="dk1"/>
                </a:solidFill>
              </a:rPr>
              <a:t> </a:t>
            </a:r>
            <a:r>
              <a:rPr lang="en-US" sz="2400" b="1" dirty="0" err="1">
                <a:solidFill>
                  <a:schemeClr val="dk1"/>
                </a:solidFill>
              </a:rPr>
              <a:t>trị</a:t>
            </a:r>
            <a:r>
              <a:rPr lang="en-US" sz="2400" b="1" dirty="0">
                <a:solidFill>
                  <a:schemeClr val="dk1"/>
                </a:solidFill>
              </a:rPr>
              <a:t> </a:t>
            </a:r>
            <a:r>
              <a:rPr lang="en-US" sz="2400" b="1" dirty="0" err="1">
                <a:solidFill>
                  <a:schemeClr val="dk1"/>
                </a:solidFill>
              </a:rPr>
              <a:t>cảm</a:t>
            </a:r>
            <a:r>
              <a:rPr lang="en-US" sz="2400" b="1" dirty="0">
                <a:solidFill>
                  <a:schemeClr val="dk1"/>
                </a:solidFill>
              </a:rPr>
              <a:t> </a:t>
            </a:r>
            <a:r>
              <a:rPr lang="en-US" sz="2400" b="1" dirty="0" err="1">
                <a:solidFill>
                  <a:schemeClr val="dk1"/>
                </a:solidFill>
              </a:rPr>
              <a:t>biến</a:t>
            </a:r>
            <a:r>
              <a:rPr lang="en-US" sz="2400" b="1" dirty="0">
                <a:solidFill>
                  <a:schemeClr val="dk1"/>
                </a:solidFill>
              </a:rPr>
              <a:t> </a:t>
            </a:r>
            <a:r>
              <a:rPr lang="en-US" sz="2400" b="1" dirty="0" err="1">
                <a:solidFill>
                  <a:schemeClr val="dk1"/>
                </a:solidFill>
              </a:rPr>
              <a:t>từ</a:t>
            </a:r>
            <a:r>
              <a:rPr lang="en-US" sz="2400" b="1" dirty="0">
                <a:solidFill>
                  <a:schemeClr val="dk1"/>
                </a:solidFill>
              </a:rPr>
              <a:t> </a:t>
            </a:r>
            <a:r>
              <a:rPr lang="vi-VN" sz="2400" b="1" dirty="0">
                <a:solidFill>
                  <a:schemeClr val="dk1"/>
                </a:solidFill>
              </a:rPr>
              <a:t>thiết bị thông qua 485</a:t>
            </a:r>
          </a:p>
          <a:p>
            <a:pPr marL="0" marR="0" lvl="0" indent="0" algn="l" rtl="0">
              <a:spcBef>
                <a:spcPts val="0"/>
              </a:spcBef>
              <a:spcAft>
                <a:spcPts val="0"/>
              </a:spcAft>
              <a:buNone/>
            </a:pPr>
            <a:endParaRPr dirty="0"/>
          </a:p>
        </p:txBody>
      </p:sp>
      <p:sp>
        <p:nvSpPr>
          <p:cNvPr id="195" name="Google Shape;195;p5">
            <a:extLst>
              <a:ext uri="{FF2B5EF4-FFF2-40B4-BE49-F238E27FC236}">
                <a16:creationId xmlns:a16="http://schemas.microsoft.com/office/drawing/2014/main" id="{F8789DD5-42EF-3925-064E-48F7D8FF88AE}"/>
              </a:ext>
            </a:extLst>
          </p:cNvPr>
          <p:cNvSpPr/>
          <p:nvPr/>
        </p:nvSpPr>
        <p:spPr>
          <a:xfrm>
            <a:off x="198946" y="696053"/>
            <a:ext cx="9392645" cy="646331"/>
          </a:xfrm>
          <a:prstGeom prst="rect">
            <a:avLst/>
          </a:prstGeom>
          <a:noFill/>
          <a:ln>
            <a:noFill/>
          </a:ln>
        </p:spPr>
        <p:txBody>
          <a:bodyPr spcFirstLastPara="1" wrap="square" lIns="0" tIns="0" rIns="0" bIns="0" anchor="t" anchorCtr="0">
            <a:spAutoFit/>
          </a:bodyPr>
          <a:lstStyle/>
          <a:p>
            <a:pPr>
              <a:lnSpc>
                <a:spcPct val="150000"/>
              </a:lnSpc>
            </a:pPr>
            <a:r>
              <a:rPr lang="en-US" b="1" dirty="0" err="1"/>
              <a:t>Ví</a:t>
            </a:r>
            <a:r>
              <a:rPr lang="en-US" b="1" dirty="0"/>
              <a:t> </a:t>
            </a:r>
            <a:r>
              <a:rPr lang="en-US" b="1" dirty="0" err="1"/>
              <a:t>dụ</a:t>
            </a:r>
            <a:r>
              <a:rPr lang="en-US" b="1" dirty="0"/>
              <a:t> Arduino </a:t>
            </a:r>
            <a:r>
              <a:rPr lang="en-US" b="1" dirty="0" err="1"/>
              <a:t>giao</a:t>
            </a:r>
            <a:r>
              <a:rPr lang="en-US" b="1" dirty="0"/>
              <a:t> </a:t>
            </a:r>
            <a:r>
              <a:rPr lang="en-US" b="1" dirty="0" err="1"/>
              <a:t>tiếp</a:t>
            </a:r>
            <a:r>
              <a:rPr lang="en-US" b="1" dirty="0"/>
              <a:t> </a:t>
            </a:r>
            <a:r>
              <a:rPr lang="vi-VN" b="1" dirty="0">
                <a:solidFill>
                  <a:schemeClr val="dk1"/>
                </a:solidFill>
              </a:rPr>
              <a:t>Modbus 485</a:t>
            </a:r>
            <a:r>
              <a:rPr lang="en-US" b="1" dirty="0">
                <a:solidFill>
                  <a:schemeClr val="dk1"/>
                </a:solidFill>
              </a:rPr>
              <a:t> </a:t>
            </a:r>
            <a:r>
              <a:rPr lang="en-US" b="1" dirty="0" err="1">
                <a:solidFill>
                  <a:schemeClr val="dk1"/>
                </a:solidFill>
              </a:rPr>
              <a:t>đọc</a:t>
            </a:r>
            <a:r>
              <a:rPr lang="en-US" b="1" dirty="0">
                <a:solidFill>
                  <a:schemeClr val="dk1"/>
                </a:solidFill>
              </a:rPr>
              <a:t> </a:t>
            </a:r>
            <a:r>
              <a:rPr lang="en-US" b="1" dirty="0" err="1">
                <a:solidFill>
                  <a:schemeClr val="dk1"/>
                </a:solidFill>
              </a:rPr>
              <a:t>giá</a:t>
            </a:r>
            <a:r>
              <a:rPr lang="en-US" b="1" dirty="0">
                <a:solidFill>
                  <a:schemeClr val="dk1"/>
                </a:solidFill>
              </a:rPr>
              <a:t> </a:t>
            </a:r>
            <a:r>
              <a:rPr lang="en-US" b="1" dirty="0" err="1">
                <a:solidFill>
                  <a:schemeClr val="dk1"/>
                </a:solidFill>
              </a:rPr>
              <a:t>trị</a:t>
            </a:r>
            <a:r>
              <a:rPr lang="en-US" b="1" dirty="0">
                <a:solidFill>
                  <a:schemeClr val="dk1"/>
                </a:solidFill>
              </a:rPr>
              <a:t>  </a:t>
            </a:r>
            <a:r>
              <a:rPr lang="en-US" b="1" dirty="0" err="1">
                <a:solidFill>
                  <a:schemeClr val="dk1"/>
                </a:solidFill>
              </a:rPr>
              <a:t>điện</a:t>
            </a:r>
            <a:r>
              <a:rPr lang="en-US" b="1" dirty="0">
                <a:solidFill>
                  <a:schemeClr val="dk1"/>
                </a:solidFill>
              </a:rPr>
              <a:t> </a:t>
            </a:r>
            <a:r>
              <a:rPr lang="en-US" b="1" dirty="0" err="1">
                <a:solidFill>
                  <a:schemeClr val="dk1"/>
                </a:solidFill>
              </a:rPr>
              <a:t>áp</a:t>
            </a:r>
            <a:r>
              <a:rPr lang="en-US" b="1" dirty="0">
                <a:solidFill>
                  <a:schemeClr val="dk1"/>
                </a:solidFill>
              </a:rPr>
              <a:t> </a:t>
            </a:r>
            <a:r>
              <a:rPr lang="en-US" b="1" dirty="0" err="1">
                <a:solidFill>
                  <a:schemeClr val="dk1"/>
                </a:solidFill>
              </a:rPr>
              <a:t>trên</a:t>
            </a:r>
            <a:r>
              <a:rPr lang="en-US" b="1" dirty="0">
                <a:solidFill>
                  <a:schemeClr val="dk1"/>
                </a:solidFill>
              </a:rPr>
              <a:t> </a:t>
            </a:r>
            <a:r>
              <a:rPr lang="en-US" b="1" dirty="0" err="1">
                <a:solidFill>
                  <a:schemeClr val="dk1"/>
                </a:solidFill>
              </a:rPr>
              <a:t>biến</a:t>
            </a:r>
            <a:r>
              <a:rPr lang="en-US" b="1" dirty="0">
                <a:solidFill>
                  <a:schemeClr val="dk1"/>
                </a:solidFill>
              </a:rPr>
              <a:t> </a:t>
            </a:r>
            <a:r>
              <a:rPr lang="en-US" b="1" dirty="0" err="1">
                <a:solidFill>
                  <a:schemeClr val="dk1"/>
                </a:solidFill>
              </a:rPr>
              <a:t>trở</a:t>
            </a:r>
            <a:endParaRPr lang="en-US" b="1" dirty="0"/>
          </a:p>
          <a:p>
            <a:pPr>
              <a:lnSpc>
                <a:spcPct val="150000"/>
              </a:lnSpc>
            </a:pPr>
            <a:endParaRPr lang="vi-VN" dirty="0"/>
          </a:p>
        </p:txBody>
      </p:sp>
      <p:sp>
        <p:nvSpPr>
          <p:cNvPr id="3" name="Rectangle 1">
            <a:extLst>
              <a:ext uri="{FF2B5EF4-FFF2-40B4-BE49-F238E27FC236}">
                <a16:creationId xmlns:a16="http://schemas.microsoft.com/office/drawing/2014/main" id="{52E7E4D8-06D1-3B06-3EED-8FB71B437C1C}"/>
              </a:ext>
            </a:extLst>
          </p:cNvPr>
          <p:cNvSpPr>
            <a:spLocks noChangeArrowheads="1"/>
          </p:cNvSpPr>
          <p:nvPr/>
        </p:nvSpPr>
        <p:spPr bwMode="auto">
          <a:xfrm>
            <a:off x="626557" y="4707227"/>
            <a:ext cx="99028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5AC53612-79AF-09CF-02FC-467D6F90C091}"/>
              </a:ext>
            </a:extLst>
          </p:cNvPr>
          <p:cNvPicPr>
            <a:picLocks noChangeAspect="1"/>
          </p:cNvPicPr>
          <p:nvPr/>
        </p:nvPicPr>
        <p:blipFill>
          <a:blip r:embed="rId3"/>
          <a:stretch>
            <a:fillRect/>
          </a:stretch>
        </p:blipFill>
        <p:spPr>
          <a:xfrm>
            <a:off x="2930769" y="1266911"/>
            <a:ext cx="4359131" cy="4895036"/>
          </a:xfrm>
          <a:prstGeom prst="rect">
            <a:avLst/>
          </a:prstGeom>
        </p:spPr>
      </p:pic>
    </p:spTree>
    <p:extLst>
      <p:ext uri="{BB962C8B-B14F-4D97-AF65-F5344CB8AC3E}">
        <p14:creationId xmlns:p14="http://schemas.microsoft.com/office/powerpoint/2010/main" val="3485814267"/>
      </p:ext>
    </p:extLst>
  </p:cSld>
  <p:clrMapOvr>
    <a:masterClrMapping/>
  </p:clrMapOvr>
</p:sld>
</file>

<file path=ppt/theme/theme1.xml><?xml version="1.0" encoding="utf-8"?>
<a:theme xmlns:a="http://schemas.openxmlformats.org/drawingml/2006/main" name="디자인 사용자 지정">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2550</TotalTime>
  <Words>15745</Words>
  <Application>Microsoft Office PowerPoint</Application>
  <PresentationFormat>Custom</PresentationFormat>
  <Paragraphs>1305</Paragraphs>
  <Slides>87</Slides>
  <Notes>87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87</vt:i4>
      </vt:variant>
    </vt:vector>
  </HeadingPairs>
  <TitlesOfParts>
    <vt:vector size="94" baseType="lpstr">
      <vt:lpstr>Arial</vt:lpstr>
      <vt:lpstr>Calibri</vt:lpstr>
      <vt:lpstr>Malgun Gothic</vt:lpstr>
      <vt:lpstr>Wingdings</vt:lpstr>
      <vt:lpstr>Noto Sans Symbols</vt:lpstr>
      <vt:lpstr>Open Sans</vt:lpstr>
      <vt:lpstr>디자인 사용자 지정</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Manh Huy</dc:creator>
  <cp:lastModifiedBy>NGUYEN</cp:lastModifiedBy>
  <cp:revision>35</cp:revision>
  <dcterms:created xsi:type="dcterms:W3CDTF">2018-03-02T14:47:58Z</dcterms:created>
  <dcterms:modified xsi:type="dcterms:W3CDTF">2026-03-14T14:22:40Z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0x01010068ED2E6D4E77E244B9E3F70AF9B53527</vt:lpwstr>
  </property>
</Properties>
</file>