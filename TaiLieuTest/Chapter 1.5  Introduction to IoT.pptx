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7"/>
  </p:notesMasterIdLst>
  <p:sldIdLst>
    <p:sldId id="257" r:id="rId2"/>
    <p:sldId id="258" r:id="rId3"/>
    <p:sldId id="492" r:id="rId4"/>
    <p:sldId id="493" r:id="rId5"/>
    <p:sldId id="494" r:id="rId6"/>
    <p:sldId id="495" r:id="rId7"/>
    <p:sldId id="496" r:id="rId8"/>
    <p:sldId id="497" r:id="rId9"/>
    <p:sldId id="498" r:id="rId10"/>
    <p:sldId id="499" r:id="rId11"/>
    <p:sldId id="500" r:id="rId12"/>
    <p:sldId id="613" r:id="rId13"/>
    <p:sldId id="502" r:id="rId14"/>
    <p:sldId id="503" r:id="rId15"/>
    <p:sldId id="504" r:id="rId16"/>
    <p:sldId id="505" r:id="rId17"/>
    <p:sldId id="506" r:id="rId18"/>
    <p:sldId id="507" r:id="rId19"/>
    <p:sldId id="614" r:id="rId20"/>
    <p:sldId id="509" r:id="rId21"/>
    <p:sldId id="510" r:id="rId22"/>
    <p:sldId id="511" r:id="rId23"/>
    <p:sldId id="615" r:id="rId24"/>
    <p:sldId id="513" r:id="rId25"/>
    <p:sldId id="514" r:id="rId26"/>
    <p:sldId id="515" r:id="rId27"/>
    <p:sldId id="616" r:id="rId28"/>
    <p:sldId id="517" r:id="rId29"/>
    <p:sldId id="518" r:id="rId30"/>
    <p:sldId id="519" r:id="rId31"/>
    <p:sldId id="520" r:id="rId32"/>
    <p:sldId id="521" r:id="rId33"/>
    <p:sldId id="522" r:id="rId34"/>
    <p:sldId id="523" r:id="rId35"/>
    <p:sldId id="524" r:id="rId36"/>
    <p:sldId id="525" r:id="rId37"/>
    <p:sldId id="526" r:id="rId38"/>
    <p:sldId id="527" r:id="rId39"/>
    <p:sldId id="528" r:id="rId40"/>
    <p:sldId id="617" r:id="rId41"/>
    <p:sldId id="530" r:id="rId42"/>
    <p:sldId id="618" r:id="rId43"/>
    <p:sldId id="532" r:id="rId44"/>
    <p:sldId id="533" r:id="rId45"/>
    <p:sldId id="619" r:id="rId46"/>
    <p:sldId id="535" r:id="rId47"/>
    <p:sldId id="536" r:id="rId48"/>
    <p:sldId id="537" r:id="rId49"/>
    <p:sldId id="348" r:id="rId50"/>
    <p:sldId id="538" r:id="rId51"/>
    <p:sldId id="539" r:id="rId52"/>
    <p:sldId id="540" r:id="rId53"/>
    <p:sldId id="541" r:id="rId54"/>
    <p:sldId id="620" r:id="rId55"/>
    <p:sldId id="543" r:id="rId56"/>
    <p:sldId id="544" r:id="rId57"/>
    <p:sldId id="545" r:id="rId58"/>
    <p:sldId id="546" r:id="rId59"/>
    <p:sldId id="547" r:id="rId60"/>
    <p:sldId id="548" r:id="rId61"/>
    <p:sldId id="549" r:id="rId62"/>
    <p:sldId id="550" r:id="rId63"/>
    <p:sldId id="551" r:id="rId64"/>
    <p:sldId id="552" r:id="rId65"/>
    <p:sldId id="553" r:id="rId66"/>
    <p:sldId id="554" r:id="rId67"/>
    <p:sldId id="555" r:id="rId68"/>
    <p:sldId id="556" r:id="rId69"/>
    <p:sldId id="557" r:id="rId70"/>
    <p:sldId id="558" r:id="rId71"/>
    <p:sldId id="559" r:id="rId72"/>
    <p:sldId id="560" r:id="rId73"/>
    <p:sldId id="561" r:id="rId74"/>
    <p:sldId id="562" r:id="rId75"/>
    <p:sldId id="563" r:id="rId76"/>
    <p:sldId id="621" r:id="rId77"/>
    <p:sldId id="565" r:id="rId78"/>
    <p:sldId id="566" r:id="rId79"/>
    <p:sldId id="567" r:id="rId80"/>
    <p:sldId id="568" r:id="rId81"/>
    <p:sldId id="569" r:id="rId82"/>
    <p:sldId id="570" r:id="rId83"/>
    <p:sldId id="571" r:id="rId84"/>
    <p:sldId id="622" r:id="rId85"/>
    <p:sldId id="573" r:id="rId86"/>
    <p:sldId id="574" r:id="rId87"/>
    <p:sldId id="575" r:id="rId88"/>
    <p:sldId id="576" r:id="rId89"/>
    <p:sldId id="577" r:id="rId90"/>
    <p:sldId id="578" r:id="rId91"/>
    <p:sldId id="579" r:id="rId92"/>
    <p:sldId id="623" r:id="rId93"/>
    <p:sldId id="581" r:id="rId94"/>
    <p:sldId id="582" r:id="rId95"/>
    <p:sldId id="583" r:id="rId96"/>
    <p:sldId id="584" r:id="rId97"/>
    <p:sldId id="585" r:id="rId98"/>
    <p:sldId id="586" r:id="rId99"/>
    <p:sldId id="587" r:id="rId100"/>
    <p:sldId id="588" r:id="rId101"/>
    <p:sldId id="589" r:id="rId102"/>
    <p:sldId id="590" r:id="rId103"/>
    <p:sldId id="591" r:id="rId104"/>
    <p:sldId id="592" r:id="rId105"/>
    <p:sldId id="593" r:id="rId106"/>
    <p:sldId id="594" r:id="rId107"/>
    <p:sldId id="595" r:id="rId108"/>
    <p:sldId id="596" r:id="rId109"/>
    <p:sldId id="597" r:id="rId110"/>
    <p:sldId id="598" r:id="rId111"/>
    <p:sldId id="599" r:id="rId112"/>
    <p:sldId id="600" r:id="rId113"/>
    <p:sldId id="601" r:id="rId114"/>
    <p:sldId id="602" r:id="rId115"/>
    <p:sldId id="604" r:id="rId116"/>
    <p:sldId id="605" r:id="rId117"/>
    <p:sldId id="606" r:id="rId118"/>
    <p:sldId id="607" r:id="rId119"/>
    <p:sldId id="608" r:id="rId120"/>
    <p:sldId id="609" r:id="rId121"/>
    <p:sldId id="610" r:id="rId122"/>
    <p:sldId id="611" r:id="rId123"/>
    <p:sldId id="612" r:id="rId124"/>
    <p:sldId id="625" r:id="rId125"/>
    <p:sldId id="425" r:id="rId126"/>
    <p:sldId id="426" r:id="rId127"/>
    <p:sldId id="427" r:id="rId128"/>
    <p:sldId id="428" r:id="rId129"/>
    <p:sldId id="429" r:id="rId130"/>
    <p:sldId id="430" r:id="rId131"/>
    <p:sldId id="431" r:id="rId132"/>
    <p:sldId id="432" r:id="rId133"/>
    <p:sldId id="433" r:id="rId134"/>
    <p:sldId id="487" r:id="rId135"/>
    <p:sldId id="435" r:id="rId136"/>
    <p:sldId id="488" r:id="rId137"/>
    <p:sldId id="489" r:id="rId138"/>
    <p:sldId id="438" r:id="rId139"/>
    <p:sldId id="439" r:id="rId140"/>
    <p:sldId id="440" r:id="rId141"/>
    <p:sldId id="441" r:id="rId142"/>
    <p:sldId id="490" r:id="rId143"/>
    <p:sldId id="443" r:id="rId144"/>
    <p:sldId id="444" r:id="rId145"/>
    <p:sldId id="445" r:id="rId146"/>
  </p:sldIdLst>
  <p:sldSz cx="9902825" cy="6858000"/>
  <p:notesSz cx="7104063" cy="10234613"/>
  <p:embeddedFontLst>
    <p:embeddedFont>
      <p:font typeface="Cambria Math" panose="02040503050406030204" pitchFamily="18" charset="0"/>
      <p:regular r:id="rId148"/>
    </p:embeddedFont>
    <p:embeddedFont>
      <p:font typeface="Gulim" panose="020B0600000101010101" pitchFamily="34" charset="-127"/>
      <p:regular r:id="rId149"/>
    </p:embeddedFont>
    <p:embeddedFont>
      <p:font typeface="Gulim" panose="020B0600000101010101" pitchFamily="34" charset="-127"/>
      <p:regular r:id="rId149"/>
    </p:embeddedFont>
    <p:embeddedFont>
      <p:font typeface="Malgun Gothic" panose="020B0503020000020004" pitchFamily="34" charset="-127"/>
      <p:regular r:id="rId150"/>
      <p:bold r:id="rId151"/>
    </p:embeddedFont>
    <p:embeddedFont>
      <p:font typeface="Samsung Sharp Sans" panose="020B0604020202020204" charset="0"/>
      <p:regular r:id="rId152"/>
      <p:bold r:id="rId153"/>
      <p:italic r:id="rId154"/>
      <p:boldItalic r:id="rId155"/>
    </p:embeddedFont>
    <p:embeddedFont>
      <p:font typeface="SamsungOne 400" panose="020B0604020202020204" charset="0"/>
      <p:regular r:id="rId156"/>
      <p:bold r:id="rId157"/>
      <p:italic r:id="rId158"/>
      <p:boldItalic r:id="rId159"/>
    </p:embeddedFont>
    <p:embeddedFont>
      <p:font typeface="SamsungOne-400" panose="020B0604020202020204" charset="0"/>
      <p:regular r:id="rId160"/>
      <p:bold r:id="rId161"/>
      <p:italic r:id="rId162"/>
      <p:boldItalic r:id="rId1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12">
          <p15:clr>
            <a:srgbClr val="A4A3A4"/>
          </p15:clr>
        </p15:guide>
        <p15:guide id="2" orient="horz" pos="958">
          <p15:clr>
            <a:srgbClr val="A4A3A4"/>
          </p15:clr>
        </p15:guide>
        <p15:guide id="3" pos="443">
          <p15:clr>
            <a:srgbClr val="A4A3A4"/>
          </p15:clr>
        </p15:guide>
        <p15:guide id="4" pos="3210">
          <p15:clr>
            <a:srgbClr val="A4A3A4"/>
          </p15:clr>
        </p15:guide>
        <p15:guide id="5" pos="3119">
          <p15:clr>
            <a:srgbClr val="A4A3A4"/>
          </p15:clr>
        </p15:guide>
        <p15:guide id="6" orient="horz" pos="1638">
          <p15:clr>
            <a:srgbClr val="A4A3A4"/>
          </p15:clr>
        </p15:guide>
        <p15:guide id="7" orient="horz" pos="3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6" roundtripDataSignature="AMtx7miQntsjKBRx4P5VAk3si86o9uYc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672A58-3C3F-4094-A55C-8326C1CC86CD}">
  <a:tblStyle styleId="{A9672A58-3C3F-4094-A55C-8326C1CC86CD}" styleName="Table_0">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7659242-E1CC-4EDC-8006-197966C0AB99}" styleName="Table_1">
    <a:wholeTbl>
      <a:tcTxStyle b="off" i="off">
        <a:font>
          <a:latin typeface="맑은 고딕"/>
          <a:ea typeface="맑은 고딕"/>
          <a:cs typeface="맑은 고딕"/>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53F50C-8861-43A0-82AE-2E20D93D1326}"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9704"/>
  </p:normalViewPr>
  <p:slideViewPr>
    <p:cSldViewPr snapToGrid="0">
      <p:cViewPr varScale="1">
        <p:scale>
          <a:sx n="93" d="100"/>
          <a:sy n="93" d="100"/>
        </p:scale>
        <p:origin x="1824" y="78"/>
      </p:cViewPr>
      <p:guideLst>
        <p:guide orient="horz" pos="1412"/>
        <p:guide orient="horz" pos="958"/>
        <p:guide pos="443"/>
        <p:guide pos="3210"/>
        <p:guide pos="3119"/>
        <p:guide orient="horz" pos="1638"/>
        <p:guide orient="horz" pos="3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12.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2.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13.fntdata"/><Relationship Id="rId258"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3.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259" Type="http://schemas.openxmlformats.org/officeDocument/2006/relationships/theme" Target="theme/theme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4.fntdata"/><Relationship Id="rId156" Type="http://schemas.openxmlformats.org/officeDocument/2006/relationships/font" Target="fonts/font9.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0.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font" Target="fonts/font16.fntdata"/><Relationship Id="rId3" Type="http://schemas.openxmlformats.org/officeDocument/2006/relationships/slide" Target="slides/slide2.xml"/><Relationship Id="rId256" Type="http://customschemas.google.com/relationships/presentationmetadata" Target="meta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257"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7.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Malgun Gothic"/>
                <a:ea typeface="Malgun Gothic"/>
                <a:cs typeface="Malgun Gothic"/>
                <a:sym typeface="Malgun Gothic"/>
              </a:rPr>
              <a:t>‹#›</a:t>
            </a:fld>
            <a:endParaRPr sz="13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3" Type="http://schemas.openxmlformats.org/officeDocument/2006/relationships/hyperlink" Target="http://endic.naver.com/enkrEntry.nhn?entryId=bba8023fb4784a0991ba6deb3ca47a98" TargetMode="External"/><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710407" y="5287169"/>
            <a:ext cx="5683250" cy="3668117"/>
          </a:xfrm>
          <a:prstGeom prst="rect">
            <a:avLst/>
          </a:prstGeom>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a:spLocks noGrp="1" noRot="1" noChangeAspect="1"/>
          </p:cNvSpPr>
          <p:nvPr>
            <p:ph type="sldImg" idx="2"/>
          </p:nvPr>
        </p:nvSpPr>
        <p:spPr>
          <a:xfrm>
            <a:off x="196850" y="763588"/>
            <a:ext cx="6653213" cy="46085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3:notes"/>
          <p:cNvSpPr txBox="1">
            <a:spLocks noGrp="1"/>
          </p:cNvSpPr>
          <p:nvPr>
            <p:ph type="body" idx="1"/>
          </p:nvPr>
        </p:nvSpPr>
        <p:spPr>
          <a:xfrm>
            <a:off x="679768" y="5542373"/>
            <a:ext cx="5438140" cy="3639767"/>
          </a:xfrm>
          <a:prstGeom prst="rect">
            <a:avLst/>
          </a:prstGeom>
          <a:noFill/>
          <a:ln>
            <a:noFill/>
          </a:ln>
        </p:spPr>
        <p:txBody>
          <a:bodyPr spcFirstLastPara="1" wrap="square" lIns="99075" tIns="49525" rIns="99075" bIns="49525"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a:latin typeface="Arial"/>
                <a:ea typeface="Arial"/>
                <a:cs typeface="Arial"/>
                <a:sym typeface="Arial"/>
              </a:rPr>
              <a:t>Trong chương này, chúng ta sẽ xem xét các xu hướng ứng dụng IoT trong các ngành công nghiệp cũng như các thành phần và nền tảng của nó.</a:t>
            </a:r>
            <a:endParaRPr/>
          </a:p>
        </p:txBody>
      </p:sp>
      <p:sp>
        <p:nvSpPr>
          <p:cNvPr id="158" name="Google Shape;158;p3:notes"/>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2</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6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494522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p6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An electrical circuit is a closed circuit installed to allow electricity to flow. In the circuit, various electrical elements such as resistors, capacitors, and coils are connected by electric wires. Closed circuits made of batteries, wires, and resistors side by side are the simplest examples of electrical circuits. Electric circuits are largely divided into DC circuits and AC circuits according to the type of electricity supplied to the circuits. Various circuits can be made by connecting resistors, capacitors, and coils in each circuit.</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b="1">
                <a:solidFill>
                  <a:srgbClr val="3F3F3F"/>
                </a:solidFill>
                <a:latin typeface="Arial"/>
                <a:ea typeface="Arial"/>
                <a:cs typeface="Arial"/>
                <a:sym typeface="Arial"/>
              </a:rPr>
              <a:t>Classification according to the type of current supplied</a:t>
            </a:r>
            <a:endParaRPr/>
          </a:p>
          <a:p>
            <a:pPr marL="0" lvl="0" indent="0" algn="l" rtl="0">
              <a:spcBef>
                <a:spcPts val="0"/>
              </a:spcBef>
              <a:spcAft>
                <a:spcPts val="0"/>
              </a:spcAft>
              <a:buNone/>
            </a:pPr>
            <a:r>
              <a:rPr lang="en-US">
                <a:solidFill>
                  <a:srgbClr val="3F3F3F"/>
                </a:solidFill>
                <a:latin typeface="Arial"/>
                <a:ea typeface="Arial"/>
                <a:cs typeface="Arial"/>
                <a:sym typeface="Arial"/>
              </a:rPr>
              <a:t>- DC circuit: An electrical circuit through which a "direct current" flows.</a:t>
            </a:r>
            <a:endParaRPr/>
          </a:p>
          <a:p>
            <a:pPr marL="0" lvl="0" indent="0" algn="l" rtl="0">
              <a:spcBef>
                <a:spcPts val="0"/>
              </a:spcBef>
              <a:spcAft>
                <a:spcPts val="0"/>
              </a:spcAft>
              <a:buNone/>
            </a:pPr>
            <a:r>
              <a:rPr lang="en-US">
                <a:solidFill>
                  <a:srgbClr val="3F3F3F"/>
                </a:solidFill>
                <a:latin typeface="Arial"/>
                <a:ea typeface="Arial"/>
                <a:cs typeface="Arial"/>
                <a:sym typeface="Arial"/>
              </a:rPr>
              <a:t>- Alternating current circuit: An electrical circuit through which an "alternating current" flows</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b="1">
                <a:solidFill>
                  <a:srgbClr val="3F3F3F"/>
                </a:solidFill>
                <a:latin typeface="Arial"/>
                <a:ea typeface="Arial"/>
                <a:cs typeface="Arial"/>
                <a:sym typeface="Arial"/>
              </a:rPr>
              <a:t>Classification by signal</a:t>
            </a:r>
            <a:endParaRPr/>
          </a:p>
          <a:p>
            <a:pPr marL="0" lvl="0" indent="0" algn="l" rtl="0">
              <a:spcBef>
                <a:spcPts val="0"/>
              </a:spcBef>
              <a:spcAft>
                <a:spcPts val="0"/>
              </a:spcAft>
              <a:buNone/>
            </a:pPr>
            <a:r>
              <a:rPr lang="en-US">
                <a:solidFill>
                  <a:srgbClr val="3F3F3F"/>
                </a:solidFill>
                <a:latin typeface="Arial"/>
                <a:ea typeface="Arial"/>
                <a:cs typeface="Arial"/>
                <a:sym typeface="Arial"/>
              </a:rPr>
              <a:t>- Analog circuitry: An electrical circuit that processes analog signals, a typical example of which is an analog-to-digital conversion circuit.</a:t>
            </a:r>
            <a:endParaRPr/>
          </a:p>
          <a:p>
            <a:pPr marL="0" lvl="0" indent="0" algn="l" rtl="0">
              <a:spcBef>
                <a:spcPts val="0"/>
              </a:spcBef>
              <a:spcAft>
                <a:spcPts val="0"/>
              </a:spcAft>
              <a:buNone/>
            </a:pPr>
            <a:r>
              <a:rPr lang="en-US">
                <a:solidFill>
                  <a:srgbClr val="3F3F3F"/>
                </a:solidFill>
                <a:latin typeface="Arial"/>
                <a:ea typeface="Arial"/>
                <a:cs typeface="Arial"/>
                <a:sym typeface="Arial"/>
              </a:rPr>
              <a:t>- Digital circuitry: An electrical circuit for processing digital signals, a representative example of which is a digital-to-analog conversion circuit.</a:t>
            </a:r>
            <a:endParaRPr/>
          </a:p>
          <a:p>
            <a:pPr marL="0" lvl="0" indent="0" algn="l" rtl="0">
              <a:spcBef>
                <a:spcPts val="0"/>
              </a:spcBef>
              <a:spcAft>
                <a:spcPts val="0"/>
              </a:spcAft>
              <a:buNone/>
            </a:pPr>
            <a:r>
              <a:rPr lang="en-US">
                <a:solidFill>
                  <a:srgbClr val="3F3F3F"/>
                </a:solidFill>
                <a:latin typeface="Arial"/>
                <a:ea typeface="Arial"/>
                <a:cs typeface="Arial"/>
                <a:sym typeface="Arial"/>
              </a:rPr>
              <a:t>- Logic circuits: Circuits that perform logical operations on input signals. There are circuits that perform multiplication (And), sum (Or), and negation (Not). Various calculations can be made by combining them.</a:t>
            </a:r>
            <a:endParaRPr>
              <a:solidFill>
                <a:srgbClr val="3F3F3F"/>
              </a:solidFill>
              <a:latin typeface="Arial"/>
              <a:ea typeface="Arial"/>
              <a:cs typeface="Arial"/>
              <a:sym typeface="Arial"/>
            </a:endParaRPr>
          </a:p>
        </p:txBody>
      </p:sp>
      <p:sp>
        <p:nvSpPr>
          <p:cNvPr id="1034" name="Google Shape;1034;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706631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6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Noto Sans Symbols"/>
              <a:buNone/>
            </a:pPr>
            <a:r>
              <a:rPr lang="en-US">
                <a:solidFill>
                  <a:srgbClr val="3F3F3F"/>
                </a:solidFill>
                <a:latin typeface="Arial"/>
                <a:ea typeface="Arial"/>
                <a:cs typeface="Arial"/>
                <a:sym typeface="Arial"/>
              </a:rPr>
              <a:t>The breadboard of the picture is connected with the five holes vertically (abcde, fghij) and the two holes horizontally (red and blue). The abcde line and the fghij line are separated from each other and usually plug in components here. The red and blue parts are separated into five BÀIs but are all connected along the line and used to supply power (DC). If you open it, it is made of a structure that folds a long copper plate. Inserts it into the gap like a socket contact point of a multi-tap.</a:t>
            </a:r>
            <a:endParaRPr>
              <a:solidFill>
                <a:srgbClr val="3F3F3F"/>
              </a:solidFill>
              <a:latin typeface="Arial"/>
              <a:ea typeface="Arial"/>
              <a:cs typeface="Arial"/>
              <a:sym typeface="Arial"/>
            </a:endParaRPr>
          </a:p>
        </p:txBody>
      </p:sp>
      <p:sp>
        <p:nvSpPr>
          <p:cNvPr id="1045" name="Google Shape;1045;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492033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6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Noto Sans Symbols"/>
              <a:buNone/>
            </a:pPr>
            <a:r>
              <a:rPr lang="en-US">
                <a:solidFill>
                  <a:srgbClr val="3F3F3F"/>
                </a:solidFill>
                <a:latin typeface="Arial"/>
                <a:ea typeface="Arial"/>
                <a:cs typeface="Arial"/>
                <a:sym typeface="Arial"/>
              </a:rPr>
              <a:t>Why use a breadboard?</a:t>
            </a:r>
            <a:endParaRPr/>
          </a:p>
          <a:p>
            <a:pPr marL="0" lvl="0" indent="0" algn="l" rtl="0">
              <a:spcBef>
                <a:spcPts val="0"/>
              </a:spcBef>
              <a:spcAft>
                <a:spcPts val="0"/>
              </a:spcAft>
              <a:buClr>
                <a:srgbClr val="3F3F3F"/>
              </a:buClr>
              <a:buSzPts val="1200"/>
              <a:buFont typeface="Noto Sans Symbols"/>
              <a:buNone/>
            </a:pPr>
            <a:r>
              <a:rPr lang="en-US">
                <a:solidFill>
                  <a:srgbClr val="3F3F3F"/>
                </a:solidFill>
                <a:latin typeface="Arial"/>
                <a:ea typeface="Arial"/>
                <a:cs typeface="Arial"/>
                <a:sym typeface="Arial"/>
              </a:rPr>
              <a:t>  -Parts reuse</a:t>
            </a:r>
            <a:endParaRPr/>
          </a:p>
          <a:p>
            <a:pPr marL="0" lvl="0" indent="0" algn="l" rtl="0">
              <a:spcBef>
                <a:spcPts val="0"/>
              </a:spcBef>
              <a:spcAft>
                <a:spcPts val="0"/>
              </a:spcAft>
              <a:buClr>
                <a:srgbClr val="3F3F3F"/>
              </a:buClr>
              <a:buSzPts val="1200"/>
              <a:buFont typeface="Noto Sans Symbols"/>
              <a:buNone/>
            </a:pPr>
            <a:r>
              <a:rPr lang="en-US">
                <a:solidFill>
                  <a:srgbClr val="3F3F3F"/>
                </a:solidFill>
                <a:latin typeface="Arial"/>
                <a:ea typeface="Arial"/>
                <a:cs typeface="Arial"/>
                <a:sym typeface="Arial"/>
              </a:rPr>
              <a:t>  -When making prototypes or when there is a need for continuous circuit modification.</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059" name="Google Shape;1059;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454085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p6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The green line represents the iron inside. In other words, parts connected to the same line are connected to each other and are electrically connected.</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Breadboards are usually divided by the number of pins. The smaller sizes are classified into various shapes, such as 30 to 180 pins, 400 pins, 830 pins, 1660 pins, 2250 pins, and 3220 pins.</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077" name="Google Shape;1077;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681342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6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9" name="Google Shape;1099;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100" name="Google Shape;1100;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293947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p6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2" name="Google Shape;1112;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113" name="Google Shape;1113;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883226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p6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5" name="Google Shape;1125;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The GPIO can set whether the programmers input or output on the port, and the GPIO port cannot be used before the programmers set it up, so you must specify the settings for the GPIO port to use. The degree of freedom is higher than the input and output specified, but that is how much choices should be made. The GPIO has three registers to control the input and output ports, which are composed of PORTx, DDRx and PINx.</a:t>
            </a:r>
            <a:endParaRPr>
              <a:solidFill>
                <a:srgbClr val="3F3F3F"/>
              </a:solidFill>
              <a:latin typeface="Arial"/>
              <a:ea typeface="Arial"/>
              <a:cs typeface="Arial"/>
              <a:sym typeface="Arial"/>
            </a:endParaRPr>
          </a:p>
        </p:txBody>
      </p:sp>
      <p:sp>
        <p:nvSpPr>
          <p:cNvPr id="1126" name="Google Shape;1126;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498358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6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4" name="Google Shape;1134;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If you use a bus structure that connects multiple output devices to a single signal line, only the device to which the signal is intended to be output and the device to be received should be connected. If multiple output circuits are simultaneously connected due to incorrect circuit control, abnormal current may flow between circuits, destroying the elements. In order to avoid this breakdown, the element that should not output a signal should be electrically insulated. As such, electrically isolated states from the output signal line are referred to as high-impedance and treated as a third state, not both H and L. The high impedance status is symbolized "Z".</a:t>
            </a:r>
            <a:endParaRPr>
              <a:solidFill>
                <a:srgbClr val="3F3F3F"/>
              </a:solidFill>
              <a:latin typeface="Arial"/>
              <a:ea typeface="Arial"/>
              <a:cs typeface="Arial"/>
              <a:sym typeface="Arial"/>
            </a:endParaRPr>
          </a:p>
        </p:txBody>
      </p:sp>
      <p:sp>
        <p:nvSpPr>
          <p:cNvPr id="1135" name="Google Shape;1135;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827066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a:extLst>
            <a:ext uri="{FF2B5EF4-FFF2-40B4-BE49-F238E27FC236}">
              <a16:creationId xmlns:a16="http://schemas.microsoft.com/office/drawing/2014/main" id="{9B1C685D-D013-0138-62FC-AB521FB390AF}"/>
            </a:ext>
          </a:extLst>
        </p:cNvPr>
        <p:cNvGrpSpPr/>
        <p:nvPr/>
      </p:nvGrpSpPr>
      <p:grpSpPr>
        <a:xfrm>
          <a:off x="0" y="0"/>
          <a:ext cx="0" cy="0"/>
          <a:chOff x="0" y="0"/>
          <a:chExt cx="0" cy="0"/>
        </a:xfrm>
      </p:grpSpPr>
      <p:sp>
        <p:nvSpPr>
          <p:cNvPr id="1023" name="Google Shape;1023;p61:notes">
            <a:extLst>
              <a:ext uri="{FF2B5EF4-FFF2-40B4-BE49-F238E27FC236}">
                <a16:creationId xmlns:a16="http://schemas.microsoft.com/office/drawing/2014/main" id="{EED9C6D8-C3D8-58D9-904C-B0795DCAB37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a:extLst>
              <a:ext uri="{FF2B5EF4-FFF2-40B4-BE49-F238E27FC236}">
                <a16:creationId xmlns:a16="http://schemas.microsoft.com/office/drawing/2014/main" id="{FB8305EA-9ECF-A435-2573-1886B628D6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a:extLst>
              <a:ext uri="{FF2B5EF4-FFF2-40B4-BE49-F238E27FC236}">
                <a16:creationId xmlns:a16="http://schemas.microsoft.com/office/drawing/2014/main" id="{A22C671F-0ED9-2542-3770-E255AD3FC43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34540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7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3" name="Google Shape;1153;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 Reference Site : https://pi4j.com/1.2/example/control.html</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 Java Source</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import com.pi4j.io.gpio.GpioController;</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import com.pi4j.io.gpio.GpioFactory;</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import com.pi4j.io.gpio.GpioPinDigitalOutput;</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import com.pi4j.io.gpio.RaspiPin;</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public class LEDTest {</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private static GpioController gpio = null;</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static GpioPinDigitalOutput led_pin;</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public static void main (String [] args) throws Exception {</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gpio = GpioFactory.getInstance ();</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led_pin = gpio.provisionDigitalOutputPin (RaspiPin.GPIO_08);</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 turn on the LED</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led_pin.high ();</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Thread.sleep (2000); // wait 2 seconds</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 turn off the LED</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led_pin.low ();</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gpio.shutdown ();</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a:t>
            </a:r>
            <a:endParaRPr/>
          </a:p>
          <a:p>
            <a:pPr marL="0" lvl="0" indent="0" algn="l" rtl="0">
              <a:lnSpc>
                <a:spcPct val="120000"/>
              </a:lnSpc>
              <a:spcBef>
                <a:spcPts val="0"/>
              </a:spcBef>
              <a:spcAft>
                <a:spcPts val="0"/>
              </a:spcAft>
              <a:buNone/>
            </a:pPr>
            <a:r>
              <a:rPr lang="en-US" sz="800">
                <a:solidFill>
                  <a:srgbClr val="3F3F3F"/>
                </a:solidFill>
                <a:latin typeface="Arial"/>
                <a:ea typeface="Arial"/>
                <a:cs typeface="Arial"/>
                <a:sym typeface="Arial"/>
              </a:rPr>
              <a:t>}</a:t>
            </a:r>
            <a:endParaRPr sz="800">
              <a:solidFill>
                <a:srgbClr val="3F3F3F"/>
              </a:solidFill>
              <a:latin typeface="Arial"/>
              <a:ea typeface="Arial"/>
              <a:cs typeface="Arial"/>
              <a:sym typeface="Arial"/>
            </a:endParaRPr>
          </a:p>
        </p:txBody>
      </p:sp>
      <p:sp>
        <p:nvSpPr>
          <p:cNvPr id="1154" name="Google Shape;1154;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861918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p7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1" name="Google Shape;1171;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p:txBody>
      </p:sp>
      <p:sp>
        <p:nvSpPr>
          <p:cNvPr id="1172" name="Google Shape;1172;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623617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7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3F3F3F"/>
              </a:buClr>
              <a:buSzPts val="800"/>
              <a:buFont typeface="Arial"/>
              <a:buNone/>
            </a:pPr>
            <a:r>
              <a:rPr lang="en-US" sz="800">
                <a:solidFill>
                  <a:srgbClr val="3F3F3F"/>
                </a:solidFill>
                <a:latin typeface="Arial"/>
                <a:ea typeface="Arial"/>
                <a:cs typeface="Arial"/>
                <a:sym typeface="Arial"/>
              </a:rPr>
              <a:t>Role of Resistor</a:t>
            </a:r>
            <a:br>
              <a:rPr lang="en-US" sz="800">
                <a:solidFill>
                  <a:srgbClr val="3F3F3F"/>
                </a:solidFill>
                <a:latin typeface="Arial"/>
                <a:ea typeface="Arial"/>
                <a:cs typeface="Arial"/>
                <a:sym typeface="Arial"/>
              </a:rPr>
            </a:br>
            <a:br>
              <a:rPr lang="en-US" sz="800">
                <a:solidFill>
                  <a:srgbClr val="3F3F3F"/>
                </a:solidFill>
                <a:latin typeface="Arial"/>
                <a:ea typeface="Arial"/>
                <a:cs typeface="Arial"/>
                <a:sym typeface="Arial"/>
              </a:rPr>
            </a:br>
            <a:r>
              <a:rPr lang="en-US" sz="800">
                <a:solidFill>
                  <a:srgbClr val="3F3F3F"/>
                </a:solidFill>
                <a:latin typeface="Arial"/>
                <a:ea typeface="Arial"/>
                <a:cs typeface="Arial"/>
                <a:sym typeface="Arial"/>
              </a:rPr>
              <a:t>- For LEDs (light emitting diode) to be illuminated, it is necessary to apply a voltage of 2 V to both ends of them. However, in one battery (approximately 1.5V), as shown in Figure (a), the battery is not luminous because of a lack of voltage. </a:t>
            </a:r>
            <a:br>
              <a:rPr lang="en-US" sz="800">
                <a:solidFill>
                  <a:srgbClr val="3F3F3F"/>
                </a:solidFill>
                <a:latin typeface="Arial"/>
                <a:ea typeface="Arial"/>
                <a:cs typeface="Arial"/>
                <a:sym typeface="Arial"/>
              </a:rPr>
            </a:br>
            <a:br>
              <a:rPr lang="en-US" sz="800">
                <a:solidFill>
                  <a:srgbClr val="3F3F3F"/>
                </a:solidFill>
                <a:latin typeface="Arial"/>
                <a:ea typeface="Arial"/>
                <a:cs typeface="Arial"/>
                <a:sym typeface="Arial"/>
              </a:rPr>
            </a:br>
            <a:r>
              <a:rPr lang="en-US" sz="800">
                <a:solidFill>
                  <a:srgbClr val="3F3F3F"/>
                </a:solidFill>
                <a:latin typeface="Arial"/>
                <a:ea typeface="Arial"/>
                <a:cs typeface="Arial"/>
                <a:sym typeface="Arial"/>
              </a:rPr>
              <a:t>- To increase the voltage, connecting two cells in series, as shown in figure (b), will result in high voltage (approximately 3V), resulting in too much current flow, which will break the LED. In this case, inserting a resistor of a reasonable size, such as figure (C), between the LED and the battery, will emit light at reasonable brightness and operate well without overloading the LED and the battery. It is a resistor and one of the parts that cannot fall into an electrical circuit that has the function of keeping the electrical circuit running smoothly by limiting the flow of current.</a:t>
            </a:r>
            <a:endParaRPr/>
          </a:p>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p:txBody>
      </p:sp>
      <p:sp>
        <p:nvSpPr>
          <p:cNvPr id="1186" name="Google Shape;1186;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124670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p7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0" name="Google Shape;1210;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p:txBody>
      </p:sp>
      <p:sp>
        <p:nvSpPr>
          <p:cNvPr id="1211" name="Google Shape;1211;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59357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p7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4" name="Google Shape;1224;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p:txBody>
      </p:sp>
      <p:sp>
        <p:nvSpPr>
          <p:cNvPr id="1225" name="Google Shape;1225;p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982038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p7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8" name="Google Shape;123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None/>
            </a:pPr>
            <a:endParaRPr sz="800">
              <a:solidFill>
                <a:srgbClr val="3F3F3F"/>
              </a:solidFill>
              <a:latin typeface="Arial"/>
              <a:ea typeface="Arial"/>
              <a:cs typeface="Arial"/>
              <a:sym typeface="Arial"/>
            </a:endParaRPr>
          </a:p>
        </p:txBody>
      </p:sp>
      <p:sp>
        <p:nvSpPr>
          <p:cNvPr id="1239" name="Google Shape;1239;p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603373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a:extLst>
            <a:ext uri="{FF2B5EF4-FFF2-40B4-BE49-F238E27FC236}">
              <a16:creationId xmlns:a16="http://schemas.microsoft.com/office/drawing/2014/main" id="{6FFED7C4-C98C-D80B-5432-6D12FD2D144B}"/>
            </a:ext>
          </a:extLst>
        </p:cNvPr>
        <p:cNvGrpSpPr/>
        <p:nvPr/>
      </p:nvGrpSpPr>
      <p:grpSpPr>
        <a:xfrm>
          <a:off x="0" y="0"/>
          <a:ext cx="0" cy="0"/>
          <a:chOff x="0" y="0"/>
          <a:chExt cx="0" cy="0"/>
        </a:xfrm>
      </p:grpSpPr>
      <p:sp>
        <p:nvSpPr>
          <p:cNvPr id="1023" name="Google Shape;1023;p61:notes">
            <a:extLst>
              <a:ext uri="{FF2B5EF4-FFF2-40B4-BE49-F238E27FC236}">
                <a16:creationId xmlns:a16="http://schemas.microsoft.com/office/drawing/2014/main" id="{153E6D75-5ABA-A151-3695-888521E33BF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a:extLst>
              <a:ext uri="{FF2B5EF4-FFF2-40B4-BE49-F238E27FC236}">
                <a16:creationId xmlns:a16="http://schemas.microsoft.com/office/drawing/2014/main" id="{52703AEE-BF8E-1429-9EC0-9EAC3CD06A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a:extLst>
              <a:ext uri="{FF2B5EF4-FFF2-40B4-BE49-F238E27FC236}">
                <a16:creationId xmlns:a16="http://schemas.microsoft.com/office/drawing/2014/main" id="{0307E61A-063C-9EEC-4657-AB702CB4E5C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946245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p7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2" name="Google Shape;1262;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800" b="1" dirty="0" err="1">
                <a:solidFill>
                  <a:srgbClr val="3F3F3F"/>
                </a:solidFill>
                <a:latin typeface="Arial"/>
                <a:ea typeface="Arial"/>
                <a:cs typeface="Arial"/>
                <a:sym typeface="Arial"/>
              </a:rPr>
              <a:t>Cảm</a:t>
            </a:r>
            <a:r>
              <a:rPr lang="en-US" sz="800" b="1" dirty="0">
                <a:solidFill>
                  <a:srgbClr val="3F3F3F"/>
                </a:solidFill>
                <a:latin typeface="Arial"/>
                <a:ea typeface="Arial"/>
                <a:cs typeface="Arial"/>
                <a:sym typeface="Arial"/>
              </a:rPr>
              <a:t> </a:t>
            </a:r>
            <a:r>
              <a:rPr lang="en-US" sz="800" b="1" dirty="0" err="1">
                <a:solidFill>
                  <a:srgbClr val="3F3F3F"/>
                </a:solidFill>
                <a:latin typeface="Arial"/>
                <a:ea typeface="Arial"/>
                <a:cs typeface="Arial"/>
                <a:sym typeface="Arial"/>
              </a:rPr>
              <a:t>biến</a:t>
            </a:r>
            <a:r>
              <a:rPr lang="en-US" sz="800" b="1" dirty="0">
                <a:solidFill>
                  <a:srgbClr val="3F3F3F"/>
                </a:solidFill>
                <a:latin typeface="Arial"/>
                <a:ea typeface="Arial"/>
                <a:cs typeface="Arial"/>
                <a:sym typeface="Arial"/>
              </a:rPr>
              <a:t> </a:t>
            </a:r>
            <a:r>
              <a:rPr lang="en-US" sz="800" b="1" dirty="0" err="1">
                <a:solidFill>
                  <a:srgbClr val="3F3F3F"/>
                </a:solidFill>
                <a:latin typeface="Arial"/>
                <a:ea typeface="Arial"/>
                <a:cs typeface="Arial"/>
                <a:sym typeface="Arial"/>
              </a:rPr>
              <a:t>siêu</a:t>
            </a:r>
            <a:r>
              <a:rPr lang="en-US" sz="800" b="1" dirty="0">
                <a:solidFill>
                  <a:srgbClr val="3F3F3F"/>
                </a:solidFill>
                <a:latin typeface="Arial"/>
                <a:ea typeface="Arial"/>
                <a:cs typeface="Arial"/>
                <a:sym typeface="Arial"/>
              </a:rPr>
              <a:t> </a:t>
            </a:r>
            <a:r>
              <a:rPr lang="en-US" sz="800" b="1" dirty="0" err="1">
                <a:solidFill>
                  <a:srgbClr val="3F3F3F"/>
                </a:solidFill>
                <a:latin typeface="Arial"/>
                <a:ea typeface="Arial"/>
                <a:cs typeface="Arial"/>
                <a:sym typeface="Arial"/>
              </a:rPr>
              <a:t>âms</a:t>
            </a:r>
            <a:endParaRPr sz="800" b="1" dirty="0">
              <a:solidFill>
                <a:srgbClr val="3F3F3F"/>
              </a:solidFill>
              <a:latin typeface="Arial"/>
              <a:ea typeface="Arial"/>
              <a:cs typeface="Arial"/>
              <a:sym typeface="Arial"/>
            </a:endParaRPr>
          </a:p>
          <a:p>
            <a:pPr marL="0" lvl="0" indent="0" algn="l" rtl="0">
              <a:spcBef>
                <a:spcPts val="0"/>
              </a:spcBef>
              <a:spcAft>
                <a:spcPts val="0"/>
              </a:spcAft>
              <a:buNone/>
            </a:pPr>
            <a:r>
              <a:rPr lang="en-US" sz="800" dirty="0">
                <a:solidFill>
                  <a:srgbClr val="3F3F3F"/>
                </a:solidFill>
                <a:latin typeface="Arial"/>
                <a:ea typeface="Arial"/>
                <a:cs typeface="Arial"/>
                <a:sym typeface="Arial"/>
              </a:rPr>
              <a:t>The range of human audible sound (audible range) is between 20 and 20000 Hz, and the sound higher than the frequency of the audible region is called ultrasonic.</a:t>
            </a:r>
            <a:endParaRPr dirty="0"/>
          </a:p>
          <a:p>
            <a:pPr marL="0" lvl="0" indent="0" algn="l" rtl="0">
              <a:spcBef>
                <a:spcPts val="0"/>
              </a:spcBef>
              <a:spcAft>
                <a:spcPts val="0"/>
              </a:spcAft>
              <a:buNone/>
            </a:pPr>
            <a:r>
              <a:rPr lang="en-US" sz="800" dirty="0">
                <a:solidFill>
                  <a:srgbClr val="3F3F3F"/>
                </a:solidFill>
                <a:latin typeface="Arial"/>
                <a:ea typeface="Arial"/>
                <a:cs typeface="Arial"/>
                <a:sym typeface="Arial"/>
              </a:rPr>
              <a:t>The dog's audible range is 15 to 50000 Hz, and dolphins are 150 to 150,000 Hz, so animals can hear sounds that humans can't hear.</a:t>
            </a:r>
            <a:endParaRPr dirty="0"/>
          </a:p>
          <a:p>
            <a:pPr marL="0" lvl="0" indent="0" algn="l" rtl="0">
              <a:spcBef>
                <a:spcPts val="0"/>
              </a:spcBef>
              <a:spcAft>
                <a:spcPts val="0"/>
              </a:spcAft>
              <a:buNone/>
            </a:pPr>
            <a:r>
              <a:rPr lang="en-US" sz="800" dirty="0">
                <a:solidFill>
                  <a:srgbClr val="3F3F3F"/>
                </a:solidFill>
                <a:latin typeface="Arial"/>
                <a:ea typeface="Arial"/>
                <a:cs typeface="Arial"/>
                <a:sym typeface="Arial"/>
              </a:rPr>
              <a:t>The speed of ultrasonic waves is about 340m / s in normal air, and it is attenuated by the properties of waves (diffusion, absorption, scattering, etc.).</a:t>
            </a:r>
            <a:endParaRPr dirty="0"/>
          </a:p>
          <a:p>
            <a:pPr marL="0" lvl="0" indent="0" algn="l" rtl="0">
              <a:spcBef>
                <a:spcPts val="0"/>
              </a:spcBef>
              <a:spcAft>
                <a:spcPts val="0"/>
              </a:spcAft>
              <a:buNone/>
            </a:pPr>
            <a:r>
              <a:rPr lang="en-US" sz="800" dirty="0" err="1">
                <a:solidFill>
                  <a:srgbClr val="3F3F3F"/>
                </a:solidFill>
                <a:latin typeface="Arial"/>
                <a:ea typeface="Arial"/>
                <a:cs typeface="Arial"/>
                <a:sym typeface="Arial"/>
              </a:rPr>
              <a:t>Cảm</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biến</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siêu</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âms</a:t>
            </a:r>
            <a:r>
              <a:rPr lang="en-US" sz="800" dirty="0">
                <a:solidFill>
                  <a:srgbClr val="3F3F3F"/>
                </a:solidFill>
                <a:latin typeface="Arial"/>
                <a:ea typeface="Arial"/>
                <a:cs typeface="Arial"/>
                <a:sym typeface="Arial"/>
              </a:rPr>
              <a:t> are already used in a wide variety of fields, from home appliances to medical and industrial applications such as ultrasonic detectors.</a:t>
            </a:r>
            <a:endParaRPr dirty="0"/>
          </a:p>
          <a:p>
            <a:pPr marL="0" lvl="0" indent="0" algn="l" rtl="0">
              <a:spcBef>
                <a:spcPts val="0"/>
              </a:spcBef>
              <a:spcAft>
                <a:spcPts val="0"/>
              </a:spcAft>
              <a:buNone/>
            </a:pPr>
            <a:endParaRPr sz="800" dirty="0">
              <a:solidFill>
                <a:srgbClr val="3F3F3F"/>
              </a:solidFill>
              <a:latin typeface="Arial"/>
              <a:ea typeface="Arial"/>
              <a:cs typeface="Arial"/>
              <a:sym typeface="Arial"/>
            </a:endParaRPr>
          </a:p>
          <a:p>
            <a:pPr marL="0" lvl="0" indent="0" algn="l" rtl="0">
              <a:spcBef>
                <a:spcPts val="0"/>
              </a:spcBef>
              <a:spcAft>
                <a:spcPts val="0"/>
              </a:spcAft>
              <a:buNone/>
            </a:pPr>
            <a:r>
              <a:rPr lang="en-US" sz="800" dirty="0">
                <a:solidFill>
                  <a:srgbClr val="3F3F3F"/>
                </a:solidFill>
                <a:latin typeface="Arial"/>
                <a:ea typeface="Arial"/>
                <a:cs typeface="Arial"/>
                <a:sym typeface="Arial"/>
              </a:rPr>
              <a:t>The </a:t>
            </a:r>
            <a:r>
              <a:rPr lang="en-US" sz="800" dirty="0" err="1">
                <a:solidFill>
                  <a:srgbClr val="3F3F3F"/>
                </a:solidFill>
                <a:latin typeface="Arial"/>
                <a:ea typeface="Arial"/>
                <a:cs typeface="Arial"/>
                <a:sym typeface="Arial"/>
              </a:rPr>
              <a:t>Cảm</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biến</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siêu</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âm</a:t>
            </a:r>
            <a:r>
              <a:rPr lang="en-US" sz="800" dirty="0">
                <a:solidFill>
                  <a:srgbClr val="3F3F3F"/>
                </a:solidFill>
                <a:latin typeface="Arial"/>
                <a:ea typeface="Arial"/>
                <a:cs typeface="Arial"/>
                <a:sym typeface="Arial"/>
              </a:rPr>
              <a:t> used in this example generates a frequency of about 40KHz and can measure distances up to 4-5m. The </a:t>
            </a:r>
            <a:r>
              <a:rPr lang="en-US" sz="800" dirty="0" err="1">
                <a:solidFill>
                  <a:srgbClr val="3F3F3F"/>
                </a:solidFill>
                <a:latin typeface="Arial"/>
                <a:ea typeface="Arial"/>
                <a:cs typeface="Arial"/>
                <a:sym typeface="Arial"/>
              </a:rPr>
              <a:t>Cảm</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biến</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siêu</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âm</a:t>
            </a:r>
            <a:r>
              <a:rPr lang="en-US" sz="800" dirty="0">
                <a:solidFill>
                  <a:srgbClr val="3F3F3F"/>
                </a:solidFill>
                <a:latin typeface="Arial"/>
                <a:ea typeface="Arial"/>
                <a:cs typeface="Arial"/>
                <a:sym typeface="Arial"/>
              </a:rPr>
              <a:t> for distance measurement is divided into a transmitter and a receiver.</a:t>
            </a:r>
            <a:endParaRPr dirty="0"/>
          </a:p>
          <a:p>
            <a:pPr marL="0" lvl="0" indent="0" algn="l" rtl="0">
              <a:spcBef>
                <a:spcPts val="0"/>
              </a:spcBef>
              <a:spcAft>
                <a:spcPts val="0"/>
              </a:spcAft>
              <a:buNone/>
            </a:pPr>
            <a:r>
              <a:rPr lang="en-US" sz="800" dirty="0">
                <a:solidFill>
                  <a:srgbClr val="3F3F3F"/>
                </a:solidFill>
                <a:latin typeface="Arial"/>
                <a:ea typeface="Arial"/>
                <a:cs typeface="Arial"/>
                <a:sym typeface="Arial"/>
              </a:rPr>
              <a:t> The transmitter emits short ultrasonic pulses at regular intervals, and receives an echo signal that hits the object and returns from the receiver, and calculates a distance based on the time difference. This allows you to measure the presence of obstacles and the distance or speed of objects.</a:t>
            </a:r>
            <a:endParaRPr dirty="0"/>
          </a:p>
          <a:p>
            <a:pPr marL="0" lvl="0" indent="0" algn="l" rtl="0">
              <a:spcBef>
                <a:spcPts val="0"/>
              </a:spcBef>
              <a:spcAft>
                <a:spcPts val="0"/>
              </a:spcAft>
              <a:buNone/>
            </a:pPr>
            <a:r>
              <a:rPr lang="en-US" sz="800" dirty="0">
                <a:solidFill>
                  <a:srgbClr val="3F3F3F"/>
                </a:solidFill>
                <a:latin typeface="Arial"/>
                <a:ea typeface="Arial"/>
                <a:cs typeface="Arial"/>
                <a:sym typeface="Arial"/>
              </a:rPr>
              <a:t>The principle of generating ultrasonic waves is the same as Piezoelectricity, which is the principle by which the piezo buzzer sounds.</a:t>
            </a:r>
            <a:endParaRPr dirty="0"/>
          </a:p>
          <a:p>
            <a:pPr marL="0" lvl="0" indent="0" algn="l" rtl="0">
              <a:lnSpc>
                <a:spcPct val="120000"/>
              </a:lnSpc>
              <a:spcBef>
                <a:spcPts val="0"/>
              </a:spcBef>
              <a:spcAft>
                <a:spcPts val="0"/>
              </a:spcAft>
              <a:buNone/>
            </a:pPr>
            <a:endParaRPr sz="800" dirty="0">
              <a:solidFill>
                <a:srgbClr val="3F3F3F"/>
              </a:solidFill>
              <a:latin typeface="Arial"/>
              <a:ea typeface="Arial"/>
              <a:cs typeface="Arial"/>
              <a:sym typeface="Arial"/>
            </a:endParaRPr>
          </a:p>
        </p:txBody>
      </p:sp>
      <p:sp>
        <p:nvSpPr>
          <p:cNvPr id="1263" name="Google Shape;1263;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314953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7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7" name="Google Shape;1277;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800" dirty="0">
                <a:solidFill>
                  <a:srgbClr val="3F3F3F"/>
                </a:solidFill>
                <a:latin typeface="Arial"/>
                <a:ea typeface="Arial"/>
                <a:cs typeface="Arial"/>
                <a:sym typeface="Arial"/>
              </a:rPr>
              <a:t>How to use the </a:t>
            </a:r>
            <a:r>
              <a:rPr lang="en-US" sz="800" dirty="0" err="1">
                <a:solidFill>
                  <a:srgbClr val="3F3F3F"/>
                </a:solidFill>
                <a:latin typeface="Arial"/>
                <a:ea typeface="Arial"/>
                <a:cs typeface="Arial"/>
                <a:sym typeface="Arial"/>
              </a:rPr>
              <a:t>Cảm</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biến</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siêu</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âm</a:t>
            </a:r>
            <a:endParaRPr sz="800" dirty="0">
              <a:solidFill>
                <a:srgbClr val="3F3F3F"/>
              </a:solidFill>
              <a:latin typeface="Arial"/>
              <a:ea typeface="Arial"/>
              <a:cs typeface="Arial"/>
              <a:sym typeface="Arial"/>
            </a:endParaRPr>
          </a:p>
          <a:p>
            <a:pPr marL="0" lvl="0" indent="0" algn="l" rtl="0">
              <a:spcBef>
                <a:spcPts val="0"/>
              </a:spcBef>
              <a:spcAft>
                <a:spcPts val="0"/>
              </a:spcAft>
              <a:buNone/>
            </a:pPr>
            <a:endParaRPr sz="800" dirty="0">
              <a:solidFill>
                <a:srgbClr val="3F3F3F"/>
              </a:solidFill>
              <a:latin typeface="Arial"/>
              <a:ea typeface="Arial"/>
              <a:cs typeface="Arial"/>
              <a:sym typeface="Arial"/>
            </a:endParaRPr>
          </a:p>
          <a:p>
            <a:pPr marL="0" lvl="0" indent="0" algn="l" rtl="0">
              <a:spcBef>
                <a:spcPts val="0"/>
              </a:spcBef>
              <a:spcAft>
                <a:spcPts val="0"/>
              </a:spcAft>
              <a:buNone/>
            </a:pPr>
            <a:r>
              <a:rPr lang="en-US" sz="800" dirty="0">
                <a:solidFill>
                  <a:srgbClr val="3F3F3F"/>
                </a:solidFill>
                <a:latin typeface="Arial"/>
                <a:ea typeface="Arial"/>
                <a:cs typeface="Arial"/>
                <a:sym typeface="Arial"/>
              </a:rPr>
              <a:t>The trig of the </a:t>
            </a:r>
            <a:r>
              <a:rPr lang="en-US" sz="800" dirty="0" err="1">
                <a:solidFill>
                  <a:srgbClr val="3F3F3F"/>
                </a:solidFill>
                <a:latin typeface="Arial"/>
                <a:ea typeface="Arial"/>
                <a:cs typeface="Arial"/>
                <a:sym typeface="Arial"/>
              </a:rPr>
              <a:t>Cảm</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biến</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siêu</a:t>
            </a:r>
            <a:r>
              <a:rPr lang="en-US" sz="800" dirty="0">
                <a:solidFill>
                  <a:srgbClr val="3F3F3F"/>
                </a:solidFill>
                <a:latin typeface="Arial"/>
                <a:ea typeface="Arial"/>
                <a:cs typeface="Arial"/>
                <a:sym typeface="Arial"/>
              </a:rPr>
              <a:t> </a:t>
            </a:r>
            <a:r>
              <a:rPr lang="en-US" sz="800" dirty="0" err="1">
                <a:solidFill>
                  <a:srgbClr val="3F3F3F"/>
                </a:solidFill>
                <a:latin typeface="Arial"/>
                <a:ea typeface="Arial"/>
                <a:cs typeface="Arial"/>
                <a:sym typeface="Arial"/>
              </a:rPr>
              <a:t>âm</a:t>
            </a:r>
            <a:r>
              <a:rPr lang="en-US" sz="800" dirty="0">
                <a:solidFill>
                  <a:srgbClr val="3F3F3F"/>
                </a:solidFill>
                <a:latin typeface="Arial"/>
                <a:ea typeface="Arial"/>
                <a:cs typeface="Arial"/>
                <a:sym typeface="Arial"/>
              </a:rPr>
              <a:t> emits short, ultrasonic pulses at regular intervals, and receives the signal from Echo that hits the object and calculates the distance based on the time difference.</a:t>
            </a:r>
            <a:endParaRPr dirty="0"/>
          </a:p>
          <a:p>
            <a:pPr marL="0" lvl="0" indent="0" algn="l" rtl="0">
              <a:spcBef>
                <a:spcPts val="0"/>
              </a:spcBef>
              <a:spcAft>
                <a:spcPts val="0"/>
              </a:spcAft>
              <a:buNone/>
            </a:pPr>
            <a:endParaRPr sz="800" dirty="0">
              <a:solidFill>
                <a:srgbClr val="3F3F3F"/>
              </a:solidFill>
              <a:latin typeface="Arial"/>
              <a:ea typeface="Arial"/>
              <a:cs typeface="Arial"/>
              <a:sym typeface="Arial"/>
            </a:endParaRPr>
          </a:p>
          <a:p>
            <a:pPr marL="0" lvl="0" indent="0" algn="l" rtl="0">
              <a:spcBef>
                <a:spcPts val="0"/>
              </a:spcBef>
              <a:spcAft>
                <a:spcPts val="0"/>
              </a:spcAft>
              <a:buNone/>
            </a:pPr>
            <a:r>
              <a:rPr lang="en-US" sz="800" dirty="0">
                <a:solidFill>
                  <a:srgbClr val="3F3F3F"/>
                </a:solidFill>
                <a:latin typeface="Arial"/>
                <a:ea typeface="Arial"/>
                <a:cs typeface="Arial"/>
                <a:sym typeface="Arial"/>
              </a:rPr>
              <a:t>The time taken to move 1 cm can be obtained as follows.</a:t>
            </a:r>
            <a:endParaRPr dirty="0"/>
          </a:p>
          <a:p>
            <a:pPr marL="0" lvl="0" indent="0" algn="l" rtl="0">
              <a:spcBef>
                <a:spcPts val="0"/>
              </a:spcBef>
              <a:spcAft>
                <a:spcPts val="0"/>
              </a:spcAft>
              <a:buNone/>
            </a:pPr>
            <a:r>
              <a:rPr lang="en-US" sz="800" dirty="0">
                <a:solidFill>
                  <a:srgbClr val="3F3F3F"/>
                </a:solidFill>
                <a:latin typeface="Arial"/>
                <a:ea typeface="Arial"/>
                <a:cs typeface="Arial"/>
                <a:sym typeface="Arial"/>
              </a:rPr>
              <a:t>t = 2 x L (distance from object m) / Vs (sonic speed m/s)</a:t>
            </a:r>
            <a:endParaRPr dirty="0"/>
          </a:p>
          <a:p>
            <a:pPr marL="0" lvl="0" indent="0" algn="l" rtl="0">
              <a:spcBef>
                <a:spcPts val="0"/>
              </a:spcBef>
              <a:spcAft>
                <a:spcPts val="0"/>
              </a:spcAft>
              <a:buNone/>
            </a:pPr>
            <a:r>
              <a:rPr lang="en-US" sz="800" dirty="0">
                <a:solidFill>
                  <a:srgbClr val="3F3F3F"/>
                </a:solidFill>
                <a:latin typeface="Arial"/>
                <a:ea typeface="Arial"/>
                <a:cs typeface="Arial"/>
                <a:sym typeface="Arial"/>
              </a:rPr>
              <a:t>t: time it takes for the signal to return (s)</a:t>
            </a:r>
            <a:endParaRPr dirty="0"/>
          </a:p>
          <a:p>
            <a:pPr marL="0" lvl="0" indent="0" algn="l" rtl="0">
              <a:spcBef>
                <a:spcPts val="0"/>
              </a:spcBef>
              <a:spcAft>
                <a:spcPts val="0"/>
              </a:spcAft>
              <a:buNone/>
            </a:pPr>
            <a:endParaRPr sz="800" dirty="0">
              <a:solidFill>
                <a:srgbClr val="3F3F3F"/>
              </a:solidFill>
              <a:latin typeface="Arial"/>
              <a:ea typeface="Arial"/>
              <a:cs typeface="Arial"/>
              <a:sym typeface="Arial"/>
            </a:endParaRPr>
          </a:p>
          <a:p>
            <a:pPr marL="0" lvl="0" indent="0" algn="l" rtl="0">
              <a:spcBef>
                <a:spcPts val="0"/>
              </a:spcBef>
              <a:spcAft>
                <a:spcPts val="0"/>
              </a:spcAft>
              <a:buNone/>
            </a:pPr>
            <a:r>
              <a:rPr lang="en-US" sz="800" dirty="0">
                <a:solidFill>
                  <a:srgbClr val="3F3F3F"/>
                </a:solidFill>
                <a:latin typeface="Arial"/>
                <a:ea typeface="Arial"/>
                <a:cs typeface="Arial"/>
                <a:sym typeface="Arial"/>
              </a:rPr>
              <a:t>Therefore, with t = 2 * 0.01 / 340 = 58.824 µs, it takes about 29 µs for the ultrasonic wave to move 1 cm, and the distance from the object reflected by the ultrasonic wave can be obtained as follows.</a:t>
            </a:r>
            <a:endParaRPr dirty="0"/>
          </a:p>
          <a:p>
            <a:pPr marL="0" lvl="0" indent="0" algn="l" rtl="0">
              <a:spcBef>
                <a:spcPts val="0"/>
              </a:spcBef>
              <a:spcAft>
                <a:spcPts val="0"/>
              </a:spcAft>
              <a:buNone/>
            </a:pPr>
            <a:r>
              <a:rPr lang="en-US" sz="800" dirty="0">
                <a:solidFill>
                  <a:srgbClr val="3F3F3F"/>
                </a:solidFill>
                <a:latin typeface="Arial"/>
                <a:ea typeface="Arial"/>
                <a:cs typeface="Arial"/>
                <a:sym typeface="Arial"/>
              </a:rPr>
              <a:t>Distance (cm) = duration(round trip) / 29 / 2(round trip)</a:t>
            </a:r>
            <a:endParaRPr sz="800" dirty="0">
              <a:solidFill>
                <a:srgbClr val="3F3F3F"/>
              </a:solidFill>
              <a:latin typeface="Arial"/>
              <a:ea typeface="Arial"/>
              <a:cs typeface="Arial"/>
              <a:sym typeface="Arial"/>
            </a:endParaRPr>
          </a:p>
          <a:p>
            <a:pPr marL="0" lvl="0" indent="0" algn="l" rtl="0">
              <a:spcBef>
                <a:spcPts val="0"/>
              </a:spcBef>
              <a:spcAft>
                <a:spcPts val="0"/>
              </a:spcAft>
              <a:buNone/>
            </a:pPr>
            <a:endParaRPr sz="800" dirty="0">
              <a:solidFill>
                <a:srgbClr val="3F3F3F"/>
              </a:solidFill>
              <a:latin typeface="Arial"/>
              <a:ea typeface="Arial"/>
              <a:cs typeface="Arial"/>
              <a:sym typeface="Arial"/>
            </a:endParaRPr>
          </a:p>
        </p:txBody>
      </p:sp>
      <p:sp>
        <p:nvSpPr>
          <p:cNvPr id="1278" name="Google Shape;1278;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978636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p8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2" name="Google Shape;1302;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800">
              <a:solidFill>
                <a:srgbClr val="3F3F3F"/>
              </a:solidFill>
              <a:latin typeface="Arial"/>
              <a:ea typeface="Arial"/>
              <a:cs typeface="Arial"/>
              <a:sym typeface="Arial"/>
            </a:endParaRPr>
          </a:p>
        </p:txBody>
      </p:sp>
      <p:sp>
        <p:nvSpPr>
          <p:cNvPr id="1303" name="Google Shape;1303;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675875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a:extLst>
            <a:ext uri="{FF2B5EF4-FFF2-40B4-BE49-F238E27FC236}">
              <a16:creationId xmlns:a16="http://schemas.microsoft.com/office/drawing/2014/main" id="{F834D866-CC66-D6A7-E0AA-B82758EC3B9F}"/>
            </a:ext>
          </a:extLst>
        </p:cNvPr>
        <p:cNvGrpSpPr/>
        <p:nvPr/>
      </p:nvGrpSpPr>
      <p:grpSpPr>
        <a:xfrm>
          <a:off x="0" y="0"/>
          <a:ext cx="0" cy="0"/>
          <a:chOff x="0" y="0"/>
          <a:chExt cx="0" cy="0"/>
        </a:xfrm>
      </p:grpSpPr>
      <p:sp>
        <p:nvSpPr>
          <p:cNvPr id="1023" name="Google Shape;1023;p61:notes">
            <a:extLst>
              <a:ext uri="{FF2B5EF4-FFF2-40B4-BE49-F238E27FC236}">
                <a16:creationId xmlns:a16="http://schemas.microsoft.com/office/drawing/2014/main" id="{16A626FE-701D-C583-C3B3-6E50AB99F73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a:extLst>
              <a:ext uri="{FF2B5EF4-FFF2-40B4-BE49-F238E27FC236}">
                <a16:creationId xmlns:a16="http://schemas.microsoft.com/office/drawing/2014/main" id="{93523E8B-243C-68DE-3F59-83174E5346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a:extLst>
              <a:ext uri="{FF2B5EF4-FFF2-40B4-BE49-F238E27FC236}">
                <a16:creationId xmlns:a16="http://schemas.microsoft.com/office/drawing/2014/main" id="{80C492F2-FF7C-D597-BA8E-7DFC059D732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80979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p8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0" name="Google Shape;1330;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800"/>
              <a:buFont typeface="Arial"/>
              <a:buNone/>
            </a:pPr>
            <a:r>
              <a:rPr lang="en-US" sz="800">
                <a:solidFill>
                  <a:srgbClr val="3F3F3F"/>
                </a:solidFill>
                <a:latin typeface="Arial"/>
                <a:ea typeface="Arial"/>
                <a:cs typeface="Arial"/>
                <a:sym typeface="Arial"/>
              </a:rPr>
              <a:t>A seven segment is a display device that can represent numbers or letters with seven strokes, also called flexible numeric display (FND). In general, since it has a small and simple structure, it is mainly used for showing an internal value of an electronic circuit, a gauge, or an electronic clock.</a:t>
            </a:r>
            <a:endParaRPr/>
          </a:p>
          <a:p>
            <a:pPr marL="0" lvl="0" indent="0" algn="l" rtl="0">
              <a:spcBef>
                <a:spcPts val="0"/>
              </a:spcBef>
              <a:spcAft>
                <a:spcPts val="0"/>
              </a:spcAft>
              <a:buClr>
                <a:schemeClr val="dk1"/>
              </a:buClr>
              <a:buSzPts val="800"/>
              <a:buFont typeface="Arial"/>
              <a:buNone/>
            </a:pPr>
            <a:endParaRPr sz="800">
              <a:solidFill>
                <a:srgbClr val="3F3F3F"/>
              </a:solidFill>
              <a:latin typeface="Arial"/>
              <a:ea typeface="Arial"/>
              <a:cs typeface="Arial"/>
              <a:sym typeface="Arial"/>
            </a:endParaRPr>
          </a:p>
          <a:p>
            <a:pPr marL="0" lvl="0" indent="0" algn="l" rtl="0">
              <a:spcBef>
                <a:spcPts val="0"/>
              </a:spcBef>
              <a:spcAft>
                <a:spcPts val="0"/>
              </a:spcAft>
              <a:buClr>
                <a:srgbClr val="3F3F3F"/>
              </a:buClr>
              <a:buSzPts val="800"/>
              <a:buFont typeface="Arial"/>
              <a:buNone/>
            </a:pPr>
            <a:r>
              <a:rPr lang="en-US" sz="800">
                <a:solidFill>
                  <a:srgbClr val="3F3F3F"/>
                </a:solidFill>
                <a:latin typeface="Arial"/>
                <a:ea typeface="Arial"/>
                <a:cs typeface="Arial"/>
                <a:sym typeface="Arial"/>
              </a:rPr>
              <a:t>Each stroke consists of LEDs, and some of these LEDs can be turned on and off to display numbers or letters. When all the LEDs light up, it looks like the number 8; when only the right LED is on, it looks like the number 1.</a:t>
            </a:r>
            <a:endParaRPr/>
          </a:p>
          <a:p>
            <a:pPr marL="0" lvl="0" indent="0" algn="l" rtl="0">
              <a:spcBef>
                <a:spcPts val="0"/>
              </a:spcBef>
              <a:spcAft>
                <a:spcPts val="0"/>
              </a:spcAft>
              <a:buClr>
                <a:schemeClr val="dk1"/>
              </a:buClr>
              <a:buSzPts val="800"/>
              <a:buFont typeface="Arial"/>
              <a:buNone/>
            </a:pPr>
            <a:endParaRPr sz="800">
              <a:solidFill>
                <a:srgbClr val="3F3F3F"/>
              </a:solidFill>
              <a:latin typeface="Arial"/>
              <a:ea typeface="Arial"/>
              <a:cs typeface="Arial"/>
              <a:sym typeface="Arial"/>
            </a:endParaRPr>
          </a:p>
          <a:p>
            <a:pPr marL="0" lvl="0" indent="0" algn="l" rtl="0">
              <a:spcBef>
                <a:spcPts val="0"/>
              </a:spcBef>
              <a:spcAft>
                <a:spcPts val="0"/>
              </a:spcAft>
              <a:buNone/>
            </a:pPr>
            <a:r>
              <a:rPr lang="en-US" sz="800">
                <a:solidFill>
                  <a:srgbClr val="3F3F3F"/>
                </a:solidFill>
                <a:latin typeface="Arial"/>
                <a:ea typeface="Arial"/>
                <a:cs typeface="Arial"/>
                <a:sym typeface="Arial"/>
              </a:rPr>
              <a:t>It is divided into anode type and cathode type depending on how it operates. The anode type is turned on by the -V (Off) signal and the cathode type is turned on by the + V (On) signal.</a:t>
            </a:r>
            <a:endParaRPr sz="800">
              <a:solidFill>
                <a:srgbClr val="3F3F3F"/>
              </a:solidFill>
              <a:latin typeface="Arial"/>
              <a:ea typeface="Arial"/>
              <a:cs typeface="Arial"/>
              <a:sym typeface="Arial"/>
            </a:endParaRPr>
          </a:p>
          <a:p>
            <a:pPr marL="0" lvl="0" indent="0" algn="l" rtl="0">
              <a:spcBef>
                <a:spcPts val="0"/>
              </a:spcBef>
              <a:spcAft>
                <a:spcPts val="0"/>
              </a:spcAft>
              <a:buNone/>
            </a:pPr>
            <a:endParaRPr sz="800">
              <a:solidFill>
                <a:srgbClr val="3F3F3F"/>
              </a:solidFill>
              <a:latin typeface="Arial"/>
              <a:ea typeface="Arial"/>
              <a:cs typeface="Arial"/>
              <a:sym typeface="Arial"/>
            </a:endParaRPr>
          </a:p>
        </p:txBody>
      </p:sp>
      <p:sp>
        <p:nvSpPr>
          <p:cNvPr id="1331" name="Google Shape;1331;p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1605008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p8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1" name="Google Shape;1341;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800">
              <a:solidFill>
                <a:srgbClr val="3F3F3F"/>
              </a:solidFill>
              <a:latin typeface="Arial"/>
              <a:ea typeface="Arial"/>
              <a:cs typeface="Arial"/>
              <a:sym typeface="Arial"/>
            </a:endParaRPr>
          </a:p>
        </p:txBody>
      </p:sp>
      <p:sp>
        <p:nvSpPr>
          <p:cNvPr id="1342" name="Google Shape;1342;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54883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p8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1" name="Google Shape;1361;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800">
              <a:solidFill>
                <a:srgbClr val="3F3F3F"/>
              </a:solidFill>
              <a:latin typeface="Arial"/>
              <a:ea typeface="Arial"/>
              <a:cs typeface="Arial"/>
              <a:sym typeface="Arial"/>
            </a:endParaRPr>
          </a:p>
        </p:txBody>
      </p:sp>
      <p:sp>
        <p:nvSpPr>
          <p:cNvPr id="1362" name="Google Shape;1362;p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39667754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a:extLst>
            <a:ext uri="{FF2B5EF4-FFF2-40B4-BE49-F238E27FC236}">
              <a16:creationId xmlns:a16="http://schemas.microsoft.com/office/drawing/2014/main" id="{9F6A0A66-B7DA-CD8B-ED1C-94E3C220AC68}"/>
            </a:ext>
          </a:extLst>
        </p:cNvPr>
        <p:cNvGrpSpPr/>
        <p:nvPr/>
      </p:nvGrpSpPr>
      <p:grpSpPr>
        <a:xfrm>
          <a:off x="0" y="0"/>
          <a:ext cx="0" cy="0"/>
          <a:chOff x="0" y="0"/>
          <a:chExt cx="0" cy="0"/>
        </a:xfrm>
      </p:grpSpPr>
      <p:sp>
        <p:nvSpPr>
          <p:cNvPr id="1023" name="Google Shape;1023;p61:notes">
            <a:extLst>
              <a:ext uri="{FF2B5EF4-FFF2-40B4-BE49-F238E27FC236}">
                <a16:creationId xmlns:a16="http://schemas.microsoft.com/office/drawing/2014/main" id="{F30131A1-1C57-DFF9-C145-141D727E5C7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a:extLst>
              <a:ext uri="{FF2B5EF4-FFF2-40B4-BE49-F238E27FC236}">
                <a16:creationId xmlns:a16="http://schemas.microsoft.com/office/drawing/2014/main" id="{284DD53E-3D4A-673A-B025-0542C25797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a:extLst>
              <a:ext uri="{FF2B5EF4-FFF2-40B4-BE49-F238E27FC236}">
                <a16:creationId xmlns:a16="http://schemas.microsoft.com/office/drawing/2014/main" id="{7AD53C6B-7C09-84B8-82FF-70CEFD1378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966017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p8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9" name="Google Shape;1379;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1" indent="0" algn="l" rtl="0">
              <a:spcBef>
                <a:spcPts val="0"/>
              </a:spcBef>
              <a:spcAft>
                <a:spcPts val="0"/>
              </a:spcAft>
              <a:buClr>
                <a:srgbClr val="3F3F3F"/>
              </a:buClr>
              <a:buSzPts val="800"/>
              <a:buFont typeface="Arial"/>
              <a:buNone/>
            </a:pPr>
            <a:r>
              <a:rPr lang="en-US" sz="800">
                <a:solidFill>
                  <a:srgbClr val="3F3F3F"/>
                </a:solidFill>
                <a:latin typeface="Arial"/>
                <a:ea typeface="Arial"/>
                <a:cs typeface="Arial"/>
                <a:sym typeface="Arial"/>
              </a:rPr>
              <a:t>Temperature refers to the amount of kinetic energy possessed by an atom or molecule and is converted into physical quantities such as pressure and resistance.</a:t>
            </a:r>
            <a:endParaRPr/>
          </a:p>
          <a:p>
            <a:pPr marL="0" lvl="1" indent="0" algn="l" rtl="0">
              <a:spcBef>
                <a:spcPts val="0"/>
              </a:spcBef>
              <a:spcAft>
                <a:spcPts val="0"/>
              </a:spcAft>
              <a:buClr>
                <a:srgbClr val="3F3F3F"/>
              </a:buClr>
              <a:buSzPts val="800"/>
              <a:buFont typeface="Arial"/>
              <a:buNone/>
            </a:pPr>
            <a:r>
              <a:rPr lang="en-US" sz="800">
                <a:solidFill>
                  <a:srgbClr val="3F3F3F"/>
                </a:solidFill>
                <a:latin typeface="Arial"/>
                <a:ea typeface="Arial"/>
                <a:cs typeface="Arial"/>
                <a:sym typeface="Arial"/>
              </a:rPr>
              <a:t>The method of measuring temperature depends on the method of measuring physical quantity or the material used. </a:t>
            </a:r>
            <a:endParaRPr sz="800">
              <a:solidFill>
                <a:srgbClr val="3F3F3F"/>
              </a:solidFill>
              <a:latin typeface="Arial"/>
              <a:ea typeface="Arial"/>
              <a:cs typeface="Arial"/>
              <a:sym typeface="Arial"/>
            </a:endParaRPr>
          </a:p>
          <a:p>
            <a:pPr marL="0" lvl="0" indent="0" algn="l" rtl="0">
              <a:spcBef>
                <a:spcPts val="0"/>
              </a:spcBef>
              <a:spcAft>
                <a:spcPts val="0"/>
              </a:spcAft>
              <a:buNone/>
            </a:pPr>
            <a:endParaRPr sz="800">
              <a:solidFill>
                <a:srgbClr val="3F3F3F"/>
              </a:solidFill>
              <a:latin typeface="Arial"/>
              <a:ea typeface="Arial"/>
              <a:cs typeface="Arial"/>
              <a:sym typeface="Arial"/>
            </a:endParaRPr>
          </a:p>
        </p:txBody>
      </p:sp>
      <p:sp>
        <p:nvSpPr>
          <p:cNvPr id="1380" name="Google Shape;1380;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4597693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p8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7" name="Google Shape;1407;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1"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DHT11 sensor used in above example uses a temperature sensor that uses the characteristic that the resistance of a semiconductor called a thermistor (thermally sensitive resistor) changes with temperature.</a:t>
            </a:r>
            <a:endParaRPr/>
          </a:p>
          <a:p>
            <a:pPr marL="0" lvl="1"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Generally, metal oxide semiconductors are used, which have a relatively large temperature coefficient of resistance(TCR). The TCR of the thermistor is not constant and varies with temperature.</a:t>
            </a:r>
            <a:endParaRPr/>
          </a:p>
          <a:p>
            <a:pPr marL="0" lvl="1" indent="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a:p>
            <a:pPr marL="0" lvl="1"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type of resistance that increases with increasing temperature is called the positive temperature coefficient type (PTC), and the type that decreases with increasing temperature is called the negative temperature coefficient (NTC) type. DHT11 uses NTC type.</a:t>
            </a:r>
            <a:endParaRPr/>
          </a:p>
          <a:p>
            <a:pPr marL="0" lvl="1" indent="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a:p>
            <a:pPr marL="0" lvl="1"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Humidity refers to the amount of water vapor in the air. There are many types of humidity measurement methods, depending on the method of measurement and the material used. The DHT11 sensor uses a capacitance humidity sensor whose resistance varies with humidity.</a:t>
            </a:r>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408" name="Google Shape;1408;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42759003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Google Shape;1435;p8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6" name="Google Shape;1436;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437" name="Google Shape;1437;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6815316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p:cNvGrpSpPr/>
        <p:nvPr/>
      </p:nvGrpSpPr>
      <p:grpSpPr>
        <a:xfrm>
          <a:off x="0" y="0"/>
          <a:ext cx="0" cy="0"/>
          <a:chOff x="0" y="0"/>
          <a:chExt cx="0" cy="0"/>
        </a:xfrm>
      </p:grpSpPr>
      <p:sp>
        <p:nvSpPr>
          <p:cNvPr id="1466" name="Google Shape;1466;p8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7" name="Google Shape;1467;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468" name="Google Shape;1468;p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0793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p:cNvGrpSpPr/>
        <p:nvPr/>
      </p:nvGrpSpPr>
      <p:grpSpPr>
        <a:xfrm>
          <a:off x="0" y="0"/>
          <a:ext cx="0" cy="0"/>
          <a:chOff x="0" y="0"/>
          <a:chExt cx="0" cy="0"/>
        </a:xfrm>
      </p:grpSpPr>
      <p:sp>
        <p:nvSpPr>
          <p:cNvPr id="1522" name="Google Shape;1522;p9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3" name="Google Shape;1523;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524" name="Google Shape;1524;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3832320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p9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9" name="Google Shape;1579;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580" name="Google Shape;1580;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15488101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4"/>
        <p:cNvGrpSpPr/>
        <p:nvPr/>
      </p:nvGrpSpPr>
      <p:grpSpPr>
        <a:xfrm>
          <a:off x="0" y="0"/>
          <a:ext cx="0" cy="0"/>
          <a:chOff x="0" y="0"/>
          <a:chExt cx="0" cy="0"/>
        </a:xfrm>
      </p:grpSpPr>
      <p:sp>
        <p:nvSpPr>
          <p:cNvPr id="1625" name="Google Shape;1625;p9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6" name="Google Shape;1626;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627" name="Google Shape;1627;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7583391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p9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4" name="Google Shape;1674;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675" name="Google Shape;1675;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474369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9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3" name="Google Shape;1733;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734" name="Google Shape;1734;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33787224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p9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7" name="Google Shape;1797;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798" name="Google Shape;1798;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1642657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p9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8" name="Google Shape;1808;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809" name="Google Shape;1809;p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23364205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7"/>
        <p:cNvGrpSpPr/>
        <p:nvPr/>
      </p:nvGrpSpPr>
      <p:grpSpPr>
        <a:xfrm>
          <a:off x="0" y="0"/>
          <a:ext cx="0" cy="0"/>
          <a:chOff x="0" y="0"/>
          <a:chExt cx="0" cy="0"/>
        </a:xfrm>
      </p:grpSpPr>
      <p:sp>
        <p:nvSpPr>
          <p:cNvPr id="1818" name="Google Shape;1818;p9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9" name="Google Shape;1819;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820" name="Google Shape;1820;p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899320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a:extLst>
            <a:ext uri="{FF2B5EF4-FFF2-40B4-BE49-F238E27FC236}">
              <a16:creationId xmlns:a16="http://schemas.microsoft.com/office/drawing/2014/main" id="{B624DD9E-2C01-BD05-74EA-BCEEE9A5313C}"/>
            </a:ext>
          </a:extLst>
        </p:cNvPr>
        <p:cNvGrpSpPr/>
        <p:nvPr/>
      </p:nvGrpSpPr>
      <p:grpSpPr>
        <a:xfrm>
          <a:off x="0" y="0"/>
          <a:ext cx="0" cy="0"/>
          <a:chOff x="0" y="0"/>
          <a:chExt cx="0" cy="0"/>
        </a:xfrm>
      </p:grpSpPr>
      <p:sp>
        <p:nvSpPr>
          <p:cNvPr id="1023" name="Google Shape;1023;p61:notes">
            <a:extLst>
              <a:ext uri="{FF2B5EF4-FFF2-40B4-BE49-F238E27FC236}">
                <a16:creationId xmlns:a16="http://schemas.microsoft.com/office/drawing/2014/main" id="{62F15826-1CE3-8B2D-F686-55AC7521A39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a:extLst>
              <a:ext uri="{FF2B5EF4-FFF2-40B4-BE49-F238E27FC236}">
                <a16:creationId xmlns:a16="http://schemas.microsoft.com/office/drawing/2014/main" id="{5CAFE2BB-46BC-A902-B890-106BC3D41F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a:extLst>
              <a:ext uri="{FF2B5EF4-FFF2-40B4-BE49-F238E27FC236}">
                <a16:creationId xmlns:a16="http://schemas.microsoft.com/office/drawing/2014/main" id="{1E43BA6A-AB21-E85D-9C9B-DD095BFF2E3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13599780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1"/>
        <p:cNvGrpSpPr/>
        <p:nvPr/>
      </p:nvGrpSpPr>
      <p:grpSpPr>
        <a:xfrm>
          <a:off x="0" y="0"/>
          <a:ext cx="0" cy="0"/>
          <a:chOff x="0" y="0"/>
          <a:chExt cx="0" cy="0"/>
        </a:xfrm>
      </p:grpSpPr>
      <p:sp>
        <p:nvSpPr>
          <p:cNvPr id="1842" name="Google Shape;1842;p9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3" name="Google Shape;1843;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844" name="Google Shape;1844;p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850301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a:extLst>
            <a:ext uri="{FF2B5EF4-FFF2-40B4-BE49-F238E27FC236}">
              <a16:creationId xmlns:a16="http://schemas.microsoft.com/office/drawing/2014/main" id="{81218B7D-6BA6-8AF0-CFEB-C016B416E695}"/>
            </a:ext>
          </a:extLst>
        </p:cNvPr>
        <p:cNvGrpSpPr/>
        <p:nvPr/>
      </p:nvGrpSpPr>
      <p:grpSpPr>
        <a:xfrm>
          <a:off x="0" y="0"/>
          <a:ext cx="0" cy="0"/>
          <a:chOff x="0" y="0"/>
          <a:chExt cx="0" cy="0"/>
        </a:xfrm>
      </p:grpSpPr>
      <p:sp>
        <p:nvSpPr>
          <p:cNvPr id="1023" name="Google Shape;1023;p61:notes">
            <a:extLst>
              <a:ext uri="{FF2B5EF4-FFF2-40B4-BE49-F238E27FC236}">
                <a16:creationId xmlns:a16="http://schemas.microsoft.com/office/drawing/2014/main" id="{B11A604D-1929-CEDC-C645-61AD3EA9F3E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a:extLst>
              <a:ext uri="{FF2B5EF4-FFF2-40B4-BE49-F238E27FC236}">
                <a16:creationId xmlns:a16="http://schemas.microsoft.com/office/drawing/2014/main" id="{25868BB1-6FCC-8996-5BD0-084D5D04DBA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a:extLst>
              <a:ext uri="{FF2B5EF4-FFF2-40B4-BE49-F238E27FC236}">
                <a16:creationId xmlns:a16="http://schemas.microsoft.com/office/drawing/2014/main" id="{08FE8F42-99C0-5B92-0C5C-29B864FCB92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32252182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6"/>
        <p:cNvGrpSpPr/>
        <p:nvPr/>
      </p:nvGrpSpPr>
      <p:grpSpPr>
        <a:xfrm>
          <a:off x="0" y="0"/>
          <a:ext cx="0" cy="0"/>
          <a:chOff x="0" y="0"/>
          <a:chExt cx="0" cy="0"/>
        </a:xfrm>
      </p:grpSpPr>
      <p:sp>
        <p:nvSpPr>
          <p:cNvPr id="1897" name="Google Shape;1897;p10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8" name="Google Shape;1898;p1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UART is a kind of computer hardware that transmits data in parallel and serial way.</a:t>
            </a:r>
            <a:endParaRPr/>
          </a:p>
          <a:p>
            <a:pPr marL="0" lvl="0" indent="0" algn="l" rtl="0">
              <a:spcBef>
                <a:spcPts val="0"/>
              </a:spcBef>
              <a:spcAft>
                <a:spcPts val="0"/>
              </a:spcAft>
              <a:buNone/>
            </a:pPr>
            <a:r>
              <a:rPr lang="en-US">
                <a:solidFill>
                  <a:srgbClr val="3F3F3F"/>
                </a:solidFill>
                <a:latin typeface="Arial"/>
                <a:ea typeface="Arial"/>
                <a:cs typeface="Arial"/>
                <a:sym typeface="Arial"/>
              </a:rPr>
              <a:t>It is one of the most renown serial communication methods used in microcontrollers. It is supported by many devices and simple to connect.</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899" name="Google Shape;1899;p10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10886899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1"/>
        <p:cNvGrpSpPr/>
        <p:nvPr/>
      </p:nvGrpSpPr>
      <p:grpSpPr>
        <a:xfrm>
          <a:off x="0" y="0"/>
          <a:ext cx="0" cy="0"/>
          <a:chOff x="0" y="0"/>
          <a:chExt cx="0" cy="0"/>
        </a:xfrm>
      </p:grpSpPr>
      <p:sp>
        <p:nvSpPr>
          <p:cNvPr id="1912" name="Google Shape;1912;p10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3" name="Google Shape;1913;p1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914" name="Google Shape;1914;p10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36903293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a:extLst>
            <a:ext uri="{FF2B5EF4-FFF2-40B4-BE49-F238E27FC236}">
              <a16:creationId xmlns:a16="http://schemas.microsoft.com/office/drawing/2014/main" id="{97988DED-5D03-7B6A-6D7D-658650CBA894}"/>
            </a:ext>
          </a:extLst>
        </p:cNvPr>
        <p:cNvGrpSpPr/>
        <p:nvPr/>
      </p:nvGrpSpPr>
      <p:grpSpPr>
        <a:xfrm>
          <a:off x="0" y="0"/>
          <a:ext cx="0" cy="0"/>
          <a:chOff x="0" y="0"/>
          <a:chExt cx="0" cy="0"/>
        </a:xfrm>
      </p:grpSpPr>
      <p:sp>
        <p:nvSpPr>
          <p:cNvPr id="1023" name="Google Shape;1023;p61:notes">
            <a:extLst>
              <a:ext uri="{FF2B5EF4-FFF2-40B4-BE49-F238E27FC236}">
                <a16:creationId xmlns:a16="http://schemas.microsoft.com/office/drawing/2014/main" id="{0104DF9F-5880-509B-A7D4-679FDE4F611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61:notes">
            <a:extLst>
              <a:ext uri="{FF2B5EF4-FFF2-40B4-BE49-F238E27FC236}">
                <a16:creationId xmlns:a16="http://schemas.microsoft.com/office/drawing/2014/main" id="{208B369D-FDEE-C881-71FC-E5ABCB5BE9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61:notes">
            <a:extLst>
              <a:ext uri="{FF2B5EF4-FFF2-40B4-BE49-F238E27FC236}">
                <a16:creationId xmlns:a16="http://schemas.microsoft.com/office/drawing/2014/main" id="{588EE8C0-9FCA-2674-EA9A-CAE58F88982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42770689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7"/>
        <p:cNvGrpSpPr/>
        <p:nvPr/>
      </p:nvGrpSpPr>
      <p:grpSpPr>
        <a:xfrm>
          <a:off x="0" y="0"/>
          <a:ext cx="0" cy="0"/>
          <a:chOff x="0" y="0"/>
          <a:chExt cx="0" cy="0"/>
        </a:xfrm>
      </p:grpSpPr>
      <p:sp>
        <p:nvSpPr>
          <p:cNvPr id="1938" name="Google Shape;1938;p10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9" name="Google Shape;1939;p1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940" name="Google Shape;1940;p10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30162622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3"/>
        <p:cNvGrpSpPr/>
        <p:nvPr/>
      </p:nvGrpSpPr>
      <p:grpSpPr>
        <a:xfrm>
          <a:off x="0" y="0"/>
          <a:ext cx="0" cy="0"/>
          <a:chOff x="0" y="0"/>
          <a:chExt cx="0" cy="0"/>
        </a:xfrm>
      </p:grpSpPr>
      <p:sp>
        <p:nvSpPr>
          <p:cNvPr id="1974" name="Google Shape;1974;p10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5" name="Google Shape;1975;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976" name="Google Shape;1976;p10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29474267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4"/>
        <p:cNvGrpSpPr/>
        <p:nvPr/>
      </p:nvGrpSpPr>
      <p:grpSpPr>
        <a:xfrm>
          <a:off x="0" y="0"/>
          <a:ext cx="0" cy="0"/>
          <a:chOff x="0" y="0"/>
          <a:chExt cx="0" cy="0"/>
        </a:xfrm>
      </p:grpSpPr>
      <p:sp>
        <p:nvSpPr>
          <p:cNvPr id="1985" name="Google Shape;1985;p10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6" name="Google Shape;1986;p1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1987" name="Google Shape;1987;p10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34190050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6"/>
        <p:cNvGrpSpPr/>
        <p:nvPr/>
      </p:nvGrpSpPr>
      <p:grpSpPr>
        <a:xfrm>
          <a:off x="0" y="0"/>
          <a:ext cx="0" cy="0"/>
          <a:chOff x="0" y="0"/>
          <a:chExt cx="0" cy="0"/>
        </a:xfrm>
      </p:grpSpPr>
      <p:sp>
        <p:nvSpPr>
          <p:cNvPr id="1997" name="Google Shape;1997;p10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8" name="Google Shape;1998;p10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9" name="Google Shape;1999;p10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41587615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4"/>
        <p:cNvGrpSpPr/>
        <p:nvPr/>
      </p:nvGrpSpPr>
      <p:grpSpPr>
        <a:xfrm>
          <a:off x="0" y="0"/>
          <a:ext cx="0" cy="0"/>
          <a:chOff x="0" y="0"/>
          <a:chExt cx="0" cy="0"/>
        </a:xfrm>
      </p:grpSpPr>
      <p:sp>
        <p:nvSpPr>
          <p:cNvPr id="2005" name="Google Shape;2005;p10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6" name="Google Shape;2006;p1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A sensor is an electronic component that converts physical quantities (temperature, distance) existing in the natural world into electric signals (e.g. 2.7V, 0.31V). Sensors can detect the magnitude of physical signals such as light, sound, chemicals, and temperature.</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Determining the state by adding processing capabilities (recognized by the CPU or the human brain) in a sensor is called perceive.</a:t>
            </a:r>
            <a:endParaRPr>
              <a:solidFill>
                <a:srgbClr val="3F3F3F"/>
              </a:solidFill>
              <a:latin typeface="Arial"/>
              <a:ea typeface="Arial"/>
              <a:cs typeface="Arial"/>
              <a:sym typeface="Arial"/>
            </a:endParaRPr>
          </a:p>
          <a:p>
            <a:pPr marL="171450" lvl="0" indent="-95250" algn="l" rtl="0">
              <a:spcBef>
                <a:spcPts val="0"/>
              </a:spcBef>
              <a:spcAft>
                <a:spcPts val="0"/>
              </a:spcAft>
              <a:buClr>
                <a:schemeClr val="dk1"/>
              </a:buClr>
              <a:buSzPts val="1200"/>
              <a:buFont typeface="Noto Sans Symbols"/>
              <a:buNone/>
            </a:pPr>
            <a:endParaRPr>
              <a:solidFill>
                <a:srgbClr val="3F3F3F"/>
              </a:solidFill>
              <a:latin typeface="Arial"/>
              <a:ea typeface="Arial"/>
              <a:cs typeface="Arial"/>
              <a:sym typeface="Arial"/>
            </a:endParaRPr>
          </a:p>
          <a:p>
            <a:pPr marL="171450" lvl="0" indent="-171450" algn="l" rtl="0">
              <a:spcBef>
                <a:spcPts val="0"/>
              </a:spcBef>
              <a:spcAft>
                <a:spcPts val="0"/>
              </a:spcAft>
              <a:buClr>
                <a:srgbClr val="3F3F3F"/>
              </a:buClr>
              <a:buSzPts val="1200"/>
              <a:buFont typeface="Noto Sans Symbols"/>
              <a:buChar char="▪"/>
            </a:pPr>
            <a:r>
              <a:rPr lang="en-US">
                <a:solidFill>
                  <a:srgbClr val="3F3F3F"/>
                </a:solidFill>
                <a:latin typeface="Arial"/>
                <a:ea typeface="Arial"/>
                <a:cs typeface="Arial"/>
                <a:sym typeface="Arial"/>
              </a:rPr>
              <a:t>Rules that good sensors follow</a:t>
            </a:r>
            <a:endParaRPr/>
          </a:p>
          <a:p>
            <a:pPr marL="0" lvl="0" indent="0" algn="l" rtl="0">
              <a:spcBef>
                <a:spcPts val="0"/>
              </a:spcBef>
              <a:spcAft>
                <a:spcPts val="0"/>
              </a:spcAft>
              <a:buNone/>
            </a:pPr>
            <a:r>
              <a:rPr lang="en-US">
                <a:solidFill>
                  <a:srgbClr val="3F3F3F"/>
                </a:solidFill>
                <a:latin typeface="Arial"/>
                <a:ea typeface="Arial"/>
                <a:cs typeface="Arial"/>
                <a:sym typeface="Arial"/>
              </a:rPr>
              <a:t>- it is sensitive to the measured property</a:t>
            </a:r>
            <a:endParaRPr/>
          </a:p>
          <a:p>
            <a:pPr marL="0" lvl="0" indent="0" algn="l" rtl="0">
              <a:spcBef>
                <a:spcPts val="0"/>
              </a:spcBef>
              <a:spcAft>
                <a:spcPts val="0"/>
              </a:spcAft>
              <a:buNone/>
            </a:pPr>
            <a:r>
              <a:rPr lang="en-US">
                <a:solidFill>
                  <a:srgbClr val="3F3F3F"/>
                </a:solidFill>
                <a:latin typeface="Arial"/>
                <a:ea typeface="Arial"/>
                <a:cs typeface="Arial"/>
                <a:sym typeface="Arial"/>
              </a:rPr>
              <a:t>- it is insensitive to any other property likely to be encountered in its application</a:t>
            </a:r>
            <a:endParaRPr/>
          </a:p>
          <a:p>
            <a:pPr marL="0" lvl="0" indent="0" algn="l" rtl="0">
              <a:spcBef>
                <a:spcPts val="0"/>
              </a:spcBef>
              <a:spcAft>
                <a:spcPts val="0"/>
              </a:spcAft>
              <a:buNone/>
            </a:pPr>
            <a:r>
              <a:rPr lang="en-US">
                <a:solidFill>
                  <a:srgbClr val="3F3F3F"/>
                </a:solidFill>
                <a:latin typeface="Arial"/>
                <a:ea typeface="Arial"/>
                <a:cs typeface="Arial"/>
                <a:sym typeface="Arial"/>
              </a:rPr>
              <a:t>- it does not influence the measured property</a:t>
            </a:r>
            <a:endParaRPr/>
          </a:p>
        </p:txBody>
      </p:sp>
      <p:sp>
        <p:nvSpPr>
          <p:cNvPr id="2007" name="Google Shape;2007;p10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19748652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3"/>
        <p:cNvGrpSpPr/>
        <p:nvPr/>
      </p:nvGrpSpPr>
      <p:grpSpPr>
        <a:xfrm>
          <a:off x="0" y="0"/>
          <a:ext cx="0" cy="0"/>
          <a:chOff x="0" y="0"/>
          <a:chExt cx="0" cy="0"/>
        </a:xfrm>
      </p:grpSpPr>
      <p:sp>
        <p:nvSpPr>
          <p:cNvPr id="2044" name="Google Shape;2044;p10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5" name="Google Shape;2045;p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b="1">
                <a:solidFill>
                  <a:srgbClr val="3F3F3F"/>
                </a:solidFill>
                <a:latin typeface="Arial"/>
                <a:ea typeface="Arial"/>
                <a:cs typeface="Arial"/>
                <a:sym typeface="Arial"/>
              </a:rPr>
              <a:t>Radiant energy </a:t>
            </a:r>
            <a:endParaRPr/>
          </a:p>
          <a:p>
            <a:pPr marL="0" lvl="0" indent="0" algn="l" rtl="0">
              <a:spcBef>
                <a:spcPts val="0"/>
              </a:spcBef>
              <a:spcAft>
                <a:spcPts val="0"/>
              </a:spcAft>
              <a:buNone/>
            </a:pPr>
            <a:r>
              <a:rPr lang="en-US">
                <a:solidFill>
                  <a:srgbClr val="3F3F3F"/>
                </a:solidFill>
                <a:latin typeface="Arial"/>
                <a:ea typeface="Arial"/>
                <a:cs typeface="Arial"/>
                <a:sym typeface="Arial"/>
              </a:rPr>
              <a:t>The energy carried by radiation such as infrared light is called radiant energy.</a:t>
            </a:r>
            <a:endParaRPr/>
          </a:p>
          <a:p>
            <a:pPr marL="0" lvl="0" indent="0" algn="l" rtl="0">
              <a:spcBef>
                <a:spcPts val="0"/>
              </a:spcBef>
              <a:spcAft>
                <a:spcPts val="0"/>
              </a:spcAft>
              <a:buNone/>
            </a:pPr>
            <a:r>
              <a:rPr lang="en-US">
                <a:solidFill>
                  <a:srgbClr val="3F3F3F"/>
                </a:solidFill>
                <a:latin typeface="Arial"/>
                <a:ea typeface="Arial"/>
                <a:cs typeface="Arial"/>
                <a:sym typeface="Arial"/>
              </a:rPr>
              <a:t>Although not easily felt, any object that has a temperature emits radiant energy.</a:t>
            </a:r>
            <a:endParaRPr/>
          </a:p>
          <a:p>
            <a:pPr marL="0" lvl="0" indent="0" algn="l" rtl="0">
              <a:spcBef>
                <a:spcPts val="0"/>
              </a:spcBef>
              <a:spcAft>
                <a:spcPts val="0"/>
              </a:spcAft>
              <a:buNone/>
            </a:pPr>
            <a:r>
              <a:rPr lang="en-US">
                <a:solidFill>
                  <a:srgbClr val="3F3F3F"/>
                </a:solidFill>
                <a:latin typeface="Arial"/>
                <a:ea typeface="Arial"/>
                <a:cs typeface="Arial"/>
                <a:sym typeface="Arial"/>
              </a:rPr>
              <a:t>It's just an invisible infrared region, so it doesn't recognize it.</a:t>
            </a:r>
            <a:endParaRPr>
              <a:solidFill>
                <a:srgbClr val="3F3F3F"/>
              </a:solidFill>
              <a:latin typeface="Arial"/>
              <a:ea typeface="Arial"/>
              <a:cs typeface="Arial"/>
              <a:sym typeface="Arial"/>
            </a:endParaRPr>
          </a:p>
        </p:txBody>
      </p:sp>
      <p:sp>
        <p:nvSpPr>
          <p:cNvPr id="2046" name="Google Shape;2046;p1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40340318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2"/>
        <p:cNvGrpSpPr/>
        <p:nvPr/>
      </p:nvGrpSpPr>
      <p:grpSpPr>
        <a:xfrm>
          <a:off x="0" y="0"/>
          <a:ext cx="0" cy="0"/>
          <a:chOff x="0" y="0"/>
          <a:chExt cx="0" cy="0"/>
        </a:xfrm>
      </p:grpSpPr>
      <p:sp>
        <p:nvSpPr>
          <p:cNvPr id="2053" name="Google Shape;2053;p11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4" name="Google Shape;2054;p1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A photodiode is a semiconductor device that converts light into an electrical current. The current is generated when photons are absorbed in the photodiode. Photodiodes may contain optical filters, built-in lenses, and may have large or small surface areas. Photodiodes usually have a slower response time as their surface area increases. The common, traditional solar cell used to generate electric solar power is a large area photodiode.</a:t>
            </a:r>
            <a:endParaRPr>
              <a:solidFill>
                <a:srgbClr val="3F3F3F"/>
              </a:solidFill>
              <a:latin typeface="Arial"/>
              <a:ea typeface="Arial"/>
              <a:cs typeface="Arial"/>
              <a:sym typeface="Arial"/>
            </a:endParaRPr>
          </a:p>
        </p:txBody>
      </p:sp>
      <p:sp>
        <p:nvSpPr>
          <p:cNvPr id="2055" name="Google Shape;2055;p1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4999439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8"/>
        <p:cNvGrpSpPr/>
        <p:nvPr/>
      </p:nvGrpSpPr>
      <p:grpSpPr>
        <a:xfrm>
          <a:off x="0" y="0"/>
          <a:ext cx="0" cy="0"/>
          <a:chOff x="0" y="0"/>
          <a:chExt cx="0" cy="0"/>
        </a:xfrm>
      </p:grpSpPr>
      <p:sp>
        <p:nvSpPr>
          <p:cNvPr id="2079" name="Google Shape;2079;p11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0" name="Google Shape;2080;p1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Transducers that convert physical quantities into mechanical quantities are known as mechanical transducers; Transducers that convert physical quantities into electrical quantities are known as electrical transducers. Examples are a thermocouple that changes temperature differences into a small voltage, or a Linear variable differential transformer (LVDT) used to measure displacement.</a:t>
            </a:r>
            <a:endParaRPr>
              <a:solidFill>
                <a:srgbClr val="3F3F3F"/>
              </a:solidFill>
              <a:latin typeface="Arial"/>
              <a:ea typeface="Arial"/>
              <a:cs typeface="Arial"/>
              <a:sym typeface="Arial"/>
            </a:endParaRPr>
          </a:p>
        </p:txBody>
      </p:sp>
      <p:sp>
        <p:nvSpPr>
          <p:cNvPr id="2081" name="Google Shape;2081;p1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27633580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6">
          <a:extLst>
            <a:ext uri="{FF2B5EF4-FFF2-40B4-BE49-F238E27FC236}">
              <a16:creationId xmlns:a16="http://schemas.microsoft.com/office/drawing/2014/main" id="{A037C896-C56E-45D3-BB8A-0AF3109F56B1}"/>
            </a:ext>
          </a:extLst>
        </p:cNvPr>
        <p:cNvGrpSpPr/>
        <p:nvPr/>
      </p:nvGrpSpPr>
      <p:grpSpPr>
        <a:xfrm>
          <a:off x="0" y="0"/>
          <a:ext cx="0" cy="0"/>
          <a:chOff x="0" y="0"/>
          <a:chExt cx="0" cy="0"/>
        </a:xfrm>
      </p:grpSpPr>
      <p:sp>
        <p:nvSpPr>
          <p:cNvPr id="1997" name="Google Shape;1997;p107:notes">
            <a:extLst>
              <a:ext uri="{FF2B5EF4-FFF2-40B4-BE49-F238E27FC236}">
                <a16:creationId xmlns:a16="http://schemas.microsoft.com/office/drawing/2014/main" id="{9E18E655-F4D7-7BAB-1F3F-40C95BB4AC0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8" name="Google Shape;1998;p107:notes">
            <a:extLst>
              <a:ext uri="{FF2B5EF4-FFF2-40B4-BE49-F238E27FC236}">
                <a16:creationId xmlns:a16="http://schemas.microsoft.com/office/drawing/2014/main" id="{0BEBA065-E579-B9AF-CF23-237A6DBDC9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9" name="Google Shape;1999;p107:notes">
            <a:extLst>
              <a:ext uri="{FF2B5EF4-FFF2-40B4-BE49-F238E27FC236}">
                <a16:creationId xmlns:a16="http://schemas.microsoft.com/office/drawing/2014/main" id="{96CB251D-6CFA-6870-4BBB-A718770DC9E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32950804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4"/>
        <p:cNvGrpSpPr/>
        <p:nvPr/>
      </p:nvGrpSpPr>
      <p:grpSpPr>
        <a:xfrm>
          <a:off x="0" y="0"/>
          <a:ext cx="0" cy="0"/>
          <a:chOff x="0" y="0"/>
          <a:chExt cx="0" cy="0"/>
        </a:xfrm>
      </p:grpSpPr>
      <p:sp>
        <p:nvSpPr>
          <p:cNvPr id="2115" name="Google Shape;2115;p11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6" name="Google Shape;2116;p1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Noto Sans Symbols"/>
              <a:buNone/>
            </a:pPr>
            <a:r>
              <a:rPr lang="en-US"/>
              <a:t>Basic processing of sensor</a:t>
            </a:r>
            <a:endParaRPr/>
          </a:p>
          <a:p>
            <a:pPr marL="0" lvl="0" indent="0" algn="l" rtl="0">
              <a:spcBef>
                <a:spcPts val="0"/>
              </a:spcBef>
              <a:spcAft>
                <a:spcPts val="0"/>
              </a:spcAft>
              <a:buClr>
                <a:schemeClr val="lt1"/>
              </a:buClr>
              <a:buSzPts val="1200"/>
              <a:buFont typeface="Noto Sans Symbols"/>
              <a:buNone/>
            </a:pPr>
            <a:r>
              <a:rPr lang="en-US" sz="1200">
                <a:solidFill>
                  <a:schemeClr val="lt1"/>
                </a:solidFill>
              </a:rPr>
              <a:t>Signals From the Environment 🡪 Sensing 🡪 Converting 🡪 Electronic Circuits and Devices 🡪 Output</a:t>
            </a:r>
            <a:endParaRPr sz="1200">
              <a:solidFill>
                <a:schemeClr val="lt1"/>
              </a:solidFill>
            </a:endParaRPr>
          </a:p>
        </p:txBody>
      </p:sp>
      <p:sp>
        <p:nvSpPr>
          <p:cNvPr id="2117" name="Google Shape;2117;p1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29384751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7"/>
        <p:cNvGrpSpPr/>
        <p:nvPr/>
      </p:nvGrpSpPr>
      <p:grpSpPr>
        <a:xfrm>
          <a:off x="0" y="0"/>
          <a:ext cx="0" cy="0"/>
          <a:chOff x="0" y="0"/>
          <a:chExt cx="0" cy="0"/>
        </a:xfrm>
      </p:grpSpPr>
      <p:sp>
        <p:nvSpPr>
          <p:cNvPr id="2158" name="Google Shape;2158;p11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9" name="Google Shape;2159;p1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Smart sensor may refer to</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Smart transducer, an analog or digital transducer or actuator combined with a processing BÀI and a communication interface</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Less powerful versions of smart cameras</a:t>
            </a:r>
            <a:endParaRPr/>
          </a:p>
        </p:txBody>
      </p:sp>
      <p:sp>
        <p:nvSpPr>
          <p:cNvPr id="2160" name="Google Shape;2160;p1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36747438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7"/>
        <p:cNvGrpSpPr/>
        <p:nvPr/>
      </p:nvGrpSpPr>
      <p:grpSpPr>
        <a:xfrm>
          <a:off x="0" y="0"/>
          <a:ext cx="0" cy="0"/>
          <a:chOff x="0" y="0"/>
          <a:chExt cx="0" cy="0"/>
        </a:xfrm>
      </p:grpSpPr>
      <p:sp>
        <p:nvSpPr>
          <p:cNvPr id="2168" name="Google Shape;2168;p11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9" name="Google Shape;2169;p1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Transmitters are necessary component parts of all electronic devices that communicate by radio, such as radio and television broadcasting stations, cell phones, walkie-talkies, wireless computer networks, Bluetooth enabled devices, garage door openers, two-way radios in aircraft, ships, spacecraft, radar sets and navigational beacons. The term transmitter is usually limited to equipment that generates radio waves for communication purposes; or radiolocation, such as radar and navigational transmitters. Generators of radio waves for heating or industrial purposes, such as microwave ovens or diathermy equipment, are not usually called transmitters, even though they often have similar circuits.</a:t>
            </a:r>
            <a:endParaRPr>
              <a:solidFill>
                <a:srgbClr val="3F3F3F"/>
              </a:solidFill>
              <a:latin typeface="Arial"/>
              <a:ea typeface="Arial"/>
              <a:cs typeface="Arial"/>
              <a:sym typeface="Arial"/>
            </a:endParaRPr>
          </a:p>
        </p:txBody>
      </p:sp>
      <p:sp>
        <p:nvSpPr>
          <p:cNvPr id="2170" name="Google Shape;2170;p1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15267367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4"/>
        <p:cNvGrpSpPr/>
        <p:nvPr/>
      </p:nvGrpSpPr>
      <p:grpSpPr>
        <a:xfrm>
          <a:off x="0" y="0"/>
          <a:ext cx="0" cy="0"/>
          <a:chOff x="0" y="0"/>
          <a:chExt cx="0" cy="0"/>
        </a:xfrm>
      </p:grpSpPr>
      <p:sp>
        <p:nvSpPr>
          <p:cNvPr id="2185" name="Google Shape;2185;p11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6" name="Google Shape;2186;p1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three most important characteristics that determine the sensor's performance are sensitivity, resolution, and span.</a:t>
            </a:r>
            <a:endParaRPr>
              <a:solidFill>
                <a:srgbClr val="3F3F3F"/>
              </a:solidFill>
              <a:latin typeface="Arial"/>
              <a:ea typeface="Arial"/>
              <a:cs typeface="Arial"/>
              <a:sym typeface="Arial"/>
            </a:endParaRPr>
          </a:p>
        </p:txBody>
      </p:sp>
      <p:sp>
        <p:nvSpPr>
          <p:cNvPr id="2187" name="Google Shape;2187;p1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32933278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p11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4" name="Google Shape;2204;p1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In general, sensors have a functional relationship between a physical input signal and an output signal. These are usually expressed as equations, tables, graphs, etc. These exponential relations are called transfer functions.</a:t>
            </a:r>
            <a:endParaRPr>
              <a:solidFill>
                <a:srgbClr val="3F3F3F"/>
              </a:solidFill>
              <a:latin typeface="Arial"/>
              <a:ea typeface="Arial"/>
              <a:cs typeface="Arial"/>
              <a:sym typeface="Arial"/>
            </a:endParaRPr>
          </a:p>
        </p:txBody>
      </p:sp>
      <p:sp>
        <p:nvSpPr>
          <p:cNvPr id="2205" name="Google Shape;2205;p1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23808452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p11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8" name="Google Shape;2228;p1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Sensitivity: The slope of the transfer function of the sensor</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Sensitivity is an indicator of how the output signal changes as the input signal changes. In the linear transfer function, the slope is the sensitivity.</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If the transfer function of the sensor is a straight line, the sensitivity corresponds to the slope of this straight line. If the slope is large, the sensitivity is excellent, and if the slope is small, the sensitivity is not good.</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In general, higher sensitivity of the sensor can indicate a good sensor.</a:t>
            </a:r>
            <a:endParaRPr>
              <a:solidFill>
                <a:srgbClr val="3F3F3F"/>
              </a:solidFill>
              <a:latin typeface="Arial"/>
              <a:ea typeface="Arial"/>
              <a:cs typeface="Arial"/>
              <a:sym typeface="Arial"/>
            </a:endParaRPr>
          </a:p>
        </p:txBody>
      </p:sp>
      <p:sp>
        <p:nvSpPr>
          <p:cNvPr id="2229" name="Google Shape;2229;p1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19696587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3"/>
        <p:cNvGrpSpPr/>
        <p:nvPr/>
      </p:nvGrpSpPr>
      <p:grpSpPr>
        <a:xfrm>
          <a:off x="0" y="0"/>
          <a:ext cx="0" cy="0"/>
          <a:chOff x="0" y="0"/>
          <a:chExt cx="0" cy="0"/>
        </a:xfrm>
      </p:grpSpPr>
      <p:sp>
        <p:nvSpPr>
          <p:cNvPr id="2254" name="Google Shape;2254;p11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5" name="Google Shape;2255;p1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Span is a range between the maximum and minimum inputs that produce a meaningful sensor output.</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The operating range is the range between the maximum input and the minimum input that produces a meaningful output, which can be machined. This operating range is often determined along with the output range.</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When talking about Span, the essential term is Full Scale. It represents the algebraic difference between the maximum and minimum values and is used for both input and output.</a:t>
            </a:r>
            <a:endParaRPr>
              <a:solidFill>
                <a:srgbClr val="3F3F3F"/>
              </a:solidFill>
              <a:latin typeface="Arial"/>
              <a:ea typeface="Arial"/>
              <a:cs typeface="Arial"/>
              <a:sym typeface="Arial"/>
            </a:endParaRPr>
          </a:p>
        </p:txBody>
      </p:sp>
      <p:sp>
        <p:nvSpPr>
          <p:cNvPr id="2256" name="Google Shape;2256;p1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26037634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p:cNvGrpSpPr/>
        <p:nvPr/>
      </p:nvGrpSpPr>
      <p:grpSpPr>
        <a:xfrm>
          <a:off x="0" y="0"/>
          <a:ext cx="0" cy="0"/>
          <a:chOff x="0" y="0"/>
          <a:chExt cx="0" cy="0"/>
        </a:xfrm>
      </p:grpSpPr>
      <p:sp>
        <p:nvSpPr>
          <p:cNvPr id="2271" name="Google Shape;2271;p12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2" name="Google Shape;2272;p1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Resolution is the minimum input signal the sensor can detect. Here is an example to keep things simple. Generally, 30cm rulers sold in bookstore can be checked up to 1mm. However, lengths smaller than 1mm are difficult to measure accurately. Therefore, the resolution of 30cm ruler can be said to be 1mm and the minimum input increment that can be checked (detected) is 1mm.</a:t>
            </a:r>
            <a:endParaRPr>
              <a:solidFill>
                <a:srgbClr val="3F3F3F"/>
              </a:solidFill>
              <a:latin typeface="Arial"/>
              <a:ea typeface="Arial"/>
              <a:cs typeface="Arial"/>
              <a:sym typeface="Arial"/>
            </a:endParaRPr>
          </a:p>
        </p:txBody>
      </p:sp>
      <p:sp>
        <p:nvSpPr>
          <p:cNvPr id="2273" name="Google Shape;2273;p1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9331377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4"/>
        <p:cNvGrpSpPr/>
        <p:nvPr/>
      </p:nvGrpSpPr>
      <p:grpSpPr>
        <a:xfrm>
          <a:off x="0" y="0"/>
          <a:ext cx="0" cy="0"/>
          <a:chOff x="0" y="0"/>
          <a:chExt cx="0" cy="0"/>
        </a:xfrm>
      </p:grpSpPr>
      <p:sp>
        <p:nvSpPr>
          <p:cNvPr id="2295" name="Google Shape;2295;p12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6" name="Google Shape;2296;p1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Accuracy means the ability to measure the same value each time under the same conditions, and means the difference between the indicated value and the true value.</a:t>
            </a:r>
            <a:endParaRPr/>
          </a:p>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Therefore, accuracy is a measure of how close the sensor output is to a true value, and </a:t>
            </a:r>
            <a:r>
              <a:rPr lang="en-US" b="1">
                <a:solidFill>
                  <a:srgbClr val="3F3F3F"/>
                </a:solidFill>
                <a:latin typeface="Arial"/>
                <a:ea typeface="Arial"/>
                <a:cs typeface="Arial"/>
                <a:sym typeface="Arial"/>
              </a:rPr>
              <a:t>practically, it is expressed as inaccuracy</a:t>
            </a:r>
            <a:endParaRPr b="1">
              <a:solidFill>
                <a:srgbClr val="3F3F3F"/>
              </a:solidFill>
              <a:latin typeface="Arial"/>
              <a:ea typeface="Arial"/>
              <a:cs typeface="Arial"/>
              <a:sym typeface="Arial"/>
            </a:endParaRPr>
          </a:p>
        </p:txBody>
      </p:sp>
      <p:sp>
        <p:nvSpPr>
          <p:cNvPr id="2297" name="Google Shape;2297;p1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604635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0"/>
        <p:cNvGrpSpPr/>
        <p:nvPr/>
      </p:nvGrpSpPr>
      <p:grpSpPr>
        <a:xfrm>
          <a:off x="0" y="0"/>
          <a:ext cx="0" cy="0"/>
          <a:chOff x="0" y="0"/>
          <a:chExt cx="0" cy="0"/>
        </a:xfrm>
      </p:grpSpPr>
      <p:sp>
        <p:nvSpPr>
          <p:cNvPr id="2311" name="Google Shape;2311;p12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2" name="Google Shape;2312;p1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Repeatability</a:t>
            </a:r>
            <a:endParaRPr/>
          </a:p>
          <a:p>
            <a:pPr marL="0" lvl="0" indent="0" algn="l" rtl="0">
              <a:spcBef>
                <a:spcPts val="0"/>
              </a:spcBef>
              <a:spcAft>
                <a:spcPts val="0"/>
              </a:spcAft>
              <a:buNone/>
            </a:pPr>
            <a:r>
              <a:rPr lang="en-US">
                <a:solidFill>
                  <a:srgbClr val="3F3F3F"/>
                </a:solidFill>
                <a:latin typeface="Arial"/>
                <a:ea typeface="Arial"/>
                <a:cs typeface="Arial"/>
                <a:sym typeface="Arial"/>
              </a:rPr>
              <a:t>When the same quantity is measured continuously in the same method (short time interval) under the same conditions (environment, person, etc.), it indicates how much the measured values coincide with each other.</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Precision</a:t>
            </a:r>
            <a:endParaRPr/>
          </a:p>
          <a:p>
            <a:pPr marL="0" lvl="0" indent="0" algn="l" rtl="0">
              <a:spcBef>
                <a:spcPts val="0"/>
              </a:spcBef>
              <a:spcAft>
                <a:spcPts val="0"/>
              </a:spcAft>
              <a:buNone/>
            </a:pPr>
            <a:r>
              <a:rPr lang="en-US">
                <a:solidFill>
                  <a:srgbClr val="3F3F3F"/>
                </a:solidFill>
                <a:latin typeface="Arial"/>
                <a:ea typeface="Arial"/>
                <a:cs typeface="Arial"/>
                <a:sym typeface="Arial"/>
              </a:rPr>
              <a:t>Repeatability of measurements, Measure of reproducibility</a:t>
            </a:r>
            <a:endParaRPr/>
          </a:p>
          <a:p>
            <a:pPr marL="0" lvl="0" indent="0" algn="l" rtl="0">
              <a:spcBef>
                <a:spcPts val="0"/>
              </a:spcBef>
              <a:spcAft>
                <a:spcPts val="0"/>
              </a:spcAft>
              <a:buNone/>
            </a:pPr>
            <a:r>
              <a:rPr lang="en-US">
                <a:solidFill>
                  <a:srgbClr val="3F3F3F"/>
                </a:solidFill>
                <a:latin typeface="Arial"/>
                <a:ea typeface="Arial"/>
                <a:cs typeface="Arial"/>
                <a:sym typeface="Arial"/>
              </a:rPr>
              <a:t>Consistency between successive measurements</a:t>
            </a:r>
            <a:endParaRPr>
              <a:solidFill>
                <a:srgbClr val="3F3F3F"/>
              </a:solidFill>
              <a:latin typeface="Arial"/>
              <a:ea typeface="Arial"/>
              <a:cs typeface="Arial"/>
              <a:sym typeface="Arial"/>
            </a:endParaRPr>
          </a:p>
        </p:txBody>
      </p:sp>
      <p:sp>
        <p:nvSpPr>
          <p:cNvPr id="2313" name="Google Shape;2313;p1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extLst>
      <p:ext uri="{BB962C8B-B14F-4D97-AF65-F5344CB8AC3E}">
        <p14:creationId xmlns:p14="http://schemas.microsoft.com/office/powerpoint/2010/main" val="41660445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3"/>
        <p:cNvGrpSpPr/>
        <p:nvPr/>
      </p:nvGrpSpPr>
      <p:grpSpPr>
        <a:xfrm>
          <a:off x="0" y="0"/>
          <a:ext cx="0" cy="0"/>
          <a:chOff x="0" y="0"/>
          <a:chExt cx="0" cy="0"/>
        </a:xfrm>
      </p:grpSpPr>
      <p:sp>
        <p:nvSpPr>
          <p:cNvPr id="2324" name="Google Shape;2324;p12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5" name="Google Shape;2325;p1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Accuracy: The degree of how it is close to the true value.</a:t>
            </a:r>
            <a:endParaRPr/>
          </a:p>
          <a:p>
            <a:pPr marL="0" lvl="0" indent="0" algn="l" rtl="0">
              <a:spcBef>
                <a:spcPts val="0"/>
              </a:spcBef>
              <a:spcAft>
                <a:spcPts val="0"/>
              </a:spcAft>
              <a:buNone/>
            </a:pPr>
            <a:r>
              <a:rPr lang="en-US">
                <a:solidFill>
                  <a:srgbClr val="3F3F3F"/>
                </a:solidFill>
                <a:latin typeface="Arial"/>
                <a:ea typeface="Arial"/>
                <a:cs typeface="Arial"/>
                <a:sym typeface="Arial"/>
              </a:rPr>
              <a:t>Precision: The degree of reproducibility of the measurement. (Degree of distribution of measured values)</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The left target in the figure has values near the true value, but its distribution is widespread. In this case, there is accuracy but no precision. (Accurate but not precise)</a:t>
            </a:r>
            <a:endParaRPr/>
          </a:p>
          <a:p>
            <a:pPr marL="0" lvl="0" indent="0" algn="l" rtl="0">
              <a:spcBef>
                <a:spcPts val="0"/>
              </a:spcBef>
              <a:spcAft>
                <a:spcPts val="0"/>
              </a:spcAft>
              <a:buNone/>
            </a:pPr>
            <a:r>
              <a:rPr lang="en-US">
                <a:solidFill>
                  <a:srgbClr val="3F3F3F"/>
                </a:solidFill>
                <a:latin typeface="Arial"/>
                <a:ea typeface="Arial"/>
                <a:cs typeface="Arial"/>
                <a:sym typeface="Arial"/>
              </a:rPr>
              <a:t>The target plate on the right is far from the true value, but the distribution of the values is dense. In this case, there is no accuracy but precision. (Precise but not accurate)</a:t>
            </a:r>
            <a:endParaRPr>
              <a:solidFill>
                <a:srgbClr val="3F3F3F"/>
              </a:solidFill>
              <a:latin typeface="Arial"/>
              <a:ea typeface="Arial"/>
              <a:cs typeface="Arial"/>
              <a:sym typeface="Arial"/>
            </a:endParaRPr>
          </a:p>
        </p:txBody>
      </p:sp>
      <p:sp>
        <p:nvSpPr>
          <p:cNvPr id="2326" name="Google Shape;2326;p1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35462123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4"/>
        <p:cNvGrpSpPr/>
        <p:nvPr/>
      </p:nvGrpSpPr>
      <p:grpSpPr>
        <a:xfrm>
          <a:off x="0" y="0"/>
          <a:ext cx="0" cy="0"/>
          <a:chOff x="0" y="0"/>
          <a:chExt cx="0" cy="0"/>
        </a:xfrm>
      </p:grpSpPr>
      <p:sp>
        <p:nvSpPr>
          <p:cNvPr id="2355" name="Google Shape;2355;p12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6" name="Google Shape;2356;p1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The process of measuring output by applying a known value to the sensor, and the input value used for calibration is called a standard. The calibration establishes the relationship between input and output, and the curve obtained at this time is called calibration.</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Calibration of the sensor is a time consuming process, so it is important to minimize the calibration points as much as possible to reduce manufacturing costs.</a:t>
            </a:r>
            <a:endParaRPr>
              <a:solidFill>
                <a:srgbClr val="3F3F3F"/>
              </a:solidFill>
              <a:latin typeface="Arial"/>
              <a:ea typeface="Arial"/>
              <a:cs typeface="Arial"/>
              <a:sym typeface="Arial"/>
            </a:endParaRPr>
          </a:p>
        </p:txBody>
      </p:sp>
      <p:sp>
        <p:nvSpPr>
          <p:cNvPr id="2357" name="Google Shape;2357;p1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8618841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4"/>
        <p:cNvGrpSpPr/>
        <p:nvPr/>
      </p:nvGrpSpPr>
      <p:grpSpPr>
        <a:xfrm>
          <a:off x="0" y="0"/>
          <a:ext cx="0" cy="0"/>
          <a:chOff x="0" y="0"/>
          <a:chExt cx="0" cy="0"/>
        </a:xfrm>
      </p:grpSpPr>
      <p:sp>
        <p:nvSpPr>
          <p:cNvPr id="2375" name="Google Shape;2375;p12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6" name="Google Shape;2376;p1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It would be perfect for the output of the sensor to maintain linearity, but practically is impossible.</a:t>
            </a:r>
            <a:endParaRPr>
              <a:solidFill>
                <a:srgbClr val="3F3F3F"/>
              </a:solidFill>
              <a:latin typeface="Arial"/>
              <a:ea typeface="Arial"/>
              <a:cs typeface="Arial"/>
              <a:sym typeface="Arial"/>
            </a:endParaRPr>
          </a:p>
        </p:txBody>
      </p:sp>
      <p:sp>
        <p:nvSpPr>
          <p:cNvPr id="2377" name="Google Shape;2377;p1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166530831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7"/>
        <p:cNvGrpSpPr/>
        <p:nvPr/>
      </p:nvGrpSpPr>
      <p:grpSpPr>
        <a:xfrm>
          <a:off x="0" y="0"/>
          <a:ext cx="0" cy="0"/>
          <a:chOff x="0" y="0"/>
          <a:chExt cx="0" cy="0"/>
        </a:xfrm>
      </p:grpSpPr>
      <p:sp>
        <p:nvSpPr>
          <p:cNvPr id="2398" name="Google Shape;2398;p12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9" name="Google Shape;2399;p1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193EB0"/>
              </a:buClr>
              <a:buSzPts val="1200"/>
              <a:buFont typeface="Arial"/>
              <a:buNone/>
            </a:pPr>
            <a:endParaRPr sz="1200">
              <a:solidFill>
                <a:srgbClr val="262626"/>
              </a:solidFill>
              <a:latin typeface="Arial"/>
              <a:ea typeface="Arial"/>
              <a:cs typeface="Arial"/>
              <a:sym typeface="Arial"/>
            </a:endParaRPr>
          </a:p>
        </p:txBody>
      </p:sp>
      <p:sp>
        <p:nvSpPr>
          <p:cNvPr id="2400" name="Google Shape;2400;p1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20180415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5"/>
        <p:cNvGrpSpPr/>
        <p:nvPr/>
      </p:nvGrpSpPr>
      <p:grpSpPr>
        <a:xfrm>
          <a:off x="0" y="0"/>
          <a:ext cx="0" cy="0"/>
          <a:chOff x="0" y="0"/>
          <a:chExt cx="0" cy="0"/>
        </a:xfrm>
      </p:grpSpPr>
      <p:sp>
        <p:nvSpPr>
          <p:cNvPr id="2426" name="Google Shape;2426;p12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7" name="Google Shape;2427;p1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93EB0"/>
              </a:buClr>
              <a:buSzPts val="1200"/>
              <a:buFont typeface="Arial"/>
              <a:buNone/>
            </a:pPr>
            <a:r>
              <a:rPr lang="en-US">
                <a:solidFill>
                  <a:srgbClr val="3F3F3F"/>
                </a:solidFill>
                <a:latin typeface="Arial"/>
                <a:ea typeface="Arial"/>
                <a:cs typeface="Arial"/>
                <a:sym typeface="Arial"/>
              </a:rPr>
              <a:t>The output is not the same even with the same input, when measuring the output while increasing x compared to decreasing x. It depends on the physical properties of the material.</a:t>
            </a:r>
            <a:endParaRPr>
              <a:solidFill>
                <a:srgbClr val="3F3F3F"/>
              </a:solidFill>
              <a:latin typeface="Arial"/>
              <a:ea typeface="Arial"/>
              <a:cs typeface="Arial"/>
              <a:sym typeface="Arial"/>
            </a:endParaRPr>
          </a:p>
          <a:p>
            <a:pPr marL="182526" lvl="0" indent="-106325" algn="l" rtl="0">
              <a:spcBef>
                <a:spcPts val="800"/>
              </a:spcBef>
              <a:spcAft>
                <a:spcPts val="0"/>
              </a:spcAft>
              <a:buClr>
                <a:srgbClr val="193EB0"/>
              </a:buClr>
              <a:buSzPts val="1200"/>
              <a:buFont typeface="Arial"/>
              <a:buNone/>
            </a:pPr>
            <a:endParaRPr sz="1200">
              <a:solidFill>
                <a:srgbClr val="262626"/>
              </a:solidFill>
              <a:latin typeface="Arial"/>
              <a:ea typeface="Arial"/>
              <a:cs typeface="Arial"/>
              <a:sym typeface="Arial"/>
            </a:endParaRPr>
          </a:p>
        </p:txBody>
      </p:sp>
      <p:sp>
        <p:nvSpPr>
          <p:cNvPr id="2428" name="Google Shape;2428;p1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32030403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1"/>
        <p:cNvGrpSpPr/>
        <p:nvPr/>
      </p:nvGrpSpPr>
      <p:grpSpPr>
        <a:xfrm>
          <a:off x="0" y="0"/>
          <a:ext cx="0" cy="0"/>
          <a:chOff x="0" y="0"/>
          <a:chExt cx="0" cy="0"/>
        </a:xfrm>
      </p:grpSpPr>
      <p:sp>
        <p:nvSpPr>
          <p:cNvPr id="2452" name="Google Shape;2452;p12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3" name="Google Shape;2453;p1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sensor should detect only the desired physical phenomenon and not be affected by other phenomena.</a:t>
            </a:r>
            <a:endParaRPr>
              <a:solidFill>
                <a:srgbClr val="3F3F3F"/>
              </a:solidFill>
              <a:latin typeface="Arial"/>
              <a:ea typeface="Arial"/>
              <a:cs typeface="Arial"/>
              <a:sym typeface="Arial"/>
            </a:endParaRPr>
          </a:p>
        </p:txBody>
      </p:sp>
      <p:sp>
        <p:nvSpPr>
          <p:cNvPr id="2454" name="Google Shape;2454;p1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38565162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4"/>
        <p:cNvGrpSpPr/>
        <p:nvPr/>
      </p:nvGrpSpPr>
      <p:grpSpPr>
        <a:xfrm>
          <a:off x="0" y="0"/>
          <a:ext cx="0" cy="0"/>
          <a:chOff x="0" y="0"/>
          <a:chExt cx="0" cy="0"/>
        </a:xfrm>
      </p:grpSpPr>
      <p:sp>
        <p:nvSpPr>
          <p:cNvPr id="2475" name="Google Shape;2475;p12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6" name="Google Shape;2476;p1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Dynamic Characteristics (relationship between input and output over time)</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Time response characteristic (transient characteristic): when the magnitude of input suddenly changes.</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Frequency response characteristic: when the input is changed sinuously.</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Response time: time delay between input and output when the physical quantity input to the sensor changes with time</a:t>
            </a:r>
            <a:endParaRPr>
              <a:solidFill>
                <a:srgbClr val="3F3F3F"/>
              </a:solidFill>
              <a:latin typeface="Arial"/>
              <a:ea typeface="Arial"/>
              <a:cs typeface="Arial"/>
              <a:sym typeface="Arial"/>
            </a:endParaRPr>
          </a:p>
        </p:txBody>
      </p:sp>
      <p:sp>
        <p:nvSpPr>
          <p:cNvPr id="2477" name="Google Shape;2477;p1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35934966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3"/>
        <p:cNvGrpSpPr/>
        <p:nvPr/>
      </p:nvGrpSpPr>
      <p:grpSpPr>
        <a:xfrm>
          <a:off x="0" y="0"/>
          <a:ext cx="0" cy="0"/>
          <a:chOff x="0" y="0"/>
          <a:chExt cx="0" cy="0"/>
        </a:xfrm>
      </p:grpSpPr>
      <p:sp>
        <p:nvSpPr>
          <p:cNvPr id="2514" name="Google Shape;2514;p13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5" name="Google Shape;2515;p1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2516" name="Google Shape;2516;p1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17122475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3"/>
        <p:cNvGrpSpPr/>
        <p:nvPr/>
      </p:nvGrpSpPr>
      <p:grpSpPr>
        <a:xfrm>
          <a:off x="0" y="0"/>
          <a:ext cx="0" cy="0"/>
          <a:chOff x="0" y="0"/>
          <a:chExt cx="0" cy="0"/>
        </a:xfrm>
      </p:grpSpPr>
      <p:sp>
        <p:nvSpPr>
          <p:cNvPr id="2534" name="Google Shape;2534;p13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5" name="Google Shape;2535;p1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definition of noise is an unwanted irregular signal. The lower detection limit is lowered by improving the signal-to-noise ratio. To improve this, a filter is needed.</a:t>
            </a:r>
            <a:endParaRPr>
              <a:solidFill>
                <a:srgbClr val="3F3F3F"/>
              </a:solidFill>
              <a:latin typeface="Arial"/>
              <a:ea typeface="Arial"/>
              <a:cs typeface="Arial"/>
              <a:sym typeface="Arial"/>
            </a:endParaRPr>
          </a:p>
        </p:txBody>
      </p:sp>
      <p:sp>
        <p:nvSpPr>
          <p:cNvPr id="2536" name="Google Shape;2536;p1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Tree>
    <p:extLst>
      <p:ext uri="{BB962C8B-B14F-4D97-AF65-F5344CB8AC3E}">
        <p14:creationId xmlns:p14="http://schemas.microsoft.com/office/powerpoint/2010/main" val="26781024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2"/>
        <p:cNvGrpSpPr/>
        <p:nvPr/>
      </p:nvGrpSpPr>
      <p:grpSpPr>
        <a:xfrm>
          <a:off x="0" y="0"/>
          <a:ext cx="0" cy="0"/>
          <a:chOff x="0" y="0"/>
          <a:chExt cx="0" cy="0"/>
        </a:xfrm>
      </p:grpSpPr>
      <p:sp>
        <p:nvSpPr>
          <p:cNvPr id="2543" name="Google Shape;2543;p13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4" name="Google Shape;2544;p1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ratio of voltage to current = resistance</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In current output sensor, the magnitude of the output impedance should be large and the magnitude of the input impedance should be small.</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In voltage output sensor, the magnitude of the output impedance should be small and the magnitude of the input impedance should be large.</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2545" name="Google Shape;2545;p1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171301760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1"/>
        <p:cNvGrpSpPr/>
        <p:nvPr/>
      </p:nvGrpSpPr>
      <p:grpSpPr>
        <a:xfrm>
          <a:off x="0" y="0"/>
          <a:ext cx="0" cy="0"/>
          <a:chOff x="0" y="0"/>
          <a:chExt cx="0" cy="0"/>
        </a:xfrm>
      </p:grpSpPr>
      <p:sp>
        <p:nvSpPr>
          <p:cNvPr id="2582" name="Google Shape;2582;p13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3" name="Google Shape;2583;p1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Environmental parameters: external variables (temperature, humidity, etc.) affecting the performance of the sensor.</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2584" name="Google Shape;2584;p1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22418516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6">
          <a:extLst>
            <a:ext uri="{FF2B5EF4-FFF2-40B4-BE49-F238E27FC236}">
              <a16:creationId xmlns:a16="http://schemas.microsoft.com/office/drawing/2014/main" id="{30DD1218-5A66-5CC8-6471-347F2155747C}"/>
            </a:ext>
          </a:extLst>
        </p:cNvPr>
        <p:cNvGrpSpPr/>
        <p:nvPr/>
      </p:nvGrpSpPr>
      <p:grpSpPr>
        <a:xfrm>
          <a:off x="0" y="0"/>
          <a:ext cx="0" cy="0"/>
          <a:chOff x="0" y="0"/>
          <a:chExt cx="0" cy="0"/>
        </a:xfrm>
      </p:grpSpPr>
      <p:sp>
        <p:nvSpPr>
          <p:cNvPr id="1997" name="Google Shape;1997;p107:notes">
            <a:extLst>
              <a:ext uri="{FF2B5EF4-FFF2-40B4-BE49-F238E27FC236}">
                <a16:creationId xmlns:a16="http://schemas.microsoft.com/office/drawing/2014/main" id="{40688489-4997-6FF6-C472-DB816859432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8" name="Google Shape;1998;p107:notes">
            <a:extLst>
              <a:ext uri="{FF2B5EF4-FFF2-40B4-BE49-F238E27FC236}">
                <a16:creationId xmlns:a16="http://schemas.microsoft.com/office/drawing/2014/main" id="{1B3981E8-13E2-0C7C-2982-9B1734F0C4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9" name="Google Shape;1999;p107:notes">
            <a:extLst>
              <a:ext uri="{FF2B5EF4-FFF2-40B4-BE49-F238E27FC236}">
                <a16:creationId xmlns:a16="http://schemas.microsoft.com/office/drawing/2014/main" id="{1A74B535-B890-C529-AEBB-88C74082662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2719514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1"/>
        <p:cNvGrpSpPr/>
        <p:nvPr/>
      </p:nvGrpSpPr>
      <p:grpSpPr>
        <a:xfrm>
          <a:off x="0" y="0"/>
          <a:ext cx="0" cy="0"/>
          <a:chOff x="0" y="0"/>
          <a:chExt cx="0" cy="0"/>
        </a:xfrm>
      </p:grpSpPr>
      <p:sp>
        <p:nvSpPr>
          <p:cNvPr id="2642" name="Google Shape;2642;p13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3" name="Google Shape;2643;p1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Active vs Passive Sensors</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Active sensors require an external power source to operate, which is called an excitation signal. The signal is modulated by the sensor to produce an output signal. For example, a thermistor does not generate any electrical signal, but by passing an electric current through it, its resistance can be measured by detecting variations in the current or voltage across the thermistor.</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Passive sensors, in contrast, generate an electric current in response to an external stimulus which serves as the output signal without the need of an additional energy source. Such examples are a photodiode, and a piezoelectric sensor, thermocouple.</a:t>
            </a:r>
            <a:endParaRPr/>
          </a:p>
        </p:txBody>
      </p:sp>
      <p:sp>
        <p:nvSpPr>
          <p:cNvPr id="2644" name="Google Shape;2644;p1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365907524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9"/>
        <p:cNvGrpSpPr/>
        <p:nvPr/>
      </p:nvGrpSpPr>
      <p:grpSpPr>
        <a:xfrm>
          <a:off x="0" y="0"/>
          <a:ext cx="0" cy="0"/>
          <a:chOff x="0" y="0"/>
          <a:chExt cx="0" cy="0"/>
        </a:xfrm>
      </p:grpSpPr>
      <p:sp>
        <p:nvSpPr>
          <p:cNvPr id="2660" name="Google Shape;2660;p13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1" name="Google Shape;2661;p1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2662" name="Google Shape;2662;p1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126797037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p:cNvGrpSpPr/>
        <p:nvPr/>
      </p:nvGrpSpPr>
      <p:grpSpPr>
        <a:xfrm>
          <a:off x="0" y="0"/>
          <a:ext cx="0" cy="0"/>
          <a:chOff x="0" y="0"/>
          <a:chExt cx="0" cy="0"/>
        </a:xfrm>
      </p:grpSpPr>
      <p:sp>
        <p:nvSpPr>
          <p:cNvPr id="2675" name="Google Shape;2675;p13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6" name="Google Shape;2676;p1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1">
              <a:solidFill>
                <a:srgbClr val="0C0C0C"/>
              </a:solidFill>
              <a:latin typeface="Arial"/>
              <a:ea typeface="Arial"/>
              <a:cs typeface="Arial"/>
              <a:sym typeface="Arial"/>
            </a:endParaRPr>
          </a:p>
        </p:txBody>
      </p:sp>
      <p:sp>
        <p:nvSpPr>
          <p:cNvPr id="2677" name="Google Shape;2677;p1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0567281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6"/>
        <p:cNvGrpSpPr/>
        <p:nvPr/>
      </p:nvGrpSpPr>
      <p:grpSpPr>
        <a:xfrm>
          <a:off x="0" y="0"/>
          <a:ext cx="0" cy="0"/>
          <a:chOff x="0" y="0"/>
          <a:chExt cx="0" cy="0"/>
        </a:xfrm>
      </p:grpSpPr>
      <p:sp>
        <p:nvSpPr>
          <p:cNvPr id="2687" name="Google Shape;2687;p13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8" name="Google Shape;2688;p1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1">
              <a:solidFill>
                <a:srgbClr val="0C0C0C"/>
              </a:solidFill>
              <a:latin typeface="Arial"/>
              <a:ea typeface="Arial"/>
              <a:cs typeface="Arial"/>
              <a:sym typeface="Arial"/>
            </a:endParaRPr>
          </a:p>
        </p:txBody>
      </p:sp>
      <p:sp>
        <p:nvSpPr>
          <p:cNvPr id="2689" name="Google Shape;2689;p1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201476778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7"/>
        <p:cNvGrpSpPr/>
        <p:nvPr/>
      </p:nvGrpSpPr>
      <p:grpSpPr>
        <a:xfrm>
          <a:off x="0" y="0"/>
          <a:ext cx="0" cy="0"/>
          <a:chOff x="0" y="0"/>
          <a:chExt cx="0" cy="0"/>
        </a:xfrm>
      </p:grpSpPr>
      <p:sp>
        <p:nvSpPr>
          <p:cNvPr id="2698" name="Google Shape;2698;p13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9" name="Google Shape;2699;p1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1">
              <a:solidFill>
                <a:srgbClr val="0C0C0C"/>
              </a:solidFill>
              <a:latin typeface="Arial"/>
              <a:ea typeface="Arial"/>
              <a:cs typeface="Arial"/>
              <a:sym typeface="Arial"/>
            </a:endParaRPr>
          </a:p>
        </p:txBody>
      </p:sp>
      <p:sp>
        <p:nvSpPr>
          <p:cNvPr id="2700" name="Google Shape;2700;p1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81</a:t>
            </a:fld>
            <a:endParaRPr/>
          </a:p>
        </p:txBody>
      </p:sp>
    </p:spTree>
    <p:extLst>
      <p:ext uri="{BB962C8B-B14F-4D97-AF65-F5344CB8AC3E}">
        <p14:creationId xmlns:p14="http://schemas.microsoft.com/office/powerpoint/2010/main" val="34648216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8"/>
        <p:cNvGrpSpPr/>
        <p:nvPr/>
      </p:nvGrpSpPr>
      <p:grpSpPr>
        <a:xfrm>
          <a:off x="0" y="0"/>
          <a:ext cx="0" cy="0"/>
          <a:chOff x="0" y="0"/>
          <a:chExt cx="0" cy="0"/>
        </a:xfrm>
      </p:grpSpPr>
      <p:sp>
        <p:nvSpPr>
          <p:cNvPr id="2709" name="Google Shape;2709;p14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0" name="Google Shape;2710;p1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1">
              <a:solidFill>
                <a:srgbClr val="0C0C0C"/>
              </a:solidFill>
              <a:latin typeface="Arial"/>
              <a:ea typeface="Arial"/>
              <a:cs typeface="Arial"/>
              <a:sym typeface="Arial"/>
            </a:endParaRPr>
          </a:p>
        </p:txBody>
      </p:sp>
      <p:sp>
        <p:nvSpPr>
          <p:cNvPr id="2711" name="Google Shape;2711;p1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82</a:t>
            </a:fld>
            <a:endParaRPr/>
          </a:p>
        </p:txBody>
      </p:sp>
    </p:spTree>
    <p:extLst>
      <p:ext uri="{BB962C8B-B14F-4D97-AF65-F5344CB8AC3E}">
        <p14:creationId xmlns:p14="http://schemas.microsoft.com/office/powerpoint/2010/main" val="210419285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8"/>
        <p:cNvGrpSpPr/>
        <p:nvPr/>
      </p:nvGrpSpPr>
      <p:grpSpPr>
        <a:xfrm>
          <a:off x="0" y="0"/>
          <a:ext cx="0" cy="0"/>
          <a:chOff x="0" y="0"/>
          <a:chExt cx="0" cy="0"/>
        </a:xfrm>
      </p:grpSpPr>
      <p:sp>
        <p:nvSpPr>
          <p:cNvPr id="2719" name="Google Shape;2719;p14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0" name="Google Shape;2720;p1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The demand for smart car and smartphone is increasing rapidly in all areas. In 2025, the era of 1 trillion sensors are expected.</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The big two consumer products, cars and mobile phones, continue to lead the market</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Sensor usage per car increased from 200 in 2015 to a lot more in autonomous driving era.</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Only two sensors have been used for one image and sound, but next-generation phones will use more than 20 sensors for each device.</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One billion sensors are shipped each year. Production is increasing at an annual average of more than 50%, and one trillion is expected to be produced every year around 10 years.</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endParaRPr sz="1200" b="1">
              <a:solidFill>
                <a:srgbClr val="0C0C0C"/>
              </a:solidFill>
              <a:latin typeface="Arial"/>
              <a:ea typeface="Arial"/>
              <a:cs typeface="Arial"/>
              <a:sym typeface="Arial"/>
            </a:endParaRPr>
          </a:p>
        </p:txBody>
      </p:sp>
      <p:sp>
        <p:nvSpPr>
          <p:cNvPr id="2721" name="Google Shape;2721;p1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1265362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6">
          <a:extLst>
            <a:ext uri="{FF2B5EF4-FFF2-40B4-BE49-F238E27FC236}">
              <a16:creationId xmlns:a16="http://schemas.microsoft.com/office/drawing/2014/main" id="{BA5C9712-4C65-7D26-8122-646A50F4D197}"/>
            </a:ext>
          </a:extLst>
        </p:cNvPr>
        <p:cNvGrpSpPr/>
        <p:nvPr/>
      </p:nvGrpSpPr>
      <p:grpSpPr>
        <a:xfrm>
          <a:off x="0" y="0"/>
          <a:ext cx="0" cy="0"/>
          <a:chOff x="0" y="0"/>
          <a:chExt cx="0" cy="0"/>
        </a:xfrm>
      </p:grpSpPr>
      <p:sp>
        <p:nvSpPr>
          <p:cNvPr id="1997" name="Google Shape;1997;p107:notes">
            <a:extLst>
              <a:ext uri="{FF2B5EF4-FFF2-40B4-BE49-F238E27FC236}">
                <a16:creationId xmlns:a16="http://schemas.microsoft.com/office/drawing/2014/main" id="{054DD9F3-0198-20AC-DE14-D35A7813FCA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8" name="Google Shape;1998;p107:notes">
            <a:extLst>
              <a:ext uri="{FF2B5EF4-FFF2-40B4-BE49-F238E27FC236}">
                <a16:creationId xmlns:a16="http://schemas.microsoft.com/office/drawing/2014/main" id="{EDFC791F-F0FC-B5F0-529A-AA6825BE98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9" name="Google Shape;1999;p107:notes">
            <a:extLst>
              <a:ext uri="{FF2B5EF4-FFF2-40B4-BE49-F238E27FC236}">
                <a16:creationId xmlns:a16="http://schemas.microsoft.com/office/drawing/2014/main" id="{AEC51E2B-BDE0-A72B-F56B-2066A5AB8A1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84</a:t>
            </a:fld>
            <a:endParaRPr/>
          </a:p>
        </p:txBody>
      </p:sp>
    </p:spTree>
    <p:extLst>
      <p:ext uri="{BB962C8B-B14F-4D97-AF65-F5344CB8AC3E}">
        <p14:creationId xmlns:p14="http://schemas.microsoft.com/office/powerpoint/2010/main" val="208872574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6"/>
        <p:cNvGrpSpPr/>
        <p:nvPr/>
      </p:nvGrpSpPr>
      <p:grpSpPr>
        <a:xfrm>
          <a:off x="0" y="0"/>
          <a:ext cx="0" cy="0"/>
          <a:chOff x="0" y="0"/>
          <a:chExt cx="0" cy="0"/>
        </a:xfrm>
      </p:grpSpPr>
      <p:sp>
        <p:nvSpPr>
          <p:cNvPr id="2737" name="Google Shape;2737;p14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8" name="Google Shape;2738;p1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Characteristics of sensor business</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The sensor market is fragmented according to material, device, component, so the recognition that small quantity business is dominated.</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Sensor selects material and design method according to customer's order and manufactures device, chip, part, module.</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Even if an image sensor using the same semiconductor material has different demands from a car and a mobile phone, the design method on the sensor element may be different, and the market leaders are different.</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main field of application of sensors is industrial metrology systems, which have been developed around them. However, as the industry has advanced, its utilization has expanded to almost all industries (including aerospace / aerospace and military). It also contributes greatly to human welfare and prosperity, including environmental conservation, disaster prevention, pollution monitoring, abnormal diagnosis, safety management, health care, and crime prevention / disaster prevention.</a:t>
            </a:r>
            <a:endParaRPr>
              <a:solidFill>
                <a:srgbClr val="3F3F3F"/>
              </a:solidFill>
              <a:latin typeface="Arial"/>
              <a:ea typeface="Arial"/>
              <a:cs typeface="Arial"/>
              <a:sym typeface="Arial"/>
            </a:endParaRPr>
          </a:p>
        </p:txBody>
      </p:sp>
      <p:sp>
        <p:nvSpPr>
          <p:cNvPr id="2739" name="Google Shape;2739;p1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85</a:t>
            </a:fld>
            <a:endParaRPr/>
          </a:p>
        </p:txBody>
      </p:sp>
    </p:spTree>
    <p:extLst>
      <p:ext uri="{BB962C8B-B14F-4D97-AF65-F5344CB8AC3E}">
        <p14:creationId xmlns:p14="http://schemas.microsoft.com/office/powerpoint/2010/main" val="40742389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6"/>
        <p:cNvGrpSpPr/>
        <p:nvPr/>
      </p:nvGrpSpPr>
      <p:grpSpPr>
        <a:xfrm>
          <a:off x="0" y="0"/>
          <a:ext cx="0" cy="0"/>
          <a:chOff x="0" y="0"/>
          <a:chExt cx="0" cy="0"/>
        </a:xfrm>
      </p:grpSpPr>
      <p:sp>
        <p:nvSpPr>
          <p:cNvPr id="2747" name="Google Shape;2747;p14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8" name="Google Shape;2748;p1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9" name="Google Shape;2749;p1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86</a:t>
            </a:fld>
            <a:endParaRPr/>
          </a:p>
        </p:txBody>
      </p:sp>
    </p:spTree>
    <p:extLst>
      <p:ext uri="{BB962C8B-B14F-4D97-AF65-F5344CB8AC3E}">
        <p14:creationId xmlns:p14="http://schemas.microsoft.com/office/powerpoint/2010/main" val="42070018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5"/>
        <p:cNvGrpSpPr/>
        <p:nvPr/>
      </p:nvGrpSpPr>
      <p:grpSpPr>
        <a:xfrm>
          <a:off x="0" y="0"/>
          <a:ext cx="0" cy="0"/>
          <a:chOff x="0" y="0"/>
          <a:chExt cx="0" cy="0"/>
        </a:xfrm>
      </p:grpSpPr>
      <p:sp>
        <p:nvSpPr>
          <p:cNvPr id="2756" name="Google Shape;2756;p14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7" name="Google Shape;2757;p1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Voltage is the difference in electric charge that occurs between two points. For example, if you work hard in the morning and run out in the evening, the difference in energy consumed from morning to evening is the voltage.</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Current refers to the rate at which these charges flow. For example, there are buses and trains that must be taken to work.</a:t>
            </a:r>
            <a:endParaRPr/>
          </a:p>
          <a:p>
            <a:pPr marL="0" lvl="0" indent="0" algn="l" rtl="0">
              <a:spcBef>
                <a:spcPts val="0"/>
              </a:spcBef>
              <a:spcAft>
                <a:spcPts val="0"/>
              </a:spcAft>
              <a:buNone/>
            </a:pPr>
            <a:r>
              <a:rPr lang="en-US">
                <a:solidFill>
                  <a:srgbClr val="3F3F3F"/>
                </a:solidFill>
                <a:latin typeface="Arial"/>
                <a:ea typeface="Arial"/>
                <a:cs typeface="Arial"/>
                <a:sym typeface="Arial"/>
              </a:rPr>
              <a:t>The current is flowing and the resistance is blocking it. Since the current and the resistance are almost in phase, it is natural that the speed is not fast when the road is blocked.</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2758" name="Google Shape;2758;p1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87</a:t>
            </a:fld>
            <a:endParaRPr/>
          </a:p>
        </p:txBody>
      </p:sp>
    </p:spTree>
    <p:extLst>
      <p:ext uri="{BB962C8B-B14F-4D97-AF65-F5344CB8AC3E}">
        <p14:creationId xmlns:p14="http://schemas.microsoft.com/office/powerpoint/2010/main" val="36277042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9"/>
        <p:cNvGrpSpPr/>
        <p:nvPr/>
      </p:nvGrpSpPr>
      <p:grpSpPr>
        <a:xfrm>
          <a:off x="0" y="0"/>
          <a:ext cx="0" cy="0"/>
          <a:chOff x="0" y="0"/>
          <a:chExt cx="0" cy="0"/>
        </a:xfrm>
      </p:grpSpPr>
      <p:sp>
        <p:nvSpPr>
          <p:cNvPr id="2780" name="Google Shape;2780;p14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1" name="Google Shape;2781;p1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Both batteries and rechargeable batteries are considered direct current. All products that use batteries make DC electricity available. The advantage is that it is stable and efficient because there is no change in power over time.</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Disadvantage is that it is difficult to transform. In order to come into modern society and use large-scale electricity, electricity is produced at power plants. Transformers are essential in the process of transferring electricity from a power plant. But if the transformation is difficult, entire process becomes very difficult.</a:t>
            </a:r>
            <a:endParaRPr/>
          </a:p>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main advantage of alternating current is that the transformation itself, which is also a disadvantage of direct current, is very convenient. Easy transformation means that we can send electricity generated at the power plant to the place where we use it efficiently.</a:t>
            </a:r>
            <a:endParaRPr/>
          </a:p>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disadvantage is inductive disturbance, which is called electromagnetic waves. In addition, power loss occurs due to the characteristics of the AC electricity.</a:t>
            </a:r>
            <a:endParaRPr/>
          </a:p>
          <a:p>
            <a:pPr marL="0" lvl="0" indent="0" algn="l" rtl="0">
              <a:spcBef>
                <a:spcPts val="0"/>
              </a:spcBef>
              <a:spcAft>
                <a:spcPts val="0"/>
              </a:spcAft>
              <a:buNone/>
            </a:pPr>
            <a:endParaRPr>
              <a:latin typeface="Arial"/>
              <a:ea typeface="Arial"/>
              <a:cs typeface="Arial"/>
              <a:sym typeface="Arial"/>
            </a:endParaRPr>
          </a:p>
        </p:txBody>
      </p:sp>
      <p:sp>
        <p:nvSpPr>
          <p:cNvPr id="2782" name="Google Shape;2782;p1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88</a:t>
            </a:fld>
            <a:endParaRPr/>
          </a:p>
        </p:txBody>
      </p:sp>
    </p:spTree>
    <p:extLst>
      <p:ext uri="{BB962C8B-B14F-4D97-AF65-F5344CB8AC3E}">
        <p14:creationId xmlns:p14="http://schemas.microsoft.com/office/powerpoint/2010/main" val="155579517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3"/>
        <p:cNvGrpSpPr/>
        <p:nvPr/>
      </p:nvGrpSpPr>
      <p:grpSpPr>
        <a:xfrm>
          <a:off x="0" y="0"/>
          <a:ext cx="0" cy="0"/>
          <a:chOff x="0" y="0"/>
          <a:chExt cx="0" cy="0"/>
        </a:xfrm>
      </p:grpSpPr>
      <p:sp>
        <p:nvSpPr>
          <p:cNvPr id="2804" name="Google Shape;2804;p14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5" name="Google Shape;2805;p1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806" name="Google Shape;2806;p1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89</a:t>
            </a:fld>
            <a:endParaRPr/>
          </a:p>
        </p:txBody>
      </p:sp>
    </p:spTree>
    <p:extLst>
      <p:ext uri="{BB962C8B-B14F-4D97-AF65-F5344CB8AC3E}">
        <p14:creationId xmlns:p14="http://schemas.microsoft.com/office/powerpoint/2010/main" val="157735379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6"/>
        <p:cNvGrpSpPr/>
        <p:nvPr/>
      </p:nvGrpSpPr>
      <p:grpSpPr>
        <a:xfrm>
          <a:off x="0" y="0"/>
          <a:ext cx="0" cy="0"/>
          <a:chOff x="0" y="0"/>
          <a:chExt cx="0" cy="0"/>
        </a:xfrm>
      </p:grpSpPr>
      <p:sp>
        <p:nvSpPr>
          <p:cNvPr id="2827" name="Google Shape;2827;p14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8" name="Google Shape;2828;p1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Ohm's law refers to the law of change in the magnitude of resistance according to current and voltage. Resistance, current, and voltage have a close physical relationship with each other.</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Resistance (R) = Voltage (V) / Current (I)</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That is, the resistance is proportional to the magnitude of the voltage and inversely proportional to the magnitude of the current.</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2829" name="Google Shape;2829;p1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90</a:t>
            </a:fld>
            <a:endParaRPr/>
          </a:p>
        </p:txBody>
      </p:sp>
    </p:spTree>
    <p:extLst>
      <p:ext uri="{BB962C8B-B14F-4D97-AF65-F5344CB8AC3E}">
        <p14:creationId xmlns:p14="http://schemas.microsoft.com/office/powerpoint/2010/main" val="303810941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4"/>
        <p:cNvGrpSpPr/>
        <p:nvPr/>
      </p:nvGrpSpPr>
      <p:grpSpPr>
        <a:xfrm>
          <a:off x="0" y="0"/>
          <a:ext cx="0" cy="0"/>
          <a:chOff x="0" y="0"/>
          <a:chExt cx="0" cy="0"/>
        </a:xfrm>
      </p:grpSpPr>
      <p:sp>
        <p:nvSpPr>
          <p:cNvPr id="2845" name="Google Shape;2845;p14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6" name="Google Shape;2846;p1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Kirchhoff's law is commonly used to calculate the current in a circuit. KCL, the law of current, and KVL, the law of voltage, can be used to calculate current using simultaneous equations. When calculating current or trying to understand a circuit, it is a useful rule to know along with the Ohm's law.</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2847" name="Google Shape;2847;p1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91</a:t>
            </a:fld>
            <a:endParaRPr/>
          </a:p>
        </p:txBody>
      </p:sp>
    </p:spTree>
    <p:extLst>
      <p:ext uri="{BB962C8B-B14F-4D97-AF65-F5344CB8AC3E}">
        <p14:creationId xmlns:p14="http://schemas.microsoft.com/office/powerpoint/2010/main" val="380839795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6">
          <a:extLst>
            <a:ext uri="{FF2B5EF4-FFF2-40B4-BE49-F238E27FC236}">
              <a16:creationId xmlns:a16="http://schemas.microsoft.com/office/drawing/2014/main" id="{79E91C1E-651B-2596-CEA6-A254C595306D}"/>
            </a:ext>
          </a:extLst>
        </p:cNvPr>
        <p:cNvGrpSpPr/>
        <p:nvPr/>
      </p:nvGrpSpPr>
      <p:grpSpPr>
        <a:xfrm>
          <a:off x="0" y="0"/>
          <a:ext cx="0" cy="0"/>
          <a:chOff x="0" y="0"/>
          <a:chExt cx="0" cy="0"/>
        </a:xfrm>
      </p:grpSpPr>
      <p:sp>
        <p:nvSpPr>
          <p:cNvPr id="2747" name="Google Shape;2747;p144:notes">
            <a:extLst>
              <a:ext uri="{FF2B5EF4-FFF2-40B4-BE49-F238E27FC236}">
                <a16:creationId xmlns:a16="http://schemas.microsoft.com/office/drawing/2014/main" id="{7E3A0FCC-DEFF-A2D3-DEF5-9EF81429A85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8" name="Google Shape;2748;p144:notes">
            <a:extLst>
              <a:ext uri="{FF2B5EF4-FFF2-40B4-BE49-F238E27FC236}">
                <a16:creationId xmlns:a16="http://schemas.microsoft.com/office/drawing/2014/main" id="{C053F503-BF5E-FC40-B79B-935B405A05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9" name="Google Shape;2749;p144:notes">
            <a:extLst>
              <a:ext uri="{FF2B5EF4-FFF2-40B4-BE49-F238E27FC236}">
                <a16:creationId xmlns:a16="http://schemas.microsoft.com/office/drawing/2014/main" id="{7F11A4E9-7F7D-C2C7-F96D-88C5BB6BEAE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92</a:t>
            </a:fld>
            <a:endParaRPr/>
          </a:p>
        </p:txBody>
      </p:sp>
    </p:spTree>
    <p:extLst>
      <p:ext uri="{BB962C8B-B14F-4D97-AF65-F5344CB8AC3E}">
        <p14:creationId xmlns:p14="http://schemas.microsoft.com/office/powerpoint/2010/main" val="2424789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8"/>
        <p:cNvGrpSpPr/>
        <p:nvPr/>
      </p:nvGrpSpPr>
      <p:grpSpPr>
        <a:xfrm>
          <a:off x="0" y="0"/>
          <a:ext cx="0" cy="0"/>
          <a:chOff x="0" y="0"/>
          <a:chExt cx="0" cy="0"/>
        </a:xfrm>
      </p:grpSpPr>
      <p:sp>
        <p:nvSpPr>
          <p:cNvPr id="2869" name="Google Shape;2869;p15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0" name="Google Shape;2870;p1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871" name="Google Shape;2871;p1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93</a:t>
            </a:fld>
            <a:endParaRPr/>
          </a:p>
        </p:txBody>
      </p:sp>
    </p:spTree>
    <p:extLst>
      <p:ext uri="{BB962C8B-B14F-4D97-AF65-F5344CB8AC3E}">
        <p14:creationId xmlns:p14="http://schemas.microsoft.com/office/powerpoint/2010/main" val="276936566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2"/>
        <p:cNvGrpSpPr/>
        <p:nvPr/>
      </p:nvGrpSpPr>
      <p:grpSpPr>
        <a:xfrm>
          <a:off x="0" y="0"/>
          <a:ext cx="0" cy="0"/>
          <a:chOff x="0" y="0"/>
          <a:chExt cx="0" cy="0"/>
        </a:xfrm>
      </p:grpSpPr>
      <p:sp>
        <p:nvSpPr>
          <p:cNvPr id="2883" name="Google Shape;2883;p15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4" name="Google Shape;2884;p1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885" name="Google Shape;2885;p1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94</a:t>
            </a:fld>
            <a:endParaRPr/>
          </a:p>
        </p:txBody>
      </p:sp>
    </p:spTree>
    <p:extLst>
      <p:ext uri="{BB962C8B-B14F-4D97-AF65-F5344CB8AC3E}">
        <p14:creationId xmlns:p14="http://schemas.microsoft.com/office/powerpoint/2010/main" val="283586393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4"/>
        <p:cNvGrpSpPr/>
        <p:nvPr/>
      </p:nvGrpSpPr>
      <p:grpSpPr>
        <a:xfrm>
          <a:off x="0" y="0"/>
          <a:ext cx="0" cy="0"/>
          <a:chOff x="0" y="0"/>
          <a:chExt cx="0" cy="0"/>
        </a:xfrm>
      </p:grpSpPr>
      <p:sp>
        <p:nvSpPr>
          <p:cNvPr id="2905" name="Google Shape;2905;p15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6" name="Google Shape;2906;p1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In electrical engineering, resistance is a component that prevents electricity (exact current) from flowing well. To explain the principle of resistance briefly, resistance can convert electrical energy into heat, dissipating this heat. This reduces the voltage and likewise reduces the current.</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2907" name="Google Shape;2907;p1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95</a:t>
            </a:fld>
            <a:endParaRPr/>
          </a:p>
        </p:txBody>
      </p:sp>
    </p:spTree>
    <p:extLst>
      <p:ext uri="{BB962C8B-B14F-4D97-AF65-F5344CB8AC3E}">
        <p14:creationId xmlns:p14="http://schemas.microsoft.com/office/powerpoint/2010/main" val="99057906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2"/>
        <p:cNvGrpSpPr/>
        <p:nvPr/>
      </p:nvGrpSpPr>
      <p:grpSpPr>
        <a:xfrm>
          <a:off x="0" y="0"/>
          <a:ext cx="0" cy="0"/>
          <a:chOff x="0" y="0"/>
          <a:chExt cx="0" cy="0"/>
        </a:xfrm>
      </p:grpSpPr>
      <p:sp>
        <p:nvSpPr>
          <p:cNvPr id="2923" name="Google Shape;2923;p15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4" name="Google Shape;2924;p1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Types of resistor</a:t>
            </a:r>
            <a:endParaRPr/>
          </a:p>
          <a:p>
            <a:pPr marL="0" lvl="0" indent="0" algn="l" rtl="0">
              <a:spcBef>
                <a:spcPts val="0"/>
              </a:spcBef>
              <a:spcAft>
                <a:spcPts val="0"/>
              </a:spcAft>
              <a:buNone/>
            </a:pPr>
            <a:r>
              <a:rPr lang="en-US">
                <a:solidFill>
                  <a:srgbClr val="3F3F3F"/>
                </a:solidFill>
                <a:latin typeface="Arial"/>
                <a:ea typeface="Arial"/>
                <a:cs typeface="Arial"/>
                <a:sym typeface="Arial"/>
              </a:rPr>
              <a:t> - Fixed resister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 Variable resistor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 Special resistor</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Fixed resistor </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most common resistance, which has a constant resistance and does not change.</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2925" name="Google Shape;2925;p1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96</a:t>
            </a:fld>
            <a:endParaRPr/>
          </a:p>
        </p:txBody>
      </p:sp>
    </p:spTree>
    <p:extLst>
      <p:ext uri="{BB962C8B-B14F-4D97-AF65-F5344CB8AC3E}">
        <p14:creationId xmlns:p14="http://schemas.microsoft.com/office/powerpoint/2010/main" val="25394862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2"/>
        <p:cNvGrpSpPr/>
        <p:nvPr/>
      </p:nvGrpSpPr>
      <p:grpSpPr>
        <a:xfrm>
          <a:off x="0" y="0"/>
          <a:ext cx="0" cy="0"/>
          <a:chOff x="0" y="0"/>
          <a:chExt cx="0" cy="0"/>
        </a:xfrm>
      </p:grpSpPr>
      <p:sp>
        <p:nvSpPr>
          <p:cNvPr id="2943" name="Google Shape;2943;p15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4" name="Google Shape;2944;p1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Variable resistor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A resistor that allows the resistance value to be changed within a certain range. It is used for volume control or other control parts. In addition, there are rotation and slide methods, and semi-fixed resistors are used for fine adjustment in the circuit. This is called a potentiometer.</a:t>
            </a:r>
            <a:endParaRPr/>
          </a:p>
          <a:p>
            <a:pPr marL="0" lvl="0" indent="0" algn="l" rtl="0">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Special resistor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In the resistance production plant, not all resistance dimensions are made at regular intervals.</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If there is an intermediate resistance dimension that does not fall in this category, it is called a special resistor. (Mainly used for precision resistance)</a:t>
            </a:r>
            <a:endParaRPr/>
          </a:p>
          <a:p>
            <a:pPr marL="0" lvl="0" indent="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Special purpose resistor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It is not a resistor used in electronic circuits, but a resistor that is used for special purposes by making one resistor into the equipment. It refers to a resistor used in a dummy load or a load test of a power supply used for radio transmission performance test. There is also a special resistor made by specially winding method or by putting liquid with resistance in the container to make induction resistance without removing </a:t>
            </a:r>
            <a:r>
              <a:rPr lang="en-US" u="sng">
                <a:solidFill>
                  <a:srgbClr val="3F3F3F"/>
                </a:solidFill>
                <a:latin typeface="Arial"/>
                <a:ea typeface="Arial"/>
                <a:cs typeface="Arial"/>
                <a:sym typeface="Arial"/>
                <a:hlinkClick r:id="rId3">
                  <a:extLst>
                    <a:ext uri="{A12FA001-AC4F-418D-AE19-62706E023703}">
                      <ahyp:hlinkClr xmlns:ahyp="http://schemas.microsoft.com/office/drawing/2018/hyperlinkcolor" val="tx"/>
                    </a:ext>
                  </a:extLst>
                </a:hlinkClick>
              </a:rPr>
              <a:t>inductance</a:t>
            </a:r>
            <a:r>
              <a:rPr lang="en-US">
                <a:solidFill>
                  <a:srgbClr val="3F3F3F"/>
                </a:solidFill>
                <a:latin typeface="Arial"/>
                <a:ea typeface="Arial"/>
                <a:cs typeface="Arial"/>
                <a:sym typeface="Arial"/>
              </a:rPr>
              <a:t> from resistance.</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2945" name="Google Shape;2945;p1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97</a:t>
            </a:fld>
            <a:endParaRPr/>
          </a:p>
        </p:txBody>
      </p:sp>
    </p:spTree>
    <p:extLst>
      <p:ext uri="{BB962C8B-B14F-4D97-AF65-F5344CB8AC3E}">
        <p14:creationId xmlns:p14="http://schemas.microsoft.com/office/powerpoint/2010/main" val="93752422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6"/>
        <p:cNvGrpSpPr/>
        <p:nvPr/>
      </p:nvGrpSpPr>
      <p:grpSpPr>
        <a:xfrm>
          <a:off x="0" y="0"/>
          <a:ext cx="0" cy="0"/>
          <a:chOff x="0" y="0"/>
          <a:chExt cx="0" cy="0"/>
        </a:xfrm>
      </p:grpSpPr>
      <p:sp>
        <p:nvSpPr>
          <p:cNvPr id="2957" name="Google Shape;2957;p15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8" name="Google Shape;2958;p1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959" name="Google Shape;2959;p1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98</a:t>
            </a:fld>
            <a:endParaRPr/>
          </a:p>
        </p:txBody>
      </p:sp>
    </p:spTree>
    <p:extLst>
      <p:ext uri="{BB962C8B-B14F-4D97-AF65-F5344CB8AC3E}">
        <p14:creationId xmlns:p14="http://schemas.microsoft.com/office/powerpoint/2010/main" val="428751675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2"/>
        <p:cNvGrpSpPr/>
        <p:nvPr/>
      </p:nvGrpSpPr>
      <p:grpSpPr>
        <a:xfrm>
          <a:off x="0" y="0"/>
          <a:ext cx="0" cy="0"/>
          <a:chOff x="0" y="0"/>
          <a:chExt cx="0" cy="0"/>
        </a:xfrm>
      </p:grpSpPr>
      <p:sp>
        <p:nvSpPr>
          <p:cNvPr id="2983" name="Google Shape;2983;p15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4" name="Google Shape;2984;p1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985" name="Google Shape;2985;p1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99</a:t>
            </a:fld>
            <a:endParaRPr/>
          </a:p>
        </p:txBody>
      </p:sp>
    </p:spTree>
    <p:extLst>
      <p:ext uri="{BB962C8B-B14F-4D97-AF65-F5344CB8AC3E}">
        <p14:creationId xmlns:p14="http://schemas.microsoft.com/office/powerpoint/2010/main" val="330967584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90538" y="703263"/>
            <a:ext cx="6129337" cy="4244975"/>
          </a:xfrm>
        </p:spPr>
      </p:sp>
      <p:sp>
        <p:nvSpPr>
          <p:cNvPr id="3" name="슬라이드 노트 개체 틀 2"/>
          <p:cNvSpPr>
            <a:spLocks noGrp="1"/>
          </p:cNvSpPr>
          <p:nvPr>
            <p:ph type="body" idx="1"/>
          </p:nvPr>
        </p:nvSpPr>
        <p:spPr/>
        <p:txBody>
          <a:bodyPr/>
          <a:lstStyle/>
          <a:p>
            <a:pPr marL="171450" indent="-171450">
              <a:buFont typeface="Arial" panose="020B0604020202020204" pitchFamily="34" charset="0"/>
              <a:buChar char="•"/>
            </a:pPr>
            <a:r>
              <a:rPr lang="en-US" altLang="ko-KR" dirty="0">
                <a:solidFill>
                  <a:schemeClr val="tx1">
                    <a:lumMod val="75000"/>
                    <a:lumOff val="25000"/>
                  </a:schemeClr>
                </a:solidFill>
                <a:latin typeface="Arial" panose="020B0604020202020204" pitchFamily="34" charset="0"/>
                <a:cs typeface="Arial" panose="020B0604020202020204" pitchFamily="34" charset="0"/>
              </a:rPr>
              <a:t>Power Consumption</a:t>
            </a:r>
          </a:p>
          <a:p>
            <a:pPr marL="0" indent="0">
              <a:buFont typeface="Arial" panose="020B0604020202020204" pitchFamily="34" charset="0"/>
              <a:buNone/>
            </a:pPr>
            <a:r>
              <a:rPr lang="en-US" altLang="ko-KR" dirty="0">
                <a:solidFill>
                  <a:schemeClr val="tx1">
                    <a:lumMod val="75000"/>
                    <a:lumOff val="25000"/>
                  </a:schemeClr>
                </a:solidFill>
                <a:latin typeface="Arial" panose="020B0604020202020204" pitchFamily="34" charset="0"/>
                <a:cs typeface="Arial" panose="020B0604020202020204" pitchFamily="34" charset="0"/>
              </a:rPr>
              <a:t>In general, just as energy is required to work, electrical energy is required to operate an electric device such as a motor, a heater, and a lamp. It is power consumption that expresses how much energy these electric devices require.</a:t>
            </a:r>
          </a:p>
          <a:p>
            <a:pPr marL="0" indent="0">
              <a:buFont typeface="Arial" panose="020B0604020202020204" pitchFamily="34" charset="0"/>
              <a:buNone/>
            </a:pPr>
            <a:endParaRPr lang="en-US" altLang="ko-KR"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altLang="ko-KR" dirty="0">
                <a:solidFill>
                  <a:schemeClr val="tx1">
                    <a:lumMod val="75000"/>
                    <a:lumOff val="25000"/>
                  </a:schemeClr>
                </a:solidFill>
                <a:latin typeface="Arial" panose="020B0604020202020204" pitchFamily="34" charset="0"/>
                <a:cs typeface="Arial" panose="020B0604020202020204" pitchFamily="34" charset="0"/>
              </a:rPr>
              <a:t>Rated power</a:t>
            </a:r>
          </a:p>
          <a:p>
            <a:pPr marL="0" indent="0">
              <a:buFont typeface="Arial" panose="020B0604020202020204" pitchFamily="34" charset="0"/>
              <a:buNone/>
            </a:pPr>
            <a:r>
              <a:rPr lang="en-US" altLang="ko-KR" dirty="0">
                <a:solidFill>
                  <a:schemeClr val="tx1">
                    <a:lumMod val="75000"/>
                    <a:lumOff val="25000"/>
                  </a:schemeClr>
                </a:solidFill>
                <a:latin typeface="Arial" panose="020B0604020202020204" pitchFamily="34" charset="0"/>
                <a:cs typeface="Arial" panose="020B0604020202020204" pitchFamily="34" charset="0"/>
              </a:rPr>
              <a:t>Since this power is radiated with heat in the case of resistors, if the power consumption is too large, the temperature of the resistor rises and it may burn or melt. Therefore, it is necessary to indicate the application of a resistor capable of dissipating power up to several W, which is the rated power of the resistor. However, in consideration of safety such as the loss of resistance, it is usually used for power consumption of less than 1/2 of rated power.</a:t>
            </a:r>
            <a:endParaRPr lang="ko-KR" altLang="en-US" dirty="0">
              <a:solidFill>
                <a:schemeClr val="tx1">
                  <a:lumMod val="75000"/>
                  <a:lumOff val="25000"/>
                </a:schemeClr>
              </a:solidFill>
              <a:latin typeface="Arial" panose="020B0604020202020204" pitchFamily="34" charset="0"/>
              <a:cs typeface="Arial" panose="020B0604020202020204" pitchFamily="34" charset="0"/>
            </a:endParaRPr>
          </a:p>
          <a:p>
            <a:endParaRPr lang="en-US" altLang="ko-KR" dirty="0">
              <a:latin typeface="Arial" panose="020B0604020202020204" pitchFamily="34" charset="0"/>
              <a:cs typeface="Arial" panose="020B0604020202020204" pitchFamily="34" charset="0"/>
            </a:endParaRPr>
          </a:p>
        </p:txBody>
      </p:sp>
      <p:sp>
        <p:nvSpPr>
          <p:cNvPr id="4" name="슬라이드 번호 개체 틀 3"/>
          <p:cNvSpPr>
            <a:spLocks noGrp="1"/>
          </p:cNvSpPr>
          <p:nvPr>
            <p:ph type="sldNum" sz="quarter" idx="5"/>
          </p:nvPr>
        </p:nvSpPr>
        <p:spPr/>
        <p:txBody>
          <a:bodyPr/>
          <a:lstStyle/>
          <a:p>
            <a:fld id="{B7D50566-EB7F-4578-83A4-5927877D7F20}" type="slidenum">
              <a:rPr lang="ko-KR" altLang="en-US" smtClean="0"/>
              <a:t>100</a:t>
            </a:fld>
            <a:endParaRPr lang="ko-KR" altLang="en-US"/>
          </a:p>
        </p:txBody>
      </p:sp>
    </p:spTree>
    <p:extLst>
      <p:ext uri="{BB962C8B-B14F-4D97-AF65-F5344CB8AC3E}">
        <p14:creationId xmlns:p14="http://schemas.microsoft.com/office/powerpoint/2010/main" val="197294014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2"/>
        <p:cNvGrpSpPr/>
        <p:nvPr/>
      </p:nvGrpSpPr>
      <p:grpSpPr>
        <a:xfrm>
          <a:off x="0" y="0"/>
          <a:ext cx="0" cy="0"/>
          <a:chOff x="0" y="0"/>
          <a:chExt cx="0" cy="0"/>
        </a:xfrm>
      </p:grpSpPr>
      <p:sp>
        <p:nvSpPr>
          <p:cNvPr id="3043" name="Google Shape;3043;p15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4" name="Google Shape;3044;p1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Capacitors perform two functions.</a:t>
            </a:r>
            <a:endParaRPr/>
          </a:p>
          <a:p>
            <a:pPr marL="0" lvl="0" indent="0" algn="l" rtl="0">
              <a:spcBef>
                <a:spcPts val="0"/>
              </a:spcBef>
              <a:spcAft>
                <a:spcPts val="0"/>
              </a:spcAft>
              <a:buNone/>
            </a:pPr>
            <a:r>
              <a:rPr lang="en-US">
                <a:solidFill>
                  <a:srgbClr val="3F3F3F"/>
                </a:solidFill>
                <a:latin typeface="Arial"/>
                <a:ea typeface="Arial"/>
                <a:cs typeface="Arial"/>
                <a:sym typeface="Arial"/>
              </a:rPr>
              <a:t>1. Accumulate (store) electricity (charge) at each electrode when DC voltage is applied (no current flows after storing the capacity of the capacitor)</a:t>
            </a:r>
            <a:endParaRPr/>
          </a:p>
          <a:p>
            <a:pPr marL="0" lvl="0" indent="0" algn="l" rtl="0">
              <a:spcBef>
                <a:spcPts val="0"/>
              </a:spcBef>
              <a:spcAft>
                <a:spcPts val="0"/>
              </a:spcAft>
              <a:buNone/>
            </a:pPr>
            <a:r>
              <a:rPr lang="en-US">
                <a:solidFill>
                  <a:srgbClr val="3F3F3F"/>
                </a:solidFill>
                <a:latin typeface="Arial"/>
                <a:ea typeface="Arial"/>
                <a:cs typeface="Arial"/>
                <a:sym typeface="Arial"/>
              </a:rPr>
              <a:t>2. In AC voltage, it cuts off DC voltage and passes AC component</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Capacitors store electricity. Capacitors do not allow direct current to flow, but allow alternating current to flow, with higher capacities and higher frequencies. The capacity BÀI is F (farad), but generally pF (picofarad) and uF (microfarad) are the main BÀIs.</a:t>
            </a:r>
            <a:endParaRPr/>
          </a:p>
        </p:txBody>
      </p:sp>
      <p:sp>
        <p:nvSpPr>
          <p:cNvPr id="3045" name="Google Shape;3045;p1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101</a:t>
            </a:fld>
            <a:endParaRPr/>
          </a:p>
        </p:txBody>
      </p:sp>
    </p:spTree>
    <p:extLst>
      <p:ext uri="{BB962C8B-B14F-4D97-AF65-F5344CB8AC3E}">
        <p14:creationId xmlns:p14="http://schemas.microsoft.com/office/powerpoint/2010/main" val="422156062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4"/>
        <p:cNvGrpSpPr/>
        <p:nvPr/>
      </p:nvGrpSpPr>
      <p:grpSpPr>
        <a:xfrm>
          <a:off x="0" y="0"/>
          <a:ext cx="0" cy="0"/>
          <a:chOff x="0" y="0"/>
          <a:chExt cx="0" cy="0"/>
        </a:xfrm>
      </p:grpSpPr>
      <p:sp>
        <p:nvSpPr>
          <p:cNvPr id="3055" name="Google Shape;3055;p16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6" name="Google Shape;3056;p1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Use of Capacitors</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Use to hold unstable power</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Use as a method to remove noise</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Used to cut off direct current and pass alternating current</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Used for stable operation of ICs</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3057" name="Google Shape;3057;p1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102</a:t>
            </a:fld>
            <a:endParaRPr/>
          </a:p>
        </p:txBody>
      </p:sp>
    </p:spTree>
    <p:extLst>
      <p:ext uri="{BB962C8B-B14F-4D97-AF65-F5344CB8AC3E}">
        <p14:creationId xmlns:p14="http://schemas.microsoft.com/office/powerpoint/2010/main" val="424597893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0"/>
        <p:cNvGrpSpPr/>
        <p:nvPr/>
      </p:nvGrpSpPr>
      <p:grpSpPr>
        <a:xfrm>
          <a:off x="0" y="0"/>
          <a:ext cx="0" cy="0"/>
          <a:chOff x="0" y="0"/>
          <a:chExt cx="0" cy="0"/>
        </a:xfrm>
      </p:grpSpPr>
      <p:sp>
        <p:nvSpPr>
          <p:cNvPr id="3081" name="Google Shape;3081;p16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2" name="Google Shape;3082;p1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Electrolytic Capacitor</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The advantage is that the dielectric material can be made thinner so that a large capacity can be obtained even at a small size.</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There is a positive (long wire +) capacitor, and the polarity, voltage, and capacitance are written on the surface of the capacitor.</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This capacitor is mainly used for power supply stabilization, low frequency bypass, etc. and should be used as it may burst if the pole is connected incorrectly.</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Tantalum Capacitor</a:t>
            </a:r>
            <a:endParaRPr/>
          </a:p>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It is a capacitor that uses tantalum as an electrode, and its use is similar to that of an electrolytic capacitor, but its error, characteristics, and frequency are superior to those of an electrolytic capacitor. The price is higher.</a:t>
            </a:r>
            <a:endParaRPr>
              <a:solidFill>
                <a:srgbClr val="3F3F3F"/>
              </a:solidFill>
              <a:latin typeface="Arial"/>
              <a:ea typeface="Arial"/>
              <a:cs typeface="Arial"/>
              <a:sym typeface="Arial"/>
            </a:endParaRPr>
          </a:p>
        </p:txBody>
      </p:sp>
      <p:sp>
        <p:nvSpPr>
          <p:cNvPr id="3083" name="Google Shape;3083;p1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103</a:t>
            </a:fld>
            <a:endParaRPr/>
          </a:p>
        </p:txBody>
      </p:sp>
    </p:spTree>
    <p:extLst>
      <p:ext uri="{BB962C8B-B14F-4D97-AF65-F5344CB8AC3E}">
        <p14:creationId xmlns:p14="http://schemas.microsoft.com/office/powerpoint/2010/main" val="247869211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5"/>
        <p:cNvGrpSpPr/>
        <p:nvPr/>
      </p:nvGrpSpPr>
      <p:grpSpPr>
        <a:xfrm>
          <a:off x="0" y="0"/>
          <a:ext cx="0" cy="0"/>
          <a:chOff x="0" y="0"/>
          <a:chExt cx="0" cy="0"/>
        </a:xfrm>
      </p:grpSpPr>
      <p:sp>
        <p:nvSpPr>
          <p:cNvPr id="3096" name="Google Shape;3096;p16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7" name="Google Shape;3097;p1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Arial"/>
              <a:buNone/>
            </a:pPr>
            <a:r>
              <a:rPr lang="en-US" dirty="0">
                <a:solidFill>
                  <a:srgbClr val="3F3F3F"/>
                </a:solidFill>
                <a:latin typeface="Arial"/>
                <a:ea typeface="Arial"/>
                <a:cs typeface="Arial"/>
                <a:sym typeface="Arial"/>
              </a:rPr>
              <a:t>Ceramic capacitor</a:t>
            </a:r>
            <a:endParaRPr dirty="0"/>
          </a:p>
          <a:p>
            <a:pPr marL="171450" lvl="0" indent="-171450" algn="l" rtl="0">
              <a:spcBef>
                <a:spcPts val="0"/>
              </a:spcBef>
              <a:spcAft>
                <a:spcPts val="0"/>
              </a:spcAft>
              <a:buClr>
                <a:srgbClr val="3F3F3F"/>
              </a:buClr>
              <a:buSzPts val="1200"/>
              <a:buFont typeface="Arial"/>
              <a:buChar char="•"/>
            </a:pPr>
            <a:r>
              <a:rPr lang="en-US" dirty="0">
                <a:solidFill>
                  <a:srgbClr val="3F3F3F"/>
                </a:solidFill>
                <a:latin typeface="Arial"/>
                <a:ea typeface="Arial"/>
                <a:cs typeface="Arial"/>
                <a:sym typeface="Arial"/>
              </a:rPr>
              <a:t>A capacitor made of dielectric material such as ceramic thin film with high dielectric constant and barium titanate.</a:t>
            </a:r>
            <a:endParaRPr dirty="0"/>
          </a:p>
          <a:p>
            <a:pPr marL="171450" lvl="0" indent="-171450" algn="l" rtl="0">
              <a:spcBef>
                <a:spcPts val="0"/>
              </a:spcBef>
              <a:spcAft>
                <a:spcPts val="0"/>
              </a:spcAft>
              <a:buClr>
                <a:srgbClr val="3F3F3F"/>
              </a:buClr>
              <a:buSzPts val="1200"/>
              <a:buFont typeface="Arial"/>
              <a:buChar char="•"/>
            </a:pPr>
            <a:r>
              <a:rPr lang="en-US" dirty="0">
                <a:solidFill>
                  <a:srgbClr val="3F3F3F"/>
                </a:solidFill>
                <a:latin typeface="Arial"/>
                <a:ea typeface="Arial"/>
                <a:cs typeface="Arial"/>
                <a:sym typeface="Arial"/>
              </a:rPr>
              <a:t>It has a thin film or disk shape, relatively small capacity, and high frequency characteristics, so that it is commonly used for high frequency pipe.</a:t>
            </a:r>
            <a:endParaRPr dirty="0"/>
          </a:p>
          <a:p>
            <a:pPr marL="0" lvl="0" indent="0" algn="l" rtl="0">
              <a:spcBef>
                <a:spcPts val="0"/>
              </a:spcBef>
              <a:spcAft>
                <a:spcPts val="0"/>
              </a:spcAft>
              <a:buNone/>
            </a:pPr>
            <a:endParaRPr dirty="0">
              <a:solidFill>
                <a:srgbClr val="3F3F3F"/>
              </a:solidFill>
              <a:latin typeface="Arial"/>
              <a:ea typeface="Arial"/>
              <a:cs typeface="Arial"/>
              <a:sym typeface="Arial"/>
            </a:endParaRPr>
          </a:p>
          <a:p>
            <a:pPr marL="0" lvl="0" indent="0" algn="l" rtl="0">
              <a:spcBef>
                <a:spcPts val="0"/>
              </a:spcBef>
              <a:spcAft>
                <a:spcPts val="0"/>
              </a:spcAft>
              <a:buClr>
                <a:srgbClr val="3F3F3F"/>
              </a:buClr>
              <a:buSzPts val="1200"/>
              <a:buFont typeface="Arial"/>
              <a:buNone/>
            </a:pPr>
            <a:r>
              <a:rPr lang="en-US" dirty="0" err="1">
                <a:solidFill>
                  <a:srgbClr val="3F3F3F"/>
                </a:solidFill>
                <a:latin typeface="Arial"/>
                <a:ea typeface="Arial"/>
                <a:cs typeface="Arial"/>
                <a:sym typeface="Arial"/>
              </a:rPr>
              <a:t>Varicon</a:t>
            </a:r>
            <a:endParaRPr dirty="0">
              <a:solidFill>
                <a:srgbClr val="3F3F3F"/>
              </a:solidFill>
              <a:latin typeface="Arial"/>
              <a:ea typeface="Arial"/>
              <a:cs typeface="Arial"/>
              <a:sym typeface="Arial"/>
            </a:endParaRPr>
          </a:p>
          <a:p>
            <a:pPr marL="171450" lvl="0" indent="-171450" algn="l" rtl="0">
              <a:spcBef>
                <a:spcPts val="0"/>
              </a:spcBef>
              <a:spcAft>
                <a:spcPts val="0"/>
              </a:spcAft>
              <a:buClr>
                <a:srgbClr val="3F3F3F"/>
              </a:buClr>
              <a:buSzPts val="1200"/>
              <a:buFont typeface="Arial"/>
              <a:buChar char="•"/>
            </a:pPr>
            <a:r>
              <a:rPr lang="en-US" dirty="0">
                <a:solidFill>
                  <a:srgbClr val="3F3F3F"/>
                </a:solidFill>
                <a:latin typeface="Arial"/>
                <a:ea typeface="Arial"/>
                <a:cs typeface="Arial"/>
                <a:sym typeface="Arial"/>
              </a:rPr>
              <a:t>It is a variable capacitor that uses air as a dielectric, and is used in tuners for selecting radio broadcasting.</a:t>
            </a:r>
            <a:endParaRPr dirty="0"/>
          </a:p>
          <a:p>
            <a:pPr marL="0" lvl="0" indent="0" algn="l" rtl="0">
              <a:spcBef>
                <a:spcPts val="0"/>
              </a:spcBef>
              <a:spcAft>
                <a:spcPts val="0"/>
              </a:spcAft>
              <a:buNone/>
            </a:pPr>
            <a:endParaRPr dirty="0">
              <a:solidFill>
                <a:srgbClr val="3F3F3F"/>
              </a:solidFill>
              <a:latin typeface="Arial"/>
              <a:ea typeface="Arial"/>
              <a:cs typeface="Arial"/>
              <a:sym typeface="Arial"/>
            </a:endParaRPr>
          </a:p>
          <a:p>
            <a:pPr marL="0" lvl="0" indent="0" algn="l" rtl="0">
              <a:spcBef>
                <a:spcPts val="0"/>
              </a:spcBef>
              <a:spcAft>
                <a:spcPts val="0"/>
              </a:spcAft>
              <a:buClr>
                <a:srgbClr val="3F3F3F"/>
              </a:buClr>
              <a:buSzPts val="1200"/>
              <a:buFont typeface="Arial"/>
              <a:buNone/>
            </a:pPr>
            <a:r>
              <a:rPr lang="en-US" dirty="0">
                <a:solidFill>
                  <a:srgbClr val="3F3F3F"/>
                </a:solidFill>
                <a:latin typeface="Arial"/>
                <a:ea typeface="Arial"/>
                <a:cs typeface="Arial"/>
                <a:sym typeface="Arial"/>
              </a:rPr>
              <a:t>Trimmer</a:t>
            </a:r>
            <a:endParaRPr dirty="0"/>
          </a:p>
          <a:p>
            <a:pPr marL="171450" lvl="0" indent="-171450" algn="l" rtl="0">
              <a:spcBef>
                <a:spcPts val="0"/>
              </a:spcBef>
              <a:spcAft>
                <a:spcPts val="0"/>
              </a:spcAft>
              <a:buClr>
                <a:srgbClr val="3F3F3F"/>
              </a:buClr>
              <a:buSzPts val="1200"/>
              <a:buFont typeface="Arial"/>
              <a:buChar char="•"/>
            </a:pPr>
            <a:r>
              <a:rPr lang="en-US" dirty="0">
                <a:solidFill>
                  <a:srgbClr val="3F3F3F"/>
                </a:solidFill>
                <a:latin typeface="Arial"/>
                <a:ea typeface="Arial"/>
                <a:cs typeface="Arial"/>
                <a:sym typeface="Arial"/>
              </a:rPr>
              <a:t>It is a variable capacitance capacitor using ceramic as a dielectric material. It is mainly used to adjust the capacitance value as necessary according to the frequency required for mobile communication and broadcasting system.</a:t>
            </a:r>
            <a:endParaRPr dirty="0">
              <a:solidFill>
                <a:srgbClr val="3F3F3F"/>
              </a:solidFill>
              <a:latin typeface="Arial"/>
              <a:ea typeface="Arial"/>
              <a:cs typeface="Arial"/>
              <a:sym typeface="Arial"/>
            </a:endParaRPr>
          </a:p>
          <a:p>
            <a:pPr marL="0" lvl="0" indent="0" algn="l" rtl="0">
              <a:spcBef>
                <a:spcPts val="0"/>
              </a:spcBef>
              <a:spcAft>
                <a:spcPts val="0"/>
              </a:spcAft>
              <a:buNone/>
            </a:pPr>
            <a:endParaRPr dirty="0">
              <a:latin typeface="Arial"/>
              <a:ea typeface="Arial"/>
              <a:cs typeface="Arial"/>
              <a:sym typeface="Arial"/>
            </a:endParaRPr>
          </a:p>
        </p:txBody>
      </p:sp>
      <p:sp>
        <p:nvSpPr>
          <p:cNvPr id="3098" name="Google Shape;3098;p1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104</a:t>
            </a:fld>
            <a:endParaRPr/>
          </a:p>
        </p:txBody>
      </p:sp>
    </p:spTree>
    <p:extLst>
      <p:ext uri="{BB962C8B-B14F-4D97-AF65-F5344CB8AC3E}">
        <p14:creationId xmlns:p14="http://schemas.microsoft.com/office/powerpoint/2010/main" val="29280332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1"/>
        <p:cNvGrpSpPr/>
        <p:nvPr/>
      </p:nvGrpSpPr>
      <p:grpSpPr>
        <a:xfrm>
          <a:off x="0" y="0"/>
          <a:ext cx="0" cy="0"/>
          <a:chOff x="0" y="0"/>
          <a:chExt cx="0" cy="0"/>
        </a:xfrm>
      </p:grpSpPr>
      <p:sp>
        <p:nvSpPr>
          <p:cNvPr id="3112" name="Google Shape;3112;p16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3" name="Google Shape;3113;p1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3114" name="Google Shape;3114;p1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105</a:t>
            </a:fld>
            <a:endParaRPr/>
          </a:p>
        </p:txBody>
      </p:sp>
    </p:spTree>
    <p:extLst>
      <p:ext uri="{BB962C8B-B14F-4D97-AF65-F5344CB8AC3E}">
        <p14:creationId xmlns:p14="http://schemas.microsoft.com/office/powerpoint/2010/main" val="394619453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5"/>
        <p:cNvGrpSpPr/>
        <p:nvPr/>
      </p:nvGrpSpPr>
      <p:grpSpPr>
        <a:xfrm>
          <a:off x="0" y="0"/>
          <a:ext cx="0" cy="0"/>
          <a:chOff x="0" y="0"/>
          <a:chExt cx="0" cy="0"/>
        </a:xfrm>
      </p:grpSpPr>
      <p:sp>
        <p:nvSpPr>
          <p:cNvPr id="3126" name="Google Shape;3126;p16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7" name="Google Shape;3127;p1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A diode refers to a semiconductor device or a two-pole vacuum tube having a property of flowing current in one direction and not flowing in the reverse direction. Usually used to convert AC to DC.</a:t>
            </a:r>
            <a:endParaRPr>
              <a:solidFill>
                <a:srgbClr val="3F3F3F"/>
              </a:solidFill>
              <a:latin typeface="Arial"/>
              <a:ea typeface="Arial"/>
              <a:cs typeface="Arial"/>
              <a:sym typeface="Arial"/>
            </a:endParaRPr>
          </a:p>
        </p:txBody>
      </p:sp>
      <p:sp>
        <p:nvSpPr>
          <p:cNvPr id="3128" name="Google Shape;3128;p1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106</a:t>
            </a:fld>
            <a:endParaRPr/>
          </a:p>
        </p:txBody>
      </p:sp>
    </p:spTree>
    <p:extLst>
      <p:ext uri="{BB962C8B-B14F-4D97-AF65-F5344CB8AC3E}">
        <p14:creationId xmlns:p14="http://schemas.microsoft.com/office/powerpoint/2010/main" val="17030525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5"/>
        <p:cNvGrpSpPr/>
        <p:nvPr/>
      </p:nvGrpSpPr>
      <p:grpSpPr>
        <a:xfrm>
          <a:off x="0" y="0"/>
          <a:ext cx="0" cy="0"/>
          <a:chOff x="0" y="0"/>
          <a:chExt cx="0" cy="0"/>
        </a:xfrm>
      </p:grpSpPr>
      <p:sp>
        <p:nvSpPr>
          <p:cNvPr id="3146" name="Google Shape;3146;p16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7" name="Google Shape;3147;p1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3148" name="Google Shape;3148;p1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107</a:t>
            </a:fld>
            <a:endParaRPr/>
          </a:p>
        </p:txBody>
      </p:sp>
    </p:spTree>
    <p:extLst>
      <p:ext uri="{BB962C8B-B14F-4D97-AF65-F5344CB8AC3E}">
        <p14:creationId xmlns:p14="http://schemas.microsoft.com/office/powerpoint/2010/main" val="109831102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6"/>
        <p:cNvGrpSpPr/>
        <p:nvPr/>
      </p:nvGrpSpPr>
      <p:grpSpPr>
        <a:xfrm>
          <a:off x="0" y="0"/>
          <a:ext cx="0" cy="0"/>
          <a:chOff x="0" y="0"/>
          <a:chExt cx="0" cy="0"/>
        </a:xfrm>
      </p:grpSpPr>
      <p:sp>
        <p:nvSpPr>
          <p:cNvPr id="3157" name="Google Shape;3157;p16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8" name="Google Shape;3158;p1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3159" name="Google Shape;3159;p1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108</a:t>
            </a:fld>
            <a:endParaRPr/>
          </a:p>
        </p:txBody>
      </p:sp>
    </p:spTree>
    <p:extLst>
      <p:ext uri="{BB962C8B-B14F-4D97-AF65-F5344CB8AC3E}">
        <p14:creationId xmlns:p14="http://schemas.microsoft.com/office/powerpoint/2010/main" val="295589445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8"/>
        <p:cNvGrpSpPr/>
        <p:nvPr/>
      </p:nvGrpSpPr>
      <p:grpSpPr>
        <a:xfrm>
          <a:off x="0" y="0"/>
          <a:ext cx="0" cy="0"/>
          <a:chOff x="0" y="0"/>
          <a:chExt cx="0" cy="0"/>
        </a:xfrm>
      </p:grpSpPr>
      <p:sp>
        <p:nvSpPr>
          <p:cNvPr id="3189" name="Google Shape;3189;p16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0" name="Google Shape;3190;p1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3191" name="Google Shape;3191;p1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109</a:t>
            </a:fld>
            <a:endParaRPr/>
          </a:p>
        </p:txBody>
      </p:sp>
    </p:spTree>
    <p:extLst>
      <p:ext uri="{BB962C8B-B14F-4D97-AF65-F5344CB8AC3E}">
        <p14:creationId xmlns:p14="http://schemas.microsoft.com/office/powerpoint/2010/main" val="313555520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2"/>
        <p:cNvGrpSpPr/>
        <p:nvPr/>
      </p:nvGrpSpPr>
      <p:grpSpPr>
        <a:xfrm>
          <a:off x="0" y="0"/>
          <a:ext cx="0" cy="0"/>
          <a:chOff x="0" y="0"/>
          <a:chExt cx="0" cy="0"/>
        </a:xfrm>
      </p:grpSpPr>
      <p:sp>
        <p:nvSpPr>
          <p:cNvPr id="3203" name="Google Shape;3203;p16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4" name="Google Shape;3204;p1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3205" name="Google Shape;3205;p1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110</a:t>
            </a:fld>
            <a:endParaRPr/>
          </a:p>
        </p:txBody>
      </p:sp>
    </p:spTree>
    <p:extLst>
      <p:ext uri="{BB962C8B-B14F-4D97-AF65-F5344CB8AC3E}">
        <p14:creationId xmlns:p14="http://schemas.microsoft.com/office/powerpoint/2010/main" val="327845598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2"/>
        <p:cNvGrpSpPr/>
        <p:nvPr/>
      </p:nvGrpSpPr>
      <p:grpSpPr>
        <a:xfrm>
          <a:off x="0" y="0"/>
          <a:ext cx="0" cy="0"/>
          <a:chOff x="0" y="0"/>
          <a:chExt cx="0" cy="0"/>
        </a:xfrm>
      </p:grpSpPr>
      <p:sp>
        <p:nvSpPr>
          <p:cNvPr id="3213" name="Google Shape;3213;p16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4" name="Google Shape;3214;p1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3215" name="Google Shape;3215;p1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111</a:t>
            </a:fld>
            <a:endParaRPr/>
          </a:p>
        </p:txBody>
      </p:sp>
    </p:spTree>
    <p:extLst>
      <p:ext uri="{BB962C8B-B14F-4D97-AF65-F5344CB8AC3E}">
        <p14:creationId xmlns:p14="http://schemas.microsoft.com/office/powerpoint/2010/main" val="323668078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2"/>
        <p:cNvGrpSpPr/>
        <p:nvPr/>
      </p:nvGrpSpPr>
      <p:grpSpPr>
        <a:xfrm>
          <a:off x="0" y="0"/>
          <a:ext cx="0" cy="0"/>
          <a:chOff x="0" y="0"/>
          <a:chExt cx="0" cy="0"/>
        </a:xfrm>
      </p:grpSpPr>
      <p:sp>
        <p:nvSpPr>
          <p:cNvPr id="3233" name="Google Shape;3233;p17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4" name="Google Shape;3234;p1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Integrated circuit</a:t>
            </a:r>
            <a:endParaRPr/>
          </a:p>
          <a:p>
            <a:pPr marL="0" lvl="0" indent="0" algn="l" rtl="0">
              <a:spcBef>
                <a:spcPts val="0"/>
              </a:spcBef>
              <a:spcAft>
                <a:spcPts val="0"/>
              </a:spcAft>
              <a:buNone/>
            </a:pPr>
            <a:r>
              <a:rPr lang="en-US">
                <a:solidFill>
                  <a:srgbClr val="3F3F3F"/>
                </a:solidFill>
                <a:latin typeface="Arial"/>
                <a:ea typeface="Arial"/>
                <a:cs typeface="Arial"/>
                <a:sym typeface="Arial"/>
              </a:rPr>
              <a:t>Many electronic circuit devices are functionally complex electronic devices or systems of very small structure in which they are inseparably coupled onto one substrate or to the substrate itself.</a:t>
            </a:r>
            <a:endParaRPr>
              <a:solidFill>
                <a:srgbClr val="3F3F3F"/>
              </a:solidFill>
              <a:latin typeface="Arial"/>
              <a:ea typeface="Arial"/>
              <a:cs typeface="Arial"/>
              <a:sym typeface="Arial"/>
            </a:endParaRPr>
          </a:p>
        </p:txBody>
      </p:sp>
      <p:sp>
        <p:nvSpPr>
          <p:cNvPr id="3235" name="Google Shape;3235;p1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112</a:t>
            </a:fld>
            <a:endParaRPr/>
          </a:p>
        </p:txBody>
      </p:sp>
    </p:spTree>
    <p:extLst>
      <p:ext uri="{BB962C8B-B14F-4D97-AF65-F5344CB8AC3E}">
        <p14:creationId xmlns:p14="http://schemas.microsoft.com/office/powerpoint/2010/main" val="276932650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2"/>
        <p:cNvGrpSpPr/>
        <p:nvPr/>
      </p:nvGrpSpPr>
      <p:grpSpPr>
        <a:xfrm>
          <a:off x="0" y="0"/>
          <a:ext cx="0" cy="0"/>
          <a:chOff x="0" y="0"/>
          <a:chExt cx="0" cy="0"/>
        </a:xfrm>
      </p:grpSpPr>
      <p:sp>
        <p:nvSpPr>
          <p:cNvPr id="3243" name="Google Shape;3243;p17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4" name="Google Shape;3244;p1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A programmable logic device (PLD) is an integrated circuit that allows a user to change the structure of an internal logic circuit after manufacturing. In the early days, it was common to be pre-programmed and provided in production so that no circuit changes were required. Recently, the circuit can be redefined during operation, so it is also called a reconfigurable logic device. Logic devices are manufactured with specifications and functions defined at design time, so unlike general integrated circuits that cannot be changed later, circuits are shipped undefined and users can record and operate arbitrary circuits.</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All-round integrated circuits use ASICs for high-volume manufacturing, but they require initial development costs such as technical assets, equipment, and IP, which can be spent on designing, and design time cannot be used elsewhere. Because of this, even a small mistake can be unacceptable to the developer. However, designable logic devices do not require an initial development cost and can be rewritten many times. Today, they are widely used from development to production with support from many people.</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3245" name="Google Shape;3245;p1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113</a:t>
            </a:fld>
            <a:endParaRPr/>
          </a:p>
        </p:txBody>
      </p:sp>
    </p:spTree>
    <p:extLst>
      <p:ext uri="{BB962C8B-B14F-4D97-AF65-F5344CB8AC3E}">
        <p14:creationId xmlns:p14="http://schemas.microsoft.com/office/powerpoint/2010/main" val="184014241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7"/>
        <p:cNvGrpSpPr/>
        <p:nvPr/>
      </p:nvGrpSpPr>
      <p:grpSpPr>
        <a:xfrm>
          <a:off x="0" y="0"/>
          <a:ext cx="0" cy="0"/>
          <a:chOff x="0" y="0"/>
          <a:chExt cx="0" cy="0"/>
        </a:xfrm>
      </p:grpSpPr>
      <p:sp>
        <p:nvSpPr>
          <p:cNvPr id="3258" name="Google Shape;3258;p17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9" name="Google Shape;3259;p1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3F3F3F"/>
                </a:solidFill>
                <a:latin typeface="Arial"/>
                <a:ea typeface="Arial"/>
                <a:cs typeface="Arial"/>
                <a:sym typeface="Arial"/>
              </a:rPr>
              <a:t>It is a "DC-coupled" high gain voltage amplifier with two differential inputs and usually one single output. One op-amp produces an output voltage that is typically one hundred to several thousand times greater than the difference in voltage between its input terminals.</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Operational amplifiers are important building blocks in various types of electronic circuits.</a:t>
            </a:r>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r>
              <a:rPr lang="en-US">
                <a:solidFill>
                  <a:srgbClr val="3F3F3F"/>
                </a:solidFill>
                <a:latin typeface="Arial"/>
                <a:ea typeface="Arial"/>
                <a:cs typeface="Arial"/>
                <a:sym typeface="Arial"/>
              </a:rPr>
              <a:t>The origin of operational amplifiers is analog computers used in linear, nonlinear, and frequency-dependent circuits. The characteristics of the final element, such as gain, are popular in circuit design because they are set by external components, with little dependence on temperature variations and the non-uniform manufacturing state of the op-amp itself.</a:t>
            </a:r>
            <a:endParaRPr>
              <a:solidFill>
                <a:srgbClr val="3F3F3F"/>
              </a:solidFill>
              <a:latin typeface="Arial"/>
              <a:ea typeface="Arial"/>
              <a:cs typeface="Arial"/>
              <a:sym typeface="Arial"/>
            </a:endParaRPr>
          </a:p>
        </p:txBody>
      </p:sp>
      <p:sp>
        <p:nvSpPr>
          <p:cNvPr id="3260" name="Google Shape;3260;p1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114</a:t>
            </a:fld>
            <a:endParaRPr/>
          </a:p>
        </p:txBody>
      </p:sp>
    </p:spTree>
    <p:extLst>
      <p:ext uri="{BB962C8B-B14F-4D97-AF65-F5344CB8AC3E}">
        <p14:creationId xmlns:p14="http://schemas.microsoft.com/office/powerpoint/2010/main" val="45076600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7"/>
        <p:cNvGrpSpPr/>
        <p:nvPr/>
      </p:nvGrpSpPr>
      <p:grpSpPr>
        <a:xfrm>
          <a:off x="0" y="0"/>
          <a:ext cx="0" cy="0"/>
          <a:chOff x="0" y="0"/>
          <a:chExt cx="0" cy="0"/>
        </a:xfrm>
      </p:grpSpPr>
      <p:sp>
        <p:nvSpPr>
          <p:cNvPr id="3288" name="Google Shape;3288;p17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9" name="Google Shape;3289;p1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A light source diode is a semiconductor element that emits light when a voltage is applied in the forward direction. Also called LED (Light Emitting Diode). The light source principle utilizes the electroluminescence effect. It also lasts longer than incandescent lamps. The color of the light source diode is different depending on the material used, and it can be produced to emit light from the "ultraviolet" region to the "visible ray" and "infrared ray" region.</a:t>
            </a:r>
            <a:endParaRPr>
              <a:solidFill>
                <a:srgbClr val="3F3F3F"/>
              </a:solidFill>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sp>
        <p:nvSpPr>
          <p:cNvPr id="3290" name="Google Shape;3290;p1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115</a:t>
            </a:fld>
            <a:endParaRPr/>
          </a:p>
        </p:txBody>
      </p:sp>
    </p:spTree>
    <p:extLst>
      <p:ext uri="{BB962C8B-B14F-4D97-AF65-F5344CB8AC3E}">
        <p14:creationId xmlns:p14="http://schemas.microsoft.com/office/powerpoint/2010/main" val="75433708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1"/>
        <p:cNvGrpSpPr/>
        <p:nvPr/>
      </p:nvGrpSpPr>
      <p:grpSpPr>
        <a:xfrm>
          <a:off x="0" y="0"/>
          <a:ext cx="0" cy="0"/>
          <a:chOff x="0" y="0"/>
          <a:chExt cx="0" cy="0"/>
        </a:xfrm>
      </p:grpSpPr>
      <p:sp>
        <p:nvSpPr>
          <p:cNvPr id="3302" name="Google Shape;3302;p17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3" name="Google Shape;3303;p1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304" name="Google Shape;3304;p1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116</a:t>
            </a:fld>
            <a:endParaRPr/>
          </a:p>
        </p:txBody>
      </p:sp>
    </p:spTree>
    <p:extLst>
      <p:ext uri="{BB962C8B-B14F-4D97-AF65-F5344CB8AC3E}">
        <p14:creationId xmlns:p14="http://schemas.microsoft.com/office/powerpoint/2010/main" val="128748083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5"/>
        <p:cNvGrpSpPr/>
        <p:nvPr/>
      </p:nvGrpSpPr>
      <p:grpSpPr>
        <a:xfrm>
          <a:off x="0" y="0"/>
          <a:ext cx="0" cy="0"/>
          <a:chOff x="0" y="0"/>
          <a:chExt cx="0" cy="0"/>
        </a:xfrm>
      </p:grpSpPr>
      <p:sp>
        <p:nvSpPr>
          <p:cNvPr id="3316" name="Google Shape;3316;p17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17" name="Google Shape;3317;p1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318" name="Google Shape;3318;p1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117</a:t>
            </a:fld>
            <a:endParaRPr/>
          </a:p>
        </p:txBody>
      </p:sp>
    </p:spTree>
    <p:extLst>
      <p:ext uri="{BB962C8B-B14F-4D97-AF65-F5344CB8AC3E}">
        <p14:creationId xmlns:p14="http://schemas.microsoft.com/office/powerpoint/2010/main" val="120725544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0"/>
        <p:cNvGrpSpPr/>
        <p:nvPr/>
      </p:nvGrpSpPr>
      <p:grpSpPr>
        <a:xfrm>
          <a:off x="0" y="0"/>
          <a:ext cx="0" cy="0"/>
          <a:chOff x="0" y="0"/>
          <a:chExt cx="0" cy="0"/>
        </a:xfrm>
      </p:grpSpPr>
      <p:sp>
        <p:nvSpPr>
          <p:cNvPr id="3331" name="Google Shape;3331;p17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2" name="Google Shape;3332;p1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333" name="Google Shape;3333;p17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118</a:t>
            </a:fld>
            <a:endParaRPr/>
          </a:p>
        </p:txBody>
      </p:sp>
    </p:spTree>
    <p:extLst>
      <p:ext uri="{BB962C8B-B14F-4D97-AF65-F5344CB8AC3E}">
        <p14:creationId xmlns:p14="http://schemas.microsoft.com/office/powerpoint/2010/main" val="157962368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3"/>
        <p:cNvGrpSpPr/>
        <p:nvPr/>
      </p:nvGrpSpPr>
      <p:grpSpPr>
        <a:xfrm>
          <a:off x="0" y="0"/>
          <a:ext cx="0" cy="0"/>
          <a:chOff x="0" y="0"/>
          <a:chExt cx="0" cy="0"/>
        </a:xfrm>
      </p:grpSpPr>
      <p:sp>
        <p:nvSpPr>
          <p:cNvPr id="3354" name="Google Shape;3354;p17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5" name="Google Shape;3355;p1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356" name="Google Shape;3356;p1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119</a:t>
            </a:fld>
            <a:endParaRPr/>
          </a:p>
        </p:txBody>
      </p:sp>
    </p:spTree>
    <p:extLst>
      <p:ext uri="{BB962C8B-B14F-4D97-AF65-F5344CB8AC3E}">
        <p14:creationId xmlns:p14="http://schemas.microsoft.com/office/powerpoint/2010/main" val="207703516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8"/>
        <p:cNvGrpSpPr/>
        <p:nvPr/>
      </p:nvGrpSpPr>
      <p:grpSpPr>
        <a:xfrm>
          <a:off x="0" y="0"/>
          <a:ext cx="0" cy="0"/>
          <a:chOff x="0" y="0"/>
          <a:chExt cx="0" cy="0"/>
        </a:xfrm>
      </p:grpSpPr>
      <p:sp>
        <p:nvSpPr>
          <p:cNvPr id="3369" name="Google Shape;3369;p17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0" name="Google Shape;3370;p1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371" name="Google Shape;3371;p1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120</a:t>
            </a:fld>
            <a:endParaRPr/>
          </a:p>
        </p:txBody>
      </p:sp>
    </p:spTree>
    <p:extLst>
      <p:ext uri="{BB962C8B-B14F-4D97-AF65-F5344CB8AC3E}">
        <p14:creationId xmlns:p14="http://schemas.microsoft.com/office/powerpoint/2010/main" val="304468715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5"/>
        <p:cNvGrpSpPr/>
        <p:nvPr/>
      </p:nvGrpSpPr>
      <p:grpSpPr>
        <a:xfrm>
          <a:off x="0" y="0"/>
          <a:ext cx="0" cy="0"/>
          <a:chOff x="0" y="0"/>
          <a:chExt cx="0" cy="0"/>
        </a:xfrm>
      </p:grpSpPr>
      <p:sp>
        <p:nvSpPr>
          <p:cNvPr id="3386" name="Google Shape;3386;p18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7" name="Google Shape;3387;p1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388" name="Google Shape;3388;p1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121</a:t>
            </a:fld>
            <a:endParaRPr/>
          </a:p>
        </p:txBody>
      </p:sp>
    </p:spTree>
    <p:extLst>
      <p:ext uri="{BB962C8B-B14F-4D97-AF65-F5344CB8AC3E}">
        <p14:creationId xmlns:p14="http://schemas.microsoft.com/office/powerpoint/2010/main" val="91378636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2"/>
        <p:cNvGrpSpPr/>
        <p:nvPr/>
      </p:nvGrpSpPr>
      <p:grpSpPr>
        <a:xfrm>
          <a:off x="0" y="0"/>
          <a:ext cx="0" cy="0"/>
          <a:chOff x="0" y="0"/>
          <a:chExt cx="0" cy="0"/>
        </a:xfrm>
      </p:grpSpPr>
      <p:sp>
        <p:nvSpPr>
          <p:cNvPr id="3403" name="Google Shape;3403;p18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4" name="Google Shape;3404;p1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405" name="Google Shape;3405;p18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122</a:t>
            </a:fld>
            <a:endParaRPr/>
          </a:p>
        </p:txBody>
      </p:sp>
    </p:spTree>
    <p:extLst>
      <p:ext uri="{BB962C8B-B14F-4D97-AF65-F5344CB8AC3E}">
        <p14:creationId xmlns:p14="http://schemas.microsoft.com/office/powerpoint/2010/main" val="329317707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2"/>
        <p:cNvGrpSpPr/>
        <p:nvPr/>
      </p:nvGrpSpPr>
      <p:grpSpPr>
        <a:xfrm>
          <a:off x="0" y="0"/>
          <a:ext cx="0" cy="0"/>
          <a:chOff x="0" y="0"/>
          <a:chExt cx="0" cy="0"/>
        </a:xfrm>
      </p:grpSpPr>
      <p:sp>
        <p:nvSpPr>
          <p:cNvPr id="3423" name="Google Shape;3423;p18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4" name="Google Shape;3424;p1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3425" name="Google Shape;3425;p1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123</a:t>
            </a:fld>
            <a:endParaRPr/>
          </a:p>
        </p:txBody>
      </p:sp>
    </p:spTree>
    <p:extLst>
      <p:ext uri="{BB962C8B-B14F-4D97-AF65-F5344CB8AC3E}">
        <p14:creationId xmlns:p14="http://schemas.microsoft.com/office/powerpoint/2010/main" val="88326751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6">
          <a:extLst>
            <a:ext uri="{FF2B5EF4-FFF2-40B4-BE49-F238E27FC236}">
              <a16:creationId xmlns:a16="http://schemas.microsoft.com/office/drawing/2014/main" id="{47E9994B-9A69-5D14-26C7-0831B5F0BA68}"/>
            </a:ext>
          </a:extLst>
        </p:cNvPr>
        <p:cNvGrpSpPr/>
        <p:nvPr/>
      </p:nvGrpSpPr>
      <p:grpSpPr>
        <a:xfrm>
          <a:off x="0" y="0"/>
          <a:ext cx="0" cy="0"/>
          <a:chOff x="0" y="0"/>
          <a:chExt cx="0" cy="0"/>
        </a:xfrm>
      </p:grpSpPr>
      <p:sp>
        <p:nvSpPr>
          <p:cNvPr id="2747" name="Google Shape;2747;p144:notes">
            <a:extLst>
              <a:ext uri="{FF2B5EF4-FFF2-40B4-BE49-F238E27FC236}">
                <a16:creationId xmlns:a16="http://schemas.microsoft.com/office/drawing/2014/main" id="{7170A763-F674-1FBA-2C1C-34E1B42D393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8" name="Google Shape;2748;p144:notes">
            <a:extLst>
              <a:ext uri="{FF2B5EF4-FFF2-40B4-BE49-F238E27FC236}">
                <a16:creationId xmlns:a16="http://schemas.microsoft.com/office/drawing/2014/main" id="{59D64201-1541-02D2-ED17-7EB474B34C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9" name="Google Shape;2749;p144:notes">
            <a:extLst>
              <a:ext uri="{FF2B5EF4-FFF2-40B4-BE49-F238E27FC236}">
                <a16:creationId xmlns:a16="http://schemas.microsoft.com/office/drawing/2014/main" id="{A7C3F9CF-34D5-6B68-1F17-DB100485AF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124</a:t>
            </a:fld>
            <a:endParaRPr/>
          </a:p>
        </p:txBody>
      </p:sp>
    </p:spTree>
    <p:extLst>
      <p:ext uri="{BB962C8B-B14F-4D97-AF65-F5344CB8AC3E}">
        <p14:creationId xmlns:p14="http://schemas.microsoft.com/office/powerpoint/2010/main" val="313823777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1"/>
        <p:cNvGrpSpPr/>
        <p:nvPr/>
      </p:nvGrpSpPr>
      <p:grpSpPr>
        <a:xfrm>
          <a:off x="0" y="0"/>
          <a:ext cx="0" cy="0"/>
          <a:chOff x="0" y="0"/>
          <a:chExt cx="0" cy="0"/>
        </a:xfrm>
      </p:grpSpPr>
      <p:sp>
        <p:nvSpPr>
          <p:cNvPr id="3452" name="Google Shape;3452;p18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3" name="Google Shape;3453;p1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454" name="Google Shape;3454;p1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125</a:t>
            </a:fld>
            <a:endParaRPr/>
          </a:p>
        </p:txBody>
      </p:sp>
    </p:spTree>
    <p:extLst>
      <p:ext uri="{BB962C8B-B14F-4D97-AF65-F5344CB8AC3E}">
        <p14:creationId xmlns:p14="http://schemas.microsoft.com/office/powerpoint/2010/main" val="76678829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1"/>
        <p:cNvGrpSpPr/>
        <p:nvPr/>
      </p:nvGrpSpPr>
      <p:grpSpPr>
        <a:xfrm>
          <a:off x="0" y="0"/>
          <a:ext cx="0" cy="0"/>
          <a:chOff x="0" y="0"/>
          <a:chExt cx="0" cy="0"/>
        </a:xfrm>
      </p:grpSpPr>
      <p:sp>
        <p:nvSpPr>
          <p:cNvPr id="3462" name="Google Shape;3462;p185: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3" name="Google Shape;3463;p1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464" name="Google Shape;3464;p1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126</a:t>
            </a:fld>
            <a:endParaRPr/>
          </a:p>
        </p:txBody>
      </p:sp>
    </p:spTree>
    <p:extLst>
      <p:ext uri="{BB962C8B-B14F-4D97-AF65-F5344CB8AC3E}">
        <p14:creationId xmlns:p14="http://schemas.microsoft.com/office/powerpoint/2010/main" val="184706485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5"/>
        <p:cNvGrpSpPr/>
        <p:nvPr/>
      </p:nvGrpSpPr>
      <p:grpSpPr>
        <a:xfrm>
          <a:off x="0" y="0"/>
          <a:ext cx="0" cy="0"/>
          <a:chOff x="0" y="0"/>
          <a:chExt cx="0" cy="0"/>
        </a:xfrm>
      </p:grpSpPr>
      <p:sp>
        <p:nvSpPr>
          <p:cNvPr id="3486" name="Google Shape;3486;p186: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7" name="Google Shape;3487;p1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488" name="Google Shape;3488;p1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127</a:t>
            </a:fld>
            <a:endParaRPr/>
          </a:p>
        </p:txBody>
      </p:sp>
    </p:spTree>
    <p:extLst>
      <p:ext uri="{BB962C8B-B14F-4D97-AF65-F5344CB8AC3E}">
        <p14:creationId xmlns:p14="http://schemas.microsoft.com/office/powerpoint/2010/main" val="305801692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6"/>
        <p:cNvGrpSpPr/>
        <p:nvPr/>
      </p:nvGrpSpPr>
      <p:grpSpPr>
        <a:xfrm>
          <a:off x="0" y="0"/>
          <a:ext cx="0" cy="0"/>
          <a:chOff x="0" y="0"/>
          <a:chExt cx="0" cy="0"/>
        </a:xfrm>
      </p:grpSpPr>
      <p:sp>
        <p:nvSpPr>
          <p:cNvPr id="3497" name="Google Shape;3497;p18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8" name="Google Shape;3498;p1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a:solidFill>
                <a:srgbClr val="3F3F3F"/>
              </a:solidFill>
              <a:latin typeface="Arial"/>
              <a:ea typeface="Arial"/>
              <a:cs typeface="Arial"/>
              <a:sym typeface="Arial"/>
            </a:endParaRPr>
          </a:p>
        </p:txBody>
      </p:sp>
      <p:sp>
        <p:nvSpPr>
          <p:cNvPr id="3499" name="Google Shape;3499;p1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128</a:t>
            </a:fld>
            <a:endParaRPr/>
          </a:p>
        </p:txBody>
      </p:sp>
    </p:spTree>
    <p:extLst>
      <p:ext uri="{BB962C8B-B14F-4D97-AF65-F5344CB8AC3E}">
        <p14:creationId xmlns:p14="http://schemas.microsoft.com/office/powerpoint/2010/main" val="341622918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1"/>
        <p:cNvGrpSpPr/>
        <p:nvPr/>
      </p:nvGrpSpPr>
      <p:grpSpPr>
        <a:xfrm>
          <a:off x="0" y="0"/>
          <a:ext cx="0" cy="0"/>
          <a:chOff x="0" y="0"/>
          <a:chExt cx="0" cy="0"/>
        </a:xfrm>
      </p:grpSpPr>
      <p:sp>
        <p:nvSpPr>
          <p:cNvPr id="3512" name="Google Shape;3512;p18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3" name="Google Shape;3513;p1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rgbClr val="3F3F3F"/>
              </a:buClr>
              <a:buSzPts val="1200"/>
              <a:buFont typeface="Arial"/>
              <a:buChar char="•"/>
            </a:pPr>
            <a:r>
              <a:rPr lang="en-US">
                <a:solidFill>
                  <a:srgbClr val="3F3F3F"/>
                </a:solidFill>
                <a:latin typeface="Arial"/>
                <a:ea typeface="Arial"/>
                <a:cs typeface="Arial"/>
                <a:sym typeface="Arial"/>
              </a:rPr>
              <a:t>How to see the standard of transistor</a:t>
            </a:r>
            <a:endParaRPr/>
          </a:p>
          <a:p>
            <a:pPr marL="0" lvl="0" indent="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Transistors are much less sensitive to the effects of voltage and current than vacuum tubes, so they must be used properly. The symbols used for transistors are as follows:</a:t>
            </a:r>
            <a:endParaRPr/>
          </a:p>
          <a:p>
            <a:pPr marL="0" lvl="0" indent="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Name: Number-Letter-Letter-Number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- 1st number: indication of the number of joints</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 1 → Diode (1 junction), 2⊙ → Transistor (2 junctions)</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- 2nd letter S (semiconductor)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Third character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 A → pnp type (for high frequency) ⊙ B → pnp type (for low frequency)</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 C → npn type (for high frequency) ⊙ D → npn type (for low frequency)</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- 4th digit: more than 11, with modified letters A and F at the end.</a:t>
            </a:r>
            <a:endParaRPr/>
          </a:p>
          <a:p>
            <a:pPr marL="0" lvl="0" indent="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 What does 2SC1815 mean?</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① 2: means transistor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② S: Semiconductor</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③ C: Type (A-pnp high frequency, B-pnp low frequency, C-npn high frequency, D-npn low frequency)</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④ 1815: Registration Number</a:t>
            </a:r>
            <a:endParaRPr/>
          </a:p>
        </p:txBody>
      </p:sp>
      <p:sp>
        <p:nvSpPr>
          <p:cNvPr id="3514" name="Google Shape;3514;p1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129</a:t>
            </a:fld>
            <a:endParaRPr/>
          </a:p>
        </p:txBody>
      </p:sp>
    </p:spTree>
    <p:extLst>
      <p:ext uri="{BB962C8B-B14F-4D97-AF65-F5344CB8AC3E}">
        <p14:creationId xmlns:p14="http://schemas.microsoft.com/office/powerpoint/2010/main" val="4038496534"/>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2"/>
        <p:cNvGrpSpPr/>
        <p:nvPr/>
      </p:nvGrpSpPr>
      <p:grpSpPr>
        <a:xfrm>
          <a:off x="0" y="0"/>
          <a:ext cx="0" cy="0"/>
          <a:chOff x="0" y="0"/>
          <a:chExt cx="0" cy="0"/>
        </a:xfrm>
      </p:grpSpPr>
      <p:sp>
        <p:nvSpPr>
          <p:cNvPr id="3523" name="Google Shape;3523;p18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4" name="Google Shape;3524;p1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9525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p:txBody>
      </p:sp>
      <p:sp>
        <p:nvSpPr>
          <p:cNvPr id="3525" name="Google Shape;3525;p1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130</a:t>
            </a:fld>
            <a:endParaRPr/>
          </a:p>
        </p:txBody>
      </p:sp>
    </p:spTree>
    <p:extLst>
      <p:ext uri="{BB962C8B-B14F-4D97-AF65-F5344CB8AC3E}">
        <p14:creationId xmlns:p14="http://schemas.microsoft.com/office/powerpoint/2010/main" val="42262323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0"/>
        <p:cNvGrpSpPr/>
        <p:nvPr/>
      </p:nvGrpSpPr>
      <p:grpSpPr>
        <a:xfrm>
          <a:off x="0" y="0"/>
          <a:ext cx="0" cy="0"/>
          <a:chOff x="0" y="0"/>
          <a:chExt cx="0" cy="0"/>
        </a:xfrm>
      </p:grpSpPr>
      <p:sp>
        <p:nvSpPr>
          <p:cNvPr id="3551" name="Google Shape;3551;p19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2" name="Google Shape;3552;p1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95250" algn="l" rtl="0">
              <a:spcBef>
                <a:spcPts val="0"/>
              </a:spcBef>
              <a:spcAft>
                <a:spcPts val="0"/>
              </a:spcAft>
              <a:buClr>
                <a:schemeClr val="dk1"/>
              </a:buClr>
              <a:buSzPts val="1200"/>
              <a:buFont typeface="Arial"/>
              <a:buNone/>
            </a:pPr>
            <a:endParaRPr>
              <a:solidFill>
                <a:srgbClr val="3F3F3F"/>
              </a:solidFill>
              <a:latin typeface="Arial"/>
              <a:ea typeface="Arial"/>
              <a:cs typeface="Arial"/>
              <a:sym typeface="Arial"/>
            </a:endParaRPr>
          </a:p>
        </p:txBody>
      </p:sp>
      <p:sp>
        <p:nvSpPr>
          <p:cNvPr id="3553" name="Google Shape;3553;p1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131</a:t>
            </a:fld>
            <a:endParaRPr/>
          </a:p>
        </p:txBody>
      </p:sp>
    </p:spTree>
    <p:extLst>
      <p:ext uri="{BB962C8B-B14F-4D97-AF65-F5344CB8AC3E}">
        <p14:creationId xmlns:p14="http://schemas.microsoft.com/office/powerpoint/2010/main" val="176831497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4"/>
        <p:cNvGrpSpPr/>
        <p:nvPr/>
      </p:nvGrpSpPr>
      <p:grpSpPr>
        <a:xfrm>
          <a:off x="0" y="0"/>
          <a:ext cx="0" cy="0"/>
          <a:chOff x="0" y="0"/>
          <a:chExt cx="0" cy="0"/>
        </a:xfrm>
      </p:grpSpPr>
      <p:sp>
        <p:nvSpPr>
          <p:cNvPr id="3565" name="Google Shape;3565;p191: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6" name="Google Shape;3566;p1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When a chip or circuit stage having different signal levels is connected to each other, a circuit or chipset that converts the signal level between them is called a level transmitter, a level transmitter, or a level shifter.</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567" name="Google Shape;3567;p1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132</a:t>
            </a:fld>
            <a:endParaRPr/>
          </a:p>
        </p:txBody>
      </p:sp>
    </p:spTree>
    <p:extLst>
      <p:ext uri="{BB962C8B-B14F-4D97-AF65-F5344CB8AC3E}">
        <p14:creationId xmlns:p14="http://schemas.microsoft.com/office/powerpoint/2010/main" val="26340735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3"/>
        <p:cNvGrpSpPr/>
        <p:nvPr/>
      </p:nvGrpSpPr>
      <p:grpSpPr>
        <a:xfrm>
          <a:off x="0" y="0"/>
          <a:ext cx="0" cy="0"/>
          <a:chOff x="0" y="0"/>
          <a:chExt cx="0" cy="0"/>
        </a:xfrm>
      </p:grpSpPr>
      <p:sp>
        <p:nvSpPr>
          <p:cNvPr id="3584" name="Google Shape;3584;p19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5" name="Google Shape;3585;p1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586" name="Google Shape;3586;p1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133</a:t>
            </a:fld>
            <a:endParaRPr/>
          </a:p>
        </p:txBody>
      </p:sp>
    </p:spTree>
    <p:extLst>
      <p:ext uri="{BB962C8B-B14F-4D97-AF65-F5344CB8AC3E}">
        <p14:creationId xmlns:p14="http://schemas.microsoft.com/office/powerpoint/2010/main" val="53926647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90538" y="703263"/>
            <a:ext cx="6129337" cy="4244975"/>
          </a:xfrm>
        </p:spPr>
      </p:sp>
      <p:sp>
        <p:nvSpPr>
          <p:cNvPr id="3" name="슬라이드 노트 개체 틀 2"/>
          <p:cNvSpPr>
            <a:spLocks noGrp="1"/>
          </p:cNvSpPr>
          <p:nvPr>
            <p:ph type="body" idx="1"/>
          </p:nvPr>
        </p:nvSpPr>
        <p:spPr/>
        <p:txBody>
          <a:bodyPr/>
          <a:lstStyle/>
          <a:p>
            <a:pPr marL="171450" indent="-171450">
              <a:buFont typeface="Arial" panose="020B0604020202020204" pitchFamily="34" charset="0"/>
              <a:buChar char="•"/>
            </a:pPr>
            <a:r>
              <a:rPr lang="en-US" altLang="ko-KR" dirty="0">
                <a:solidFill>
                  <a:schemeClr val="tx1">
                    <a:lumMod val="75000"/>
                    <a:lumOff val="25000"/>
                  </a:schemeClr>
                </a:solidFill>
                <a:latin typeface="Arial" panose="020B0604020202020204" pitchFamily="34" charset="0"/>
                <a:cs typeface="Arial" panose="020B0604020202020204" pitchFamily="34" charset="0"/>
              </a:rPr>
              <a:t>Coupling capacitor</a:t>
            </a:r>
          </a:p>
          <a:p>
            <a:r>
              <a:rPr lang="en-US" altLang="ko-KR" dirty="0">
                <a:solidFill>
                  <a:schemeClr val="tx1">
                    <a:lumMod val="75000"/>
                    <a:lumOff val="25000"/>
                  </a:schemeClr>
                </a:solidFill>
                <a:latin typeface="Arial" panose="020B0604020202020204" pitchFamily="34" charset="0"/>
                <a:cs typeface="Arial" panose="020B0604020202020204" pitchFamily="34" charset="0"/>
              </a:rPr>
              <a:t>The biggest function of the capacitor is to filter out direct current. When the capacitor is directly connected to the signal stage, the direct current is filtered out, and only the signal remains. This is called a coupling capacitor.</a:t>
            </a:r>
          </a:p>
          <a:p>
            <a:endParaRPr lang="en-US" altLang="ko-KR"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altLang="ko-KR" dirty="0">
                <a:solidFill>
                  <a:schemeClr val="tx1">
                    <a:lumMod val="75000"/>
                    <a:lumOff val="25000"/>
                  </a:schemeClr>
                </a:solidFill>
                <a:latin typeface="Arial" panose="020B0604020202020204" pitchFamily="34" charset="0"/>
                <a:cs typeface="Arial" panose="020B0604020202020204" pitchFamily="34" charset="0"/>
              </a:rPr>
              <a:t>Bypass capacitor</a:t>
            </a:r>
          </a:p>
          <a:p>
            <a:r>
              <a:rPr lang="en-US" altLang="ko-KR" dirty="0">
                <a:solidFill>
                  <a:schemeClr val="tx1">
                    <a:lumMod val="75000"/>
                    <a:lumOff val="25000"/>
                  </a:schemeClr>
                </a:solidFill>
                <a:latin typeface="Arial" panose="020B0604020202020204" pitchFamily="34" charset="0"/>
                <a:cs typeface="Arial" panose="020B0604020202020204" pitchFamily="34" charset="0"/>
              </a:rPr>
              <a:t>A capacitor to be connected between both power supply of IC and GND (ground).</a:t>
            </a:r>
          </a:p>
          <a:p>
            <a:r>
              <a:rPr lang="en-US" altLang="ko-KR" dirty="0">
                <a:solidFill>
                  <a:schemeClr val="tx1">
                    <a:lumMod val="75000"/>
                    <a:lumOff val="25000"/>
                  </a:schemeClr>
                </a:solidFill>
                <a:latin typeface="Arial" panose="020B0604020202020204" pitchFamily="34" charset="0"/>
                <a:cs typeface="Arial" panose="020B0604020202020204" pitchFamily="34" charset="0"/>
              </a:rPr>
              <a:t>The IC is very weak against power supply noise. Therefore, when the power supply shakes, it may not work properly. Therefore, omitting the bypass capacitor causes various phenomena such as a circuit where the IC is oscillated and overheated, a circuit that sometimes malfunctions, and a circuit that operates without error.</a:t>
            </a:r>
            <a:endParaRPr lang="ko-KR" alt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슬라이드 번호 개체 틀 3"/>
          <p:cNvSpPr>
            <a:spLocks noGrp="1"/>
          </p:cNvSpPr>
          <p:nvPr>
            <p:ph type="sldNum" sz="quarter" idx="5"/>
          </p:nvPr>
        </p:nvSpPr>
        <p:spPr/>
        <p:txBody>
          <a:bodyPr/>
          <a:lstStyle/>
          <a:p>
            <a:fld id="{B7D50566-EB7F-4578-83A4-5927877D7F20}" type="slidenum">
              <a:rPr lang="ko-KR" altLang="en-US" smtClean="0"/>
              <a:t>134</a:t>
            </a:fld>
            <a:endParaRPr lang="ko-KR" altLang="en-US"/>
          </a:p>
        </p:txBody>
      </p:sp>
    </p:spTree>
    <p:extLst>
      <p:ext uri="{BB962C8B-B14F-4D97-AF65-F5344CB8AC3E}">
        <p14:creationId xmlns:p14="http://schemas.microsoft.com/office/powerpoint/2010/main" val="138445666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3"/>
        <p:cNvGrpSpPr/>
        <p:nvPr/>
      </p:nvGrpSpPr>
      <p:grpSpPr>
        <a:xfrm>
          <a:off x="0" y="0"/>
          <a:ext cx="0" cy="0"/>
          <a:chOff x="0" y="0"/>
          <a:chExt cx="0" cy="0"/>
        </a:xfrm>
      </p:grpSpPr>
      <p:sp>
        <p:nvSpPr>
          <p:cNvPr id="3614" name="Google Shape;3614;p19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5" name="Google Shape;3615;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Noto Sans Symbols"/>
              <a:buNone/>
            </a:pPr>
            <a:r>
              <a:rPr lang="en-US">
                <a:solidFill>
                  <a:srgbClr val="3F3F3F"/>
                </a:solidFill>
                <a:latin typeface="Arial"/>
                <a:ea typeface="Arial"/>
                <a:cs typeface="Arial"/>
                <a:sym typeface="Arial"/>
              </a:rPr>
              <a:t>An amplifier capable of "addition, subtraction, and integration of analog signals with high amplification rate,". Op-amps can be used inexpensively because many products are integrated into ICs according to the purpose of measurement, high precision calculation, and high speed. The most important feature of op-amps is that they can perform various analog operations such as addition, subtraction, integration, and derivation with high speed and high accuracy by using external resistors, capacitors, diodes and other components and negative feedback.</a:t>
            </a:r>
            <a:endParaRPr>
              <a:solidFill>
                <a:srgbClr val="3F3F3F"/>
              </a:solidFill>
              <a:latin typeface="Arial"/>
              <a:ea typeface="Arial"/>
              <a:cs typeface="Arial"/>
              <a:sym typeface="Arial"/>
            </a:endParaRPr>
          </a:p>
        </p:txBody>
      </p:sp>
      <p:sp>
        <p:nvSpPr>
          <p:cNvPr id="3616" name="Google Shape;3616;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135</a:t>
            </a:fld>
            <a:endParaRPr/>
          </a:p>
        </p:txBody>
      </p:sp>
    </p:spTree>
    <p:extLst>
      <p:ext uri="{BB962C8B-B14F-4D97-AF65-F5344CB8AC3E}">
        <p14:creationId xmlns:p14="http://schemas.microsoft.com/office/powerpoint/2010/main" val="255898272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90538" y="703263"/>
            <a:ext cx="6129337" cy="4244975"/>
          </a:xfrm>
        </p:spPr>
      </p:sp>
      <p:sp>
        <p:nvSpPr>
          <p:cNvPr id="3" name="슬라이드 노트 개체 틀 2"/>
          <p:cNvSpPr>
            <a:spLocks noGrp="1"/>
          </p:cNvSpPr>
          <p:nvPr>
            <p:ph type="body" idx="1"/>
          </p:nvPr>
        </p:nvSpPr>
        <p:spPr/>
        <p:txBody>
          <a:bodyPr/>
          <a:lstStyle/>
          <a:p>
            <a:pPr marL="0" marR="0" lvl="0" indent="0" defTabSz="914400">
              <a:lnSpc>
                <a:spcPct val="100000"/>
              </a:lnSpc>
              <a:buClrTx/>
              <a:buSzTx/>
              <a:buFontTx/>
              <a:buNone/>
              <a:tabLst/>
              <a:defRPr/>
            </a:pPr>
            <a:r>
              <a:rPr lang="en-US" altLang="ko-KR" dirty="0">
                <a:solidFill>
                  <a:schemeClr val="tx1">
                    <a:lumMod val="75000"/>
                    <a:lumOff val="25000"/>
                  </a:schemeClr>
                </a:solidFill>
                <a:latin typeface="Arial" panose="020B0604020202020204" pitchFamily="34" charset="0"/>
                <a:cs typeface="Arial" panose="020B0604020202020204" pitchFamily="34" charset="0"/>
              </a:rPr>
              <a:t>Comparator is a circuit that evaluates a plurality of signals and indicates which specific rule these signals match. In this case, the match is in the "h" (high) state and the inconsistency is usually displayed in the "l" (low) state.</a:t>
            </a:r>
            <a:endParaRPr lang="ko-KR" altLang="en-US" dirty="0">
              <a:solidFill>
                <a:schemeClr val="tx1">
                  <a:lumMod val="75000"/>
                  <a:lumOff val="25000"/>
                </a:schemeClr>
              </a:solidFill>
              <a:latin typeface="Arial" panose="020B0604020202020204" pitchFamily="34" charset="0"/>
              <a:cs typeface="Arial" panose="020B0604020202020204" pitchFamily="34" charset="0"/>
            </a:endParaRPr>
          </a:p>
          <a:p>
            <a:endParaRPr lang="ko-KR" alt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슬라이드 번호 개체 틀 3"/>
          <p:cNvSpPr>
            <a:spLocks noGrp="1"/>
          </p:cNvSpPr>
          <p:nvPr>
            <p:ph type="sldNum" sz="quarter" idx="5"/>
          </p:nvPr>
        </p:nvSpPr>
        <p:spPr/>
        <p:txBody>
          <a:bodyPr/>
          <a:lstStyle/>
          <a:p>
            <a:fld id="{B7D50566-EB7F-4578-83A4-5927877D7F20}" type="slidenum">
              <a:rPr lang="ko-KR" altLang="en-US" smtClean="0"/>
              <a:t>136</a:t>
            </a:fld>
            <a:endParaRPr lang="ko-KR" altLang="en-US"/>
          </a:p>
        </p:txBody>
      </p:sp>
    </p:spTree>
    <p:extLst>
      <p:ext uri="{BB962C8B-B14F-4D97-AF65-F5344CB8AC3E}">
        <p14:creationId xmlns:p14="http://schemas.microsoft.com/office/powerpoint/2010/main" val="340631325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90538" y="703263"/>
            <a:ext cx="6129337" cy="4244975"/>
          </a:xfrm>
        </p:spPr>
      </p:sp>
      <p:sp>
        <p:nvSpPr>
          <p:cNvPr id="3" name="슬라이드 노트 개체 틀 2"/>
          <p:cNvSpPr>
            <a:spLocks noGrp="1"/>
          </p:cNvSpPr>
          <p:nvPr>
            <p:ph type="body" idx="1"/>
          </p:nvPr>
        </p:nvSpPr>
        <p:spPr/>
        <p:txBody>
          <a:bodyPr/>
          <a:lstStyle/>
          <a:p>
            <a:endParaRPr lang="ko-KR" alt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슬라이드 번호 개체 틀 3"/>
          <p:cNvSpPr>
            <a:spLocks noGrp="1"/>
          </p:cNvSpPr>
          <p:nvPr>
            <p:ph type="sldNum" sz="quarter" idx="5"/>
          </p:nvPr>
        </p:nvSpPr>
        <p:spPr/>
        <p:txBody>
          <a:bodyPr/>
          <a:lstStyle/>
          <a:p>
            <a:fld id="{B7D50566-EB7F-4578-83A4-5927877D7F20}" type="slidenum">
              <a:rPr lang="ko-KR" altLang="en-US" smtClean="0"/>
              <a:t>137</a:t>
            </a:fld>
            <a:endParaRPr lang="ko-KR" altLang="en-US"/>
          </a:p>
        </p:txBody>
      </p:sp>
    </p:spTree>
    <p:extLst>
      <p:ext uri="{BB962C8B-B14F-4D97-AF65-F5344CB8AC3E}">
        <p14:creationId xmlns:p14="http://schemas.microsoft.com/office/powerpoint/2010/main" val="141326449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8"/>
        <p:cNvGrpSpPr/>
        <p:nvPr/>
      </p:nvGrpSpPr>
      <p:grpSpPr>
        <a:xfrm>
          <a:off x="0" y="0"/>
          <a:ext cx="0" cy="0"/>
          <a:chOff x="0" y="0"/>
          <a:chExt cx="0" cy="0"/>
        </a:xfrm>
      </p:grpSpPr>
      <p:sp>
        <p:nvSpPr>
          <p:cNvPr id="3679" name="Google Shape;3679;p197: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0" name="Google Shape;3680;p1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Low frequency refers to a relatively low frequency and generally refers to a voice frequency (16-20,000 [Hz]). And the low frequency amplifier is an amplifier whose purpose is to amplify low frequency signals. It also amplifies low-frequency signals of a constant frequency, but is usually designed to achieve even amplification across an audible frequency of 16-20,000 Hz.</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It is important for the amplifier to have less distortion and noise. Various types of circuits are used depending on the purpose, and resistance coupled amplifiers are widely used. The signal to be amplified can be divided into a power amplifier and a voltage amplifier.</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681" name="Google Shape;3681;p1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138</a:t>
            </a:fld>
            <a:endParaRPr/>
          </a:p>
        </p:txBody>
      </p:sp>
    </p:spTree>
    <p:extLst>
      <p:ext uri="{BB962C8B-B14F-4D97-AF65-F5344CB8AC3E}">
        <p14:creationId xmlns:p14="http://schemas.microsoft.com/office/powerpoint/2010/main" val="132323067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2"/>
        <p:cNvGrpSpPr/>
        <p:nvPr/>
      </p:nvGrpSpPr>
      <p:grpSpPr>
        <a:xfrm>
          <a:off x="0" y="0"/>
          <a:ext cx="0" cy="0"/>
          <a:chOff x="0" y="0"/>
          <a:chExt cx="0" cy="0"/>
        </a:xfrm>
      </p:grpSpPr>
      <p:sp>
        <p:nvSpPr>
          <p:cNvPr id="3703" name="Google Shape;3703;p198: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4" name="Google Shape;3704;p1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Latch and flip-flop are memory devices that can have one of two stable output states and have one or more inputs that can change their output. </a:t>
            </a:r>
            <a:endParaRPr/>
          </a:p>
          <a:p>
            <a:pPr marL="0" lvl="0" indent="0" algn="l" rtl="0">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Flip-flops are usually devices that can change state by a pulse called a clock and change the state of the output in response to a clock input rather than in response to a data input. So, the flip-flop has a clock and the latch has no clock.</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705" name="Google Shape;3705;p1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139</a:t>
            </a:fld>
            <a:endParaRPr/>
          </a:p>
        </p:txBody>
      </p:sp>
    </p:spTree>
    <p:extLst>
      <p:ext uri="{BB962C8B-B14F-4D97-AF65-F5344CB8AC3E}">
        <p14:creationId xmlns:p14="http://schemas.microsoft.com/office/powerpoint/2010/main" val="181451257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9"/>
        <p:cNvGrpSpPr/>
        <p:nvPr/>
      </p:nvGrpSpPr>
      <p:grpSpPr>
        <a:xfrm>
          <a:off x="0" y="0"/>
          <a:ext cx="0" cy="0"/>
          <a:chOff x="0" y="0"/>
          <a:chExt cx="0" cy="0"/>
        </a:xfrm>
      </p:grpSpPr>
      <p:sp>
        <p:nvSpPr>
          <p:cNvPr id="3720" name="Google Shape;3720;p199: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1" name="Google Shape;3721;p1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722" name="Google Shape;3722;p1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140</a:t>
            </a:fld>
            <a:endParaRPr/>
          </a:p>
        </p:txBody>
      </p:sp>
    </p:spTree>
    <p:extLst>
      <p:ext uri="{BB962C8B-B14F-4D97-AF65-F5344CB8AC3E}">
        <p14:creationId xmlns:p14="http://schemas.microsoft.com/office/powerpoint/2010/main" val="83368805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6"/>
        <p:cNvGrpSpPr/>
        <p:nvPr/>
      </p:nvGrpSpPr>
      <p:grpSpPr>
        <a:xfrm>
          <a:off x="0" y="0"/>
          <a:ext cx="0" cy="0"/>
          <a:chOff x="0" y="0"/>
          <a:chExt cx="0" cy="0"/>
        </a:xfrm>
      </p:grpSpPr>
      <p:sp>
        <p:nvSpPr>
          <p:cNvPr id="3737" name="Google Shape;3737;p200: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8" name="Google Shape;3738;p2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The decoder comes out with 2 power when N inputs are input. Depending on the value of the input variable, only one of the output lines has a value of 1, and the other is 0.</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739" name="Google Shape;3739;p2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141</a:t>
            </a:fld>
            <a:endParaRPr/>
          </a:p>
        </p:txBody>
      </p:sp>
    </p:spTree>
    <p:extLst>
      <p:ext uri="{BB962C8B-B14F-4D97-AF65-F5344CB8AC3E}">
        <p14:creationId xmlns:p14="http://schemas.microsoft.com/office/powerpoint/2010/main" val="185057790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90538" y="703263"/>
            <a:ext cx="6129337" cy="4244975"/>
          </a:xfrm>
        </p:spPr>
      </p:sp>
      <p:sp>
        <p:nvSpPr>
          <p:cNvPr id="3" name="슬라이드 노트 개체 틀 2"/>
          <p:cNvSpPr>
            <a:spLocks noGrp="1"/>
          </p:cNvSpPr>
          <p:nvPr>
            <p:ph type="body" idx="1"/>
          </p:nvPr>
        </p:nvSpPr>
        <p:spPr/>
        <p:txBody>
          <a:bodyPr/>
          <a:lstStyle/>
          <a:p>
            <a:endParaRPr lang="ko-KR" alt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슬라이드 번호 개체 틀 3"/>
          <p:cNvSpPr>
            <a:spLocks noGrp="1"/>
          </p:cNvSpPr>
          <p:nvPr>
            <p:ph type="sldNum" sz="quarter" idx="5"/>
          </p:nvPr>
        </p:nvSpPr>
        <p:spPr/>
        <p:txBody>
          <a:bodyPr/>
          <a:lstStyle/>
          <a:p>
            <a:fld id="{B7D50566-EB7F-4578-83A4-5927877D7F20}" type="slidenum">
              <a:rPr lang="ko-KR" altLang="en-US" smtClean="0"/>
              <a:t>142</a:t>
            </a:fld>
            <a:endParaRPr lang="ko-KR" altLang="en-US"/>
          </a:p>
        </p:txBody>
      </p:sp>
    </p:spTree>
    <p:extLst>
      <p:ext uri="{BB962C8B-B14F-4D97-AF65-F5344CB8AC3E}">
        <p14:creationId xmlns:p14="http://schemas.microsoft.com/office/powerpoint/2010/main" val="217365165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3"/>
        <p:cNvGrpSpPr/>
        <p:nvPr/>
      </p:nvGrpSpPr>
      <p:grpSpPr>
        <a:xfrm>
          <a:off x="0" y="0"/>
          <a:ext cx="0" cy="0"/>
          <a:chOff x="0" y="0"/>
          <a:chExt cx="0" cy="0"/>
        </a:xfrm>
      </p:grpSpPr>
      <p:sp>
        <p:nvSpPr>
          <p:cNvPr id="3784" name="Google Shape;3784;p20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5" name="Google Shape;3785;p2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786" name="Google Shape;3786;p20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143</a:t>
            </a:fld>
            <a:endParaRPr/>
          </a:p>
        </p:txBody>
      </p:sp>
    </p:spTree>
    <p:extLst>
      <p:ext uri="{BB962C8B-B14F-4D97-AF65-F5344CB8AC3E}">
        <p14:creationId xmlns:p14="http://schemas.microsoft.com/office/powerpoint/2010/main" val="56904665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7"/>
        <p:cNvGrpSpPr/>
        <p:nvPr/>
      </p:nvGrpSpPr>
      <p:grpSpPr>
        <a:xfrm>
          <a:off x="0" y="0"/>
          <a:ext cx="0" cy="0"/>
          <a:chOff x="0" y="0"/>
          <a:chExt cx="0" cy="0"/>
        </a:xfrm>
      </p:grpSpPr>
      <p:sp>
        <p:nvSpPr>
          <p:cNvPr id="3798" name="Google Shape;3798;p203: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9" name="Google Shape;3799;p2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800" name="Google Shape;3800;p20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144</a:t>
            </a:fld>
            <a:endParaRPr/>
          </a:p>
        </p:txBody>
      </p:sp>
    </p:spTree>
    <p:extLst>
      <p:ext uri="{BB962C8B-B14F-4D97-AF65-F5344CB8AC3E}">
        <p14:creationId xmlns:p14="http://schemas.microsoft.com/office/powerpoint/2010/main" val="265804506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7"/>
        <p:cNvGrpSpPr/>
        <p:nvPr/>
      </p:nvGrpSpPr>
      <p:grpSpPr>
        <a:xfrm>
          <a:off x="0" y="0"/>
          <a:ext cx="0" cy="0"/>
          <a:chOff x="0" y="0"/>
          <a:chExt cx="0" cy="0"/>
        </a:xfrm>
      </p:grpSpPr>
      <p:sp>
        <p:nvSpPr>
          <p:cNvPr id="3808" name="Google Shape;3808;p20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9" name="Google Shape;3809;p2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1200"/>
              <a:buFont typeface="Arial"/>
              <a:buNone/>
            </a:pPr>
            <a:r>
              <a:rPr lang="en-US">
                <a:solidFill>
                  <a:srgbClr val="3F3F3F"/>
                </a:solidFill>
                <a:latin typeface="Arial"/>
                <a:ea typeface="Arial"/>
                <a:cs typeface="Arial"/>
                <a:sym typeface="Arial"/>
              </a:rPr>
              <a:t>It is used when the output stage is tied together. When multiple outputs are grouped together, a short circuit can occur depending on the state of each output stage, which can cause catastrophic damage to the device. To prevent this, 3-state buffers are used.</a:t>
            </a:r>
            <a:endParaRPr>
              <a:solidFill>
                <a:srgbClr val="3F3F3F"/>
              </a:solidFill>
              <a:latin typeface="Arial"/>
              <a:ea typeface="Arial"/>
              <a:cs typeface="Arial"/>
              <a:sym typeface="Arial"/>
            </a:endParaRPr>
          </a:p>
          <a:p>
            <a:pPr marL="0" lvl="0" indent="0" algn="l" rtl="0">
              <a:spcBef>
                <a:spcPts val="0"/>
              </a:spcBef>
              <a:spcAft>
                <a:spcPts val="0"/>
              </a:spcAft>
              <a:buNone/>
            </a:pPr>
            <a:endParaRPr>
              <a:solidFill>
                <a:srgbClr val="3F3F3F"/>
              </a:solidFill>
              <a:latin typeface="Arial"/>
              <a:ea typeface="Arial"/>
              <a:cs typeface="Arial"/>
              <a:sym typeface="Arial"/>
            </a:endParaRPr>
          </a:p>
        </p:txBody>
      </p:sp>
      <p:sp>
        <p:nvSpPr>
          <p:cNvPr id="3810" name="Google Shape;3810;p20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145</a:t>
            </a:fld>
            <a:endParaRPr/>
          </a:p>
        </p:txBody>
      </p:sp>
    </p:spTree>
    <p:extLst>
      <p:ext uri="{BB962C8B-B14F-4D97-AF65-F5344CB8AC3E}">
        <p14:creationId xmlns:p14="http://schemas.microsoft.com/office/powerpoint/2010/main" val="145630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및 내용">
  <p:cSld name="제목 및 내용">
    <p:spTree>
      <p:nvGrpSpPr>
        <p:cNvPr id="1" name="Shape 16"/>
        <p:cNvGrpSpPr/>
        <p:nvPr/>
      </p:nvGrpSpPr>
      <p:grpSpPr>
        <a:xfrm>
          <a:off x="0" y="0"/>
          <a:ext cx="0" cy="0"/>
          <a:chOff x="0" y="0"/>
          <a:chExt cx="0" cy="0"/>
        </a:xfrm>
      </p:grpSpPr>
      <p:cxnSp>
        <p:nvCxnSpPr>
          <p:cNvPr id="18" name="Google Shape;18;p238"/>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19" name="Google Shape;19;p238"/>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1"/>
        <p:cNvGrpSpPr/>
        <p:nvPr/>
      </p:nvGrpSpPr>
      <p:grpSpPr>
        <a:xfrm>
          <a:off x="0" y="0"/>
          <a:ext cx="0" cy="0"/>
          <a:chOff x="0" y="0"/>
          <a:chExt cx="0" cy="0"/>
        </a:xfrm>
      </p:grpSpPr>
      <p:cxnSp>
        <p:nvCxnSpPr>
          <p:cNvPr id="22" name="Google Shape;22;p239"/>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3" name="Google Shape;23;p239"/>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
        <p:nvSpPr>
          <p:cNvPr id="25" name="Google Shape;25;p239"/>
          <p:cNvSpPr txBox="1"/>
          <p:nvPr/>
        </p:nvSpPr>
        <p:spPr>
          <a:xfrm>
            <a:off x="6849053" y="6498000"/>
            <a:ext cx="2350254"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r>
              <a:rPr lang="en-US" sz="900" b="1" i="0" u="none" strike="noStrike" cap="none">
                <a:solidFill>
                  <a:srgbClr val="7F7F7F"/>
                </a:solidFill>
                <a:latin typeface="Arial"/>
                <a:ea typeface="Arial"/>
                <a:cs typeface="Arial"/>
                <a:sym typeface="Arial"/>
              </a:rPr>
              <a:t>Chương 1. Nhập môn IoT</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p:cSld name="구역 머리글">
    <p:spTree>
      <p:nvGrpSpPr>
        <p:cNvPr id="1" name="Shape 26"/>
        <p:cNvGrpSpPr/>
        <p:nvPr/>
      </p:nvGrpSpPr>
      <p:grpSpPr>
        <a:xfrm>
          <a:off x="0" y="0"/>
          <a:ext cx="0" cy="0"/>
          <a:chOff x="0" y="0"/>
          <a:chExt cx="0" cy="0"/>
        </a:xfrm>
      </p:grpSpPr>
      <p:cxnSp>
        <p:nvCxnSpPr>
          <p:cNvPr id="28" name="Google Shape;28;p240"/>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29" name="Google Shape;29;p240"/>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1" name="Google Shape;31;p240"/>
          <p:cNvSpPr txBox="1"/>
          <p:nvPr/>
        </p:nvSpPr>
        <p:spPr>
          <a:xfrm>
            <a:off x="6849053" y="6498000"/>
            <a:ext cx="2350254"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r>
              <a:rPr lang="en-US" sz="900" b="1" i="0">
                <a:solidFill>
                  <a:srgbClr val="7F7F7F"/>
                </a:solidFill>
                <a:latin typeface="Arial"/>
                <a:ea typeface="Arial"/>
                <a:cs typeface="Arial"/>
                <a:sym typeface="Arial"/>
              </a:rPr>
              <a:t>Chương 1. Nhập môn IoT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p:cSld name="콘텐츠 2개">
    <p:spTree>
      <p:nvGrpSpPr>
        <p:cNvPr id="1" name="Shape 32"/>
        <p:cNvGrpSpPr/>
        <p:nvPr/>
      </p:nvGrpSpPr>
      <p:grpSpPr>
        <a:xfrm>
          <a:off x="0" y="0"/>
          <a:ext cx="0" cy="0"/>
          <a:chOff x="0" y="0"/>
          <a:chExt cx="0" cy="0"/>
        </a:xfrm>
      </p:grpSpPr>
      <p:cxnSp>
        <p:nvCxnSpPr>
          <p:cNvPr id="34" name="Google Shape;34;p241"/>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35" name="Google Shape;35;p241"/>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7" name="Google Shape;37;p241"/>
          <p:cNvSpPr txBox="1"/>
          <p:nvPr/>
        </p:nvSpPr>
        <p:spPr>
          <a:xfrm>
            <a:off x="6849053" y="6498000"/>
            <a:ext cx="2350254"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r>
              <a:rPr lang="en-US" sz="900" b="1" i="0">
                <a:solidFill>
                  <a:srgbClr val="7F7F7F"/>
                </a:solidFill>
                <a:latin typeface="Arial"/>
                <a:ea typeface="Arial"/>
                <a:cs typeface="Arial"/>
                <a:sym typeface="Arial"/>
              </a:rPr>
              <a:t>Chương 1. Nhập môn IoT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p:cSld name="비교">
    <p:spTree>
      <p:nvGrpSpPr>
        <p:cNvPr id="1" name="Shape 47"/>
        <p:cNvGrpSpPr/>
        <p:nvPr/>
      </p:nvGrpSpPr>
      <p:grpSpPr>
        <a:xfrm>
          <a:off x="0" y="0"/>
          <a:ext cx="0" cy="0"/>
          <a:chOff x="0" y="0"/>
          <a:chExt cx="0" cy="0"/>
        </a:xfrm>
      </p:grpSpPr>
      <p:cxnSp>
        <p:nvCxnSpPr>
          <p:cNvPr id="48" name="Google Shape;48;p244"/>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244"/>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grpSp>
        <p:nvGrpSpPr>
          <p:cNvPr id="54" name="Google Shape;54;p244"/>
          <p:cNvGrpSpPr/>
          <p:nvPr/>
        </p:nvGrpSpPr>
        <p:grpSpPr>
          <a:xfrm>
            <a:off x="449999" y="1251375"/>
            <a:ext cx="9018001" cy="4993977"/>
            <a:chOff x="578678" y="1436153"/>
            <a:chExt cx="8748000" cy="4993977"/>
          </a:xfrm>
        </p:grpSpPr>
        <p:sp>
          <p:nvSpPr>
            <p:cNvPr id="55" name="Google Shape;55;p244"/>
            <p:cNvSpPr/>
            <p:nvPr/>
          </p:nvSpPr>
          <p:spPr>
            <a:xfrm>
              <a:off x="578678" y="1436153"/>
              <a:ext cx="8748000" cy="912275"/>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sp>
          <p:nvSpPr>
            <p:cNvPr id="56" name="Google Shape;56;p244"/>
            <p:cNvSpPr/>
            <p:nvPr/>
          </p:nvSpPr>
          <p:spPr>
            <a:xfrm>
              <a:off x="578678" y="2286000"/>
              <a:ext cx="8748000" cy="4144130"/>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grpSp>
      <p:sp>
        <p:nvSpPr>
          <p:cNvPr id="57" name="Google Shape;57;p244"/>
          <p:cNvSpPr txBox="1"/>
          <p:nvPr/>
        </p:nvSpPr>
        <p:spPr>
          <a:xfrm>
            <a:off x="6849053" y="6498000"/>
            <a:ext cx="2350254"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r>
              <a:rPr lang="en-US" sz="900" b="1" i="0">
                <a:solidFill>
                  <a:srgbClr val="7F7F7F"/>
                </a:solidFill>
                <a:latin typeface="Arial"/>
                <a:ea typeface="Arial"/>
                <a:cs typeface="Arial"/>
                <a:sym typeface="Arial"/>
              </a:rPr>
              <a:t>Chương 1. Nhập môn IoT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iz">
  <p:cSld name="Quiz">
    <p:spTree>
      <p:nvGrpSpPr>
        <p:cNvPr id="1" name="Shape 115"/>
        <p:cNvGrpSpPr/>
        <p:nvPr/>
      </p:nvGrpSpPr>
      <p:grpSpPr>
        <a:xfrm>
          <a:off x="0" y="0"/>
          <a:ext cx="0" cy="0"/>
          <a:chOff x="0" y="0"/>
          <a:chExt cx="0" cy="0"/>
        </a:xfrm>
      </p:grpSpPr>
      <p:sp>
        <p:nvSpPr>
          <p:cNvPr id="116" name="Google Shape;116;p247"/>
          <p:cNvSpPr/>
          <p:nvPr/>
        </p:nvSpPr>
        <p:spPr>
          <a:xfrm>
            <a:off x="451162" y="1220478"/>
            <a:ext cx="8999020" cy="811746"/>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7" name="Google Shape;117;p247"/>
          <p:cNvSpPr/>
          <p:nvPr/>
        </p:nvSpPr>
        <p:spPr>
          <a:xfrm>
            <a:off x="451162" y="2070324"/>
            <a:ext cx="8999020" cy="4231864"/>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8" name="Google Shape;118;p247"/>
          <p:cNvSpPr/>
          <p:nvPr/>
        </p:nvSpPr>
        <p:spPr>
          <a:xfrm>
            <a:off x="646276" y="1415780"/>
            <a:ext cx="1059197"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99" b="1" i="0">
                <a:solidFill>
                  <a:srgbClr val="0D0D0D"/>
                </a:solidFill>
                <a:latin typeface="Arial"/>
                <a:ea typeface="Arial"/>
                <a:cs typeface="Arial"/>
                <a:sym typeface="Arial"/>
              </a:rPr>
              <a:t>Q1.</a:t>
            </a:r>
            <a:endParaRPr/>
          </a:p>
        </p:txBody>
      </p:sp>
      <p:pic>
        <p:nvPicPr>
          <p:cNvPr id="119" name="Google Shape;119;p247"/>
          <p:cNvPicPr preferRelativeResize="0"/>
          <p:nvPr/>
        </p:nvPicPr>
        <p:blipFill rotWithShape="1">
          <a:blip r:embed="rId2">
            <a:alphaModFix/>
          </a:blip>
          <a:srcRect/>
          <a:stretch/>
        </p:blipFill>
        <p:spPr>
          <a:xfrm>
            <a:off x="802139" y="5406365"/>
            <a:ext cx="112868" cy="109719"/>
          </a:xfrm>
          <a:prstGeom prst="rect">
            <a:avLst/>
          </a:prstGeom>
          <a:noFill/>
          <a:ln>
            <a:noFill/>
          </a:ln>
        </p:spPr>
      </p:pic>
      <p:cxnSp>
        <p:nvCxnSpPr>
          <p:cNvPr id="120" name="Google Shape;120;p24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1" name="Google Shape;121;p24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26" name="Google Shape;126;p247"/>
          <p:cNvSpPr txBox="1"/>
          <p:nvPr/>
        </p:nvSpPr>
        <p:spPr>
          <a:xfrm>
            <a:off x="6849053" y="6498000"/>
            <a:ext cx="2350254"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r>
              <a:rPr lang="en-US" sz="900" b="1" i="0">
                <a:solidFill>
                  <a:srgbClr val="7F7F7F"/>
                </a:solidFill>
                <a:latin typeface="Arial"/>
                <a:ea typeface="Arial"/>
                <a:cs typeface="Arial"/>
                <a:sym typeface="Arial"/>
              </a:rPr>
              <a:t>Chương 1. Nhập môn IoT</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127"/>
        <p:cNvGrpSpPr/>
        <p:nvPr/>
      </p:nvGrpSpPr>
      <p:grpSpPr>
        <a:xfrm>
          <a:off x="0" y="0"/>
          <a:ext cx="0" cy="0"/>
          <a:chOff x="0" y="0"/>
          <a:chExt cx="0" cy="0"/>
        </a:xfrm>
      </p:grpSpPr>
      <p:cxnSp>
        <p:nvCxnSpPr>
          <p:cNvPr id="128" name="Google Shape;128;p248"/>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p248"/>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cxnSp>
        <p:nvCxnSpPr>
          <p:cNvPr id="131" name="Google Shape;131;p248"/>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132" name="Google Shape;132;p248"/>
          <p:cNvSpPr txBox="1"/>
          <p:nvPr/>
        </p:nvSpPr>
        <p:spPr>
          <a:xfrm>
            <a:off x="6849053" y="6498000"/>
            <a:ext cx="2350254"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r>
              <a:rPr lang="en-US" sz="900" b="1" i="0">
                <a:solidFill>
                  <a:srgbClr val="7F7F7F"/>
                </a:solidFill>
                <a:latin typeface="Arial"/>
                <a:ea typeface="Arial"/>
                <a:cs typeface="Arial"/>
                <a:sym typeface="Arial"/>
              </a:rPr>
              <a:t>Chương 1. Nhập môn IoT</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236"/>
          <p:cNvSpPr txBox="1">
            <a:spLocks noGrp="1"/>
          </p:cNvSpPr>
          <p:nvPr>
            <p:ph type="title"/>
          </p:nvPr>
        </p:nvSpPr>
        <p:spPr>
          <a:xfrm>
            <a:off x="681038" y="365125"/>
            <a:ext cx="854075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36"/>
          <p:cNvSpPr txBox="1">
            <a:spLocks noGrp="1"/>
          </p:cNvSpPr>
          <p:nvPr>
            <p:ph type="body" idx="1"/>
          </p:nvPr>
        </p:nvSpPr>
        <p:spPr>
          <a:xfrm>
            <a:off x="681038" y="1825625"/>
            <a:ext cx="85407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9" name="Google Shape;9;p236"/>
          <p:cNvSpPr txBox="1">
            <a:spLocks noGrp="1"/>
          </p:cNvSpPr>
          <p:nvPr>
            <p:ph type="dt" idx="10"/>
          </p:nvPr>
        </p:nvSpPr>
        <p:spPr>
          <a:xfrm>
            <a:off x="681038" y="6356350"/>
            <a:ext cx="222726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0" name="Google Shape;10;p236"/>
          <p:cNvSpPr txBox="1">
            <a:spLocks noGrp="1"/>
          </p:cNvSpPr>
          <p:nvPr>
            <p:ph type="ftr" idx="11"/>
          </p:nvPr>
        </p:nvSpPr>
        <p:spPr>
          <a:xfrm>
            <a:off x="3279775" y="6356350"/>
            <a:ext cx="3343275"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1" name="Google Shape;11;p236"/>
          <p:cNvSpPr txBox="1">
            <a:spLocks noGrp="1"/>
          </p:cNvSpPr>
          <p:nvPr>
            <p:ph type="sldNum" idx="12"/>
          </p:nvPr>
        </p:nvSpPr>
        <p:spPr>
          <a:xfrm>
            <a:off x="6994525" y="6356350"/>
            <a:ext cx="2227263"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6" r:id="rId5"/>
    <p:sldLayoutId id="2147483659" r:id="rId6"/>
    <p:sldLayoutId id="214748366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3.jpg"/></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3.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jp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hyperlink" Target="http://www.npmjs.com/"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oleObject" Target="../embeddings/oleObject1.bin"/><Relationship Id="rId4" Type="http://schemas.openxmlformats.org/officeDocument/2006/relationships/image" Target="../media/image35.jpg"/><Relationship Id="rId9" Type="http://schemas.openxmlformats.org/officeDocument/2006/relationships/image" Target="../media/image39.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8" Type="http://schemas.openxmlformats.org/officeDocument/2006/relationships/image" Target="../media/image45.jpg"/><Relationship Id="rId3" Type="http://schemas.openxmlformats.org/officeDocument/2006/relationships/image" Target="../media/image40.jpg"/><Relationship Id="rId7" Type="http://schemas.openxmlformats.org/officeDocument/2006/relationships/image" Target="../media/image44.jp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1.jpg"/></Relationships>
</file>

<file path=ppt/slides/_rels/slide53.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oleObject" Target="../embeddings/oleObject2.bin"/><Relationship Id="rId4" Type="http://schemas.openxmlformats.org/officeDocument/2006/relationships/image" Target="../media/image47.jp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50.jpg"/><Relationship Id="rId4" Type="http://schemas.openxmlformats.org/officeDocument/2006/relationships/hyperlink" Target="http://www.measurement-resources.com.au/images/temperature/Smart_Temperature_Transmitter.jpg" TargetMode="Externa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3.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65.xml"/><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8.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71.xml"/><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7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4.xml"/><Relationship Id="rId1" Type="http://schemas.openxmlformats.org/officeDocument/2006/relationships/slideLayout" Target="../slideLayouts/slideLayout4.xml"/><Relationship Id="rId4" Type="http://schemas.openxmlformats.org/officeDocument/2006/relationships/image" Target="../media/image77.png"/></Relationships>
</file>

<file path=ppt/slides/_rels/slide7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88.xml"/><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9.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oleObject" Target="../embeddings/oleObject4.bin"/></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0.xml"/><Relationship Id="rId1" Type="http://schemas.openxmlformats.org/officeDocument/2006/relationships/slideLayout" Target="../slideLayouts/slideLayout4.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9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95.xml"/><Relationship Id="rId1" Type="http://schemas.openxmlformats.org/officeDocument/2006/relationships/slideLayout" Target="../slideLayouts/slideLayout4.xml"/><Relationship Id="rId5" Type="http://schemas.openxmlformats.org/officeDocument/2006/relationships/image" Target="../media/image90.png"/><Relationship Id="rId4" Type="http://schemas.openxmlformats.org/officeDocument/2006/relationships/image" Target="../media/image89.png"/></Relationships>
</file>

<file path=ppt/slides/_rels/slide96.xml.rels><?xml version="1.0" encoding="UTF-8" standalone="yes"?>
<Relationships xmlns="http://schemas.openxmlformats.org/package/2006/relationships"><Relationship Id="rId3" Type="http://schemas.openxmlformats.org/officeDocument/2006/relationships/image" Target="../media/image91.jpg"/><Relationship Id="rId7" Type="http://schemas.openxmlformats.org/officeDocument/2006/relationships/image" Target="../media/image95.jpg"/><Relationship Id="rId2" Type="http://schemas.openxmlformats.org/officeDocument/2006/relationships/notesSlide" Target="../notesSlides/notesSlide96.xml"/><Relationship Id="rId1" Type="http://schemas.openxmlformats.org/officeDocument/2006/relationships/slideLayout" Target="../slideLayouts/slideLayout4.xml"/><Relationship Id="rId6" Type="http://schemas.openxmlformats.org/officeDocument/2006/relationships/image" Target="../media/image94.jpg"/><Relationship Id="rId5" Type="http://schemas.openxmlformats.org/officeDocument/2006/relationships/image" Target="../media/image93.jpg"/><Relationship Id="rId4" Type="http://schemas.openxmlformats.org/officeDocument/2006/relationships/image" Target="../media/image92.jpg"/></Relationships>
</file>

<file path=ppt/slides/_rels/slide97.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97.xml"/><Relationship Id="rId1" Type="http://schemas.openxmlformats.org/officeDocument/2006/relationships/slideLayout" Target="../slideLayouts/slideLayout4.xml"/><Relationship Id="rId4" Type="http://schemas.openxmlformats.org/officeDocument/2006/relationships/image" Target="../media/image97.jpg"/></Relationships>
</file>

<file path=ppt/slides/_rels/slide9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99.xml"/><Relationship Id="rId1" Type="http://schemas.openxmlformats.org/officeDocument/2006/relationships/slideLayout" Target="../slideLayouts/slideLayout4.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2050.png"/><Relationship Id="rId3" Type="http://schemas.openxmlformats.org/officeDocument/2006/relationships/image" Target="../media/image105.png"/><Relationship Id="rId21" Type="http://schemas.openxmlformats.org/officeDocument/2006/relationships/image" Target="../media/image216.png"/><Relationship Id="rId7" Type="http://schemas.openxmlformats.org/officeDocument/2006/relationships/image" Target="../media/image106.wmf"/><Relationship Id="rId12" Type="http://schemas.openxmlformats.org/officeDocument/2006/relationships/image" Target="../media/image2040.png"/><Relationship Id="rId2" Type="http://schemas.openxmlformats.org/officeDocument/2006/relationships/notesSlide" Target="../notesSlides/notesSlide100.xml"/><Relationship Id="rId20" Type="http://schemas.openxmlformats.org/officeDocument/2006/relationships/image" Target="../media/image215.png"/><Relationship Id="rId1" Type="http://schemas.openxmlformats.org/officeDocument/2006/relationships/slideLayout" Target="../slideLayouts/slideLayout4.xml"/><Relationship Id="rId6" Type="http://schemas.openxmlformats.org/officeDocument/2006/relationships/oleObject" Target="../embeddings/oleObject6.bin"/><Relationship Id="rId11" Type="http://schemas.openxmlformats.org/officeDocument/2006/relationships/image" Target="../media/image2030.png"/><Relationship Id="rId5" Type="http://schemas.openxmlformats.org/officeDocument/2006/relationships/image" Target="../media/image2010.png"/><Relationship Id="rId15" Type="http://schemas.openxmlformats.org/officeDocument/2006/relationships/image" Target="../media/image207.png"/><Relationship Id="rId23" Type="http://schemas.openxmlformats.org/officeDocument/2006/relationships/image" Target="../media/image209.png"/><Relationship Id="rId10" Type="http://schemas.openxmlformats.org/officeDocument/2006/relationships/image" Target="../media/image2020.png"/><Relationship Id="rId9" Type="http://schemas.openxmlformats.org/officeDocument/2006/relationships/image" Target="../media/image106.wmf"/><Relationship Id="rId14" Type="http://schemas.openxmlformats.org/officeDocument/2006/relationships/image" Target="../media/image2060.png"/><Relationship Id="rId22" Type="http://schemas.openxmlformats.org/officeDocument/2006/relationships/image" Target="../media/image2080.png"/></Relationships>
</file>

<file path=ppt/slides/_rels/slide10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02.xml"/><Relationship Id="rId1" Type="http://schemas.openxmlformats.org/officeDocument/2006/relationships/slideLayout" Target="../slideLayouts/slideLayout4.xml"/><Relationship Id="rId6" Type="http://schemas.openxmlformats.org/officeDocument/2006/relationships/image" Target="../media/image109.png"/><Relationship Id="rId5" Type="http://schemas.openxmlformats.org/officeDocument/2006/relationships/oleObject" Target="../embeddings/oleObject8.bin"/><Relationship Id="rId10" Type="http://schemas.openxmlformats.org/officeDocument/2006/relationships/image" Target="../media/image111.png"/><Relationship Id="rId4" Type="http://schemas.openxmlformats.org/officeDocument/2006/relationships/image" Target="../media/image108.png"/><Relationship Id="rId9" Type="http://schemas.openxmlformats.org/officeDocument/2006/relationships/oleObject" Target="../embeddings/oleObject10.bin"/></Relationships>
</file>

<file path=ppt/slides/_rels/slide10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03.xml"/><Relationship Id="rId1" Type="http://schemas.openxmlformats.org/officeDocument/2006/relationships/slideLayout" Target="../slideLayouts/slideLayout4.xml"/><Relationship Id="rId4" Type="http://schemas.openxmlformats.org/officeDocument/2006/relationships/image" Target="../media/image113.jpg"/></Relationships>
</file>

<file path=ppt/slides/_rels/slide104.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notesSlide" Target="../notesSlides/notesSlide104.xml"/><Relationship Id="rId1" Type="http://schemas.openxmlformats.org/officeDocument/2006/relationships/slideLayout" Target="../slideLayouts/slideLayout4.xml"/><Relationship Id="rId5" Type="http://schemas.openxmlformats.org/officeDocument/2006/relationships/image" Target="../media/image116.jpg"/><Relationship Id="rId4" Type="http://schemas.openxmlformats.org/officeDocument/2006/relationships/image" Target="../media/image115.png"/></Relationships>
</file>

<file path=ppt/slides/_rels/slide10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05.xml"/><Relationship Id="rId1" Type="http://schemas.openxmlformats.org/officeDocument/2006/relationships/slideLayout" Target="../slideLayouts/slideLayout4.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06.xml"/><Relationship Id="rId1" Type="http://schemas.openxmlformats.org/officeDocument/2006/relationships/slideLayout" Target="../slideLayouts/slideLayout4.xml"/><Relationship Id="rId5" Type="http://schemas.openxmlformats.org/officeDocument/2006/relationships/image" Target="../media/image122.png"/><Relationship Id="rId4" Type="http://schemas.openxmlformats.org/officeDocument/2006/relationships/image" Target="../media/image121.png"/></Relationships>
</file>

<file path=ppt/slides/_rels/slide10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8.xml"/><Relationship Id="rId1" Type="http://schemas.openxmlformats.org/officeDocument/2006/relationships/slideLayout" Target="../slideLayouts/slideLayout4.xml"/><Relationship Id="rId6" Type="http://schemas.openxmlformats.org/officeDocument/2006/relationships/image" Target="../media/image125.png"/><Relationship Id="rId5" Type="http://schemas.openxmlformats.org/officeDocument/2006/relationships/oleObject" Target="../embeddings/oleObject13.bin"/><Relationship Id="rId4" Type="http://schemas.openxmlformats.org/officeDocument/2006/relationships/image" Target="../media/image124.png"/></Relationships>
</file>

<file path=ppt/slides/_rels/slide109.xml.rels><?xml version="1.0" encoding="UTF-8" standalone="yes"?>
<Relationships xmlns="http://schemas.openxmlformats.org/package/2006/relationships"><Relationship Id="rId3" Type="http://schemas.openxmlformats.org/officeDocument/2006/relationships/image" Target="../media/image126.jpg"/><Relationship Id="rId2" Type="http://schemas.openxmlformats.org/officeDocument/2006/relationships/notesSlide" Target="../notesSlides/notesSlide109.xml"/><Relationship Id="rId1" Type="http://schemas.openxmlformats.org/officeDocument/2006/relationships/slideLayout" Target="../slideLayouts/slideLayout4.xml"/><Relationship Id="rId4" Type="http://schemas.openxmlformats.org/officeDocument/2006/relationships/image" Target="../media/image127.jp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notesSlide" Target="../notesSlides/notesSlide111.xml"/><Relationship Id="rId1" Type="http://schemas.openxmlformats.org/officeDocument/2006/relationships/slideLayout" Target="../slideLayouts/slideLayout4.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133.jpg"/><Relationship Id="rId2" Type="http://schemas.openxmlformats.org/officeDocument/2006/relationships/notesSlide" Target="../notesSlides/notesSlide113.xml"/><Relationship Id="rId1" Type="http://schemas.openxmlformats.org/officeDocument/2006/relationships/slideLayout" Target="../slideLayouts/slideLayout4.xml"/><Relationship Id="rId4" Type="http://schemas.openxmlformats.org/officeDocument/2006/relationships/image" Target="../media/image134.png"/></Relationships>
</file>

<file path=ppt/slides/_rels/slide11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14.xml"/><Relationship Id="rId1" Type="http://schemas.openxmlformats.org/officeDocument/2006/relationships/slideLayout" Target="../slideLayouts/slideLayout4.xml"/><Relationship Id="rId5" Type="http://schemas.openxmlformats.org/officeDocument/2006/relationships/image" Target="../media/image136.png"/><Relationship Id="rId4" Type="http://schemas.openxmlformats.org/officeDocument/2006/relationships/oleObject" Target="../embeddings/oleObject14.bin"/></Relationships>
</file>

<file path=ppt/slides/_rels/slide115.xml.rels><?xml version="1.0" encoding="UTF-8" standalone="yes"?>
<Relationships xmlns="http://schemas.openxmlformats.org/package/2006/relationships"><Relationship Id="rId3" Type="http://schemas.openxmlformats.org/officeDocument/2006/relationships/image" Target="../media/image137.jpg"/><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139.jpg"/><Relationship Id="rId2" Type="http://schemas.openxmlformats.org/officeDocument/2006/relationships/notesSlide" Target="../notesSlides/notesSlide117.xml"/><Relationship Id="rId1" Type="http://schemas.openxmlformats.org/officeDocument/2006/relationships/slideLayout" Target="../slideLayouts/slideLayout4.xml"/><Relationship Id="rId4" Type="http://schemas.openxmlformats.org/officeDocument/2006/relationships/image" Target="../media/image140.png"/></Relationships>
</file>

<file path=ppt/slides/_rels/slide118.xml.rels><?xml version="1.0" encoding="UTF-8" standalone="yes"?>
<Relationships xmlns="http://schemas.openxmlformats.org/package/2006/relationships"><Relationship Id="rId3" Type="http://schemas.openxmlformats.org/officeDocument/2006/relationships/image" Target="../media/image141.jpg"/><Relationship Id="rId2" Type="http://schemas.openxmlformats.org/officeDocument/2006/relationships/notesSlide" Target="../notesSlides/notesSlide118.xml"/><Relationship Id="rId1" Type="http://schemas.openxmlformats.org/officeDocument/2006/relationships/slideLayout" Target="../slideLayouts/slideLayout4.xml"/><Relationship Id="rId4" Type="http://schemas.openxmlformats.org/officeDocument/2006/relationships/image" Target="../media/image142.png"/></Relationships>
</file>

<file path=ppt/slides/_rels/slide119.xml.rels><?xml version="1.0" encoding="UTF-8" standalone="yes"?>
<Relationships xmlns="http://schemas.openxmlformats.org/package/2006/relationships"><Relationship Id="rId3" Type="http://schemas.openxmlformats.org/officeDocument/2006/relationships/image" Target="../media/image143.jpg"/><Relationship Id="rId2" Type="http://schemas.openxmlformats.org/officeDocument/2006/relationships/notesSlide" Target="../notesSlides/notesSlide119.xml"/><Relationship Id="rId1" Type="http://schemas.openxmlformats.org/officeDocument/2006/relationships/slideLayout" Target="../slideLayouts/slideLayout4.xml"/><Relationship Id="rId4" Type="http://schemas.openxmlformats.org/officeDocument/2006/relationships/image" Target="../media/image144.jpg"/></Relationships>
</file>

<file path=ppt/slides/_rels/slide12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3" Type="http://schemas.openxmlformats.org/officeDocument/2006/relationships/image" Target="../media/image146.jpg"/><Relationship Id="rId2" Type="http://schemas.openxmlformats.org/officeDocument/2006/relationships/notesSlide" Target="../notesSlides/notesSlide121.xml"/><Relationship Id="rId1" Type="http://schemas.openxmlformats.org/officeDocument/2006/relationships/slideLayout" Target="../slideLayouts/slideLayout4.xml"/><Relationship Id="rId5" Type="http://schemas.openxmlformats.org/officeDocument/2006/relationships/image" Target="../media/image148.jpg"/><Relationship Id="rId4" Type="http://schemas.openxmlformats.org/officeDocument/2006/relationships/image" Target="../media/image147.jpg"/></Relationships>
</file>

<file path=ppt/slides/_rels/slide122.xml.rels><?xml version="1.0" encoding="UTF-8" standalone="yes"?>
<Relationships xmlns="http://schemas.openxmlformats.org/package/2006/relationships"><Relationship Id="rId3" Type="http://schemas.openxmlformats.org/officeDocument/2006/relationships/image" Target="../media/image149.jpg"/><Relationship Id="rId2" Type="http://schemas.openxmlformats.org/officeDocument/2006/relationships/notesSlide" Target="../notesSlides/notesSlide122.xml"/><Relationship Id="rId1" Type="http://schemas.openxmlformats.org/officeDocument/2006/relationships/slideLayout" Target="../slideLayouts/slideLayout4.xml"/><Relationship Id="rId6" Type="http://schemas.openxmlformats.org/officeDocument/2006/relationships/image" Target="../media/image152.jpg"/><Relationship Id="rId5" Type="http://schemas.openxmlformats.org/officeDocument/2006/relationships/image" Target="../media/image151.jpg"/><Relationship Id="rId4" Type="http://schemas.openxmlformats.org/officeDocument/2006/relationships/image" Target="../media/image150.jpg"/></Relationships>
</file>

<file path=ppt/slides/_rels/slide123.xml.rels><?xml version="1.0" encoding="UTF-8" standalone="yes"?>
<Relationships xmlns="http://schemas.openxmlformats.org/package/2006/relationships"><Relationship Id="rId3" Type="http://schemas.openxmlformats.org/officeDocument/2006/relationships/image" Target="../media/image153.jpg"/><Relationship Id="rId2" Type="http://schemas.openxmlformats.org/officeDocument/2006/relationships/notesSlide" Target="../notesSlides/notesSlide123.xml"/><Relationship Id="rId1" Type="http://schemas.openxmlformats.org/officeDocument/2006/relationships/slideLayout" Target="../slideLayouts/slideLayout4.xml"/><Relationship Id="rId6" Type="http://schemas.openxmlformats.org/officeDocument/2006/relationships/image" Target="../media/image156.jpg"/><Relationship Id="rId5" Type="http://schemas.openxmlformats.org/officeDocument/2006/relationships/image" Target="../media/image155.jpg"/><Relationship Id="rId4" Type="http://schemas.openxmlformats.org/officeDocument/2006/relationships/image" Target="../media/image154.jp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26.xml"/><Relationship Id="rId1" Type="http://schemas.openxmlformats.org/officeDocument/2006/relationships/slideLayout" Target="../slideLayouts/slideLayout4.xml"/><Relationship Id="rId4" Type="http://schemas.openxmlformats.org/officeDocument/2006/relationships/image" Target="../media/image157.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8.xml"/><Relationship Id="rId1" Type="http://schemas.openxmlformats.org/officeDocument/2006/relationships/slideLayout" Target="../slideLayouts/slideLayout4.xml"/><Relationship Id="rId5" Type="http://schemas.openxmlformats.org/officeDocument/2006/relationships/image" Target="../media/image159.png"/><Relationship Id="rId4" Type="http://schemas.openxmlformats.org/officeDocument/2006/relationships/oleObject" Target="../embeddings/oleObject16.bin"/></Relationships>
</file>

<file path=ppt/slides/_rels/slide12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29.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61.png"/><Relationship Id="rId7" Type="http://schemas.openxmlformats.org/officeDocument/2006/relationships/image" Target="../media/image165.png"/><Relationship Id="rId2" Type="http://schemas.openxmlformats.org/officeDocument/2006/relationships/notesSlide" Target="../notesSlides/notesSlide130.xml"/><Relationship Id="rId1" Type="http://schemas.openxmlformats.org/officeDocument/2006/relationships/slideLayout" Target="../slideLayouts/slideLayout4.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0" Type="http://schemas.openxmlformats.org/officeDocument/2006/relationships/image" Target="../media/image168.png"/><Relationship Id="rId4" Type="http://schemas.openxmlformats.org/officeDocument/2006/relationships/image" Target="../media/image162.png"/><Relationship Id="rId9" Type="http://schemas.openxmlformats.org/officeDocument/2006/relationships/image" Target="../media/image167.png"/></Relationships>
</file>

<file path=ppt/slides/_rels/slide13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31.xml"/><Relationship Id="rId1" Type="http://schemas.openxmlformats.org/officeDocument/2006/relationships/slideLayout" Target="../slideLayouts/slideLayout4.xml"/><Relationship Id="rId4" Type="http://schemas.openxmlformats.org/officeDocument/2006/relationships/image" Target="../media/image170.png"/></Relationships>
</file>

<file path=ppt/slides/_rels/slide132.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32.xml"/><Relationship Id="rId1" Type="http://schemas.openxmlformats.org/officeDocument/2006/relationships/slideLayout" Target="../slideLayouts/slideLayout4.xml"/><Relationship Id="rId5" Type="http://schemas.openxmlformats.org/officeDocument/2006/relationships/image" Target="../media/image173.png"/><Relationship Id="rId4" Type="http://schemas.openxmlformats.org/officeDocument/2006/relationships/image" Target="../media/image172.png"/></Relationships>
</file>

<file path=ppt/slides/_rels/slide133.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33.xml"/><Relationship Id="rId1" Type="http://schemas.openxmlformats.org/officeDocument/2006/relationships/slideLayout" Target="../slideLayouts/slideLayout4.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s>
</file>

<file path=ppt/slides/_rels/slide134.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image" Target="../media/image105.png"/><Relationship Id="rId7" Type="http://schemas.openxmlformats.org/officeDocument/2006/relationships/image" Target="../media/image182.png"/><Relationship Id="rId2" Type="http://schemas.openxmlformats.org/officeDocument/2006/relationships/notesSlide" Target="../notesSlides/notesSlide134.xml"/><Relationship Id="rId1" Type="http://schemas.openxmlformats.org/officeDocument/2006/relationships/slideLayout" Target="../slideLayouts/slideLayout4.xml"/><Relationship Id="rId6" Type="http://schemas.openxmlformats.org/officeDocument/2006/relationships/image" Target="../media/image2770.png"/><Relationship Id="rId5" Type="http://schemas.openxmlformats.org/officeDocument/2006/relationships/image" Target="../media/image2760.png"/><Relationship Id="rId4" Type="http://schemas.openxmlformats.org/officeDocument/2006/relationships/image" Target="../media/image181.png"/></Relationships>
</file>

<file path=ppt/slides/_rels/slide135.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35.xml"/><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oleObject" Target="../embeddings/oleObject210.bin"/><Relationship Id="rId18" Type="http://schemas.openxmlformats.org/officeDocument/2006/relationships/image" Target="../media/image2830.png"/><Relationship Id="rId3" Type="http://schemas.openxmlformats.org/officeDocument/2006/relationships/image" Target="../media/image105.png"/><Relationship Id="rId7" Type="http://schemas.openxmlformats.org/officeDocument/2006/relationships/oleObject" Target="../embeddings/oleObject24.bin"/><Relationship Id="rId12" Type="http://schemas.openxmlformats.org/officeDocument/2006/relationships/oleObject" Target="../embeddings/oleObject19.bin"/><Relationship Id="rId17" Type="http://schemas.openxmlformats.org/officeDocument/2006/relationships/image" Target="../media/image2820.png"/><Relationship Id="rId2" Type="http://schemas.openxmlformats.org/officeDocument/2006/relationships/notesSlide" Target="../notesSlides/notesSlide136.xml"/><Relationship Id="rId16" Type="http://schemas.openxmlformats.org/officeDocument/2006/relationships/image" Target="../media/image1650.png"/><Relationship Id="rId1" Type="http://schemas.openxmlformats.org/officeDocument/2006/relationships/slideLayout" Target="../slideLayouts/slideLayout4.xml"/><Relationship Id="rId11" Type="http://schemas.openxmlformats.org/officeDocument/2006/relationships/image" Target="../media/image1630.png"/><Relationship Id="rId5" Type="http://schemas.openxmlformats.org/officeDocument/2006/relationships/image" Target="../media/image179.wmf"/><Relationship Id="rId15" Type="http://schemas.openxmlformats.org/officeDocument/2006/relationships/image" Target="../media/image2810.png"/><Relationship Id="rId10" Type="http://schemas.openxmlformats.org/officeDocument/2006/relationships/image" Target="../media/image1620.png"/><Relationship Id="rId19" Type="http://schemas.openxmlformats.org/officeDocument/2006/relationships/image" Target="../media/image1680.png"/><Relationship Id="rId4" Type="http://schemas.openxmlformats.org/officeDocument/2006/relationships/oleObject" Target="../embeddings/oleObject18.bin"/><Relationship Id="rId9" Type="http://schemas.openxmlformats.org/officeDocument/2006/relationships/image" Target="../media/image1610.png"/><Relationship Id="rId14" Type="http://schemas.openxmlformats.org/officeDocument/2006/relationships/image" Target="../media/image179.wmf"/></Relationships>
</file>

<file path=ppt/slides/_rels/slide13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1750.png"/><Relationship Id="rId18" Type="http://schemas.openxmlformats.org/officeDocument/2006/relationships/image" Target="../media/image2860.png"/><Relationship Id="rId3" Type="http://schemas.openxmlformats.org/officeDocument/2006/relationships/image" Target="../media/image105.png"/><Relationship Id="rId7" Type="http://schemas.openxmlformats.org/officeDocument/2006/relationships/oleObject" Target="../embeddings/oleObject26.bin"/><Relationship Id="rId12" Type="http://schemas.openxmlformats.org/officeDocument/2006/relationships/image" Target="../media/image1740.png"/><Relationship Id="rId17" Type="http://schemas.openxmlformats.org/officeDocument/2006/relationships/image" Target="../media/image2850.png"/><Relationship Id="rId2" Type="http://schemas.openxmlformats.org/officeDocument/2006/relationships/notesSlide" Target="../notesSlides/notesSlide137.xml"/><Relationship Id="rId16" Type="http://schemas.openxmlformats.org/officeDocument/2006/relationships/image" Target="../media/image180.wmf"/><Relationship Id="rId1" Type="http://schemas.openxmlformats.org/officeDocument/2006/relationships/slideLayout" Target="../slideLayouts/slideLayout4.xml"/><Relationship Id="rId11" Type="http://schemas.openxmlformats.org/officeDocument/2006/relationships/image" Target="../media/image1730.png"/><Relationship Id="rId5" Type="http://schemas.openxmlformats.org/officeDocument/2006/relationships/image" Target="../media/image180.wmf"/><Relationship Id="rId15" Type="http://schemas.openxmlformats.org/officeDocument/2006/relationships/oleObject" Target="../embeddings/oleObject270.bin"/><Relationship Id="rId10" Type="http://schemas.openxmlformats.org/officeDocument/2006/relationships/image" Target="../media/image1720.png"/><Relationship Id="rId19" Type="http://schemas.openxmlformats.org/officeDocument/2006/relationships/image" Target="../media/image2870.png"/><Relationship Id="rId4" Type="http://schemas.openxmlformats.org/officeDocument/2006/relationships/oleObject" Target="../embeddings/oleObject20.bin"/><Relationship Id="rId9" Type="http://schemas.openxmlformats.org/officeDocument/2006/relationships/image" Target="../media/image1710.png"/><Relationship Id="rId14" Type="http://schemas.openxmlformats.org/officeDocument/2006/relationships/oleObject" Target="../embeddings/oleObject21.bin"/></Relationships>
</file>

<file path=ppt/slides/_rels/slide138.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3.png"/><Relationship Id="rId2" Type="http://schemas.openxmlformats.org/officeDocument/2006/relationships/notesSlide" Target="../notesSlides/notesSlide138.xml"/><Relationship Id="rId1" Type="http://schemas.openxmlformats.org/officeDocument/2006/relationships/slideLayout" Target="../slideLayouts/slideLayout4.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139.xml"/><Relationship Id="rId1" Type="http://schemas.openxmlformats.org/officeDocument/2006/relationships/slideLayout" Target="../slideLayouts/slideLayout4.xml"/><Relationship Id="rId6" Type="http://schemas.openxmlformats.org/officeDocument/2006/relationships/image" Target="../media/image196.png"/><Relationship Id="rId5" Type="http://schemas.openxmlformats.org/officeDocument/2006/relationships/oleObject" Target="../embeddings/oleObject23.bin"/><Relationship Id="rId4" Type="http://schemas.openxmlformats.org/officeDocument/2006/relationships/image" Target="../media/image195.png"/></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140.xml"/><Relationship Id="rId1" Type="http://schemas.openxmlformats.org/officeDocument/2006/relationships/slideLayout" Target="../slideLayouts/slideLayout4.xml"/><Relationship Id="rId6" Type="http://schemas.openxmlformats.org/officeDocument/2006/relationships/image" Target="../media/image198.png"/><Relationship Id="rId5" Type="http://schemas.openxmlformats.org/officeDocument/2006/relationships/oleObject" Target="../embeddings/oleObject27.bin"/><Relationship Id="rId4" Type="http://schemas.openxmlformats.org/officeDocument/2006/relationships/image" Target="../media/image197.png"/></Relationships>
</file>

<file path=ppt/slides/_rels/slide141.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141.xml"/><Relationship Id="rId1" Type="http://schemas.openxmlformats.org/officeDocument/2006/relationships/slideLayout" Target="../slideLayouts/slideLayout4.xml"/><Relationship Id="rId4" Type="http://schemas.openxmlformats.org/officeDocument/2006/relationships/image" Target="../media/image200.png"/></Relationships>
</file>

<file path=ppt/slides/_rels/slide14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202.emf"/><Relationship Id="rId18" Type="http://schemas.openxmlformats.org/officeDocument/2006/relationships/image" Target="../media/image2980.png"/><Relationship Id="rId3" Type="http://schemas.openxmlformats.org/officeDocument/2006/relationships/image" Target="../media/image105.png"/><Relationship Id="rId21" Type="http://schemas.openxmlformats.org/officeDocument/2006/relationships/image" Target="../media/image3010.png"/><Relationship Id="rId7" Type="http://schemas.openxmlformats.org/officeDocument/2006/relationships/oleObject" Target="../embeddings/oleObject320.bin"/><Relationship Id="rId12" Type="http://schemas.openxmlformats.org/officeDocument/2006/relationships/oleObject" Target="../embeddings/oleObject30.bin"/><Relationship Id="rId17" Type="http://schemas.openxmlformats.org/officeDocument/2006/relationships/image" Target="../media/image2970.png"/><Relationship Id="rId2" Type="http://schemas.openxmlformats.org/officeDocument/2006/relationships/notesSlide" Target="../notesSlides/notesSlide142.xml"/><Relationship Id="rId16" Type="http://schemas.openxmlformats.org/officeDocument/2006/relationships/image" Target="../media/image2960.png"/><Relationship Id="rId20" Type="http://schemas.openxmlformats.org/officeDocument/2006/relationships/image" Target="../media/image3000.png"/><Relationship Id="rId1" Type="http://schemas.openxmlformats.org/officeDocument/2006/relationships/slideLayout" Target="../slideLayouts/slideLayout4.xml"/><Relationship Id="rId11" Type="http://schemas.openxmlformats.org/officeDocument/2006/relationships/image" Target="../media/image293.wmf"/><Relationship Id="rId5" Type="http://schemas.openxmlformats.org/officeDocument/2006/relationships/image" Target="../media/image201.wmf"/><Relationship Id="rId15" Type="http://schemas.openxmlformats.org/officeDocument/2006/relationships/image" Target="NULL"/><Relationship Id="rId10" Type="http://schemas.openxmlformats.org/officeDocument/2006/relationships/oleObject" Target="../embeddings/oleObject330.bin"/><Relationship Id="rId19" Type="http://schemas.openxmlformats.org/officeDocument/2006/relationships/image" Target="../media/image2990.png"/><Relationship Id="rId4" Type="http://schemas.openxmlformats.org/officeDocument/2006/relationships/oleObject" Target="../embeddings/oleObject28.bin"/><Relationship Id="rId9" Type="http://schemas.openxmlformats.org/officeDocument/2006/relationships/oleObject" Target="../embeddings/oleObject29.bin"/><Relationship Id="rId14" Type="http://schemas.openxmlformats.org/officeDocument/2006/relationships/oleObject" Target="../embeddings/oleObject340.bin"/><Relationship Id="rId22" Type="http://schemas.openxmlformats.org/officeDocument/2006/relationships/image" Target="../media/image3020.png"/></Relationships>
</file>

<file path=ppt/slides/_rels/slide143.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43.xml"/><Relationship Id="rId1" Type="http://schemas.openxmlformats.org/officeDocument/2006/relationships/slideLayout" Target="../slideLayouts/slideLayout4.xml"/><Relationship Id="rId4" Type="http://schemas.openxmlformats.org/officeDocument/2006/relationships/image" Target="../media/image204.png"/></Relationships>
</file>

<file path=ppt/slides/_rels/slide144.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44.xml"/><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45.xml"/><Relationship Id="rId1" Type="http://schemas.openxmlformats.org/officeDocument/2006/relationships/slideLayout" Target="../slideLayouts/slideLayout4.xml"/><Relationship Id="rId4" Type="http://schemas.openxmlformats.org/officeDocument/2006/relationships/image" Target="../media/image2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2"/>
          <p:cNvGrpSpPr/>
          <p:nvPr/>
        </p:nvGrpSpPr>
        <p:grpSpPr>
          <a:xfrm>
            <a:off x="732970" y="2724996"/>
            <a:ext cx="5749711" cy="1211464"/>
            <a:chOff x="720000" y="2070000"/>
            <a:chExt cx="5749711" cy="1211464"/>
          </a:xfrm>
        </p:grpSpPr>
        <p:sp>
          <p:nvSpPr>
            <p:cNvPr id="150" name="Google Shape;150;p2"/>
            <p:cNvSpPr/>
            <p:nvPr/>
          </p:nvSpPr>
          <p:spPr>
            <a:xfrm>
              <a:off x="990000" y="2524714"/>
              <a:ext cx="5287583"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400" b="1" i="0" u="none" strike="noStrike" cap="none">
                  <a:solidFill>
                    <a:schemeClr val="dk1"/>
                  </a:solidFill>
                  <a:latin typeface="Arial"/>
                  <a:ea typeface="Arial"/>
                  <a:cs typeface="Arial"/>
                  <a:sym typeface="Arial"/>
                </a:rPr>
                <a:t>Nhập môn IoT</a:t>
              </a:r>
              <a:endParaRPr/>
            </a:p>
          </p:txBody>
        </p:sp>
        <p:sp>
          <p:nvSpPr>
            <p:cNvPr id="152" name="Google Shape;152;p2"/>
            <p:cNvSpPr/>
            <p:nvPr/>
          </p:nvSpPr>
          <p:spPr>
            <a:xfrm>
              <a:off x="990000" y="2070000"/>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u="none" strike="noStrike" cap="none">
                  <a:solidFill>
                    <a:srgbClr val="7F7F7F"/>
                  </a:solidFill>
                  <a:latin typeface="Arial"/>
                  <a:ea typeface="Arial"/>
                  <a:cs typeface="Arial"/>
                  <a:sym typeface="Arial"/>
                </a:rPr>
                <a:t>CHƯƠNG 1. </a:t>
              </a:r>
              <a:endParaRPr sz="5400" b="1" i="0" u="none" strike="noStrike" cap="none">
                <a:solidFill>
                  <a:srgbClr val="7F7F7F"/>
                </a:solidFill>
                <a:latin typeface="Arial"/>
                <a:ea typeface="Arial"/>
                <a:cs typeface="Arial"/>
                <a:sym typeface="Arial"/>
              </a:endParaRPr>
            </a:p>
          </p:txBody>
        </p:sp>
        <p:sp>
          <p:nvSpPr>
            <p:cNvPr id="153" name="Google Shape;153;p2"/>
            <p:cNvSpPr/>
            <p:nvPr/>
          </p:nvSpPr>
          <p:spPr>
            <a:xfrm>
              <a:off x="720000" y="2095275"/>
              <a:ext cx="60008" cy="118618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grpSp>
        <p:nvGrpSpPr>
          <p:cNvPr id="160" name="Google Shape;160;p3"/>
          <p:cNvGrpSpPr/>
          <p:nvPr/>
        </p:nvGrpSpPr>
        <p:grpSpPr>
          <a:xfrm>
            <a:off x="449856" y="450955"/>
            <a:ext cx="8999458" cy="369214"/>
            <a:chOff x="450000" y="450000"/>
            <a:chExt cx="9002343" cy="369332"/>
          </a:xfrm>
        </p:grpSpPr>
        <p:sp>
          <p:nvSpPr>
            <p:cNvPr id="161" name="Google Shape;161;p3"/>
            <p:cNvSpPr/>
            <p:nvPr/>
          </p:nvSpPr>
          <p:spPr>
            <a:xfrm>
              <a:off x="450000" y="450000"/>
              <a:ext cx="878522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93EB0"/>
                  </a:solidFill>
                  <a:latin typeface="Arial"/>
                  <a:ea typeface="Arial"/>
                  <a:cs typeface="Arial"/>
                  <a:sym typeface="Arial"/>
                </a:rPr>
                <a:t>Mô tả chương</a:t>
              </a:r>
              <a:endParaRPr sz="2400" b="1">
                <a:solidFill>
                  <a:srgbClr val="193EB0"/>
                </a:solidFill>
                <a:latin typeface="Arial"/>
                <a:ea typeface="Arial"/>
                <a:cs typeface="Arial"/>
                <a:sym typeface="Arial"/>
              </a:endParaRPr>
            </a:p>
          </p:txBody>
        </p:sp>
        <p:cxnSp>
          <p:nvCxnSpPr>
            <p:cNvPr id="162" name="Google Shape;162;p3"/>
            <p:cNvCxnSpPr/>
            <p:nvPr/>
          </p:nvCxnSpPr>
          <p:spPr>
            <a:xfrm>
              <a:off x="3593437" y="630000"/>
              <a:ext cx="5858906" cy="0"/>
            </a:xfrm>
            <a:prstGeom prst="straightConnector1">
              <a:avLst/>
            </a:prstGeom>
            <a:noFill/>
            <a:ln w="12700" cap="flat" cmpd="sng">
              <a:solidFill>
                <a:srgbClr val="1428A0"/>
              </a:solidFill>
              <a:prstDash val="solid"/>
              <a:miter lim="800000"/>
              <a:headEnd type="none" w="sm" len="sm"/>
              <a:tailEnd type="none" w="sm" len="sm"/>
            </a:ln>
          </p:spPr>
        </p:cxnSp>
      </p:grpSp>
      <p:sp>
        <p:nvSpPr>
          <p:cNvPr id="163" name="Google Shape;163;p3"/>
          <p:cNvSpPr/>
          <p:nvPr/>
        </p:nvSpPr>
        <p:spPr>
          <a:xfrm>
            <a:off x="710975" y="1619179"/>
            <a:ext cx="8630058" cy="690701"/>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marR="0" lvl="0" indent="-285664" algn="l" rtl="0">
              <a:spcBef>
                <a:spcPts val="0"/>
              </a:spcBef>
              <a:spcAft>
                <a:spcPts val="0"/>
              </a:spcAft>
              <a:buClr>
                <a:srgbClr val="A5A5A5"/>
              </a:buClr>
              <a:buSzPts val="1300"/>
              <a:buFont typeface="Noto Sans Symbols"/>
              <a:buChar char="✔"/>
            </a:pPr>
            <a:r>
              <a:rPr lang="en-US" sz="1300" dirty="0" err="1">
                <a:solidFill>
                  <a:srgbClr val="262626"/>
                </a:solidFill>
                <a:latin typeface="Arial"/>
                <a:ea typeface="Arial"/>
                <a:cs typeface="Arial"/>
                <a:sym typeface="Arial"/>
              </a:rPr>
              <a:t>Tìm</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hiểu</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định</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nghĩa</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và</a:t>
            </a:r>
            <a:r>
              <a:rPr lang="en-US" sz="1300" dirty="0">
                <a:solidFill>
                  <a:srgbClr val="262626"/>
                </a:solidFill>
                <a:latin typeface="Arial"/>
                <a:ea typeface="Arial"/>
                <a:cs typeface="Arial"/>
                <a:sym typeface="Arial"/>
              </a:rPr>
              <a:t> xu </a:t>
            </a:r>
            <a:r>
              <a:rPr lang="en-US" sz="1300" dirty="0" err="1">
                <a:solidFill>
                  <a:srgbClr val="262626"/>
                </a:solidFill>
                <a:latin typeface="Arial"/>
                <a:ea typeface="Arial"/>
                <a:cs typeface="Arial"/>
                <a:sym typeface="Arial"/>
              </a:rPr>
              <a:t>hướng</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thị</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trường</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của</a:t>
            </a:r>
            <a:r>
              <a:rPr lang="en-US" sz="1300" dirty="0">
                <a:solidFill>
                  <a:srgbClr val="262626"/>
                </a:solidFill>
                <a:latin typeface="Arial"/>
                <a:ea typeface="Arial"/>
                <a:cs typeface="Arial"/>
                <a:sym typeface="Arial"/>
              </a:rPr>
              <a:t> IoT. </a:t>
            </a:r>
            <a:r>
              <a:rPr lang="en-US" sz="1300" dirty="0" err="1">
                <a:solidFill>
                  <a:srgbClr val="262626"/>
                </a:solidFill>
                <a:latin typeface="Arial"/>
                <a:ea typeface="Arial"/>
                <a:cs typeface="Arial"/>
                <a:sym typeface="Arial"/>
              </a:rPr>
              <a:t>Khóa</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học</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này</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sẽ</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đặc</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biệt</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đi</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sâu</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vào</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các</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thành</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phần</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nền</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tảng</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và</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mạng</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lưới</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của</a:t>
            </a:r>
            <a:r>
              <a:rPr lang="en-US" sz="1300" dirty="0">
                <a:solidFill>
                  <a:srgbClr val="262626"/>
                </a:solidFill>
                <a:latin typeface="Arial"/>
                <a:ea typeface="Arial"/>
                <a:cs typeface="Arial"/>
                <a:sym typeface="Arial"/>
              </a:rPr>
              <a:t> IoT.</a:t>
            </a:r>
            <a:endParaRPr dirty="0"/>
          </a:p>
        </p:txBody>
      </p:sp>
      <p:grpSp>
        <p:nvGrpSpPr>
          <p:cNvPr id="164" name="Google Shape;164;p3"/>
          <p:cNvGrpSpPr/>
          <p:nvPr/>
        </p:nvGrpSpPr>
        <p:grpSpPr>
          <a:xfrm>
            <a:off x="441605" y="1288351"/>
            <a:ext cx="8899428" cy="233692"/>
            <a:chOff x="441747" y="1714333"/>
            <a:chExt cx="8902281" cy="233767"/>
          </a:xfrm>
        </p:grpSpPr>
        <p:sp>
          <p:nvSpPr>
            <p:cNvPr id="165" name="Google Shape;165;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262626"/>
                  </a:solidFill>
                  <a:latin typeface="Arial"/>
                  <a:ea typeface="Arial"/>
                  <a:cs typeface="Arial"/>
                  <a:sym typeface="Arial"/>
                </a:rPr>
                <a:t>Mục tiêu của chương</a:t>
              </a:r>
              <a:endParaRPr sz="1400">
                <a:solidFill>
                  <a:srgbClr val="262626"/>
                </a:solidFill>
                <a:latin typeface="Arial"/>
                <a:ea typeface="Arial"/>
                <a:cs typeface="Arial"/>
                <a:sym typeface="Arial"/>
              </a:endParaRPr>
            </a:p>
          </p:txBody>
        </p:sp>
        <p:sp>
          <p:nvSpPr>
            <p:cNvPr id="166" name="Google Shape;166;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grpSp>
        <p:nvGrpSpPr>
          <p:cNvPr id="167" name="Google Shape;167;p3"/>
          <p:cNvGrpSpPr/>
          <p:nvPr/>
        </p:nvGrpSpPr>
        <p:grpSpPr>
          <a:xfrm>
            <a:off x="449856" y="2526509"/>
            <a:ext cx="8899428" cy="233692"/>
            <a:chOff x="441747" y="1714333"/>
            <a:chExt cx="8902281" cy="233767"/>
          </a:xfrm>
        </p:grpSpPr>
        <p:sp>
          <p:nvSpPr>
            <p:cNvPr id="168" name="Google Shape;168;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262626"/>
                  </a:solidFill>
                  <a:latin typeface="Arial"/>
                  <a:ea typeface="Arial"/>
                  <a:cs typeface="Arial"/>
                  <a:sym typeface="Arial"/>
                </a:rPr>
                <a:t>Nội dung của chương</a:t>
              </a:r>
              <a:endParaRPr sz="1400" b="1">
                <a:solidFill>
                  <a:srgbClr val="262626"/>
                </a:solidFill>
                <a:latin typeface="Arial"/>
                <a:ea typeface="Arial"/>
                <a:cs typeface="Arial"/>
                <a:sym typeface="Arial"/>
              </a:endParaRPr>
            </a:p>
          </p:txBody>
        </p:sp>
        <p:sp>
          <p:nvSpPr>
            <p:cNvPr id="169" name="Google Shape;169;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sp>
        <p:nvSpPr>
          <p:cNvPr id="170" name="Google Shape;170;p3"/>
          <p:cNvSpPr/>
          <p:nvPr/>
        </p:nvSpPr>
        <p:spPr>
          <a:xfrm>
            <a:off x="710974" y="2831294"/>
            <a:ext cx="8630058" cy="1096060"/>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marR="0" lvl="0" indent="-285664" algn="l" rtl="0">
              <a:spcBef>
                <a:spcPts val="0"/>
              </a:spcBef>
              <a:spcAft>
                <a:spcPts val="0"/>
              </a:spcAft>
              <a:buClr>
                <a:srgbClr val="A5A5A5"/>
              </a:buClr>
              <a:buSzPts val="1300"/>
              <a:buFont typeface="Noto Sans Symbols"/>
              <a:buChar char="✔"/>
            </a:pPr>
            <a:r>
              <a:rPr lang="en-US" sz="1300" dirty="0" err="1">
                <a:solidFill>
                  <a:srgbClr val="262626"/>
                </a:solidFill>
                <a:latin typeface="Arial"/>
                <a:ea typeface="Arial"/>
                <a:cs typeface="Arial"/>
                <a:sym typeface="Arial"/>
              </a:rPr>
              <a:t>Tìm</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hiểu</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về</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mạch</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điện</a:t>
            </a:r>
            <a:endParaRPr lang="en-US" sz="1300" dirty="0">
              <a:solidFill>
                <a:srgbClr val="262626"/>
              </a:solidFill>
              <a:latin typeface="Arial"/>
              <a:ea typeface="Arial"/>
              <a:cs typeface="Arial"/>
              <a:sym typeface="Arial"/>
            </a:endParaRPr>
          </a:p>
          <a:p>
            <a:pPr marL="285664" marR="0" lvl="0" indent="-285664" algn="l" rtl="0">
              <a:spcBef>
                <a:spcPts val="800"/>
              </a:spcBef>
              <a:spcAft>
                <a:spcPts val="0"/>
              </a:spcAft>
              <a:buClr>
                <a:srgbClr val="A5A5A5"/>
              </a:buClr>
              <a:buSzPts val="1300"/>
              <a:buFont typeface="Noto Sans Symbols"/>
              <a:buChar char="✔"/>
            </a:pPr>
            <a:r>
              <a:rPr lang="en-US" sz="1300" dirty="0" err="1">
                <a:solidFill>
                  <a:srgbClr val="262626"/>
                </a:solidFill>
                <a:latin typeface="Arial"/>
                <a:ea typeface="Arial"/>
                <a:cs typeface="Arial"/>
                <a:sym typeface="Arial"/>
              </a:rPr>
              <a:t>Tìm</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hiểu</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về</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cảm</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biến</a:t>
            </a:r>
            <a:endParaRPr dirty="0"/>
          </a:p>
          <a:p>
            <a:pPr marL="285664" marR="0" lvl="0" indent="-285664" algn="l" rtl="0">
              <a:spcBef>
                <a:spcPts val="800"/>
              </a:spcBef>
              <a:spcAft>
                <a:spcPts val="0"/>
              </a:spcAft>
              <a:buClr>
                <a:srgbClr val="A5A5A5"/>
              </a:buClr>
              <a:buSzPts val="1300"/>
              <a:buFont typeface="Noto Sans Symbols"/>
              <a:buChar char="✔"/>
            </a:pPr>
            <a:r>
              <a:rPr lang="en-US" sz="1300" dirty="0" err="1">
                <a:solidFill>
                  <a:srgbClr val="262626"/>
                </a:solidFill>
                <a:latin typeface="Arial"/>
                <a:ea typeface="Arial"/>
                <a:cs typeface="Arial"/>
                <a:sym typeface="Arial"/>
              </a:rPr>
              <a:t>Mạch</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và</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linh</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kiện</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cơ</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bản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61"/>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rgbClr val="3F3F3F"/>
                </a:solidFill>
              </a:rPr>
              <a:t>1</a:t>
            </a:r>
            <a:r>
              <a:rPr lang="en-US" sz="1799" dirty="0">
                <a:solidFill>
                  <a:srgbClr val="3F3F3F"/>
                </a:solidFill>
                <a:latin typeface="Arial"/>
                <a:ea typeface="Arial"/>
                <a:cs typeface="Arial"/>
                <a:sym typeface="Arial"/>
              </a:rPr>
              <a:t>.1. </a:t>
            </a:r>
            <a:r>
              <a:rPr lang="en-US" sz="1799" dirty="0" err="1">
                <a:solidFill>
                  <a:srgbClr val="3F3F3F"/>
                </a:solidFill>
                <a:latin typeface="Arial"/>
                <a:ea typeface="Arial"/>
                <a:cs typeface="Arial"/>
                <a:sym typeface="Arial"/>
              </a:rPr>
              <a:t>Đầu</a:t>
            </a:r>
            <a:r>
              <a:rPr lang="en-US" sz="1799" dirty="0">
                <a:solidFill>
                  <a:srgbClr val="3F3F3F"/>
                </a:solidFill>
                <a:latin typeface="Arial"/>
                <a:ea typeface="Arial"/>
                <a:cs typeface="Arial"/>
                <a:sym typeface="Arial"/>
              </a:rPr>
              <a:t> </a:t>
            </a:r>
            <a:r>
              <a:rPr lang="en-US" sz="1799" dirty="0" err="1">
                <a:solidFill>
                  <a:srgbClr val="3F3F3F"/>
                </a:solidFill>
                <a:latin typeface="Arial"/>
                <a:ea typeface="Arial"/>
                <a:cs typeface="Arial"/>
                <a:sym typeface="Arial"/>
              </a:rPr>
              <a:t>vào</a:t>
            </a:r>
            <a:r>
              <a:rPr lang="en-US" sz="1799" dirty="0">
                <a:solidFill>
                  <a:srgbClr val="3F3F3F"/>
                </a:solidFill>
                <a:latin typeface="Arial"/>
                <a:ea typeface="Arial"/>
                <a:cs typeface="Arial"/>
                <a:sym typeface="Arial"/>
              </a:rPr>
              <a:t> </a:t>
            </a:r>
            <a:r>
              <a:rPr lang="en-US" sz="1799" dirty="0" err="1">
                <a:solidFill>
                  <a:srgbClr val="3F3F3F"/>
                </a:solidFill>
                <a:latin typeface="Arial"/>
                <a:ea typeface="Arial"/>
                <a:cs typeface="Arial"/>
                <a:sym typeface="Arial"/>
              </a:rPr>
              <a:t>số</a:t>
            </a:r>
            <a:r>
              <a:rPr lang="en-US" sz="1799" dirty="0">
                <a:solidFill>
                  <a:srgbClr val="3F3F3F"/>
                </a:solidFill>
                <a:latin typeface="Arial"/>
                <a:ea typeface="Arial"/>
                <a:cs typeface="Arial"/>
                <a:sym typeface="Arial"/>
              </a:rPr>
              <a:t> </a:t>
            </a:r>
            <a:r>
              <a:rPr lang="en-US" sz="1799" dirty="0" err="1">
                <a:solidFill>
                  <a:srgbClr val="3F3F3F"/>
                </a:solidFill>
                <a:latin typeface="Arial"/>
                <a:ea typeface="Arial"/>
                <a:cs typeface="Arial"/>
                <a:sym typeface="Arial"/>
              </a:rPr>
              <a:t>và</a:t>
            </a:r>
            <a:r>
              <a:rPr lang="en-US" sz="1799" dirty="0">
                <a:solidFill>
                  <a:srgbClr val="3F3F3F"/>
                </a:solidFill>
                <a:latin typeface="Arial"/>
                <a:ea typeface="Arial"/>
                <a:cs typeface="Arial"/>
                <a:sym typeface="Arial"/>
              </a:rPr>
              <a:t> </a:t>
            </a:r>
            <a:r>
              <a:rPr lang="en-US" sz="1799" dirty="0" err="1">
                <a:solidFill>
                  <a:srgbClr val="3F3F3F"/>
                </a:solidFill>
                <a:latin typeface="Arial"/>
                <a:ea typeface="Arial"/>
                <a:cs typeface="Arial"/>
                <a:sym typeface="Arial"/>
              </a:rPr>
              <a:t>mạch</a:t>
            </a:r>
            <a:r>
              <a:rPr lang="en-US" sz="1799" dirty="0">
                <a:solidFill>
                  <a:srgbClr val="3F3F3F"/>
                </a:solidFill>
                <a:latin typeface="Arial"/>
                <a:ea typeface="Arial"/>
                <a:cs typeface="Arial"/>
                <a:sym typeface="Arial"/>
              </a:rPr>
              <a:t> </a:t>
            </a:r>
            <a:r>
              <a:rPr lang="en-US" sz="1799" dirty="0" err="1">
                <a:solidFill>
                  <a:srgbClr val="3F3F3F"/>
                </a:solidFill>
                <a:latin typeface="Arial"/>
                <a:ea typeface="Arial"/>
                <a:cs typeface="Arial"/>
                <a:sym typeface="Arial"/>
              </a:rPr>
              <a:t>điện</a:t>
            </a:r>
            <a:r>
              <a:rPr lang="en-US" sz="1799" dirty="0">
                <a:solidFill>
                  <a:srgbClr val="3F3F3F"/>
                </a:solidFill>
                <a:latin typeface="Arial"/>
                <a:ea typeface="Arial"/>
                <a:cs typeface="Arial"/>
                <a:sym typeface="Arial"/>
              </a:rPr>
              <a:t> </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1.2.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1.3.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siêu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âm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1.4. </a:t>
            </a:r>
            <a:r>
              <a:rPr lang="en-US" sz="1799" dirty="0" err="1">
                <a:solidFill>
                  <a:srgbClr val="A6A6A6"/>
                </a:solidFill>
                <a:latin typeface="Arial"/>
                <a:ea typeface="Arial"/>
                <a:cs typeface="Arial"/>
                <a:sym typeface="Arial"/>
              </a:rPr>
              <a:t>Màn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hình</a:t>
            </a:r>
            <a:r>
              <a:rPr lang="en-US" sz="1799" dirty="0">
                <a:solidFill>
                  <a:srgbClr val="A6A6A6"/>
                </a:solidFill>
                <a:latin typeface="Arial"/>
                <a:ea typeface="Arial"/>
                <a:cs typeface="Arial"/>
                <a:sym typeface="Arial"/>
              </a:rPr>
              <a:t> 7 </a:t>
            </a:r>
            <a:r>
              <a:rPr lang="en-US" sz="1799" dirty="0" err="1">
                <a:solidFill>
                  <a:srgbClr val="A6A6A6"/>
                </a:solidFill>
                <a:latin typeface="Arial"/>
                <a:ea typeface="Arial"/>
                <a:cs typeface="Arial"/>
                <a:sym typeface="Arial"/>
              </a:rPr>
              <a:t>đoạn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4 </a:t>
            </a:r>
            <a:r>
              <a:rPr lang="en-US" sz="1799" dirty="0" err="1">
                <a:solidFill>
                  <a:srgbClr val="A6A6A6"/>
                </a:solidFill>
                <a:latin typeface="Arial"/>
                <a:ea typeface="Arial"/>
                <a:cs typeface="Arial"/>
                <a:sym typeface="Arial"/>
              </a:rPr>
              <a:t>số</a:t>
            </a:r>
            <a:r>
              <a:rPr lang="en-US" sz="1799" dirty="0">
                <a:solidFill>
                  <a:srgbClr val="A6A6A6"/>
                </a:solidFill>
                <a:latin typeface="Arial"/>
                <a:ea typeface="Arial"/>
                <a:cs typeface="Arial"/>
                <a:sym typeface="Arial"/>
              </a:rPr>
              <a:t>)</a:t>
            </a:r>
            <a:endParaRPr dirty="0"/>
          </a:p>
        </p:txBody>
      </p:sp>
      <p:sp>
        <p:nvSpPr>
          <p:cNvPr id="1030" name="Google Shape;1030;p61"/>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1.5.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nhiệt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độ-độ</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ẩm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1.6. </a:t>
            </a:r>
            <a:r>
              <a:rPr lang="en-US" sz="1799" dirty="0" err="1">
                <a:solidFill>
                  <a:srgbClr val="A6A6A6"/>
                </a:solidFill>
                <a:latin typeface="Arial"/>
                <a:ea typeface="Arial"/>
                <a:cs typeface="Arial"/>
                <a:sym typeface="Arial"/>
              </a:rPr>
              <a:t>Lập</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trình</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điều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khiển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chính</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1.7. </a:t>
            </a:r>
            <a:r>
              <a:rPr lang="en-US" sz="1799" dirty="0" err="1">
                <a:solidFill>
                  <a:srgbClr val="A6A6A6"/>
                </a:solidFill>
                <a:latin typeface="Arial"/>
                <a:ea typeface="Arial"/>
                <a:cs typeface="Arial"/>
                <a:sym typeface="Arial"/>
              </a:rPr>
              <a:t>Chuẩn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giao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tiếp</a:t>
            </a:r>
            <a:r>
              <a:rPr lang="en-US" sz="1799" dirty="0">
                <a:solidFill>
                  <a:srgbClr val="A6A6A6"/>
                </a:solidFill>
                <a:latin typeface="Arial"/>
                <a:ea typeface="Arial"/>
                <a:cs typeface="Arial"/>
                <a:sym typeface="Arial"/>
              </a:rPr>
              <a:t> UART</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1.8. </a:t>
            </a:r>
            <a:r>
              <a:rPr lang="en-US" sz="1799" dirty="0" err="1">
                <a:solidFill>
                  <a:srgbClr val="A6A6A6"/>
                </a:solidFill>
                <a:latin typeface="Arial"/>
                <a:ea typeface="Arial"/>
                <a:cs typeface="Arial"/>
                <a:sym typeface="Arial"/>
              </a:rPr>
              <a:t>Chế</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tạo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thiết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bị</a:t>
            </a:r>
            <a:endParaRPr sz="1799" dirty="0">
              <a:solidFill>
                <a:srgbClr val="A6A6A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62"/>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Mạch điện là gì?</a:t>
            </a:r>
            <a:endParaRPr/>
          </a:p>
        </p:txBody>
      </p:sp>
      <p:sp>
        <p:nvSpPr>
          <p:cNvPr id="1037" name="Google Shape;1037;p62"/>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err="1">
                <a:solidFill>
                  <a:srgbClr val="3F3F3F"/>
                </a:solidFill>
              </a:rPr>
              <a:t>Đầu</a:t>
            </a:r>
            <a:r>
              <a:rPr lang="en-US" sz="1799" dirty="0">
                <a:solidFill>
                  <a:srgbClr val="3F3F3F"/>
                </a:solidFill>
              </a:rPr>
              <a:t> </a:t>
            </a:r>
            <a:r>
              <a:rPr lang="en-US" sz="1799" dirty="0" err="1">
                <a:solidFill>
                  <a:srgbClr val="3F3F3F"/>
                </a:solidFill>
              </a:rPr>
              <a:t>vào</a:t>
            </a:r>
            <a:r>
              <a:rPr lang="en-US" sz="1799" dirty="0">
                <a:solidFill>
                  <a:srgbClr val="3F3F3F"/>
                </a:solidFill>
              </a:rPr>
              <a:t> </a:t>
            </a:r>
            <a:r>
              <a:rPr lang="en-US" sz="1799" dirty="0" err="1">
                <a:solidFill>
                  <a:srgbClr val="3F3F3F"/>
                </a:solidFill>
              </a:rPr>
              <a:t>số</a:t>
            </a:r>
            <a:r>
              <a:rPr lang="en-US" sz="1799" dirty="0">
                <a:solidFill>
                  <a:srgbClr val="3F3F3F"/>
                </a:solidFill>
              </a:rPr>
              <a:t> </a:t>
            </a:r>
            <a:r>
              <a:rPr lang="en-US" sz="1799" dirty="0" err="1">
                <a:solidFill>
                  <a:srgbClr val="3F3F3F"/>
                </a:solidFill>
              </a:rPr>
              <a:t>và</a:t>
            </a:r>
            <a:r>
              <a:rPr lang="en-US" sz="1799" dirty="0">
                <a:solidFill>
                  <a:srgbClr val="3F3F3F"/>
                </a:solidFill>
              </a:rPr>
              <a:t> </a:t>
            </a:r>
            <a:r>
              <a:rPr lang="en-US" sz="1799" dirty="0" err="1">
                <a:solidFill>
                  <a:srgbClr val="3F3F3F"/>
                </a:solidFill>
              </a:rPr>
              <a:t>mạch</a:t>
            </a:r>
            <a:r>
              <a:rPr lang="en-US" sz="1799" dirty="0">
                <a:solidFill>
                  <a:srgbClr val="3F3F3F"/>
                </a:solidFill>
              </a:rPr>
              <a:t> </a:t>
            </a:r>
            <a:r>
              <a:rPr lang="en-US" sz="1799" dirty="0" err="1">
                <a:solidFill>
                  <a:srgbClr val="3F3F3F"/>
                </a:solidFill>
              </a:rPr>
              <a:t>điện</a:t>
            </a:r>
            <a:endParaRPr dirty="0"/>
          </a:p>
        </p:txBody>
      </p:sp>
      <p:sp>
        <p:nvSpPr>
          <p:cNvPr id="1038" name="Google Shape;1038;p62"/>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039" name="Google Shape;1039;p62"/>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Mạch điện</a:t>
            </a:r>
            <a:endParaRPr sz="1401">
              <a:solidFill>
                <a:schemeClr val="dk1"/>
              </a:solidFill>
              <a:latin typeface="Arial"/>
              <a:ea typeface="Arial"/>
              <a:cs typeface="Arial"/>
              <a:sym typeface="Arial"/>
            </a:endParaRPr>
          </a:p>
        </p:txBody>
      </p:sp>
      <p:sp>
        <p:nvSpPr>
          <p:cNvPr id="1040" name="Google Shape;1040;p62"/>
          <p:cNvSpPr/>
          <p:nvPr/>
        </p:nvSpPr>
        <p:spPr>
          <a:xfrm>
            <a:off x="712189" y="2174884"/>
            <a:ext cx="8487381" cy="991613"/>
          </a:xfrm>
          <a:prstGeom prst="rect">
            <a:avLst/>
          </a:prstGeom>
          <a:noFill/>
          <a:ln>
            <a:noFill/>
          </a:ln>
        </p:spPr>
        <p:txBody>
          <a:bodyPr spcFirstLastPara="1" wrap="square" lIns="0" tIns="71975" rIns="143950" bIns="71975" anchor="t" anchorCtr="0">
            <a:spAutoFit/>
          </a:bodyPr>
          <a:lstStyle/>
          <a:p>
            <a:pPr marL="182548" marR="0" lvl="0" indent="-182548" algn="just" rtl="0">
              <a:spcBef>
                <a:spcPts val="0"/>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Đoạn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đường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dòng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chạy</a:t>
            </a:r>
            <a:r>
              <a:rPr lang="en-US" sz="1299" dirty="0">
                <a:solidFill>
                  <a:srgbClr val="262626"/>
                </a:solidFill>
                <a:latin typeface="Arial"/>
                <a:ea typeface="Arial"/>
                <a:cs typeface="Arial"/>
                <a:sym typeface="Arial"/>
              </a:rPr>
              <a:t> qua </a:t>
            </a:r>
            <a:r>
              <a:rPr lang="en-US" sz="1299" dirty="0" err="1">
                <a:solidFill>
                  <a:srgbClr val="262626"/>
                </a:solidFill>
                <a:latin typeface="Arial"/>
                <a:ea typeface="Arial"/>
                <a:cs typeface="Arial"/>
                <a:sym typeface="Arial"/>
              </a:rPr>
              <a:t>được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gọi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p>
          <a:p>
            <a:pPr marL="182548" marR="0" lvl="0" indent="-182548" algn="just" rtl="0">
              <a:spcBef>
                <a:spcPts val="0"/>
              </a:spcBef>
              <a:spcAft>
                <a:spcPts val="0"/>
              </a:spcAft>
              <a:buClr>
                <a:srgbClr val="193EB0"/>
              </a:buClr>
              <a:buSzPts val="1299"/>
              <a:buFont typeface="Arial"/>
              <a:buChar char="‣"/>
            </a:pPr>
            <a:r>
              <a:rPr lang="vi-VN" dirty="0"/>
              <a:t>Ở nghĩa rộng hơn, mạch điện là một hệ thống các phần tử điện được kết nối với nhau để dòng điện có thể chạy qua, thực hiện các chức năng xác định như cấp nguồn, điều khiển, đo lường hoặc truyền tải điện năng</a:t>
            </a:r>
            <a:r>
              <a:rPr lang="vi-VN" dirty="0">
                <a:highlight>
                  <a:srgbClr val="00FF00"/>
                </a:highlight>
              </a:rPr>
              <a:t>.</a:t>
            </a:r>
            <a:endParaRPr dirty="0">
              <a:highlight>
                <a:srgbClr val="00FF00"/>
              </a:highlight>
            </a:endParaRPr>
          </a:p>
        </p:txBody>
      </p:sp>
      <p:pic>
        <p:nvPicPr>
          <p:cNvPr id="1041" name="Google Shape;1041;p62"/>
          <p:cNvPicPr preferRelativeResize="0"/>
          <p:nvPr/>
        </p:nvPicPr>
        <p:blipFill rotWithShape="1">
          <a:blip r:embed="rId3">
            <a:alphaModFix/>
          </a:blip>
          <a:srcRect/>
          <a:stretch/>
        </p:blipFill>
        <p:spPr>
          <a:xfrm>
            <a:off x="3623733" y="3522133"/>
            <a:ext cx="3420388" cy="27318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63"/>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Sử dụng bảng cắm dây</a:t>
            </a:r>
            <a:endParaRPr sz="2401" b="1">
              <a:solidFill>
                <a:srgbClr val="0C0C0C"/>
              </a:solidFill>
              <a:latin typeface="Arial"/>
              <a:ea typeface="Arial"/>
              <a:cs typeface="Arial"/>
              <a:sym typeface="Arial"/>
            </a:endParaRPr>
          </a:p>
        </p:txBody>
      </p:sp>
      <p:sp>
        <p:nvSpPr>
          <p:cNvPr id="1048" name="Google Shape;1048;p63"/>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049" name="Google Shape;1049;p63"/>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Bảng cắm dây không mối hàn</a:t>
            </a:r>
            <a:endParaRPr sz="1401">
              <a:solidFill>
                <a:schemeClr val="dk1"/>
              </a:solidFill>
              <a:latin typeface="Arial"/>
              <a:ea typeface="Arial"/>
              <a:cs typeface="Arial"/>
              <a:sym typeface="Arial"/>
            </a:endParaRPr>
          </a:p>
        </p:txBody>
      </p:sp>
      <p:sp>
        <p:nvSpPr>
          <p:cNvPr id="1050" name="Google Shape;1050;p63"/>
          <p:cNvSpPr/>
          <p:nvPr/>
        </p:nvSpPr>
        <p:spPr>
          <a:xfrm>
            <a:off x="4164168" y="2174882"/>
            <a:ext cx="5035407" cy="1750026"/>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Một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loại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bảng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mẫu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tạo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thành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đường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dòng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được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đặt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dưới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một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khung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nhựa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có</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các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lỗ</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nhau</a:t>
            </a:r>
            <a:r>
              <a:rPr lang="en-US" sz="1299" dirty="0">
                <a:solidFill>
                  <a:srgbClr val="262626"/>
                </a:solidFill>
                <a:latin typeface="Arial"/>
                <a:ea typeface="Arial"/>
                <a:cs typeface="Arial"/>
                <a:sym typeface="Arial"/>
              </a:rPr>
              <a:t> 2,54 mm (0,1 inch).</a:t>
            </a:r>
            <a:endParaRPr dirty="0"/>
          </a:p>
          <a:p>
            <a:pPr marL="182548" marR="0" lvl="0" indent="-182548"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Khác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với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bảng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mạch</a:t>
            </a:r>
            <a:r>
              <a:rPr lang="en-US" sz="1299" dirty="0">
                <a:solidFill>
                  <a:srgbClr val="262626"/>
                </a:solidFill>
                <a:latin typeface="Arial"/>
                <a:ea typeface="Arial"/>
                <a:cs typeface="Arial"/>
                <a:sym typeface="Arial"/>
              </a:rPr>
              <a:t> PCB </a:t>
            </a:r>
            <a:r>
              <a:rPr lang="en-US" sz="1299" dirty="0" err="1">
                <a:solidFill>
                  <a:srgbClr val="262626"/>
                </a:solidFill>
                <a:latin typeface="Arial"/>
                <a:ea typeface="Arial"/>
                <a:cs typeface="Arial"/>
                <a:sym typeface="Arial"/>
              </a:rPr>
              <a:t>hoặc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bảng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cắm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dây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thông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thường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bảng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mẫu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này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không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cần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hàn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chủ</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yếu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dùng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trong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giảng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dạy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hoặc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trong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các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thử</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nghiệm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tử</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đơn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giản</a:t>
            </a:r>
            <a:r>
              <a:rPr lang="en-US" sz="1299" dirty="0">
                <a:solidFill>
                  <a:srgbClr val="262626"/>
                </a:solidFill>
                <a:latin typeface="Arial"/>
                <a:ea typeface="Arial"/>
                <a:cs typeface="Arial"/>
                <a:sym typeface="Arial"/>
              </a:rPr>
              <a:t>.</a:t>
            </a:r>
          </a:p>
          <a:p>
            <a:pPr marL="182548" marR="0" lvl="0" indent="-182548" algn="just" rtl="0">
              <a:spcBef>
                <a:spcPts val="802"/>
              </a:spcBef>
              <a:spcAft>
                <a:spcPts val="0"/>
              </a:spcAft>
              <a:buClr>
                <a:srgbClr val="193EB0"/>
              </a:buClr>
              <a:buSzPts val="1299"/>
              <a:buFont typeface="Arial"/>
              <a:buChar char="‣"/>
            </a:pPr>
            <a:r>
              <a:rPr lang="en-US" sz="1299" dirty="0">
                <a:solidFill>
                  <a:srgbClr val="262626"/>
                </a:solidFill>
              </a:rPr>
              <a:t>Các </a:t>
            </a:r>
            <a:r>
              <a:rPr lang="en-US" sz="1299" dirty="0" err="1">
                <a:solidFill>
                  <a:srgbClr val="262626"/>
                </a:solidFill>
              </a:rPr>
              <a:t>kỹ</a:t>
            </a:r>
            <a:r>
              <a:rPr lang="en-US" sz="1299" dirty="0">
                <a:solidFill>
                  <a:srgbClr val="262626"/>
                </a:solidFill>
              </a:rPr>
              <a:t> </a:t>
            </a:r>
            <a:r>
              <a:rPr lang="en-US" sz="1299" dirty="0" err="1">
                <a:solidFill>
                  <a:srgbClr val="262626"/>
                </a:solidFill>
              </a:rPr>
              <a:t>sư</a:t>
            </a:r>
            <a:r>
              <a:rPr lang="en-US" sz="1299" dirty="0">
                <a:solidFill>
                  <a:srgbClr val="262626"/>
                </a:solidFill>
              </a:rPr>
              <a:t> IoT </a:t>
            </a:r>
            <a:r>
              <a:rPr lang="en-US" sz="1299" dirty="0" err="1">
                <a:solidFill>
                  <a:srgbClr val="262626"/>
                </a:solidFill>
              </a:rPr>
              <a:t>thường</a:t>
            </a:r>
            <a:r>
              <a:rPr lang="en-US" sz="1299" dirty="0">
                <a:solidFill>
                  <a:srgbClr val="262626"/>
                </a:solidFill>
              </a:rPr>
              <a:t> </a:t>
            </a:r>
            <a:r>
              <a:rPr lang="en-US" sz="1299" dirty="0" err="1">
                <a:solidFill>
                  <a:srgbClr val="262626"/>
                </a:solidFill>
              </a:rPr>
              <a:t>sử</a:t>
            </a:r>
            <a:r>
              <a:rPr lang="en-US" sz="1299" dirty="0">
                <a:solidFill>
                  <a:srgbClr val="262626"/>
                </a:solidFill>
              </a:rPr>
              <a:t> dung </a:t>
            </a:r>
            <a:r>
              <a:rPr lang="en-US" sz="1299" dirty="0" err="1">
                <a:solidFill>
                  <a:srgbClr val="262626"/>
                </a:solidFill>
              </a:rPr>
              <a:t>bảng</a:t>
            </a:r>
            <a:r>
              <a:rPr lang="en-US" sz="1299" dirty="0">
                <a:solidFill>
                  <a:srgbClr val="262626"/>
                </a:solidFill>
              </a:rPr>
              <a:t> </a:t>
            </a:r>
            <a:r>
              <a:rPr lang="en-US" sz="1299" dirty="0" err="1">
                <a:solidFill>
                  <a:srgbClr val="262626"/>
                </a:solidFill>
              </a:rPr>
              <a:t>này</a:t>
            </a:r>
            <a:r>
              <a:rPr lang="en-US" sz="1299" dirty="0">
                <a:solidFill>
                  <a:srgbClr val="262626"/>
                </a:solidFill>
              </a:rPr>
              <a:t> </a:t>
            </a:r>
            <a:r>
              <a:rPr lang="en-US" sz="1299" dirty="0" err="1">
                <a:solidFill>
                  <a:srgbClr val="262626"/>
                </a:solidFill>
              </a:rPr>
              <a:t>để</a:t>
            </a:r>
            <a:r>
              <a:rPr lang="en-US" sz="1299" dirty="0">
                <a:solidFill>
                  <a:srgbClr val="262626"/>
                </a:solidFill>
              </a:rPr>
              <a:t> </a:t>
            </a:r>
            <a:r>
              <a:rPr lang="en-US" sz="1299" dirty="0" err="1">
                <a:solidFill>
                  <a:srgbClr val="262626"/>
                </a:solidFill>
              </a:rPr>
              <a:t>kiểm</a:t>
            </a:r>
            <a:r>
              <a:rPr lang="en-US" sz="1299" dirty="0">
                <a:solidFill>
                  <a:srgbClr val="262626"/>
                </a:solidFill>
              </a:rPr>
              <a:t> </a:t>
            </a:r>
            <a:r>
              <a:rPr lang="en-US" sz="1299" dirty="0" err="1">
                <a:solidFill>
                  <a:srgbClr val="262626"/>
                </a:solidFill>
              </a:rPr>
              <a:t>tra</a:t>
            </a:r>
            <a:r>
              <a:rPr lang="en-US" sz="1299" dirty="0">
                <a:solidFill>
                  <a:srgbClr val="262626"/>
                </a:solidFill>
              </a:rPr>
              <a:t> </a:t>
            </a:r>
            <a:r>
              <a:rPr lang="en-US" sz="1299" dirty="0" err="1">
                <a:solidFill>
                  <a:srgbClr val="262626"/>
                </a:solidFill>
              </a:rPr>
              <a:t>sự</a:t>
            </a:r>
            <a:r>
              <a:rPr lang="en-US" sz="1299" dirty="0">
                <a:solidFill>
                  <a:srgbClr val="262626"/>
                </a:solidFill>
              </a:rPr>
              <a:t> </a:t>
            </a:r>
            <a:r>
              <a:rPr lang="en-US" sz="1299" dirty="0" err="1">
                <a:solidFill>
                  <a:srgbClr val="262626"/>
                </a:solidFill>
              </a:rPr>
              <a:t>hoạt</a:t>
            </a:r>
            <a:r>
              <a:rPr lang="en-US" sz="1299" dirty="0">
                <a:solidFill>
                  <a:srgbClr val="262626"/>
                </a:solidFill>
              </a:rPr>
              <a:t> </a:t>
            </a:r>
            <a:r>
              <a:rPr lang="en-US" sz="1299" dirty="0" err="1">
                <a:solidFill>
                  <a:srgbClr val="262626"/>
                </a:solidFill>
              </a:rPr>
              <a:t>động</a:t>
            </a:r>
            <a:r>
              <a:rPr lang="en-US" sz="1299" dirty="0">
                <a:solidFill>
                  <a:srgbClr val="262626"/>
                </a:solidFill>
              </a:rPr>
              <a:t> </a:t>
            </a:r>
            <a:r>
              <a:rPr lang="en-US" sz="1299" dirty="0" err="1">
                <a:solidFill>
                  <a:srgbClr val="262626"/>
                </a:solidFill>
              </a:rPr>
              <a:t>của</a:t>
            </a:r>
            <a:r>
              <a:rPr lang="en-US" sz="1299" dirty="0">
                <a:solidFill>
                  <a:srgbClr val="262626"/>
                </a:solidFill>
              </a:rPr>
              <a:t> </a:t>
            </a:r>
            <a:r>
              <a:rPr lang="en-US" sz="1299" dirty="0" err="1">
                <a:solidFill>
                  <a:srgbClr val="262626"/>
                </a:solidFill>
              </a:rPr>
              <a:t>mạch</a:t>
            </a:r>
            <a:r>
              <a:rPr lang="en-US" sz="1299" dirty="0">
                <a:solidFill>
                  <a:srgbClr val="262626"/>
                </a:solidFill>
              </a:rPr>
              <a:t> </a:t>
            </a:r>
            <a:r>
              <a:rPr lang="en-US" sz="1299" dirty="0" err="1">
                <a:solidFill>
                  <a:srgbClr val="262626"/>
                </a:solidFill>
              </a:rPr>
              <a:t>điện</a:t>
            </a:r>
            <a:r>
              <a:rPr lang="en-US" sz="1299" dirty="0">
                <a:solidFill>
                  <a:srgbClr val="262626"/>
                </a:solidFill>
              </a:rPr>
              <a:t> </a:t>
            </a:r>
            <a:r>
              <a:rPr lang="en-US" sz="1299" dirty="0" err="1">
                <a:solidFill>
                  <a:srgbClr val="262626"/>
                </a:solidFill>
              </a:rPr>
              <a:t>của</a:t>
            </a:r>
            <a:r>
              <a:rPr lang="en-US" sz="1299" dirty="0">
                <a:solidFill>
                  <a:srgbClr val="262626"/>
                </a:solidFill>
              </a:rPr>
              <a:t> </a:t>
            </a:r>
            <a:r>
              <a:rPr lang="en-US" sz="1299" dirty="0" err="1">
                <a:solidFill>
                  <a:srgbClr val="262626"/>
                </a:solidFill>
              </a:rPr>
              <a:t>hệ</a:t>
            </a:r>
            <a:r>
              <a:rPr lang="en-US" sz="1299" dirty="0">
                <a:solidFill>
                  <a:srgbClr val="262626"/>
                </a:solidFill>
              </a:rPr>
              <a:t> </a:t>
            </a:r>
            <a:r>
              <a:rPr lang="en-US" sz="1299" dirty="0" err="1">
                <a:solidFill>
                  <a:srgbClr val="262626"/>
                </a:solidFill>
              </a:rPr>
              <a:t>thống</a:t>
            </a:r>
            <a:r>
              <a:rPr lang="en-US" sz="1299" dirty="0">
                <a:solidFill>
                  <a:srgbClr val="262626"/>
                </a:solidFill>
              </a:rPr>
              <a:t> </a:t>
            </a:r>
            <a:r>
              <a:rPr lang="en-US" sz="1299" dirty="0" err="1">
                <a:solidFill>
                  <a:srgbClr val="262626"/>
                </a:solidFill>
              </a:rPr>
              <a:t>trước</a:t>
            </a:r>
            <a:r>
              <a:rPr lang="en-US" sz="1299" dirty="0">
                <a:solidFill>
                  <a:srgbClr val="262626"/>
                </a:solidFill>
              </a:rPr>
              <a:t> </a:t>
            </a:r>
            <a:r>
              <a:rPr lang="en-US" sz="1299" dirty="0" err="1">
                <a:solidFill>
                  <a:srgbClr val="262626"/>
                </a:solidFill>
              </a:rPr>
              <a:t>khi</a:t>
            </a:r>
            <a:r>
              <a:rPr lang="en-US" sz="1299" dirty="0">
                <a:solidFill>
                  <a:srgbClr val="262626"/>
                </a:solidFill>
              </a:rPr>
              <a:t> </a:t>
            </a:r>
            <a:r>
              <a:rPr lang="en-US" sz="1299" dirty="0" err="1">
                <a:solidFill>
                  <a:srgbClr val="262626"/>
                </a:solidFill>
              </a:rPr>
              <a:t>xây</a:t>
            </a:r>
            <a:r>
              <a:rPr lang="en-US" sz="1299" dirty="0">
                <a:solidFill>
                  <a:srgbClr val="262626"/>
                </a:solidFill>
              </a:rPr>
              <a:t> dung </a:t>
            </a:r>
            <a:r>
              <a:rPr lang="en-US" sz="1299" dirty="0" err="1">
                <a:solidFill>
                  <a:srgbClr val="262626"/>
                </a:solidFill>
              </a:rPr>
              <a:t>mạch</a:t>
            </a:r>
            <a:r>
              <a:rPr lang="en-US" sz="1299" dirty="0">
                <a:solidFill>
                  <a:srgbClr val="262626"/>
                </a:solidFill>
              </a:rPr>
              <a:t> in. </a:t>
            </a:r>
            <a:endParaRPr dirty="0"/>
          </a:p>
        </p:txBody>
      </p:sp>
      <p:grpSp>
        <p:nvGrpSpPr>
          <p:cNvPr id="1051" name="Google Shape;1051;p63"/>
          <p:cNvGrpSpPr/>
          <p:nvPr/>
        </p:nvGrpSpPr>
        <p:grpSpPr>
          <a:xfrm>
            <a:off x="559762" y="2247405"/>
            <a:ext cx="3511549" cy="2666439"/>
            <a:chOff x="2819400" y="3347633"/>
            <a:chExt cx="3705226" cy="2813505"/>
          </a:xfrm>
        </p:grpSpPr>
        <p:pic>
          <p:nvPicPr>
            <p:cNvPr id="1052" name="Google Shape;1052;p63"/>
            <p:cNvPicPr preferRelativeResize="0"/>
            <p:nvPr/>
          </p:nvPicPr>
          <p:blipFill rotWithShape="1">
            <a:blip r:embed="rId3">
              <a:alphaModFix/>
            </a:blip>
            <a:srcRect/>
            <a:stretch/>
          </p:blipFill>
          <p:spPr>
            <a:xfrm>
              <a:off x="2917376" y="3430405"/>
              <a:ext cx="3510412" cy="2637912"/>
            </a:xfrm>
            <a:prstGeom prst="rect">
              <a:avLst/>
            </a:prstGeom>
            <a:noFill/>
            <a:ln>
              <a:noFill/>
            </a:ln>
          </p:spPr>
        </p:pic>
        <p:sp>
          <p:nvSpPr>
            <p:cNvPr id="1053" name="Google Shape;1053;p63"/>
            <p:cNvSpPr/>
            <p:nvPr/>
          </p:nvSpPr>
          <p:spPr>
            <a:xfrm>
              <a:off x="2819400" y="3347633"/>
              <a:ext cx="3705226" cy="2813505"/>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1054" name="Google Shape;1054;p63"/>
          <p:cNvSpPr/>
          <p:nvPr/>
        </p:nvSpPr>
        <p:spPr>
          <a:xfrm>
            <a:off x="1680588" y="4963167"/>
            <a:ext cx="1269899" cy="3079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chemeClr val="dk1"/>
                </a:solidFill>
                <a:latin typeface="Arial"/>
                <a:ea typeface="Arial"/>
                <a:cs typeface="Arial"/>
                <a:sym typeface="Arial"/>
              </a:rPr>
              <a:t>Bảng cắm dây</a:t>
            </a:r>
            <a:endParaRPr sz="1401">
              <a:solidFill>
                <a:schemeClr val="dk1"/>
              </a:solidFill>
              <a:latin typeface="Arial"/>
              <a:ea typeface="Arial"/>
              <a:cs typeface="Arial"/>
              <a:sym typeface="Arial"/>
            </a:endParaRPr>
          </a:p>
        </p:txBody>
      </p:sp>
      <p:sp>
        <p:nvSpPr>
          <p:cNvPr id="1055" name="Google Shape;1055;p63"/>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2.1. Đầu vào số và mạch điện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64"/>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062" name="Google Shape;1062;p64"/>
          <p:cNvSpPr/>
          <p:nvPr/>
        </p:nvSpPr>
        <p:spPr>
          <a:xfrm>
            <a:off x="686785" y="1843602"/>
            <a:ext cx="8195845" cy="796450"/>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Tái chế linh kiện: Không cần hàn nên bạn có thể tiếp tục tái sử dụng các linh kiện trừ khi chúng bị hỏng.</a:t>
            </a:r>
            <a:endParaRPr/>
          </a:p>
          <a:p>
            <a:pPr marL="182548" marR="0" lvl="0" indent="-182548" algn="just" rtl="0">
              <a:spcBef>
                <a:spcPts val="400"/>
              </a:spcBef>
              <a:spcAft>
                <a:spcPts val="0"/>
              </a:spcAft>
              <a:buClr>
                <a:srgbClr val="193EB0"/>
              </a:buClr>
              <a:buSzPts val="1299"/>
              <a:buFont typeface="Arial"/>
              <a:buChar char="‣"/>
            </a:pPr>
            <a:r>
              <a:rPr lang="en-US" sz="1299">
                <a:solidFill>
                  <a:srgbClr val="262626"/>
                </a:solidFill>
                <a:latin typeface="Arial"/>
                <a:ea typeface="Arial"/>
                <a:cs typeface="Arial"/>
                <a:sym typeface="Arial"/>
              </a:rPr>
              <a:t>Tiết kiệm thời gian: Thiết kế mạch PCB rất khó và phương pháp hàn dây dẫn vào “Bảng cắm dây hàn” rất tốn thời gian. Tuy nhiên, bạn có thể tạo các bảng cắm dây bằng cách nối trực tiếp vào dây.</a:t>
            </a:r>
            <a:endParaRPr/>
          </a:p>
        </p:txBody>
      </p:sp>
      <p:sp>
        <p:nvSpPr>
          <p:cNvPr id="1063" name="Google Shape;1063;p64"/>
          <p:cNvSpPr/>
          <p:nvPr/>
        </p:nvSpPr>
        <p:spPr>
          <a:xfrm>
            <a:off x="580400" y="1521746"/>
            <a:ext cx="8619172" cy="215572"/>
          </a:xfrm>
          <a:prstGeom prst="rect">
            <a:avLst/>
          </a:prstGeom>
          <a:noFill/>
          <a:ln>
            <a:noFill/>
          </a:ln>
        </p:spPr>
        <p:txBody>
          <a:bodyPr spcFirstLastPara="1" wrap="square" lIns="0" tIns="0" rIns="0" bIns="0" anchor="t" anchorCtr="0">
            <a:spAutoFit/>
          </a:bodyPr>
          <a:lstStyle/>
          <a:p>
            <a:pPr marL="115879" indent="-115879">
              <a:buClr>
                <a:schemeClr val="dk1"/>
              </a:buClr>
              <a:buSzPts val="1681"/>
              <a:buFont typeface="Arial"/>
              <a:buChar char="•"/>
            </a:pPr>
            <a:r>
              <a:rPr lang="en-US" sz="1401" dirty="0" err="1">
                <a:solidFill>
                  <a:schemeClr val="dk1"/>
                </a:solidFill>
                <a:latin typeface="Arial"/>
                <a:ea typeface="Arial"/>
                <a:cs typeface="Arial"/>
                <a:sym typeface="Arial"/>
              </a:rPr>
              <a:t>Ưu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điểm</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của</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Bảng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cắm</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dây</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không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mối</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hàn</a:t>
            </a:r>
            <a:endParaRPr lang="en-US" sz="1401" dirty="0">
              <a:solidFill>
                <a:schemeClr val="dk1"/>
              </a:solidFill>
              <a:latin typeface="Arial"/>
              <a:ea typeface="Arial"/>
              <a:cs typeface="Arial"/>
              <a:sym typeface="Arial"/>
            </a:endParaRPr>
          </a:p>
        </p:txBody>
      </p:sp>
      <p:grpSp>
        <p:nvGrpSpPr>
          <p:cNvPr id="1064" name="Google Shape;1064;p64"/>
          <p:cNvGrpSpPr/>
          <p:nvPr/>
        </p:nvGrpSpPr>
        <p:grpSpPr>
          <a:xfrm>
            <a:off x="1240848" y="3257396"/>
            <a:ext cx="7863286" cy="2770897"/>
            <a:chOff x="887412" y="2719381"/>
            <a:chExt cx="7863287" cy="2770897"/>
          </a:xfrm>
        </p:grpSpPr>
        <p:grpSp>
          <p:nvGrpSpPr>
            <p:cNvPr id="1065" name="Google Shape;1065;p64"/>
            <p:cNvGrpSpPr/>
            <p:nvPr/>
          </p:nvGrpSpPr>
          <p:grpSpPr>
            <a:xfrm>
              <a:off x="887412" y="2719381"/>
              <a:ext cx="3224213" cy="2395544"/>
              <a:chOff x="887412" y="2719381"/>
              <a:chExt cx="3224213" cy="2395544"/>
            </a:xfrm>
          </p:grpSpPr>
          <p:pic>
            <p:nvPicPr>
              <p:cNvPr id="1066" name="Google Shape;1066;p64"/>
              <p:cNvPicPr preferRelativeResize="0"/>
              <p:nvPr/>
            </p:nvPicPr>
            <p:blipFill rotWithShape="1">
              <a:blip r:embed="rId3">
                <a:alphaModFix/>
              </a:blip>
              <a:srcRect l="2892" t="682" r="4131" b="3880"/>
              <a:stretch/>
            </p:blipFill>
            <p:spPr>
              <a:xfrm>
                <a:off x="975518" y="2801272"/>
                <a:ext cx="3048000" cy="2231762"/>
              </a:xfrm>
              <a:prstGeom prst="rect">
                <a:avLst/>
              </a:prstGeom>
              <a:noFill/>
              <a:ln>
                <a:noFill/>
              </a:ln>
            </p:spPr>
          </p:pic>
          <p:sp>
            <p:nvSpPr>
              <p:cNvPr id="1067" name="Google Shape;1067;p64"/>
              <p:cNvSpPr/>
              <p:nvPr/>
            </p:nvSpPr>
            <p:spPr>
              <a:xfrm>
                <a:off x="887412" y="2719381"/>
                <a:ext cx="3224213" cy="2395544"/>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grpSp>
          <p:nvGrpSpPr>
            <p:cNvPr id="1068" name="Google Shape;1068;p64"/>
            <p:cNvGrpSpPr/>
            <p:nvPr/>
          </p:nvGrpSpPr>
          <p:grpSpPr>
            <a:xfrm>
              <a:off x="4602048" y="2719381"/>
              <a:ext cx="3618027" cy="2395544"/>
              <a:chOff x="4602048" y="2719381"/>
              <a:chExt cx="3618027" cy="2395544"/>
            </a:xfrm>
          </p:grpSpPr>
          <p:pic>
            <p:nvPicPr>
              <p:cNvPr id="1069" name="Google Shape;1069;p64"/>
              <p:cNvPicPr preferRelativeResize="0"/>
              <p:nvPr/>
            </p:nvPicPr>
            <p:blipFill rotWithShape="1">
              <a:blip r:embed="rId4">
                <a:alphaModFix/>
              </a:blip>
              <a:srcRect/>
              <a:stretch/>
            </p:blipFill>
            <p:spPr>
              <a:xfrm>
                <a:off x="4693044" y="2802284"/>
                <a:ext cx="3436034" cy="2227960"/>
              </a:xfrm>
              <a:prstGeom prst="rect">
                <a:avLst/>
              </a:prstGeom>
              <a:noFill/>
              <a:ln>
                <a:noFill/>
              </a:ln>
            </p:spPr>
          </p:pic>
          <p:sp>
            <p:nvSpPr>
              <p:cNvPr id="1070" name="Google Shape;1070;p64"/>
              <p:cNvSpPr/>
              <p:nvPr/>
            </p:nvSpPr>
            <p:spPr>
              <a:xfrm>
                <a:off x="4602048" y="2719381"/>
                <a:ext cx="3618027" cy="2395544"/>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1071" name="Google Shape;1071;p64"/>
            <p:cNvSpPr/>
            <p:nvPr/>
          </p:nvSpPr>
          <p:spPr>
            <a:xfrm>
              <a:off x="1778809" y="5182373"/>
              <a:ext cx="1441421" cy="3079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chemeClr val="dk1"/>
                  </a:solidFill>
                  <a:latin typeface="Arial"/>
                  <a:ea typeface="Arial"/>
                  <a:cs typeface="Arial"/>
                  <a:sym typeface="Arial"/>
                </a:rPr>
                <a:t>Tái chế linh kiện</a:t>
              </a:r>
              <a:endParaRPr sz="1401">
                <a:solidFill>
                  <a:schemeClr val="dk1"/>
                </a:solidFill>
                <a:latin typeface="Arial"/>
                <a:ea typeface="Arial"/>
                <a:cs typeface="Arial"/>
                <a:sym typeface="Arial"/>
              </a:endParaRPr>
            </a:p>
          </p:txBody>
        </p:sp>
        <p:sp>
          <p:nvSpPr>
            <p:cNvPr id="1072" name="Google Shape;1072;p64"/>
            <p:cNvSpPr/>
            <p:nvPr/>
          </p:nvSpPr>
          <p:spPr>
            <a:xfrm>
              <a:off x="4104874" y="5182373"/>
              <a:ext cx="4645825" cy="3079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chemeClr val="dk1"/>
                  </a:solidFill>
                  <a:latin typeface="Arial"/>
                  <a:ea typeface="Arial"/>
                  <a:cs typeface="Arial"/>
                  <a:sym typeface="Arial"/>
                </a:rPr>
                <a:t>Nếu không có bảng cắm dây, phải hàn các dây lại với nhau</a:t>
              </a:r>
              <a:endParaRPr sz="1401">
                <a:solidFill>
                  <a:schemeClr val="dk1"/>
                </a:solidFill>
                <a:latin typeface="Arial"/>
                <a:ea typeface="Arial"/>
                <a:cs typeface="Arial"/>
                <a:sym typeface="Arial"/>
              </a:endParaRPr>
            </a:p>
          </p:txBody>
        </p:sp>
      </p:grpSp>
      <p:sp>
        <p:nvSpPr>
          <p:cNvPr id="1073" name="Google Shape;1073;p64"/>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2.1. </a:t>
            </a:r>
            <a:r>
              <a:rPr lang="en-US" sz="1799" dirty="0" err="1">
                <a:solidFill>
                  <a:srgbClr val="3F3F3F"/>
                </a:solidFill>
              </a:rPr>
              <a:t>Đầu</a:t>
            </a:r>
            <a:r>
              <a:rPr lang="en-US" sz="1799" dirty="0">
                <a:solidFill>
                  <a:srgbClr val="3F3F3F"/>
                </a:solidFill>
              </a:rPr>
              <a:t> </a:t>
            </a:r>
            <a:r>
              <a:rPr lang="en-US" sz="1799" dirty="0" err="1">
                <a:solidFill>
                  <a:srgbClr val="3F3F3F"/>
                </a:solidFill>
              </a:rPr>
              <a:t>vào</a:t>
            </a:r>
            <a:r>
              <a:rPr lang="en-US" sz="1799" dirty="0">
                <a:solidFill>
                  <a:srgbClr val="3F3F3F"/>
                </a:solidFill>
              </a:rPr>
              <a:t> </a:t>
            </a:r>
            <a:r>
              <a:rPr lang="en-US" sz="1799" dirty="0" err="1">
                <a:solidFill>
                  <a:srgbClr val="3F3F3F"/>
                </a:solidFill>
              </a:rPr>
              <a:t>số</a:t>
            </a:r>
            <a:r>
              <a:rPr lang="en-US" sz="1799" dirty="0">
                <a:solidFill>
                  <a:srgbClr val="3F3F3F"/>
                </a:solidFill>
              </a:rPr>
              <a:t> </a:t>
            </a:r>
            <a:r>
              <a:rPr lang="en-US" sz="1799" dirty="0" err="1">
                <a:solidFill>
                  <a:srgbClr val="3F3F3F"/>
                </a:solidFill>
              </a:rPr>
              <a:t>và</a:t>
            </a:r>
            <a:r>
              <a:rPr lang="en-US" sz="1799" dirty="0">
                <a:solidFill>
                  <a:srgbClr val="3F3F3F"/>
                </a:solidFill>
              </a:rPr>
              <a:t> </a:t>
            </a:r>
            <a:r>
              <a:rPr lang="en-US" sz="1799" dirty="0" err="1">
                <a:solidFill>
                  <a:srgbClr val="3F3F3F"/>
                </a:solidFill>
              </a:rPr>
              <a:t>mạch</a:t>
            </a:r>
            <a:r>
              <a:rPr lang="en-US" sz="1799" dirty="0">
                <a:solidFill>
                  <a:srgbClr val="3F3F3F"/>
                </a:solidFill>
              </a:rPr>
              <a:t> </a:t>
            </a:r>
            <a:r>
              <a:rPr lang="en-US" sz="1799" dirty="0" err="1">
                <a:solidFill>
                  <a:srgbClr val="3F3F3F"/>
                </a:solidFill>
              </a:rPr>
              <a:t>điện</a:t>
            </a:r>
            <a:r>
              <a:rPr lang="en-US" sz="1799" dirty="0">
                <a:solidFill>
                  <a:srgbClr val="3F3F3F"/>
                </a:solidFill>
              </a:rPr>
              <a:t>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65"/>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080" name="Google Shape;1080;p65"/>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Mạch điện</a:t>
            </a:r>
            <a:endParaRPr sz="2401" b="1">
              <a:solidFill>
                <a:srgbClr val="0C0C0C"/>
              </a:solidFill>
              <a:latin typeface="Arial"/>
              <a:ea typeface="Arial"/>
              <a:cs typeface="Arial"/>
              <a:sym typeface="Arial"/>
            </a:endParaRPr>
          </a:p>
        </p:txBody>
      </p:sp>
      <p:grpSp>
        <p:nvGrpSpPr>
          <p:cNvPr id="1081" name="Google Shape;1081;p65"/>
          <p:cNvGrpSpPr/>
          <p:nvPr/>
        </p:nvGrpSpPr>
        <p:grpSpPr>
          <a:xfrm>
            <a:off x="1229193" y="3090317"/>
            <a:ext cx="3703304" cy="3179321"/>
            <a:chOff x="559830" y="2055994"/>
            <a:chExt cx="4104253" cy="3877100"/>
          </a:xfrm>
        </p:grpSpPr>
        <p:sp>
          <p:nvSpPr>
            <p:cNvPr id="1082" name="Google Shape;1082;p65"/>
            <p:cNvSpPr txBox="1"/>
            <p:nvPr/>
          </p:nvSpPr>
          <p:spPr>
            <a:xfrm>
              <a:off x="2408761" y="2055994"/>
              <a:ext cx="2198038" cy="3386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1">
                  <a:solidFill>
                    <a:srgbClr val="262626"/>
                  </a:solidFill>
                  <a:latin typeface="Arial"/>
                  <a:ea typeface="Arial"/>
                  <a:cs typeface="Arial"/>
                  <a:sym typeface="Arial"/>
                </a:rPr>
                <a:t>Đầu cắm GPIO 40 chân</a:t>
              </a:r>
              <a:endParaRPr sz="1601">
                <a:solidFill>
                  <a:srgbClr val="262626"/>
                </a:solidFill>
                <a:latin typeface="Arial"/>
                <a:ea typeface="Arial"/>
                <a:cs typeface="Arial"/>
                <a:sym typeface="Arial"/>
              </a:endParaRPr>
            </a:p>
          </p:txBody>
        </p:sp>
        <p:pic>
          <p:nvPicPr>
            <p:cNvPr id="1083" name="Google Shape;1083;p65" descr="브레드보드"/>
            <p:cNvPicPr preferRelativeResize="0"/>
            <p:nvPr/>
          </p:nvPicPr>
          <p:blipFill rotWithShape="1">
            <a:blip r:embed="rId3">
              <a:alphaModFix/>
            </a:blip>
            <a:srcRect/>
            <a:stretch/>
          </p:blipFill>
          <p:spPr>
            <a:xfrm>
              <a:off x="2022606" y="2392538"/>
              <a:ext cx="2641477" cy="3540556"/>
            </a:xfrm>
            <a:prstGeom prst="rect">
              <a:avLst/>
            </a:prstGeom>
            <a:noFill/>
            <a:ln>
              <a:noFill/>
            </a:ln>
          </p:spPr>
        </p:pic>
        <p:sp>
          <p:nvSpPr>
            <p:cNvPr id="1084" name="Google Shape;1084;p65"/>
            <p:cNvSpPr/>
            <p:nvPr/>
          </p:nvSpPr>
          <p:spPr>
            <a:xfrm>
              <a:off x="559830" y="2504100"/>
              <a:ext cx="1207189" cy="492328"/>
            </a:xfrm>
            <a:prstGeom prst="wedgeRoundRectCallout">
              <a:avLst>
                <a:gd name="adj1" fmla="val 77963"/>
                <a:gd name="adj2" fmla="val 45088"/>
                <a:gd name="adj3" fmla="val 16667"/>
              </a:avLst>
            </a:prstGeom>
            <a:solidFill>
              <a:schemeClr val="lt1"/>
            </a:solid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9">
                  <a:solidFill>
                    <a:srgbClr val="FF0000"/>
                  </a:solidFill>
                  <a:latin typeface="Arial"/>
                  <a:ea typeface="Arial"/>
                  <a:cs typeface="Arial"/>
                  <a:sym typeface="Arial"/>
                </a:rPr>
                <a:t>  , 5V</a:t>
              </a:r>
              <a:endParaRPr/>
            </a:p>
          </p:txBody>
        </p:sp>
        <p:cxnSp>
          <p:nvCxnSpPr>
            <p:cNvPr id="1085" name="Google Shape;1085;p65"/>
            <p:cNvCxnSpPr/>
            <p:nvPr/>
          </p:nvCxnSpPr>
          <p:spPr>
            <a:xfrm>
              <a:off x="2140072" y="2666213"/>
              <a:ext cx="0" cy="3024001"/>
            </a:xfrm>
            <a:prstGeom prst="straightConnector1">
              <a:avLst/>
            </a:prstGeom>
            <a:noFill/>
            <a:ln w="28575" cap="flat" cmpd="sng">
              <a:solidFill>
                <a:srgbClr val="FF0000"/>
              </a:solidFill>
              <a:prstDash val="solid"/>
              <a:round/>
              <a:headEnd type="none" w="med" len="med"/>
              <a:tailEnd type="none" w="med" len="med"/>
            </a:ln>
          </p:spPr>
        </p:cxnSp>
        <p:sp>
          <p:nvSpPr>
            <p:cNvPr id="1086" name="Google Shape;1086;p65"/>
            <p:cNvSpPr/>
            <p:nvPr/>
          </p:nvSpPr>
          <p:spPr>
            <a:xfrm>
              <a:off x="682068" y="3223098"/>
              <a:ext cx="1207189" cy="492328"/>
            </a:xfrm>
            <a:prstGeom prst="wedgeRoundRectCallout">
              <a:avLst>
                <a:gd name="adj1" fmla="val 77963"/>
                <a:gd name="adj2" fmla="val 45088"/>
                <a:gd name="adj3" fmla="val 16667"/>
              </a:avLst>
            </a:prstGeom>
            <a:solidFill>
              <a:schemeClr val="lt1"/>
            </a:solidFill>
            <a:ln w="1905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9">
                  <a:solidFill>
                    <a:srgbClr val="262626"/>
                  </a:solidFill>
                  <a:latin typeface="Arial"/>
                  <a:ea typeface="Arial"/>
                  <a:cs typeface="Arial"/>
                  <a:sym typeface="Arial"/>
                </a:rPr>
                <a:t>   , GND</a:t>
              </a:r>
              <a:endParaRPr/>
            </a:p>
          </p:txBody>
        </p:sp>
        <p:cxnSp>
          <p:nvCxnSpPr>
            <p:cNvPr id="1087" name="Google Shape;1087;p65"/>
            <p:cNvCxnSpPr/>
            <p:nvPr/>
          </p:nvCxnSpPr>
          <p:spPr>
            <a:xfrm>
              <a:off x="2262309" y="2666213"/>
              <a:ext cx="0" cy="3024001"/>
            </a:xfrm>
            <a:prstGeom prst="straightConnector1">
              <a:avLst/>
            </a:prstGeom>
            <a:noFill/>
            <a:ln w="28575" cap="flat" cmpd="sng">
              <a:solidFill>
                <a:srgbClr val="262626"/>
              </a:solidFill>
              <a:prstDash val="solid"/>
              <a:round/>
              <a:headEnd type="none" w="med" len="med"/>
              <a:tailEnd type="none" w="med" len="med"/>
            </a:ln>
          </p:spPr>
        </p:cxnSp>
        <p:cxnSp>
          <p:nvCxnSpPr>
            <p:cNvPr id="1088" name="Google Shape;1088;p65"/>
            <p:cNvCxnSpPr/>
            <p:nvPr/>
          </p:nvCxnSpPr>
          <p:spPr>
            <a:xfrm>
              <a:off x="2633103" y="2599341"/>
              <a:ext cx="523876" cy="0"/>
            </a:xfrm>
            <a:prstGeom prst="straightConnector1">
              <a:avLst/>
            </a:prstGeom>
            <a:noFill/>
            <a:ln w="28575" cap="flat" cmpd="sng">
              <a:solidFill>
                <a:srgbClr val="193EB0"/>
              </a:solidFill>
              <a:prstDash val="solid"/>
              <a:round/>
              <a:headEnd type="none" w="med" len="med"/>
              <a:tailEnd type="none" w="med" len="med"/>
            </a:ln>
          </p:spPr>
        </p:cxnSp>
        <p:sp>
          <p:nvSpPr>
            <p:cNvPr id="1089" name="Google Shape;1089;p65"/>
            <p:cNvSpPr/>
            <p:nvPr/>
          </p:nvSpPr>
          <p:spPr>
            <a:xfrm>
              <a:off x="762764" y="2623456"/>
              <a:ext cx="253623" cy="253623"/>
            </a:xfrm>
            <a:prstGeom prst="ellipse">
              <a:avLst/>
            </a:prstGeom>
            <a:solidFill>
              <a:srgbClr val="FF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999">
                  <a:solidFill>
                    <a:schemeClr val="lt1"/>
                  </a:solidFill>
                  <a:latin typeface="Arial"/>
                  <a:ea typeface="Arial"/>
                  <a:cs typeface="Arial"/>
                  <a:sym typeface="Arial"/>
                </a:rPr>
                <a:t>+</a:t>
              </a:r>
              <a:endParaRPr/>
            </a:p>
          </p:txBody>
        </p:sp>
        <p:sp>
          <p:nvSpPr>
            <p:cNvPr id="1090" name="Google Shape;1090;p65"/>
            <p:cNvSpPr/>
            <p:nvPr/>
          </p:nvSpPr>
          <p:spPr>
            <a:xfrm>
              <a:off x="847180" y="3339781"/>
              <a:ext cx="253623" cy="253623"/>
            </a:xfrm>
            <a:prstGeom prst="ellipse">
              <a:avLst/>
            </a:prstGeom>
            <a:solidFill>
              <a:srgbClr val="262626"/>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999">
                  <a:solidFill>
                    <a:schemeClr val="lt1"/>
                  </a:solidFill>
                  <a:latin typeface="Arial"/>
                  <a:ea typeface="Arial"/>
                  <a:cs typeface="Arial"/>
                  <a:sym typeface="Arial"/>
                </a:rPr>
                <a:t>-</a:t>
              </a:r>
              <a:endParaRPr/>
            </a:p>
          </p:txBody>
        </p:sp>
      </p:grpSp>
      <p:grpSp>
        <p:nvGrpSpPr>
          <p:cNvPr id="1091" name="Google Shape;1091;p65"/>
          <p:cNvGrpSpPr/>
          <p:nvPr/>
        </p:nvGrpSpPr>
        <p:grpSpPr>
          <a:xfrm>
            <a:off x="6396079" y="3382070"/>
            <a:ext cx="1630942" cy="2138048"/>
            <a:chOff x="6176714" y="2771712"/>
            <a:chExt cx="1630942" cy="2138047"/>
          </a:xfrm>
        </p:grpSpPr>
        <p:sp>
          <p:nvSpPr>
            <p:cNvPr id="1092" name="Google Shape;1092;p65"/>
            <p:cNvSpPr txBox="1"/>
            <p:nvPr/>
          </p:nvSpPr>
          <p:spPr>
            <a:xfrm>
              <a:off x="6548256" y="4571077"/>
              <a:ext cx="936475" cy="3386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rgbClr val="262626"/>
                  </a:solidFill>
                  <a:latin typeface="Arial"/>
                  <a:ea typeface="Arial"/>
                  <a:cs typeface="Arial"/>
                  <a:sym typeface="Arial"/>
                </a:rPr>
                <a:t>Đèn LED</a:t>
              </a:r>
              <a:endParaRPr/>
            </a:p>
          </p:txBody>
        </p:sp>
        <p:sp>
          <p:nvSpPr>
            <p:cNvPr id="1093" name="Google Shape;1093;p65"/>
            <p:cNvSpPr/>
            <p:nvPr/>
          </p:nvSpPr>
          <p:spPr>
            <a:xfrm>
              <a:off x="6176714" y="3435158"/>
              <a:ext cx="253622" cy="253622"/>
            </a:xfrm>
            <a:prstGeom prst="ellipse">
              <a:avLst/>
            </a:prstGeom>
            <a:solidFill>
              <a:srgbClr val="FF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999">
                  <a:solidFill>
                    <a:schemeClr val="lt1"/>
                  </a:solidFill>
                  <a:latin typeface="Arial"/>
                  <a:ea typeface="Arial"/>
                  <a:cs typeface="Arial"/>
                  <a:sym typeface="Arial"/>
                </a:rPr>
                <a:t>+</a:t>
              </a:r>
              <a:endParaRPr/>
            </a:p>
          </p:txBody>
        </p:sp>
        <p:sp>
          <p:nvSpPr>
            <p:cNvPr id="1094" name="Google Shape;1094;p65"/>
            <p:cNvSpPr/>
            <p:nvPr/>
          </p:nvSpPr>
          <p:spPr>
            <a:xfrm>
              <a:off x="7554034" y="3435158"/>
              <a:ext cx="253622" cy="253622"/>
            </a:xfrm>
            <a:prstGeom prst="ellipse">
              <a:avLst/>
            </a:prstGeom>
            <a:solidFill>
              <a:srgbClr val="262626"/>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999">
                  <a:solidFill>
                    <a:schemeClr val="lt1"/>
                  </a:solidFill>
                  <a:latin typeface="Arial"/>
                  <a:ea typeface="Arial"/>
                  <a:cs typeface="Arial"/>
                  <a:sym typeface="Arial"/>
                </a:rPr>
                <a:t>-</a:t>
              </a:r>
              <a:endParaRPr/>
            </a:p>
          </p:txBody>
        </p:sp>
        <p:pic>
          <p:nvPicPr>
            <p:cNvPr id="1095" name="Google Shape;1095;p65"/>
            <p:cNvPicPr preferRelativeResize="0"/>
            <p:nvPr/>
          </p:nvPicPr>
          <p:blipFill rotWithShape="1">
            <a:blip r:embed="rId4">
              <a:alphaModFix/>
            </a:blip>
            <a:srcRect/>
            <a:stretch/>
          </p:blipFill>
          <p:spPr>
            <a:xfrm>
              <a:off x="6303525" y="2771712"/>
              <a:ext cx="1334200" cy="1887404"/>
            </a:xfrm>
            <a:prstGeom prst="rect">
              <a:avLst/>
            </a:prstGeom>
            <a:noFill/>
            <a:ln>
              <a:noFill/>
            </a:ln>
          </p:spPr>
        </p:pic>
      </p:grpSp>
      <p:sp>
        <p:nvSpPr>
          <p:cNvPr id="1096" name="Google Shape;1096;p65"/>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2.1. Đầu vào số và mạch điện </a:t>
            </a:r>
            <a:endParaRPr/>
          </a:p>
        </p:txBody>
      </p:sp>
      <p:sp>
        <p:nvSpPr>
          <p:cNvPr id="23" name="TextBox 22">
            <a:extLst>
              <a:ext uri="{FF2B5EF4-FFF2-40B4-BE49-F238E27FC236}">
                <a16:creationId xmlns:a16="http://schemas.microsoft.com/office/drawing/2014/main" id="{6A0FA6BF-8B17-7241-8E8E-14087E61A307}"/>
              </a:ext>
            </a:extLst>
          </p:cNvPr>
          <p:cNvSpPr txBox="1"/>
          <p:nvPr/>
        </p:nvSpPr>
        <p:spPr>
          <a:xfrm>
            <a:off x="648679" y="1973764"/>
            <a:ext cx="9004987" cy="830997"/>
          </a:xfrm>
          <a:prstGeom prst="rect">
            <a:avLst/>
          </a:prstGeom>
          <a:noFill/>
        </p:spPr>
        <p:txBody>
          <a:bodyPr wrap="square">
            <a:spAutoFit/>
          </a:bodyPr>
          <a:lstStyle/>
          <a:p>
            <a:pPr algn="just"/>
            <a:r>
              <a:rPr lang="vi-VN" sz="1600" dirty="0">
                <a:solidFill>
                  <a:srgbClr val="262626"/>
                </a:solidFill>
                <a:latin typeface="Arial"/>
                <a:ea typeface="Arial"/>
                <a:cs typeface="Arial"/>
                <a:sym typeface="Arial"/>
              </a:rPr>
              <a:t>Bảng mạch thường được chia theo số chân cắm. Các kích thước nhỏ hơn được phân loại thành nhiều hình dạng khác nhau, chẳng hạn như 30 đến 180 chân cắm, 400 chân cắm, 830 chân cắm, 1660 chân cắm, 2250 chân cắm và 3220 chân cắm.</a:t>
            </a:r>
            <a:endParaRPr lang="x-none"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66"/>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pic>
        <p:nvPicPr>
          <p:cNvPr id="1103" name="Google Shape;1103;p66" descr="Raspberry Pi 4 Model B GPIO Pinout Diagram | element14 | Raspberry Pi"/>
          <p:cNvPicPr preferRelativeResize="0"/>
          <p:nvPr/>
        </p:nvPicPr>
        <p:blipFill rotWithShape="1">
          <a:blip r:embed="rId3">
            <a:alphaModFix/>
          </a:blip>
          <a:srcRect/>
          <a:stretch/>
        </p:blipFill>
        <p:spPr>
          <a:xfrm>
            <a:off x="5323825" y="1442621"/>
            <a:ext cx="3280775" cy="4796261"/>
          </a:xfrm>
          <a:prstGeom prst="rect">
            <a:avLst/>
          </a:prstGeom>
          <a:noFill/>
          <a:ln>
            <a:noFill/>
          </a:ln>
        </p:spPr>
      </p:pic>
      <p:sp>
        <p:nvSpPr>
          <p:cNvPr id="1104" name="Google Shape;1104;p66"/>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2.1. </a:t>
            </a:r>
            <a:r>
              <a:rPr lang="en-US" sz="1799" dirty="0" err="1">
                <a:solidFill>
                  <a:srgbClr val="3F3F3F"/>
                </a:solidFill>
              </a:rPr>
              <a:t>Đầu</a:t>
            </a:r>
            <a:r>
              <a:rPr lang="en-US" sz="1799" dirty="0">
                <a:solidFill>
                  <a:srgbClr val="3F3F3F"/>
                </a:solidFill>
              </a:rPr>
              <a:t> </a:t>
            </a:r>
            <a:r>
              <a:rPr lang="en-US" sz="1799" dirty="0" err="1">
                <a:solidFill>
                  <a:srgbClr val="3F3F3F"/>
                </a:solidFill>
              </a:rPr>
              <a:t>vào</a:t>
            </a:r>
            <a:r>
              <a:rPr lang="en-US" sz="1799" dirty="0">
                <a:solidFill>
                  <a:srgbClr val="3F3F3F"/>
                </a:solidFill>
              </a:rPr>
              <a:t> </a:t>
            </a:r>
            <a:r>
              <a:rPr lang="en-US" sz="1799" dirty="0" err="1">
                <a:solidFill>
                  <a:srgbClr val="3F3F3F"/>
                </a:solidFill>
              </a:rPr>
              <a:t>số</a:t>
            </a:r>
            <a:r>
              <a:rPr lang="en-US" sz="1799" dirty="0">
                <a:solidFill>
                  <a:srgbClr val="3F3F3F"/>
                </a:solidFill>
              </a:rPr>
              <a:t> </a:t>
            </a:r>
            <a:r>
              <a:rPr lang="en-US" sz="1799" dirty="0" err="1">
                <a:solidFill>
                  <a:srgbClr val="3F3F3F"/>
                </a:solidFill>
              </a:rPr>
              <a:t>và</a:t>
            </a:r>
            <a:r>
              <a:rPr lang="en-US" sz="1799" dirty="0">
                <a:solidFill>
                  <a:srgbClr val="3F3F3F"/>
                </a:solidFill>
              </a:rPr>
              <a:t> </a:t>
            </a:r>
            <a:r>
              <a:rPr lang="en-US" sz="1799" dirty="0" err="1">
                <a:solidFill>
                  <a:srgbClr val="3F3F3F"/>
                </a:solidFill>
              </a:rPr>
              <a:t>mạch</a:t>
            </a:r>
            <a:r>
              <a:rPr lang="en-US" sz="1799" dirty="0">
                <a:solidFill>
                  <a:srgbClr val="3F3F3F"/>
                </a:solidFill>
              </a:rPr>
              <a:t> </a:t>
            </a:r>
            <a:r>
              <a:rPr lang="en-US" sz="1799" dirty="0" err="1">
                <a:solidFill>
                  <a:srgbClr val="3F3F3F"/>
                </a:solidFill>
              </a:rPr>
              <a:t>điện</a:t>
            </a:r>
            <a:r>
              <a:rPr lang="en-US" sz="1799" dirty="0">
                <a:solidFill>
                  <a:srgbClr val="3F3F3F"/>
                </a:solidFill>
              </a:rPr>
              <a:t> </a:t>
            </a:r>
            <a:endParaRPr dirty="0"/>
          </a:p>
        </p:txBody>
      </p:sp>
      <p:grpSp>
        <p:nvGrpSpPr>
          <p:cNvPr id="1105" name="Google Shape;1105;p66"/>
          <p:cNvGrpSpPr/>
          <p:nvPr/>
        </p:nvGrpSpPr>
        <p:grpSpPr>
          <a:xfrm>
            <a:off x="1054108" y="1310399"/>
            <a:ext cx="3765552" cy="4928486"/>
            <a:chOff x="558808" y="1272299"/>
            <a:chExt cx="3765552" cy="4928486"/>
          </a:xfrm>
        </p:grpSpPr>
        <p:pic>
          <p:nvPicPr>
            <p:cNvPr id="1106" name="Google Shape;1106;p66" descr="CanaKit Raspberry Pi 4 Basic Kit PI4-4GB-K102-RT - Best Buy"/>
            <p:cNvPicPr preferRelativeResize="0"/>
            <p:nvPr/>
          </p:nvPicPr>
          <p:blipFill rotWithShape="1">
            <a:blip r:embed="rId4">
              <a:alphaModFix/>
            </a:blip>
            <a:srcRect/>
            <a:stretch/>
          </p:blipFill>
          <p:spPr>
            <a:xfrm rot="5400000">
              <a:off x="277853" y="2772857"/>
              <a:ext cx="4130063" cy="2725787"/>
            </a:xfrm>
            <a:prstGeom prst="rect">
              <a:avLst/>
            </a:prstGeom>
            <a:noFill/>
            <a:ln>
              <a:noFill/>
            </a:ln>
          </p:spPr>
        </p:pic>
        <p:sp>
          <p:nvSpPr>
            <p:cNvPr id="1107" name="Google Shape;1107;p66"/>
            <p:cNvSpPr/>
            <p:nvPr/>
          </p:nvSpPr>
          <p:spPr>
            <a:xfrm>
              <a:off x="3329194" y="2311766"/>
              <a:ext cx="418565" cy="2491860"/>
            </a:xfrm>
            <a:prstGeom prst="roundRect">
              <a:avLst>
                <a:gd name="adj" fmla="val 16667"/>
              </a:avLst>
            </a:prstGeom>
            <a:noFill/>
            <a:ln w="381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1">
                <a:solidFill>
                  <a:srgbClr val="000000"/>
                </a:solidFill>
                <a:latin typeface="Arial"/>
                <a:ea typeface="Arial"/>
                <a:cs typeface="Arial"/>
                <a:sym typeface="Arial"/>
              </a:endParaRPr>
            </a:p>
          </p:txBody>
        </p:sp>
        <p:sp>
          <p:nvSpPr>
            <p:cNvPr id="1108" name="Google Shape;1108;p66"/>
            <p:cNvSpPr/>
            <p:nvPr/>
          </p:nvSpPr>
          <p:spPr>
            <a:xfrm>
              <a:off x="558808" y="1520835"/>
              <a:ext cx="3765552" cy="4679950"/>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109" name="Google Shape;1109;p66"/>
            <p:cNvSpPr txBox="1"/>
            <p:nvPr/>
          </p:nvSpPr>
          <p:spPr>
            <a:xfrm>
              <a:off x="1343226" y="1272299"/>
              <a:ext cx="2262158" cy="5234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1">
                  <a:solidFill>
                    <a:srgbClr val="262626"/>
                  </a:solidFill>
                  <a:latin typeface="Arial"/>
                  <a:ea typeface="Arial"/>
                  <a:cs typeface="Arial"/>
                  <a:sym typeface="Arial"/>
                </a:rPr>
                <a:t>Các chân phụ trách I/O:</a:t>
              </a:r>
              <a:endParaRPr/>
            </a:p>
            <a:p>
              <a:pPr marL="0" marR="0" lvl="0" indent="0" algn="l" rtl="0">
                <a:spcBef>
                  <a:spcPts val="0"/>
                </a:spcBef>
                <a:spcAft>
                  <a:spcPts val="0"/>
                </a:spcAft>
                <a:buNone/>
              </a:pPr>
              <a:r>
                <a:rPr lang="en-US" sz="1401">
                  <a:solidFill>
                    <a:srgbClr val="262626"/>
                  </a:solidFill>
                  <a:latin typeface="Arial"/>
                  <a:ea typeface="Arial"/>
                  <a:cs typeface="Arial"/>
                  <a:sym typeface="Arial"/>
                </a:rPr>
                <a:t>Hỗ trợ chân SPI, I2C, UART</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pic>
        <p:nvPicPr>
          <p:cNvPr id="1115" name="Google Shape;1115;p67" descr="CanaKit Raspberry Pi 4 Basic Kit PI4-4GB-K102-RT - Best Buy"/>
          <p:cNvPicPr preferRelativeResize="0"/>
          <p:nvPr/>
        </p:nvPicPr>
        <p:blipFill rotWithShape="1">
          <a:blip r:embed="rId3">
            <a:alphaModFix/>
          </a:blip>
          <a:srcRect/>
          <a:stretch/>
        </p:blipFill>
        <p:spPr>
          <a:xfrm rot="5400000">
            <a:off x="1377909" y="3551984"/>
            <a:ext cx="2750275" cy="1815144"/>
          </a:xfrm>
          <a:prstGeom prst="rect">
            <a:avLst/>
          </a:prstGeom>
          <a:noFill/>
          <a:ln>
            <a:noFill/>
          </a:ln>
        </p:spPr>
      </p:pic>
      <p:sp>
        <p:nvSpPr>
          <p:cNvPr id="1116" name="Google Shape;1116;p67"/>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117" name="Google Shape;1117;p67"/>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GPIO</a:t>
            </a:r>
            <a:endParaRPr/>
          </a:p>
        </p:txBody>
      </p:sp>
      <p:sp>
        <p:nvSpPr>
          <p:cNvPr id="1118" name="Google Shape;1118;p67"/>
          <p:cNvSpPr txBox="1"/>
          <p:nvPr/>
        </p:nvSpPr>
        <p:spPr>
          <a:xfrm>
            <a:off x="674557" y="1736847"/>
            <a:ext cx="8793452" cy="831085"/>
          </a:xfrm>
          <a:prstGeom prst="rect">
            <a:avLst/>
          </a:prstGeom>
          <a:noFill/>
          <a:ln>
            <a:noFill/>
          </a:ln>
        </p:spPr>
        <p:txBody>
          <a:bodyPr spcFirstLastPara="1" wrap="square" lIns="91425" tIns="45700" rIns="91425" bIns="45700" anchor="t" anchorCtr="0">
            <a:spAutoFit/>
          </a:bodyPr>
          <a:lstStyle/>
          <a:p>
            <a:pPr algn="just"/>
            <a:r>
              <a:rPr lang="vi-VN" sz="1600" dirty="0"/>
              <a:t>- GPIO (General Purpose Input/Output) thường được sử dụng để giao tiếp với các thiết bị ngoại vi như đèn LED, nút bấm, cảm biến, động cơ</a:t>
            </a:r>
            <a:endParaRPr lang="en-US" sz="1600" dirty="0">
              <a:solidFill>
                <a:srgbClr val="262626"/>
              </a:solidFill>
              <a:latin typeface="Arial"/>
              <a:ea typeface="Arial"/>
              <a:cs typeface="Arial"/>
              <a:sym typeface="Arial"/>
            </a:endParaRPr>
          </a:p>
          <a:p>
            <a:pPr marL="0" marR="0" lvl="0" indent="0" algn="just" rtl="0">
              <a:spcBef>
                <a:spcPts val="0"/>
              </a:spcBef>
              <a:spcAft>
                <a:spcPts val="0"/>
              </a:spcAft>
              <a:buNone/>
            </a:pP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Một</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trong</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các</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thư</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viện</a:t>
            </a:r>
            <a:r>
              <a:rPr lang="en-US" sz="1601" dirty="0">
                <a:solidFill>
                  <a:srgbClr val="262626"/>
                </a:solidFill>
                <a:latin typeface="Arial"/>
                <a:ea typeface="Arial"/>
                <a:cs typeface="Arial"/>
                <a:sym typeface="Arial"/>
              </a:rPr>
              <a:t> GPIO: Quy </a:t>
            </a:r>
            <a:r>
              <a:rPr lang="en-US" sz="1601" dirty="0" err="1">
                <a:solidFill>
                  <a:srgbClr val="262626"/>
                </a:solidFill>
                <a:latin typeface="Arial"/>
                <a:ea typeface="Arial"/>
                <a:cs typeface="Arial"/>
                <a:sym typeface="Arial"/>
              </a:rPr>
              <a:t>định</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số</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chân</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để</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nối</a:t>
            </a:r>
            <a:r>
              <a:rPr lang="en-US" sz="1601" dirty="0">
                <a:solidFill>
                  <a:srgbClr val="262626"/>
                </a:solidFill>
                <a:latin typeface="Arial"/>
                <a:ea typeface="Arial"/>
                <a:cs typeface="Arial"/>
                <a:sym typeface="Arial"/>
              </a:rPr>
              <a:t> </a:t>
            </a:r>
            <a:r>
              <a:rPr lang="en-US" sz="1601" dirty="0" err="1">
                <a:solidFill>
                  <a:srgbClr val="262626"/>
                </a:solidFill>
                <a:latin typeface="Arial"/>
                <a:ea typeface="Arial"/>
                <a:cs typeface="Arial"/>
                <a:sym typeface="Arial"/>
              </a:rPr>
              <a:t>với</a:t>
            </a:r>
            <a:r>
              <a:rPr lang="en-US" sz="1601" dirty="0">
                <a:solidFill>
                  <a:srgbClr val="262626"/>
                </a:solidFill>
                <a:latin typeface="Arial"/>
                <a:ea typeface="Arial"/>
                <a:cs typeface="Arial"/>
                <a:sym typeface="Arial"/>
              </a:rPr>
              <a:t> Arduino</a:t>
            </a:r>
            <a:endParaRPr dirty="0"/>
          </a:p>
        </p:txBody>
      </p:sp>
      <p:sp>
        <p:nvSpPr>
          <p:cNvPr id="1119" name="Google Shape;1119;p67"/>
          <p:cNvSpPr/>
          <p:nvPr/>
        </p:nvSpPr>
        <p:spPr>
          <a:xfrm>
            <a:off x="3422576" y="3141818"/>
            <a:ext cx="271272" cy="1912787"/>
          </a:xfrm>
          <a:prstGeom prst="roundRect">
            <a:avLst>
              <a:gd name="adj" fmla="val 16667"/>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dk1"/>
              </a:solidFill>
              <a:latin typeface="Arial"/>
              <a:ea typeface="Arial"/>
              <a:cs typeface="Arial"/>
              <a:sym typeface="Arial"/>
            </a:endParaRPr>
          </a:p>
        </p:txBody>
      </p:sp>
      <p:sp>
        <p:nvSpPr>
          <p:cNvPr id="1120" name="Google Shape;1120;p67"/>
          <p:cNvSpPr/>
          <p:nvPr/>
        </p:nvSpPr>
        <p:spPr>
          <a:xfrm>
            <a:off x="3689110" y="2878110"/>
            <a:ext cx="628058" cy="3268905"/>
          </a:xfrm>
          <a:custGeom>
            <a:avLst/>
            <a:gdLst/>
            <a:ahLst/>
            <a:cxnLst/>
            <a:rect l="l" t="t" r="r" b="b"/>
            <a:pathLst>
              <a:path w="853440" h="3299460" extrusionOk="0">
                <a:moveTo>
                  <a:pt x="0" y="662940"/>
                </a:moveTo>
                <a:lnTo>
                  <a:pt x="0" y="2369820"/>
                </a:lnTo>
                <a:lnTo>
                  <a:pt x="853440" y="3299460"/>
                </a:lnTo>
                <a:lnTo>
                  <a:pt x="845820" y="0"/>
                </a:lnTo>
                <a:lnTo>
                  <a:pt x="0" y="662940"/>
                </a:lnTo>
                <a:close/>
              </a:path>
            </a:pathLst>
          </a:custGeom>
          <a:gradFill>
            <a:gsLst>
              <a:gs pos="0">
                <a:srgbClr val="BFBFBF">
                  <a:alpha val="0"/>
                </a:srgbClr>
              </a:gs>
              <a:gs pos="100000">
                <a:srgbClr val="BFBFB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pic>
        <p:nvPicPr>
          <p:cNvPr id="1121" name="Google Shape;1121;p67"/>
          <p:cNvPicPr preferRelativeResize="0"/>
          <p:nvPr/>
        </p:nvPicPr>
        <p:blipFill rotWithShape="1">
          <a:blip r:embed="rId4">
            <a:alphaModFix/>
          </a:blip>
          <a:srcRect l="5635" t="3163" r="5590" b="11398"/>
          <a:stretch/>
        </p:blipFill>
        <p:spPr>
          <a:xfrm>
            <a:off x="4345659" y="2754280"/>
            <a:ext cx="1992563" cy="3735635"/>
          </a:xfrm>
          <a:prstGeom prst="rect">
            <a:avLst/>
          </a:prstGeom>
          <a:noFill/>
          <a:ln>
            <a:noFill/>
          </a:ln>
        </p:spPr>
      </p:pic>
      <p:sp>
        <p:nvSpPr>
          <p:cNvPr id="1122" name="Google Shape;1122;p67"/>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2.1. Đầu vào số và mạch điện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68"/>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129" name="Google Shape;1129;p68"/>
          <p:cNvSpPr/>
          <p:nvPr/>
        </p:nvSpPr>
        <p:spPr>
          <a:xfrm>
            <a:off x="712189" y="1751856"/>
            <a:ext cx="8487381" cy="3505122"/>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dirty="0">
                <a:solidFill>
                  <a:srgbClr val="262626"/>
                </a:solidFill>
                <a:latin typeface="Arial"/>
                <a:ea typeface="Arial"/>
                <a:cs typeface="Arial"/>
                <a:sym typeface="Arial"/>
              </a:rPr>
              <a:t>Thường </a:t>
            </a:r>
            <a:r>
              <a:rPr lang="en-US" dirty="0" err="1">
                <a:solidFill>
                  <a:srgbClr val="262626"/>
                </a:solidFill>
                <a:latin typeface="Arial"/>
                <a:ea typeface="Arial"/>
                <a:cs typeface="Arial"/>
                <a:sym typeface="Arial"/>
              </a:rPr>
              <a:t>có</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hai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trạng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thái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chân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là</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vào</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ra</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nhưng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không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tồn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tại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cả</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hai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trạng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thái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cùng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một</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thời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điểm</a:t>
            </a:r>
            <a:r>
              <a:rPr lang="en-US" dirty="0">
                <a:solidFill>
                  <a:srgbClr val="262626"/>
                </a:solidFill>
                <a:latin typeface="Arial"/>
                <a:ea typeface="Arial"/>
                <a:cs typeface="Arial"/>
                <a:sym typeface="Arial"/>
              </a:rPr>
              <a:t>.</a:t>
            </a:r>
            <a:endParaRPr dirty="0"/>
          </a:p>
          <a:p>
            <a:pPr marL="182548" marR="0" lvl="0" indent="-182548" algn="l" rtl="0">
              <a:spcBef>
                <a:spcPts val="400"/>
              </a:spcBef>
              <a:spcAft>
                <a:spcPts val="0"/>
              </a:spcAft>
              <a:buClr>
                <a:srgbClr val="193EB0"/>
              </a:buClr>
              <a:buSzPts val="1299"/>
              <a:buFont typeface="Arial"/>
              <a:buChar char="‣"/>
            </a:pPr>
            <a:r>
              <a:rPr lang="en-US" dirty="0" err="1">
                <a:solidFill>
                  <a:srgbClr val="262626"/>
                </a:solidFill>
                <a:latin typeface="Arial"/>
                <a:ea typeface="Arial"/>
                <a:cs typeface="Arial"/>
                <a:sym typeface="Arial"/>
              </a:rPr>
              <a:t>Lập</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trình</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viên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thường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phải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tự</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quy</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định</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cổng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vào</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ra</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cũng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như</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lắp</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đặt</a:t>
            </a:r>
            <a:r>
              <a:rPr lang="en-US" dirty="0">
                <a:solidFill>
                  <a:srgbClr val="262626"/>
                </a:solidFill>
                <a:latin typeface="Arial"/>
                <a:ea typeface="Arial"/>
                <a:cs typeface="Arial"/>
                <a:sym typeface="Arial"/>
              </a:rPr>
              <a:t> GPIO </a:t>
            </a:r>
            <a:r>
              <a:rPr lang="en-US" dirty="0" err="1">
                <a:solidFill>
                  <a:srgbClr val="262626"/>
                </a:solidFill>
                <a:latin typeface="Arial"/>
                <a:ea typeface="Arial"/>
                <a:cs typeface="Arial"/>
                <a:sym typeface="Arial"/>
              </a:rPr>
              <a:t>để</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sử</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dụng</a:t>
            </a:r>
            <a:r>
              <a:rPr lang="en-US" dirty="0">
                <a:solidFill>
                  <a:srgbClr val="262626"/>
                </a:solidFill>
                <a:latin typeface="Arial"/>
                <a:ea typeface="Arial"/>
                <a:cs typeface="Arial"/>
                <a:sym typeface="Arial"/>
              </a:rPr>
              <a:t>.</a:t>
            </a:r>
            <a:endParaRPr dirty="0"/>
          </a:p>
          <a:p>
            <a:pPr marL="182548" marR="0" lvl="0" indent="-182548" algn="l" rtl="0">
              <a:spcBef>
                <a:spcPts val="400"/>
              </a:spcBef>
              <a:spcAft>
                <a:spcPts val="0"/>
              </a:spcAft>
              <a:buClr>
                <a:srgbClr val="193EB0"/>
              </a:buClr>
              <a:buSzPts val="1299"/>
              <a:buFont typeface="Arial"/>
              <a:buChar char="‣"/>
            </a:pPr>
            <a:r>
              <a:rPr lang="en-US" dirty="0">
                <a:solidFill>
                  <a:srgbClr val="262626"/>
                </a:solidFill>
                <a:latin typeface="Arial"/>
                <a:ea typeface="Arial"/>
                <a:cs typeface="Arial"/>
                <a:sym typeface="Arial"/>
              </a:rPr>
              <a:t>Ở </a:t>
            </a:r>
            <a:r>
              <a:rPr lang="en-US" dirty="0" err="1">
                <a:solidFill>
                  <a:srgbClr val="262626"/>
                </a:solidFill>
                <a:latin typeface="Arial"/>
                <a:ea typeface="Arial"/>
                <a:cs typeface="Arial"/>
                <a:sym typeface="Arial"/>
              </a:rPr>
              <a:t>phần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cứng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chân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đầu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ra</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luôn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có</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cùng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giá</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trị</a:t>
            </a:r>
            <a:r>
              <a:rPr lang="en-US" dirty="0">
                <a:solidFill>
                  <a:srgbClr val="262626"/>
                </a:solidFill>
                <a:latin typeface="Arial"/>
                <a:ea typeface="Arial"/>
                <a:cs typeface="Arial"/>
                <a:sym typeface="Arial"/>
              </a:rPr>
              <a:t>, 1 </a:t>
            </a:r>
            <a:r>
              <a:rPr lang="en-US" dirty="0" err="1">
                <a:solidFill>
                  <a:srgbClr val="262626"/>
                </a:solidFill>
                <a:latin typeface="Arial"/>
                <a:ea typeface="Arial"/>
                <a:cs typeface="Arial"/>
                <a:sym typeface="Arial"/>
              </a:rPr>
              <a:t>hoặc</a:t>
            </a:r>
            <a:r>
              <a:rPr lang="en-US" dirty="0">
                <a:solidFill>
                  <a:srgbClr val="262626"/>
                </a:solidFill>
                <a:latin typeface="Arial"/>
                <a:ea typeface="Arial"/>
                <a:cs typeface="Arial"/>
                <a:sym typeface="Arial"/>
              </a:rPr>
              <a:t> 0, </a:t>
            </a:r>
            <a:r>
              <a:rPr lang="en-US" dirty="0" err="1">
                <a:solidFill>
                  <a:srgbClr val="262626"/>
                </a:solidFill>
                <a:latin typeface="Arial"/>
                <a:ea typeface="Arial"/>
                <a:cs typeface="Arial"/>
                <a:sym typeface="Arial"/>
              </a:rPr>
              <a:t>trừ</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thay</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đổi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giá</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trị</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đầu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ra</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trong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chương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trình</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Những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chân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này</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được</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gọi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là</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chốt</a:t>
            </a:r>
            <a:r>
              <a:rPr lang="en-US" dirty="0">
                <a:solidFill>
                  <a:srgbClr val="262626"/>
                </a:solidFill>
                <a:latin typeface="Arial"/>
                <a:ea typeface="Arial"/>
                <a:cs typeface="Arial"/>
                <a:sym typeface="Arial"/>
              </a:rPr>
              <a:t>”.</a:t>
            </a:r>
            <a:endParaRPr dirty="0"/>
          </a:p>
          <a:p>
            <a:pPr marL="182548" marR="0" lvl="0" indent="-182548" algn="l" rtl="0">
              <a:spcBef>
                <a:spcPts val="400"/>
              </a:spcBef>
              <a:spcAft>
                <a:spcPts val="0"/>
              </a:spcAft>
              <a:buClr>
                <a:srgbClr val="193EB0"/>
              </a:buClr>
              <a:buSzPts val="1299"/>
              <a:buFont typeface="Arial"/>
              <a:buChar char="‣"/>
            </a:pPr>
            <a:r>
              <a:rPr lang="en-US" dirty="0">
                <a:solidFill>
                  <a:srgbClr val="262626"/>
                </a:solidFill>
                <a:latin typeface="Arial"/>
                <a:ea typeface="Arial"/>
                <a:cs typeface="Arial"/>
                <a:sym typeface="Arial"/>
              </a:rPr>
              <a:t>Do </a:t>
            </a:r>
            <a:r>
              <a:rPr lang="en-US" dirty="0" err="1">
                <a:solidFill>
                  <a:srgbClr val="262626"/>
                </a:solidFill>
                <a:latin typeface="Arial"/>
                <a:ea typeface="Arial"/>
                <a:cs typeface="Arial"/>
                <a:sym typeface="Arial"/>
              </a:rPr>
              <a:t>cả</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bộ</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nhớ</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thanh</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ghi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đều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là</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kiểu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khóa</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nên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chúng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có</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cùng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giá</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trị</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trừ</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được</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thay</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đổi</a:t>
            </a:r>
            <a:r>
              <a:rPr lang="en-US" dirty="0">
                <a:solidFill>
                  <a:srgbClr val="262626"/>
                </a:solidFill>
                <a:latin typeface="Arial"/>
                <a:ea typeface="Arial"/>
                <a:cs typeface="Arial"/>
                <a:sym typeface="Arial"/>
              </a:rPr>
              <a:t> (hay </a:t>
            </a:r>
            <a:r>
              <a:rPr lang="en-US" dirty="0" err="1">
                <a:solidFill>
                  <a:srgbClr val="262626"/>
                </a:solidFill>
                <a:latin typeface="Arial"/>
                <a:ea typeface="Arial"/>
                <a:cs typeface="Arial"/>
                <a:sym typeface="Arial"/>
              </a:rPr>
              <a:t>còn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gọi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là</a:t>
            </a:r>
            <a:r>
              <a:rPr lang="en-US" dirty="0">
                <a:solidFill>
                  <a:srgbClr val="262626"/>
                </a:solidFill>
                <a:latin typeface="Arial"/>
                <a:ea typeface="Arial"/>
                <a:cs typeface="Arial"/>
                <a:sym typeface="Arial"/>
              </a:rPr>
              <a:t> flip-flop).</a:t>
            </a:r>
            <a:endParaRPr dirty="0"/>
          </a:p>
          <a:p>
            <a:pPr marL="182548" marR="0" lvl="0" indent="-182548" algn="l" rtl="0">
              <a:spcBef>
                <a:spcPts val="400"/>
              </a:spcBef>
              <a:spcAft>
                <a:spcPts val="0"/>
              </a:spcAft>
              <a:buClr>
                <a:srgbClr val="193EB0"/>
              </a:buClr>
              <a:buSzPts val="1299"/>
              <a:buFont typeface="Arial"/>
              <a:buChar char="‣"/>
            </a:pPr>
            <a:r>
              <a:rPr lang="en-US" dirty="0" err="1">
                <a:solidFill>
                  <a:srgbClr val="262626"/>
                </a:solidFill>
                <a:latin typeface="Arial"/>
                <a:ea typeface="Arial"/>
                <a:cs typeface="Arial"/>
                <a:sym typeface="Arial"/>
              </a:rPr>
              <a:t>Ngược</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lại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trạng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thái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phần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cứng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của</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đầu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vào</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không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được</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khóa</a:t>
            </a:r>
            <a:r>
              <a:rPr lang="en-US" dirty="0">
                <a:solidFill>
                  <a:srgbClr val="262626"/>
                </a:solidFill>
                <a:latin typeface="Arial"/>
                <a:ea typeface="Arial"/>
                <a:cs typeface="Arial"/>
                <a:sym typeface="Arial"/>
              </a:rPr>
              <a:t>. → </a:t>
            </a:r>
            <a:r>
              <a:rPr lang="en-US" dirty="0" err="1">
                <a:solidFill>
                  <a:srgbClr val="262626"/>
                </a:solidFill>
                <a:latin typeface="Arial"/>
                <a:ea typeface="Arial"/>
                <a:cs typeface="Arial"/>
                <a:sym typeface="Arial"/>
              </a:rPr>
              <a:t>Nếu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gán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đầu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vào</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là</a:t>
            </a:r>
            <a:r>
              <a:rPr lang="en-US" dirty="0">
                <a:solidFill>
                  <a:srgbClr val="262626"/>
                </a:solidFill>
                <a:latin typeface="Arial"/>
                <a:ea typeface="Arial"/>
                <a:cs typeface="Arial"/>
                <a:sym typeface="Arial"/>
              </a:rPr>
              <a:t> 1 </a:t>
            </a:r>
            <a:r>
              <a:rPr lang="en-US" dirty="0" err="1">
                <a:solidFill>
                  <a:srgbClr val="262626"/>
                </a:solidFill>
                <a:latin typeface="Arial"/>
                <a:ea typeface="Arial"/>
                <a:cs typeface="Arial"/>
                <a:sym typeface="Arial"/>
              </a:rPr>
              <a:t>hoặc</a:t>
            </a:r>
            <a:r>
              <a:rPr lang="en-US" dirty="0">
                <a:solidFill>
                  <a:srgbClr val="262626"/>
                </a:solidFill>
                <a:latin typeface="Arial"/>
                <a:ea typeface="Arial"/>
                <a:cs typeface="Arial"/>
                <a:sym typeface="Arial"/>
              </a:rPr>
              <a:t> 0 </a:t>
            </a:r>
            <a:r>
              <a:rPr lang="en-US" dirty="0" err="1">
                <a:solidFill>
                  <a:srgbClr val="262626"/>
                </a:solidFill>
                <a:latin typeface="Arial"/>
                <a:ea typeface="Arial"/>
                <a:cs typeface="Arial"/>
                <a:sym typeface="Arial"/>
              </a:rPr>
              <a:t>thì</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trình</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cấp</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dữ</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liệu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xuất</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ra</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một</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giá</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trị</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nó</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sẽ</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mâu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thuẫn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với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giá</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trị</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hiện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có</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Trạng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thái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này</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sẽ</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khác</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nhau</a:t>
            </a:r>
            <a:r>
              <a:rPr lang="en-US" dirty="0">
                <a:solidFill>
                  <a:srgbClr val="262626"/>
                </a:solidFill>
                <a:latin typeface="Arial"/>
                <a:ea typeface="Arial"/>
                <a:cs typeface="Arial"/>
                <a:sym typeface="Arial"/>
              </a:rPr>
              <a:t> ở </a:t>
            </a:r>
            <a:r>
              <a:rPr lang="en-US" dirty="0" err="1">
                <a:solidFill>
                  <a:srgbClr val="262626"/>
                </a:solidFill>
                <a:latin typeface="Arial"/>
                <a:ea typeface="Arial"/>
                <a:cs typeface="Arial"/>
                <a:sym typeface="Arial"/>
              </a:rPr>
              <a:t>phần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cứng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khác</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nhau</a:t>
            </a:r>
            <a:r>
              <a:rPr lang="en-US" dirty="0">
                <a:solidFill>
                  <a:srgbClr val="262626"/>
                </a:solidFill>
                <a:latin typeface="Arial"/>
                <a:ea typeface="Arial"/>
                <a:cs typeface="Arial"/>
                <a:sym typeface="Arial"/>
              </a:rPr>
              <a:t>.</a:t>
            </a:r>
            <a:endParaRPr dirty="0"/>
          </a:p>
          <a:p>
            <a:pPr marL="182548" marR="0" lvl="0" indent="-182548" algn="l" rtl="0">
              <a:spcBef>
                <a:spcPts val="400"/>
              </a:spcBef>
              <a:spcAft>
                <a:spcPts val="0"/>
              </a:spcAft>
              <a:buClr>
                <a:srgbClr val="193EB0"/>
              </a:buClr>
              <a:buSzPts val="1299"/>
              <a:buFont typeface="Arial"/>
              <a:buChar char="‣"/>
            </a:pPr>
            <a:r>
              <a:rPr lang="en-US" dirty="0" err="1">
                <a:solidFill>
                  <a:srgbClr val="262626"/>
                </a:solidFill>
                <a:latin typeface="Arial"/>
                <a:ea typeface="Arial"/>
                <a:cs typeface="Arial"/>
                <a:sym typeface="Arial"/>
              </a:rPr>
              <a:t>Chân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đầu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vào</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phải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có</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trạng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thái</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trở</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kháng</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cao</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để</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tiếp</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nhận</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dữ</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liệu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đầu</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vào</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từ</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thiết</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bị</a:t>
            </a:r>
            <a:r>
              <a:rPr lang="en-US" dirty="0">
                <a:solidFill>
                  <a:srgbClr val="262626"/>
                </a:solidFill>
                <a:latin typeface="Arial"/>
                <a:ea typeface="Arial"/>
                <a:cs typeface="Arial"/>
                <a:sym typeface="Arial"/>
              </a:rPr>
              <a:t> </a:t>
            </a:r>
            <a:r>
              <a:rPr lang="en-US" dirty="0" err="1">
                <a:solidFill>
                  <a:srgbClr val="262626"/>
                </a:solidFill>
                <a:latin typeface="Arial"/>
                <a:ea typeface="Arial"/>
                <a:cs typeface="Arial"/>
                <a:sym typeface="Arial"/>
              </a:rPr>
              <a:t>khác</a:t>
            </a:r>
            <a:r>
              <a:rPr lang="en-US" dirty="0">
                <a:solidFill>
                  <a:srgbClr val="262626"/>
                </a:solidFill>
                <a:latin typeface="Arial"/>
                <a:ea typeface="Arial"/>
                <a:cs typeface="Arial"/>
                <a:sym typeface="Arial"/>
              </a:rPr>
              <a:t>.</a:t>
            </a:r>
          </a:p>
          <a:p>
            <a:pPr marR="0" lvl="0" algn="l" rtl="0">
              <a:spcBef>
                <a:spcPts val="400"/>
              </a:spcBef>
              <a:spcAft>
                <a:spcPts val="0"/>
              </a:spcAft>
              <a:buClr>
                <a:srgbClr val="193EB0"/>
              </a:buClr>
              <a:buSzPts val="1299"/>
            </a:pPr>
            <a:endParaRPr lang="en-US" sz="1299" dirty="0">
              <a:solidFill>
                <a:srgbClr val="262626"/>
              </a:solidFill>
              <a:sym typeface="Wingdings" pitchFamily="2" charset="2"/>
            </a:endParaRPr>
          </a:p>
          <a:p>
            <a:pPr marR="0" lvl="0" algn="l" rtl="0">
              <a:spcBef>
                <a:spcPts val="400"/>
              </a:spcBef>
              <a:spcAft>
                <a:spcPts val="0"/>
              </a:spcAft>
              <a:buClr>
                <a:srgbClr val="193EB0"/>
              </a:buClr>
              <a:buSzPts val="1299"/>
            </a:pPr>
            <a:r>
              <a:rPr lang="en-US" sz="1299" dirty="0">
                <a:solidFill>
                  <a:srgbClr val="262626"/>
                </a:solidFill>
                <a:sym typeface="Wingdings" pitchFamily="2" charset="2"/>
              </a:rPr>
              <a:t></a:t>
            </a:r>
            <a:r>
              <a:rPr lang="en-US" sz="1299" dirty="0">
                <a:solidFill>
                  <a:srgbClr val="262626"/>
                </a:solidFill>
              </a:rPr>
              <a:t> </a:t>
            </a:r>
            <a:r>
              <a:rPr lang="vi-VN" dirty="0"/>
              <a:t>GPIO có thể thiết lập đầu vào hoặc đầu ra của lập trình viên trên cổng và cổng GPIO không thể được sử dụng trước khi lập trình viên thiết lập nó, vì vậy bạn phải chỉ định các thiết lập cho cổng GPIO để sử dụng. GPIO có một số chế độ hoạt động như vào/ra, PMW,….</a:t>
            </a:r>
            <a:endParaRPr dirty="0"/>
          </a:p>
        </p:txBody>
      </p:sp>
      <p:sp>
        <p:nvSpPr>
          <p:cNvPr id="1130" name="Google Shape;1130;p68"/>
          <p:cNvSpPr/>
          <p:nvPr/>
        </p:nvSpPr>
        <p:spPr>
          <a:xfrm>
            <a:off x="580400" y="1521746"/>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dirty="0">
                <a:solidFill>
                  <a:schemeClr val="dk1"/>
                </a:solidFill>
                <a:latin typeface="Arial"/>
                <a:ea typeface="Arial"/>
                <a:cs typeface="Arial"/>
                <a:sym typeface="Arial"/>
              </a:rPr>
              <a:t>GPIO - </a:t>
            </a:r>
            <a:r>
              <a:rPr lang="en-US" sz="1401" dirty="0" err="1">
                <a:solidFill>
                  <a:schemeClr val="dk1"/>
                </a:solidFill>
                <a:latin typeface="Arial"/>
                <a:ea typeface="Arial"/>
                <a:cs typeface="Arial"/>
                <a:sym typeface="Arial"/>
              </a:rPr>
              <a:t>Cổng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vào</a:t>
            </a:r>
            <a:r>
              <a:rPr lang="en-US" sz="1401" dirty="0">
                <a:solidFill>
                  <a:schemeClr val="dk1"/>
                </a:solidFill>
                <a:latin typeface="Arial"/>
                <a:ea typeface="Arial"/>
                <a:cs typeface="Arial"/>
                <a:sym typeface="Arial"/>
              </a:rPr>
              <a:t>/</a:t>
            </a:r>
            <a:r>
              <a:rPr lang="en-US" sz="1401" dirty="0" err="1">
                <a:solidFill>
                  <a:schemeClr val="dk1"/>
                </a:solidFill>
                <a:latin typeface="Arial"/>
                <a:ea typeface="Arial"/>
                <a:cs typeface="Arial"/>
                <a:sym typeface="Arial"/>
              </a:rPr>
              <a:t>ra</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vạn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năng</a:t>
            </a:r>
            <a:endParaRPr sz="1401" dirty="0">
              <a:solidFill>
                <a:schemeClr val="dk1"/>
              </a:solidFill>
              <a:latin typeface="Arial"/>
              <a:ea typeface="Arial"/>
              <a:cs typeface="Arial"/>
              <a:sym typeface="Arial"/>
            </a:endParaRPr>
          </a:p>
        </p:txBody>
      </p:sp>
      <p:sp>
        <p:nvSpPr>
          <p:cNvPr id="1131" name="Google Shape;1131;p68"/>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2.1. </a:t>
            </a:r>
            <a:r>
              <a:rPr lang="en-US" sz="1799" dirty="0" err="1">
                <a:solidFill>
                  <a:srgbClr val="3F3F3F"/>
                </a:solidFill>
              </a:rPr>
              <a:t>Đầu</a:t>
            </a:r>
            <a:r>
              <a:rPr lang="en-US" sz="1799" dirty="0">
                <a:solidFill>
                  <a:srgbClr val="3F3F3F"/>
                </a:solidFill>
              </a:rPr>
              <a:t> </a:t>
            </a:r>
            <a:r>
              <a:rPr lang="en-US" sz="1799" dirty="0" err="1">
                <a:solidFill>
                  <a:srgbClr val="3F3F3F"/>
                </a:solidFill>
              </a:rPr>
              <a:t>vào</a:t>
            </a:r>
            <a:r>
              <a:rPr lang="en-US" sz="1799" dirty="0">
                <a:solidFill>
                  <a:srgbClr val="3F3F3F"/>
                </a:solidFill>
              </a:rPr>
              <a:t> </a:t>
            </a:r>
            <a:r>
              <a:rPr lang="en-US" sz="1799" dirty="0" err="1">
                <a:solidFill>
                  <a:srgbClr val="3F3F3F"/>
                </a:solidFill>
              </a:rPr>
              <a:t>số</a:t>
            </a:r>
            <a:r>
              <a:rPr lang="en-US" sz="1799" dirty="0">
                <a:solidFill>
                  <a:srgbClr val="3F3F3F"/>
                </a:solidFill>
              </a:rPr>
              <a:t> </a:t>
            </a:r>
            <a:r>
              <a:rPr lang="en-US" sz="1799" dirty="0" err="1">
                <a:solidFill>
                  <a:srgbClr val="3F3F3F"/>
                </a:solidFill>
              </a:rPr>
              <a:t>và</a:t>
            </a:r>
            <a:r>
              <a:rPr lang="en-US" sz="1799" dirty="0">
                <a:solidFill>
                  <a:srgbClr val="3F3F3F"/>
                </a:solidFill>
              </a:rPr>
              <a:t> </a:t>
            </a:r>
            <a:r>
              <a:rPr lang="en-US" sz="1799" dirty="0" err="1">
                <a:solidFill>
                  <a:srgbClr val="3F3F3F"/>
                </a:solidFill>
              </a:rPr>
              <a:t>mạch</a:t>
            </a:r>
            <a:r>
              <a:rPr lang="en-US" sz="1799" dirty="0">
                <a:solidFill>
                  <a:srgbClr val="3F3F3F"/>
                </a:solidFill>
              </a:rPr>
              <a:t> </a:t>
            </a:r>
            <a:r>
              <a:rPr lang="en-US" sz="1799" dirty="0" err="1">
                <a:solidFill>
                  <a:srgbClr val="3F3F3F"/>
                </a:solidFill>
              </a:rPr>
              <a:t>điện</a:t>
            </a:r>
            <a:r>
              <a:rPr lang="en-US" sz="1799" dirty="0">
                <a:solidFill>
                  <a:srgbClr val="3F3F3F"/>
                </a:solidFill>
              </a:rPr>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sp>
        <p:nvSpPr>
          <p:cNvPr id="1137" name="Google Shape;1137;p69"/>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138" name="Google Shape;1138;p69"/>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High-Z (trở kháng cao)</a:t>
            </a:r>
            <a:endParaRPr/>
          </a:p>
        </p:txBody>
      </p:sp>
      <p:sp>
        <p:nvSpPr>
          <p:cNvPr id="1139" name="Google Shape;1139;p69"/>
          <p:cNvSpPr/>
          <p:nvPr/>
        </p:nvSpPr>
        <p:spPr>
          <a:xfrm>
            <a:off x="580400" y="1944543"/>
            <a:ext cx="8619172" cy="2108654"/>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dirty="0" err="1">
                <a:solidFill>
                  <a:schemeClr val="dk1"/>
                </a:solidFill>
                <a:latin typeface="Arial"/>
                <a:ea typeface="Arial"/>
                <a:cs typeface="Arial"/>
                <a:sym typeface="Arial"/>
              </a:rPr>
              <a:t>Là</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trạng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thái</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chấp</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nhận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đầu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ra</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của</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thiết</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bị</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khác</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mà</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không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chịu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ảnh</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hưởng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của</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đầu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vào</a:t>
            </a:r>
            <a:r>
              <a:rPr lang="en-US" sz="1401" dirty="0">
                <a:solidFill>
                  <a:schemeClr val="dk1"/>
                </a:solidFill>
                <a:latin typeface="Arial"/>
                <a:ea typeface="Arial"/>
                <a:cs typeface="Arial"/>
                <a:sym typeface="Arial"/>
              </a:rPr>
              <a:t>.</a:t>
            </a:r>
          </a:p>
          <a:p>
            <a:pPr marL="115879" marR="0" lvl="0" indent="-115879" algn="l" rtl="0">
              <a:spcBef>
                <a:spcPts val="0"/>
              </a:spcBef>
              <a:spcAft>
                <a:spcPts val="0"/>
              </a:spcAft>
              <a:buClr>
                <a:schemeClr val="dk1"/>
              </a:buClr>
              <a:buSzPts val="1681"/>
              <a:buFont typeface="Arial"/>
              <a:buChar char="•"/>
            </a:pPr>
            <a:r>
              <a:rPr lang="vi-VN" dirty="0"/>
              <a:t>High-Z  là trạng thái của một chân GPIO khi nó không được kết nối tích cực với nguồn hoặc mass (GND). Điều này có nghĩa là chân ở trạng thái "trôi nổi" (floating), không có điện áp xác định, và gần như không tiêu thụ dòng điện.</a:t>
            </a:r>
          </a:p>
          <a:p>
            <a:pPr marL="115879" indent="-115879">
              <a:buClr>
                <a:schemeClr val="dk1"/>
              </a:buClr>
              <a:buSzPts val="1681"/>
              <a:buFont typeface="Arial"/>
              <a:buChar char="•"/>
            </a:pPr>
            <a:r>
              <a:rPr lang="en-US" sz="1400" dirty="0" err="1">
                <a:solidFill>
                  <a:srgbClr val="262626"/>
                </a:solidFill>
                <a:latin typeface="Arial"/>
                <a:ea typeface="Arial"/>
                <a:cs typeface="Arial"/>
                <a:sym typeface="Arial"/>
              </a:rPr>
              <a:t>Đầu</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vào</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tín</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hiệu</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số</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có</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ba</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trạng</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thái</a:t>
            </a:r>
            <a:r>
              <a:rPr lang="en-US" sz="1400" dirty="0">
                <a:solidFill>
                  <a:srgbClr val="262626"/>
                </a:solidFill>
                <a:latin typeface="Arial"/>
                <a:ea typeface="Arial"/>
                <a:cs typeface="Arial"/>
                <a:sym typeface="Arial"/>
              </a:rPr>
              <a:t> [High, Low, High-Z (</a:t>
            </a:r>
            <a:r>
              <a:rPr lang="en-US" sz="1400" dirty="0" err="1">
                <a:solidFill>
                  <a:srgbClr val="262626"/>
                </a:solidFill>
                <a:latin typeface="Arial"/>
                <a:ea typeface="Arial"/>
                <a:cs typeface="Arial"/>
                <a:sym typeface="Arial"/>
              </a:rPr>
              <a:t>trở</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kháng</a:t>
            </a:r>
            <a:r>
              <a:rPr lang="en-US" sz="1400" dirty="0">
                <a:solidFill>
                  <a:srgbClr val="262626"/>
                </a:solidFill>
                <a:latin typeface="Arial"/>
                <a:ea typeface="Arial"/>
                <a:cs typeface="Arial"/>
                <a:sym typeface="Arial"/>
              </a:rPr>
              <a:t> </a:t>
            </a:r>
            <a:r>
              <a:rPr lang="en-US" sz="1400" dirty="0" err="1">
                <a:solidFill>
                  <a:srgbClr val="262626"/>
                </a:solidFill>
                <a:latin typeface="Arial"/>
                <a:ea typeface="Arial"/>
                <a:cs typeface="Arial"/>
                <a:sym typeface="Arial"/>
              </a:rPr>
              <a:t>cao</a:t>
            </a:r>
            <a:r>
              <a:rPr lang="en-US" sz="1400" dirty="0">
                <a:solidFill>
                  <a:srgbClr val="262626"/>
                </a:solidFill>
                <a:latin typeface="Arial"/>
                <a:ea typeface="Arial"/>
                <a:cs typeface="Arial"/>
                <a:sym typeface="Arial"/>
              </a:rPr>
              <a:t>)</a:t>
            </a:r>
            <a:endParaRPr dirty="0"/>
          </a:p>
          <a:p>
            <a:pPr marL="115879" marR="0" lvl="0" indent="-115879" algn="l" rtl="0">
              <a:spcBef>
                <a:spcPts val="1000"/>
              </a:spcBef>
              <a:spcAft>
                <a:spcPts val="0"/>
              </a:spcAft>
              <a:buClr>
                <a:schemeClr val="dk1"/>
              </a:buClr>
              <a:buSzPts val="1681"/>
              <a:buFont typeface="Arial"/>
              <a:buChar char="•"/>
            </a:pPr>
            <a:r>
              <a:rPr lang="en-US" sz="1401" dirty="0" err="1">
                <a:solidFill>
                  <a:schemeClr val="dk1"/>
                </a:solidFill>
                <a:latin typeface="Arial"/>
                <a:ea typeface="Arial"/>
                <a:cs typeface="Arial"/>
                <a:sym typeface="Arial"/>
              </a:rPr>
              <a:t>Nếu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thiết</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bị</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khác</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cao</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thì</a:t>
            </a:r>
            <a:r>
              <a:rPr lang="en-US" sz="1401" dirty="0">
                <a:solidFill>
                  <a:schemeClr val="dk1"/>
                </a:solidFill>
                <a:latin typeface="Arial"/>
                <a:ea typeface="Arial"/>
                <a:cs typeface="Arial"/>
                <a:sym typeface="Arial"/>
              </a:rPr>
              <a:t> I </a:t>
            </a:r>
            <a:r>
              <a:rPr lang="en-US" sz="1401" dirty="0" err="1">
                <a:solidFill>
                  <a:schemeClr val="dk1"/>
                </a:solidFill>
                <a:latin typeface="Arial"/>
                <a:ea typeface="Arial"/>
                <a:cs typeface="Arial"/>
                <a:sym typeface="Arial"/>
              </a:rPr>
              <a:t>cũng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sẽ</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cao</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Nếu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thấp</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thì</a:t>
            </a:r>
            <a:r>
              <a:rPr lang="en-US" sz="1401" dirty="0">
                <a:solidFill>
                  <a:schemeClr val="dk1"/>
                </a:solidFill>
                <a:latin typeface="Arial"/>
                <a:ea typeface="Arial"/>
                <a:cs typeface="Arial"/>
                <a:sym typeface="Arial"/>
              </a:rPr>
              <a:t> I </a:t>
            </a:r>
            <a:r>
              <a:rPr lang="en-US" sz="1401" dirty="0" err="1">
                <a:solidFill>
                  <a:schemeClr val="dk1"/>
                </a:solidFill>
                <a:latin typeface="Arial"/>
                <a:ea typeface="Arial"/>
                <a:cs typeface="Arial"/>
                <a:sym typeface="Arial"/>
              </a:rPr>
              <a:t>cũng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sẽ</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thấp</a:t>
            </a:r>
            <a:r>
              <a:rPr lang="en-US" sz="1401" dirty="0">
                <a:solidFill>
                  <a:schemeClr val="dk1"/>
                </a:solidFill>
                <a:latin typeface="Arial"/>
                <a:ea typeface="Arial"/>
                <a:cs typeface="Arial"/>
                <a:sym typeface="Arial"/>
              </a:rPr>
              <a:t>.</a:t>
            </a:r>
          </a:p>
          <a:p>
            <a:pPr marL="115879" marR="0" lvl="0" indent="-115879" algn="l" rtl="0">
              <a:spcBef>
                <a:spcPts val="1000"/>
              </a:spcBef>
              <a:spcAft>
                <a:spcPts val="0"/>
              </a:spcAft>
              <a:buClr>
                <a:schemeClr val="dk1"/>
              </a:buClr>
              <a:buSzPts val="1681"/>
              <a:buFont typeface="Arial"/>
              <a:buChar char="•"/>
            </a:pPr>
            <a:r>
              <a:rPr lang="vi-VN" dirty="0"/>
              <a:t>Trạng thái trở kháng cao được ký hiệu là "Z".</a:t>
            </a:r>
            <a:endParaRPr dirty="0"/>
          </a:p>
          <a:p>
            <a:pPr marL="0" marR="0" lvl="0" indent="0" algn="l" rtl="0">
              <a:spcBef>
                <a:spcPts val="1000"/>
              </a:spcBef>
              <a:spcAft>
                <a:spcPts val="0"/>
              </a:spcAft>
              <a:buNone/>
            </a:pPr>
            <a:endParaRPr sz="1401" dirty="0">
              <a:solidFill>
                <a:schemeClr val="dk1"/>
              </a:solidFill>
              <a:latin typeface="Arial"/>
              <a:ea typeface="Arial"/>
              <a:cs typeface="Arial"/>
              <a:sym typeface="Arial"/>
            </a:endParaRPr>
          </a:p>
        </p:txBody>
      </p:sp>
      <p:sp>
        <p:nvSpPr>
          <p:cNvPr id="1141" name="Google Shape;1141;p69"/>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2.1. Đầu vào số và mạch điện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9F80BB82-A997-0664-B922-7247309CFD24}"/>
            </a:ext>
          </a:extLst>
        </p:cNvPr>
        <p:cNvGrpSpPr/>
        <p:nvPr/>
      </p:nvGrpSpPr>
      <p:grpSpPr>
        <a:xfrm>
          <a:off x="0" y="0"/>
          <a:ext cx="0" cy="0"/>
          <a:chOff x="0" y="0"/>
          <a:chExt cx="0" cy="0"/>
        </a:xfrm>
      </p:grpSpPr>
      <p:sp>
        <p:nvSpPr>
          <p:cNvPr id="1027" name="Google Shape;1027;p61">
            <a:extLst>
              <a:ext uri="{FF2B5EF4-FFF2-40B4-BE49-F238E27FC236}">
                <a16:creationId xmlns:a16="http://schemas.microsoft.com/office/drawing/2014/main" id="{195E861D-FC34-CCB2-89C8-DAA610989FDE}"/>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a:extLst>
              <a:ext uri="{FF2B5EF4-FFF2-40B4-BE49-F238E27FC236}">
                <a16:creationId xmlns:a16="http://schemas.microsoft.com/office/drawing/2014/main" id="{AC35579D-28FE-FCE9-A0A4-291578EB37C5}"/>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a:extLst>
              <a:ext uri="{FF2B5EF4-FFF2-40B4-BE49-F238E27FC236}">
                <a16:creationId xmlns:a16="http://schemas.microsoft.com/office/drawing/2014/main" id="{7D9B2757-C7DF-AC53-1FE9-1274D3F89EAC}"/>
              </a:ext>
            </a:extLst>
          </p:cNvPr>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1</a:t>
            </a:r>
            <a:r>
              <a:rPr lang="en-US" sz="1799" dirty="0">
                <a:solidFill>
                  <a:schemeClr val="bg1">
                    <a:lumMod val="65000"/>
                  </a:schemeClr>
                </a:solidFill>
                <a:latin typeface="Arial"/>
                <a:ea typeface="Arial"/>
                <a:cs typeface="Arial"/>
                <a:sym typeface="Arial"/>
              </a:rPr>
              <a:t>.1. </a:t>
            </a:r>
            <a:r>
              <a:rPr lang="en-US" sz="1799" dirty="0" err="1">
                <a:solidFill>
                  <a:schemeClr val="bg1">
                    <a:lumMod val="65000"/>
                  </a:schemeClr>
                </a:solidFill>
                <a:latin typeface="Arial"/>
                <a:ea typeface="Arial"/>
                <a:cs typeface="Arial"/>
                <a:sym typeface="Arial"/>
              </a:rPr>
              <a:t>Đầu</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vào</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số</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mạch</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điện</a:t>
            </a:r>
            <a:r>
              <a:rPr lang="en-US" sz="1799" dirty="0">
                <a:solidFill>
                  <a:schemeClr val="bg1">
                    <a:lumMod val="65000"/>
                  </a:schemeClr>
                </a:solidFill>
                <a:latin typeface="Arial"/>
                <a:ea typeface="Arial"/>
                <a:cs typeface="Arial"/>
                <a:sym typeface="Arial"/>
              </a:rPr>
              <a:t>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1.2. </a:t>
            </a:r>
            <a:r>
              <a:rPr lang="en-US" sz="1799" dirty="0" err="1">
                <a:solidFill>
                  <a:schemeClr val="tx1"/>
                </a:solidFill>
                <a:latin typeface="Arial"/>
                <a:ea typeface="Arial"/>
                <a:cs typeface="Arial"/>
                <a:sym typeface="Arial"/>
              </a:rPr>
              <a:t>Đèn</a:t>
            </a:r>
            <a:r>
              <a:rPr lang="en-US" sz="1799" dirty="0">
                <a:solidFill>
                  <a:schemeClr val="tx1"/>
                </a:solidFill>
                <a:latin typeface="Arial"/>
                <a:ea typeface="Arial"/>
                <a:cs typeface="Arial"/>
                <a:sym typeface="Arial"/>
              </a:rPr>
              <a:t> LED </a:t>
            </a:r>
            <a:endParaRPr dirty="0">
              <a:solidFill>
                <a:schemeClr val="tx1"/>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1.3.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siêu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âm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1.4. </a:t>
            </a:r>
            <a:r>
              <a:rPr lang="en-US" sz="1799" dirty="0" err="1">
                <a:solidFill>
                  <a:srgbClr val="A6A6A6"/>
                </a:solidFill>
                <a:latin typeface="Arial"/>
                <a:ea typeface="Arial"/>
                <a:cs typeface="Arial"/>
                <a:sym typeface="Arial"/>
              </a:rPr>
              <a:t>Màn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hình</a:t>
            </a:r>
            <a:r>
              <a:rPr lang="en-US" sz="1799" dirty="0">
                <a:solidFill>
                  <a:srgbClr val="A6A6A6"/>
                </a:solidFill>
                <a:latin typeface="Arial"/>
                <a:ea typeface="Arial"/>
                <a:cs typeface="Arial"/>
                <a:sym typeface="Arial"/>
              </a:rPr>
              <a:t> 7 </a:t>
            </a:r>
            <a:r>
              <a:rPr lang="en-US" sz="1799" dirty="0" err="1">
                <a:solidFill>
                  <a:srgbClr val="A6A6A6"/>
                </a:solidFill>
                <a:latin typeface="Arial"/>
                <a:ea typeface="Arial"/>
                <a:cs typeface="Arial"/>
                <a:sym typeface="Arial"/>
              </a:rPr>
              <a:t>đoạn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4 </a:t>
            </a:r>
            <a:r>
              <a:rPr lang="en-US" sz="1799" dirty="0" err="1">
                <a:solidFill>
                  <a:srgbClr val="A6A6A6"/>
                </a:solidFill>
                <a:latin typeface="Arial"/>
                <a:ea typeface="Arial"/>
                <a:cs typeface="Arial"/>
                <a:sym typeface="Arial"/>
              </a:rPr>
              <a:t>số</a:t>
            </a:r>
            <a:r>
              <a:rPr lang="en-US" sz="1799" dirty="0">
                <a:solidFill>
                  <a:srgbClr val="A6A6A6"/>
                </a:solidFill>
                <a:latin typeface="Arial"/>
                <a:ea typeface="Arial"/>
                <a:cs typeface="Arial"/>
                <a:sym typeface="Arial"/>
              </a:rPr>
              <a:t>)</a:t>
            </a:r>
            <a:endParaRPr dirty="0"/>
          </a:p>
        </p:txBody>
      </p:sp>
      <p:sp>
        <p:nvSpPr>
          <p:cNvPr id="1030" name="Google Shape;1030;p61">
            <a:extLst>
              <a:ext uri="{FF2B5EF4-FFF2-40B4-BE49-F238E27FC236}">
                <a16:creationId xmlns:a16="http://schemas.microsoft.com/office/drawing/2014/main" id="{4E45073D-6729-4DA5-B702-0D5498AE0176}"/>
              </a:ext>
            </a:extLst>
          </p:cNvPr>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1.5.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nhiệt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độ-độ</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ẩm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1.6. </a:t>
            </a:r>
            <a:r>
              <a:rPr lang="en-US" sz="1799" dirty="0" err="1">
                <a:solidFill>
                  <a:srgbClr val="A6A6A6"/>
                </a:solidFill>
                <a:latin typeface="Arial"/>
                <a:ea typeface="Arial"/>
                <a:cs typeface="Arial"/>
                <a:sym typeface="Arial"/>
              </a:rPr>
              <a:t>Lập</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trình</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điều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khiển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chính</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1.7. </a:t>
            </a:r>
            <a:r>
              <a:rPr lang="en-US" sz="1799" dirty="0" err="1">
                <a:solidFill>
                  <a:srgbClr val="A6A6A6"/>
                </a:solidFill>
                <a:latin typeface="Arial"/>
                <a:ea typeface="Arial"/>
                <a:cs typeface="Arial"/>
                <a:sym typeface="Arial"/>
              </a:rPr>
              <a:t>Chuẩn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giao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tiếp</a:t>
            </a:r>
            <a:r>
              <a:rPr lang="en-US" sz="1799" dirty="0">
                <a:solidFill>
                  <a:srgbClr val="A6A6A6"/>
                </a:solidFill>
                <a:latin typeface="Arial"/>
                <a:ea typeface="Arial"/>
                <a:cs typeface="Arial"/>
                <a:sym typeface="Arial"/>
              </a:rPr>
              <a:t> UART</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1.8. </a:t>
            </a:r>
            <a:r>
              <a:rPr lang="en-US" sz="1799" dirty="0" err="1">
                <a:solidFill>
                  <a:srgbClr val="A6A6A6"/>
                </a:solidFill>
                <a:latin typeface="Arial"/>
                <a:ea typeface="Arial"/>
                <a:cs typeface="Arial"/>
                <a:sym typeface="Arial"/>
              </a:rPr>
              <a:t>Chế</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tạo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thiết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bị</a:t>
            </a: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4142814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71"/>
          <p:cNvSpPr/>
          <p:nvPr/>
        </p:nvSpPr>
        <p:spPr>
          <a:xfrm>
            <a:off x="416136" y="444879"/>
            <a:ext cx="5824317" cy="553741"/>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2.2. </a:t>
            </a:r>
            <a:r>
              <a:rPr lang="en-US" sz="1799" dirty="0" err="1">
                <a:solidFill>
                  <a:schemeClr val="tx1"/>
                </a:solidFill>
              </a:rPr>
              <a:t>Đèn</a:t>
            </a:r>
            <a:r>
              <a:rPr lang="en-US" sz="1799" dirty="0">
                <a:solidFill>
                  <a:schemeClr val="tx1"/>
                </a:solidFill>
              </a:rPr>
              <a:t> LED </a:t>
            </a:r>
            <a:r>
              <a:rPr lang="en-US" sz="1799" b="1" dirty="0">
                <a:solidFill>
                  <a:schemeClr val="lt1"/>
                </a:solidFill>
                <a:latin typeface="Arial"/>
                <a:ea typeface="Arial"/>
                <a:cs typeface="Arial"/>
                <a:sym typeface="Arial"/>
              </a:rPr>
              <a:t> LED </a:t>
            </a:r>
            <a:endParaRPr dirty="0"/>
          </a:p>
          <a:p>
            <a:pPr marL="0" marR="0" lvl="0" indent="0" algn="l" rtl="0">
              <a:spcBef>
                <a:spcPts val="0"/>
              </a:spcBef>
              <a:spcAft>
                <a:spcPts val="0"/>
              </a:spcAft>
              <a:buNone/>
            </a:pPr>
            <a:r>
              <a:rPr lang="en-US" sz="1799" b="1" dirty="0">
                <a:solidFill>
                  <a:schemeClr val="lt1"/>
                </a:solidFill>
                <a:latin typeface="Arial"/>
                <a:ea typeface="Arial"/>
                <a:cs typeface="Arial"/>
                <a:sym typeface="Arial"/>
              </a:rPr>
              <a:t> </a:t>
            </a:r>
            <a:endParaRPr dirty="0"/>
          </a:p>
        </p:txBody>
      </p:sp>
      <p:sp>
        <p:nvSpPr>
          <p:cNvPr id="1157" name="Google Shape;1157;p71"/>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158" name="Google Shape;1158;p71"/>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Hãy bật đèn LED!</a:t>
            </a:r>
            <a:endParaRPr/>
          </a:p>
        </p:txBody>
      </p:sp>
      <p:grpSp>
        <p:nvGrpSpPr>
          <p:cNvPr id="1159" name="Google Shape;1159;p71"/>
          <p:cNvGrpSpPr/>
          <p:nvPr/>
        </p:nvGrpSpPr>
        <p:grpSpPr>
          <a:xfrm>
            <a:off x="3868964" y="3520883"/>
            <a:ext cx="2297112" cy="2187575"/>
            <a:chOff x="5865404" y="3368483"/>
            <a:chExt cx="2297112" cy="2187575"/>
          </a:xfrm>
        </p:grpSpPr>
        <p:grpSp>
          <p:nvGrpSpPr>
            <p:cNvPr id="1160" name="Google Shape;1160;p71"/>
            <p:cNvGrpSpPr/>
            <p:nvPr/>
          </p:nvGrpSpPr>
          <p:grpSpPr>
            <a:xfrm>
              <a:off x="5867755" y="3497286"/>
              <a:ext cx="2211539" cy="1887405"/>
              <a:chOff x="5872961" y="2771712"/>
              <a:chExt cx="2211538" cy="1887404"/>
            </a:xfrm>
          </p:grpSpPr>
          <p:sp>
            <p:nvSpPr>
              <p:cNvPr id="1161" name="Google Shape;1161;p71"/>
              <p:cNvSpPr txBox="1"/>
              <p:nvPr/>
            </p:nvSpPr>
            <p:spPr>
              <a:xfrm>
                <a:off x="5872961" y="3780720"/>
                <a:ext cx="861133" cy="3386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rgbClr val="262626"/>
                    </a:solidFill>
                    <a:latin typeface="Arial"/>
                    <a:ea typeface="Arial"/>
                    <a:cs typeface="Arial"/>
                    <a:sym typeface="Arial"/>
                  </a:rPr>
                  <a:t>Mặt đất</a:t>
                </a:r>
                <a:endParaRPr sz="1601">
                  <a:solidFill>
                    <a:srgbClr val="262626"/>
                  </a:solidFill>
                  <a:latin typeface="Arial"/>
                  <a:ea typeface="Arial"/>
                  <a:cs typeface="Arial"/>
                  <a:sym typeface="Arial"/>
                </a:endParaRPr>
              </a:p>
            </p:txBody>
          </p:sp>
          <p:sp>
            <p:nvSpPr>
              <p:cNvPr id="1162" name="Google Shape;1162;p71"/>
              <p:cNvSpPr/>
              <p:nvPr/>
            </p:nvSpPr>
            <p:spPr>
              <a:xfrm>
                <a:off x="7640711" y="3435158"/>
                <a:ext cx="253622" cy="253622"/>
              </a:xfrm>
              <a:prstGeom prst="ellipse">
                <a:avLst/>
              </a:prstGeom>
              <a:solidFill>
                <a:srgbClr val="FF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999">
                    <a:solidFill>
                      <a:schemeClr val="lt1"/>
                    </a:solidFill>
                    <a:latin typeface="Arial"/>
                    <a:ea typeface="Arial"/>
                    <a:cs typeface="Arial"/>
                    <a:sym typeface="Arial"/>
                  </a:rPr>
                  <a:t>+</a:t>
                </a:r>
                <a:endParaRPr/>
              </a:p>
            </p:txBody>
          </p:sp>
          <p:sp>
            <p:nvSpPr>
              <p:cNvPr id="1163" name="Google Shape;1163;p71"/>
              <p:cNvSpPr/>
              <p:nvPr/>
            </p:nvSpPr>
            <p:spPr>
              <a:xfrm>
                <a:off x="6176714" y="3435158"/>
                <a:ext cx="253622" cy="253622"/>
              </a:xfrm>
              <a:prstGeom prst="ellipse">
                <a:avLst/>
              </a:prstGeom>
              <a:solidFill>
                <a:srgbClr val="262626"/>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999">
                    <a:solidFill>
                      <a:schemeClr val="lt1"/>
                    </a:solidFill>
                    <a:latin typeface="Arial"/>
                    <a:ea typeface="Arial"/>
                    <a:cs typeface="Arial"/>
                    <a:sym typeface="Arial"/>
                  </a:rPr>
                  <a:t>-</a:t>
                </a:r>
                <a:endParaRPr/>
              </a:p>
            </p:txBody>
          </p:sp>
          <p:pic>
            <p:nvPicPr>
              <p:cNvPr id="1164" name="Google Shape;1164;p71"/>
              <p:cNvPicPr preferRelativeResize="0"/>
              <p:nvPr/>
            </p:nvPicPr>
            <p:blipFill rotWithShape="1">
              <a:blip r:embed="rId3">
                <a:alphaModFix/>
              </a:blip>
              <a:srcRect/>
              <a:stretch/>
            </p:blipFill>
            <p:spPr>
              <a:xfrm>
                <a:off x="6303525" y="2771712"/>
                <a:ext cx="1334200" cy="1887404"/>
              </a:xfrm>
              <a:prstGeom prst="rect">
                <a:avLst/>
              </a:prstGeom>
              <a:noFill/>
              <a:ln>
                <a:noFill/>
              </a:ln>
            </p:spPr>
          </p:pic>
          <p:sp>
            <p:nvSpPr>
              <p:cNvPr id="1165" name="Google Shape;1165;p71"/>
              <p:cNvSpPr txBox="1"/>
              <p:nvPr/>
            </p:nvSpPr>
            <p:spPr>
              <a:xfrm>
                <a:off x="7444580" y="3780720"/>
                <a:ext cx="639919" cy="5850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rgbClr val="262626"/>
                    </a:solidFill>
                    <a:latin typeface="Arial"/>
                    <a:ea typeface="Arial"/>
                    <a:cs typeface="Arial"/>
                    <a:sym typeface="Arial"/>
                  </a:rPr>
                  <a:t>VCC</a:t>
                </a:r>
                <a:endParaRPr/>
              </a:p>
              <a:p>
                <a:pPr marL="0" marR="0" lvl="0" indent="0" algn="ctr" rtl="0">
                  <a:spcBef>
                    <a:spcPts val="0"/>
                  </a:spcBef>
                  <a:spcAft>
                    <a:spcPts val="0"/>
                  </a:spcAft>
                  <a:buNone/>
                </a:pPr>
                <a:r>
                  <a:rPr lang="en-US" sz="1601">
                    <a:solidFill>
                      <a:srgbClr val="262626"/>
                    </a:solidFill>
                    <a:latin typeface="Arial"/>
                    <a:ea typeface="Arial"/>
                    <a:cs typeface="Arial"/>
                    <a:sym typeface="Arial"/>
                  </a:rPr>
                  <a:t>GPIO</a:t>
                </a:r>
                <a:endParaRPr/>
              </a:p>
            </p:txBody>
          </p:sp>
        </p:grpSp>
        <p:sp>
          <p:nvSpPr>
            <p:cNvPr id="1166" name="Google Shape;1166;p71"/>
            <p:cNvSpPr/>
            <p:nvPr/>
          </p:nvSpPr>
          <p:spPr>
            <a:xfrm>
              <a:off x="5865404" y="3368483"/>
              <a:ext cx="2297112" cy="2187575"/>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1167" name="Google Shape;1167;p71"/>
          <p:cNvSpPr/>
          <p:nvPr/>
        </p:nvSpPr>
        <p:spPr>
          <a:xfrm>
            <a:off x="572303" y="1944545"/>
            <a:ext cx="6267520" cy="903196"/>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dirty="0">
                <a:solidFill>
                  <a:schemeClr val="dk1"/>
                </a:solidFill>
                <a:latin typeface="Arial"/>
                <a:ea typeface="Arial"/>
                <a:cs typeface="Arial"/>
                <a:sym typeface="Arial"/>
              </a:rPr>
              <a:t>GPIO </a:t>
            </a:r>
            <a:r>
              <a:rPr lang="en-US" sz="1401" dirty="0" err="1">
                <a:solidFill>
                  <a:schemeClr val="dk1"/>
                </a:solidFill>
                <a:latin typeface="Arial"/>
                <a:ea typeface="Arial"/>
                <a:cs typeface="Arial"/>
                <a:sym typeface="Arial"/>
              </a:rPr>
              <a:t>thông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thường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cũng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có</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đầu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ra</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lên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đến</a:t>
            </a:r>
            <a:r>
              <a:rPr lang="en-US" sz="1401" dirty="0">
                <a:solidFill>
                  <a:schemeClr val="dk1"/>
                </a:solidFill>
                <a:latin typeface="Arial"/>
                <a:ea typeface="Arial"/>
                <a:cs typeface="Arial"/>
                <a:sym typeface="Arial"/>
              </a:rPr>
              <a:t> 3,3 V</a:t>
            </a:r>
            <a:endParaRPr dirty="0"/>
          </a:p>
          <a:p>
            <a:pPr marL="115879" marR="0" lvl="0" indent="-115879" algn="l" rtl="0">
              <a:spcBef>
                <a:spcPts val="1000"/>
              </a:spcBef>
              <a:spcAft>
                <a:spcPts val="0"/>
              </a:spcAft>
              <a:buClr>
                <a:schemeClr val="dk1"/>
              </a:buClr>
              <a:buSzPts val="1681"/>
              <a:buFont typeface="Arial"/>
              <a:buChar char="•"/>
            </a:pPr>
            <a:r>
              <a:rPr lang="en-US" sz="1401" dirty="0">
                <a:solidFill>
                  <a:schemeClr val="dk1"/>
                </a:solidFill>
                <a:latin typeface="Arial"/>
                <a:ea typeface="Arial"/>
                <a:cs typeface="Arial"/>
                <a:sym typeface="Arial"/>
              </a:rPr>
              <a:t>GPIO </a:t>
            </a:r>
            <a:r>
              <a:rPr lang="en-US" sz="1401" dirty="0" err="1">
                <a:solidFill>
                  <a:schemeClr val="dk1"/>
                </a:solidFill>
                <a:latin typeface="Arial"/>
                <a:ea typeface="Arial"/>
                <a:cs typeface="Arial"/>
                <a:sym typeface="Arial"/>
              </a:rPr>
              <a:t>có</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thể</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được</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mắc</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và</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sử</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dụng</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làm</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đầu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vào</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hoặc</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đầu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ra</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thay</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cho</a:t>
            </a:r>
            <a:r>
              <a:rPr lang="en-US" sz="1401" dirty="0">
                <a:solidFill>
                  <a:schemeClr val="dk1"/>
                </a:solidFill>
                <a:latin typeface="Arial"/>
                <a:ea typeface="Arial"/>
                <a:cs typeface="Arial"/>
                <a:sym typeface="Arial"/>
              </a:rPr>
              <a:t> VCC</a:t>
            </a:r>
            <a:endParaRPr dirty="0"/>
          </a:p>
          <a:p>
            <a:pPr marL="115879" marR="0" lvl="0" indent="-115879" algn="l" rtl="0">
              <a:spcBef>
                <a:spcPts val="1000"/>
              </a:spcBef>
              <a:spcAft>
                <a:spcPts val="0"/>
              </a:spcAft>
              <a:buClr>
                <a:schemeClr val="dk1"/>
              </a:buClr>
              <a:buSzPts val="1681"/>
              <a:buFont typeface="Arial"/>
              <a:buChar char="•"/>
            </a:pPr>
            <a:r>
              <a:rPr lang="en-US" sz="1401" dirty="0" err="1">
                <a:solidFill>
                  <a:schemeClr val="dk1"/>
                </a:solidFill>
                <a:latin typeface="Arial"/>
                <a:ea typeface="Arial"/>
                <a:cs typeface="Arial"/>
                <a:sym typeface="Arial"/>
              </a:rPr>
              <a:t>Chuẩn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bị</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thiết</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bị</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để</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thực</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hành</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với</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đèn</a:t>
            </a:r>
            <a:r>
              <a:rPr lang="en-US" sz="1401" dirty="0">
                <a:solidFill>
                  <a:schemeClr val="dk1"/>
                </a:solidFill>
                <a:latin typeface="Arial"/>
                <a:ea typeface="Arial"/>
                <a:cs typeface="Arial"/>
                <a:sym typeface="Arial"/>
              </a:rPr>
              <a:t> LED</a:t>
            </a:r>
            <a:endParaRPr dirty="0"/>
          </a:p>
        </p:txBody>
      </p:sp>
      <p:sp>
        <p:nvSpPr>
          <p:cNvPr id="1168" name="Google Shape;1168;p71"/>
          <p:cNvSpPr/>
          <p:nvPr/>
        </p:nvSpPr>
        <p:spPr>
          <a:xfrm>
            <a:off x="682694" y="2871751"/>
            <a:ext cx="4833211" cy="345300"/>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dirty="0">
                <a:solidFill>
                  <a:srgbClr val="262626"/>
                </a:solidFill>
                <a:latin typeface="Arial"/>
                <a:ea typeface="Arial"/>
                <a:cs typeface="Arial"/>
                <a:sym typeface="Arial"/>
              </a:rPr>
              <a:t>Raspberry Pi, </a:t>
            </a:r>
            <a:r>
              <a:rPr lang="en-US" sz="1299" dirty="0" err="1">
                <a:solidFill>
                  <a:srgbClr val="262626"/>
                </a:solidFill>
                <a:latin typeface="Arial"/>
                <a:ea typeface="Arial"/>
                <a:cs typeface="Arial"/>
                <a:sym typeface="Arial"/>
              </a:rPr>
              <a:t>Dây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nối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đèn</a:t>
            </a:r>
            <a:r>
              <a:rPr lang="en-US" sz="1299" dirty="0">
                <a:solidFill>
                  <a:srgbClr val="262626"/>
                </a:solidFill>
                <a:latin typeface="Arial"/>
                <a:ea typeface="Arial"/>
                <a:cs typeface="Arial"/>
                <a:sym typeface="Arial"/>
              </a:rPr>
              <a:t> LED,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trở</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Bảng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cắm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dây</a:t>
            </a:r>
            <a:endParaRPr sz="1299" dirty="0">
              <a:solidFill>
                <a:srgbClr val="26262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72"/>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175" name="Google Shape;1175;p72"/>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Môi trường thực hành Raspberry Pi</a:t>
            </a:r>
            <a:endParaRPr/>
          </a:p>
        </p:txBody>
      </p:sp>
      <p:sp>
        <p:nvSpPr>
          <p:cNvPr id="1176" name="Google Shape;1176;p72"/>
          <p:cNvSpPr/>
          <p:nvPr/>
        </p:nvSpPr>
        <p:spPr>
          <a:xfrm>
            <a:off x="4333549" y="2382949"/>
            <a:ext cx="4448659" cy="1107483"/>
          </a:xfrm>
          <a:prstGeom prst="rect">
            <a:avLst/>
          </a:prstGeom>
          <a:noFill/>
          <a:ln>
            <a:noFill/>
          </a:ln>
        </p:spPr>
        <p:txBody>
          <a:bodyPr spcFirstLastPara="1" wrap="square" lIns="0" tIns="0" rIns="0" bIns="0" anchor="t" anchorCtr="0">
            <a:spAutoFit/>
          </a:bodyPr>
          <a:lstStyle/>
          <a:p>
            <a:pPr marL="182548" marR="0" lvl="0" indent="-182548" algn="l" rtl="0">
              <a:spcBef>
                <a:spcPts val="0"/>
              </a:spcBef>
              <a:spcAft>
                <a:spcPts val="0"/>
              </a:spcAft>
              <a:buClr>
                <a:srgbClr val="193EB0"/>
              </a:buClr>
              <a:buSzPts val="1559"/>
              <a:buFont typeface="Arial"/>
              <a:buChar char="‣"/>
            </a:pPr>
            <a:r>
              <a:rPr lang="en-US" sz="1299">
                <a:solidFill>
                  <a:srgbClr val="262626"/>
                </a:solidFill>
                <a:latin typeface="Arial"/>
                <a:ea typeface="Arial"/>
                <a:cs typeface="Arial"/>
                <a:sym typeface="Arial"/>
              </a:rPr>
              <a:t>Bật Raspberry Pi</a:t>
            </a:r>
            <a:endParaRPr/>
          </a:p>
          <a:p>
            <a:pPr marL="182548" marR="0" lvl="0" indent="-182548" algn="l" rtl="0">
              <a:spcBef>
                <a:spcPts val="802"/>
              </a:spcBef>
              <a:spcAft>
                <a:spcPts val="0"/>
              </a:spcAft>
              <a:buClr>
                <a:srgbClr val="193EB0"/>
              </a:buClr>
              <a:buSzPts val="1559"/>
              <a:buFont typeface="Arial"/>
              <a:buChar char="‣"/>
            </a:pPr>
            <a:r>
              <a:rPr lang="en-US" sz="1299">
                <a:solidFill>
                  <a:srgbClr val="262626"/>
                </a:solidFill>
                <a:latin typeface="Arial"/>
                <a:ea typeface="Arial"/>
                <a:cs typeface="Arial"/>
                <a:sym typeface="Arial"/>
              </a:rPr>
              <a:t>Thực thi các thiết bị đầu cuối</a:t>
            </a:r>
            <a:endParaRPr/>
          </a:p>
          <a:p>
            <a:pPr marL="182548" marR="0" lvl="0" indent="-182548" algn="l" rtl="0">
              <a:spcBef>
                <a:spcPts val="802"/>
              </a:spcBef>
              <a:spcAft>
                <a:spcPts val="0"/>
              </a:spcAft>
              <a:buClr>
                <a:srgbClr val="193EB0"/>
              </a:buClr>
              <a:buSzPts val="1559"/>
              <a:buFont typeface="Arial"/>
              <a:buChar char="‣"/>
            </a:pPr>
            <a:r>
              <a:rPr lang="en-US" sz="1299">
                <a:solidFill>
                  <a:srgbClr val="262626"/>
                </a:solidFill>
                <a:latin typeface="Arial"/>
                <a:ea typeface="Arial"/>
                <a:cs typeface="Arial"/>
                <a:sym typeface="Arial"/>
              </a:rPr>
              <a:t>Tạo thư mực</a:t>
            </a:r>
            <a:endParaRPr/>
          </a:p>
          <a:p>
            <a:pPr marL="182548" marR="0" lvl="0" indent="-182548" algn="l" rtl="0">
              <a:spcBef>
                <a:spcPts val="802"/>
              </a:spcBef>
              <a:spcAft>
                <a:spcPts val="0"/>
              </a:spcAft>
              <a:buClr>
                <a:srgbClr val="193EB0"/>
              </a:buClr>
              <a:buSzPts val="1559"/>
              <a:buFont typeface="Arial"/>
              <a:buChar char="‣"/>
            </a:pPr>
            <a:r>
              <a:rPr lang="en-US" sz="1299">
                <a:solidFill>
                  <a:srgbClr val="262626"/>
                </a:solidFill>
                <a:latin typeface="Arial"/>
                <a:ea typeface="Arial"/>
                <a:cs typeface="Arial"/>
                <a:sym typeface="Arial"/>
              </a:rPr>
              <a:t>Nano</a:t>
            </a:r>
            <a:endParaRPr/>
          </a:p>
        </p:txBody>
      </p:sp>
      <p:sp>
        <p:nvSpPr>
          <p:cNvPr id="1177" name="Google Shape;1177;p72"/>
          <p:cNvSpPr/>
          <p:nvPr/>
        </p:nvSpPr>
        <p:spPr>
          <a:xfrm>
            <a:off x="580400" y="1944540"/>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GPIO21, GPIO20 ở phía dưới bên phải và GND thứ ba ở trên cùng bên phải</a:t>
            </a:r>
            <a:endParaRPr/>
          </a:p>
        </p:txBody>
      </p:sp>
      <p:grpSp>
        <p:nvGrpSpPr>
          <p:cNvPr id="1178" name="Google Shape;1178;p72"/>
          <p:cNvGrpSpPr/>
          <p:nvPr/>
        </p:nvGrpSpPr>
        <p:grpSpPr>
          <a:xfrm>
            <a:off x="701040" y="2325266"/>
            <a:ext cx="3454357" cy="4006954"/>
            <a:chOff x="735200" y="2409086"/>
            <a:chExt cx="3664037" cy="3870101"/>
          </a:xfrm>
        </p:grpSpPr>
        <p:pic>
          <p:nvPicPr>
            <p:cNvPr id="1179" name="Google Shape;1179;p72" descr="Raspberry Pi 4 Model B GPIO Pinout Diagram | element14 | Raspberry Pi"/>
            <p:cNvPicPr preferRelativeResize="0"/>
            <p:nvPr/>
          </p:nvPicPr>
          <p:blipFill rotWithShape="1">
            <a:blip r:embed="rId3">
              <a:alphaModFix/>
            </a:blip>
            <a:srcRect l="2007" t="643" r="2648" b="30471"/>
            <a:stretch/>
          </p:blipFill>
          <p:spPr>
            <a:xfrm>
              <a:off x="735200" y="2409086"/>
              <a:ext cx="3664037" cy="3870101"/>
            </a:xfrm>
            <a:prstGeom prst="rect">
              <a:avLst/>
            </a:prstGeom>
            <a:noFill/>
            <a:ln w="9525" cap="flat" cmpd="sng">
              <a:solidFill>
                <a:srgbClr val="D8D8D8"/>
              </a:solidFill>
              <a:prstDash val="solid"/>
              <a:round/>
              <a:headEnd type="none" w="sm" len="sm"/>
              <a:tailEnd type="none" w="sm" len="sm"/>
            </a:ln>
          </p:spPr>
        </p:pic>
        <p:sp>
          <p:nvSpPr>
            <p:cNvPr id="1180" name="Google Shape;1180;p72"/>
            <p:cNvSpPr/>
            <p:nvPr/>
          </p:nvSpPr>
          <p:spPr>
            <a:xfrm>
              <a:off x="2877242" y="5858202"/>
              <a:ext cx="1491665" cy="325214"/>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181" name="Google Shape;1181;p72"/>
            <p:cNvSpPr/>
            <p:nvPr/>
          </p:nvSpPr>
          <p:spPr>
            <a:xfrm>
              <a:off x="2862493" y="3184660"/>
              <a:ext cx="1491665" cy="144539"/>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1182" name="Google Shape;1182;p72"/>
          <p:cNvSpPr/>
          <p:nvPr/>
        </p:nvSpPr>
        <p:spPr>
          <a:xfrm>
            <a:off x="416136" y="444879"/>
            <a:ext cx="5824317" cy="55374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2.2. Đèn LED </a:t>
            </a:r>
            <a:endParaRPr/>
          </a:p>
          <a:p>
            <a:pPr marL="0" marR="0" lvl="0" indent="0" algn="l" rtl="0">
              <a:spcBef>
                <a:spcPts val="0"/>
              </a:spcBef>
              <a:spcAft>
                <a:spcPts val="0"/>
              </a:spcAft>
              <a:buNone/>
            </a:pPr>
            <a:r>
              <a:rPr lang="en-US" sz="1799" b="1">
                <a:solidFill>
                  <a:schemeClr val="lt1"/>
                </a:solidFill>
                <a:latin typeface="Arial"/>
                <a:ea typeface="Arial"/>
                <a:cs typeface="Arial"/>
                <a:sym typeface="Aria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73"/>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189" name="Google Shape;1189;p73"/>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Vai trò của điện trở</a:t>
            </a:r>
            <a:endParaRPr sz="2401" b="1">
              <a:solidFill>
                <a:srgbClr val="0C0C0C"/>
              </a:solidFill>
              <a:latin typeface="Arial"/>
              <a:ea typeface="Arial"/>
              <a:cs typeface="Arial"/>
              <a:sym typeface="Arial"/>
            </a:endParaRPr>
          </a:p>
        </p:txBody>
      </p:sp>
      <p:sp>
        <p:nvSpPr>
          <p:cNvPr id="1190" name="Google Shape;1190;p73"/>
          <p:cNvSpPr/>
          <p:nvPr/>
        </p:nvSpPr>
        <p:spPr>
          <a:xfrm>
            <a:off x="416136" y="444879"/>
            <a:ext cx="5824317" cy="769185"/>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2.2. </a:t>
            </a:r>
            <a:r>
              <a:rPr lang="en-US" sz="1799" dirty="0" err="1">
                <a:solidFill>
                  <a:schemeClr val="tx1"/>
                </a:solidFill>
              </a:rPr>
              <a:t>Đèn</a:t>
            </a:r>
            <a:r>
              <a:rPr lang="en-US" sz="1799" dirty="0">
                <a:solidFill>
                  <a:schemeClr val="tx1"/>
                </a:solidFill>
              </a:rPr>
              <a:t> LED </a:t>
            </a:r>
            <a:endParaRPr lang="en-US" sz="1800" dirty="0">
              <a:solidFill>
                <a:schemeClr val="tx1"/>
              </a:solidFill>
            </a:endParaRPr>
          </a:p>
          <a:p>
            <a:pPr marL="0" marR="0" lvl="0" indent="0" algn="l" rtl="0">
              <a:spcBef>
                <a:spcPts val="0"/>
              </a:spcBef>
              <a:spcAft>
                <a:spcPts val="0"/>
              </a:spcAft>
              <a:buNone/>
            </a:pPr>
            <a:endParaRPr dirty="0"/>
          </a:p>
          <a:p>
            <a:pPr marL="0" marR="0" lvl="0" indent="0" algn="l" rtl="0">
              <a:spcBef>
                <a:spcPts val="0"/>
              </a:spcBef>
              <a:spcAft>
                <a:spcPts val="0"/>
              </a:spcAft>
              <a:buNone/>
            </a:pPr>
            <a:r>
              <a:rPr lang="en-US" sz="1799" b="1" dirty="0">
                <a:solidFill>
                  <a:schemeClr val="lt1"/>
                </a:solidFill>
                <a:latin typeface="Arial"/>
                <a:ea typeface="Arial"/>
                <a:cs typeface="Arial"/>
                <a:sym typeface="Arial"/>
              </a:rPr>
              <a:t> </a:t>
            </a:r>
            <a:endParaRPr dirty="0"/>
          </a:p>
        </p:txBody>
      </p:sp>
      <p:grpSp>
        <p:nvGrpSpPr>
          <p:cNvPr id="1191" name="Google Shape;1191;p73"/>
          <p:cNvGrpSpPr/>
          <p:nvPr/>
        </p:nvGrpSpPr>
        <p:grpSpPr>
          <a:xfrm>
            <a:off x="1965111" y="1815497"/>
            <a:ext cx="6380583" cy="4342726"/>
            <a:chOff x="1965111" y="1815497"/>
            <a:chExt cx="6380583" cy="4342726"/>
          </a:xfrm>
        </p:grpSpPr>
        <p:pic>
          <p:nvPicPr>
            <p:cNvPr id="1192" name="Google Shape;1192;p73"/>
            <p:cNvPicPr preferRelativeResize="0"/>
            <p:nvPr/>
          </p:nvPicPr>
          <p:blipFill rotWithShape="1">
            <a:blip r:embed="rId3">
              <a:alphaModFix/>
            </a:blip>
            <a:srcRect/>
            <a:stretch/>
          </p:blipFill>
          <p:spPr>
            <a:xfrm>
              <a:off x="2334240" y="2053883"/>
              <a:ext cx="5367821" cy="3654530"/>
            </a:xfrm>
            <a:prstGeom prst="rect">
              <a:avLst/>
            </a:prstGeom>
            <a:noFill/>
            <a:ln>
              <a:noFill/>
            </a:ln>
          </p:spPr>
        </p:pic>
        <p:sp>
          <p:nvSpPr>
            <p:cNvPr id="1193" name="Google Shape;1193;p73"/>
            <p:cNvSpPr txBox="1"/>
            <p:nvPr/>
          </p:nvSpPr>
          <p:spPr>
            <a:xfrm>
              <a:off x="4654351" y="1815497"/>
              <a:ext cx="331821" cy="19992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rgbClr val="262626"/>
                  </a:solidFill>
                  <a:latin typeface="Arial"/>
                  <a:ea typeface="Arial"/>
                  <a:cs typeface="Arial"/>
                  <a:sym typeface="Arial"/>
                </a:rPr>
                <a:t>±5%</a:t>
              </a:r>
              <a:endParaRPr/>
            </a:p>
          </p:txBody>
        </p:sp>
        <p:sp>
          <p:nvSpPr>
            <p:cNvPr id="1194" name="Google Shape;1194;p73"/>
            <p:cNvSpPr txBox="1"/>
            <p:nvPr/>
          </p:nvSpPr>
          <p:spPr>
            <a:xfrm>
              <a:off x="4506822" y="3874770"/>
              <a:ext cx="28674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3V</a:t>
              </a:r>
              <a:endParaRPr sz="1299">
                <a:solidFill>
                  <a:schemeClr val="dk1"/>
                </a:solidFill>
                <a:latin typeface="Arial"/>
                <a:ea typeface="Arial"/>
                <a:cs typeface="Arial"/>
                <a:sym typeface="Arial"/>
              </a:endParaRPr>
            </a:p>
          </p:txBody>
        </p:sp>
        <p:sp>
          <p:nvSpPr>
            <p:cNvPr id="1195" name="Google Shape;1195;p73"/>
            <p:cNvSpPr txBox="1"/>
            <p:nvPr/>
          </p:nvSpPr>
          <p:spPr>
            <a:xfrm>
              <a:off x="6502308" y="3874770"/>
              <a:ext cx="28674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3V</a:t>
              </a:r>
              <a:endParaRPr sz="1299">
                <a:solidFill>
                  <a:schemeClr val="dk1"/>
                </a:solidFill>
                <a:latin typeface="Arial"/>
                <a:ea typeface="Arial"/>
                <a:cs typeface="Arial"/>
                <a:sym typeface="Arial"/>
              </a:endParaRPr>
            </a:p>
          </p:txBody>
        </p:sp>
        <p:sp>
          <p:nvSpPr>
            <p:cNvPr id="1196" name="Google Shape;1196;p73"/>
            <p:cNvSpPr/>
            <p:nvPr/>
          </p:nvSpPr>
          <p:spPr>
            <a:xfrm>
              <a:off x="2665398" y="4191025"/>
              <a:ext cx="692385" cy="340519"/>
            </a:xfrm>
            <a:prstGeom prst="roundRect">
              <a:avLst>
                <a:gd name="adj" fmla="val 16667"/>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b="1">
                  <a:solidFill>
                    <a:schemeClr val="lt1"/>
                  </a:solidFill>
                  <a:latin typeface="Arial"/>
                  <a:ea typeface="Arial"/>
                  <a:cs typeface="Arial"/>
                  <a:sym typeface="Arial"/>
                </a:rPr>
                <a:t>Dry cell</a:t>
              </a:r>
              <a:br>
                <a:rPr lang="en-US" sz="1000" b="1">
                  <a:solidFill>
                    <a:schemeClr val="lt1"/>
                  </a:solidFill>
                  <a:latin typeface="Arial"/>
                  <a:ea typeface="Arial"/>
                  <a:cs typeface="Arial"/>
                  <a:sym typeface="Arial"/>
                </a:rPr>
              </a:br>
              <a:r>
                <a:rPr lang="en-US" sz="1000" b="1">
                  <a:solidFill>
                    <a:schemeClr val="lt1"/>
                  </a:solidFill>
                  <a:latin typeface="Arial"/>
                  <a:ea typeface="Arial"/>
                  <a:cs typeface="Arial"/>
                  <a:sym typeface="Arial"/>
                </a:rPr>
                <a:t>1.5V</a:t>
              </a:r>
              <a:endParaRPr/>
            </a:p>
          </p:txBody>
        </p:sp>
        <p:sp>
          <p:nvSpPr>
            <p:cNvPr id="1197" name="Google Shape;1197;p73"/>
            <p:cNvSpPr/>
            <p:nvPr/>
          </p:nvSpPr>
          <p:spPr>
            <a:xfrm>
              <a:off x="3897431" y="4191025"/>
              <a:ext cx="708690" cy="340519"/>
            </a:xfrm>
            <a:prstGeom prst="roundRect">
              <a:avLst>
                <a:gd name="adj" fmla="val 16667"/>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b="1">
                  <a:solidFill>
                    <a:schemeClr val="lt1"/>
                  </a:solidFill>
                  <a:latin typeface="Arial"/>
                  <a:ea typeface="Arial"/>
                  <a:cs typeface="Arial"/>
                  <a:sym typeface="Arial"/>
                </a:rPr>
                <a:t>Dry cell</a:t>
              </a:r>
              <a:br>
                <a:rPr lang="en-US" sz="1000" b="1">
                  <a:solidFill>
                    <a:schemeClr val="lt1"/>
                  </a:solidFill>
                  <a:latin typeface="Arial"/>
                  <a:ea typeface="Arial"/>
                  <a:cs typeface="Arial"/>
                  <a:sym typeface="Arial"/>
                </a:rPr>
              </a:br>
              <a:r>
                <a:rPr lang="en-US" sz="1000" b="1">
                  <a:solidFill>
                    <a:schemeClr val="lt1"/>
                  </a:solidFill>
                  <a:latin typeface="Arial"/>
                  <a:ea typeface="Arial"/>
                  <a:cs typeface="Arial"/>
                  <a:sym typeface="Arial"/>
                </a:rPr>
                <a:t>1.5V</a:t>
              </a:r>
              <a:endParaRPr/>
            </a:p>
          </p:txBody>
        </p:sp>
        <p:sp>
          <p:nvSpPr>
            <p:cNvPr id="1198" name="Google Shape;1198;p73"/>
            <p:cNvSpPr/>
            <p:nvPr/>
          </p:nvSpPr>
          <p:spPr>
            <a:xfrm>
              <a:off x="4714694" y="4191025"/>
              <a:ext cx="708690" cy="340519"/>
            </a:xfrm>
            <a:prstGeom prst="roundRect">
              <a:avLst>
                <a:gd name="adj" fmla="val 16667"/>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b="1">
                  <a:solidFill>
                    <a:schemeClr val="lt1"/>
                  </a:solidFill>
                  <a:latin typeface="Arial"/>
                  <a:ea typeface="Arial"/>
                  <a:cs typeface="Arial"/>
                  <a:sym typeface="Arial"/>
                </a:rPr>
                <a:t>Dry cell</a:t>
              </a:r>
              <a:br>
                <a:rPr lang="en-US" sz="1000" b="1">
                  <a:solidFill>
                    <a:schemeClr val="lt1"/>
                  </a:solidFill>
                  <a:latin typeface="Arial"/>
                  <a:ea typeface="Arial"/>
                  <a:cs typeface="Arial"/>
                  <a:sym typeface="Arial"/>
                </a:rPr>
              </a:br>
              <a:r>
                <a:rPr lang="en-US" sz="1000" b="1">
                  <a:solidFill>
                    <a:schemeClr val="lt1"/>
                  </a:solidFill>
                  <a:latin typeface="Arial"/>
                  <a:ea typeface="Arial"/>
                  <a:cs typeface="Arial"/>
                  <a:sym typeface="Arial"/>
                </a:rPr>
                <a:t>1.5V</a:t>
              </a:r>
              <a:endParaRPr/>
            </a:p>
          </p:txBody>
        </p:sp>
        <p:sp>
          <p:nvSpPr>
            <p:cNvPr id="1199" name="Google Shape;1199;p73"/>
            <p:cNvSpPr/>
            <p:nvPr/>
          </p:nvSpPr>
          <p:spPr>
            <a:xfrm>
              <a:off x="5943311" y="4191025"/>
              <a:ext cx="708690" cy="340519"/>
            </a:xfrm>
            <a:prstGeom prst="roundRect">
              <a:avLst>
                <a:gd name="adj" fmla="val 16667"/>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b="1">
                  <a:solidFill>
                    <a:schemeClr val="lt1"/>
                  </a:solidFill>
                  <a:latin typeface="Arial"/>
                  <a:ea typeface="Arial"/>
                  <a:cs typeface="Arial"/>
                  <a:sym typeface="Arial"/>
                </a:rPr>
                <a:t>Dry cell</a:t>
              </a:r>
              <a:br>
                <a:rPr lang="en-US" sz="1000" b="1">
                  <a:solidFill>
                    <a:schemeClr val="lt1"/>
                  </a:solidFill>
                  <a:latin typeface="Arial"/>
                  <a:ea typeface="Arial"/>
                  <a:cs typeface="Arial"/>
                  <a:sym typeface="Arial"/>
                </a:rPr>
              </a:br>
              <a:r>
                <a:rPr lang="en-US" sz="1000" b="1">
                  <a:solidFill>
                    <a:schemeClr val="lt1"/>
                  </a:solidFill>
                  <a:latin typeface="Arial"/>
                  <a:ea typeface="Arial"/>
                  <a:cs typeface="Arial"/>
                  <a:sym typeface="Arial"/>
                </a:rPr>
                <a:t>1.5V</a:t>
              </a:r>
              <a:endParaRPr/>
            </a:p>
          </p:txBody>
        </p:sp>
        <p:sp>
          <p:nvSpPr>
            <p:cNvPr id="1200" name="Google Shape;1200;p73"/>
            <p:cNvSpPr/>
            <p:nvPr/>
          </p:nvSpPr>
          <p:spPr>
            <a:xfrm>
              <a:off x="6746506" y="4191025"/>
              <a:ext cx="708690" cy="340519"/>
            </a:xfrm>
            <a:prstGeom prst="roundRect">
              <a:avLst>
                <a:gd name="adj" fmla="val 16667"/>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b="1">
                  <a:solidFill>
                    <a:schemeClr val="lt1"/>
                  </a:solidFill>
                  <a:latin typeface="Arial"/>
                  <a:ea typeface="Arial"/>
                  <a:cs typeface="Arial"/>
                  <a:sym typeface="Arial"/>
                </a:rPr>
                <a:t>Dry cell</a:t>
              </a:r>
              <a:br>
                <a:rPr lang="en-US" sz="1000" b="1">
                  <a:solidFill>
                    <a:schemeClr val="lt1"/>
                  </a:solidFill>
                  <a:latin typeface="Arial"/>
                  <a:ea typeface="Arial"/>
                  <a:cs typeface="Arial"/>
                  <a:sym typeface="Arial"/>
                </a:rPr>
              </a:br>
              <a:r>
                <a:rPr lang="en-US" sz="1000" b="1">
                  <a:solidFill>
                    <a:schemeClr val="lt1"/>
                  </a:solidFill>
                  <a:latin typeface="Arial"/>
                  <a:ea typeface="Arial"/>
                  <a:cs typeface="Arial"/>
                  <a:sym typeface="Arial"/>
                </a:rPr>
                <a:t>1.5V</a:t>
              </a:r>
              <a:endParaRPr/>
            </a:p>
          </p:txBody>
        </p:sp>
        <p:sp>
          <p:nvSpPr>
            <p:cNvPr id="1201" name="Google Shape;1201;p73"/>
            <p:cNvSpPr txBox="1"/>
            <p:nvPr/>
          </p:nvSpPr>
          <p:spPr>
            <a:xfrm>
              <a:off x="7062487" y="5030054"/>
              <a:ext cx="158959" cy="13862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1">
                  <a:solidFill>
                    <a:schemeClr val="dk1"/>
                  </a:solidFill>
                  <a:latin typeface="Arial"/>
                  <a:ea typeface="Arial"/>
                  <a:cs typeface="Arial"/>
                  <a:sym typeface="Arial"/>
                </a:rPr>
                <a:t>V</a:t>
              </a:r>
              <a:r>
                <a:rPr lang="en-US" sz="901" baseline="-25000">
                  <a:solidFill>
                    <a:schemeClr val="dk1"/>
                  </a:solidFill>
                  <a:latin typeface="Arial"/>
                  <a:ea typeface="Arial"/>
                  <a:cs typeface="Arial"/>
                  <a:sym typeface="Arial"/>
                </a:rPr>
                <a:t>R</a:t>
              </a:r>
              <a:endParaRPr sz="1000" baseline="-25000">
                <a:solidFill>
                  <a:schemeClr val="dk1"/>
                </a:solidFill>
                <a:latin typeface="Arial"/>
                <a:ea typeface="Arial"/>
                <a:cs typeface="Arial"/>
                <a:sym typeface="Arial"/>
              </a:endParaRPr>
            </a:p>
          </p:txBody>
        </p:sp>
        <p:sp>
          <p:nvSpPr>
            <p:cNvPr id="1202" name="Google Shape;1202;p73"/>
            <p:cNvSpPr txBox="1"/>
            <p:nvPr/>
          </p:nvSpPr>
          <p:spPr>
            <a:xfrm>
              <a:off x="6486723" y="4768880"/>
              <a:ext cx="286748" cy="13862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1" b="1">
                  <a:solidFill>
                    <a:schemeClr val="dk1"/>
                  </a:solidFill>
                  <a:latin typeface="Arial"/>
                  <a:ea typeface="Arial"/>
                  <a:cs typeface="Arial"/>
                  <a:sym typeface="Arial"/>
                </a:rPr>
                <a:t>A  C</a:t>
              </a:r>
              <a:endParaRPr sz="1000" b="1" baseline="-25000">
                <a:solidFill>
                  <a:schemeClr val="dk1"/>
                </a:solidFill>
                <a:latin typeface="Arial"/>
                <a:ea typeface="Arial"/>
                <a:cs typeface="Arial"/>
                <a:sym typeface="Arial"/>
              </a:endParaRPr>
            </a:p>
          </p:txBody>
        </p:sp>
        <p:sp>
          <p:nvSpPr>
            <p:cNvPr id="1203" name="Google Shape;1203;p73"/>
            <p:cNvSpPr txBox="1"/>
            <p:nvPr/>
          </p:nvSpPr>
          <p:spPr>
            <a:xfrm>
              <a:off x="4506822" y="4768880"/>
              <a:ext cx="286748" cy="13862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1" b="1">
                  <a:solidFill>
                    <a:schemeClr val="dk1"/>
                  </a:solidFill>
                  <a:latin typeface="Arial"/>
                  <a:ea typeface="Arial"/>
                  <a:cs typeface="Arial"/>
                  <a:sym typeface="Arial"/>
                </a:rPr>
                <a:t>A  C</a:t>
              </a:r>
              <a:endParaRPr sz="1000" b="1" baseline="-25000">
                <a:solidFill>
                  <a:schemeClr val="dk1"/>
                </a:solidFill>
                <a:latin typeface="Arial"/>
                <a:ea typeface="Arial"/>
                <a:cs typeface="Arial"/>
                <a:sym typeface="Arial"/>
              </a:endParaRPr>
            </a:p>
          </p:txBody>
        </p:sp>
        <p:sp>
          <p:nvSpPr>
            <p:cNvPr id="1204" name="Google Shape;1204;p73"/>
            <p:cNvSpPr txBox="1"/>
            <p:nvPr/>
          </p:nvSpPr>
          <p:spPr>
            <a:xfrm>
              <a:off x="2917450" y="4768880"/>
              <a:ext cx="286748" cy="13862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1" b="1">
                  <a:solidFill>
                    <a:schemeClr val="dk1"/>
                  </a:solidFill>
                  <a:latin typeface="Arial"/>
                  <a:ea typeface="Arial"/>
                  <a:cs typeface="Arial"/>
                  <a:sym typeface="Arial"/>
                </a:rPr>
                <a:t>A  C</a:t>
              </a:r>
              <a:endParaRPr sz="1000" b="1" baseline="-25000">
                <a:solidFill>
                  <a:schemeClr val="dk1"/>
                </a:solidFill>
                <a:latin typeface="Arial"/>
                <a:ea typeface="Arial"/>
                <a:cs typeface="Arial"/>
                <a:sym typeface="Arial"/>
              </a:endParaRPr>
            </a:p>
          </p:txBody>
        </p:sp>
        <p:sp>
          <p:nvSpPr>
            <p:cNvPr id="1205" name="Google Shape;1205;p73"/>
            <p:cNvSpPr txBox="1"/>
            <p:nvPr/>
          </p:nvSpPr>
          <p:spPr>
            <a:xfrm>
              <a:off x="1965111" y="5788891"/>
              <a:ext cx="1583892" cy="36933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chemeClr val="dk1"/>
                  </a:solidFill>
                  <a:latin typeface="Arial"/>
                  <a:ea typeface="Arial"/>
                  <a:cs typeface="Arial"/>
                  <a:sym typeface="Arial"/>
                </a:rPr>
                <a:t>(a) Đèn LED không phát sáng </a:t>
              </a:r>
              <a:endParaRPr/>
            </a:p>
          </p:txBody>
        </p:sp>
        <p:sp>
          <p:nvSpPr>
            <p:cNvPr id="1206" name="Google Shape;1206;p73"/>
            <p:cNvSpPr txBox="1"/>
            <p:nvPr/>
          </p:nvSpPr>
          <p:spPr>
            <a:xfrm>
              <a:off x="3536518" y="5788892"/>
              <a:ext cx="2277322"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chemeClr val="dk1"/>
                  </a:solidFill>
                  <a:latin typeface="Arial"/>
                  <a:ea typeface="Arial"/>
                  <a:cs typeface="Arial"/>
                  <a:sym typeface="Arial"/>
                </a:rPr>
                <a:t>(b) Cường độ dòng điện quá mức</a:t>
              </a:r>
              <a:endParaRPr/>
            </a:p>
          </p:txBody>
        </p:sp>
        <p:sp>
          <p:nvSpPr>
            <p:cNvPr id="1207" name="Google Shape;1207;p73"/>
            <p:cNvSpPr txBox="1"/>
            <p:nvPr/>
          </p:nvSpPr>
          <p:spPr>
            <a:xfrm>
              <a:off x="5717724" y="5788893"/>
              <a:ext cx="2627970"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chemeClr val="dk1"/>
                  </a:solidFill>
                  <a:latin typeface="Arial"/>
                  <a:ea typeface="Arial"/>
                  <a:cs typeface="Arial"/>
                  <a:sym typeface="Arial"/>
                </a:rPr>
                <a:t>(c) Trạng thái hoạt động phù hợp nhất</a:t>
              </a:r>
              <a:endParaRPr sz="1200" b="1">
                <a:solidFill>
                  <a:schemeClr val="dk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74"/>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214" name="Google Shape;1214;p74"/>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Nối đèn LED và nút bấm</a:t>
            </a:r>
            <a:endParaRPr sz="2401" b="1">
              <a:solidFill>
                <a:srgbClr val="0C0C0C"/>
              </a:solidFill>
              <a:latin typeface="Arial"/>
              <a:ea typeface="Arial"/>
              <a:cs typeface="Arial"/>
              <a:sym typeface="Arial"/>
            </a:endParaRPr>
          </a:p>
        </p:txBody>
      </p:sp>
      <p:grpSp>
        <p:nvGrpSpPr>
          <p:cNvPr id="1215" name="Google Shape;1215;p74"/>
          <p:cNvGrpSpPr/>
          <p:nvPr/>
        </p:nvGrpSpPr>
        <p:grpSpPr>
          <a:xfrm>
            <a:off x="416136" y="1952634"/>
            <a:ext cx="8203616" cy="4166904"/>
            <a:chOff x="1271679" y="2352228"/>
            <a:chExt cx="7380268" cy="3748697"/>
          </a:xfrm>
        </p:grpSpPr>
        <p:grpSp>
          <p:nvGrpSpPr>
            <p:cNvPr id="1216" name="Google Shape;1216;p74"/>
            <p:cNvGrpSpPr/>
            <p:nvPr/>
          </p:nvGrpSpPr>
          <p:grpSpPr>
            <a:xfrm>
              <a:off x="4947701" y="2352228"/>
              <a:ext cx="3704246" cy="3748697"/>
              <a:chOff x="15112000" y="1852166"/>
              <a:chExt cx="4439794" cy="4493072"/>
            </a:xfrm>
          </p:grpSpPr>
          <p:pic>
            <p:nvPicPr>
              <p:cNvPr id="1217" name="Google Shape;1217;p74"/>
              <p:cNvPicPr preferRelativeResize="0"/>
              <p:nvPr/>
            </p:nvPicPr>
            <p:blipFill rotWithShape="1">
              <a:blip r:embed="rId3">
                <a:alphaModFix/>
              </a:blip>
              <a:srcRect/>
              <a:stretch/>
            </p:blipFill>
            <p:spPr>
              <a:xfrm>
                <a:off x="15112000" y="1852166"/>
                <a:ext cx="4439794" cy="4493072"/>
              </a:xfrm>
              <a:prstGeom prst="rect">
                <a:avLst/>
              </a:prstGeom>
              <a:noFill/>
              <a:ln w="9525" cap="flat" cmpd="sng">
                <a:solidFill>
                  <a:srgbClr val="BFBFBF"/>
                </a:solidFill>
                <a:prstDash val="solid"/>
                <a:round/>
                <a:headEnd type="none" w="sm" len="sm"/>
                <a:tailEnd type="none" w="sm" len="sm"/>
              </a:ln>
            </p:spPr>
          </p:pic>
          <p:sp>
            <p:nvSpPr>
              <p:cNvPr id="1218" name="Google Shape;1218;p74"/>
              <p:cNvSpPr/>
              <p:nvPr/>
            </p:nvSpPr>
            <p:spPr>
              <a:xfrm rot="9039132">
                <a:off x="15254449" y="2383054"/>
                <a:ext cx="859043" cy="360040"/>
              </a:xfrm>
              <a:prstGeom prst="rightArrow">
                <a:avLst>
                  <a:gd name="adj1" fmla="val 50000"/>
                  <a:gd name="adj2" fmla="val 50000"/>
                </a:avLst>
              </a:prstGeom>
              <a:gradFill>
                <a:gsLst>
                  <a:gs pos="0">
                    <a:srgbClr val="193EB0">
                      <a:alpha val="0"/>
                    </a:srgbClr>
                  </a:gs>
                  <a:gs pos="100000">
                    <a:srgbClr val="193EB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Malgun Gothic"/>
                  <a:ea typeface="Malgun Gothic"/>
                  <a:cs typeface="Malgun Gothic"/>
                  <a:sym typeface="Malgun Gothic"/>
                </a:endParaRPr>
              </a:p>
            </p:txBody>
          </p:sp>
          <p:sp>
            <p:nvSpPr>
              <p:cNvPr id="1219" name="Google Shape;1219;p74"/>
              <p:cNvSpPr/>
              <p:nvPr/>
            </p:nvSpPr>
            <p:spPr>
              <a:xfrm rot="9039132">
                <a:off x="15272968" y="2822492"/>
                <a:ext cx="859043" cy="360040"/>
              </a:xfrm>
              <a:prstGeom prst="rightArrow">
                <a:avLst>
                  <a:gd name="adj1" fmla="val 50000"/>
                  <a:gd name="adj2" fmla="val 50000"/>
                </a:avLst>
              </a:prstGeom>
              <a:gradFill>
                <a:gsLst>
                  <a:gs pos="0">
                    <a:srgbClr val="193EB0">
                      <a:alpha val="0"/>
                    </a:srgbClr>
                  </a:gs>
                  <a:gs pos="100000">
                    <a:srgbClr val="193EB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Malgun Gothic"/>
                  <a:ea typeface="Malgun Gothic"/>
                  <a:cs typeface="Malgun Gothic"/>
                  <a:sym typeface="Malgun Gothic"/>
                </a:endParaRPr>
              </a:p>
            </p:txBody>
          </p:sp>
        </p:grpSp>
        <p:sp>
          <p:nvSpPr>
            <p:cNvPr id="1220" name="Google Shape;1220;p74"/>
            <p:cNvSpPr txBox="1"/>
            <p:nvPr/>
          </p:nvSpPr>
          <p:spPr>
            <a:xfrm>
              <a:off x="1271679" y="2745838"/>
              <a:ext cx="3365445" cy="1357553"/>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1401" b="1">
                  <a:solidFill>
                    <a:schemeClr val="tx1"/>
                  </a:solidFill>
                  <a:latin typeface="Arial"/>
                  <a:ea typeface="Arial"/>
                  <a:cs typeface="Arial"/>
                  <a:sym typeface="Arial"/>
                </a:rPr>
                <a:t>Nối dây truyền dữ liệu của nút bấm với Chân số 7</a:t>
              </a:r>
              <a:endParaRPr>
                <a:solidFill>
                  <a:schemeClr val="tx1"/>
                </a:solidFill>
              </a:endParaRPr>
            </a:p>
            <a:p>
              <a:pPr marL="0" marR="0" lvl="0" indent="0" algn="l" rtl="0">
                <a:spcBef>
                  <a:spcPts val="0"/>
                </a:spcBef>
                <a:spcAft>
                  <a:spcPts val="0"/>
                </a:spcAft>
                <a:buNone/>
              </a:pPr>
              <a:endParaRPr sz="1401" b="1">
                <a:solidFill>
                  <a:srgbClr val="FF0000"/>
                </a:solidFill>
                <a:latin typeface="Arial"/>
                <a:ea typeface="Arial"/>
                <a:cs typeface="Arial"/>
                <a:sym typeface="Arial"/>
              </a:endParaRPr>
            </a:p>
            <a:p>
              <a:pPr marL="0" marR="0" lvl="0" indent="0" algn="l" rtl="0">
                <a:spcBef>
                  <a:spcPts val="0"/>
                </a:spcBef>
                <a:spcAft>
                  <a:spcPts val="0"/>
                </a:spcAft>
                <a:buNone/>
              </a:pPr>
              <a:r>
                <a:rPr lang="en-US" sz="1401" b="1">
                  <a:solidFill>
                    <a:schemeClr val="tx1"/>
                  </a:solidFill>
                  <a:latin typeface="Arial"/>
                  <a:ea typeface="Arial"/>
                  <a:cs typeface="Arial"/>
                  <a:sym typeface="Arial"/>
                </a:rPr>
                <a:t>Nối dây truyền dữ liệu của đèn LED với Chân số 11</a:t>
              </a:r>
              <a:endParaRPr>
                <a:solidFill>
                  <a:schemeClr val="tx1"/>
                </a:solidFill>
              </a:endParaRPr>
            </a:p>
            <a:p>
              <a:pPr marL="0" marR="0" lvl="0" indent="0" algn="l" rtl="0">
                <a:spcBef>
                  <a:spcPts val="0"/>
                </a:spcBef>
                <a:spcAft>
                  <a:spcPts val="0"/>
                </a:spcAft>
                <a:buNone/>
              </a:pPr>
              <a:endParaRPr sz="1401" b="1">
                <a:solidFill>
                  <a:schemeClr val="tx1"/>
                </a:solidFill>
                <a:latin typeface="Arial"/>
                <a:ea typeface="Arial"/>
                <a:cs typeface="Arial"/>
                <a:sym typeface="Arial"/>
              </a:endParaRPr>
            </a:p>
            <a:p>
              <a:pPr marL="0" marR="0" lvl="0" indent="0" algn="l" rtl="0">
                <a:spcBef>
                  <a:spcPts val="0"/>
                </a:spcBef>
                <a:spcAft>
                  <a:spcPts val="0"/>
                </a:spcAft>
                <a:buNone/>
              </a:pPr>
              <a:r>
                <a:rPr lang="en-US" sz="1401" b="1">
                  <a:solidFill>
                    <a:schemeClr val="tx1"/>
                  </a:solidFill>
                  <a:latin typeface="Arial"/>
                  <a:ea typeface="Arial"/>
                  <a:cs typeface="Arial"/>
                  <a:sym typeface="Arial"/>
                </a:rPr>
                <a:t>Nối GND và cấp 3,3 V cho từng cảm biến</a:t>
              </a:r>
              <a:endParaRPr sz="1401" b="1">
                <a:solidFill>
                  <a:schemeClr val="tx1"/>
                </a:solidFill>
                <a:latin typeface="Arial"/>
                <a:ea typeface="Arial"/>
                <a:cs typeface="Arial"/>
                <a:sym typeface="Arial"/>
              </a:endParaRPr>
            </a:p>
          </p:txBody>
        </p:sp>
      </p:grpSp>
      <p:sp>
        <p:nvSpPr>
          <p:cNvPr id="1221" name="Google Shape;1221;p74"/>
          <p:cNvSpPr/>
          <p:nvPr/>
        </p:nvSpPr>
        <p:spPr>
          <a:xfrm>
            <a:off x="416186" y="613254"/>
            <a:ext cx="5824200" cy="769185"/>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2.2. </a:t>
            </a:r>
            <a:r>
              <a:rPr lang="en-US" sz="1799" dirty="0" err="1">
                <a:solidFill>
                  <a:schemeClr val="tx1"/>
                </a:solidFill>
              </a:rPr>
              <a:t>Đèn</a:t>
            </a:r>
            <a:r>
              <a:rPr lang="en-US" sz="1799" dirty="0">
                <a:solidFill>
                  <a:schemeClr val="tx1"/>
                </a:solidFill>
              </a:rPr>
              <a:t> LED </a:t>
            </a:r>
            <a:endParaRPr lang="en-US" sz="1800" dirty="0">
              <a:solidFill>
                <a:schemeClr val="tx1"/>
              </a:solidFill>
            </a:endParaRPr>
          </a:p>
          <a:p>
            <a:pPr marL="0" marR="0" lvl="0" indent="0" algn="l" rtl="0">
              <a:spcBef>
                <a:spcPts val="0"/>
              </a:spcBef>
              <a:spcAft>
                <a:spcPts val="0"/>
              </a:spcAft>
              <a:buNone/>
            </a:pPr>
            <a:endParaRPr dirty="0"/>
          </a:p>
          <a:p>
            <a:pPr marL="0" marR="0" lvl="0" indent="0" algn="l" rtl="0">
              <a:spcBef>
                <a:spcPts val="0"/>
              </a:spcBef>
              <a:spcAft>
                <a:spcPts val="0"/>
              </a:spcAft>
              <a:buNone/>
            </a:pPr>
            <a:r>
              <a:rPr lang="en-US" sz="1799" b="1" dirty="0">
                <a:solidFill>
                  <a:schemeClr val="lt1"/>
                </a:solidFill>
                <a:latin typeface="Arial"/>
                <a:ea typeface="Arial"/>
                <a:cs typeface="Arial"/>
                <a:sym typeface="Arial"/>
              </a:rPr>
              <a:t>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75"/>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228" name="Google Shape;1228;p75"/>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Đấu nối</a:t>
            </a:r>
            <a:endParaRPr sz="2401" b="1">
              <a:solidFill>
                <a:srgbClr val="0C0C0C"/>
              </a:solidFill>
              <a:latin typeface="Arial"/>
              <a:ea typeface="Arial"/>
              <a:cs typeface="Arial"/>
              <a:sym typeface="Arial"/>
            </a:endParaRPr>
          </a:p>
        </p:txBody>
      </p:sp>
      <p:pic>
        <p:nvPicPr>
          <p:cNvPr id="1229" name="Google Shape;1229;p75"/>
          <p:cNvPicPr preferRelativeResize="0"/>
          <p:nvPr/>
        </p:nvPicPr>
        <p:blipFill rotWithShape="1">
          <a:blip r:embed="rId3">
            <a:alphaModFix/>
          </a:blip>
          <a:srcRect/>
          <a:stretch/>
        </p:blipFill>
        <p:spPr>
          <a:xfrm>
            <a:off x="5202986" y="2234459"/>
            <a:ext cx="3998459" cy="4046443"/>
          </a:xfrm>
          <a:prstGeom prst="rect">
            <a:avLst/>
          </a:prstGeom>
          <a:noFill/>
          <a:ln w="9525" cap="flat" cmpd="sng">
            <a:solidFill>
              <a:srgbClr val="BFBFBF"/>
            </a:solidFill>
            <a:prstDash val="solid"/>
            <a:round/>
            <a:headEnd type="none" w="sm" len="sm"/>
            <a:tailEnd type="none" w="sm" len="sm"/>
          </a:ln>
        </p:spPr>
      </p:pic>
      <p:pic>
        <p:nvPicPr>
          <p:cNvPr id="1230" name="Google Shape;1230;p75"/>
          <p:cNvPicPr preferRelativeResize="0"/>
          <p:nvPr/>
        </p:nvPicPr>
        <p:blipFill rotWithShape="1">
          <a:blip r:embed="rId4">
            <a:alphaModFix/>
          </a:blip>
          <a:srcRect t="10867" b="7837"/>
          <a:stretch/>
        </p:blipFill>
        <p:spPr>
          <a:xfrm>
            <a:off x="688143" y="2004112"/>
            <a:ext cx="2580464" cy="2126784"/>
          </a:xfrm>
          <a:prstGeom prst="rect">
            <a:avLst/>
          </a:prstGeom>
          <a:noFill/>
          <a:ln>
            <a:noFill/>
          </a:ln>
        </p:spPr>
      </p:pic>
      <p:grpSp>
        <p:nvGrpSpPr>
          <p:cNvPr id="1231" name="Google Shape;1231;p75"/>
          <p:cNvGrpSpPr/>
          <p:nvPr/>
        </p:nvGrpSpPr>
        <p:grpSpPr>
          <a:xfrm>
            <a:off x="3467417" y="3228242"/>
            <a:ext cx="1504293" cy="233182"/>
            <a:chOff x="3297942" y="3111774"/>
            <a:chExt cx="1440160" cy="216024"/>
          </a:xfrm>
        </p:grpSpPr>
        <p:cxnSp>
          <p:nvCxnSpPr>
            <p:cNvPr id="1232" name="Google Shape;1232;p75"/>
            <p:cNvCxnSpPr/>
            <p:nvPr/>
          </p:nvCxnSpPr>
          <p:spPr>
            <a:xfrm rot="10800000">
              <a:off x="3297942" y="3327798"/>
              <a:ext cx="1440160" cy="0"/>
            </a:xfrm>
            <a:prstGeom prst="straightConnector1">
              <a:avLst/>
            </a:prstGeom>
            <a:noFill/>
            <a:ln w="76200" cap="flat" cmpd="sng">
              <a:solidFill>
                <a:srgbClr val="006600"/>
              </a:solidFill>
              <a:prstDash val="solid"/>
              <a:miter lim="800000"/>
              <a:headEnd type="none" w="sm" len="sm"/>
              <a:tailEnd type="none" w="sm" len="sm"/>
            </a:ln>
          </p:spPr>
        </p:cxnSp>
        <p:cxnSp>
          <p:nvCxnSpPr>
            <p:cNvPr id="1233" name="Google Shape;1233;p75"/>
            <p:cNvCxnSpPr/>
            <p:nvPr/>
          </p:nvCxnSpPr>
          <p:spPr>
            <a:xfrm rot="10800000">
              <a:off x="3297942" y="3111774"/>
              <a:ext cx="1440160" cy="0"/>
            </a:xfrm>
            <a:prstGeom prst="straightConnector1">
              <a:avLst/>
            </a:prstGeom>
            <a:noFill/>
            <a:ln w="76200" cap="flat" cmpd="sng">
              <a:solidFill>
                <a:schemeClr val="dk1"/>
              </a:solidFill>
              <a:prstDash val="solid"/>
              <a:miter lim="800000"/>
              <a:headEnd type="none" w="sm" len="sm"/>
              <a:tailEnd type="none" w="sm" len="sm"/>
            </a:ln>
          </p:spPr>
        </p:cxnSp>
      </p:grpSp>
      <p:sp>
        <p:nvSpPr>
          <p:cNvPr id="1234" name="Google Shape;1234;p75"/>
          <p:cNvSpPr txBox="1"/>
          <p:nvPr/>
        </p:nvSpPr>
        <p:spPr>
          <a:xfrm>
            <a:off x="703263" y="4261533"/>
            <a:ext cx="4505552" cy="847746"/>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Nối dây màu xanh lục từ cảm biến với Chân số 11.</a:t>
            </a:r>
            <a:endParaRPr/>
          </a:p>
          <a:p>
            <a:pPr marL="182548" marR="0" lvl="0" indent="-182548" algn="l" rtl="0">
              <a:spcBef>
                <a:spcPts val="400"/>
              </a:spcBef>
              <a:spcAft>
                <a:spcPts val="0"/>
              </a:spcAft>
              <a:buClr>
                <a:srgbClr val="193EB0"/>
              </a:buClr>
              <a:buSzPts val="1299"/>
              <a:buFont typeface="Arial"/>
              <a:buChar char="‣"/>
            </a:pPr>
            <a:r>
              <a:rPr lang="en-US" sz="1299">
                <a:solidFill>
                  <a:srgbClr val="262626"/>
                </a:solidFill>
                <a:latin typeface="Arial"/>
                <a:ea typeface="Arial"/>
                <a:cs typeface="Arial"/>
                <a:sym typeface="Arial"/>
              </a:rPr>
              <a:t>Nối dây màu đen với Chân số 9</a:t>
            </a:r>
            <a:endParaRPr/>
          </a:p>
          <a:p>
            <a:pPr marL="182548" marR="0" lvl="0" indent="-182548" algn="l" rtl="0">
              <a:spcBef>
                <a:spcPts val="400"/>
              </a:spcBef>
              <a:spcAft>
                <a:spcPts val="0"/>
              </a:spcAft>
              <a:buClr>
                <a:srgbClr val="193EB0"/>
              </a:buClr>
              <a:buSzPts val="1299"/>
              <a:buFont typeface="Arial"/>
              <a:buChar char="‣"/>
            </a:pPr>
            <a:r>
              <a:rPr lang="en-US" sz="1299">
                <a:solidFill>
                  <a:srgbClr val="262626"/>
                </a:solidFill>
                <a:latin typeface="Arial"/>
                <a:ea typeface="Arial"/>
                <a:cs typeface="Arial"/>
                <a:sym typeface="Arial"/>
              </a:rPr>
              <a:t>Không cần nối dây màu đỏ.</a:t>
            </a:r>
            <a:endParaRPr/>
          </a:p>
        </p:txBody>
      </p:sp>
      <p:sp>
        <p:nvSpPr>
          <p:cNvPr id="1235" name="Google Shape;1235;p75"/>
          <p:cNvSpPr/>
          <p:nvPr/>
        </p:nvSpPr>
        <p:spPr>
          <a:xfrm>
            <a:off x="416136" y="444879"/>
            <a:ext cx="5824317" cy="55374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2.2. Đèn LED </a:t>
            </a:r>
            <a:endParaRPr/>
          </a:p>
          <a:p>
            <a:pPr marL="0" marR="0" lvl="0" indent="0" algn="l" rtl="0">
              <a:spcBef>
                <a:spcPts val="0"/>
              </a:spcBef>
              <a:spcAft>
                <a:spcPts val="0"/>
              </a:spcAft>
              <a:buNone/>
            </a:pPr>
            <a:r>
              <a:rPr lang="en-US" sz="1799" b="1">
                <a:solidFill>
                  <a:schemeClr val="lt1"/>
                </a:solidFill>
                <a:latin typeface="Arial"/>
                <a:ea typeface="Arial"/>
                <a:cs typeface="Arial"/>
                <a:sym typeface="Aria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76"/>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242" name="Google Shape;1242;p76"/>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Nối Nút bấm</a:t>
            </a:r>
            <a:endParaRPr sz="2401" b="1">
              <a:solidFill>
                <a:srgbClr val="0C0C0C"/>
              </a:solidFill>
              <a:latin typeface="Arial"/>
              <a:ea typeface="Arial"/>
              <a:cs typeface="Arial"/>
              <a:sym typeface="Arial"/>
            </a:endParaRPr>
          </a:p>
        </p:txBody>
      </p:sp>
      <p:pic>
        <p:nvPicPr>
          <p:cNvPr id="1243" name="Google Shape;1243;p76"/>
          <p:cNvPicPr preferRelativeResize="0"/>
          <p:nvPr/>
        </p:nvPicPr>
        <p:blipFill rotWithShape="1">
          <a:blip r:embed="rId3">
            <a:alphaModFix/>
          </a:blip>
          <a:srcRect/>
          <a:stretch/>
        </p:blipFill>
        <p:spPr>
          <a:xfrm>
            <a:off x="5202986" y="2234459"/>
            <a:ext cx="3998459" cy="4046443"/>
          </a:xfrm>
          <a:prstGeom prst="rect">
            <a:avLst/>
          </a:prstGeom>
          <a:noFill/>
          <a:ln w="9525" cap="flat" cmpd="sng">
            <a:solidFill>
              <a:srgbClr val="BFBFBF"/>
            </a:solidFill>
            <a:prstDash val="solid"/>
            <a:round/>
            <a:headEnd type="none" w="sm" len="sm"/>
            <a:tailEnd type="none" w="sm" len="sm"/>
          </a:ln>
        </p:spPr>
      </p:pic>
      <p:pic>
        <p:nvPicPr>
          <p:cNvPr id="1244" name="Google Shape;1244;p76"/>
          <p:cNvPicPr preferRelativeResize="0"/>
          <p:nvPr/>
        </p:nvPicPr>
        <p:blipFill rotWithShape="1">
          <a:blip r:embed="rId4">
            <a:alphaModFix/>
          </a:blip>
          <a:srcRect t="10867" b="7837"/>
          <a:stretch/>
        </p:blipFill>
        <p:spPr>
          <a:xfrm>
            <a:off x="688143" y="2004112"/>
            <a:ext cx="2580464" cy="2126784"/>
          </a:xfrm>
          <a:prstGeom prst="rect">
            <a:avLst/>
          </a:prstGeom>
          <a:noFill/>
          <a:ln>
            <a:noFill/>
          </a:ln>
        </p:spPr>
      </p:pic>
      <p:sp>
        <p:nvSpPr>
          <p:cNvPr id="1245" name="Google Shape;1245;p76"/>
          <p:cNvSpPr txBox="1"/>
          <p:nvPr/>
        </p:nvSpPr>
        <p:spPr>
          <a:xfrm>
            <a:off x="703263" y="4261533"/>
            <a:ext cx="4505552" cy="847746"/>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Nối dây màu xanh lục từ cảm biến với Chân số 7</a:t>
            </a:r>
            <a:endParaRPr/>
          </a:p>
          <a:p>
            <a:pPr marL="182548" marR="0" lvl="0" indent="-182548" algn="l" rtl="0">
              <a:spcBef>
                <a:spcPts val="400"/>
              </a:spcBef>
              <a:spcAft>
                <a:spcPts val="0"/>
              </a:spcAft>
              <a:buClr>
                <a:srgbClr val="193EB0"/>
              </a:buClr>
              <a:buSzPts val="1299"/>
              <a:buFont typeface="Arial"/>
              <a:buChar char="‣"/>
            </a:pPr>
            <a:r>
              <a:rPr lang="en-US" sz="1299">
                <a:solidFill>
                  <a:srgbClr val="262626"/>
                </a:solidFill>
                <a:latin typeface="Arial"/>
                <a:ea typeface="Arial"/>
                <a:cs typeface="Arial"/>
                <a:sym typeface="Arial"/>
              </a:rPr>
              <a:t>Nối dây màu đen với Chân số 6</a:t>
            </a:r>
            <a:endParaRPr/>
          </a:p>
          <a:p>
            <a:pPr marL="182548" marR="0" lvl="0" indent="-182548" algn="l" rtl="0">
              <a:spcBef>
                <a:spcPts val="400"/>
              </a:spcBef>
              <a:spcAft>
                <a:spcPts val="0"/>
              </a:spcAft>
              <a:buClr>
                <a:srgbClr val="193EB0"/>
              </a:buClr>
              <a:buSzPts val="1299"/>
              <a:buFont typeface="Arial"/>
              <a:buChar char="‣"/>
            </a:pPr>
            <a:r>
              <a:rPr lang="en-US" sz="1299">
                <a:solidFill>
                  <a:srgbClr val="262626"/>
                </a:solidFill>
                <a:latin typeface="Arial"/>
                <a:ea typeface="Arial"/>
                <a:cs typeface="Arial"/>
                <a:sym typeface="Arial"/>
              </a:rPr>
              <a:t>Nối dây màu đỏ với Chân số 1</a:t>
            </a:r>
            <a:endParaRPr/>
          </a:p>
        </p:txBody>
      </p:sp>
      <p:cxnSp>
        <p:nvCxnSpPr>
          <p:cNvPr id="1246" name="Google Shape;1246;p76"/>
          <p:cNvCxnSpPr/>
          <p:nvPr/>
        </p:nvCxnSpPr>
        <p:spPr>
          <a:xfrm rot="10800000">
            <a:off x="6860992" y="2050115"/>
            <a:ext cx="736724" cy="834532"/>
          </a:xfrm>
          <a:prstGeom prst="straightConnector1">
            <a:avLst/>
          </a:prstGeom>
          <a:noFill/>
          <a:ln w="76200" cap="flat" cmpd="sng">
            <a:solidFill>
              <a:schemeClr val="dk1"/>
            </a:solidFill>
            <a:prstDash val="solid"/>
            <a:miter lim="800000"/>
            <a:headEnd type="none" w="sm" len="sm"/>
            <a:tailEnd type="none" w="sm" len="sm"/>
          </a:ln>
        </p:spPr>
      </p:cxnSp>
      <p:cxnSp>
        <p:nvCxnSpPr>
          <p:cNvPr id="1247" name="Google Shape;1247;p76"/>
          <p:cNvCxnSpPr/>
          <p:nvPr/>
        </p:nvCxnSpPr>
        <p:spPr>
          <a:xfrm rot="10800000">
            <a:off x="3458397" y="2050111"/>
            <a:ext cx="3426387" cy="0"/>
          </a:xfrm>
          <a:prstGeom prst="straightConnector1">
            <a:avLst/>
          </a:prstGeom>
          <a:noFill/>
          <a:ln w="76200" cap="flat" cmpd="sng">
            <a:solidFill>
              <a:schemeClr val="dk1"/>
            </a:solidFill>
            <a:prstDash val="solid"/>
            <a:miter lim="800000"/>
            <a:headEnd type="none" w="sm" len="sm"/>
            <a:tailEnd type="none" w="sm" len="sm"/>
          </a:ln>
        </p:spPr>
      </p:cxnSp>
      <p:cxnSp>
        <p:nvCxnSpPr>
          <p:cNvPr id="1248" name="Google Shape;1248;p76"/>
          <p:cNvCxnSpPr/>
          <p:nvPr/>
        </p:nvCxnSpPr>
        <p:spPr>
          <a:xfrm rot="10800000">
            <a:off x="3477610" y="3021765"/>
            <a:ext cx="1504293" cy="0"/>
          </a:xfrm>
          <a:prstGeom prst="straightConnector1">
            <a:avLst/>
          </a:prstGeom>
          <a:noFill/>
          <a:ln w="76200" cap="flat" cmpd="sng">
            <a:solidFill>
              <a:srgbClr val="006600"/>
            </a:solidFill>
            <a:prstDash val="solid"/>
            <a:miter lim="800000"/>
            <a:headEnd type="none" w="sm" len="sm"/>
            <a:tailEnd type="none" w="sm" len="sm"/>
          </a:ln>
        </p:spPr>
      </p:cxnSp>
      <p:cxnSp>
        <p:nvCxnSpPr>
          <p:cNvPr id="1249" name="Google Shape;1249;p76"/>
          <p:cNvCxnSpPr/>
          <p:nvPr/>
        </p:nvCxnSpPr>
        <p:spPr>
          <a:xfrm rot="10800000">
            <a:off x="3477610" y="2467376"/>
            <a:ext cx="1504293" cy="0"/>
          </a:xfrm>
          <a:prstGeom prst="straightConnector1">
            <a:avLst/>
          </a:prstGeom>
          <a:noFill/>
          <a:ln w="76200" cap="flat" cmpd="sng">
            <a:solidFill>
              <a:srgbClr val="FF0000"/>
            </a:solidFill>
            <a:prstDash val="solid"/>
            <a:miter lim="800000"/>
            <a:headEnd type="none" w="sm" len="sm"/>
            <a:tailEnd type="none" w="sm" len="sm"/>
          </a:ln>
        </p:spPr>
      </p:cxnSp>
      <p:sp>
        <p:nvSpPr>
          <p:cNvPr id="1250" name="Google Shape;1250;p76"/>
          <p:cNvSpPr/>
          <p:nvPr/>
        </p:nvSpPr>
        <p:spPr>
          <a:xfrm>
            <a:off x="416136" y="444879"/>
            <a:ext cx="5824317" cy="769185"/>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2.2. </a:t>
            </a:r>
            <a:r>
              <a:rPr lang="en-US" sz="1799" dirty="0" err="1">
                <a:solidFill>
                  <a:schemeClr val="tx1"/>
                </a:solidFill>
              </a:rPr>
              <a:t>Đèn</a:t>
            </a:r>
            <a:r>
              <a:rPr lang="en-US" sz="1799" dirty="0">
                <a:solidFill>
                  <a:schemeClr val="tx1"/>
                </a:solidFill>
              </a:rPr>
              <a:t> LED </a:t>
            </a:r>
            <a:endParaRPr lang="en-US" sz="1800" dirty="0">
              <a:solidFill>
                <a:schemeClr val="tx1"/>
              </a:solidFill>
            </a:endParaRPr>
          </a:p>
          <a:p>
            <a:pPr marL="0" marR="0" lvl="0" indent="0" algn="l" rtl="0">
              <a:spcBef>
                <a:spcPts val="0"/>
              </a:spcBef>
              <a:spcAft>
                <a:spcPts val="0"/>
              </a:spcAft>
              <a:buNone/>
            </a:pPr>
            <a:endParaRPr dirty="0"/>
          </a:p>
          <a:p>
            <a:pPr marL="0" marR="0" lvl="0" indent="0" algn="l" rtl="0">
              <a:spcBef>
                <a:spcPts val="0"/>
              </a:spcBef>
              <a:spcAft>
                <a:spcPts val="0"/>
              </a:spcAft>
              <a:buNone/>
            </a:pPr>
            <a:r>
              <a:rPr lang="en-US" sz="1799" b="1" dirty="0">
                <a:solidFill>
                  <a:schemeClr val="lt1"/>
                </a:solidFill>
                <a:latin typeface="Arial"/>
                <a:ea typeface="Arial"/>
                <a:cs typeface="Arial"/>
                <a:sym typeface="Arial"/>
              </a:rPr>
              <a:t>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03DC87CE-9D05-A71E-BB2C-1A13CA190308}"/>
            </a:ext>
          </a:extLst>
        </p:cNvPr>
        <p:cNvGrpSpPr/>
        <p:nvPr/>
      </p:nvGrpSpPr>
      <p:grpSpPr>
        <a:xfrm>
          <a:off x="0" y="0"/>
          <a:ext cx="0" cy="0"/>
          <a:chOff x="0" y="0"/>
          <a:chExt cx="0" cy="0"/>
        </a:xfrm>
      </p:grpSpPr>
      <p:sp>
        <p:nvSpPr>
          <p:cNvPr id="1027" name="Google Shape;1027;p61">
            <a:extLst>
              <a:ext uri="{FF2B5EF4-FFF2-40B4-BE49-F238E27FC236}">
                <a16:creationId xmlns:a16="http://schemas.microsoft.com/office/drawing/2014/main" id="{9C961C0B-9703-FDC9-3A46-017440E579D2}"/>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a:extLst>
              <a:ext uri="{FF2B5EF4-FFF2-40B4-BE49-F238E27FC236}">
                <a16:creationId xmlns:a16="http://schemas.microsoft.com/office/drawing/2014/main" id="{994E2911-D98D-6D66-59ED-4393010F79FE}"/>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a:extLst>
              <a:ext uri="{FF2B5EF4-FFF2-40B4-BE49-F238E27FC236}">
                <a16:creationId xmlns:a16="http://schemas.microsoft.com/office/drawing/2014/main" id="{F57ED242-741A-D551-9058-098AE31BCB82}"/>
              </a:ext>
            </a:extLst>
          </p:cNvPr>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1</a:t>
            </a:r>
            <a:r>
              <a:rPr lang="en-US" sz="1799" dirty="0">
                <a:solidFill>
                  <a:schemeClr val="bg1">
                    <a:lumMod val="65000"/>
                  </a:schemeClr>
                </a:solidFill>
                <a:latin typeface="Arial"/>
                <a:ea typeface="Arial"/>
                <a:cs typeface="Arial"/>
                <a:sym typeface="Arial"/>
              </a:rPr>
              <a:t>.1. </a:t>
            </a:r>
            <a:r>
              <a:rPr lang="en-US" sz="1799" dirty="0" err="1">
                <a:solidFill>
                  <a:schemeClr val="bg1">
                    <a:lumMod val="65000"/>
                  </a:schemeClr>
                </a:solidFill>
                <a:latin typeface="Arial"/>
                <a:ea typeface="Arial"/>
                <a:cs typeface="Arial"/>
                <a:sym typeface="Arial"/>
              </a:rPr>
              <a:t>Đầu</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vào</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số</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mạch</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điện</a:t>
            </a:r>
            <a:r>
              <a:rPr lang="en-US" sz="1799" dirty="0">
                <a:solidFill>
                  <a:schemeClr val="bg1">
                    <a:lumMod val="65000"/>
                  </a:schemeClr>
                </a:solidFill>
                <a:latin typeface="Arial"/>
                <a:ea typeface="Arial"/>
                <a:cs typeface="Arial"/>
                <a:sym typeface="Arial"/>
              </a:rPr>
              <a:t>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bg1">
                    <a:lumMod val="65000"/>
                  </a:schemeClr>
                </a:solidFill>
                <a:latin typeface="Arial"/>
                <a:ea typeface="Arial"/>
                <a:cs typeface="Arial"/>
                <a:sym typeface="Arial"/>
              </a:rPr>
              <a:t>1.2. </a:t>
            </a:r>
            <a:r>
              <a:rPr lang="en-US" sz="1799" dirty="0" err="1">
                <a:solidFill>
                  <a:schemeClr val="bg1">
                    <a:lumMod val="65000"/>
                  </a:schemeClr>
                </a:solidFill>
                <a:latin typeface="Arial"/>
                <a:ea typeface="Arial"/>
                <a:cs typeface="Arial"/>
                <a:sym typeface="Arial"/>
              </a:rPr>
              <a:t>Đèn</a:t>
            </a:r>
            <a:r>
              <a:rPr lang="en-US" sz="1799" dirty="0">
                <a:solidFill>
                  <a:schemeClr val="bg1">
                    <a:lumMod val="65000"/>
                  </a:schemeClr>
                </a:solidFill>
                <a:latin typeface="Arial"/>
                <a:ea typeface="Arial"/>
                <a:cs typeface="Arial"/>
                <a:sym typeface="Arial"/>
              </a:rPr>
              <a:t> LED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1.3. </a:t>
            </a:r>
            <a:r>
              <a:rPr lang="en-US" sz="1799" dirty="0" err="1">
                <a:solidFill>
                  <a:schemeClr val="tx1"/>
                </a:solidFill>
                <a:latin typeface="Arial"/>
                <a:ea typeface="Arial"/>
                <a:cs typeface="Arial"/>
                <a:sym typeface="Arial"/>
              </a:rPr>
              <a:t>Cảm</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biến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siêu</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âm</a:t>
            </a:r>
            <a:endParaRPr sz="1799" dirty="0">
              <a:solidFill>
                <a:schemeClr val="tx1"/>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1.4. </a:t>
            </a:r>
            <a:r>
              <a:rPr lang="en-US" sz="1799" dirty="0" err="1">
                <a:solidFill>
                  <a:srgbClr val="A6A6A6"/>
                </a:solidFill>
                <a:latin typeface="Arial"/>
                <a:ea typeface="Arial"/>
                <a:cs typeface="Arial"/>
                <a:sym typeface="Arial"/>
              </a:rPr>
              <a:t>Màn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hình</a:t>
            </a:r>
            <a:r>
              <a:rPr lang="en-US" sz="1799" dirty="0">
                <a:solidFill>
                  <a:srgbClr val="A6A6A6"/>
                </a:solidFill>
                <a:latin typeface="Arial"/>
                <a:ea typeface="Arial"/>
                <a:cs typeface="Arial"/>
                <a:sym typeface="Arial"/>
              </a:rPr>
              <a:t> 7 </a:t>
            </a:r>
            <a:r>
              <a:rPr lang="en-US" sz="1799" dirty="0" err="1">
                <a:solidFill>
                  <a:srgbClr val="A6A6A6"/>
                </a:solidFill>
                <a:latin typeface="Arial"/>
                <a:ea typeface="Arial"/>
                <a:cs typeface="Arial"/>
                <a:sym typeface="Arial"/>
              </a:rPr>
              <a:t>đoạn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4 </a:t>
            </a:r>
            <a:r>
              <a:rPr lang="en-US" sz="1799" dirty="0" err="1">
                <a:solidFill>
                  <a:srgbClr val="A6A6A6"/>
                </a:solidFill>
                <a:latin typeface="Arial"/>
                <a:ea typeface="Arial"/>
                <a:cs typeface="Arial"/>
                <a:sym typeface="Arial"/>
              </a:rPr>
              <a:t>số</a:t>
            </a:r>
            <a:r>
              <a:rPr lang="en-US" sz="1799" dirty="0">
                <a:solidFill>
                  <a:srgbClr val="A6A6A6"/>
                </a:solidFill>
                <a:latin typeface="Arial"/>
                <a:ea typeface="Arial"/>
                <a:cs typeface="Arial"/>
                <a:sym typeface="Arial"/>
              </a:rPr>
              <a:t>)</a:t>
            </a:r>
            <a:endParaRPr dirty="0"/>
          </a:p>
        </p:txBody>
      </p:sp>
      <p:sp>
        <p:nvSpPr>
          <p:cNvPr id="1030" name="Google Shape;1030;p61">
            <a:extLst>
              <a:ext uri="{FF2B5EF4-FFF2-40B4-BE49-F238E27FC236}">
                <a16:creationId xmlns:a16="http://schemas.microsoft.com/office/drawing/2014/main" id="{9953932D-77B6-20AD-2077-42818DDDDDB9}"/>
              </a:ext>
            </a:extLst>
          </p:cNvPr>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1.5.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nhiệt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độ-độ</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ẩm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1.6. </a:t>
            </a:r>
            <a:r>
              <a:rPr lang="en-US" sz="1799" dirty="0" err="1">
                <a:solidFill>
                  <a:srgbClr val="A6A6A6"/>
                </a:solidFill>
                <a:latin typeface="Arial"/>
                <a:ea typeface="Arial"/>
                <a:cs typeface="Arial"/>
                <a:sym typeface="Arial"/>
              </a:rPr>
              <a:t>Lập</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trình</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điều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khiển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chính</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1.7. </a:t>
            </a:r>
            <a:r>
              <a:rPr lang="en-US" sz="1799" dirty="0" err="1">
                <a:solidFill>
                  <a:srgbClr val="A6A6A6"/>
                </a:solidFill>
                <a:latin typeface="Arial"/>
                <a:ea typeface="Arial"/>
                <a:cs typeface="Arial"/>
                <a:sym typeface="Arial"/>
              </a:rPr>
              <a:t>Chuẩn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giao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tiếp</a:t>
            </a:r>
            <a:r>
              <a:rPr lang="en-US" sz="1799" dirty="0">
                <a:solidFill>
                  <a:srgbClr val="A6A6A6"/>
                </a:solidFill>
                <a:latin typeface="Arial"/>
                <a:ea typeface="Arial"/>
                <a:cs typeface="Arial"/>
                <a:sym typeface="Arial"/>
              </a:rPr>
              <a:t> UART</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1.8. </a:t>
            </a:r>
            <a:r>
              <a:rPr lang="en-US" sz="1799" dirty="0" err="1">
                <a:solidFill>
                  <a:srgbClr val="A6A6A6"/>
                </a:solidFill>
                <a:latin typeface="Arial"/>
                <a:ea typeface="Arial"/>
                <a:cs typeface="Arial"/>
                <a:sym typeface="Arial"/>
              </a:rPr>
              <a:t>Chế</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tạo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thiết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bị</a:t>
            </a: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2879675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sp>
        <p:nvSpPr>
          <p:cNvPr id="1265" name="Google Shape;1265;p78"/>
          <p:cNvSpPr/>
          <p:nvPr/>
        </p:nvSpPr>
        <p:spPr>
          <a:xfrm>
            <a:off x="416136" y="444879"/>
            <a:ext cx="5824317" cy="276871"/>
          </a:xfrm>
          <a:prstGeom prst="rect">
            <a:avLst/>
          </a:prstGeom>
          <a:noFill/>
          <a:ln>
            <a:noFill/>
          </a:ln>
        </p:spPr>
        <p:txBody>
          <a:bodyPr spcFirstLastPara="1" wrap="square" lIns="0" tIns="0" rIns="0" bIns="0" anchor="t" anchorCtr="0">
            <a:spAutoFit/>
          </a:bodyPr>
          <a:lstStyle/>
          <a:p>
            <a:pPr lvl="0"/>
            <a:r>
              <a:rPr lang="en-US" sz="1799" b="1" dirty="0" err="1">
                <a:solidFill>
                  <a:schemeClr val="tx1"/>
                </a:solidFill>
              </a:rPr>
              <a:t>Cảm</a:t>
            </a:r>
            <a:r>
              <a:rPr lang="en-US" sz="1799" b="1" dirty="0">
                <a:solidFill>
                  <a:schemeClr val="tx1"/>
                </a:solidFill>
              </a:rPr>
              <a:t> </a:t>
            </a:r>
            <a:r>
              <a:rPr lang="en-US" sz="1799" b="1" dirty="0" err="1">
                <a:solidFill>
                  <a:schemeClr val="tx1"/>
                </a:solidFill>
              </a:rPr>
              <a:t>biến</a:t>
            </a:r>
            <a:r>
              <a:rPr lang="en-US" sz="1799" b="1" dirty="0">
                <a:solidFill>
                  <a:schemeClr val="tx1"/>
                </a:solidFill>
              </a:rPr>
              <a:t> </a:t>
            </a:r>
            <a:r>
              <a:rPr lang="en-US" sz="1799" b="1" dirty="0" err="1">
                <a:solidFill>
                  <a:schemeClr val="tx1"/>
                </a:solidFill>
              </a:rPr>
              <a:t>siêu</a:t>
            </a:r>
            <a:r>
              <a:rPr lang="en-US" sz="1799" b="1" dirty="0">
                <a:solidFill>
                  <a:schemeClr val="tx1"/>
                </a:solidFill>
              </a:rPr>
              <a:t> </a:t>
            </a:r>
            <a:r>
              <a:rPr lang="en-US" sz="1799" b="1" dirty="0" err="1">
                <a:solidFill>
                  <a:schemeClr val="tx1"/>
                </a:solidFill>
              </a:rPr>
              <a:t>âm</a:t>
            </a:r>
            <a:endParaRPr sz="1799" b="1" dirty="0">
              <a:solidFill>
                <a:schemeClr val="tx1"/>
              </a:solidFill>
              <a:latin typeface="Arial"/>
              <a:ea typeface="Arial"/>
              <a:cs typeface="Arial"/>
              <a:sym typeface="Arial"/>
            </a:endParaRPr>
          </a:p>
        </p:txBody>
      </p:sp>
      <p:sp>
        <p:nvSpPr>
          <p:cNvPr id="1266" name="Google Shape;1266;p78"/>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267" name="Google Shape;1267;p78"/>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Cơ chế</a:t>
            </a:r>
            <a:endParaRPr/>
          </a:p>
        </p:txBody>
      </p:sp>
      <p:sp>
        <p:nvSpPr>
          <p:cNvPr id="1268" name="Google Shape;1268;p78"/>
          <p:cNvSpPr/>
          <p:nvPr/>
        </p:nvSpPr>
        <p:spPr>
          <a:xfrm>
            <a:off x="580400" y="1944543"/>
            <a:ext cx="8619172" cy="559384"/>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Sử dụng cảm biến siêu âm để kiểm tra xem có vật nào xuất hiện trong một khoảng cách nhất định không.</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Đo khoảng cách giữa bạn với các đối tượng.</a:t>
            </a:r>
            <a:endParaRPr/>
          </a:p>
        </p:txBody>
      </p:sp>
      <p:sp>
        <p:nvSpPr>
          <p:cNvPr id="1269" name="Google Shape;1269;p78"/>
          <p:cNvSpPr/>
          <p:nvPr/>
        </p:nvSpPr>
        <p:spPr>
          <a:xfrm>
            <a:off x="775331" y="2659196"/>
            <a:ext cx="2943241" cy="1504079"/>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dirty="0" err="1">
                <a:solidFill>
                  <a:schemeClr val="dk1"/>
                </a:solidFill>
                <a:latin typeface="Arial"/>
                <a:ea typeface="Arial"/>
                <a:cs typeface="Arial"/>
                <a:sym typeface="Arial"/>
              </a:rPr>
              <a:t>Cảm</a:t>
            </a:r>
            <a:r>
              <a:rPr lang="en-US" sz="1299" dirty="0">
                <a:solidFill>
                  <a:schemeClr val="dk1"/>
                </a:solidFill>
                <a:latin typeface="Arial"/>
                <a:ea typeface="Arial"/>
                <a:cs typeface="Arial"/>
                <a:sym typeface="Arial"/>
              </a:rPr>
              <a:t> </a:t>
            </a:r>
            <a:r>
              <a:rPr lang="en-US" sz="1299" dirty="0" err="1">
                <a:solidFill>
                  <a:schemeClr val="dk1"/>
                </a:solidFill>
                <a:latin typeface="Arial"/>
                <a:ea typeface="Arial"/>
                <a:cs typeface="Arial"/>
                <a:sym typeface="Arial"/>
              </a:rPr>
              <a:t>biến</a:t>
            </a:r>
            <a:r>
              <a:rPr lang="en-US" sz="1299" dirty="0">
                <a:solidFill>
                  <a:schemeClr val="dk1"/>
                </a:solidFill>
                <a:latin typeface="Arial"/>
                <a:ea typeface="Arial"/>
                <a:cs typeface="Arial"/>
                <a:sym typeface="Arial"/>
              </a:rPr>
              <a:t> </a:t>
            </a:r>
            <a:r>
              <a:rPr lang="en-US" sz="1299" dirty="0" err="1">
                <a:solidFill>
                  <a:schemeClr val="dk1"/>
                </a:solidFill>
                <a:latin typeface="Arial"/>
                <a:ea typeface="Arial"/>
                <a:cs typeface="Arial"/>
                <a:sym typeface="Arial"/>
              </a:rPr>
              <a:t>siêu</a:t>
            </a:r>
            <a:r>
              <a:rPr lang="en-US" sz="1299" dirty="0">
                <a:solidFill>
                  <a:schemeClr val="dk1"/>
                </a:solidFill>
                <a:latin typeface="Arial"/>
                <a:ea typeface="Arial"/>
                <a:cs typeface="Arial"/>
                <a:sym typeface="Arial"/>
              </a:rPr>
              <a:t> </a:t>
            </a:r>
            <a:r>
              <a:rPr lang="en-US" sz="1299" dirty="0" err="1">
                <a:solidFill>
                  <a:schemeClr val="dk1"/>
                </a:solidFill>
                <a:latin typeface="Arial"/>
                <a:ea typeface="Arial"/>
                <a:cs typeface="Arial"/>
                <a:sym typeface="Arial"/>
              </a:rPr>
              <a:t>âm</a:t>
            </a:r>
            <a:r>
              <a:rPr lang="en-US" sz="1299" dirty="0">
                <a:solidFill>
                  <a:schemeClr val="dk1"/>
                </a:solidFill>
                <a:latin typeface="Arial"/>
                <a:ea typeface="Arial"/>
                <a:cs typeface="Arial"/>
                <a:sym typeface="Arial"/>
              </a:rPr>
              <a:t> (HC-SR04)</a:t>
            </a:r>
            <a:endParaRPr dirty="0"/>
          </a:p>
          <a:p>
            <a:pPr marL="355571" marR="0" lvl="1" indent="-179374" algn="l" rtl="0">
              <a:spcBef>
                <a:spcPts val="400"/>
              </a:spcBef>
              <a:spcAft>
                <a:spcPts val="0"/>
              </a:spcAft>
              <a:buClr>
                <a:srgbClr val="193EB0"/>
              </a:buClr>
              <a:buSzPts val="1299"/>
              <a:buFont typeface="Arial"/>
              <a:buChar char="•"/>
            </a:pPr>
            <a:r>
              <a:rPr lang="en-US" sz="1299" b="0" i="0" u="none" strike="noStrike" cap="none" dirty="0">
                <a:solidFill>
                  <a:schemeClr val="dk1"/>
                </a:solidFill>
                <a:latin typeface="Arial"/>
                <a:ea typeface="Arial"/>
                <a:cs typeface="Arial"/>
                <a:sym typeface="Arial"/>
              </a:rPr>
              <a:t>VCC: 5 V                </a:t>
            </a:r>
            <a:endParaRPr dirty="0"/>
          </a:p>
          <a:p>
            <a:pPr marL="355571" marR="0" lvl="1" indent="-179374" algn="l" rtl="0">
              <a:spcBef>
                <a:spcPts val="802"/>
              </a:spcBef>
              <a:spcAft>
                <a:spcPts val="0"/>
              </a:spcAft>
              <a:buClr>
                <a:srgbClr val="193EB0"/>
              </a:buClr>
              <a:buSzPts val="1299"/>
              <a:buFont typeface="Arial"/>
              <a:buChar char="•"/>
            </a:pPr>
            <a:r>
              <a:rPr lang="en-US" sz="1299" b="0" i="0" u="none" strike="noStrike" cap="none" dirty="0">
                <a:solidFill>
                  <a:schemeClr val="dk1"/>
                </a:solidFill>
                <a:latin typeface="Arial"/>
                <a:ea typeface="Arial"/>
                <a:cs typeface="Arial"/>
                <a:sym typeface="Arial"/>
              </a:rPr>
              <a:t>GND: </a:t>
            </a:r>
            <a:r>
              <a:rPr lang="en-US" sz="1299" b="0" i="0" u="none" strike="noStrike" cap="none" dirty="0" err="1">
                <a:solidFill>
                  <a:schemeClr val="dk1"/>
                </a:solidFill>
                <a:latin typeface="Arial"/>
                <a:ea typeface="Arial"/>
                <a:cs typeface="Arial"/>
                <a:sym typeface="Arial"/>
              </a:rPr>
              <a:t>Mặt</a:t>
            </a:r>
            <a:r>
              <a:rPr lang="en-US" sz="1299" b="0" i="0" u="none" strike="noStrike" cap="none" dirty="0">
                <a:solidFill>
                  <a:schemeClr val="dk1"/>
                </a:solidFill>
                <a:latin typeface="Arial"/>
                <a:ea typeface="Arial"/>
                <a:cs typeface="Arial"/>
                <a:sym typeface="Arial"/>
              </a:rPr>
              <a:t> </a:t>
            </a:r>
            <a:r>
              <a:rPr lang="en-US" sz="1299" b="0" i="0" u="none" strike="noStrike" cap="none" dirty="0" err="1">
                <a:solidFill>
                  <a:schemeClr val="dk1"/>
                </a:solidFill>
                <a:latin typeface="Arial"/>
                <a:ea typeface="Arial"/>
                <a:cs typeface="Arial"/>
                <a:sym typeface="Arial"/>
              </a:rPr>
              <a:t>đất</a:t>
            </a:r>
            <a:endParaRPr sz="1299" b="0" i="0" u="none" strike="noStrike" cap="none" dirty="0">
              <a:solidFill>
                <a:schemeClr val="dk1"/>
              </a:solidFill>
              <a:latin typeface="Arial"/>
              <a:ea typeface="Arial"/>
              <a:cs typeface="Arial"/>
              <a:sym typeface="Arial"/>
            </a:endParaRPr>
          </a:p>
          <a:p>
            <a:pPr marL="355571" marR="0" lvl="1" indent="-179374" algn="l" rtl="0">
              <a:spcBef>
                <a:spcPts val="802"/>
              </a:spcBef>
              <a:spcAft>
                <a:spcPts val="0"/>
              </a:spcAft>
              <a:buClr>
                <a:srgbClr val="193EB0"/>
              </a:buClr>
              <a:buSzPts val="1299"/>
              <a:buFont typeface="Arial"/>
              <a:buChar char="•"/>
            </a:pPr>
            <a:r>
              <a:rPr lang="en-US" sz="1299" b="0" i="0" u="none" strike="noStrike" cap="none" dirty="0" err="1">
                <a:solidFill>
                  <a:schemeClr val="dk1"/>
                </a:solidFill>
                <a:latin typeface="Arial"/>
                <a:ea typeface="Arial"/>
                <a:cs typeface="Arial"/>
                <a:sym typeface="Arial"/>
              </a:rPr>
              <a:t>Chân</a:t>
            </a:r>
            <a:r>
              <a:rPr lang="en-US" sz="1299" b="0" i="0" u="none" strike="noStrike" cap="none" dirty="0">
                <a:solidFill>
                  <a:schemeClr val="dk1"/>
                </a:solidFill>
                <a:latin typeface="Arial"/>
                <a:ea typeface="Arial"/>
                <a:cs typeface="Arial"/>
                <a:sym typeface="Arial"/>
              </a:rPr>
              <a:t> Trig : </a:t>
            </a:r>
            <a:r>
              <a:rPr lang="en-US" sz="1299" b="0" i="0" u="none" strike="noStrike" cap="none" dirty="0" err="1">
                <a:solidFill>
                  <a:schemeClr val="dk1"/>
                </a:solidFill>
                <a:latin typeface="Arial"/>
                <a:ea typeface="Arial"/>
                <a:cs typeface="Arial"/>
                <a:sym typeface="Arial"/>
              </a:rPr>
              <a:t>Truyền</a:t>
            </a:r>
            <a:r>
              <a:rPr lang="en-US" sz="1299" b="0" i="0" u="none" strike="noStrike" cap="none" dirty="0">
                <a:solidFill>
                  <a:schemeClr val="dk1"/>
                </a:solidFill>
                <a:latin typeface="Arial"/>
                <a:ea typeface="Arial"/>
                <a:cs typeface="Arial"/>
                <a:sym typeface="Arial"/>
              </a:rPr>
              <a:t> </a:t>
            </a:r>
            <a:r>
              <a:rPr lang="en-US" sz="1299" b="0" i="0" u="none" strike="noStrike" cap="none" dirty="0" err="1">
                <a:solidFill>
                  <a:schemeClr val="dk1"/>
                </a:solidFill>
                <a:latin typeface="Arial"/>
                <a:ea typeface="Arial"/>
                <a:cs typeface="Arial"/>
                <a:sym typeface="Arial"/>
              </a:rPr>
              <a:t>siêu</a:t>
            </a:r>
            <a:r>
              <a:rPr lang="en-US" sz="1299" b="0" i="0" u="none" strike="noStrike" cap="none" dirty="0">
                <a:solidFill>
                  <a:schemeClr val="dk1"/>
                </a:solidFill>
                <a:latin typeface="Arial"/>
                <a:ea typeface="Arial"/>
                <a:cs typeface="Arial"/>
                <a:sym typeface="Arial"/>
              </a:rPr>
              <a:t> </a:t>
            </a:r>
            <a:r>
              <a:rPr lang="en-US" sz="1299" b="0" i="0" u="none" strike="noStrike" cap="none" dirty="0" err="1">
                <a:solidFill>
                  <a:schemeClr val="dk1"/>
                </a:solidFill>
                <a:latin typeface="Arial"/>
                <a:ea typeface="Arial"/>
                <a:cs typeface="Arial"/>
                <a:sym typeface="Arial"/>
              </a:rPr>
              <a:t>âm</a:t>
            </a:r>
            <a:r>
              <a:rPr lang="en-US" sz="1299" b="0" i="0" u="none" strike="noStrike" cap="none" dirty="0">
                <a:solidFill>
                  <a:schemeClr val="dk1"/>
                </a:solidFill>
                <a:latin typeface="Arial"/>
                <a:ea typeface="Arial"/>
                <a:cs typeface="Arial"/>
                <a:sym typeface="Arial"/>
              </a:rPr>
              <a:t>  </a:t>
            </a:r>
            <a:endParaRPr dirty="0"/>
          </a:p>
          <a:p>
            <a:pPr marL="355571" marR="0" lvl="1" indent="-179374" algn="l" rtl="0">
              <a:spcBef>
                <a:spcPts val="802"/>
              </a:spcBef>
              <a:spcAft>
                <a:spcPts val="0"/>
              </a:spcAft>
              <a:buClr>
                <a:srgbClr val="193EB0"/>
              </a:buClr>
              <a:buSzPts val="1299"/>
              <a:buFont typeface="Arial"/>
              <a:buChar char="•"/>
            </a:pPr>
            <a:r>
              <a:rPr lang="en-US" sz="1299" b="0" i="0" u="none" strike="noStrike" cap="none" dirty="0" err="1">
                <a:solidFill>
                  <a:schemeClr val="dk1"/>
                </a:solidFill>
                <a:latin typeface="Arial"/>
                <a:ea typeface="Arial"/>
                <a:cs typeface="Arial"/>
                <a:sym typeface="Arial"/>
              </a:rPr>
              <a:t>Chân</a:t>
            </a:r>
            <a:r>
              <a:rPr lang="en-US" sz="1299" b="0" i="0" u="none" strike="noStrike" cap="none" dirty="0">
                <a:solidFill>
                  <a:schemeClr val="dk1"/>
                </a:solidFill>
                <a:latin typeface="Arial"/>
                <a:ea typeface="Arial"/>
                <a:cs typeface="Arial"/>
                <a:sym typeface="Arial"/>
              </a:rPr>
              <a:t> Echo : </a:t>
            </a:r>
            <a:r>
              <a:rPr lang="en-US" sz="1299" b="0" i="0" u="none" strike="noStrike" cap="none" dirty="0" err="1">
                <a:solidFill>
                  <a:schemeClr val="dk1"/>
                </a:solidFill>
                <a:latin typeface="Arial"/>
                <a:ea typeface="Arial"/>
                <a:cs typeface="Arial"/>
                <a:sym typeface="Arial"/>
              </a:rPr>
              <a:t>Nhận</a:t>
            </a:r>
            <a:r>
              <a:rPr lang="en-US" sz="1299" b="0" i="0" u="none" strike="noStrike" cap="none" dirty="0">
                <a:solidFill>
                  <a:schemeClr val="dk1"/>
                </a:solidFill>
                <a:latin typeface="Arial"/>
                <a:ea typeface="Arial"/>
                <a:cs typeface="Arial"/>
                <a:sym typeface="Arial"/>
              </a:rPr>
              <a:t> </a:t>
            </a:r>
            <a:r>
              <a:rPr lang="en-US" sz="1299" b="0" i="0" u="none" strike="noStrike" cap="none" dirty="0" err="1">
                <a:solidFill>
                  <a:schemeClr val="dk1"/>
                </a:solidFill>
                <a:latin typeface="Arial"/>
                <a:ea typeface="Arial"/>
                <a:cs typeface="Arial"/>
                <a:sym typeface="Arial"/>
              </a:rPr>
              <a:t>siêu</a:t>
            </a:r>
            <a:r>
              <a:rPr lang="en-US" sz="1299" b="0" i="0" u="none" strike="noStrike" cap="none" dirty="0">
                <a:solidFill>
                  <a:schemeClr val="dk1"/>
                </a:solidFill>
                <a:latin typeface="Arial"/>
                <a:ea typeface="Arial"/>
                <a:cs typeface="Arial"/>
                <a:sym typeface="Arial"/>
              </a:rPr>
              <a:t> </a:t>
            </a:r>
            <a:r>
              <a:rPr lang="en-US" sz="1299" b="0" i="0" u="none" strike="noStrike" cap="none" dirty="0" err="1">
                <a:solidFill>
                  <a:schemeClr val="dk1"/>
                </a:solidFill>
                <a:latin typeface="Arial"/>
                <a:ea typeface="Arial"/>
                <a:cs typeface="Arial"/>
                <a:sym typeface="Arial"/>
              </a:rPr>
              <a:t>âm</a:t>
            </a:r>
            <a:endParaRPr sz="1299" b="0" i="0" u="none" strike="noStrike" cap="none" dirty="0">
              <a:solidFill>
                <a:schemeClr val="dk1"/>
              </a:solidFill>
              <a:latin typeface="Arial"/>
              <a:ea typeface="Arial"/>
              <a:cs typeface="Arial"/>
              <a:sym typeface="Arial"/>
            </a:endParaRPr>
          </a:p>
        </p:txBody>
      </p:sp>
      <p:grpSp>
        <p:nvGrpSpPr>
          <p:cNvPr id="1270" name="Google Shape;1270;p78"/>
          <p:cNvGrpSpPr/>
          <p:nvPr/>
        </p:nvGrpSpPr>
        <p:grpSpPr>
          <a:xfrm>
            <a:off x="4156144" y="2925881"/>
            <a:ext cx="3741104" cy="3061186"/>
            <a:chOff x="5031349" y="3228493"/>
            <a:chExt cx="3741102" cy="3061186"/>
          </a:xfrm>
        </p:grpSpPr>
        <p:grpSp>
          <p:nvGrpSpPr>
            <p:cNvPr id="1271" name="Google Shape;1271;p78"/>
            <p:cNvGrpSpPr/>
            <p:nvPr/>
          </p:nvGrpSpPr>
          <p:grpSpPr>
            <a:xfrm>
              <a:off x="5031349" y="3228493"/>
              <a:ext cx="3741102" cy="3061186"/>
              <a:chOff x="3088248" y="2673321"/>
              <a:chExt cx="3741102" cy="3061186"/>
            </a:xfrm>
          </p:grpSpPr>
          <p:pic>
            <p:nvPicPr>
              <p:cNvPr id="1272" name="Google Shape;1272;p78"/>
              <p:cNvPicPr preferRelativeResize="0"/>
              <p:nvPr/>
            </p:nvPicPr>
            <p:blipFill rotWithShape="1">
              <a:blip r:embed="rId3">
                <a:alphaModFix/>
              </a:blip>
              <a:srcRect l="51967" t="58400" r="27951" b="17800"/>
              <a:stretch/>
            </p:blipFill>
            <p:spPr>
              <a:xfrm>
                <a:off x="3088248" y="2673321"/>
                <a:ext cx="3729502" cy="2486335"/>
              </a:xfrm>
              <a:prstGeom prst="rect">
                <a:avLst/>
              </a:prstGeom>
              <a:noFill/>
              <a:ln>
                <a:noFill/>
              </a:ln>
            </p:spPr>
          </p:pic>
          <p:sp>
            <p:nvSpPr>
              <p:cNvPr id="1273" name="Google Shape;1273;p78"/>
              <p:cNvSpPr txBox="1"/>
              <p:nvPr/>
            </p:nvSpPr>
            <p:spPr>
              <a:xfrm>
                <a:off x="3098844" y="5303876"/>
                <a:ext cx="3730506" cy="4306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99">
                    <a:solidFill>
                      <a:srgbClr val="262626"/>
                    </a:solidFill>
                    <a:latin typeface="Arial"/>
                    <a:ea typeface="Arial"/>
                    <a:cs typeface="Arial"/>
                    <a:sym typeface="Arial"/>
                  </a:rPr>
                  <a:t>VCC : 5V        GND : Ground</a:t>
                </a:r>
                <a:endParaRPr/>
              </a:p>
              <a:p>
                <a:pPr marL="0" marR="0" lvl="0" indent="0" algn="ctr" rtl="0">
                  <a:spcBef>
                    <a:spcPts val="0"/>
                  </a:spcBef>
                  <a:spcAft>
                    <a:spcPts val="0"/>
                  </a:spcAft>
                  <a:buNone/>
                </a:pPr>
                <a:r>
                  <a:rPr lang="en-US" sz="1099">
                    <a:solidFill>
                      <a:srgbClr val="262626"/>
                    </a:solidFill>
                    <a:latin typeface="Arial"/>
                    <a:ea typeface="Arial"/>
                    <a:cs typeface="Arial"/>
                    <a:sym typeface="Arial"/>
                  </a:rPr>
                  <a:t>Trig : Ultrasonic transmission Echo : Ultrasonic reception</a:t>
                </a:r>
                <a:endParaRPr sz="1099">
                  <a:solidFill>
                    <a:srgbClr val="262626"/>
                  </a:solidFill>
                  <a:latin typeface="Arial"/>
                  <a:ea typeface="Arial"/>
                  <a:cs typeface="Arial"/>
                  <a:sym typeface="Arial"/>
                </a:endParaRPr>
              </a:p>
            </p:txBody>
          </p:sp>
        </p:grpSp>
        <p:sp>
          <p:nvSpPr>
            <p:cNvPr id="1274" name="Google Shape;1274;p78"/>
            <p:cNvSpPr/>
            <p:nvPr/>
          </p:nvSpPr>
          <p:spPr>
            <a:xfrm>
              <a:off x="5061857" y="5829300"/>
              <a:ext cx="3690257" cy="424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79"/>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281" name="Google Shape;1281;p79"/>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Nguyên lý</a:t>
            </a:r>
            <a:endParaRPr sz="2401" b="1">
              <a:solidFill>
                <a:srgbClr val="0C0C0C"/>
              </a:solidFill>
              <a:latin typeface="Arial"/>
              <a:ea typeface="Arial"/>
              <a:cs typeface="Arial"/>
              <a:sym typeface="Arial"/>
            </a:endParaRPr>
          </a:p>
        </p:txBody>
      </p:sp>
      <p:sp>
        <p:nvSpPr>
          <p:cNvPr id="1282" name="Google Shape;1282;p79"/>
          <p:cNvSpPr/>
          <p:nvPr/>
        </p:nvSpPr>
        <p:spPr>
          <a:xfrm>
            <a:off x="580400" y="1944540"/>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[Thời gian trạng thái High kết thúc - Thời gian trạng thái Low kết thúc] / 58</a:t>
            </a:r>
            <a:endParaRPr/>
          </a:p>
        </p:txBody>
      </p:sp>
      <p:grpSp>
        <p:nvGrpSpPr>
          <p:cNvPr id="1283" name="Google Shape;1283;p79"/>
          <p:cNvGrpSpPr/>
          <p:nvPr/>
        </p:nvGrpSpPr>
        <p:grpSpPr>
          <a:xfrm>
            <a:off x="728284" y="2528896"/>
            <a:ext cx="8394655" cy="3442420"/>
            <a:chOff x="767611" y="2908300"/>
            <a:chExt cx="8575397" cy="3142627"/>
          </a:xfrm>
        </p:grpSpPr>
        <p:sp>
          <p:nvSpPr>
            <p:cNvPr id="1284" name="Google Shape;1284;p79"/>
            <p:cNvSpPr/>
            <p:nvPr/>
          </p:nvSpPr>
          <p:spPr>
            <a:xfrm>
              <a:off x="4477068" y="2908300"/>
              <a:ext cx="4865940" cy="3142627"/>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sp>
          <p:nvSpPr>
            <p:cNvPr id="1285" name="Google Shape;1285;p79"/>
            <p:cNvSpPr/>
            <p:nvPr/>
          </p:nvSpPr>
          <p:spPr>
            <a:xfrm>
              <a:off x="1759616" y="2908300"/>
              <a:ext cx="2717452" cy="3142627"/>
            </a:xfrm>
            <a:prstGeom prst="rect">
              <a:avLst/>
            </a:prstGeom>
            <a:solidFill>
              <a:srgbClr val="E6F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sp>
          <p:nvSpPr>
            <p:cNvPr id="1286" name="Google Shape;1286;p79"/>
            <p:cNvSpPr/>
            <p:nvPr/>
          </p:nvSpPr>
          <p:spPr>
            <a:xfrm>
              <a:off x="1729454" y="3403654"/>
              <a:ext cx="7499350" cy="800100"/>
            </a:xfrm>
            <a:custGeom>
              <a:avLst/>
              <a:gdLst/>
              <a:ahLst/>
              <a:cxnLst/>
              <a:rect l="l" t="t" r="r" b="b"/>
              <a:pathLst>
                <a:path w="5994400" h="800100" extrusionOk="0">
                  <a:moveTo>
                    <a:pt x="0" y="800100"/>
                  </a:moveTo>
                  <a:lnTo>
                    <a:pt x="520700" y="800100"/>
                  </a:lnTo>
                  <a:lnTo>
                    <a:pt x="520700" y="0"/>
                  </a:lnTo>
                  <a:lnTo>
                    <a:pt x="1016000" y="0"/>
                  </a:lnTo>
                  <a:lnTo>
                    <a:pt x="1016000" y="787400"/>
                  </a:lnTo>
                  <a:lnTo>
                    <a:pt x="2286000" y="787400"/>
                  </a:lnTo>
                  <a:lnTo>
                    <a:pt x="2286000" y="0"/>
                  </a:lnTo>
                  <a:lnTo>
                    <a:pt x="4076700" y="0"/>
                  </a:lnTo>
                  <a:lnTo>
                    <a:pt x="4076700" y="787400"/>
                  </a:lnTo>
                  <a:lnTo>
                    <a:pt x="5994400" y="787400"/>
                  </a:lnTo>
                </a:path>
              </a:pathLst>
            </a:cu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287" name="Google Shape;1287;p79"/>
            <p:cNvSpPr/>
            <p:nvPr/>
          </p:nvSpPr>
          <p:spPr>
            <a:xfrm>
              <a:off x="1759618" y="4699054"/>
              <a:ext cx="7466012" cy="796925"/>
            </a:xfrm>
            <a:custGeom>
              <a:avLst/>
              <a:gdLst/>
              <a:ahLst/>
              <a:cxnLst/>
              <a:rect l="l" t="t" r="r" b="b"/>
              <a:pathLst>
                <a:path w="7471572" h="796925" extrusionOk="0">
                  <a:moveTo>
                    <a:pt x="0" y="785813"/>
                  </a:moveTo>
                  <a:lnTo>
                    <a:pt x="1485900" y="785813"/>
                  </a:lnTo>
                  <a:lnTo>
                    <a:pt x="1485900" y="4763"/>
                  </a:lnTo>
                  <a:lnTo>
                    <a:pt x="1566862" y="4763"/>
                  </a:lnTo>
                  <a:lnTo>
                    <a:pt x="1566862" y="790575"/>
                  </a:lnTo>
                  <a:lnTo>
                    <a:pt x="1657350" y="790575"/>
                  </a:lnTo>
                  <a:lnTo>
                    <a:pt x="1657350" y="4763"/>
                  </a:lnTo>
                  <a:lnTo>
                    <a:pt x="1728787" y="4763"/>
                  </a:lnTo>
                  <a:lnTo>
                    <a:pt x="1728787" y="792956"/>
                  </a:lnTo>
                  <a:lnTo>
                    <a:pt x="1814512" y="790575"/>
                  </a:lnTo>
                  <a:lnTo>
                    <a:pt x="1814512" y="4763"/>
                  </a:lnTo>
                  <a:lnTo>
                    <a:pt x="1890712" y="4763"/>
                  </a:lnTo>
                  <a:lnTo>
                    <a:pt x="1890712" y="788194"/>
                  </a:lnTo>
                  <a:lnTo>
                    <a:pt x="1971675" y="785813"/>
                  </a:lnTo>
                  <a:lnTo>
                    <a:pt x="1971675" y="4763"/>
                  </a:lnTo>
                  <a:lnTo>
                    <a:pt x="2052637" y="4763"/>
                  </a:lnTo>
                  <a:cubicBezTo>
                    <a:pt x="2051843" y="265907"/>
                    <a:pt x="2051050" y="527050"/>
                    <a:pt x="2050256" y="788194"/>
                  </a:cubicBezTo>
                  <a:lnTo>
                    <a:pt x="2121693" y="785813"/>
                  </a:lnTo>
                  <a:cubicBezTo>
                    <a:pt x="2120899" y="525463"/>
                    <a:pt x="2120106" y="265113"/>
                    <a:pt x="2119312" y="4763"/>
                  </a:cubicBezTo>
                  <a:lnTo>
                    <a:pt x="2200275" y="4763"/>
                  </a:lnTo>
                  <a:lnTo>
                    <a:pt x="2200275" y="795338"/>
                  </a:lnTo>
                  <a:lnTo>
                    <a:pt x="2286000" y="792956"/>
                  </a:lnTo>
                  <a:lnTo>
                    <a:pt x="2286000" y="9525"/>
                  </a:lnTo>
                  <a:lnTo>
                    <a:pt x="2352675" y="9525"/>
                  </a:lnTo>
                  <a:lnTo>
                    <a:pt x="2352675" y="790575"/>
                  </a:lnTo>
                  <a:lnTo>
                    <a:pt x="2433637" y="790575"/>
                  </a:lnTo>
                  <a:lnTo>
                    <a:pt x="2433637" y="0"/>
                  </a:lnTo>
                  <a:lnTo>
                    <a:pt x="2524125" y="0"/>
                  </a:lnTo>
                  <a:cubicBezTo>
                    <a:pt x="2523331" y="263525"/>
                    <a:pt x="2522538" y="527050"/>
                    <a:pt x="2521744" y="790575"/>
                  </a:cubicBezTo>
                  <a:lnTo>
                    <a:pt x="2593181" y="788194"/>
                  </a:lnTo>
                  <a:cubicBezTo>
                    <a:pt x="2592387" y="525463"/>
                    <a:pt x="2591594" y="262731"/>
                    <a:pt x="2590800" y="0"/>
                  </a:cubicBezTo>
                  <a:lnTo>
                    <a:pt x="2667000" y="0"/>
                  </a:lnTo>
                  <a:lnTo>
                    <a:pt x="2667000" y="790575"/>
                  </a:lnTo>
                  <a:lnTo>
                    <a:pt x="7471572" y="796925"/>
                  </a:lnTo>
                </a:path>
              </a:pathLst>
            </a:cu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288" name="Google Shape;1288;p79"/>
            <p:cNvSpPr/>
            <p:nvPr/>
          </p:nvSpPr>
          <p:spPr>
            <a:xfrm>
              <a:off x="986276" y="4123688"/>
              <a:ext cx="599563" cy="44979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a:solidFill>
                    <a:srgbClr val="262626"/>
                  </a:solidFill>
                  <a:latin typeface="Arial"/>
                  <a:ea typeface="Arial"/>
                  <a:cs typeface="Arial"/>
                  <a:sym typeface="Arial"/>
                </a:rPr>
                <a:t>Tín hiệu</a:t>
              </a:r>
              <a:endParaRPr sz="1601">
                <a:solidFill>
                  <a:srgbClr val="262626"/>
                </a:solidFill>
                <a:latin typeface="Arial"/>
                <a:ea typeface="Arial"/>
                <a:cs typeface="Arial"/>
                <a:sym typeface="Arial"/>
              </a:endParaRPr>
            </a:p>
          </p:txBody>
        </p:sp>
        <p:sp>
          <p:nvSpPr>
            <p:cNvPr id="1289" name="Google Shape;1289;p79"/>
            <p:cNvSpPr/>
            <p:nvPr/>
          </p:nvSpPr>
          <p:spPr>
            <a:xfrm>
              <a:off x="767611" y="5293065"/>
              <a:ext cx="818227" cy="44979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a:solidFill>
                    <a:srgbClr val="262626"/>
                  </a:solidFill>
                  <a:latin typeface="Arial"/>
                  <a:ea typeface="Arial"/>
                  <a:cs typeface="Arial"/>
                  <a:sym typeface="Arial"/>
                </a:rPr>
                <a:t>Bên trong</a:t>
              </a:r>
              <a:endParaRPr sz="1601">
                <a:solidFill>
                  <a:srgbClr val="262626"/>
                </a:solidFill>
                <a:latin typeface="Arial"/>
                <a:ea typeface="Arial"/>
                <a:cs typeface="Arial"/>
                <a:sym typeface="Arial"/>
              </a:endParaRPr>
            </a:p>
          </p:txBody>
        </p:sp>
        <p:sp>
          <p:nvSpPr>
            <p:cNvPr id="1290" name="Google Shape;1290;p79"/>
            <p:cNvSpPr/>
            <p:nvPr/>
          </p:nvSpPr>
          <p:spPr>
            <a:xfrm>
              <a:off x="2309069" y="3052547"/>
              <a:ext cx="783058" cy="22489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1">
                  <a:solidFill>
                    <a:srgbClr val="262626"/>
                  </a:solidFill>
                  <a:latin typeface="Arial"/>
                  <a:ea typeface="Arial"/>
                  <a:cs typeface="Arial"/>
                  <a:sym typeface="Arial"/>
                </a:rPr>
                <a:t>Khởi tạo</a:t>
              </a:r>
              <a:endParaRPr sz="1601">
                <a:solidFill>
                  <a:srgbClr val="262626"/>
                </a:solidFill>
                <a:latin typeface="Arial"/>
                <a:ea typeface="Arial"/>
                <a:cs typeface="Arial"/>
                <a:sym typeface="Arial"/>
              </a:endParaRPr>
            </a:p>
          </p:txBody>
        </p:sp>
        <p:sp>
          <p:nvSpPr>
            <p:cNvPr id="1291" name="Google Shape;1291;p79"/>
            <p:cNvSpPr/>
            <p:nvPr/>
          </p:nvSpPr>
          <p:spPr>
            <a:xfrm>
              <a:off x="4621446" y="3073322"/>
              <a:ext cx="1234239" cy="22489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1">
                  <a:solidFill>
                    <a:srgbClr val="262626"/>
                  </a:solidFill>
                  <a:latin typeface="Arial"/>
                  <a:ea typeface="Arial"/>
                  <a:cs typeface="Arial"/>
                  <a:sym typeface="Arial"/>
                </a:rPr>
                <a:t>Dội lại</a:t>
              </a:r>
              <a:endParaRPr sz="1601">
                <a:solidFill>
                  <a:srgbClr val="262626"/>
                </a:solidFill>
                <a:latin typeface="Arial"/>
                <a:ea typeface="Arial"/>
                <a:cs typeface="Arial"/>
                <a:sym typeface="Arial"/>
              </a:endParaRPr>
            </a:p>
          </p:txBody>
        </p:sp>
        <p:sp>
          <p:nvSpPr>
            <p:cNvPr id="1292" name="Google Shape;1292;p79"/>
            <p:cNvSpPr/>
            <p:nvPr/>
          </p:nvSpPr>
          <p:spPr>
            <a:xfrm>
              <a:off x="3220098" y="5623813"/>
              <a:ext cx="4345026" cy="1967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1">
                  <a:solidFill>
                    <a:srgbClr val="262626"/>
                  </a:solidFill>
                  <a:latin typeface="Arial"/>
                  <a:ea typeface="Arial"/>
                  <a:cs typeface="Arial"/>
                  <a:sym typeface="Arial"/>
                </a:rPr>
                <a:t>Bộ chuyển đổi siêu âm sẽ phát ra 8 xung 40 kHz</a:t>
              </a:r>
              <a:endParaRPr/>
            </a:p>
          </p:txBody>
        </p:sp>
        <p:sp>
          <p:nvSpPr>
            <p:cNvPr id="1293" name="Google Shape;1293;p79"/>
            <p:cNvSpPr/>
            <p:nvPr/>
          </p:nvSpPr>
          <p:spPr>
            <a:xfrm>
              <a:off x="5018917" y="3602880"/>
              <a:ext cx="3586556" cy="59039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1">
                  <a:solidFill>
                    <a:srgbClr val="262626"/>
                  </a:solidFill>
                  <a:latin typeface="Arial"/>
                  <a:ea typeface="Arial"/>
                  <a:cs typeface="Arial"/>
                  <a:sym typeface="Arial"/>
                </a:rPr>
                <a:t>Độ rộng xung tương ứng với khoảng cách</a:t>
              </a:r>
              <a:endParaRPr/>
            </a:p>
            <a:p>
              <a:pPr marL="0" marR="0" lvl="0" indent="0" algn="l" rtl="0">
                <a:spcBef>
                  <a:spcPts val="0"/>
                </a:spcBef>
                <a:spcAft>
                  <a:spcPts val="0"/>
                </a:spcAft>
                <a:buNone/>
              </a:pPr>
              <a:r>
                <a:rPr lang="en-US" sz="1401">
                  <a:solidFill>
                    <a:srgbClr val="262626"/>
                  </a:solidFill>
                  <a:latin typeface="Arial"/>
                  <a:ea typeface="Arial"/>
                  <a:cs typeface="Arial"/>
                  <a:sym typeface="Arial"/>
                </a:rPr>
                <a:t>(khoảng 150 uS - 25 ms, 38 ms nếu không có vật cản)</a:t>
              </a:r>
              <a:endParaRPr/>
            </a:p>
          </p:txBody>
        </p:sp>
        <p:sp>
          <p:nvSpPr>
            <p:cNvPr id="1294" name="Google Shape;1294;p79"/>
            <p:cNvSpPr/>
            <p:nvPr/>
          </p:nvSpPr>
          <p:spPr>
            <a:xfrm>
              <a:off x="1984614" y="3524595"/>
              <a:ext cx="1863969" cy="3935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1">
                  <a:solidFill>
                    <a:srgbClr val="262626"/>
                  </a:solidFill>
                  <a:latin typeface="Arial"/>
                  <a:ea typeface="Arial"/>
                  <a:cs typeface="Arial"/>
                  <a:sym typeface="Arial"/>
                </a:rPr>
                <a:t>10 uS TTL tới chân tín hiệu</a:t>
              </a:r>
              <a:endParaRPr sz="1401">
                <a:solidFill>
                  <a:srgbClr val="262626"/>
                </a:solidFill>
                <a:latin typeface="Arial"/>
                <a:ea typeface="Arial"/>
                <a:cs typeface="Arial"/>
                <a:sym typeface="Arial"/>
              </a:endParaRPr>
            </a:p>
          </p:txBody>
        </p:sp>
        <p:sp>
          <p:nvSpPr>
            <p:cNvPr id="1295" name="Google Shape;1295;p79"/>
            <p:cNvSpPr/>
            <p:nvPr/>
          </p:nvSpPr>
          <p:spPr>
            <a:xfrm>
              <a:off x="5975276" y="4774290"/>
              <a:ext cx="3250355" cy="3935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1">
                  <a:solidFill>
                    <a:srgbClr val="262626"/>
                  </a:solidFill>
                  <a:latin typeface="Arial"/>
                  <a:ea typeface="Arial"/>
                  <a:cs typeface="Arial"/>
                  <a:sym typeface="Arial"/>
                </a:rPr>
                <a:t>độ rộng xung (uS)/58 = khoảng cách (cm)</a:t>
              </a:r>
              <a:endParaRPr/>
            </a:p>
            <a:p>
              <a:pPr marL="0" marR="0" lvl="0" indent="0" algn="l" rtl="0">
                <a:spcBef>
                  <a:spcPts val="0"/>
                </a:spcBef>
                <a:spcAft>
                  <a:spcPts val="0"/>
                </a:spcAft>
                <a:buNone/>
              </a:pPr>
              <a:r>
                <a:rPr lang="en-US" sz="1401">
                  <a:solidFill>
                    <a:srgbClr val="262626"/>
                  </a:solidFill>
                  <a:latin typeface="Arial"/>
                  <a:ea typeface="Arial"/>
                  <a:cs typeface="Arial"/>
                  <a:sym typeface="Arial"/>
                </a:rPr>
                <a:t>độ rộng xung (uS)/148 = khoảng cách (inch)</a:t>
              </a:r>
              <a:endParaRPr/>
            </a:p>
          </p:txBody>
        </p:sp>
        <p:sp>
          <p:nvSpPr>
            <p:cNvPr id="1296" name="Google Shape;1296;p79"/>
            <p:cNvSpPr/>
            <p:nvPr/>
          </p:nvSpPr>
          <p:spPr>
            <a:xfrm>
              <a:off x="5953971" y="4480293"/>
              <a:ext cx="1049386" cy="1685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Công thức:</a:t>
              </a:r>
              <a:endParaRPr/>
            </a:p>
          </p:txBody>
        </p:sp>
        <p:sp>
          <p:nvSpPr>
            <p:cNvPr id="1297" name="Google Shape;1297;p79"/>
            <p:cNvSpPr/>
            <p:nvPr/>
          </p:nvSpPr>
          <p:spPr>
            <a:xfrm>
              <a:off x="5855684" y="4654230"/>
              <a:ext cx="3369946" cy="590395"/>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298" name="Google Shape;1298;p79"/>
            <p:cNvSpPr/>
            <p:nvPr/>
          </p:nvSpPr>
          <p:spPr>
            <a:xfrm>
              <a:off x="1921859" y="3500992"/>
              <a:ext cx="459391" cy="252000"/>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1299" name="Google Shape;1299;p79"/>
          <p:cNvSpPr/>
          <p:nvPr/>
        </p:nvSpPr>
        <p:spPr>
          <a:xfrm>
            <a:off x="416136" y="444879"/>
            <a:ext cx="5824317" cy="276871"/>
          </a:xfrm>
          <a:prstGeom prst="rect">
            <a:avLst/>
          </a:prstGeom>
          <a:noFill/>
          <a:ln>
            <a:noFill/>
          </a:ln>
        </p:spPr>
        <p:txBody>
          <a:bodyPr spcFirstLastPara="1" wrap="square" lIns="0" tIns="0" rIns="0" bIns="0" anchor="t" anchorCtr="0">
            <a:spAutoFit/>
          </a:bodyPr>
          <a:lstStyle/>
          <a:p>
            <a:pPr lvl="0"/>
            <a:r>
              <a:rPr lang="en-US" sz="1799" b="1" dirty="0" err="1">
                <a:solidFill>
                  <a:schemeClr val="tx1"/>
                </a:solidFill>
              </a:rPr>
              <a:t>Cảm</a:t>
            </a:r>
            <a:r>
              <a:rPr lang="en-US" sz="1799" b="1" dirty="0">
                <a:solidFill>
                  <a:schemeClr val="tx1"/>
                </a:solidFill>
              </a:rPr>
              <a:t> </a:t>
            </a:r>
            <a:r>
              <a:rPr lang="en-US" sz="1799" b="1" dirty="0" err="1">
                <a:solidFill>
                  <a:schemeClr val="tx1"/>
                </a:solidFill>
              </a:rPr>
              <a:t>biến</a:t>
            </a:r>
            <a:r>
              <a:rPr lang="en-US" sz="1799" b="1" dirty="0">
                <a:solidFill>
                  <a:schemeClr val="tx1"/>
                </a:solidFill>
              </a:rPr>
              <a:t> </a:t>
            </a:r>
            <a:r>
              <a:rPr lang="en-US" sz="1799" b="1" dirty="0" err="1">
                <a:solidFill>
                  <a:schemeClr val="tx1"/>
                </a:solidFill>
              </a:rPr>
              <a:t>siêu</a:t>
            </a:r>
            <a:r>
              <a:rPr lang="en-US" sz="1799" b="1" dirty="0">
                <a:solidFill>
                  <a:schemeClr val="tx1"/>
                </a:solidFill>
              </a:rPr>
              <a:t> </a:t>
            </a:r>
            <a:r>
              <a:rPr lang="en-US" sz="1799" b="1" dirty="0" err="1">
                <a:solidFill>
                  <a:schemeClr val="tx1"/>
                </a:solidFill>
              </a:rPr>
              <a:t>âm</a:t>
            </a:r>
            <a:endParaRPr sz="1799" b="1" dirty="0">
              <a:solidFill>
                <a:schemeClr val="tx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80"/>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306" name="Google Shape;1306;p80"/>
          <p:cNvSpPr/>
          <p:nvPr/>
        </p:nvSpPr>
        <p:spPr>
          <a:xfrm>
            <a:off x="450003" y="1375106"/>
            <a:ext cx="9004987" cy="7389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Đấu nối</a:t>
            </a:r>
            <a:endParaRPr sz="2401" b="1">
              <a:solidFill>
                <a:srgbClr val="0C0C0C"/>
              </a:solidFill>
              <a:latin typeface="Arial"/>
              <a:ea typeface="Arial"/>
              <a:cs typeface="Arial"/>
              <a:sym typeface="Arial"/>
            </a:endParaRPr>
          </a:p>
          <a:p>
            <a:pPr marL="0" marR="0" lvl="0" indent="0" algn="l" rtl="0">
              <a:spcBef>
                <a:spcPts val="0"/>
              </a:spcBef>
              <a:spcAft>
                <a:spcPts val="0"/>
              </a:spcAft>
              <a:buNone/>
            </a:pPr>
            <a:endParaRPr sz="2401" b="1">
              <a:solidFill>
                <a:srgbClr val="0C0C0C"/>
              </a:solidFill>
              <a:latin typeface="Arial"/>
              <a:ea typeface="Arial"/>
              <a:cs typeface="Arial"/>
              <a:sym typeface="Arial"/>
            </a:endParaRPr>
          </a:p>
        </p:txBody>
      </p:sp>
      <p:grpSp>
        <p:nvGrpSpPr>
          <p:cNvPr id="1307" name="Google Shape;1307;p80"/>
          <p:cNvGrpSpPr/>
          <p:nvPr/>
        </p:nvGrpSpPr>
        <p:grpSpPr>
          <a:xfrm>
            <a:off x="1889510" y="1942177"/>
            <a:ext cx="6529409" cy="4049289"/>
            <a:chOff x="1881891" y="2109817"/>
            <a:chExt cx="6529409" cy="4049289"/>
          </a:xfrm>
        </p:grpSpPr>
        <p:pic>
          <p:nvPicPr>
            <p:cNvPr id="1308" name="Google Shape;1308;p80" descr="Read Just Enough Raspberry Pi | Leanpub"/>
            <p:cNvPicPr preferRelativeResize="0"/>
            <p:nvPr/>
          </p:nvPicPr>
          <p:blipFill rotWithShape="1">
            <a:blip r:embed="rId3">
              <a:alphaModFix/>
            </a:blip>
            <a:srcRect/>
            <a:stretch/>
          </p:blipFill>
          <p:spPr>
            <a:xfrm rot="5400000">
              <a:off x="1213324" y="2876448"/>
              <a:ext cx="3951225" cy="2614092"/>
            </a:xfrm>
            <a:prstGeom prst="rect">
              <a:avLst/>
            </a:prstGeom>
            <a:noFill/>
            <a:ln>
              <a:noFill/>
            </a:ln>
          </p:spPr>
        </p:pic>
        <p:pic>
          <p:nvPicPr>
            <p:cNvPr id="1309" name="Google Shape;1309;p80"/>
            <p:cNvPicPr preferRelativeResize="0"/>
            <p:nvPr/>
          </p:nvPicPr>
          <p:blipFill rotWithShape="1">
            <a:blip r:embed="rId4">
              <a:alphaModFix/>
            </a:blip>
            <a:srcRect l="43835" t="24100" r="35037" b="20600"/>
            <a:stretch/>
          </p:blipFill>
          <p:spPr>
            <a:xfrm>
              <a:off x="4340181" y="2109817"/>
              <a:ext cx="2730928" cy="4020796"/>
            </a:xfrm>
            <a:prstGeom prst="rect">
              <a:avLst/>
            </a:prstGeom>
            <a:noFill/>
            <a:ln>
              <a:noFill/>
            </a:ln>
          </p:spPr>
        </p:pic>
        <p:sp>
          <p:nvSpPr>
            <p:cNvPr id="1310" name="Google Shape;1310;p80"/>
            <p:cNvSpPr/>
            <p:nvPr/>
          </p:nvSpPr>
          <p:spPr>
            <a:xfrm>
              <a:off x="7356022" y="2679631"/>
              <a:ext cx="113963" cy="113963"/>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99">
                <a:solidFill>
                  <a:srgbClr val="000000"/>
                </a:solidFill>
                <a:latin typeface="Arial"/>
                <a:ea typeface="Arial"/>
                <a:cs typeface="Arial"/>
                <a:sym typeface="Arial"/>
              </a:endParaRPr>
            </a:p>
          </p:txBody>
        </p:sp>
        <p:sp>
          <p:nvSpPr>
            <p:cNvPr id="1311" name="Google Shape;1311;p80"/>
            <p:cNvSpPr txBox="1"/>
            <p:nvPr/>
          </p:nvSpPr>
          <p:spPr>
            <a:xfrm>
              <a:off x="7464432" y="2613625"/>
              <a:ext cx="506870" cy="3079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1">
                  <a:solidFill>
                    <a:srgbClr val="262626"/>
                  </a:solidFill>
                  <a:latin typeface="Arial"/>
                  <a:ea typeface="Arial"/>
                  <a:cs typeface="Arial"/>
                  <a:sym typeface="Arial"/>
                </a:rPr>
                <a:t>VCC</a:t>
              </a:r>
              <a:endParaRPr sz="1401">
                <a:solidFill>
                  <a:srgbClr val="262626"/>
                </a:solidFill>
                <a:latin typeface="Arial"/>
                <a:ea typeface="Arial"/>
                <a:cs typeface="Arial"/>
                <a:sym typeface="Arial"/>
              </a:endParaRPr>
            </a:p>
          </p:txBody>
        </p:sp>
        <p:sp>
          <p:nvSpPr>
            <p:cNvPr id="1312" name="Google Shape;1312;p80"/>
            <p:cNvSpPr/>
            <p:nvPr/>
          </p:nvSpPr>
          <p:spPr>
            <a:xfrm>
              <a:off x="7356022" y="2896090"/>
              <a:ext cx="113963" cy="113963"/>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99">
                <a:solidFill>
                  <a:srgbClr val="000000"/>
                </a:solidFill>
                <a:latin typeface="Arial"/>
                <a:ea typeface="Arial"/>
                <a:cs typeface="Arial"/>
                <a:sym typeface="Arial"/>
              </a:endParaRPr>
            </a:p>
          </p:txBody>
        </p:sp>
        <p:sp>
          <p:nvSpPr>
            <p:cNvPr id="1314" name="Google Shape;1314;p80"/>
            <p:cNvSpPr/>
            <p:nvPr/>
          </p:nvSpPr>
          <p:spPr>
            <a:xfrm>
              <a:off x="7356022" y="3112550"/>
              <a:ext cx="113963" cy="113963"/>
            </a:xfrm>
            <a:prstGeom prst="rect">
              <a:avLst/>
            </a:prstGeom>
            <a:solidFill>
              <a:srgbClr val="FF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99">
                <a:solidFill>
                  <a:srgbClr val="000000"/>
                </a:solidFill>
                <a:latin typeface="Arial"/>
                <a:ea typeface="Arial"/>
                <a:cs typeface="Arial"/>
                <a:sym typeface="Arial"/>
              </a:endParaRPr>
            </a:p>
          </p:txBody>
        </p:sp>
        <p:sp>
          <p:nvSpPr>
            <p:cNvPr id="1315" name="Google Shape;1315;p80"/>
            <p:cNvSpPr txBox="1"/>
            <p:nvPr/>
          </p:nvSpPr>
          <p:spPr>
            <a:xfrm>
              <a:off x="7464438" y="3046550"/>
              <a:ext cx="946862" cy="3079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1">
                  <a:solidFill>
                    <a:srgbClr val="262626"/>
                  </a:solidFill>
                  <a:latin typeface="Arial"/>
                  <a:ea typeface="Arial"/>
                  <a:cs typeface="Arial"/>
                  <a:sym typeface="Arial"/>
                </a:rPr>
                <a:t>Chân Echo</a:t>
              </a:r>
              <a:endParaRPr/>
            </a:p>
          </p:txBody>
        </p:sp>
        <p:sp>
          <p:nvSpPr>
            <p:cNvPr id="1316" name="Google Shape;1316;p80"/>
            <p:cNvSpPr/>
            <p:nvPr/>
          </p:nvSpPr>
          <p:spPr>
            <a:xfrm>
              <a:off x="7356022" y="3329010"/>
              <a:ext cx="113963" cy="113963"/>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99">
                <a:solidFill>
                  <a:srgbClr val="000000"/>
                </a:solidFill>
                <a:latin typeface="Arial"/>
                <a:ea typeface="Arial"/>
                <a:cs typeface="Arial"/>
                <a:sym typeface="Arial"/>
              </a:endParaRPr>
            </a:p>
          </p:txBody>
        </p:sp>
      </p:grpSp>
      <p:sp>
        <p:nvSpPr>
          <p:cNvPr id="1318" name="Google Shape;1318;p80"/>
          <p:cNvSpPr/>
          <p:nvPr/>
        </p:nvSpPr>
        <p:spPr>
          <a:xfrm>
            <a:off x="416136" y="444879"/>
            <a:ext cx="5824317" cy="553741"/>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2.3. </a:t>
            </a:r>
            <a:r>
              <a:rPr lang="en-US" sz="1799" b="1" dirty="0" err="1">
                <a:solidFill>
                  <a:schemeClr val="tx1"/>
                </a:solidFill>
              </a:rPr>
              <a:t>Cảm</a:t>
            </a:r>
            <a:r>
              <a:rPr lang="en-US" sz="1799" b="1" dirty="0">
                <a:solidFill>
                  <a:schemeClr val="tx1"/>
                </a:solidFill>
              </a:rPr>
              <a:t> </a:t>
            </a:r>
            <a:r>
              <a:rPr lang="en-US" sz="1799" b="1" dirty="0" err="1">
                <a:solidFill>
                  <a:schemeClr val="tx1"/>
                </a:solidFill>
              </a:rPr>
              <a:t>biến</a:t>
            </a:r>
            <a:r>
              <a:rPr lang="en-US" sz="1799" b="1" dirty="0">
                <a:solidFill>
                  <a:schemeClr val="tx1"/>
                </a:solidFill>
              </a:rPr>
              <a:t> </a:t>
            </a:r>
            <a:r>
              <a:rPr lang="en-US" sz="1799" b="1" dirty="0" err="1">
                <a:solidFill>
                  <a:schemeClr val="tx1"/>
                </a:solidFill>
              </a:rPr>
              <a:t>siêu</a:t>
            </a:r>
            <a:r>
              <a:rPr lang="en-US" sz="1799" b="1" dirty="0">
                <a:solidFill>
                  <a:schemeClr val="tx1"/>
                </a:solidFill>
              </a:rPr>
              <a:t> </a:t>
            </a:r>
            <a:r>
              <a:rPr lang="en-US" sz="1799" b="1" dirty="0" err="1">
                <a:solidFill>
                  <a:schemeClr val="tx1"/>
                </a:solidFill>
              </a:rPr>
              <a:t>âm</a:t>
            </a:r>
            <a:endParaRPr lang="en-US" sz="1799" b="1" dirty="0">
              <a:solidFill>
                <a:schemeClr val="tx1"/>
              </a:solidFill>
            </a:endParaRPr>
          </a:p>
          <a:p>
            <a:pPr marL="0" marR="0" lvl="0" indent="0" algn="l" rtl="0">
              <a:spcBef>
                <a:spcPts val="0"/>
              </a:spcBef>
              <a:spcAft>
                <a:spcPts val="0"/>
              </a:spcAft>
              <a:buNone/>
            </a:pPr>
            <a:endParaRPr sz="1799" b="1" dirty="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8E80E36D-F976-9771-2D55-5619C5F0DEEF}"/>
            </a:ext>
          </a:extLst>
        </p:cNvPr>
        <p:cNvGrpSpPr/>
        <p:nvPr/>
      </p:nvGrpSpPr>
      <p:grpSpPr>
        <a:xfrm>
          <a:off x="0" y="0"/>
          <a:ext cx="0" cy="0"/>
          <a:chOff x="0" y="0"/>
          <a:chExt cx="0" cy="0"/>
        </a:xfrm>
      </p:grpSpPr>
      <p:sp>
        <p:nvSpPr>
          <p:cNvPr id="1027" name="Google Shape;1027;p61">
            <a:extLst>
              <a:ext uri="{FF2B5EF4-FFF2-40B4-BE49-F238E27FC236}">
                <a16:creationId xmlns:a16="http://schemas.microsoft.com/office/drawing/2014/main" id="{E0938EDC-FAEE-3885-6209-8FAF5B7A76B5}"/>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a:extLst>
              <a:ext uri="{FF2B5EF4-FFF2-40B4-BE49-F238E27FC236}">
                <a16:creationId xmlns:a16="http://schemas.microsoft.com/office/drawing/2014/main" id="{8FDBE77A-3384-1D8D-E0F0-A58BE814C0D4}"/>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a:extLst>
              <a:ext uri="{FF2B5EF4-FFF2-40B4-BE49-F238E27FC236}">
                <a16:creationId xmlns:a16="http://schemas.microsoft.com/office/drawing/2014/main" id="{997AF823-76B0-47B3-FF85-E7864F75D8AF}"/>
              </a:ext>
            </a:extLst>
          </p:cNvPr>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1</a:t>
            </a:r>
            <a:r>
              <a:rPr lang="en-US" sz="1799" dirty="0">
                <a:solidFill>
                  <a:schemeClr val="bg1">
                    <a:lumMod val="65000"/>
                  </a:schemeClr>
                </a:solidFill>
                <a:latin typeface="Arial"/>
                <a:ea typeface="Arial"/>
                <a:cs typeface="Arial"/>
                <a:sym typeface="Arial"/>
              </a:rPr>
              <a:t>.1. </a:t>
            </a:r>
            <a:r>
              <a:rPr lang="en-US" sz="1799" dirty="0" err="1">
                <a:solidFill>
                  <a:schemeClr val="bg1">
                    <a:lumMod val="65000"/>
                  </a:schemeClr>
                </a:solidFill>
                <a:latin typeface="Arial"/>
                <a:ea typeface="Arial"/>
                <a:cs typeface="Arial"/>
                <a:sym typeface="Arial"/>
              </a:rPr>
              <a:t>Đầu</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vào</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số</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mạch</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điện</a:t>
            </a:r>
            <a:r>
              <a:rPr lang="en-US" sz="1799" dirty="0">
                <a:solidFill>
                  <a:schemeClr val="bg1">
                    <a:lumMod val="65000"/>
                  </a:schemeClr>
                </a:solidFill>
                <a:latin typeface="Arial"/>
                <a:ea typeface="Arial"/>
                <a:cs typeface="Arial"/>
                <a:sym typeface="Arial"/>
              </a:rPr>
              <a:t>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bg1">
                    <a:lumMod val="65000"/>
                  </a:schemeClr>
                </a:solidFill>
                <a:latin typeface="Arial"/>
                <a:ea typeface="Arial"/>
                <a:cs typeface="Arial"/>
                <a:sym typeface="Arial"/>
              </a:rPr>
              <a:t>1.2. </a:t>
            </a:r>
            <a:r>
              <a:rPr lang="en-US" sz="1799" dirty="0" err="1">
                <a:solidFill>
                  <a:schemeClr val="bg1">
                    <a:lumMod val="65000"/>
                  </a:schemeClr>
                </a:solidFill>
                <a:latin typeface="Arial"/>
                <a:ea typeface="Arial"/>
                <a:cs typeface="Arial"/>
                <a:sym typeface="Arial"/>
              </a:rPr>
              <a:t>Đèn</a:t>
            </a:r>
            <a:r>
              <a:rPr lang="en-US" sz="1799" dirty="0">
                <a:solidFill>
                  <a:schemeClr val="bg1">
                    <a:lumMod val="65000"/>
                  </a:schemeClr>
                </a:solidFill>
                <a:latin typeface="Arial"/>
                <a:ea typeface="Arial"/>
                <a:cs typeface="Arial"/>
                <a:sym typeface="Arial"/>
              </a:rPr>
              <a:t> LED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1.3.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siêu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âm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1.4. </a:t>
            </a:r>
            <a:r>
              <a:rPr lang="en-US" sz="1799" dirty="0" err="1">
                <a:solidFill>
                  <a:schemeClr val="tx1"/>
                </a:solidFill>
                <a:latin typeface="Arial"/>
                <a:ea typeface="Arial"/>
                <a:cs typeface="Arial"/>
                <a:sym typeface="Arial"/>
              </a:rPr>
              <a:t>Màn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hình</a:t>
            </a:r>
            <a:r>
              <a:rPr lang="en-US" sz="1799" dirty="0">
                <a:solidFill>
                  <a:schemeClr val="tx1"/>
                </a:solidFill>
                <a:latin typeface="Arial"/>
                <a:ea typeface="Arial"/>
                <a:cs typeface="Arial"/>
                <a:sym typeface="Arial"/>
              </a:rPr>
              <a:t> 7 </a:t>
            </a:r>
            <a:r>
              <a:rPr lang="en-US" sz="1799" dirty="0" err="1">
                <a:solidFill>
                  <a:schemeClr val="tx1"/>
                </a:solidFill>
                <a:latin typeface="Arial"/>
                <a:ea typeface="Arial"/>
                <a:cs typeface="Arial"/>
                <a:sym typeface="Arial"/>
              </a:rPr>
              <a:t>đoạn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đèn</a:t>
            </a:r>
            <a:r>
              <a:rPr lang="en-US" sz="1799" dirty="0">
                <a:solidFill>
                  <a:schemeClr val="tx1"/>
                </a:solidFill>
                <a:latin typeface="Arial"/>
                <a:ea typeface="Arial"/>
                <a:cs typeface="Arial"/>
                <a:sym typeface="Arial"/>
              </a:rPr>
              <a:t> LED 4 </a:t>
            </a:r>
            <a:r>
              <a:rPr lang="en-US" sz="1799" dirty="0" err="1">
                <a:solidFill>
                  <a:schemeClr val="tx1"/>
                </a:solidFill>
                <a:latin typeface="Arial"/>
                <a:ea typeface="Arial"/>
                <a:cs typeface="Arial"/>
                <a:sym typeface="Arial"/>
              </a:rPr>
              <a:t>số</a:t>
            </a:r>
            <a:r>
              <a:rPr lang="en-US" sz="1799" dirty="0">
                <a:solidFill>
                  <a:schemeClr val="tx1"/>
                </a:solidFill>
                <a:latin typeface="Arial"/>
                <a:ea typeface="Arial"/>
                <a:cs typeface="Arial"/>
                <a:sym typeface="Arial"/>
              </a:rPr>
              <a:t>)</a:t>
            </a:r>
            <a:endParaRPr dirty="0">
              <a:solidFill>
                <a:schemeClr val="tx1"/>
              </a:solidFill>
            </a:endParaRPr>
          </a:p>
        </p:txBody>
      </p:sp>
      <p:sp>
        <p:nvSpPr>
          <p:cNvPr id="1030" name="Google Shape;1030;p61">
            <a:extLst>
              <a:ext uri="{FF2B5EF4-FFF2-40B4-BE49-F238E27FC236}">
                <a16:creationId xmlns:a16="http://schemas.microsoft.com/office/drawing/2014/main" id="{09EE4606-5FFA-9D6B-8DC4-06B908069F5E}"/>
              </a:ext>
            </a:extLst>
          </p:cNvPr>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1.5.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nhiệt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độ-độ</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ẩm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1.6. </a:t>
            </a:r>
            <a:r>
              <a:rPr lang="en-US" sz="1799" dirty="0" err="1">
                <a:solidFill>
                  <a:srgbClr val="A6A6A6"/>
                </a:solidFill>
                <a:latin typeface="Arial"/>
                <a:ea typeface="Arial"/>
                <a:cs typeface="Arial"/>
                <a:sym typeface="Arial"/>
              </a:rPr>
              <a:t>Lập</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trình</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điều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khiển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chính</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1.7. </a:t>
            </a:r>
            <a:r>
              <a:rPr lang="en-US" sz="1799" dirty="0" err="1">
                <a:solidFill>
                  <a:srgbClr val="A6A6A6"/>
                </a:solidFill>
                <a:latin typeface="Arial"/>
                <a:ea typeface="Arial"/>
                <a:cs typeface="Arial"/>
                <a:sym typeface="Arial"/>
              </a:rPr>
              <a:t>Chuẩn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giao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tiếp</a:t>
            </a:r>
            <a:r>
              <a:rPr lang="en-US" sz="1799" dirty="0">
                <a:solidFill>
                  <a:srgbClr val="A6A6A6"/>
                </a:solidFill>
                <a:latin typeface="Arial"/>
                <a:ea typeface="Arial"/>
                <a:cs typeface="Arial"/>
                <a:sym typeface="Arial"/>
              </a:rPr>
              <a:t> UART</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1.8. </a:t>
            </a:r>
            <a:r>
              <a:rPr lang="en-US" sz="1799" dirty="0" err="1">
                <a:solidFill>
                  <a:srgbClr val="A6A6A6"/>
                </a:solidFill>
                <a:latin typeface="Arial"/>
                <a:ea typeface="Arial"/>
                <a:cs typeface="Arial"/>
                <a:sym typeface="Arial"/>
              </a:rPr>
              <a:t>Chế</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tạo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thiết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bị</a:t>
            </a: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444052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2"/>
        <p:cNvGrpSpPr/>
        <p:nvPr/>
      </p:nvGrpSpPr>
      <p:grpSpPr>
        <a:xfrm>
          <a:off x="0" y="0"/>
          <a:ext cx="0" cy="0"/>
          <a:chOff x="0" y="0"/>
          <a:chExt cx="0" cy="0"/>
        </a:xfrm>
      </p:grpSpPr>
      <p:sp>
        <p:nvSpPr>
          <p:cNvPr id="1333" name="Google Shape;1333;p82"/>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Màn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hình</a:t>
            </a:r>
            <a:r>
              <a:rPr lang="en-US" sz="1799" b="1" dirty="0">
                <a:solidFill>
                  <a:schemeClr val="tx1"/>
                </a:solidFill>
                <a:latin typeface="Arial"/>
                <a:ea typeface="Arial"/>
                <a:cs typeface="Arial"/>
                <a:sym typeface="Arial"/>
              </a:rPr>
              <a:t> 7 </a:t>
            </a:r>
            <a:r>
              <a:rPr lang="en-US" sz="1799" b="1" dirty="0" err="1">
                <a:solidFill>
                  <a:schemeClr val="tx1"/>
                </a:solidFill>
                <a:latin typeface="Arial"/>
                <a:ea typeface="Arial"/>
                <a:cs typeface="Arial"/>
                <a:sym typeface="Arial"/>
              </a:rPr>
              <a:t>đoạn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đèn</a:t>
            </a:r>
            <a:r>
              <a:rPr lang="en-US" sz="1799" b="1" dirty="0">
                <a:solidFill>
                  <a:schemeClr val="tx1"/>
                </a:solidFill>
                <a:latin typeface="Arial"/>
                <a:ea typeface="Arial"/>
                <a:cs typeface="Arial"/>
                <a:sym typeface="Arial"/>
              </a:rPr>
              <a:t> LED 4 </a:t>
            </a:r>
            <a:r>
              <a:rPr lang="en-US" sz="1799" b="1" dirty="0" err="1">
                <a:solidFill>
                  <a:schemeClr val="tx1"/>
                </a:solidFill>
                <a:latin typeface="Arial"/>
                <a:ea typeface="Arial"/>
                <a:cs typeface="Arial"/>
                <a:sym typeface="Arial"/>
              </a:rPr>
              <a:t>số</a:t>
            </a:r>
            <a:r>
              <a:rPr lang="en-US" sz="1799" b="1" dirty="0">
                <a:solidFill>
                  <a:schemeClr val="tx1"/>
                </a:solidFill>
                <a:latin typeface="Arial"/>
                <a:ea typeface="Arial"/>
                <a:cs typeface="Arial"/>
                <a:sym typeface="Arial"/>
              </a:rPr>
              <a:t>)</a:t>
            </a:r>
            <a:endParaRPr dirty="0">
              <a:solidFill>
                <a:schemeClr val="tx1"/>
              </a:solidFill>
            </a:endParaRPr>
          </a:p>
        </p:txBody>
      </p:sp>
      <p:sp>
        <p:nvSpPr>
          <p:cNvPr id="1334" name="Google Shape;1334;p82"/>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grpSp>
        <p:nvGrpSpPr>
          <p:cNvPr id="1335" name="Google Shape;1335;p82"/>
          <p:cNvGrpSpPr/>
          <p:nvPr/>
        </p:nvGrpSpPr>
        <p:grpSpPr>
          <a:xfrm>
            <a:off x="1392774" y="1222193"/>
            <a:ext cx="7117290" cy="2637691"/>
            <a:chOff x="881053" y="1222185"/>
            <a:chExt cx="7117291" cy="2637692"/>
          </a:xfrm>
        </p:grpSpPr>
        <p:pic>
          <p:nvPicPr>
            <p:cNvPr id="1336" name="Google Shape;1336;p82"/>
            <p:cNvPicPr preferRelativeResize="0"/>
            <p:nvPr/>
          </p:nvPicPr>
          <p:blipFill rotWithShape="1">
            <a:blip r:embed="rId3">
              <a:alphaModFix/>
            </a:blip>
            <a:srcRect/>
            <a:stretch/>
          </p:blipFill>
          <p:spPr>
            <a:xfrm>
              <a:off x="5360652" y="1222185"/>
              <a:ext cx="2637692" cy="2637692"/>
            </a:xfrm>
            <a:prstGeom prst="rect">
              <a:avLst/>
            </a:prstGeom>
            <a:noFill/>
            <a:ln>
              <a:noFill/>
            </a:ln>
          </p:spPr>
        </p:pic>
        <p:pic>
          <p:nvPicPr>
            <p:cNvPr id="1337" name="Google Shape;1337;p82"/>
            <p:cNvPicPr preferRelativeResize="0"/>
            <p:nvPr/>
          </p:nvPicPr>
          <p:blipFill rotWithShape="1">
            <a:blip r:embed="rId4">
              <a:alphaModFix/>
            </a:blip>
            <a:srcRect l="34644" t="43700" r="42124" b="40900"/>
            <a:stretch/>
          </p:blipFill>
          <p:spPr>
            <a:xfrm>
              <a:off x="881053" y="1720270"/>
              <a:ext cx="3921666" cy="1462316"/>
            </a:xfrm>
            <a:prstGeom prst="rect">
              <a:avLst/>
            </a:prstGeom>
            <a:noFill/>
            <a:ln>
              <a:noFill/>
            </a:ln>
          </p:spPr>
        </p:pic>
      </p:grpSp>
      <p:graphicFrame>
        <p:nvGraphicFramePr>
          <p:cNvPr id="1338" name="Google Shape;1338;p82"/>
          <p:cNvGraphicFramePr/>
          <p:nvPr/>
        </p:nvGraphicFramePr>
        <p:xfrm>
          <a:off x="704850" y="3820962"/>
          <a:ext cx="8636000" cy="2236950"/>
        </p:xfrm>
        <a:graphic>
          <a:graphicData uri="http://schemas.openxmlformats.org/drawingml/2006/table">
            <a:tbl>
              <a:tblPr firstRow="1" bandRow="1">
                <a:noFill/>
              </a:tblPr>
              <a:tblGrid>
                <a:gridCol w="2165775">
                  <a:extLst>
                    <a:ext uri="{9D8B030D-6E8A-4147-A177-3AD203B41FA5}">
                      <a16:colId xmlns:a16="http://schemas.microsoft.com/office/drawing/2014/main" val="20000"/>
                    </a:ext>
                  </a:extLst>
                </a:gridCol>
                <a:gridCol w="6470225">
                  <a:extLst>
                    <a:ext uri="{9D8B030D-6E8A-4147-A177-3AD203B41FA5}">
                      <a16:colId xmlns:a16="http://schemas.microsoft.com/office/drawing/2014/main" val="20001"/>
                    </a:ext>
                  </a:extLst>
                </a:gridCol>
              </a:tblGrid>
              <a:tr h="372825">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VCC</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5 V</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0"/>
                  </a:ext>
                </a:extLst>
              </a:tr>
              <a:tr h="372825">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MẶT ĐẤT</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Mặt đất</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372825">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SCLK</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Tín hiệu đồng bộ hóa</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372825">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MOSI</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Cổng ra của thiết bị chủ động 🡪 Cổng vào của thiết bị bị động</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372825">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MISO</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Cổng ra của thiết bị bị động 🡪 Cổng vào của thiết bị chủ động</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372825">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Chân CE</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Chip enable</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43"/>
        <p:cNvGrpSpPr/>
        <p:nvPr/>
      </p:nvGrpSpPr>
      <p:grpSpPr>
        <a:xfrm>
          <a:off x="0" y="0"/>
          <a:ext cx="0" cy="0"/>
          <a:chOff x="0" y="0"/>
          <a:chExt cx="0" cy="0"/>
        </a:xfrm>
      </p:grpSpPr>
      <p:sp>
        <p:nvSpPr>
          <p:cNvPr id="1344" name="Google Shape;1344;p83"/>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345" name="Google Shape;1345;p83"/>
          <p:cNvSpPr/>
          <p:nvPr/>
        </p:nvSpPr>
        <p:spPr>
          <a:xfrm>
            <a:off x="416137" y="1375106"/>
            <a:ext cx="9038854"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highlight>
                  <a:srgbClr val="00FF00"/>
                </a:highlight>
                <a:latin typeface="Arial"/>
                <a:ea typeface="Arial"/>
                <a:cs typeface="Arial"/>
                <a:sym typeface="Arial"/>
              </a:rPr>
              <a:t>Cách nối dây</a:t>
            </a:r>
            <a:endParaRPr>
              <a:highlight>
                <a:srgbClr val="00FF00"/>
              </a:highlight>
            </a:endParaRPr>
          </a:p>
        </p:txBody>
      </p:sp>
      <p:sp>
        <p:nvSpPr>
          <p:cNvPr id="1346" name="Google Shape;1346;p83"/>
          <p:cNvSpPr/>
          <p:nvPr/>
        </p:nvSpPr>
        <p:spPr>
          <a:xfrm>
            <a:off x="416136" y="444879"/>
            <a:ext cx="5824317" cy="492314"/>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2.4. </a:t>
            </a:r>
            <a:r>
              <a:rPr lang="en-US" sz="1799" b="1" dirty="0" err="1">
                <a:solidFill>
                  <a:schemeClr val="tx1"/>
                </a:solidFill>
              </a:rPr>
              <a:t>Màn</a:t>
            </a:r>
            <a:r>
              <a:rPr lang="en-US" sz="1799" b="1" dirty="0">
                <a:solidFill>
                  <a:schemeClr val="tx1"/>
                </a:solidFill>
              </a:rPr>
              <a:t> </a:t>
            </a:r>
            <a:r>
              <a:rPr lang="en-US" sz="1799" b="1" dirty="0" err="1">
                <a:solidFill>
                  <a:schemeClr val="tx1"/>
                </a:solidFill>
              </a:rPr>
              <a:t>hình</a:t>
            </a:r>
            <a:r>
              <a:rPr lang="en-US" sz="1799" b="1" dirty="0">
                <a:solidFill>
                  <a:schemeClr val="tx1"/>
                </a:solidFill>
              </a:rPr>
              <a:t> 7 </a:t>
            </a:r>
            <a:r>
              <a:rPr lang="en-US" sz="1799" b="1" dirty="0" err="1">
                <a:solidFill>
                  <a:schemeClr val="tx1"/>
                </a:solidFill>
              </a:rPr>
              <a:t>đoạn</a:t>
            </a:r>
            <a:r>
              <a:rPr lang="en-US" sz="1799" b="1" dirty="0">
                <a:solidFill>
                  <a:schemeClr val="tx1"/>
                </a:solidFill>
              </a:rPr>
              <a:t> (</a:t>
            </a:r>
            <a:r>
              <a:rPr lang="en-US" sz="1799" b="1" dirty="0" err="1">
                <a:solidFill>
                  <a:schemeClr val="tx1"/>
                </a:solidFill>
              </a:rPr>
              <a:t>đèn</a:t>
            </a:r>
            <a:r>
              <a:rPr lang="en-US" sz="1799" b="1" dirty="0">
                <a:solidFill>
                  <a:schemeClr val="tx1"/>
                </a:solidFill>
              </a:rPr>
              <a:t> LED 4 </a:t>
            </a:r>
            <a:r>
              <a:rPr lang="en-US" sz="1799" b="1" dirty="0" err="1">
                <a:solidFill>
                  <a:schemeClr val="tx1"/>
                </a:solidFill>
              </a:rPr>
              <a:t>số</a:t>
            </a:r>
            <a:r>
              <a:rPr lang="en-US" sz="1799" b="1" dirty="0">
                <a:solidFill>
                  <a:schemeClr val="tx1"/>
                </a:solidFill>
              </a:rPr>
              <a:t>)</a:t>
            </a:r>
            <a:endParaRPr lang="en-US" sz="1800" dirty="0">
              <a:solidFill>
                <a:schemeClr val="tx1"/>
              </a:solidFill>
            </a:endParaRPr>
          </a:p>
          <a:p>
            <a:pPr marL="0" marR="0" lvl="0" indent="0" algn="l" rtl="0">
              <a:spcBef>
                <a:spcPts val="0"/>
              </a:spcBef>
              <a:spcAft>
                <a:spcPts val="0"/>
              </a:spcAft>
              <a:buNone/>
            </a:pPr>
            <a:endParaRPr dirty="0"/>
          </a:p>
        </p:txBody>
      </p:sp>
      <p:pic>
        <p:nvPicPr>
          <p:cNvPr id="2" name="Picture 1">
            <a:extLst>
              <a:ext uri="{FF2B5EF4-FFF2-40B4-BE49-F238E27FC236}">
                <a16:creationId xmlns:a16="http://schemas.microsoft.com/office/drawing/2014/main" id="{815F6FB5-8A5B-4D49-B124-BC9B36F4ADA3}"/>
              </a:ext>
            </a:extLst>
          </p:cNvPr>
          <p:cNvPicPr>
            <a:picLocks noChangeAspect="1"/>
          </p:cNvPicPr>
          <p:nvPr/>
        </p:nvPicPr>
        <p:blipFill>
          <a:blip r:embed="rId3"/>
          <a:stretch>
            <a:fillRect/>
          </a:stretch>
        </p:blipFill>
        <p:spPr>
          <a:xfrm>
            <a:off x="1874864" y="1744566"/>
            <a:ext cx="6121400" cy="44577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84"/>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365" name="Google Shape;1365;p84"/>
          <p:cNvSpPr/>
          <p:nvPr/>
        </p:nvSpPr>
        <p:spPr>
          <a:xfrm>
            <a:off x="373803" y="1375106"/>
            <a:ext cx="9005100" cy="36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highlight>
                  <a:srgbClr val="00FF00"/>
                </a:highlight>
              </a:rPr>
              <a:t>Ý nghĩa các hàm để lập trình</a:t>
            </a:r>
            <a:endParaRPr sz="2401" b="1">
              <a:solidFill>
                <a:srgbClr val="0C0C0C"/>
              </a:solidFill>
              <a:highlight>
                <a:srgbClr val="00FF00"/>
              </a:highlight>
              <a:latin typeface="Arial"/>
              <a:ea typeface="Arial"/>
              <a:cs typeface="Arial"/>
              <a:sym typeface="Arial"/>
            </a:endParaRPr>
          </a:p>
        </p:txBody>
      </p:sp>
      <p:sp>
        <p:nvSpPr>
          <p:cNvPr id="1366" name="Google Shape;1366;p84"/>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2.4. Màn hình 7 đoạn (đèn LED 4 số)</a:t>
            </a:r>
            <a:endParaRPr/>
          </a:p>
        </p:txBody>
      </p:sp>
      <p:graphicFrame>
        <p:nvGraphicFramePr>
          <p:cNvPr id="1367" name="Google Shape;1367;p84"/>
          <p:cNvGraphicFramePr/>
          <p:nvPr/>
        </p:nvGraphicFramePr>
        <p:xfrm>
          <a:off x="718480" y="2235199"/>
          <a:ext cx="8622350" cy="3822700"/>
        </p:xfrm>
        <a:graphic>
          <a:graphicData uri="http://schemas.openxmlformats.org/drawingml/2006/table">
            <a:tbl>
              <a:tblPr firstRow="1" bandRow="1">
                <a:noFill/>
              </a:tblPr>
              <a:tblGrid>
                <a:gridCol w="2023375">
                  <a:extLst>
                    <a:ext uri="{9D8B030D-6E8A-4147-A177-3AD203B41FA5}">
                      <a16:colId xmlns:a16="http://schemas.microsoft.com/office/drawing/2014/main" val="20000"/>
                    </a:ext>
                  </a:extLst>
                </a:gridCol>
                <a:gridCol w="6598975">
                  <a:extLst>
                    <a:ext uri="{9D8B030D-6E8A-4147-A177-3AD203B41FA5}">
                      <a16:colId xmlns:a16="http://schemas.microsoft.com/office/drawing/2014/main" val="20001"/>
                    </a:ext>
                  </a:extLst>
                </a:gridCol>
              </a:tblGrid>
              <a:tr h="546100">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startup</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Khởi động chế độ hoạt động</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0"/>
                  </a:ext>
                </a:extLst>
              </a:tr>
              <a:tr h="546100">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setDecodeNone</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Hiển thị dữ liệu bằng đơn vị bit</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546100">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setDedcodeAll</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Giải mã và hiển thị (“0”~”9”, “E”, “H”, “L”, “P”, “-”, “ ”만)</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546100">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setDigitSegments</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Hiển thị thông tin bằng cách tính đơn vị bit (setDecodeNone)</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546100">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setDigitSymbol</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Chỉ hiển thị thông tin có thể được giải mã (setDecodeAll)</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546100">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setScanLimit</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Hạn chế số ký tự hiển thị trên màn hình (TỐI ĐA: 8)</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546100">
                <a:tc>
                  <a:txBody>
                    <a:bodyPr/>
                    <a:lstStyle/>
                    <a:p>
                      <a:pPr marL="0" marR="0" lvl="0" indent="0" algn="ctr" rtl="0">
                        <a:spcBef>
                          <a:spcPts val="0"/>
                        </a:spcBef>
                        <a:spcAft>
                          <a:spcPts val="0"/>
                        </a:spcAft>
                        <a:buNone/>
                      </a:pPr>
                      <a:r>
                        <a:rPr lang="en-US" sz="1100" b="0" u="none" strike="noStrike" cap="none">
                          <a:solidFill>
                            <a:srgbClr val="262626"/>
                          </a:solidFill>
                          <a:latin typeface="Arial"/>
                          <a:ea typeface="Arial"/>
                          <a:cs typeface="Arial"/>
                          <a:sym typeface="Arial"/>
                        </a:rPr>
                        <a:t>setDisplayIntensity</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100" b="0" u="none" strike="noStrike" cap="none">
                          <a:solidFill>
                            <a:srgbClr val="262626"/>
                          </a:solidFill>
                          <a:latin typeface="Arial"/>
                          <a:ea typeface="Arial"/>
                          <a:cs typeface="Arial"/>
                          <a:sym typeface="Arial"/>
                        </a:rPr>
                        <a:t>Giới hạn độ sáng màn hình (TỐI ĐA: 15)</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40EE0B8E-0E12-F596-EC9C-2A72ADACB594}"/>
            </a:ext>
          </a:extLst>
        </p:cNvPr>
        <p:cNvGrpSpPr/>
        <p:nvPr/>
      </p:nvGrpSpPr>
      <p:grpSpPr>
        <a:xfrm>
          <a:off x="0" y="0"/>
          <a:ext cx="0" cy="0"/>
          <a:chOff x="0" y="0"/>
          <a:chExt cx="0" cy="0"/>
        </a:xfrm>
      </p:grpSpPr>
      <p:sp>
        <p:nvSpPr>
          <p:cNvPr id="1027" name="Google Shape;1027;p61">
            <a:extLst>
              <a:ext uri="{FF2B5EF4-FFF2-40B4-BE49-F238E27FC236}">
                <a16:creationId xmlns:a16="http://schemas.microsoft.com/office/drawing/2014/main" id="{199B144C-EAC1-264D-F028-D941DD40EE29}"/>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a:extLst>
              <a:ext uri="{FF2B5EF4-FFF2-40B4-BE49-F238E27FC236}">
                <a16:creationId xmlns:a16="http://schemas.microsoft.com/office/drawing/2014/main" id="{6074FD6C-1150-0822-B104-6B540F4E7535}"/>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a:extLst>
              <a:ext uri="{FF2B5EF4-FFF2-40B4-BE49-F238E27FC236}">
                <a16:creationId xmlns:a16="http://schemas.microsoft.com/office/drawing/2014/main" id="{8EE9B74F-52FC-0ED9-5197-146354B73C84}"/>
              </a:ext>
            </a:extLst>
          </p:cNvPr>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1</a:t>
            </a:r>
            <a:r>
              <a:rPr lang="en-US" sz="1799" dirty="0">
                <a:solidFill>
                  <a:schemeClr val="bg1">
                    <a:lumMod val="65000"/>
                  </a:schemeClr>
                </a:solidFill>
                <a:latin typeface="Arial"/>
                <a:ea typeface="Arial"/>
                <a:cs typeface="Arial"/>
                <a:sym typeface="Arial"/>
              </a:rPr>
              <a:t>.1. </a:t>
            </a:r>
            <a:r>
              <a:rPr lang="en-US" sz="1799" dirty="0" err="1">
                <a:solidFill>
                  <a:schemeClr val="bg1">
                    <a:lumMod val="65000"/>
                  </a:schemeClr>
                </a:solidFill>
                <a:latin typeface="Arial"/>
                <a:ea typeface="Arial"/>
                <a:cs typeface="Arial"/>
                <a:sym typeface="Arial"/>
              </a:rPr>
              <a:t>Đầu</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vào</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số</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mạch</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điện</a:t>
            </a:r>
            <a:r>
              <a:rPr lang="en-US" sz="1799" dirty="0">
                <a:solidFill>
                  <a:schemeClr val="bg1">
                    <a:lumMod val="65000"/>
                  </a:schemeClr>
                </a:solidFill>
                <a:latin typeface="Arial"/>
                <a:ea typeface="Arial"/>
                <a:cs typeface="Arial"/>
                <a:sym typeface="Arial"/>
              </a:rPr>
              <a:t>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bg1">
                    <a:lumMod val="65000"/>
                  </a:schemeClr>
                </a:solidFill>
                <a:latin typeface="Arial"/>
                <a:ea typeface="Arial"/>
                <a:cs typeface="Arial"/>
                <a:sym typeface="Arial"/>
              </a:rPr>
              <a:t>1.2. </a:t>
            </a:r>
            <a:r>
              <a:rPr lang="en-US" sz="1799" dirty="0" err="1">
                <a:solidFill>
                  <a:schemeClr val="bg1">
                    <a:lumMod val="65000"/>
                  </a:schemeClr>
                </a:solidFill>
                <a:latin typeface="Arial"/>
                <a:ea typeface="Arial"/>
                <a:cs typeface="Arial"/>
                <a:sym typeface="Arial"/>
              </a:rPr>
              <a:t>Đèn</a:t>
            </a:r>
            <a:r>
              <a:rPr lang="en-US" sz="1799" dirty="0">
                <a:solidFill>
                  <a:schemeClr val="bg1">
                    <a:lumMod val="65000"/>
                  </a:schemeClr>
                </a:solidFill>
                <a:latin typeface="Arial"/>
                <a:ea typeface="Arial"/>
                <a:cs typeface="Arial"/>
                <a:sym typeface="Arial"/>
              </a:rPr>
              <a:t> LED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1.3.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siêu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âm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1.4. </a:t>
            </a:r>
            <a:r>
              <a:rPr lang="en-US" sz="1799" dirty="0" err="1">
                <a:solidFill>
                  <a:srgbClr val="A6A6A6"/>
                </a:solidFill>
                <a:latin typeface="Arial"/>
                <a:ea typeface="Arial"/>
                <a:cs typeface="Arial"/>
                <a:sym typeface="Arial"/>
              </a:rPr>
              <a:t>Màn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hình</a:t>
            </a:r>
            <a:r>
              <a:rPr lang="en-US" sz="1799" dirty="0">
                <a:solidFill>
                  <a:srgbClr val="A6A6A6"/>
                </a:solidFill>
                <a:latin typeface="Arial"/>
                <a:ea typeface="Arial"/>
                <a:cs typeface="Arial"/>
                <a:sym typeface="Arial"/>
              </a:rPr>
              <a:t> 7 </a:t>
            </a:r>
            <a:r>
              <a:rPr lang="en-US" sz="1799" dirty="0" err="1">
                <a:solidFill>
                  <a:srgbClr val="A6A6A6"/>
                </a:solidFill>
                <a:latin typeface="Arial"/>
                <a:ea typeface="Arial"/>
                <a:cs typeface="Arial"/>
                <a:sym typeface="Arial"/>
              </a:rPr>
              <a:t>đoạn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4 </a:t>
            </a:r>
            <a:r>
              <a:rPr lang="en-US" sz="1799" dirty="0" err="1">
                <a:solidFill>
                  <a:srgbClr val="A6A6A6"/>
                </a:solidFill>
                <a:latin typeface="Arial"/>
                <a:ea typeface="Arial"/>
                <a:cs typeface="Arial"/>
                <a:sym typeface="Arial"/>
              </a:rPr>
              <a:t>số</a:t>
            </a:r>
            <a:r>
              <a:rPr lang="en-US" sz="1799" dirty="0">
                <a:solidFill>
                  <a:srgbClr val="A6A6A6"/>
                </a:solidFill>
                <a:latin typeface="Arial"/>
                <a:ea typeface="Arial"/>
                <a:cs typeface="Arial"/>
                <a:sym typeface="Arial"/>
              </a:rPr>
              <a:t>)</a:t>
            </a:r>
            <a:endParaRPr dirty="0"/>
          </a:p>
        </p:txBody>
      </p:sp>
      <p:sp>
        <p:nvSpPr>
          <p:cNvPr id="1030" name="Google Shape;1030;p61">
            <a:extLst>
              <a:ext uri="{FF2B5EF4-FFF2-40B4-BE49-F238E27FC236}">
                <a16:creationId xmlns:a16="http://schemas.microsoft.com/office/drawing/2014/main" id="{018C1C50-BA6F-1771-4E59-D187615463D0}"/>
              </a:ext>
            </a:extLst>
          </p:cNvPr>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1.5. </a:t>
            </a:r>
            <a:r>
              <a:rPr lang="en-US" sz="1799" dirty="0" err="1">
                <a:solidFill>
                  <a:schemeClr val="tx1"/>
                </a:solidFill>
                <a:latin typeface="Arial"/>
                <a:ea typeface="Arial"/>
                <a:cs typeface="Arial"/>
                <a:sym typeface="Arial"/>
              </a:rPr>
              <a:t>Cảm</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biến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nhiệt</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độ-độ</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ẩm</a:t>
            </a:r>
            <a:endParaRPr sz="1799" dirty="0">
              <a:solidFill>
                <a:schemeClr val="tx1"/>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1.6. </a:t>
            </a:r>
            <a:r>
              <a:rPr lang="en-US" sz="1799" dirty="0" err="1">
                <a:solidFill>
                  <a:srgbClr val="A6A6A6"/>
                </a:solidFill>
                <a:latin typeface="Arial"/>
                <a:ea typeface="Arial"/>
                <a:cs typeface="Arial"/>
                <a:sym typeface="Arial"/>
              </a:rPr>
              <a:t>Lập</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trình</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điều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khiển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chính</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1.7. </a:t>
            </a:r>
            <a:r>
              <a:rPr lang="en-US" sz="1799" dirty="0" err="1">
                <a:solidFill>
                  <a:srgbClr val="A6A6A6"/>
                </a:solidFill>
                <a:latin typeface="Arial"/>
                <a:ea typeface="Arial"/>
                <a:cs typeface="Arial"/>
                <a:sym typeface="Arial"/>
              </a:rPr>
              <a:t>Chuẩn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giao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tiếp</a:t>
            </a:r>
            <a:r>
              <a:rPr lang="en-US" sz="1799" dirty="0">
                <a:solidFill>
                  <a:srgbClr val="A6A6A6"/>
                </a:solidFill>
                <a:latin typeface="Arial"/>
                <a:ea typeface="Arial"/>
                <a:cs typeface="Arial"/>
                <a:sym typeface="Arial"/>
              </a:rPr>
              <a:t> UART</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1.8. </a:t>
            </a:r>
            <a:r>
              <a:rPr lang="en-US" sz="1799" dirty="0" err="1">
                <a:solidFill>
                  <a:srgbClr val="A6A6A6"/>
                </a:solidFill>
                <a:latin typeface="Arial"/>
                <a:ea typeface="Arial"/>
                <a:cs typeface="Arial"/>
                <a:sym typeface="Arial"/>
              </a:rPr>
              <a:t>Chế</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tạo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thiết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bị</a:t>
            </a: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568262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81"/>
        <p:cNvGrpSpPr/>
        <p:nvPr/>
      </p:nvGrpSpPr>
      <p:grpSpPr>
        <a:xfrm>
          <a:off x="0" y="0"/>
          <a:ext cx="0" cy="0"/>
          <a:chOff x="0" y="0"/>
          <a:chExt cx="0" cy="0"/>
        </a:xfrm>
      </p:grpSpPr>
      <p:grpSp>
        <p:nvGrpSpPr>
          <p:cNvPr id="1382" name="Google Shape;1382;p86"/>
          <p:cNvGrpSpPr/>
          <p:nvPr/>
        </p:nvGrpSpPr>
        <p:grpSpPr>
          <a:xfrm>
            <a:off x="1972228" y="2323465"/>
            <a:ext cx="5958383" cy="2841827"/>
            <a:chOff x="1972220" y="2003420"/>
            <a:chExt cx="5958386" cy="2841826"/>
          </a:xfrm>
        </p:grpSpPr>
        <p:grpSp>
          <p:nvGrpSpPr>
            <p:cNvPr id="1383" name="Google Shape;1383;p86"/>
            <p:cNvGrpSpPr/>
            <p:nvPr/>
          </p:nvGrpSpPr>
          <p:grpSpPr>
            <a:xfrm>
              <a:off x="1972220" y="2003420"/>
              <a:ext cx="5958386" cy="2841826"/>
              <a:chOff x="2369448" y="2079466"/>
              <a:chExt cx="5180527" cy="2470829"/>
            </a:xfrm>
          </p:grpSpPr>
          <p:pic>
            <p:nvPicPr>
              <p:cNvPr id="1384" name="Google Shape;1384;p86"/>
              <p:cNvPicPr preferRelativeResize="0"/>
              <p:nvPr/>
            </p:nvPicPr>
            <p:blipFill rotWithShape="1">
              <a:blip r:embed="rId3">
                <a:alphaModFix/>
              </a:blip>
              <a:srcRect l="24800" t="31800" r="68900" b="48599"/>
              <a:stretch/>
            </p:blipFill>
            <p:spPr>
              <a:xfrm>
                <a:off x="2400810" y="2165008"/>
                <a:ext cx="1063503" cy="1861130"/>
              </a:xfrm>
              <a:prstGeom prst="rect">
                <a:avLst/>
              </a:prstGeom>
              <a:noFill/>
              <a:ln>
                <a:noFill/>
              </a:ln>
            </p:spPr>
          </p:pic>
          <p:sp>
            <p:nvSpPr>
              <p:cNvPr id="1385" name="Google Shape;1385;p86"/>
              <p:cNvSpPr txBox="1"/>
              <p:nvPr/>
            </p:nvSpPr>
            <p:spPr>
              <a:xfrm>
                <a:off x="2369448" y="3895332"/>
                <a:ext cx="408642" cy="2273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099" dirty="0">
                  <a:solidFill>
                    <a:srgbClr val="262626"/>
                  </a:solidFill>
                  <a:latin typeface="Arial"/>
                  <a:ea typeface="Arial"/>
                  <a:cs typeface="Arial"/>
                  <a:sym typeface="Arial"/>
                </a:endParaRPr>
              </a:p>
            </p:txBody>
          </p:sp>
          <p:sp>
            <p:nvSpPr>
              <p:cNvPr id="1387" name="Google Shape;1387;p86"/>
              <p:cNvSpPr txBox="1"/>
              <p:nvPr/>
            </p:nvSpPr>
            <p:spPr>
              <a:xfrm>
                <a:off x="3135055" y="3895332"/>
                <a:ext cx="380768" cy="2273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99">
                    <a:solidFill>
                      <a:srgbClr val="262626"/>
                    </a:solidFill>
                    <a:latin typeface="Arial"/>
                    <a:ea typeface="Arial"/>
                    <a:cs typeface="Arial"/>
                    <a:sym typeface="Arial"/>
                  </a:rPr>
                  <a:t>VCC</a:t>
                </a:r>
                <a:endParaRPr sz="1099">
                  <a:solidFill>
                    <a:srgbClr val="262626"/>
                  </a:solidFill>
                  <a:latin typeface="Arial"/>
                  <a:ea typeface="Arial"/>
                  <a:cs typeface="Arial"/>
                  <a:sym typeface="Arial"/>
                </a:endParaRPr>
              </a:p>
            </p:txBody>
          </p:sp>
          <p:pic>
            <p:nvPicPr>
              <p:cNvPr id="1388" name="Google Shape;1388;p86" descr="http://cfile5.uf.tistory.com/image/210CC648580D740034F9B4"/>
              <p:cNvPicPr preferRelativeResize="0"/>
              <p:nvPr/>
            </p:nvPicPr>
            <p:blipFill rotWithShape="1">
              <a:blip r:embed="rId4">
                <a:alphaModFix/>
              </a:blip>
              <a:srcRect/>
              <a:stretch/>
            </p:blipFill>
            <p:spPr>
              <a:xfrm>
                <a:off x="4141935" y="2079466"/>
                <a:ext cx="3408040" cy="2470829"/>
              </a:xfrm>
              <a:prstGeom prst="rect">
                <a:avLst/>
              </a:prstGeom>
              <a:noFill/>
              <a:ln>
                <a:noFill/>
              </a:ln>
            </p:spPr>
          </p:pic>
        </p:grpSp>
        <p:sp>
          <p:nvSpPr>
            <p:cNvPr id="1389" name="Google Shape;1389;p86"/>
            <p:cNvSpPr txBox="1"/>
            <p:nvPr/>
          </p:nvSpPr>
          <p:spPr>
            <a:xfrm rot="-5400000">
              <a:off x="3515646" y="3352308"/>
              <a:ext cx="1439496"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Điện trở nâng lên 10 k Ôm</a:t>
              </a:r>
              <a:endParaRPr sz="1051">
                <a:solidFill>
                  <a:schemeClr val="dk1"/>
                </a:solidFill>
                <a:latin typeface="Arial"/>
                <a:ea typeface="Arial"/>
                <a:cs typeface="Arial"/>
                <a:sym typeface="Arial"/>
              </a:endParaRPr>
            </a:p>
          </p:txBody>
        </p:sp>
        <p:sp>
          <p:nvSpPr>
            <p:cNvPr id="1390" name="Google Shape;1390;p86"/>
            <p:cNvSpPr txBox="1"/>
            <p:nvPr/>
          </p:nvSpPr>
          <p:spPr>
            <a:xfrm rot="-5400000">
              <a:off x="4792083" y="4329383"/>
              <a:ext cx="684404"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Mặt đất</a:t>
              </a:r>
              <a:endParaRPr sz="1051">
                <a:solidFill>
                  <a:schemeClr val="dk1"/>
                </a:solidFill>
                <a:latin typeface="Arial"/>
                <a:ea typeface="Arial"/>
                <a:cs typeface="Arial"/>
                <a:sym typeface="Arial"/>
              </a:endParaRPr>
            </a:p>
          </p:txBody>
        </p:sp>
        <p:sp>
          <p:nvSpPr>
            <p:cNvPr id="1391" name="Google Shape;1391;p86"/>
            <p:cNvSpPr txBox="1"/>
            <p:nvPr/>
          </p:nvSpPr>
          <p:spPr>
            <a:xfrm rot="-5400000">
              <a:off x="4727986" y="4229639"/>
              <a:ext cx="484916"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Vcc (+)</a:t>
              </a:r>
              <a:endParaRPr sz="1051">
                <a:solidFill>
                  <a:schemeClr val="dk1"/>
                </a:solidFill>
                <a:latin typeface="Arial"/>
                <a:ea typeface="Arial"/>
                <a:cs typeface="Arial"/>
                <a:sym typeface="Arial"/>
              </a:endParaRPr>
            </a:p>
          </p:txBody>
        </p:sp>
        <p:sp>
          <p:nvSpPr>
            <p:cNvPr id="1392" name="Google Shape;1392;p86"/>
            <p:cNvSpPr txBox="1"/>
            <p:nvPr/>
          </p:nvSpPr>
          <p:spPr>
            <a:xfrm rot="-5400000">
              <a:off x="4674543" y="4110683"/>
              <a:ext cx="408716" cy="323422"/>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Tín hiệu</a:t>
              </a:r>
              <a:endParaRPr sz="1051">
                <a:solidFill>
                  <a:schemeClr val="dk1"/>
                </a:solidFill>
                <a:latin typeface="Arial"/>
                <a:ea typeface="Arial"/>
                <a:cs typeface="Arial"/>
                <a:sym typeface="Arial"/>
              </a:endParaRPr>
            </a:p>
          </p:txBody>
        </p:sp>
        <p:sp>
          <p:nvSpPr>
            <p:cNvPr id="1393" name="Google Shape;1393;p86"/>
            <p:cNvSpPr txBox="1"/>
            <p:nvPr/>
          </p:nvSpPr>
          <p:spPr>
            <a:xfrm rot="-5400000">
              <a:off x="6737630" y="3953573"/>
              <a:ext cx="484916"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Vcc (+)</a:t>
              </a:r>
              <a:endParaRPr sz="1051">
                <a:solidFill>
                  <a:schemeClr val="dk1"/>
                </a:solidFill>
                <a:latin typeface="Arial"/>
                <a:ea typeface="Arial"/>
                <a:cs typeface="Arial"/>
                <a:sym typeface="Arial"/>
              </a:endParaRPr>
            </a:p>
          </p:txBody>
        </p:sp>
        <p:sp>
          <p:nvSpPr>
            <p:cNvPr id="1394" name="Google Shape;1394;p86"/>
            <p:cNvSpPr txBox="1"/>
            <p:nvPr/>
          </p:nvSpPr>
          <p:spPr>
            <a:xfrm rot="-5400000">
              <a:off x="6839419" y="4013494"/>
              <a:ext cx="604760"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Tín hiệu</a:t>
              </a:r>
              <a:endParaRPr sz="1051">
                <a:solidFill>
                  <a:schemeClr val="dk1"/>
                </a:solidFill>
                <a:latin typeface="Arial"/>
                <a:ea typeface="Arial"/>
                <a:cs typeface="Arial"/>
                <a:sym typeface="Arial"/>
              </a:endParaRPr>
            </a:p>
          </p:txBody>
        </p:sp>
        <p:sp>
          <p:nvSpPr>
            <p:cNvPr id="1395" name="Google Shape;1395;p86"/>
            <p:cNvSpPr txBox="1"/>
            <p:nvPr/>
          </p:nvSpPr>
          <p:spPr>
            <a:xfrm rot="-5400000">
              <a:off x="6811023" y="4184086"/>
              <a:ext cx="974998"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Không sử dụng</a:t>
              </a:r>
              <a:endParaRPr sz="1051">
                <a:solidFill>
                  <a:schemeClr val="dk1"/>
                </a:solidFill>
                <a:latin typeface="Arial"/>
                <a:ea typeface="Arial"/>
                <a:cs typeface="Arial"/>
                <a:sym typeface="Arial"/>
              </a:endParaRPr>
            </a:p>
          </p:txBody>
        </p:sp>
        <p:sp>
          <p:nvSpPr>
            <p:cNvPr id="1396" name="Google Shape;1396;p86"/>
            <p:cNvSpPr txBox="1"/>
            <p:nvPr/>
          </p:nvSpPr>
          <p:spPr>
            <a:xfrm rot="-5400000">
              <a:off x="7131448" y="4081731"/>
              <a:ext cx="684404"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Mặt đất (-)</a:t>
              </a:r>
              <a:endParaRPr sz="1051">
                <a:solidFill>
                  <a:schemeClr val="dk1"/>
                </a:solidFill>
                <a:latin typeface="Arial"/>
                <a:ea typeface="Arial"/>
                <a:cs typeface="Arial"/>
                <a:sym typeface="Arial"/>
              </a:endParaRPr>
            </a:p>
          </p:txBody>
        </p:sp>
        <p:sp>
          <p:nvSpPr>
            <p:cNvPr id="1397" name="Google Shape;1397;p86"/>
            <p:cNvSpPr txBox="1"/>
            <p:nvPr/>
          </p:nvSpPr>
          <p:spPr>
            <a:xfrm>
              <a:off x="2014944" y="4115614"/>
              <a:ext cx="599674" cy="246349"/>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1" dirty="0">
                  <a:solidFill>
                    <a:schemeClr val="dk1"/>
                  </a:solidFill>
                  <a:latin typeface="Arial"/>
                  <a:ea typeface="Arial"/>
                  <a:cs typeface="Arial"/>
                  <a:sym typeface="Arial"/>
                </a:rPr>
                <a:t>GND</a:t>
              </a:r>
              <a:endParaRPr sz="1601" dirty="0">
                <a:solidFill>
                  <a:schemeClr val="dk1"/>
                </a:solidFill>
                <a:latin typeface="Arial"/>
                <a:ea typeface="Arial"/>
                <a:cs typeface="Arial"/>
                <a:sym typeface="Arial"/>
              </a:endParaRPr>
            </a:p>
          </p:txBody>
        </p:sp>
        <p:sp>
          <p:nvSpPr>
            <p:cNvPr id="1398" name="Google Shape;1398;p86"/>
            <p:cNvSpPr txBox="1"/>
            <p:nvPr/>
          </p:nvSpPr>
          <p:spPr>
            <a:xfrm>
              <a:off x="2905378" y="4115613"/>
              <a:ext cx="367088" cy="246349"/>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1">
                  <a:solidFill>
                    <a:schemeClr val="dk1"/>
                  </a:solidFill>
                  <a:latin typeface="Arial"/>
                  <a:ea typeface="Arial"/>
                  <a:cs typeface="Arial"/>
                  <a:sym typeface="Arial"/>
                </a:rPr>
                <a:t>VCC</a:t>
              </a:r>
              <a:endParaRPr sz="1601">
                <a:solidFill>
                  <a:schemeClr val="dk1"/>
                </a:solidFill>
                <a:latin typeface="Arial"/>
                <a:ea typeface="Arial"/>
                <a:cs typeface="Arial"/>
                <a:sym typeface="Arial"/>
              </a:endParaRPr>
            </a:p>
          </p:txBody>
        </p:sp>
        <p:sp>
          <p:nvSpPr>
            <p:cNvPr id="1399" name="Google Shape;1399;p86"/>
            <p:cNvSpPr txBox="1"/>
            <p:nvPr/>
          </p:nvSpPr>
          <p:spPr>
            <a:xfrm>
              <a:off x="2345122" y="4344209"/>
              <a:ext cx="1048864" cy="246349"/>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1" dirty="0">
                  <a:solidFill>
                    <a:schemeClr val="dk1"/>
                  </a:solidFill>
                  <a:latin typeface="Arial"/>
                  <a:ea typeface="Arial"/>
                  <a:cs typeface="Arial"/>
                  <a:sym typeface="Arial"/>
                </a:rPr>
                <a:t>DỮ LIỆU</a:t>
              </a:r>
              <a:endParaRPr dirty="0"/>
            </a:p>
          </p:txBody>
        </p:sp>
      </p:grpSp>
      <p:sp>
        <p:nvSpPr>
          <p:cNvPr id="1400" name="Google Shape;1400;p86"/>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Cảm biến đo đồng thời nhiệt độ và độ ẩm</a:t>
            </a:r>
            <a:endParaRPr sz="2401" b="1">
              <a:solidFill>
                <a:srgbClr val="0C0C0C"/>
              </a:solidFill>
              <a:latin typeface="Arial"/>
              <a:ea typeface="Arial"/>
              <a:cs typeface="Arial"/>
              <a:sym typeface="Arial"/>
            </a:endParaRPr>
          </a:p>
        </p:txBody>
      </p:sp>
      <p:grpSp>
        <p:nvGrpSpPr>
          <p:cNvPr id="1401" name="Google Shape;1401;p86"/>
          <p:cNvGrpSpPr/>
          <p:nvPr/>
        </p:nvGrpSpPr>
        <p:grpSpPr>
          <a:xfrm>
            <a:off x="416136" y="436183"/>
            <a:ext cx="9051872" cy="276871"/>
            <a:chOff x="416136" y="436183"/>
            <a:chExt cx="9051872" cy="276871"/>
          </a:xfrm>
        </p:grpSpPr>
        <p:sp>
          <p:nvSpPr>
            <p:cNvPr id="1402" name="Google Shape;1402;p86"/>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403" name="Google Shape;1403;p86"/>
            <p:cNvSpPr/>
            <p:nvPr/>
          </p:nvSpPr>
          <p:spPr>
            <a:xfrm>
              <a:off x="416136" y="436183"/>
              <a:ext cx="5824317" cy="276871"/>
            </a:xfrm>
            <a:prstGeom prst="rect">
              <a:avLst/>
            </a:prstGeom>
            <a:noFill/>
            <a:ln>
              <a:noFill/>
            </a:ln>
          </p:spPr>
          <p:txBody>
            <a:bodyPr spcFirstLastPara="1" wrap="square" lIns="0" tIns="0" rIns="0" bIns="0" anchor="t" anchorCtr="0">
              <a:spAutoFit/>
            </a:bodyPr>
            <a:lstStyle/>
            <a:p>
              <a:pPr lvl="0"/>
              <a:r>
                <a:rPr lang="en-US" sz="1799" dirty="0" err="1">
                  <a:solidFill>
                    <a:schemeClr val="tx1"/>
                  </a:solidFill>
                </a:rPr>
                <a:t>Cảm</a:t>
              </a:r>
              <a:r>
                <a:rPr lang="en-US" sz="1799" dirty="0">
                  <a:solidFill>
                    <a:schemeClr val="tx1"/>
                  </a:solidFill>
                </a:rPr>
                <a:t> </a:t>
              </a:r>
              <a:r>
                <a:rPr lang="en-US" sz="1799" dirty="0" err="1">
                  <a:solidFill>
                    <a:schemeClr val="tx1"/>
                  </a:solidFill>
                </a:rPr>
                <a:t>biến</a:t>
              </a:r>
              <a:r>
                <a:rPr lang="en-US" sz="1799" dirty="0">
                  <a:solidFill>
                    <a:schemeClr val="tx1"/>
                  </a:solidFill>
                </a:rPr>
                <a:t> </a:t>
              </a:r>
              <a:r>
                <a:rPr lang="en-US" sz="1799" dirty="0" err="1">
                  <a:solidFill>
                    <a:schemeClr val="tx1"/>
                  </a:solidFill>
                </a:rPr>
                <a:t>nhiệt</a:t>
              </a:r>
              <a:r>
                <a:rPr lang="en-US" sz="1799" dirty="0">
                  <a:solidFill>
                    <a:schemeClr val="tx1"/>
                  </a:solidFill>
                </a:rPr>
                <a:t> </a:t>
              </a:r>
              <a:r>
                <a:rPr lang="en-US" sz="1799" dirty="0" err="1">
                  <a:solidFill>
                    <a:schemeClr val="tx1"/>
                  </a:solidFill>
                </a:rPr>
                <a:t>độ-độ</a:t>
              </a:r>
              <a:r>
                <a:rPr lang="en-US" sz="1799" dirty="0">
                  <a:solidFill>
                    <a:schemeClr val="tx1"/>
                  </a:solidFill>
                </a:rPr>
                <a:t> </a:t>
              </a:r>
              <a:r>
                <a:rPr lang="en-US" sz="1799" dirty="0" err="1">
                  <a:solidFill>
                    <a:schemeClr val="tx1"/>
                  </a:solidFill>
                </a:rPr>
                <a:t>ẩm</a:t>
              </a:r>
              <a:endParaRPr sz="1799" b="1" dirty="0">
                <a:solidFill>
                  <a:schemeClr val="lt1"/>
                </a:solidFill>
                <a:latin typeface="Arial"/>
                <a:ea typeface="Arial"/>
                <a:cs typeface="Arial"/>
                <a:sym typeface="Arial"/>
              </a:endParaRPr>
            </a:p>
          </p:txBody>
        </p:sp>
      </p:grpSp>
      <p:graphicFrame>
        <p:nvGraphicFramePr>
          <p:cNvPr id="1404" name="Google Shape;1404;p86"/>
          <p:cNvGraphicFramePr/>
          <p:nvPr/>
        </p:nvGraphicFramePr>
        <p:xfrm>
          <a:off x="704851" y="5247799"/>
          <a:ext cx="8636000" cy="936260"/>
        </p:xfrm>
        <a:graphic>
          <a:graphicData uri="http://schemas.openxmlformats.org/drawingml/2006/table">
            <a:tbl>
              <a:tblPr firstRow="1" bandRow="1">
                <a:noFill/>
              </a:tblPr>
              <a:tblGrid>
                <a:gridCol w="1681400">
                  <a:extLst>
                    <a:ext uri="{9D8B030D-6E8A-4147-A177-3AD203B41FA5}">
                      <a16:colId xmlns:a16="http://schemas.microsoft.com/office/drawing/2014/main" val="20000"/>
                    </a:ext>
                  </a:extLst>
                </a:gridCol>
                <a:gridCol w="1079900">
                  <a:extLst>
                    <a:ext uri="{9D8B030D-6E8A-4147-A177-3AD203B41FA5}">
                      <a16:colId xmlns:a16="http://schemas.microsoft.com/office/drawing/2014/main" val="20001"/>
                    </a:ext>
                  </a:extLst>
                </a:gridCol>
                <a:gridCol w="2826200">
                  <a:extLst>
                    <a:ext uri="{9D8B030D-6E8A-4147-A177-3AD203B41FA5}">
                      <a16:colId xmlns:a16="http://schemas.microsoft.com/office/drawing/2014/main" val="20002"/>
                    </a:ext>
                  </a:extLst>
                </a:gridCol>
                <a:gridCol w="3048500">
                  <a:extLst>
                    <a:ext uri="{9D8B030D-6E8A-4147-A177-3AD203B41FA5}">
                      <a16:colId xmlns:a16="http://schemas.microsoft.com/office/drawing/2014/main" val="20003"/>
                    </a:ext>
                  </a:extLst>
                </a:gridCol>
              </a:tblGrid>
              <a:tr h="324000">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tên máy</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Cách sử dụng</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Khoảng nhiệt độ</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Khoảng độ ẩm</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486100">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DHT11</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Trong nhà</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0°C - 50°C</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dirty="0">
                          <a:solidFill>
                            <a:srgbClr val="262626"/>
                          </a:solidFill>
                          <a:latin typeface="Arial"/>
                          <a:ea typeface="Arial"/>
                          <a:cs typeface="Arial"/>
                          <a:sym typeface="Arial"/>
                        </a:rPr>
                        <a:t>20 - 80%</a:t>
                      </a:r>
                      <a:endParaRPr dirty="0"/>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87"/>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Cảm biến nhiệt độ-độ ẩm – DHT11/22</a:t>
            </a:r>
            <a:endParaRPr/>
          </a:p>
        </p:txBody>
      </p:sp>
      <p:sp>
        <p:nvSpPr>
          <p:cNvPr id="1411" name="Google Shape;1411;p87"/>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412" name="Google Shape;1412;p87"/>
          <p:cNvSpPr/>
          <p:nvPr/>
        </p:nvSpPr>
        <p:spPr>
          <a:xfrm>
            <a:off x="712189" y="2174876"/>
            <a:ext cx="8487381" cy="647819"/>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Cung cấp thông tin về nhiệt độ và độ ẩm dưới dạng tín hiệu digital sử dụng giao thức cá nhân</a:t>
            </a:r>
            <a:endParaRPr/>
          </a:p>
          <a:p>
            <a:pPr marL="182548" marR="0" lvl="0" indent="-182548"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DHT11 chỉ có thể đo ở nhiệt độ phòng (0-50 độ)</a:t>
            </a:r>
            <a:endParaRPr/>
          </a:p>
        </p:txBody>
      </p:sp>
      <p:sp>
        <p:nvSpPr>
          <p:cNvPr id="1413" name="Google Shape;1413;p87"/>
          <p:cNvSpPr/>
          <p:nvPr/>
        </p:nvSpPr>
        <p:spPr>
          <a:xfrm>
            <a:off x="1673253" y="2866781"/>
            <a:ext cx="3699859" cy="152149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799">
              <a:solidFill>
                <a:srgbClr val="000000"/>
              </a:solidFill>
              <a:latin typeface="Gulim"/>
              <a:ea typeface="Gulim"/>
              <a:cs typeface="Gulim"/>
              <a:sym typeface="Gulim"/>
            </a:endParaRPr>
          </a:p>
        </p:txBody>
      </p:sp>
      <p:grpSp>
        <p:nvGrpSpPr>
          <p:cNvPr id="1414" name="Google Shape;1414;p87"/>
          <p:cNvGrpSpPr/>
          <p:nvPr/>
        </p:nvGrpSpPr>
        <p:grpSpPr>
          <a:xfrm>
            <a:off x="5763082" y="2641084"/>
            <a:ext cx="2748283" cy="2633202"/>
            <a:chOff x="5763077" y="2641073"/>
            <a:chExt cx="2748284" cy="2633201"/>
          </a:xfrm>
        </p:grpSpPr>
        <p:grpSp>
          <p:nvGrpSpPr>
            <p:cNvPr id="1415" name="Google Shape;1415;p87"/>
            <p:cNvGrpSpPr/>
            <p:nvPr/>
          </p:nvGrpSpPr>
          <p:grpSpPr>
            <a:xfrm>
              <a:off x="7062754" y="2641073"/>
              <a:ext cx="1448607" cy="2633201"/>
              <a:chOff x="8019393" y="2735529"/>
              <a:chExt cx="1448607" cy="2633201"/>
            </a:xfrm>
          </p:grpSpPr>
          <p:pic>
            <p:nvPicPr>
              <p:cNvPr id="1416" name="Google Shape;1416;p87" descr="http://cfile5.uf.tistory.com/image/210CC648580D740034F9B4"/>
              <p:cNvPicPr preferRelativeResize="0"/>
              <p:nvPr/>
            </p:nvPicPr>
            <p:blipFill rotWithShape="1">
              <a:blip r:embed="rId4">
                <a:alphaModFix/>
              </a:blip>
              <a:srcRect l="63043" b="37586"/>
              <a:stretch/>
            </p:blipFill>
            <p:spPr>
              <a:xfrm>
                <a:off x="8019393" y="2735529"/>
                <a:ext cx="1448607" cy="1773674"/>
              </a:xfrm>
              <a:prstGeom prst="rect">
                <a:avLst/>
              </a:prstGeom>
              <a:noFill/>
              <a:ln>
                <a:noFill/>
              </a:ln>
            </p:spPr>
          </p:pic>
          <p:sp>
            <p:nvSpPr>
              <p:cNvPr id="1417" name="Google Shape;1417;p87"/>
              <p:cNvSpPr txBox="1"/>
              <p:nvPr/>
            </p:nvSpPr>
            <p:spPr>
              <a:xfrm rot="-5400000">
                <a:off x="8275151" y="4637072"/>
                <a:ext cx="484916" cy="16171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1">
                    <a:solidFill>
                      <a:schemeClr val="dk1"/>
                    </a:solidFill>
                    <a:latin typeface="Arial"/>
                    <a:ea typeface="Arial"/>
                    <a:cs typeface="Arial"/>
                    <a:sym typeface="Arial"/>
                  </a:rPr>
                  <a:t>Vcc (+)</a:t>
                </a:r>
                <a:endParaRPr sz="1051">
                  <a:solidFill>
                    <a:schemeClr val="dk1"/>
                  </a:solidFill>
                  <a:latin typeface="Arial"/>
                  <a:ea typeface="Arial"/>
                  <a:cs typeface="Arial"/>
                  <a:sym typeface="Arial"/>
                </a:endParaRPr>
              </a:p>
            </p:txBody>
          </p:sp>
          <p:sp>
            <p:nvSpPr>
              <p:cNvPr id="1418" name="Google Shape;1418;p87"/>
              <p:cNvSpPr txBox="1"/>
              <p:nvPr/>
            </p:nvSpPr>
            <p:spPr>
              <a:xfrm rot="-5400000">
                <a:off x="8336990" y="4736816"/>
                <a:ext cx="684404" cy="16171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1">
                    <a:solidFill>
                      <a:schemeClr val="dk1"/>
                    </a:solidFill>
                    <a:latin typeface="Arial"/>
                    <a:ea typeface="Arial"/>
                    <a:cs typeface="Arial"/>
                    <a:sym typeface="Arial"/>
                  </a:rPr>
                  <a:t>Tín hiệu</a:t>
                </a:r>
                <a:endParaRPr sz="1051">
                  <a:solidFill>
                    <a:schemeClr val="dk1"/>
                  </a:solidFill>
                  <a:latin typeface="Arial"/>
                  <a:ea typeface="Arial"/>
                  <a:cs typeface="Arial"/>
                  <a:sym typeface="Arial"/>
                </a:endParaRPr>
              </a:p>
            </p:txBody>
          </p:sp>
          <p:sp>
            <p:nvSpPr>
              <p:cNvPr id="1419" name="Google Shape;1419;p87"/>
              <p:cNvSpPr txBox="1"/>
              <p:nvPr/>
            </p:nvSpPr>
            <p:spPr>
              <a:xfrm rot="-5400000">
                <a:off x="8389285" y="4841244"/>
                <a:ext cx="893261" cy="16171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1">
                    <a:solidFill>
                      <a:schemeClr val="dk1"/>
                    </a:solidFill>
                    <a:latin typeface="Arial"/>
                    <a:ea typeface="Arial"/>
                    <a:cs typeface="Arial"/>
                    <a:sym typeface="Arial"/>
                  </a:rPr>
                  <a:t>Không sử dụng</a:t>
                </a:r>
                <a:endParaRPr sz="1051">
                  <a:solidFill>
                    <a:schemeClr val="dk1"/>
                  </a:solidFill>
                  <a:latin typeface="Arial"/>
                  <a:ea typeface="Arial"/>
                  <a:cs typeface="Arial"/>
                  <a:sym typeface="Arial"/>
                </a:endParaRPr>
              </a:p>
            </p:txBody>
          </p:sp>
          <p:sp>
            <p:nvSpPr>
              <p:cNvPr id="1420" name="Google Shape;1420;p87"/>
              <p:cNvSpPr txBox="1"/>
              <p:nvPr/>
            </p:nvSpPr>
            <p:spPr>
              <a:xfrm rot="-5400000">
                <a:off x="8668842" y="4736816"/>
                <a:ext cx="684404" cy="16171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1">
                    <a:solidFill>
                      <a:schemeClr val="dk1"/>
                    </a:solidFill>
                    <a:latin typeface="Arial"/>
                    <a:ea typeface="Arial"/>
                    <a:cs typeface="Arial"/>
                    <a:sym typeface="Arial"/>
                  </a:rPr>
                  <a:t>Mặt đất (-)</a:t>
                </a:r>
                <a:endParaRPr sz="1051">
                  <a:solidFill>
                    <a:schemeClr val="dk1"/>
                  </a:solidFill>
                  <a:latin typeface="Arial"/>
                  <a:ea typeface="Arial"/>
                  <a:cs typeface="Arial"/>
                  <a:sym typeface="Arial"/>
                </a:endParaRPr>
              </a:p>
            </p:txBody>
          </p:sp>
        </p:grpSp>
        <p:grpSp>
          <p:nvGrpSpPr>
            <p:cNvPr id="1421" name="Google Shape;1421;p87"/>
            <p:cNvGrpSpPr/>
            <p:nvPr/>
          </p:nvGrpSpPr>
          <p:grpSpPr>
            <a:xfrm>
              <a:off x="5763077" y="2641073"/>
              <a:ext cx="1495417" cy="2591502"/>
              <a:chOff x="775925" y="2829985"/>
              <a:chExt cx="1495417" cy="2591502"/>
            </a:xfrm>
          </p:grpSpPr>
          <p:pic>
            <p:nvPicPr>
              <p:cNvPr id="1422" name="Google Shape;1422;p87" descr="http://cfile5.uf.tistory.com/image/210CC648580D740034F9B4"/>
              <p:cNvPicPr preferRelativeResize="0"/>
              <p:nvPr/>
            </p:nvPicPr>
            <p:blipFill rotWithShape="1">
              <a:blip r:embed="rId4">
                <a:alphaModFix/>
              </a:blip>
              <a:srcRect l="3821" r="54744" b="28942"/>
              <a:stretch/>
            </p:blipFill>
            <p:spPr>
              <a:xfrm>
                <a:off x="799102" y="2829985"/>
                <a:ext cx="1472240" cy="1830440"/>
              </a:xfrm>
              <a:prstGeom prst="rect">
                <a:avLst/>
              </a:prstGeom>
              <a:noFill/>
              <a:ln>
                <a:noFill/>
              </a:ln>
            </p:spPr>
          </p:pic>
          <p:sp>
            <p:nvSpPr>
              <p:cNvPr id="1423" name="Google Shape;1423;p87"/>
              <p:cNvSpPr txBox="1"/>
              <p:nvPr/>
            </p:nvSpPr>
            <p:spPr>
              <a:xfrm rot="-5400000">
                <a:off x="137033" y="4084417"/>
                <a:ext cx="1439496" cy="161711"/>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1">
                    <a:solidFill>
                      <a:schemeClr val="dk1"/>
                    </a:solidFill>
                    <a:latin typeface="Arial"/>
                    <a:ea typeface="Arial"/>
                    <a:cs typeface="Arial"/>
                    <a:sym typeface="Arial"/>
                  </a:rPr>
                  <a:t>Điện trở nâng lên 10 k Ôm</a:t>
                </a:r>
                <a:endParaRPr sz="1051">
                  <a:solidFill>
                    <a:schemeClr val="dk1"/>
                  </a:solidFill>
                  <a:latin typeface="Arial"/>
                  <a:ea typeface="Arial"/>
                  <a:cs typeface="Arial"/>
                  <a:sym typeface="Arial"/>
                </a:endParaRPr>
              </a:p>
            </p:txBody>
          </p:sp>
          <p:sp>
            <p:nvSpPr>
              <p:cNvPr id="1424" name="Google Shape;1424;p87"/>
              <p:cNvSpPr txBox="1"/>
              <p:nvPr/>
            </p:nvSpPr>
            <p:spPr>
              <a:xfrm rot="-5400000">
                <a:off x="1361624" y="4998430"/>
                <a:ext cx="684404" cy="16171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1">
                    <a:solidFill>
                      <a:schemeClr val="dk1"/>
                    </a:solidFill>
                    <a:latin typeface="Arial"/>
                    <a:ea typeface="Arial"/>
                    <a:cs typeface="Arial"/>
                    <a:sym typeface="Arial"/>
                  </a:rPr>
                  <a:t>Mặt đất (-)</a:t>
                </a:r>
                <a:endParaRPr sz="1051">
                  <a:solidFill>
                    <a:schemeClr val="dk1"/>
                  </a:solidFill>
                  <a:latin typeface="Arial"/>
                  <a:ea typeface="Arial"/>
                  <a:cs typeface="Arial"/>
                  <a:sym typeface="Arial"/>
                </a:endParaRPr>
              </a:p>
            </p:txBody>
          </p:sp>
          <p:sp>
            <p:nvSpPr>
              <p:cNvPr id="1425" name="Google Shape;1425;p87"/>
              <p:cNvSpPr txBox="1"/>
              <p:nvPr/>
            </p:nvSpPr>
            <p:spPr>
              <a:xfrm rot="-5400000">
                <a:off x="1297525" y="4898686"/>
                <a:ext cx="484916" cy="16171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1">
                    <a:solidFill>
                      <a:schemeClr val="dk1"/>
                    </a:solidFill>
                    <a:latin typeface="Arial"/>
                    <a:ea typeface="Arial"/>
                    <a:cs typeface="Arial"/>
                    <a:sym typeface="Arial"/>
                  </a:rPr>
                  <a:t>Vcc (+)</a:t>
                </a:r>
                <a:endParaRPr sz="1051">
                  <a:solidFill>
                    <a:schemeClr val="dk1"/>
                  </a:solidFill>
                  <a:latin typeface="Arial"/>
                  <a:ea typeface="Arial"/>
                  <a:cs typeface="Arial"/>
                  <a:sym typeface="Arial"/>
                </a:endParaRPr>
              </a:p>
            </p:txBody>
          </p:sp>
          <p:sp>
            <p:nvSpPr>
              <p:cNvPr id="1426" name="Google Shape;1426;p87"/>
              <p:cNvSpPr txBox="1"/>
              <p:nvPr/>
            </p:nvSpPr>
            <p:spPr>
              <a:xfrm rot="-5400000">
                <a:off x="1057337" y="4966479"/>
                <a:ext cx="620502" cy="16171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1">
                    <a:solidFill>
                      <a:schemeClr val="dk1"/>
                    </a:solidFill>
                    <a:latin typeface="Arial"/>
                    <a:ea typeface="Arial"/>
                    <a:cs typeface="Arial"/>
                    <a:sym typeface="Arial"/>
                  </a:rPr>
                  <a:t>Tín hiệu</a:t>
                </a:r>
                <a:endParaRPr sz="1051">
                  <a:solidFill>
                    <a:schemeClr val="dk1"/>
                  </a:solidFill>
                  <a:latin typeface="Arial"/>
                  <a:ea typeface="Arial"/>
                  <a:cs typeface="Arial"/>
                  <a:sym typeface="Arial"/>
                </a:endParaRPr>
              </a:p>
            </p:txBody>
          </p:sp>
        </p:grpSp>
      </p:grpSp>
      <p:sp>
        <p:nvSpPr>
          <p:cNvPr id="1427" name="Google Shape;1427;p87"/>
          <p:cNvSpPr txBox="1"/>
          <p:nvPr/>
        </p:nvSpPr>
        <p:spPr>
          <a:xfrm>
            <a:off x="1630931" y="4128753"/>
            <a:ext cx="765435"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chemeClr val="dk1"/>
                </a:solidFill>
                <a:latin typeface="Arial"/>
                <a:ea typeface="Arial"/>
                <a:cs typeface="Arial"/>
                <a:sym typeface="Arial"/>
              </a:rPr>
              <a:t>DHT11</a:t>
            </a:r>
            <a:endParaRPr sz="1200" b="1">
              <a:solidFill>
                <a:schemeClr val="dk1"/>
              </a:solidFill>
              <a:latin typeface="Arial"/>
              <a:ea typeface="Arial"/>
              <a:cs typeface="Arial"/>
              <a:sym typeface="Arial"/>
            </a:endParaRPr>
          </a:p>
        </p:txBody>
      </p:sp>
      <p:sp>
        <p:nvSpPr>
          <p:cNvPr id="1428" name="Google Shape;1428;p87"/>
          <p:cNvSpPr txBox="1"/>
          <p:nvPr/>
        </p:nvSpPr>
        <p:spPr>
          <a:xfrm>
            <a:off x="2454616" y="4118244"/>
            <a:ext cx="1339627"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chemeClr val="dk1"/>
                </a:solidFill>
                <a:latin typeface="Arial"/>
                <a:ea typeface="Arial"/>
                <a:cs typeface="Arial"/>
                <a:sym typeface="Arial"/>
              </a:rPr>
              <a:t>DHT22/AM2302</a:t>
            </a:r>
            <a:endParaRPr sz="1200" b="1">
              <a:solidFill>
                <a:schemeClr val="dk1"/>
              </a:solidFill>
              <a:latin typeface="Arial"/>
              <a:ea typeface="Arial"/>
              <a:cs typeface="Arial"/>
              <a:sym typeface="Arial"/>
            </a:endParaRPr>
          </a:p>
        </p:txBody>
      </p:sp>
      <p:graphicFrame>
        <p:nvGraphicFramePr>
          <p:cNvPr id="1429" name="Google Shape;1429;p87"/>
          <p:cNvGraphicFramePr/>
          <p:nvPr/>
        </p:nvGraphicFramePr>
        <p:xfrm>
          <a:off x="3916533" y="3162877"/>
          <a:ext cx="1613300" cy="2022200"/>
        </p:xfrm>
        <a:graphic>
          <a:graphicData uri="http://schemas.openxmlformats.org/drawingml/2006/table">
            <a:tbl>
              <a:tblPr firstRow="1" bandRow="1">
                <a:noFill/>
              </a:tblPr>
              <a:tblGrid>
                <a:gridCol w="806650">
                  <a:extLst>
                    <a:ext uri="{9D8B030D-6E8A-4147-A177-3AD203B41FA5}">
                      <a16:colId xmlns:a16="http://schemas.microsoft.com/office/drawing/2014/main" val="20000"/>
                    </a:ext>
                  </a:extLst>
                </a:gridCol>
                <a:gridCol w="806650">
                  <a:extLst>
                    <a:ext uri="{9D8B030D-6E8A-4147-A177-3AD203B41FA5}">
                      <a16:colId xmlns:a16="http://schemas.microsoft.com/office/drawing/2014/main" val="20001"/>
                    </a:ext>
                  </a:extLst>
                </a:gridCol>
              </a:tblGrid>
              <a:tr h="313000">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Số chân.</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Mô tả.</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313000">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1</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VCC</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13000">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2</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Tín hiệu</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13000">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3</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NC</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13000">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4</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500"/>
                        <a:buFont typeface="Arial"/>
                        <a:buNone/>
                      </a:pPr>
                      <a:r>
                        <a:rPr lang="en-US" sz="1500" b="0" u="none" strike="noStrike" cap="none">
                          <a:solidFill>
                            <a:srgbClr val="262626"/>
                          </a:solidFill>
                          <a:latin typeface="Arial"/>
                          <a:ea typeface="Arial"/>
                          <a:cs typeface="Arial"/>
                          <a:sym typeface="Arial"/>
                        </a:rPr>
                        <a:t>GND</a:t>
                      </a:r>
                      <a:endParaRPr sz="1500" b="0" u="none" strike="noStrike" cap="none">
                        <a:solidFill>
                          <a:srgbClr val="262626"/>
                        </a:solidFill>
                        <a:latin typeface="Arial"/>
                        <a:ea typeface="Arial"/>
                        <a:cs typeface="Arial"/>
                        <a:sym typeface="Arial"/>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grpSp>
        <p:nvGrpSpPr>
          <p:cNvPr id="1430" name="Google Shape;1430;p87"/>
          <p:cNvGrpSpPr/>
          <p:nvPr/>
        </p:nvGrpSpPr>
        <p:grpSpPr>
          <a:xfrm>
            <a:off x="416136" y="436183"/>
            <a:ext cx="9051872" cy="276871"/>
            <a:chOff x="416136" y="436183"/>
            <a:chExt cx="9051872" cy="276871"/>
          </a:xfrm>
        </p:grpSpPr>
        <p:sp>
          <p:nvSpPr>
            <p:cNvPr id="1431" name="Google Shape;1431;p87"/>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432" name="Google Shape;1432;p87"/>
            <p:cNvSpPr/>
            <p:nvPr/>
          </p:nvSpPr>
          <p:spPr>
            <a:xfrm>
              <a:off x="416136" y="436183"/>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2.5.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r>
                <a:rPr lang="en-US" sz="1799" dirty="0">
                  <a:solidFill>
                    <a:schemeClr val="tx1"/>
                  </a:solidFill>
                </a:rPr>
                <a:t> </a:t>
              </a:r>
              <a:r>
                <a:rPr lang="en-US" sz="1799" dirty="0" err="1">
                  <a:solidFill>
                    <a:schemeClr val="tx1"/>
                  </a:solidFill>
                </a:rPr>
                <a:t>nhiệt</a:t>
              </a:r>
              <a:r>
                <a:rPr lang="en-US" sz="1799" dirty="0">
                  <a:solidFill>
                    <a:schemeClr val="tx1"/>
                  </a:solidFill>
                </a:rPr>
                <a:t> </a:t>
              </a:r>
              <a:r>
                <a:rPr lang="en-US" sz="1799" dirty="0" err="1">
                  <a:solidFill>
                    <a:schemeClr val="tx1"/>
                  </a:solidFill>
                </a:rPr>
                <a:t>độ-độ</a:t>
              </a:r>
              <a:r>
                <a:rPr lang="en-US" sz="1799" dirty="0">
                  <a:solidFill>
                    <a:schemeClr val="tx1"/>
                  </a:solidFill>
                </a:rPr>
                <a:t> </a:t>
              </a:r>
              <a:r>
                <a:rPr lang="en-US" sz="1799" dirty="0" err="1">
                  <a:solidFill>
                    <a:schemeClr val="tx1"/>
                  </a:solidFill>
                </a:rPr>
                <a:t>ẩm</a:t>
              </a:r>
              <a:endParaRPr sz="1799" b="1" dirty="0">
                <a:solidFill>
                  <a:schemeClr val="lt1"/>
                </a:solidFill>
                <a:latin typeface="Arial"/>
                <a:ea typeface="Arial"/>
                <a:cs typeface="Arial"/>
                <a:sym typeface="Arial"/>
              </a:endParaRPr>
            </a:p>
          </p:txBody>
        </p:sp>
      </p:grpSp>
      <p:graphicFrame>
        <p:nvGraphicFramePr>
          <p:cNvPr id="1433" name="Google Shape;1433;p87"/>
          <p:cNvGraphicFramePr/>
          <p:nvPr/>
        </p:nvGraphicFramePr>
        <p:xfrm>
          <a:off x="704851" y="5247799"/>
          <a:ext cx="8636000" cy="936260"/>
        </p:xfrm>
        <a:graphic>
          <a:graphicData uri="http://schemas.openxmlformats.org/drawingml/2006/table">
            <a:tbl>
              <a:tblPr firstRow="1" bandRow="1">
                <a:noFill/>
              </a:tblPr>
              <a:tblGrid>
                <a:gridCol w="1681400">
                  <a:extLst>
                    <a:ext uri="{9D8B030D-6E8A-4147-A177-3AD203B41FA5}">
                      <a16:colId xmlns:a16="http://schemas.microsoft.com/office/drawing/2014/main" val="20000"/>
                    </a:ext>
                  </a:extLst>
                </a:gridCol>
                <a:gridCol w="1079900">
                  <a:extLst>
                    <a:ext uri="{9D8B030D-6E8A-4147-A177-3AD203B41FA5}">
                      <a16:colId xmlns:a16="http://schemas.microsoft.com/office/drawing/2014/main" val="20001"/>
                    </a:ext>
                  </a:extLst>
                </a:gridCol>
                <a:gridCol w="2826200">
                  <a:extLst>
                    <a:ext uri="{9D8B030D-6E8A-4147-A177-3AD203B41FA5}">
                      <a16:colId xmlns:a16="http://schemas.microsoft.com/office/drawing/2014/main" val="20002"/>
                    </a:ext>
                  </a:extLst>
                </a:gridCol>
                <a:gridCol w="3048500">
                  <a:extLst>
                    <a:ext uri="{9D8B030D-6E8A-4147-A177-3AD203B41FA5}">
                      <a16:colId xmlns:a16="http://schemas.microsoft.com/office/drawing/2014/main" val="20003"/>
                    </a:ext>
                  </a:extLst>
                </a:gridCol>
              </a:tblGrid>
              <a:tr h="324000">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máy</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Cách sử dụng</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Khoảng nhiệt độ</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Khoảng độ ẩm</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486100">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DHT11</a:t>
                      </a:r>
                      <a:endParaRPr/>
                    </a:p>
                  </a:txBody>
                  <a:tcPr marL="84400" marR="84400" marT="42200" marB="422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Trong nhà</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0°C - 50°C</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20 - 80%</a:t>
                      </a:r>
                      <a:endParaRPr/>
                    </a:p>
                  </a:txBody>
                  <a:tcPr marL="84400" marR="84400" marT="42200" marB="422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439" name="Google Shape;1439;p88"/>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440" name="Google Shape;1440;p88"/>
          <p:cNvSpPr/>
          <p:nvPr/>
        </p:nvSpPr>
        <p:spPr>
          <a:xfrm>
            <a:off x="712189" y="1791154"/>
            <a:ext cx="8487381" cy="345300"/>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Sơ đồ khối</a:t>
            </a:r>
            <a:endParaRPr/>
          </a:p>
        </p:txBody>
      </p:sp>
      <p:grpSp>
        <p:nvGrpSpPr>
          <p:cNvPr id="1441" name="Google Shape;1441;p88"/>
          <p:cNvGrpSpPr/>
          <p:nvPr/>
        </p:nvGrpSpPr>
        <p:grpSpPr>
          <a:xfrm>
            <a:off x="2186623" y="2454918"/>
            <a:ext cx="5529607" cy="3297337"/>
            <a:chOff x="2186609" y="2434340"/>
            <a:chExt cx="5529607" cy="3297335"/>
          </a:xfrm>
        </p:grpSpPr>
        <p:sp>
          <p:nvSpPr>
            <p:cNvPr id="1442" name="Google Shape;1442;p88"/>
            <p:cNvSpPr/>
            <p:nvPr/>
          </p:nvSpPr>
          <p:spPr>
            <a:xfrm>
              <a:off x="6291200" y="3150705"/>
              <a:ext cx="1425016" cy="1808922"/>
            </a:xfrm>
            <a:prstGeom prst="rect">
              <a:avLst/>
            </a:prstGeom>
            <a:noFill/>
            <a:ln w="19050" cap="flat" cmpd="sng">
              <a:solidFill>
                <a:srgbClr val="7CB5E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DHT 11</a:t>
              </a:r>
              <a:endParaRPr sz="2800" b="1">
                <a:solidFill>
                  <a:schemeClr val="dk1"/>
                </a:solidFill>
                <a:latin typeface="Arial"/>
                <a:ea typeface="Arial"/>
                <a:cs typeface="Arial"/>
                <a:sym typeface="Arial"/>
              </a:endParaRPr>
            </a:p>
          </p:txBody>
        </p:sp>
        <p:sp>
          <p:nvSpPr>
            <p:cNvPr id="1443" name="Google Shape;1443;p88"/>
            <p:cNvSpPr txBox="1"/>
            <p:nvPr/>
          </p:nvSpPr>
          <p:spPr>
            <a:xfrm>
              <a:off x="5215852" y="5516103"/>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GND</a:t>
              </a:r>
              <a:endParaRPr sz="1401" b="1">
                <a:solidFill>
                  <a:schemeClr val="dk1"/>
                </a:solidFill>
                <a:latin typeface="Arial"/>
                <a:ea typeface="Arial"/>
                <a:cs typeface="Arial"/>
                <a:sym typeface="Arial"/>
              </a:endParaRPr>
            </a:p>
          </p:txBody>
        </p:sp>
        <p:sp>
          <p:nvSpPr>
            <p:cNvPr id="1444" name="Google Shape;1444;p88"/>
            <p:cNvSpPr txBox="1"/>
            <p:nvPr/>
          </p:nvSpPr>
          <p:spPr>
            <a:xfrm>
              <a:off x="5581280" y="4475973"/>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4 chân</a:t>
              </a:r>
              <a:endParaRPr sz="1401" b="1">
                <a:solidFill>
                  <a:schemeClr val="dk1"/>
                </a:solidFill>
                <a:latin typeface="Arial"/>
                <a:ea typeface="Arial"/>
                <a:cs typeface="Arial"/>
                <a:sym typeface="Arial"/>
              </a:endParaRPr>
            </a:p>
          </p:txBody>
        </p:sp>
        <p:sp>
          <p:nvSpPr>
            <p:cNvPr id="1445" name="Google Shape;1445;p88"/>
            <p:cNvSpPr txBox="1"/>
            <p:nvPr/>
          </p:nvSpPr>
          <p:spPr>
            <a:xfrm>
              <a:off x="5581280" y="3844395"/>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2 chân</a:t>
              </a:r>
              <a:endParaRPr sz="1401" b="1">
                <a:solidFill>
                  <a:schemeClr val="dk1"/>
                </a:solidFill>
                <a:latin typeface="Arial"/>
                <a:ea typeface="Arial"/>
                <a:cs typeface="Arial"/>
                <a:sym typeface="Arial"/>
              </a:endParaRPr>
            </a:p>
          </p:txBody>
        </p:sp>
        <p:sp>
          <p:nvSpPr>
            <p:cNvPr id="1446" name="Google Shape;1446;p88"/>
            <p:cNvSpPr txBox="1"/>
            <p:nvPr/>
          </p:nvSpPr>
          <p:spPr>
            <a:xfrm>
              <a:off x="4483100" y="3859864"/>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DATA</a:t>
              </a:r>
              <a:endParaRPr sz="1401" b="1">
                <a:solidFill>
                  <a:schemeClr val="dk1"/>
                </a:solidFill>
                <a:latin typeface="Arial"/>
                <a:ea typeface="Arial"/>
                <a:cs typeface="Arial"/>
                <a:sym typeface="Arial"/>
              </a:endParaRPr>
            </a:p>
          </p:txBody>
        </p:sp>
        <p:sp>
          <p:nvSpPr>
            <p:cNvPr id="1447" name="Google Shape;1447;p88"/>
            <p:cNvSpPr txBox="1"/>
            <p:nvPr/>
          </p:nvSpPr>
          <p:spPr>
            <a:xfrm>
              <a:off x="4493598" y="3843304"/>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DATA</a:t>
              </a:r>
              <a:endParaRPr sz="1401" b="1">
                <a:solidFill>
                  <a:schemeClr val="dk1"/>
                </a:solidFill>
                <a:latin typeface="Arial"/>
                <a:ea typeface="Arial"/>
                <a:cs typeface="Arial"/>
                <a:sym typeface="Arial"/>
              </a:endParaRPr>
            </a:p>
          </p:txBody>
        </p:sp>
        <p:sp>
          <p:nvSpPr>
            <p:cNvPr id="1448" name="Google Shape;1448;p88"/>
            <p:cNvSpPr txBox="1"/>
            <p:nvPr/>
          </p:nvSpPr>
          <p:spPr>
            <a:xfrm>
              <a:off x="4483100" y="3826742"/>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DATA</a:t>
              </a:r>
              <a:endParaRPr sz="1401" b="1">
                <a:solidFill>
                  <a:schemeClr val="dk1"/>
                </a:solidFill>
                <a:latin typeface="Arial"/>
                <a:ea typeface="Arial"/>
                <a:cs typeface="Arial"/>
                <a:sym typeface="Arial"/>
              </a:endParaRPr>
            </a:p>
          </p:txBody>
        </p:sp>
        <p:sp>
          <p:nvSpPr>
            <p:cNvPr id="1449" name="Google Shape;1449;p88"/>
            <p:cNvSpPr txBox="1"/>
            <p:nvPr/>
          </p:nvSpPr>
          <p:spPr>
            <a:xfrm>
              <a:off x="4556682" y="3231651"/>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1" b="1">
                  <a:solidFill>
                    <a:schemeClr val="dk1"/>
                  </a:solidFill>
                  <a:latin typeface="Arial"/>
                  <a:ea typeface="Arial"/>
                  <a:cs typeface="Arial"/>
                  <a:sym typeface="Arial"/>
                </a:rPr>
                <a:t>5K</a:t>
              </a:r>
              <a:endParaRPr sz="1401" b="1">
                <a:solidFill>
                  <a:schemeClr val="dk1"/>
                </a:solidFill>
                <a:latin typeface="Arial"/>
                <a:ea typeface="Arial"/>
                <a:cs typeface="Arial"/>
                <a:sym typeface="Arial"/>
              </a:endParaRPr>
            </a:p>
          </p:txBody>
        </p:sp>
        <p:sp>
          <p:nvSpPr>
            <p:cNvPr id="1450" name="Google Shape;1450;p88"/>
            <p:cNvSpPr txBox="1"/>
            <p:nvPr/>
          </p:nvSpPr>
          <p:spPr>
            <a:xfrm>
              <a:off x="5581280" y="3234475"/>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1 chân</a:t>
              </a:r>
              <a:endParaRPr sz="1401" b="1">
                <a:solidFill>
                  <a:schemeClr val="dk1"/>
                </a:solidFill>
                <a:latin typeface="Arial"/>
                <a:ea typeface="Arial"/>
                <a:cs typeface="Arial"/>
                <a:sym typeface="Arial"/>
              </a:endParaRPr>
            </a:p>
          </p:txBody>
        </p:sp>
        <p:sp>
          <p:nvSpPr>
            <p:cNvPr id="1451" name="Google Shape;1451;p88"/>
            <p:cNvSpPr txBox="1"/>
            <p:nvPr/>
          </p:nvSpPr>
          <p:spPr>
            <a:xfrm>
              <a:off x="5152767" y="2434340"/>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VDD</a:t>
              </a:r>
              <a:endParaRPr sz="1401" b="1">
                <a:solidFill>
                  <a:schemeClr val="dk1"/>
                </a:solidFill>
                <a:latin typeface="Arial"/>
                <a:ea typeface="Arial"/>
                <a:cs typeface="Arial"/>
                <a:sym typeface="Arial"/>
              </a:endParaRPr>
            </a:p>
          </p:txBody>
        </p:sp>
        <p:sp>
          <p:nvSpPr>
            <p:cNvPr id="1452" name="Google Shape;1452;p88"/>
            <p:cNvSpPr txBox="1"/>
            <p:nvPr/>
          </p:nvSpPr>
          <p:spPr>
            <a:xfrm>
              <a:off x="4064582" y="2434340"/>
              <a:ext cx="659169" cy="2155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b="1">
                  <a:solidFill>
                    <a:schemeClr val="dk1"/>
                  </a:solidFill>
                  <a:latin typeface="Arial"/>
                  <a:ea typeface="Arial"/>
                  <a:cs typeface="Arial"/>
                  <a:sym typeface="Arial"/>
                </a:rPr>
                <a:t>VDD</a:t>
              </a:r>
              <a:endParaRPr sz="1401" b="1">
                <a:solidFill>
                  <a:schemeClr val="dk1"/>
                </a:solidFill>
                <a:latin typeface="Arial"/>
                <a:ea typeface="Arial"/>
                <a:cs typeface="Arial"/>
                <a:sym typeface="Arial"/>
              </a:endParaRPr>
            </a:p>
          </p:txBody>
        </p:sp>
        <p:sp>
          <p:nvSpPr>
            <p:cNvPr id="1453" name="Google Shape;1453;p88"/>
            <p:cNvSpPr/>
            <p:nvPr/>
          </p:nvSpPr>
          <p:spPr>
            <a:xfrm>
              <a:off x="2186609" y="2723322"/>
              <a:ext cx="1367969" cy="2792781"/>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dk1"/>
                  </a:solidFill>
                  <a:latin typeface="Arial"/>
                  <a:ea typeface="Arial"/>
                  <a:cs typeface="Arial"/>
                  <a:sym typeface="Arial"/>
                </a:rPr>
                <a:t>MCU</a:t>
              </a:r>
              <a:endParaRPr sz="2800" b="1">
                <a:solidFill>
                  <a:schemeClr val="dk1"/>
                </a:solidFill>
                <a:latin typeface="Arial"/>
                <a:ea typeface="Arial"/>
                <a:cs typeface="Arial"/>
                <a:sym typeface="Arial"/>
              </a:endParaRPr>
            </a:p>
          </p:txBody>
        </p:sp>
        <p:cxnSp>
          <p:nvCxnSpPr>
            <p:cNvPr id="1454" name="Google Shape;1454;p88"/>
            <p:cNvCxnSpPr/>
            <p:nvPr/>
          </p:nvCxnSpPr>
          <p:spPr>
            <a:xfrm>
              <a:off x="3697357" y="4105127"/>
              <a:ext cx="2543088" cy="0"/>
            </a:xfrm>
            <a:prstGeom prst="straightConnector1">
              <a:avLst/>
            </a:prstGeom>
            <a:noFill/>
            <a:ln w="57150" cap="flat" cmpd="sng">
              <a:solidFill>
                <a:schemeClr val="dk1"/>
              </a:solidFill>
              <a:prstDash val="solid"/>
              <a:miter lim="800000"/>
              <a:headEnd type="triangle" w="med" len="med"/>
              <a:tailEnd type="triangle" w="med" len="med"/>
            </a:ln>
          </p:spPr>
        </p:cxnSp>
        <p:cxnSp>
          <p:nvCxnSpPr>
            <p:cNvPr id="1455" name="Google Shape;1455;p88"/>
            <p:cNvCxnSpPr/>
            <p:nvPr/>
          </p:nvCxnSpPr>
          <p:spPr>
            <a:xfrm rot="5400000">
              <a:off x="5481427" y="4706330"/>
              <a:ext cx="824686" cy="794861"/>
            </a:xfrm>
            <a:prstGeom prst="bentConnector3">
              <a:avLst>
                <a:gd name="adj1" fmla="val -703"/>
              </a:avLst>
            </a:prstGeom>
            <a:noFill/>
            <a:ln w="12700" cap="flat" cmpd="sng">
              <a:solidFill>
                <a:schemeClr val="dk1"/>
              </a:solidFill>
              <a:prstDash val="solid"/>
              <a:miter lim="800000"/>
              <a:headEnd type="none" w="sm" len="sm"/>
              <a:tailEnd type="none" w="sm" len="sm"/>
            </a:ln>
          </p:spPr>
        </p:cxnSp>
        <p:cxnSp>
          <p:nvCxnSpPr>
            <p:cNvPr id="1456" name="Google Shape;1456;p88"/>
            <p:cNvCxnSpPr/>
            <p:nvPr/>
          </p:nvCxnSpPr>
          <p:spPr>
            <a:xfrm>
              <a:off x="5426889" y="5516103"/>
              <a:ext cx="183418" cy="0"/>
            </a:xfrm>
            <a:prstGeom prst="straightConnector1">
              <a:avLst/>
            </a:prstGeom>
            <a:noFill/>
            <a:ln w="12700" cap="flat" cmpd="sng">
              <a:solidFill>
                <a:schemeClr val="dk1"/>
              </a:solidFill>
              <a:prstDash val="solid"/>
              <a:miter lim="800000"/>
              <a:headEnd type="none" w="sm" len="sm"/>
              <a:tailEnd type="none" w="sm" len="sm"/>
            </a:ln>
          </p:spPr>
        </p:cxnSp>
        <p:cxnSp>
          <p:nvCxnSpPr>
            <p:cNvPr id="1457" name="Google Shape;1457;p88"/>
            <p:cNvCxnSpPr/>
            <p:nvPr/>
          </p:nvCxnSpPr>
          <p:spPr>
            <a:xfrm>
              <a:off x="5412250" y="2672644"/>
              <a:ext cx="183418" cy="0"/>
            </a:xfrm>
            <a:prstGeom prst="straightConnector1">
              <a:avLst/>
            </a:prstGeom>
            <a:noFill/>
            <a:ln w="12700" cap="flat" cmpd="sng">
              <a:solidFill>
                <a:schemeClr val="dk1"/>
              </a:solidFill>
              <a:prstDash val="solid"/>
              <a:miter lim="800000"/>
              <a:headEnd type="none" w="sm" len="sm"/>
              <a:tailEnd type="none" w="sm" len="sm"/>
            </a:ln>
          </p:spPr>
        </p:cxnSp>
        <p:cxnSp>
          <p:nvCxnSpPr>
            <p:cNvPr id="1458" name="Google Shape;1458;p88"/>
            <p:cNvCxnSpPr/>
            <p:nvPr/>
          </p:nvCxnSpPr>
          <p:spPr>
            <a:xfrm>
              <a:off x="4299682" y="2672644"/>
              <a:ext cx="183418" cy="0"/>
            </a:xfrm>
            <a:prstGeom prst="straightConnector1">
              <a:avLst/>
            </a:prstGeom>
            <a:noFill/>
            <a:ln w="12700" cap="flat" cmpd="sng">
              <a:solidFill>
                <a:schemeClr val="dk1"/>
              </a:solidFill>
              <a:prstDash val="solid"/>
              <a:miter lim="800000"/>
              <a:headEnd type="none" w="sm" len="sm"/>
              <a:tailEnd type="none" w="sm" len="sm"/>
            </a:ln>
          </p:spPr>
        </p:cxnSp>
        <p:cxnSp>
          <p:nvCxnSpPr>
            <p:cNvPr id="1459" name="Google Shape;1459;p88"/>
            <p:cNvCxnSpPr/>
            <p:nvPr/>
          </p:nvCxnSpPr>
          <p:spPr>
            <a:xfrm rot="10800000">
              <a:off x="4411980" y="2672644"/>
              <a:ext cx="0" cy="1432483"/>
            </a:xfrm>
            <a:prstGeom prst="straightConnector1">
              <a:avLst/>
            </a:prstGeom>
            <a:noFill/>
            <a:ln w="12700" cap="flat" cmpd="sng">
              <a:solidFill>
                <a:schemeClr val="dk1"/>
              </a:solidFill>
              <a:prstDash val="solid"/>
              <a:miter lim="800000"/>
              <a:headEnd type="none" w="sm" len="sm"/>
              <a:tailEnd type="none" w="sm" len="sm"/>
            </a:ln>
          </p:spPr>
        </p:cxnSp>
        <p:cxnSp>
          <p:nvCxnSpPr>
            <p:cNvPr id="1460" name="Google Shape;1460;p88"/>
            <p:cNvCxnSpPr/>
            <p:nvPr/>
          </p:nvCxnSpPr>
          <p:spPr>
            <a:xfrm rot="10800000">
              <a:off x="5496340" y="2672644"/>
              <a:ext cx="794861" cy="774452"/>
            </a:xfrm>
            <a:prstGeom prst="bentConnector3">
              <a:avLst>
                <a:gd name="adj1" fmla="val 96976"/>
              </a:avLst>
            </a:prstGeom>
            <a:noFill/>
            <a:ln w="12700" cap="flat" cmpd="sng">
              <a:solidFill>
                <a:schemeClr val="dk1"/>
              </a:solidFill>
              <a:prstDash val="solid"/>
              <a:miter lim="800000"/>
              <a:headEnd type="none" w="sm" len="sm"/>
              <a:tailEnd type="none" w="sm" len="sm"/>
            </a:ln>
          </p:spPr>
        </p:cxnSp>
        <p:sp>
          <p:nvSpPr>
            <p:cNvPr id="1461" name="Google Shape;1461;p88"/>
            <p:cNvSpPr/>
            <p:nvPr/>
          </p:nvSpPr>
          <p:spPr>
            <a:xfrm>
              <a:off x="4340861" y="3161355"/>
              <a:ext cx="121875" cy="3321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dk1"/>
                </a:solidFill>
                <a:latin typeface="Calibri"/>
                <a:ea typeface="Calibri"/>
                <a:cs typeface="Calibri"/>
                <a:sym typeface="Calibri"/>
              </a:endParaRPr>
            </a:p>
          </p:txBody>
        </p:sp>
      </p:grpSp>
      <p:grpSp>
        <p:nvGrpSpPr>
          <p:cNvPr id="1462" name="Google Shape;1462;p88"/>
          <p:cNvGrpSpPr/>
          <p:nvPr/>
        </p:nvGrpSpPr>
        <p:grpSpPr>
          <a:xfrm>
            <a:off x="416136" y="436183"/>
            <a:ext cx="9051872" cy="276871"/>
            <a:chOff x="416136" y="436183"/>
            <a:chExt cx="9051872" cy="276871"/>
          </a:xfrm>
        </p:grpSpPr>
        <p:sp>
          <p:nvSpPr>
            <p:cNvPr id="1463" name="Google Shape;1463;p88"/>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464" name="Google Shape;1464;p88"/>
            <p:cNvSpPr/>
            <p:nvPr/>
          </p:nvSpPr>
          <p:spPr>
            <a:xfrm>
              <a:off x="416136" y="436183"/>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2.5. Cảm biến nhiệt độ-độ ẩm</a:t>
              </a:r>
              <a:endParaRPr sz="1799" b="1">
                <a:solidFill>
                  <a:schemeClr val="lt1"/>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sp>
        <p:nvSpPr>
          <p:cNvPr id="1470" name="Google Shape;1470;p89"/>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471" name="Google Shape;1471;p89"/>
          <p:cNvSpPr/>
          <p:nvPr/>
        </p:nvSpPr>
        <p:spPr>
          <a:xfrm>
            <a:off x="712189" y="1791154"/>
            <a:ext cx="8487381" cy="345300"/>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Toàn bộ tiến trình giao tiếp của cảm biến DHT22</a:t>
            </a:r>
            <a:endParaRPr/>
          </a:p>
        </p:txBody>
      </p:sp>
      <p:grpSp>
        <p:nvGrpSpPr>
          <p:cNvPr id="1472" name="Google Shape;1472;p89"/>
          <p:cNvGrpSpPr/>
          <p:nvPr/>
        </p:nvGrpSpPr>
        <p:grpSpPr>
          <a:xfrm>
            <a:off x="416136" y="436183"/>
            <a:ext cx="9051872" cy="276871"/>
            <a:chOff x="416136" y="436183"/>
            <a:chExt cx="9051872" cy="276871"/>
          </a:xfrm>
        </p:grpSpPr>
        <p:sp>
          <p:nvSpPr>
            <p:cNvPr id="1473" name="Google Shape;1473;p89"/>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474" name="Google Shape;1474;p89"/>
            <p:cNvSpPr/>
            <p:nvPr/>
          </p:nvSpPr>
          <p:spPr>
            <a:xfrm>
              <a:off x="416136" y="436183"/>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2.5.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r>
                <a:rPr lang="en-US" sz="1799" dirty="0">
                  <a:solidFill>
                    <a:schemeClr val="tx1"/>
                  </a:solidFill>
                </a:rPr>
                <a:t> </a:t>
              </a:r>
              <a:r>
                <a:rPr lang="en-US" sz="1799" dirty="0" err="1">
                  <a:solidFill>
                    <a:schemeClr val="tx1"/>
                  </a:solidFill>
                </a:rPr>
                <a:t>nhiệt</a:t>
              </a:r>
              <a:r>
                <a:rPr lang="en-US" sz="1799" dirty="0">
                  <a:solidFill>
                    <a:schemeClr val="tx1"/>
                  </a:solidFill>
                </a:rPr>
                <a:t> </a:t>
              </a:r>
              <a:r>
                <a:rPr lang="en-US" sz="1799" dirty="0" err="1">
                  <a:solidFill>
                    <a:schemeClr val="tx1"/>
                  </a:solidFill>
                </a:rPr>
                <a:t>độ-độ</a:t>
              </a:r>
              <a:r>
                <a:rPr lang="en-US" sz="1799" dirty="0">
                  <a:solidFill>
                    <a:schemeClr val="tx1"/>
                  </a:solidFill>
                </a:rPr>
                <a:t> </a:t>
              </a:r>
              <a:r>
                <a:rPr lang="en-US" sz="1799" dirty="0" err="1">
                  <a:solidFill>
                    <a:schemeClr val="tx1"/>
                  </a:solidFill>
                </a:rPr>
                <a:t>ẩm</a:t>
              </a:r>
              <a:endParaRPr sz="1799" b="1" dirty="0">
                <a:solidFill>
                  <a:schemeClr val="lt1"/>
                </a:solidFill>
                <a:latin typeface="Arial"/>
                <a:ea typeface="Arial"/>
                <a:cs typeface="Arial"/>
                <a:sym typeface="Arial"/>
              </a:endParaRPr>
            </a:p>
          </p:txBody>
        </p:sp>
      </p:grpSp>
      <p:grpSp>
        <p:nvGrpSpPr>
          <p:cNvPr id="1475" name="Google Shape;1475;p89"/>
          <p:cNvGrpSpPr/>
          <p:nvPr/>
        </p:nvGrpSpPr>
        <p:grpSpPr>
          <a:xfrm>
            <a:off x="673504" y="2784244"/>
            <a:ext cx="8432963" cy="2809043"/>
            <a:chOff x="731229" y="3262069"/>
            <a:chExt cx="8432963" cy="2809043"/>
          </a:xfrm>
        </p:grpSpPr>
        <p:grpSp>
          <p:nvGrpSpPr>
            <p:cNvPr id="1476" name="Google Shape;1476;p89"/>
            <p:cNvGrpSpPr/>
            <p:nvPr/>
          </p:nvGrpSpPr>
          <p:grpSpPr>
            <a:xfrm>
              <a:off x="731229" y="3262069"/>
              <a:ext cx="8432963" cy="1986939"/>
              <a:chOff x="731229" y="3262069"/>
              <a:chExt cx="8432963" cy="1986939"/>
            </a:xfrm>
          </p:grpSpPr>
          <p:grpSp>
            <p:nvGrpSpPr>
              <p:cNvPr id="1477" name="Google Shape;1477;p89"/>
              <p:cNvGrpSpPr/>
              <p:nvPr/>
            </p:nvGrpSpPr>
            <p:grpSpPr>
              <a:xfrm>
                <a:off x="1204546" y="3279531"/>
                <a:ext cx="7693269" cy="1969477"/>
                <a:chOff x="1204546" y="3279531"/>
                <a:chExt cx="7693269" cy="1969477"/>
              </a:xfrm>
            </p:grpSpPr>
            <p:sp>
              <p:nvSpPr>
                <p:cNvPr id="1478" name="Google Shape;1478;p89"/>
                <p:cNvSpPr/>
                <p:nvPr/>
              </p:nvSpPr>
              <p:spPr>
                <a:xfrm>
                  <a:off x="1204546"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9" name="Google Shape;1479;p89"/>
                <p:cNvSpPr/>
                <p:nvPr/>
              </p:nvSpPr>
              <p:spPr>
                <a:xfrm>
                  <a:off x="1204546"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0" name="Google Shape;1480;p89"/>
                <p:cNvSpPr/>
                <p:nvPr/>
              </p:nvSpPr>
              <p:spPr>
                <a:xfrm>
                  <a:off x="144193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1" name="Google Shape;1481;p89"/>
                <p:cNvSpPr/>
                <p:nvPr/>
              </p:nvSpPr>
              <p:spPr>
                <a:xfrm>
                  <a:off x="214532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2" name="Google Shape;1482;p89"/>
                <p:cNvSpPr/>
                <p:nvPr/>
              </p:nvSpPr>
              <p:spPr>
                <a:xfrm>
                  <a:off x="305972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3" name="Google Shape;1483;p89"/>
                <p:cNvSpPr/>
                <p:nvPr/>
              </p:nvSpPr>
              <p:spPr>
                <a:xfrm>
                  <a:off x="372793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4" name="Google Shape;1484;p89"/>
                <p:cNvSpPr/>
                <p:nvPr/>
              </p:nvSpPr>
              <p:spPr>
                <a:xfrm>
                  <a:off x="454562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5" name="Google Shape;1485;p89"/>
                <p:cNvSpPr/>
                <p:nvPr/>
              </p:nvSpPr>
              <p:spPr>
                <a:xfrm>
                  <a:off x="5706206"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6" name="Google Shape;1486;p89"/>
                <p:cNvSpPr/>
                <p:nvPr/>
              </p:nvSpPr>
              <p:spPr>
                <a:xfrm>
                  <a:off x="7323991"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7" name="Google Shape;1487;p89"/>
                <p:cNvSpPr/>
                <p:nvPr/>
              </p:nvSpPr>
              <p:spPr>
                <a:xfrm>
                  <a:off x="7904283"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488" name="Google Shape;1488;p89"/>
              <p:cNvSpPr/>
              <p:nvPr/>
            </p:nvSpPr>
            <p:spPr>
              <a:xfrm>
                <a:off x="731229" y="3811451"/>
                <a:ext cx="454264" cy="184666"/>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489" name="Google Shape;1489;p89"/>
              <p:cNvSpPr/>
              <p:nvPr/>
            </p:nvSpPr>
            <p:spPr>
              <a:xfrm>
                <a:off x="731229" y="4418121"/>
                <a:ext cx="454264" cy="184666"/>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490" name="Google Shape;1490;p89"/>
              <p:cNvSpPr/>
              <p:nvPr/>
            </p:nvSpPr>
            <p:spPr>
              <a:xfrm>
                <a:off x="2231483" y="3262069"/>
                <a:ext cx="9129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Máy chủ nâng lên và chờ phản hồi của cảm biến</a:t>
                </a:r>
                <a:endParaRPr/>
              </a:p>
            </p:txBody>
          </p:sp>
          <p:sp>
            <p:nvSpPr>
              <p:cNvPr id="1491" name="Google Shape;1491;p89"/>
              <p:cNvSpPr/>
              <p:nvPr/>
            </p:nvSpPr>
            <p:spPr>
              <a:xfrm>
                <a:off x="3788623" y="3262069"/>
                <a:ext cx="751183"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Cảm biến nâng lên, sẵn sàng xuất tín hiệu</a:t>
                </a:r>
                <a:endParaRPr/>
              </a:p>
            </p:txBody>
          </p:sp>
          <p:sp>
            <p:nvSpPr>
              <p:cNvPr id="1492" name="Google Shape;1492;p89"/>
              <p:cNvSpPr/>
              <p:nvPr/>
            </p:nvSpPr>
            <p:spPr>
              <a:xfrm>
                <a:off x="4789741" y="3326369"/>
                <a:ext cx="86091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Cảm biến xuất dữ liệu 1 bit “0”</a:t>
                </a:r>
                <a:endParaRPr/>
              </a:p>
            </p:txBody>
          </p:sp>
          <p:sp>
            <p:nvSpPr>
              <p:cNvPr id="1493" name="Google Shape;1493;p89"/>
              <p:cNvSpPr/>
              <p:nvPr/>
            </p:nvSpPr>
            <p:spPr>
              <a:xfrm>
                <a:off x="5823794" y="3326369"/>
                <a:ext cx="1233831" cy="30777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a:solidFill>
                      <a:srgbClr val="262626"/>
                    </a:solidFill>
                    <a:latin typeface="Arial"/>
                    <a:ea typeface="Arial"/>
                    <a:cs typeface="Arial"/>
                    <a:sym typeface="Arial"/>
                  </a:rPr>
                  <a:t>Cảm biến xuất dữ liệu 1 bit “1”</a:t>
                </a:r>
                <a:endParaRPr/>
              </a:p>
            </p:txBody>
          </p:sp>
          <p:sp>
            <p:nvSpPr>
              <p:cNvPr id="1494" name="Google Shape;1494;p89"/>
              <p:cNvSpPr/>
              <p:nvPr/>
            </p:nvSpPr>
            <p:spPr>
              <a:xfrm>
                <a:off x="7986755" y="3323171"/>
                <a:ext cx="117743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Kết thúc truyền dữ liệu, RL nâng lên</a:t>
                </a:r>
                <a:endParaRPr/>
              </a:p>
            </p:txBody>
          </p:sp>
          <p:sp>
            <p:nvSpPr>
              <p:cNvPr id="1495" name="Google Shape;1495;p89"/>
              <p:cNvSpPr/>
              <p:nvPr/>
            </p:nvSpPr>
            <p:spPr>
              <a:xfrm>
                <a:off x="1506588" y="4691815"/>
                <a:ext cx="58299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Máy chủ gửi tín hiệu khởi động</a:t>
                </a:r>
                <a:endParaRPr/>
              </a:p>
            </p:txBody>
          </p:sp>
          <p:sp>
            <p:nvSpPr>
              <p:cNvPr id="1496" name="Google Shape;1496;p89"/>
              <p:cNvSpPr/>
              <p:nvPr/>
            </p:nvSpPr>
            <p:spPr>
              <a:xfrm>
                <a:off x="3141863" y="4655458"/>
                <a:ext cx="533321"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Cảm biến gửi phản hồi</a:t>
                </a:r>
                <a:endParaRPr/>
              </a:p>
            </p:txBody>
          </p:sp>
          <p:sp>
            <p:nvSpPr>
              <p:cNvPr id="1497" name="Google Shape;1497;p89"/>
              <p:cNvSpPr/>
              <p:nvPr/>
            </p:nvSpPr>
            <p:spPr>
              <a:xfrm>
                <a:off x="4769211" y="4904779"/>
                <a:ext cx="20260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Cảm biến xuất dữ liệu thay thế “0” và “1” theo giá trị thực</a:t>
                </a:r>
                <a:endParaRPr/>
              </a:p>
            </p:txBody>
          </p:sp>
          <p:sp>
            <p:nvSpPr>
              <p:cNvPr id="1498" name="Google Shape;1498;p89"/>
              <p:cNvSpPr/>
              <p:nvPr/>
            </p:nvSpPr>
            <p:spPr>
              <a:xfrm>
                <a:off x="7393682" y="4691815"/>
                <a:ext cx="68506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Cảm biến hạ xuống</a:t>
                </a:r>
                <a:endParaRPr/>
              </a:p>
            </p:txBody>
          </p:sp>
          <p:sp>
            <p:nvSpPr>
              <p:cNvPr id="1499" name="Google Shape;1499;p89"/>
              <p:cNvSpPr/>
              <p:nvPr/>
            </p:nvSpPr>
            <p:spPr>
              <a:xfrm>
                <a:off x="1956656"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0" name="Google Shape;1500;p89"/>
              <p:cNvSpPr/>
              <p:nvPr/>
            </p:nvSpPr>
            <p:spPr>
              <a:xfrm flipH="1">
                <a:off x="3055694"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1" name="Google Shape;1501;p89"/>
              <p:cNvSpPr/>
              <p:nvPr/>
            </p:nvSpPr>
            <p:spPr>
              <a:xfrm>
                <a:off x="3539271"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2" name="Google Shape;1502;p89"/>
              <p:cNvSpPr/>
              <p:nvPr/>
            </p:nvSpPr>
            <p:spPr>
              <a:xfrm flipH="1">
                <a:off x="4550386" y="3310602"/>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3" name="Google Shape;1503;p89"/>
              <p:cNvSpPr/>
              <p:nvPr/>
            </p:nvSpPr>
            <p:spPr>
              <a:xfrm>
                <a:off x="7135326" y="33018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4" name="Google Shape;1504;p89"/>
              <p:cNvSpPr/>
              <p:nvPr/>
            </p:nvSpPr>
            <p:spPr>
              <a:xfrm>
                <a:off x="1235687"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5" name="Google Shape;1505;p89"/>
              <p:cNvSpPr/>
              <p:nvPr/>
            </p:nvSpPr>
            <p:spPr>
              <a:xfrm flipH="1">
                <a:off x="2168714"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6" name="Google Shape;1506;p89"/>
              <p:cNvSpPr/>
              <p:nvPr/>
            </p:nvSpPr>
            <p:spPr>
              <a:xfrm>
                <a:off x="2844680"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7" name="Google Shape;1507;p89"/>
              <p:cNvSpPr/>
              <p:nvPr/>
            </p:nvSpPr>
            <p:spPr>
              <a:xfrm flipH="1">
                <a:off x="3723175"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8" name="Google Shape;1508;p89"/>
              <p:cNvSpPr/>
              <p:nvPr/>
            </p:nvSpPr>
            <p:spPr>
              <a:xfrm flipH="1">
                <a:off x="4540860"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9" name="Google Shape;1509;p89"/>
              <p:cNvSpPr/>
              <p:nvPr/>
            </p:nvSpPr>
            <p:spPr>
              <a:xfrm>
                <a:off x="7117742"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0" name="Google Shape;1510;p89"/>
              <p:cNvSpPr/>
              <p:nvPr/>
            </p:nvSpPr>
            <p:spPr>
              <a:xfrm flipH="1">
                <a:off x="7895590"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1" name="Google Shape;1511;p89"/>
              <p:cNvSpPr/>
              <p:nvPr/>
            </p:nvSpPr>
            <p:spPr>
              <a:xfrm>
                <a:off x="1292469" y="3903785"/>
                <a:ext cx="1820008" cy="615461"/>
              </a:xfrm>
              <a:custGeom>
                <a:avLst/>
                <a:gdLst/>
                <a:ahLst/>
                <a:cxnLst/>
                <a:rect l="l" t="t" r="r" b="b"/>
                <a:pathLst>
                  <a:path w="1820008" h="615461" extrusionOk="0">
                    <a:moveTo>
                      <a:pt x="0" y="0"/>
                    </a:moveTo>
                    <a:lnTo>
                      <a:pt x="123093" y="0"/>
                    </a:lnTo>
                    <a:lnTo>
                      <a:pt x="246185" y="615461"/>
                    </a:lnTo>
                    <a:lnTo>
                      <a:pt x="764931" y="615461"/>
                    </a:lnTo>
                    <a:lnTo>
                      <a:pt x="905608" y="35169"/>
                    </a:lnTo>
                    <a:lnTo>
                      <a:pt x="1696916" y="35169"/>
                    </a:lnTo>
                    <a:lnTo>
                      <a:pt x="1820008" y="589084"/>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2" name="Google Shape;1512;p89"/>
              <p:cNvSpPr/>
              <p:nvPr/>
            </p:nvSpPr>
            <p:spPr>
              <a:xfrm>
                <a:off x="3075842" y="3938955"/>
                <a:ext cx="1533994" cy="580292"/>
              </a:xfrm>
              <a:custGeom>
                <a:avLst/>
                <a:gdLst/>
                <a:ahLst/>
                <a:cxnLst/>
                <a:rect l="l" t="t" r="r" b="b"/>
                <a:pathLst>
                  <a:path w="1573823" h="580292" extrusionOk="0">
                    <a:moveTo>
                      <a:pt x="0" y="580292"/>
                    </a:moveTo>
                    <a:lnTo>
                      <a:pt x="518746" y="580292"/>
                    </a:lnTo>
                    <a:lnTo>
                      <a:pt x="659423" y="0"/>
                    </a:lnTo>
                    <a:lnTo>
                      <a:pt x="1450731" y="0"/>
                    </a:lnTo>
                    <a:lnTo>
                      <a:pt x="1573823" y="553915"/>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3" name="Google Shape;1513;p89"/>
              <p:cNvSpPr/>
              <p:nvPr/>
            </p:nvSpPr>
            <p:spPr>
              <a:xfrm>
                <a:off x="4624754" y="3921369"/>
                <a:ext cx="2593731" cy="580293"/>
              </a:xfrm>
              <a:custGeom>
                <a:avLst/>
                <a:gdLst/>
                <a:ahLst/>
                <a:cxnLst/>
                <a:rect l="l" t="t" r="r" b="b"/>
                <a:pathLst>
                  <a:path w="2593731" h="606669" extrusionOk="0">
                    <a:moveTo>
                      <a:pt x="0" y="606669"/>
                    </a:moveTo>
                    <a:lnTo>
                      <a:pt x="342900" y="606669"/>
                    </a:lnTo>
                    <a:lnTo>
                      <a:pt x="465992" y="8793"/>
                    </a:lnTo>
                    <a:lnTo>
                      <a:pt x="1037492" y="8793"/>
                    </a:lnTo>
                    <a:lnTo>
                      <a:pt x="1151792" y="580293"/>
                    </a:lnTo>
                    <a:lnTo>
                      <a:pt x="1635369" y="580293"/>
                    </a:lnTo>
                    <a:lnTo>
                      <a:pt x="1732084" y="0"/>
                    </a:lnTo>
                    <a:lnTo>
                      <a:pt x="2593731" y="0"/>
                    </a:lnTo>
                  </a:path>
                </a:pathLst>
              </a:custGeom>
              <a:noFill/>
              <a:ln w="63500" cap="flat" cmpd="sng">
                <a:solidFill>
                  <a:srgbClr val="7F7F7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4" name="Google Shape;1514;p89"/>
              <p:cNvSpPr/>
              <p:nvPr/>
            </p:nvSpPr>
            <p:spPr>
              <a:xfrm>
                <a:off x="7244862" y="3912577"/>
                <a:ext cx="668215" cy="606669"/>
              </a:xfrm>
              <a:custGeom>
                <a:avLst/>
                <a:gdLst/>
                <a:ahLst/>
                <a:cxnLst/>
                <a:rect l="l" t="t" r="r" b="b"/>
                <a:pathLst>
                  <a:path w="668215" h="606669" extrusionOk="0">
                    <a:moveTo>
                      <a:pt x="0" y="0"/>
                    </a:moveTo>
                    <a:lnTo>
                      <a:pt x="149469" y="606669"/>
                    </a:lnTo>
                    <a:lnTo>
                      <a:pt x="668215" y="606669"/>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5" name="Google Shape;1515;p89"/>
              <p:cNvSpPr/>
              <p:nvPr/>
            </p:nvSpPr>
            <p:spPr>
              <a:xfrm>
                <a:off x="7895493" y="3930161"/>
                <a:ext cx="773723" cy="606669"/>
              </a:xfrm>
              <a:custGeom>
                <a:avLst/>
                <a:gdLst/>
                <a:ahLst/>
                <a:cxnLst/>
                <a:rect l="l" t="t" r="r" b="b"/>
                <a:pathLst>
                  <a:path w="773723" h="606669" extrusionOk="0">
                    <a:moveTo>
                      <a:pt x="0" y="606669"/>
                    </a:moveTo>
                    <a:lnTo>
                      <a:pt x="140677" y="0"/>
                    </a:lnTo>
                    <a:lnTo>
                      <a:pt x="773723"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516" name="Google Shape;1516;p89"/>
            <p:cNvGrpSpPr/>
            <p:nvPr/>
          </p:nvGrpSpPr>
          <p:grpSpPr>
            <a:xfrm>
              <a:off x="3731985" y="5820509"/>
              <a:ext cx="2442030" cy="250603"/>
              <a:chOff x="3632721" y="5715000"/>
              <a:chExt cx="2442030" cy="250603"/>
            </a:xfrm>
          </p:grpSpPr>
          <p:sp>
            <p:nvSpPr>
              <p:cNvPr id="1517" name="Google Shape;1517;p89"/>
              <p:cNvSpPr/>
              <p:nvPr/>
            </p:nvSpPr>
            <p:spPr>
              <a:xfrm>
                <a:off x="3727938" y="5715000"/>
                <a:ext cx="729762" cy="0"/>
              </a:xfrm>
              <a:custGeom>
                <a:avLst/>
                <a:gdLst/>
                <a:ahLst/>
                <a:cxnLst/>
                <a:rect l="l" t="t" r="r" b="b"/>
                <a:pathLst>
                  <a:path w="729762" h="120000" extrusionOk="0">
                    <a:moveTo>
                      <a:pt x="0" y="0"/>
                    </a:moveTo>
                    <a:lnTo>
                      <a:pt x="729762"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8" name="Google Shape;1518;p89"/>
              <p:cNvSpPr/>
              <p:nvPr/>
            </p:nvSpPr>
            <p:spPr>
              <a:xfrm>
                <a:off x="5231423" y="5715000"/>
                <a:ext cx="729762" cy="0"/>
              </a:xfrm>
              <a:custGeom>
                <a:avLst/>
                <a:gdLst/>
                <a:ahLst/>
                <a:cxnLst/>
                <a:rect l="l" t="t" r="r" b="b"/>
                <a:pathLst>
                  <a:path w="729762" h="120000" extrusionOk="0">
                    <a:moveTo>
                      <a:pt x="0" y="0"/>
                    </a:moveTo>
                    <a:lnTo>
                      <a:pt x="729762" y="0"/>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9" name="Google Shape;1519;p89"/>
              <p:cNvSpPr/>
              <p:nvPr/>
            </p:nvSpPr>
            <p:spPr>
              <a:xfrm>
                <a:off x="5161819" y="5811715"/>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của cảm biến</a:t>
                </a:r>
                <a:endParaRPr/>
              </a:p>
            </p:txBody>
          </p:sp>
          <p:sp>
            <p:nvSpPr>
              <p:cNvPr id="1520" name="Google Shape;1520;p89"/>
              <p:cNvSpPr/>
              <p:nvPr/>
            </p:nvSpPr>
            <p:spPr>
              <a:xfrm>
                <a:off x="3632721" y="5802923"/>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của máy chủ</a:t>
                </a:r>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25"/>
        <p:cNvGrpSpPr/>
        <p:nvPr/>
      </p:nvGrpSpPr>
      <p:grpSpPr>
        <a:xfrm>
          <a:off x="0" y="0"/>
          <a:ext cx="0" cy="0"/>
          <a:chOff x="0" y="0"/>
          <a:chExt cx="0" cy="0"/>
        </a:xfrm>
      </p:grpSpPr>
      <p:sp>
        <p:nvSpPr>
          <p:cNvPr id="1526" name="Google Shape;1526;p90"/>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527" name="Google Shape;1527;p90"/>
          <p:cNvSpPr/>
          <p:nvPr/>
        </p:nvSpPr>
        <p:spPr>
          <a:xfrm>
            <a:off x="712189" y="1791154"/>
            <a:ext cx="8487381" cy="345300"/>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Toàn bộ tiến trình giao tiếp của cảm biến DHT11</a:t>
            </a:r>
            <a:endParaRPr/>
          </a:p>
        </p:txBody>
      </p:sp>
      <p:grpSp>
        <p:nvGrpSpPr>
          <p:cNvPr id="1528" name="Google Shape;1528;p90"/>
          <p:cNvGrpSpPr/>
          <p:nvPr/>
        </p:nvGrpSpPr>
        <p:grpSpPr>
          <a:xfrm>
            <a:off x="416136" y="436183"/>
            <a:ext cx="9051872" cy="276871"/>
            <a:chOff x="416136" y="436183"/>
            <a:chExt cx="9051872" cy="276871"/>
          </a:xfrm>
        </p:grpSpPr>
        <p:sp>
          <p:nvSpPr>
            <p:cNvPr id="1529" name="Google Shape;1529;p90"/>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530" name="Google Shape;1530;p90"/>
            <p:cNvSpPr/>
            <p:nvPr/>
          </p:nvSpPr>
          <p:spPr>
            <a:xfrm>
              <a:off x="416136" y="436183"/>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2.5. Cảm biến nhiệt độ-độ ẩm</a:t>
              </a:r>
              <a:endParaRPr sz="1799" b="1">
                <a:solidFill>
                  <a:schemeClr val="lt1"/>
                </a:solidFill>
                <a:latin typeface="Arial"/>
                <a:ea typeface="Arial"/>
                <a:cs typeface="Arial"/>
                <a:sym typeface="Arial"/>
              </a:endParaRPr>
            </a:p>
          </p:txBody>
        </p:sp>
      </p:grpSp>
      <p:grpSp>
        <p:nvGrpSpPr>
          <p:cNvPr id="1531" name="Google Shape;1531;p90"/>
          <p:cNvGrpSpPr/>
          <p:nvPr/>
        </p:nvGrpSpPr>
        <p:grpSpPr>
          <a:xfrm>
            <a:off x="712189" y="2865027"/>
            <a:ext cx="8599009" cy="2799788"/>
            <a:chOff x="750282" y="3262069"/>
            <a:chExt cx="8599009" cy="2799788"/>
          </a:xfrm>
        </p:grpSpPr>
        <p:grpSp>
          <p:nvGrpSpPr>
            <p:cNvPr id="1532" name="Google Shape;1532;p90"/>
            <p:cNvGrpSpPr/>
            <p:nvPr/>
          </p:nvGrpSpPr>
          <p:grpSpPr>
            <a:xfrm>
              <a:off x="750282" y="3262069"/>
              <a:ext cx="8599009" cy="2162830"/>
              <a:chOff x="622111" y="3262069"/>
              <a:chExt cx="8599009" cy="2162830"/>
            </a:xfrm>
          </p:grpSpPr>
          <p:grpSp>
            <p:nvGrpSpPr>
              <p:cNvPr id="1533" name="Google Shape;1533;p90"/>
              <p:cNvGrpSpPr/>
              <p:nvPr/>
            </p:nvGrpSpPr>
            <p:grpSpPr>
              <a:xfrm>
                <a:off x="978194" y="3279531"/>
                <a:ext cx="7693269" cy="1969477"/>
                <a:chOff x="978194" y="3279531"/>
                <a:chExt cx="7693269" cy="1969477"/>
              </a:xfrm>
            </p:grpSpPr>
            <p:sp>
              <p:nvSpPr>
                <p:cNvPr id="1534" name="Google Shape;1534;p90"/>
                <p:cNvSpPr/>
                <p:nvPr/>
              </p:nvSpPr>
              <p:spPr>
                <a:xfrm>
                  <a:off x="978194"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5" name="Google Shape;1535;p90"/>
                <p:cNvSpPr/>
                <p:nvPr/>
              </p:nvSpPr>
              <p:spPr>
                <a:xfrm>
                  <a:off x="978194"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6" name="Google Shape;1536;p90"/>
                <p:cNvSpPr/>
                <p:nvPr/>
              </p:nvSpPr>
              <p:spPr>
                <a:xfrm>
                  <a:off x="144193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7" name="Google Shape;1537;p90"/>
                <p:cNvSpPr/>
                <p:nvPr/>
              </p:nvSpPr>
              <p:spPr>
                <a:xfrm>
                  <a:off x="2302461"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8" name="Google Shape;1538;p90"/>
                <p:cNvSpPr/>
                <p:nvPr/>
              </p:nvSpPr>
              <p:spPr>
                <a:xfrm>
                  <a:off x="2921277"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9" name="Google Shape;1539;p90"/>
                <p:cNvSpPr/>
                <p:nvPr/>
              </p:nvSpPr>
              <p:spPr>
                <a:xfrm>
                  <a:off x="382028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0" name="Google Shape;1540;p90"/>
                <p:cNvSpPr/>
                <p:nvPr/>
              </p:nvSpPr>
              <p:spPr>
                <a:xfrm>
                  <a:off x="4536097"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1" name="Google Shape;1541;p90"/>
                <p:cNvSpPr/>
                <p:nvPr/>
              </p:nvSpPr>
              <p:spPr>
                <a:xfrm>
                  <a:off x="5782247"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2" name="Google Shape;1542;p90"/>
                <p:cNvSpPr/>
                <p:nvPr/>
              </p:nvSpPr>
              <p:spPr>
                <a:xfrm>
                  <a:off x="7736214"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543" name="Google Shape;1543;p90"/>
              <p:cNvSpPr/>
              <p:nvPr/>
            </p:nvSpPr>
            <p:spPr>
              <a:xfrm>
                <a:off x="622111" y="3811451"/>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544" name="Google Shape;1544;p90"/>
              <p:cNvSpPr/>
              <p:nvPr/>
            </p:nvSpPr>
            <p:spPr>
              <a:xfrm>
                <a:off x="622111" y="4418121"/>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545" name="Google Shape;1545;p90"/>
              <p:cNvSpPr/>
              <p:nvPr/>
            </p:nvSpPr>
            <p:spPr>
              <a:xfrm>
                <a:off x="1544804" y="3262069"/>
                <a:ext cx="641389"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MCU gửi tín hiệu khởi động</a:t>
                </a:r>
                <a:endParaRPr/>
              </a:p>
            </p:txBody>
          </p:sp>
          <p:sp>
            <p:nvSpPr>
              <p:cNvPr id="1546" name="Google Shape;1546;p90"/>
              <p:cNvSpPr/>
              <p:nvPr/>
            </p:nvSpPr>
            <p:spPr>
              <a:xfrm>
                <a:off x="3007551" y="3262069"/>
                <a:ext cx="751183"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DHT gửi tín hiệu phản hồi</a:t>
                </a:r>
                <a:endParaRPr/>
              </a:p>
            </p:txBody>
          </p:sp>
          <p:sp>
            <p:nvSpPr>
              <p:cNvPr id="1547" name="Google Shape;1547;p90"/>
              <p:cNvSpPr/>
              <p:nvPr/>
            </p:nvSpPr>
            <p:spPr>
              <a:xfrm>
                <a:off x="4696505" y="3326369"/>
                <a:ext cx="86569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Xuất dữ liệu: “0” dạng 1 bit</a:t>
                </a:r>
                <a:endParaRPr/>
              </a:p>
            </p:txBody>
          </p:sp>
          <p:sp>
            <p:nvSpPr>
              <p:cNvPr id="1548" name="Google Shape;1548;p90"/>
              <p:cNvSpPr/>
              <p:nvPr/>
            </p:nvSpPr>
            <p:spPr>
              <a:xfrm>
                <a:off x="7817491" y="3265012"/>
                <a:ext cx="1403629"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Hoàn tất truyền dữ liệu; điện trở nâng điện áp của bus lên cho lần truyền tiếp theo</a:t>
                </a:r>
                <a:endParaRPr/>
              </a:p>
            </p:txBody>
          </p:sp>
          <p:sp>
            <p:nvSpPr>
              <p:cNvPr id="1549" name="Google Shape;1549;p90"/>
              <p:cNvSpPr/>
              <p:nvPr/>
            </p:nvSpPr>
            <p:spPr>
              <a:xfrm>
                <a:off x="2389986" y="4655458"/>
                <a:ext cx="533321"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Nâng lên và chờ phản hồi của cảm biến</a:t>
                </a:r>
                <a:endParaRPr/>
              </a:p>
            </p:txBody>
          </p:sp>
          <p:sp>
            <p:nvSpPr>
              <p:cNvPr id="1550" name="Google Shape;1550;p90"/>
              <p:cNvSpPr/>
              <p:nvPr/>
            </p:nvSpPr>
            <p:spPr>
              <a:xfrm>
                <a:off x="6102243" y="4904779"/>
                <a:ext cx="2026073"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Xuất dữ liệu: “1” dạng 1 bit</a:t>
                </a:r>
                <a:endParaRPr/>
              </a:p>
            </p:txBody>
          </p:sp>
          <p:sp>
            <p:nvSpPr>
              <p:cNvPr id="1551" name="Google Shape;1551;p90"/>
              <p:cNvSpPr/>
              <p:nvPr/>
            </p:nvSpPr>
            <p:spPr>
              <a:xfrm>
                <a:off x="8002996" y="4691815"/>
                <a:ext cx="119892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Cảm biến hạ điện áp bus xuống (50 us)</a:t>
                </a:r>
                <a:endParaRPr/>
              </a:p>
            </p:txBody>
          </p:sp>
          <p:sp>
            <p:nvSpPr>
              <p:cNvPr id="1552" name="Google Shape;1552;p90"/>
              <p:cNvSpPr/>
              <p:nvPr/>
            </p:nvSpPr>
            <p:spPr>
              <a:xfrm>
                <a:off x="1248707"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3" name="Google Shape;1553;p90"/>
              <p:cNvSpPr/>
              <p:nvPr/>
            </p:nvSpPr>
            <p:spPr>
              <a:xfrm flipH="1">
                <a:off x="2315769"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4" name="Google Shape;1554;p90"/>
              <p:cNvSpPr/>
              <p:nvPr/>
            </p:nvSpPr>
            <p:spPr>
              <a:xfrm>
                <a:off x="2738611"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5" name="Google Shape;1555;p90"/>
              <p:cNvSpPr/>
              <p:nvPr/>
            </p:nvSpPr>
            <p:spPr>
              <a:xfrm>
                <a:off x="2130012"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6" name="Google Shape;1556;p90"/>
              <p:cNvSpPr/>
              <p:nvPr/>
            </p:nvSpPr>
            <p:spPr>
              <a:xfrm flipH="1">
                <a:off x="2921168"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7" name="Google Shape;1557;p90"/>
              <p:cNvSpPr/>
              <p:nvPr/>
            </p:nvSpPr>
            <p:spPr>
              <a:xfrm flipH="1">
                <a:off x="4540860"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8" name="Google Shape;1558;p90"/>
              <p:cNvSpPr/>
              <p:nvPr/>
            </p:nvSpPr>
            <p:spPr>
              <a:xfrm>
                <a:off x="5595727"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9" name="Google Shape;1559;p90"/>
              <p:cNvSpPr/>
              <p:nvPr/>
            </p:nvSpPr>
            <p:spPr>
              <a:xfrm flipH="1">
                <a:off x="7744069"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0" name="Google Shape;1560;p90"/>
              <p:cNvSpPr/>
              <p:nvPr/>
            </p:nvSpPr>
            <p:spPr>
              <a:xfrm>
                <a:off x="622111" y="4794913"/>
                <a:ext cx="926457"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ĐẦU RA BUS ĐƠN</a:t>
                </a:r>
                <a:endParaRPr/>
              </a:p>
            </p:txBody>
          </p:sp>
          <p:sp>
            <p:nvSpPr>
              <p:cNvPr id="1561" name="Google Shape;1561;p90"/>
              <p:cNvSpPr/>
              <p:nvPr/>
            </p:nvSpPr>
            <p:spPr>
              <a:xfrm flipH="1">
                <a:off x="3820719"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2" name="Google Shape;1562;p90"/>
              <p:cNvSpPr/>
              <p:nvPr/>
            </p:nvSpPr>
            <p:spPr>
              <a:xfrm>
                <a:off x="4348766"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3" name="Google Shape;1563;p90"/>
              <p:cNvSpPr/>
              <p:nvPr/>
            </p:nvSpPr>
            <p:spPr>
              <a:xfrm flipH="1">
                <a:off x="5792394"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4" name="Google Shape;1564;p90"/>
              <p:cNvSpPr/>
              <p:nvPr/>
            </p:nvSpPr>
            <p:spPr>
              <a:xfrm>
                <a:off x="3644487"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5" name="Google Shape;1565;p90"/>
              <p:cNvSpPr/>
              <p:nvPr/>
            </p:nvSpPr>
            <p:spPr>
              <a:xfrm>
                <a:off x="3875723" y="4655458"/>
                <a:ext cx="685358" cy="76944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Nâng điện áp lên và sẵn sàng cho đầu ra của cảm biến</a:t>
                </a:r>
                <a:endParaRPr/>
              </a:p>
            </p:txBody>
          </p:sp>
        </p:grpSp>
        <p:grpSp>
          <p:nvGrpSpPr>
            <p:cNvPr id="1566" name="Google Shape;1566;p90"/>
            <p:cNvGrpSpPr/>
            <p:nvPr/>
          </p:nvGrpSpPr>
          <p:grpSpPr>
            <a:xfrm>
              <a:off x="1363858" y="3890472"/>
              <a:ext cx="7260613" cy="637566"/>
              <a:chOff x="1143000" y="3931395"/>
              <a:chExt cx="7419975" cy="566585"/>
            </a:xfrm>
          </p:grpSpPr>
          <p:sp>
            <p:nvSpPr>
              <p:cNvPr id="1567" name="Google Shape;1567;p90"/>
              <p:cNvSpPr/>
              <p:nvPr/>
            </p:nvSpPr>
            <p:spPr>
              <a:xfrm>
                <a:off x="1143000" y="3952751"/>
                <a:ext cx="1885950" cy="545229"/>
              </a:xfrm>
              <a:custGeom>
                <a:avLst/>
                <a:gdLst/>
                <a:ahLst/>
                <a:cxnLst/>
                <a:rect l="l" t="t" r="r" b="b"/>
                <a:pathLst>
                  <a:path w="1885950" h="523875" extrusionOk="0">
                    <a:moveTo>
                      <a:pt x="0" y="0"/>
                    </a:moveTo>
                    <a:lnTo>
                      <a:pt x="152400" y="0"/>
                    </a:lnTo>
                    <a:lnTo>
                      <a:pt x="352425" y="523875"/>
                    </a:lnTo>
                    <a:lnTo>
                      <a:pt x="1057275" y="523875"/>
                    </a:lnTo>
                    <a:lnTo>
                      <a:pt x="1257300" y="0"/>
                    </a:lnTo>
                    <a:lnTo>
                      <a:pt x="1704975" y="0"/>
                    </a:lnTo>
                    <a:lnTo>
                      <a:pt x="1885950" y="485775"/>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8" name="Google Shape;1568;p90"/>
              <p:cNvSpPr/>
              <p:nvPr/>
            </p:nvSpPr>
            <p:spPr>
              <a:xfrm>
                <a:off x="3002954" y="3943226"/>
                <a:ext cx="5133302" cy="542925"/>
              </a:xfrm>
              <a:custGeom>
                <a:avLst/>
                <a:gdLst/>
                <a:ahLst/>
                <a:cxnLst/>
                <a:rect l="l" t="t" r="r" b="b"/>
                <a:pathLst>
                  <a:path w="5095875" h="542925" extrusionOk="0">
                    <a:moveTo>
                      <a:pt x="0" y="523875"/>
                    </a:moveTo>
                    <a:lnTo>
                      <a:pt x="723900" y="523875"/>
                    </a:lnTo>
                    <a:lnTo>
                      <a:pt x="914400" y="0"/>
                    </a:lnTo>
                    <a:lnTo>
                      <a:pt x="1343025" y="0"/>
                    </a:lnTo>
                    <a:lnTo>
                      <a:pt x="1533525" y="523875"/>
                    </a:lnTo>
                    <a:lnTo>
                      <a:pt x="1866900" y="523875"/>
                    </a:lnTo>
                    <a:lnTo>
                      <a:pt x="2076450" y="0"/>
                    </a:lnTo>
                    <a:lnTo>
                      <a:pt x="2571750" y="0"/>
                    </a:lnTo>
                    <a:lnTo>
                      <a:pt x="2800350" y="542925"/>
                    </a:lnTo>
                    <a:lnTo>
                      <a:pt x="3152775" y="542925"/>
                    </a:lnTo>
                    <a:lnTo>
                      <a:pt x="3343275" y="19050"/>
                    </a:lnTo>
                    <a:lnTo>
                      <a:pt x="4581525" y="19050"/>
                    </a:lnTo>
                    <a:lnTo>
                      <a:pt x="4781550" y="533400"/>
                    </a:lnTo>
                    <a:lnTo>
                      <a:pt x="5095875" y="533400"/>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9" name="Google Shape;1569;p90"/>
              <p:cNvSpPr/>
              <p:nvPr/>
            </p:nvSpPr>
            <p:spPr>
              <a:xfrm>
                <a:off x="8105775" y="3931395"/>
                <a:ext cx="457200" cy="535705"/>
              </a:xfrm>
              <a:custGeom>
                <a:avLst/>
                <a:gdLst/>
                <a:ahLst/>
                <a:cxnLst/>
                <a:rect l="l" t="t" r="r" b="b"/>
                <a:pathLst>
                  <a:path w="457200" h="476250" extrusionOk="0">
                    <a:moveTo>
                      <a:pt x="0" y="476250"/>
                    </a:moveTo>
                    <a:lnTo>
                      <a:pt x="171450" y="0"/>
                    </a:lnTo>
                    <a:lnTo>
                      <a:pt x="457200"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570" name="Google Shape;1570;p90"/>
            <p:cNvGrpSpPr/>
            <p:nvPr/>
          </p:nvGrpSpPr>
          <p:grpSpPr>
            <a:xfrm>
              <a:off x="2525777" y="5762328"/>
              <a:ext cx="3763709" cy="299529"/>
              <a:chOff x="2525777" y="5666074"/>
              <a:chExt cx="3763709" cy="299529"/>
            </a:xfrm>
          </p:grpSpPr>
          <p:grpSp>
            <p:nvGrpSpPr>
              <p:cNvPr id="1571" name="Google Shape;1571;p90"/>
              <p:cNvGrpSpPr/>
              <p:nvPr/>
            </p:nvGrpSpPr>
            <p:grpSpPr>
              <a:xfrm>
                <a:off x="3860156" y="5715000"/>
                <a:ext cx="2429330" cy="250603"/>
                <a:chOff x="3632721" y="5715000"/>
                <a:chExt cx="2429330" cy="250603"/>
              </a:xfrm>
            </p:grpSpPr>
            <p:sp>
              <p:nvSpPr>
                <p:cNvPr id="1572" name="Google Shape;1572;p90"/>
                <p:cNvSpPr/>
                <p:nvPr/>
              </p:nvSpPr>
              <p:spPr>
                <a:xfrm>
                  <a:off x="3727938" y="5715000"/>
                  <a:ext cx="729762" cy="0"/>
                </a:xfrm>
                <a:custGeom>
                  <a:avLst/>
                  <a:gdLst/>
                  <a:ahLst/>
                  <a:cxnLst/>
                  <a:rect l="l" t="t" r="r" b="b"/>
                  <a:pathLst>
                    <a:path w="729762" h="120000" extrusionOk="0">
                      <a:moveTo>
                        <a:pt x="0" y="0"/>
                      </a:moveTo>
                      <a:lnTo>
                        <a:pt x="729762"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3" name="Google Shape;1573;p90"/>
                <p:cNvSpPr/>
                <p:nvPr/>
              </p:nvSpPr>
              <p:spPr>
                <a:xfrm>
                  <a:off x="5231423" y="5715000"/>
                  <a:ext cx="729762" cy="0"/>
                </a:xfrm>
                <a:custGeom>
                  <a:avLst/>
                  <a:gdLst/>
                  <a:ahLst/>
                  <a:cxnLst/>
                  <a:rect l="l" t="t" r="r" b="b"/>
                  <a:pathLst>
                    <a:path w="729762" h="120000" extrusionOk="0">
                      <a:moveTo>
                        <a:pt x="0" y="0"/>
                      </a:moveTo>
                      <a:lnTo>
                        <a:pt x="729762" y="0"/>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4" name="Google Shape;1574;p90"/>
                <p:cNvSpPr/>
                <p:nvPr/>
              </p:nvSpPr>
              <p:spPr>
                <a:xfrm>
                  <a:off x="5149119" y="5811715"/>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DHT</a:t>
                  </a:r>
                  <a:endParaRPr/>
                </a:p>
              </p:txBody>
            </p:sp>
            <p:sp>
              <p:nvSpPr>
                <p:cNvPr id="1575" name="Google Shape;1575;p90"/>
                <p:cNvSpPr/>
                <p:nvPr/>
              </p:nvSpPr>
              <p:spPr>
                <a:xfrm>
                  <a:off x="3632721" y="5802923"/>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MCU</a:t>
                  </a:r>
                  <a:endParaRPr/>
                </a:p>
              </p:txBody>
            </p:sp>
          </p:grpSp>
          <p:sp>
            <p:nvSpPr>
              <p:cNvPr id="1576" name="Google Shape;1576;p90"/>
              <p:cNvSpPr/>
              <p:nvPr/>
            </p:nvSpPr>
            <p:spPr>
              <a:xfrm>
                <a:off x="2525777" y="5666074"/>
                <a:ext cx="1190667"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Giải thích các đường:</a:t>
                </a:r>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p91"/>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583" name="Google Shape;1583;p91"/>
          <p:cNvSpPr/>
          <p:nvPr/>
        </p:nvSpPr>
        <p:spPr>
          <a:xfrm>
            <a:off x="712189" y="1791158"/>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Khởi động tín hiệu lệnh đối với DHT22.</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MCU gửi tín hiệu khởi động và phản hồi DHT</a:t>
            </a:r>
            <a:endParaRPr/>
          </a:p>
        </p:txBody>
      </p:sp>
      <p:grpSp>
        <p:nvGrpSpPr>
          <p:cNvPr id="1584" name="Google Shape;1584;p91"/>
          <p:cNvGrpSpPr/>
          <p:nvPr/>
        </p:nvGrpSpPr>
        <p:grpSpPr>
          <a:xfrm>
            <a:off x="416136" y="436183"/>
            <a:ext cx="9051872" cy="276871"/>
            <a:chOff x="416136" y="436183"/>
            <a:chExt cx="9051872" cy="276871"/>
          </a:xfrm>
        </p:grpSpPr>
        <p:sp>
          <p:nvSpPr>
            <p:cNvPr id="1585" name="Google Shape;1585;p91"/>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586" name="Google Shape;1586;p91"/>
            <p:cNvSpPr/>
            <p:nvPr/>
          </p:nvSpPr>
          <p:spPr>
            <a:xfrm>
              <a:off x="416136" y="436183"/>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2.5.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r>
                <a:rPr lang="en-US" sz="1799" dirty="0">
                  <a:solidFill>
                    <a:schemeClr val="tx1"/>
                  </a:solidFill>
                </a:rPr>
                <a:t> </a:t>
              </a:r>
              <a:r>
                <a:rPr lang="en-US" sz="1799" dirty="0" err="1">
                  <a:solidFill>
                    <a:schemeClr val="tx1"/>
                  </a:solidFill>
                </a:rPr>
                <a:t>nhiệt</a:t>
              </a:r>
              <a:r>
                <a:rPr lang="en-US" sz="1799" dirty="0">
                  <a:solidFill>
                    <a:schemeClr val="tx1"/>
                  </a:solidFill>
                </a:rPr>
                <a:t> </a:t>
              </a:r>
              <a:r>
                <a:rPr lang="en-US" sz="1799" dirty="0" err="1">
                  <a:solidFill>
                    <a:schemeClr val="tx1"/>
                  </a:solidFill>
                </a:rPr>
                <a:t>độ-độ</a:t>
              </a:r>
              <a:r>
                <a:rPr lang="en-US" sz="1799" dirty="0">
                  <a:solidFill>
                    <a:schemeClr val="tx1"/>
                  </a:solidFill>
                </a:rPr>
                <a:t> </a:t>
              </a:r>
              <a:r>
                <a:rPr lang="en-US" sz="1799" dirty="0" err="1">
                  <a:solidFill>
                    <a:schemeClr val="tx1"/>
                  </a:solidFill>
                </a:rPr>
                <a:t>ẩm</a:t>
              </a:r>
              <a:endParaRPr sz="1799" b="1" dirty="0">
                <a:solidFill>
                  <a:schemeClr val="lt1"/>
                </a:solidFill>
                <a:latin typeface="Arial"/>
                <a:ea typeface="Arial"/>
                <a:cs typeface="Arial"/>
                <a:sym typeface="Arial"/>
              </a:endParaRPr>
            </a:p>
          </p:txBody>
        </p:sp>
      </p:grpSp>
      <p:grpSp>
        <p:nvGrpSpPr>
          <p:cNvPr id="1587" name="Google Shape;1587;p91"/>
          <p:cNvGrpSpPr/>
          <p:nvPr/>
        </p:nvGrpSpPr>
        <p:grpSpPr>
          <a:xfrm>
            <a:off x="771980" y="2981787"/>
            <a:ext cx="8358863" cy="2649995"/>
            <a:chOff x="731229" y="3426955"/>
            <a:chExt cx="8358863" cy="2649995"/>
          </a:xfrm>
        </p:grpSpPr>
        <p:grpSp>
          <p:nvGrpSpPr>
            <p:cNvPr id="1588" name="Google Shape;1588;p91"/>
            <p:cNvGrpSpPr/>
            <p:nvPr/>
          </p:nvGrpSpPr>
          <p:grpSpPr>
            <a:xfrm>
              <a:off x="3731985" y="5826347"/>
              <a:ext cx="2442030" cy="250603"/>
              <a:chOff x="3632721" y="5715000"/>
              <a:chExt cx="2442030" cy="250603"/>
            </a:xfrm>
          </p:grpSpPr>
          <p:sp>
            <p:nvSpPr>
              <p:cNvPr id="1589" name="Google Shape;1589;p91"/>
              <p:cNvSpPr/>
              <p:nvPr/>
            </p:nvSpPr>
            <p:spPr>
              <a:xfrm>
                <a:off x="3727938" y="5715000"/>
                <a:ext cx="729762" cy="0"/>
              </a:xfrm>
              <a:custGeom>
                <a:avLst/>
                <a:gdLst/>
                <a:ahLst/>
                <a:cxnLst/>
                <a:rect l="l" t="t" r="r" b="b"/>
                <a:pathLst>
                  <a:path w="729762" h="120000" extrusionOk="0">
                    <a:moveTo>
                      <a:pt x="0" y="0"/>
                    </a:moveTo>
                    <a:lnTo>
                      <a:pt x="729762"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0" name="Google Shape;1590;p91"/>
              <p:cNvSpPr/>
              <p:nvPr/>
            </p:nvSpPr>
            <p:spPr>
              <a:xfrm>
                <a:off x="5231423" y="5715000"/>
                <a:ext cx="729762" cy="0"/>
              </a:xfrm>
              <a:custGeom>
                <a:avLst/>
                <a:gdLst/>
                <a:ahLst/>
                <a:cxnLst/>
                <a:rect l="l" t="t" r="r" b="b"/>
                <a:pathLst>
                  <a:path w="729762" h="120000" extrusionOk="0">
                    <a:moveTo>
                      <a:pt x="0" y="0"/>
                    </a:moveTo>
                    <a:lnTo>
                      <a:pt x="729762" y="0"/>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1" name="Google Shape;1591;p91"/>
              <p:cNvSpPr/>
              <p:nvPr/>
            </p:nvSpPr>
            <p:spPr>
              <a:xfrm>
                <a:off x="5161819" y="5811715"/>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của cảm biến</a:t>
                </a:r>
                <a:endParaRPr/>
              </a:p>
            </p:txBody>
          </p:sp>
          <p:sp>
            <p:nvSpPr>
              <p:cNvPr id="1592" name="Google Shape;1592;p91"/>
              <p:cNvSpPr/>
              <p:nvPr/>
            </p:nvSpPr>
            <p:spPr>
              <a:xfrm>
                <a:off x="3632721" y="5802923"/>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của máy chủ</a:t>
                </a:r>
                <a:endParaRPr/>
              </a:p>
            </p:txBody>
          </p:sp>
        </p:grpSp>
        <p:grpSp>
          <p:nvGrpSpPr>
            <p:cNvPr id="1593" name="Google Shape;1593;p91"/>
            <p:cNvGrpSpPr/>
            <p:nvPr/>
          </p:nvGrpSpPr>
          <p:grpSpPr>
            <a:xfrm>
              <a:off x="731229" y="3426955"/>
              <a:ext cx="8358863" cy="1969477"/>
              <a:chOff x="731229" y="3279531"/>
              <a:chExt cx="8358863" cy="1969477"/>
            </a:xfrm>
          </p:grpSpPr>
          <p:grpSp>
            <p:nvGrpSpPr>
              <p:cNvPr id="1594" name="Google Shape;1594;p91"/>
              <p:cNvGrpSpPr/>
              <p:nvPr/>
            </p:nvGrpSpPr>
            <p:grpSpPr>
              <a:xfrm>
                <a:off x="731229" y="3279531"/>
                <a:ext cx="8358863" cy="1969477"/>
                <a:chOff x="731229" y="3279531"/>
                <a:chExt cx="8358863" cy="1969477"/>
              </a:xfrm>
            </p:grpSpPr>
            <p:grpSp>
              <p:nvGrpSpPr>
                <p:cNvPr id="1595" name="Google Shape;1595;p91"/>
                <p:cNvGrpSpPr/>
                <p:nvPr/>
              </p:nvGrpSpPr>
              <p:grpSpPr>
                <a:xfrm>
                  <a:off x="1204546" y="3279531"/>
                  <a:ext cx="7693269" cy="1969477"/>
                  <a:chOff x="1204546" y="3279531"/>
                  <a:chExt cx="7693269" cy="1969477"/>
                </a:xfrm>
              </p:grpSpPr>
              <p:sp>
                <p:nvSpPr>
                  <p:cNvPr id="1596" name="Google Shape;1596;p91"/>
                  <p:cNvSpPr/>
                  <p:nvPr/>
                </p:nvSpPr>
                <p:spPr>
                  <a:xfrm>
                    <a:off x="1204546"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7" name="Google Shape;1597;p91"/>
                  <p:cNvSpPr/>
                  <p:nvPr/>
                </p:nvSpPr>
                <p:spPr>
                  <a:xfrm>
                    <a:off x="1204546"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8" name="Google Shape;1598;p91"/>
                  <p:cNvSpPr/>
                  <p:nvPr/>
                </p:nvSpPr>
                <p:spPr>
                  <a:xfrm>
                    <a:off x="144193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9" name="Google Shape;1599;p91"/>
                  <p:cNvSpPr/>
                  <p:nvPr/>
                </p:nvSpPr>
                <p:spPr>
                  <a:xfrm>
                    <a:off x="318984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0" name="Google Shape;1600;p91"/>
                  <p:cNvSpPr/>
                  <p:nvPr/>
                </p:nvSpPr>
                <p:spPr>
                  <a:xfrm>
                    <a:off x="423789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1" name="Google Shape;1601;p91"/>
                  <p:cNvSpPr/>
                  <p:nvPr/>
                </p:nvSpPr>
                <p:spPr>
                  <a:xfrm>
                    <a:off x="676890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2" name="Google Shape;1602;p91"/>
                  <p:cNvSpPr/>
                  <p:nvPr/>
                </p:nvSpPr>
                <p:spPr>
                  <a:xfrm>
                    <a:off x="786911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03" name="Google Shape;1603;p91"/>
                <p:cNvSpPr/>
                <p:nvPr/>
              </p:nvSpPr>
              <p:spPr>
                <a:xfrm>
                  <a:off x="731229" y="3811451"/>
                  <a:ext cx="454264" cy="184666"/>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604" name="Google Shape;1604;p91"/>
                <p:cNvSpPr/>
                <p:nvPr/>
              </p:nvSpPr>
              <p:spPr>
                <a:xfrm>
                  <a:off x="731229" y="4418121"/>
                  <a:ext cx="454264" cy="184666"/>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605" name="Google Shape;1605;p91"/>
                <p:cNvSpPr/>
                <p:nvPr/>
              </p:nvSpPr>
              <p:spPr>
                <a:xfrm>
                  <a:off x="1822612" y="4857398"/>
                  <a:ext cx="98037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a:solidFill>
                        <a:srgbClr val="262626"/>
                      </a:solidFill>
                      <a:latin typeface="Arial"/>
                      <a:ea typeface="Arial"/>
                      <a:cs typeface="Arial"/>
                      <a:sym typeface="Arial"/>
                    </a:rPr>
                    <a:t>Máy chủ hạ xuống tối thiểu 1 ms</a:t>
                  </a:r>
                  <a:endParaRPr/>
                </a:p>
              </p:txBody>
            </p:sp>
            <p:sp>
              <p:nvSpPr>
                <p:cNvPr id="1606" name="Google Shape;1606;p91"/>
                <p:cNvSpPr/>
                <p:nvPr/>
              </p:nvSpPr>
              <p:spPr>
                <a:xfrm>
                  <a:off x="4520305" y="4904779"/>
                  <a:ext cx="2026073"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a:solidFill>
                        <a:srgbClr val="262626"/>
                      </a:solidFill>
                      <a:latin typeface="Arial"/>
                      <a:ea typeface="Arial"/>
                      <a:cs typeface="Arial"/>
                      <a:sym typeface="Arial"/>
                    </a:rPr>
                    <a:t>80 us để cảm biến hạ xuống</a:t>
                  </a:r>
                  <a:endParaRPr/>
                </a:p>
              </p:txBody>
            </p:sp>
            <p:sp>
              <p:nvSpPr>
                <p:cNvPr id="1607" name="Google Shape;1607;p91"/>
                <p:cNvSpPr/>
                <p:nvPr/>
              </p:nvSpPr>
              <p:spPr>
                <a:xfrm>
                  <a:off x="7950075" y="4700575"/>
                  <a:ext cx="1140017"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a:solidFill>
                        <a:srgbClr val="262626"/>
                      </a:solidFill>
                      <a:latin typeface="Arial"/>
                      <a:ea typeface="Arial"/>
                      <a:cs typeface="Arial"/>
                      <a:sym typeface="Arial"/>
                    </a:rPr>
                    <a:t>Bắt đầu truyền dữ liệu</a:t>
                  </a:r>
                  <a:endParaRPr/>
                </a:p>
              </p:txBody>
            </p:sp>
            <p:sp>
              <p:nvSpPr>
                <p:cNvPr id="1608" name="Google Shape;1608;p91"/>
                <p:cNvSpPr/>
                <p:nvPr/>
              </p:nvSpPr>
              <p:spPr>
                <a:xfrm flipH="1">
                  <a:off x="4225476"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9" name="Google Shape;1609;p91"/>
                <p:cNvSpPr/>
                <p:nvPr/>
              </p:nvSpPr>
              <p:spPr>
                <a:xfrm>
                  <a:off x="3012086"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0" name="Google Shape;1610;p91"/>
                <p:cNvSpPr/>
                <p:nvPr/>
              </p:nvSpPr>
              <p:spPr>
                <a:xfrm flipH="1">
                  <a:off x="7883618" y="3310602"/>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1" name="Google Shape;1611;p91"/>
                <p:cNvSpPr/>
                <p:nvPr/>
              </p:nvSpPr>
              <p:spPr>
                <a:xfrm>
                  <a:off x="6590657" y="33018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2" name="Google Shape;1612;p91"/>
                <p:cNvSpPr/>
                <p:nvPr/>
              </p:nvSpPr>
              <p:spPr>
                <a:xfrm>
                  <a:off x="1235687"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3" name="Google Shape;1613;p91"/>
                <p:cNvSpPr/>
                <p:nvPr/>
              </p:nvSpPr>
              <p:spPr>
                <a:xfrm>
                  <a:off x="4030266"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4" name="Google Shape;1614;p91"/>
                <p:cNvSpPr/>
                <p:nvPr/>
              </p:nvSpPr>
              <p:spPr>
                <a:xfrm flipH="1">
                  <a:off x="3196372"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5" name="Google Shape;1615;p91"/>
                <p:cNvSpPr/>
                <p:nvPr/>
              </p:nvSpPr>
              <p:spPr>
                <a:xfrm flipH="1">
                  <a:off x="6780275"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6" name="Google Shape;1616;p91"/>
                <p:cNvSpPr/>
                <p:nvPr/>
              </p:nvSpPr>
              <p:spPr>
                <a:xfrm>
                  <a:off x="3211797" y="3362706"/>
                  <a:ext cx="98037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a:solidFill>
                        <a:srgbClr val="262626"/>
                      </a:solidFill>
                      <a:latin typeface="Arial"/>
                      <a:ea typeface="Arial"/>
                      <a:cs typeface="Arial"/>
                      <a:sym typeface="Arial"/>
                    </a:rPr>
                    <a:t>Máy chủ nâng lên trong vòng 20-40 us</a:t>
                  </a:r>
                  <a:endParaRPr/>
                </a:p>
              </p:txBody>
            </p:sp>
            <p:sp>
              <p:nvSpPr>
                <p:cNvPr id="1617" name="Google Shape;1617;p91"/>
                <p:cNvSpPr/>
                <p:nvPr/>
              </p:nvSpPr>
              <p:spPr>
                <a:xfrm>
                  <a:off x="6851812" y="3362706"/>
                  <a:ext cx="98037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a:solidFill>
                        <a:srgbClr val="262626"/>
                      </a:solidFill>
                      <a:latin typeface="Arial"/>
                      <a:ea typeface="Arial"/>
                      <a:cs typeface="Arial"/>
                      <a:sym typeface="Arial"/>
                    </a:rPr>
                    <a:t>Cảm biến nâng lên trong vòng 80 us</a:t>
                  </a:r>
                  <a:endParaRPr/>
                </a:p>
              </p:txBody>
            </p:sp>
          </p:grpSp>
          <p:sp>
            <p:nvSpPr>
              <p:cNvPr id="1618" name="Google Shape;1618;p91"/>
              <p:cNvSpPr/>
              <p:nvPr/>
            </p:nvSpPr>
            <p:spPr>
              <a:xfrm>
                <a:off x="1274885" y="3903785"/>
                <a:ext cx="2880000" cy="597877"/>
              </a:xfrm>
              <a:custGeom>
                <a:avLst/>
                <a:gdLst/>
                <a:ahLst/>
                <a:cxnLst/>
                <a:rect l="l" t="t" r="r" b="b"/>
                <a:pathLst>
                  <a:path w="2875084" h="633046" extrusionOk="0">
                    <a:moveTo>
                      <a:pt x="0" y="0"/>
                    </a:moveTo>
                    <a:lnTo>
                      <a:pt x="167053" y="0"/>
                    </a:lnTo>
                    <a:lnTo>
                      <a:pt x="430823" y="633046"/>
                    </a:lnTo>
                    <a:lnTo>
                      <a:pt x="1740877" y="633046"/>
                    </a:lnTo>
                    <a:lnTo>
                      <a:pt x="2022230" y="0"/>
                    </a:lnTo>
                    <a:lnTo>
                      <a:pt x="2875084"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9" name="Google Shape;1619;p91"/>
              <p:cNvSpPr/>
              <p:nvPr/>
            </p:nvSpPr>
            <p:spPr>
              <a:xfrm>
                <a:off x="4141177" y="3903785"/>
                <a:ext cx="4501661" cy="606669"/>
              </a:xfrm>
              <a:custGeom>
                <a:avLst/>
                <a:gdLst/>
                <a:ahLst/>
                <a:cxnLst/>
                <a:rect l="l" t="t" r="r" b="b"/>
                <a:pathLst>
                  <a:path w="4501661" h="606669" extrusionOk="0">
                    <a:moveTo>
                      <a:pt x="0" y="0"/>
                    </a:moveTo>
                    <a:lnTo>
                      <a:pt x="254977" y="606669"/>
                    </a:lnTo>
                    <a:lnTo>
                      <a:pt x="2523392" y="606669"/>
                    </a:lnTo>
                    <a:lnTo>
                      <a:pt x="2743200" y="8792"/>
                    </a:lnTo>
                    <a:lnTo>
                      <a:pt x="3631223" y="8792"/>
                    </a:lnTo>
                    <a:lnTo>
                      <a:pt x="3859823" y="597877"/>
                    </a:lnTo>
                    <a:lnTo>
                      <a:pt x="4501661" y="597877"/>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0" name="Google Shape;1620;p91"/>
              <p:cNvSpPr/>
              <p:nvPr/>
            </p:nvSpPr>
            <p:spPr>
              <a:xfrm>
                <a:off x="1835940" y="5012280"/>
                <a:ext cx="967042" cy="168283"/>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1" name="Google Shape;1621;p91"/>
              <p:cNvSpPr/>
              <p:nvPr/>
            </p:nvSpPr>
            <p:spPr>
              <a:xfrm>
                <a:off x="3334540" y="3500980"/>
                <a:ext cx="720000" cy="168283"/>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2" name="Google Shape;1622;p91"/>
              <p:cNvSpPr/>
              <p:nvPr/>
            </p:nvSpPr>
            <p:spPr>
              <a:xfrm>
                <a:off x="7071997" y="3500980"/>
                <a:ext cx="540000" cy="168283"/>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3" name="Google Shape;1623;p91"/>
              <p:cNvSpPr/>
              <p:nvPr/>
            </p:nvSpPr>
            <p:spPr>
              <a:xfrm>
                <a:off x="4863460" y="4897980"/>
                <a:ext cx="324000" cy="168283"/>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92"/>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630" name="Google Shape;1630;p92"/>
          <p:cNvSpPr/>
          <p:nvPr/>
        </p:nvSpPr>
        <p:spPr>
          <a:xfrm>
            <a:off x="712189" y="1791158"/>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Bắt đầu tín hiệu yêu cầu đối với DHT11</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MCU gửi tín hiệu khởi động và phản hồi DHT</a:t>
            </a:r>
            <a:endParaRPr/>
          </a:p>
        </p:txBody>
      </p:sp>
      <p:grpSp>
        <p:nvGrpSpPr>
          <p:cNvPr id="1631" name="Google Shape;1631;p92"/>
          <p:cNvGrpSpPr/>
          <p:nvPr/>
        </p:nvGrpSpPr>
        <p:grpSpPr>
          <a:xfrm>
            <a:off x="416136" y="436183"/>
            <a:ext cx="9051872" cy="276871"/>
            <a:chOff x="416136" y="436183"/>
            <a:chExt cx="9051872" cy="276871"/>
          </a:xfrm>
        </p:grpSpPr>
        <p:sp>
          <p:nvSpPr>
            <p:cNvPr id="1632" name="Google Shape;1632;p92"/>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633" name="Google Shape;1633;p92"/>
            <p:cNvSpPr/>
            <p:nvPr/>
          </p:nvSpPr>
          <p:spPr>
            <a:xfrm>
              <a:off x="416136" y="436183"/>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2.5. Cảm biến nhiệt độ-độ ẩm</a:t>
              </a:r>
              <a:endParaRPr sz="1799" b="1">
                <a:solidFill>
                  <a:schemeClr val="lt1"/>
                </a:solidFill>
                <a:latin typeface="Arial"/>
                <a:ea typeface="Arial"/>
                <a:cs typeface="Arial"/>
                <a:sym typeface="Arial"/>
              </a:endParaRPr>
            </a:p>
          </p:txBody>
        </p:sp>
      </p:grpSp>
      <p:grpSp>
        <p:nvGrpSpPr>
          <p:cNvPr id="1634" name="Google Shape;1634;p92"/>
          <p:cNvGrpSpPr/>
          <p:nvPr/>
        </p:nvGrpSpPr>
        <p:grpSpPr>
          <a:xfrm>
            <a:off x="712189" y="2986723"/>
            <a:ext cx="8596918" cy="2690414"/>
            <a:chOff x="750282" y="3371733"/>
            <a:chExt cx="8596918" cy="2690414"/>
          </a:xfrm>
        </p:grpSpPr>
        <p:grpSp>
          <p:nvGrpSpPr>
            <p:cNvPr id="1635" name="Google Shape;1635;p92"/>
            <p:cNvGrpSpPr/>
            <p:nvPr/>
          </p:nvGrpSpPr>
          <p:grpSpPr>
            <a:xfrm>
              <a:off x="2525777" y="5762618"/>
              <a:ext cx="3763709" cy="299529"/>
              <a:chOff x="2525777" y="5666074"/>
              <a:chExt cx="3763709" cy="299529"/>
            </a:xfrm>
          </p:grpSpPr>
          <p:grpSp>
            <p:nvGrpSpPr>
              <p:cNvPr id="1636" name="Google Shape;1636;p92"/>
              <p:cNvGrpSpPr/>
              <p:nvPr/>
            </p:nvGrpSpPr>
            <p:grpSpPr>
              <a:xfrm>
                <a:off x="3860156" y="5715000"/>
                <a:ext cx="2429330" cy="250603"/>
                <a:chOff x="3632721" y="5715000"/>
                <a:chExt cx="2429330" cy="250603"/>
              </a:xfrm>
            </p:grpSpPr>
            <p:sp>
              <p:nvSpPr>
                <p:cNvPr id="1637" name="Google Shape;1637;p92"/>
                <p:cNvSpPr/>
                <p:nvPr/>
              </p:nvSpPr>
              <p:spPr>
                <a:xfrm>
                  <a:off x="3727938" y="5715000"/>
                  <a:ext cx="729762" cy="0"/>
                </a:xfrm>
                <a:custGeom>
                  <a:avLst/>
                  <a:gdLst/>
                  <a:ahLst/>
                  <a:cxnLst/>
                  <a:rect l="l" t="t" r="r" b="b"/>
                  <a:pathLst>
                    <a:path w="729762" h="120000" extrusionOk="0">
                      <a:moveTo>
                        <a:pt x="0" y="0"/>
                      </a:moveTo>
                      <a:lnTo>
                        <a:pt x="729762"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8" name="Google Shape;1638;p92"/>
                <p:cNvSpPr/>
                <p:nvPr/>
              </p:nvSpPr>
              <p:spPr>
                <a:xfrm>
                  <a:off x="5231423" y="5715000"/>
                  <a:ext cx="729762" cy="0"/>
                </a:xfrm>
                <a:custGeom>
                  <a:avLst/>
                  <a:gdLst/>
                  <a:ahLst/>
                  <a:cxnLst/>
                  <a:rect l="l" t="t" r="r" b="b"/>
                  <a:pathLst>
                    <a:path w="729762" h="120000" extrusionOk="0">
                      <a:moveTo>
                        <a:pt x="0" y="0"/>
                      </a:moveTo>
                      <a:lnTo>
                        <a:pt x="729762" y="0"/>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9" name="Google Shape;1639;p92"/>
                <p:cNvSpPr/>
                <p:nvPr/>
              </p:nvSpPr>
              <p:spPr>
                <a:xfrm>
                  <a:off x="5149119" y="5811715"/>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DHT</a:t>
                  </a:r>
                  <a:endParaRPr/>
                </a:p>
              </p:txBody>
            </p:sp>
            <p:sp>
              <p:nvSpPr>
                <p:cNvPr id="1640" name="Google Shape;1640;p92"/>
                <p:cNvSpPr/>
                <p:nvPr/>
              </p:nvSpPr>
              <p:spPr>
                <a:xfrm>
                  <a:off x="3632721" y="5802923"/>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MCU</a:t>
                  </a:r>
                  <a:endParaRPr/>
                </a:p>
              </p:txBody>
            </p:sp>
          </p:grpSp>
          <p:sp>
            <p:nvSpPr>
              <p:cNvPr id="1641" name="Google Shape;1641;p92"/>
              <p:cNvSpPr/>
              <p:nvPr/>
            </p:nvSpPr>
            <p:spPr>
              <a:xfrm>
                <a:off x="2525777" y="5666074"/>
                <a:ext cx="1190667"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Giải thích các đường:</a:t>
                </a:r>
                <a:endParaRPr/>
              </a:p>
            </p:txBody>
          </p:sp>
        </p:grpSp>
        <p:grpSp>
          <p:nvGrpSpPr>
            <p:cNvPr id="1642" name="Google Shape;1642;p92"/>
            <p:cNvGrpSpPr/>
            <p:nvPr/>
          </p:nvGrpSpPr>
          <p:grpSpPr>
            <a:xfrm>
              <a:off x="750282" y="3371733"/>
              <a:ext cx="8596918" cy="2020169"/>
              <a:chOff x="750282" y="3371733"/>
              <a:chExt cx="8596918" cy="2020169"/>
            </a:xfrm>
          </p:grpSpPr>
          <p:grpSp>
            <p:nvGrpSpPr>
              <p:cNvPr id="1643" name="Google Shape;1643;p92"/>
              <p:cNvGrpSpPr/>
              <p:nvPr/>
            </p:nvGrpSpPr>
            <p:grpSpPr>
              <a:xfrm>
                <a:off x="750282" y="3371733"/>
                <a:ext cx="8492544" cy="2020169"/>
                <a:chOff x="622111" y="3250842"/>
                <a:chExt cx="8492544" cy="2020169"/>
              </a:xfrm>
            </p:grpSpPr>
            <p:grpSp>
              <p:nvGrpSpPr>
                <p:cNvPr id="1644" name="Google Shape;1644;p92"/>
                <p:cNvGrpSpPr/>
                <p:nvPr/>
              </p:nvGrpSpPr>
              <p:grpSpPr>
                <a:xfrm>
                  <a:off x="978194" y="3279531"/>
                  <a:ext cx="7693269" cy="1969477"/>
                  <a:chOff x="978194" y="3279531"/>
                  <a:chExt cx="7693269" cy="1969477"/>
                </a:xfrm>
              </p:grpSpPr>
              <p:sp>
                <p:nvSpPr>
                  <p:cNvPr id="1645" name="Google Shape;1645;p92"/>
                  <p:cNvSpPr/>
                  <p:nvPr/>
                </p:nvSpPr>
                <p:spPr>
                  <a:xfrm>
                    <a:off x="978194"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6" name="Google Shape;1646;p92"/>
                  <p:cNvSpPr/>
                  <p:nvPr/>
                </p:nvSpPr>
                <p:spPr>
                  <a:xfrm>
                    <a:off x="978194"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7" name="Google Shape;1647;p92"/>
                  <p:cNvSpPr/>
                  <p:nvPr/>
                </p:nvSpPr>
                <p:spPr>
                  <a:xfrm>
                    <a:off x="144193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8" name="Google Shape;1648;p92"/>
                  <p:cNvSpPr/>
                  <p:nvPr/>
                </p:nvSpPr>
                <p:spPr>
                  <a:xfrm>
                    <a:off x="3496438"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9" name="Google Shape;1649;p92"/>
                  <p:cNvSpPr/>
                  <p:nvPr/>
                </p:nvSpPr>
                <p:spPr>
                  <a:xfrm>
                    <a:off x="4563507"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0" name="Google Shape;1650;p92"/>
                  <p:cNvSpPr/>
                  <p:nvPr/>
                </p:nvSpPr>
                <p:spPr>
                  <a:xfrm>
                    <a:off x="6668314"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1" name="Google Shape;1651;p92"/>
                  <p:cNvSpPr/>
                  <p:nvPr/>
                </p:nvSpPr>
                <p:spPr>
                  <a:xfrm>
                    <a:off x="7677394"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52" name="Google Shape;1652;p92"/>
                <p:cNvSpPr/>
                <p:nvPr/>
              </p:nvSpPr>
              <p:spPr>
                <a:xfrm>
                  <a:off x="622111" y="3811451"/>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653" name="Google Shape;1653;p92"/>
                <p:cNvSpPr/>
                <p:nvPr/>
              </p:nvSpPr>
              <p:spPr>
                <a:xfrm>
                  <a:off x="622111" y="4418121"/>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654" name="Google Shape;1654;p92"/>
                <p:cNvSpPr/>
                <p:nvPr/>
              </p:nvSpPr>
              <p:spPr>
                <a:xfrm>
                  <a:off x="3565369" y="3250842"/>
                  <a:ext cx="1118781"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MCU nâng điện áp và chờ phản hồi DHT (20-40 us)</a:t>
                  </a:r>
                  <a:endParaRPr/>
                </a:p>
              </p:txBody>
            </p:sp>
            <p:sp>
              <p:nvSpPr>
                <p:cNvPr id="1655" name="Google Shape;1655;p92"/>
                <p:cNvSpPr/>
                <p:nvPr/>
              </p:nvSpPr>
              <p:spPr>
                <a:xfrm>
                  <a:off x="6738651" y="3250842"/>
                  <a:ext cx="845741"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DHT nâng điện áp và duy trì trong khoảng 80 us</a:t>
                  </a:r>
                  <a:endParaRPr/>
                </a:p>
              </p:txBody>
            </p:sp>
            <p:sp>
              <p:nvSpPr>
                <p:cNvPr id="1656" name="Google Shape;1656;p92"/>
                <p:cNvSpPr/>
                <p:nvPr/>
              </p:nvSpPr>
              <p:spPr>
                <a:xfrm>
                  <a:off x="1565812" y="4655458"/>
                  <a:ext cx="181938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MCU gửi tín hiệu khởi động và hạ điện áp trong ít nhất 18 ms để DHT11 có thể dò tín hiệu</a:t>
                  </a:r>
                  <a:endParaRPr/>
                </a:p>
              </p:txBody>
            </p:sp>
            <p:sp>
              <p:nvSpPr>
                <p:cNvPr id="1657" name="Google Shape;1657;p92"/>
                <p:cNvSpPr/>
                <p:nvPr/>
              </p:nvSpPr>
              <p:spPr>
                <a:xfrm>
                  <a:off x="4780487" y="4655457"/>
                  <a:ext cx="1707855"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DHT gửi tín hiệu phản hồi và duy trì trong khoảng 80 us</a:t>
                  </a:r>
                  <a:endParaRPr/>
                </a:p>
              </p:txBody>
            </p:sp>
            <p:sp>
              <p:nvSpPr>
                <p:cNvPr id="1658" name="Google Shape;1658;p92"/>
                <p:cNvSpPr/>
                <p:nvPr/>
              </p:nvSpPr>
              <p:spPr>
                <a:xfrm>
                  <a:off x="8111968" y="3930019"/>
                  <a:ext cx="100268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Bắt đầu truyền dữ liệu</a:t>
                  </a:r>
                  <a:endParaRPr/>
                </a:p>
              </p:txBody>
            </p:sp>
            <p:sp>
              <p:nvSpPr>
                <p:cNvPr id="1659" name="Google Shape;1659;p92"/>
                <p:cNvSpPr/>
                <p:nvPr/>
              </p:nvSpPr>
              <p:spPr>
                <a:xfrm>
                  <a:off x="1255037"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0" name="Google Shape;1660;p92"/>
                <p:cNvSpPr/>
                <p:nvPr/>
              </p:nvSpPr>
              <p:spPr>
                <a:xfrm flipH="1">
                  <a:off x="3531288"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1" name="Google Shape;1661;p92"/>
                <p:cNvSpPr/>
                <p:nvPr/>
              </p:nvSpPr>
              <p:spPr>
                <a:xfrm flipH="1">
                  <a:off x="6675242"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2" name="Google Shape;1662;p92"/>
                <p:cNvSpPr/>
                <p:nvPr/>
              </p:nvSpPr>
              <p:spPr>
                <a:xfrm>
                  <a:off x="622111" y="4769778"/>
                  <a:ext cx="926457"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ĐẦU RA BUS ĐƠN</a:t>
                  </a:r>
                  <a:endParaRPr/>
                </a:p>
              </p:txBody>
            </p:sp>
            <p:sp>
              <p:nvSpPr>
                <p:cNvPr id="1663" name="Google Shape;1663;p92"/>
                <p:cNvSpPr/>
                <p:nvPr/>
              </p:nvSpPr>
              <p:spPr>
                <a:xfrm flipH="1">
                  <a:off x="4563127"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4" name="Google Shape;1664;p92"/>
                <p:cNvSpPr/>
                <p:nvPr/>
              </p:nvSpPr>
              <p:spPr>
                <a:xfrm>
                  <a:off x="3321711"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5" name="Google Shape;1665;p92"/>
                <p:cNvSpPr/>
                <p:nvPr/>
              </p:nvSpPr>
              <p:spPr>
                <a:xfrm flipH="1">
                  <a:off x="7677394"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6" name="Google Shape;1666;p92"/>
                <p:cNvSpPr/>
                <p:nvPr/>
              </p:nvSpPr>
              <p:spPr>
                <a:xfrm>
                  <a:off x="4368591" y="495476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7" name="Google Shape;1667;p92"/>
                <p:cNvSpPr/>
                <p:nvPr/>
              </p:nvSpPr>
              <p:spPr>
                <a:xfrm>
                  <a:off x="6474486" y="3416110"/>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68" name="Google Shape;1668;p92"/>
              <p:cNvSpPr/>
              <p:nvPr/>
            </p:nvSpPr>
            <p:spPr>
              <a:xfrm>
                <a:off x="1257300" y="4024675"/>
                <a:ext cx="3276600" cy="597879"/>
              </a:xfrm>
              <a:custGeom>
                <a:avLst/>
                <a:gdLst/>
                <a:ahLst/>
                <a:cxnLst/>
                <a:rect l="l" t="t" r="r" b="b"/>
                <a:pathLst>
                  <a:path w="3276600" h="619125" extrusionOk="0">
                    <a:moveTo>
                      <a:pt x="0" y="0"/>
                    </a:moveTo>
                    <a:lnTo>
                      <a:pt x="228600" y="0"/>
                    </a:lnTo>
                    <a:lnTo>
                      <a:pt x="523875" y="619125"/>
                    </a:lnTo>
                    <a:lnTo>
                      <a:pt x="2266950" y="619125"/>
                    </a:lnTo>
                    <a:lnTo>
                      <a:pt x="2314575" y="180975"/>
                    </a:lnTo>
                    <a:cubicBezTo>
                      <a:pt x="2368550" y="44917"/>
                      <a:pt x="2393950" y="10528"/>
                      <a:pt x="2562225" y="9525"/>
                    </a:cubicBezTo>
                    <a:lnTo>
                      <a:pt x="3276600" y="9525"/>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9" name="Google Shape;1669;p92"/>
              <p:cNvSpPr/>
              <p:nvPr/>
            </p:nvSpPr>
            <p:spPr>
              <a:xfrm>
                <a:off x="4514850" y="4024675"/>
                <a:ext cx="3048000" cy="597879"/>
              </a:xfrm>
              <a:custGeom>
                <a:avLst/>
                <a:gdLst/>
                <a:ahLst/>
                <a:cxnLst/>
                <a:rect l="l" t="t" r="r" b="b"/>
                <a:pathLst>
                  <a:path w="3048000" h="619125" extrusionOk="0">
                    <a:moveTo>
                      <a:pt x="0" y="0"/>
                    </a:moveTo>
                    <a:lnTo>
                      <a:pt x="295275" y="619125"/>
                    </a:lnTo>
                    <a:lnTo>
                      <a:pt x="2038350" y="619125"/>
                    </a:lnTo>
                    <a:lnTo>
                      <a:pt x="2085975" y="180975"/>
                    </a:lnTo>
                    <a:cubicBezTo>
                      <a:pt x="2139950" y="44917"/>
                      <a:pt x="2165350" y="10528"/>
                      <a:pt x="2333625" y="9525"/>
                    </a:cubicBezTo>
                    <a:lnTo>
                      <a:pt x="3048000" y="9525"/>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0" name="Google Shape;1670;p92"/>
              <p:cNvSpPr/>
              <p:nvPr/>
            </p:nvSpPr>
            <p:spPr>
              <a:xfrm>
                <a:off x="7534275" y="4026141"/>
                <a:ext cx="1057275" cy="600075"/>
              </a:xfrm>
              <a:custGeom>
                <a:avLst/>
                <a:gdLst/>
                <a:ahLst/>
                <a:cxnLst/>
                <a:rect l="l" t="t" r="r" b="b"/>
                <a:pathLst>
                  <a:path w="1057275" h="600075" extrusionOk="0">
                    <a:moveTo>
                      <a:pt x="0" y="0"/>
                    </a:moveTo>
                    <a:lnTo>
                      <a:pt x="342900" y="600075"/>
                    </a:lnTo>
                    <a:lnTo>
                      <a:pt x="1057275" y="600075"/>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1" name="Google Shape;1671;p92"/>
              <p:cNvSpPr/>
              <p:nvPr/>
            </p:nvSpPr>
            <p:spPr>
              <a:xfrm>
                <a:off x="8089900" y="4368800"/>
                <a:ext cx="1257300" cy="203200"/>
              </a:xfrm>
              <a:custGeom>
                <a:avLst/>
                <a:gdLst/>
                <a:ahLst/>
                <a:cxnLst/>
                <a:rect l="l" t="t" r="r" b="b"/>
                <a:pathLst>
                  <a:path w="1257300" h="203200" extrusionOk="0">
                    <a:moveTo>
                      <a:pt x="1257300" y="0"/>
                    </a:moveTo>
                    <a:lnTo>
                      <a:pt x="88900" y="0"/>
                    </a:lnTo>
                    <a:lnTo>
                      <a:pt x="0" y="203200"/>
                    </a:lnTo>
                  </a:path>
                </a:pathLst>
              </a:custGeom>
              <a:noFill/>
              <a:ln w="12700" cap="flat" cmpd="sng">
                <a:solidFill>
                  <a:srgbClr val="00B050"/>
                </a:solidFill>
                <a:prstDash val="solid"/>
                <a:miter lim="800000"/>
                <a:headEnd type="none" w="sm" len="sm"/>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76"/>
        <p:cNvGrpSpPr/>
        <p:nvPr/>
      </p:nvGrpSpPr>
      <p:grpSpPr>
        <a:xfrm>
          <a:off x="0" y="0"/>
          <a:ext cx="0" cy="0"/>
          <a:chOff x="0" y="0"/>
          <a:chExt cx="0" cy="0"/>
        </a:xfrm>
      </p:grpSpPr>
      <p:sp>
        <p:nvSpPr>
          <p:cNvPr id="1677" name="Google Shape;1677;p93"/>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678" name="Google Shape;1678;p93"/>
          <p:cNvSpPr/>
          <p:nvPr/>
        </p:nvSpPr>
        <p:spPr>
          <a:xfrm>
            <a:off x="712189" y="1791150"/>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Những tín hiệu dữ liệu đối với DHT22</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DHT phản hồi tới MCU</a:t>
            </a:r>
            <a:endParaRPr/>
          </a:p>
        </p:txBody>
      </p:sp>
      <p:grpSp>
        <p:nvGrpSpPr>
          <p:cNvPr id="1679" name="Google Shape;1679;p93"/>
          <p:cNvGrpSpPr/>
          <p:nvPr/>
        </p:nvGrpSpPr>
        <p:grpSpPr>
          <a:xfrm>
            <a:off x="416136" y="436183"/>
            <a:ext cx="9051872" cy="276871"/>
            <a:chOff x="416136" y="436183"/>
            <a:chExt cx="9051872" cy="276871"/>
          </a:xfrm>
        </p:grpSpPr>
        <p:sp>
          <p:nvSpPr>
            <p:cNvPr id="1680" name="Google Shape;1680;p93"/>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681" name="Google Shape;1681;p93"/>
            <p:cNvSpPr/>
            <p:nvPr/>
          </p:nvSpPr>
          <p:spPr>
            <a:xfrm>
              <a:off x="416136" y="436183"/>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2.5.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r>
                <a:rPr lang="en-US" sz="1799" dirty="0">
                  <a:solidFill>
                    <a:schemeClr val="tx1"/>
                  </a:solidFill>
                </a:rPr>
                <a:t> </a:t>
              </a:r>
              <a:r>
                <a:rPr lang="en-US" sz="1799" dirty="0" err="1">
                  <a:solidFill>
                    <a:schemeClr val="tx1"/>
                  </a:solidFill>
                </a:rPr>
                <a:t>nhiệt</a:t>
              </a:r>
              <a:r>
                <a:rPr lang="en-US" sz="1799" dirty="0">
                  <a:solidFill>
                    <a:schemeClr val="tx1"/>
                  </a:solidFill>
                </a:rPr>
                <a:t> </a:t>
              </a:r>
              <a:r>
                <a:rPr lang="en-US" sz="1799" dirty="0" err="1">
                  <a:solidFill>
                    <a:schemeClr val="tx1"/>
                  </a:solidFill>
                </a:rPr>
                <a:t>độ-độ</a:t>
              </a:r>
              <a:r>
                <a:rPr lang="en-US" sz="1799" dirty="0">
                  <a:solidFill>
                    <a:schemeClr val="tx1"/>
                  </a:solidFill>
                </a:rPr>
                <a:t> </a:t>
              </a:r>
              <a:r>
                <a:rPr lang="en-US" sz="1799" dirty="0" err="1">
                  <a:solidFill>
                    <a:schemeClr val="tx1"/>
                  </a:solidFill>
                </a:rPr>
                <a:t>ẩm</a:t>
              </a:r>
              <a:endParaRPr sz="1799" b="1" dirty="0">
                <a:solidFill>
                  <a:schemeClr val="lt1"/>
                </a:solidFill>
                <a:latin typeface="Arial"/>
                <a:ea typeface="Arial"/>
                <a:cs typeface="Arial"/>
                <a:sym typeface="Arial"/>
              </a:endParaRPr>
            </a:p>
          </p:txBody>
        </p:sp>
      </p:grpSp>
      <p:grpSp>
        <p:nvGrpSpPr>
          <p:cNvPr id="1682" name="Google Shape;1682;p93"/>
          <p:cNvGrpSpPr/>
          <p:nvPr/>
        </p:nvGrpSpPr>
        <p:grpSpPr>
          <a:xfrm>
            <a:off x="712189" y="2787240"/>
            <a:ext cx="8740227" cy="2928763"/>
            <a:chOff x="852124" y="3148187"/>
            <a:chExt cx="8740227" cy="2928763"/>
          </a:xfrm>
        </p:grpSpPr>
        <p:grpSp>
          <p:nvGrpSpPr>
            <p:cNvPr id="1683" name="Google Shape;1683;p93"/>
            <p:cNvGrpSpPr/>
            <p:nvPr/>
          </p:nvGrpSpPr>
          <p:grpSpPr>
            <a:xfrm>
              <a:off x="3731985" y="5826347"/>
              <a:ext cx="2442030" cy="250603"/>
              <a:chOff x="3632721" y="5715000"/>
              <a:chExt cx="2442030" cy="250603"/>
            </a:xfrm>
          </p:grpSpPr>
          <p:sp>
            <p:nvSpPr>
              <p:cNvPr id="1684" name="Google Shape;1684;p93"/>
              <p:cNvSpPr/>
              <p:nvPr/>
            </p:nvSpPr>
            <p:spPr>
              <a:xfrm>
                <a:off x="3727938" y="5715000"/>
                <a:ext cx="729762" cy="0"/>
              </a:xfrm>
              <a:custGeom>
                <a:avLst/>
                <a:gdLst/>
                <a:ahLst/>
                <a:cxnLst/>
                <a:rect l="l" t="t" r="r" b="b"/>
                <a:pathLst>
                  <a:path w="729762" h="120000" extrusionOk="0">
                    <a:moveTo>
                      <a:pt x="0" y="0"/>
                    </a:moveTo>
                    <a:lnTo>
                      <a:pt x="729762"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5" name="Google Shape;1685;p93"/>
              <p:cNvSpPr/>
              <p:nvPr/>
            </p:nvSpPr>
            <p:spPr>
              <a:xfrm>
                <a:off x="5231423" y="5715000"/>
                <a:ext cx="729762" cy="0"/>
              </a:xfrm>
              <a:custGeom>
                <a:avLst/>
                <a:gdLst/>
                <a:ahLst/>
                <a:cxnLst/>
                <a:rect l="l" t="t" r="r" b="b"/>
                <a:pathLst>
                  <a:path w="729762" h="120000" extrusionOk="0">
                    <a:moveTo>
                      <a:pt x="0" y="0"/>
                    </a:moveTo>
                    <a:lnTo>
                      <a:pt x="729762" y="0"/>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6" name="Google Shape;1686;p93"/>
              <p:cNvSpPr/>
              <p:nvPr/>
            </p:nvSpPr>
            <p:spPr>
              <a:xfrm>
                <a:off x="5161819" y="5811715"/>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của cảm biến</a:t>
                </a:r>
                <a:endParaRPr/>
              </a:p>
            </p:txBody>
          </p:sp>
          <p:sp>
            <p:nvSpPr>
              <p:cNvPr id="1687" name="Google Shape;1687;p93"/>
              <p:cNvSpPr/>
              <p:nvPr/>
            </p:nvSpPr>
            <p:spPr>
              <a:xfrm>
                <a:off x="3632721" y="5802923"/>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của máy chủ</a:t>
                </a:r>
                <a:endParaRPr/>
              </a:p>
            </p:txBody>
          </p:sp>
        </p:grpSp>
        <p:grpSp>
          <p:nvGrpSpPr>
            <p:cNvPr id="1688" name="Google Shape;1688;p93"/>
            <p:cNvGrpSpPr/>
            <p:nvPr/>
          </p:nvGrpSpPr>
          <p:grpSpPr>
            <a:xfrm>
              <a:off x="852124" y="4507056"/>
              <a:ext cx="8740227" cy="1120943"/>
              <a:chOff x="928324" y="4595010"/>
              <a:chExt cx="8740227" cy="1120943"/>
            </a:xfrm>
          </p:grpSpPr>
          <p:grpSp>
            <p:nvGrpSpPr>
              <p:cNvPr id="1689" name="Google Shape;1689;p93"/>
              <p:cNvGrpSpPr/>
              <p:nvPr/>
            </p:nvGrpSpPr>
            <p:grpSpPr>
              <a:xfrm>
                <a:off x="928324" y="4595010"/>
                <a:ext cx="8740227" cy="1120943"/>
                <a:chOff x="928324" y="4814041"/>
                <a:chExt cx="8740227" cy="1319123"/>
              </a:xfrm>
            </p:grpSpPr>
            <p:grpSp>
              <p:nvGrpSpPr>
                <p:cNvPr id="1690" name="Google Shape;1690;p93"/>
                <p:cNvGrpSpPr/>
                <p:nvPr/>
              </p:nvGrpSpPr>
              <p:grpSpPr>
                <a:xfrm>
                  <a:off x="928324" y="4859684"/>
                  <a:ext cx="8477963" cy="1273480"/>
                  <a:chOff x="750282" y="6599300"/>
                  <a:chExt cx="8477963" cy="1273480"/>
                </a:xfrm>
              </p:grpSpPr>
              <p:grpSp>
                <p:nvGrpSpPr>
                  <p:cNvPr id="1691" name="Google Shape;1691;p93"/>
                  <p:cNvGrpSpPr/>
                  <p:nvPr/>
                </p:nvGrpSpPr>
                <p:grpSpPr>
                  <a:xfrm>
                    <a:off x="750282" y="6599300"/>
                    <a:ext cx="8477963" cy="1273480"/>
                    <a:chOff x="750282" y="6573765"/>
                    <a:chExt cx="8477963" cy="2037568"/>
                  </a:xfrm>
                </p:grpSpPr>
                <p:grpSp>
                  <p:nvGrpSpPr>
                    <p:cNvPr id="1692" name="Google Shape;1692;p93"/>
                    <p:cNvGrpSpPr/>
                    <p:nvPr/>
                  </p:nvGrpSpPr>
                  <p:grpSpPr>
                    <a:xfrm>
                      <a:off x="1106365" y="6641856"/>
                      <a:ext cx="7693269" cy="1969477"/>
                      <a:chOff x="978194" y="3279531"/>
                      <a:chExt cx="7693269" cy="1969477"/>
                    </a:xfrm>
                  </p:grpSpPr>
                  <p:sp>
                    <p:nvSpPr>
                      <p:cNvPr id="1693" name="Google Shape;1693;p93"/>
                      <p:cNvSpPr/>
                      <p:nvPr/>
                    </p:nvSpPr>
                    <p:spPr>
                      <a:xfrm>
                        <a:off x="978194"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4" name="Google Shape;1694;p93"/>
                      <p:cNvSpPr/>
                      <p:nvPr/>
                    </p:nvSpPr>
                    <p:spPr>
                      <a:xfrm>
                        <a:off x="978194"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5" name="Google Shape;1695;p93"/>
                      <p:cNvSpPr/>
                      <p:nvPr/>
                    </p:nvSpPr>
                    <p:spPr>
                      <a:xfrm>
                        <a:off x="1832463"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6" name="Google Shape;1696;p93"/>
                      <p:cNvSpPr/>
                      <p:nvPr/>
                    </p:nvSpPr>
                    <p:spPr>
                      <a:xfrm>
                        <a:off x="342610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7" name="Google Shape;1697;p93"/>
                      <p:cNvSpPr/>
                      <p:nvPr/>
                    </p:nvSpPr>
                    <p:spPr>
                      <a:xfrm>
                        <a:off x="680142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98" name="Google Shape;1698;p93"/>
                    <p:cNvSpPr/>
                    <p:nvPr/>
                  </p:nvSpPr>
                  <p:spPr>
                    <a:xfrm>
                      <a:off x="750282" y="7173776"/>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699" name="Google Shape;1699;p93"/>
                    <p:cNvSpPr/>
                    <p:nvPr/>
                  </p:nvSpPr>
                  <p:spPr>
                    <a:xfrm>
                      <a:off x="750282" y="7780446"/>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700" name="Google Shape;1700;p93"/>
                    <p:cNvSpPr/>
                    <p:nvPr/>
                  </p:nvSpPr>
                  <p:spPr>
                    <a:xfrm>
                      <a:off x="2081390" y="8120728"/>
                      <a:ext cx="1370086"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Truyền dữ liệu 1 bit</a:t>
                      </a:r>
                      <a:endParaRPr/>
                    </a:p>
                  </p:txBody>
                </p:sp>
                <p:sp>
                  <p:nvSpPr>
                    <p:cNvPr id="1701" name="Google Shape;1701;p93"/>
                    <p:cNvSpPr/>
                    <p:nvPr/>
                  </p:nvSpPr>
                  <p:spPr>
                    <a:xfrm>
                      <a:off x="4304750" y="6573765"/>
                      <a:ext cx="190555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Cảm biến xuất dữ liệu 1 bit “1” trong vòng 70 us</a:t>
                      </a:r>
                      <a:endParaRPr/>
                    </a:p>
                  </p:txBody>
                </p:sp>
                <p:sp>
                  <p:nvSpPr>
                    <p:cNvPr id="1702" name="Google Shape;1702;p93"/>
                    <p:cNvSpPr/>
                    <p:nvPr/>
                  </p:nvSpPr>
                  <p:spPr>
                    <a:xfrm>
                      <a:off x="7024864" y="7965113"/>
                      <a:ext cx="2203381" cy="28975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Bắt đầu truyền dữ liệu 1 bit tiếp theo</a:t>
                      </a:r>
                      <a:endParaRPr/>
                    </a:p>
                  </p:txBody>
                </p:sp>
              </p:grpSp>
              <p:sp>
                <p:nvSpPr>
                  <p:cNvPr id="1703" name="Google Shape;1703;p93"/>
                  <p:cNvSpPr/>
                  <p:nvPr/>
                </p:nvSpPr>
                <p:spPr>
                  <a:xfrm>
                    <a:off x="1657350" y="7010400"/>
                    <a:ext cx="6238875" cy="400050"/>
                  </a:xfrm>
                  <a:custGeom>
                    <a:avLst/>
                    <a:gdLst/>
                    <a:ahLst/>
                    <a:cxnLst/>
                    <a:rect l="l" t="t" r="r" b="b"/>
                    <a:pathLst>
                      <a:path w="6238875" h="400050" extrusionOk="0">
                        <a:moveTo>
                          <a:pt x="0" y="0"/>
                        </a:moveTo>
                        <a:lnTo>
                          <a:pt x="295275" y="0"/>
                        </a:lnTo>
                        <a:lnTo>
                          <a:pt x="371475" y="390525"/>
                        </a:lnTo>
                        <a:lnTo>
                          <a:pt x="1838325" y="390525"/>
                        </a:lnTo>
                        <a:lnTo>
                          <a:pt x="2000250" y="9525"/>
                        </a:lnTo>
                        <a:lnTo>
                          <a:pt x="5143500" y="9525"/>
                        </a:lnTo>
                        <a:lnTo>
                          <a:pt x="5400675" y="400050"/>
                        </a:lnTo>
                        <a:lnTo>
                          <a:pt x="6238875" y="400050"/>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04" name="Google Shape;1704;p93"/>
                <p:cNvSpPr/>
                <p:nvPr/>
              </p:nvSpPr>
              <p:spPr>
                <a:xfrm>
                  <a:off x="4480972" y="4814041"/>
                  <a:ext cx="1907369" cy="417718"/>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5" name="Google Shape;1705;p93"/>
                <p:cNvSpPr txBox="1"/>
                <p:nvPr/>
              </p:nvSpPr>
              <p:spPr>
                <a:xfrm>
                  <a:off x="8780810" y="5145388"/>
                  <a:ext cx="887741"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FF0000"/>
                      </a:solidFill>
                      <a:latin typeface="Arial"/>
                      <a:ea typeface="Arial"/>
                      <a:cs typeface="Arial"/>
                      <a:sym typeface="Arial"/>
                    </a:rPr>
                    <a:t>dữ liệu: 1</a:t>
                  </a:r>
                  <a:endParaRPr/>
                </a:p>
              </p:txBody>
            </p:sp>
          </p:grpSp>
          <p:sp>
            <p:nvSpPr>
              <p:cNvPr id="1706" name="Google Shape;1706;p93"/>
              <p:cNvSpPr/>
              <p:nvPr/>
            </p:nvSpPr>
            <p:spPr>
              <a:xfrm>
                <a:off x="1951775" y="5445761"/>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7" name="Google Shape;1707;p93"/>
              <p:cNvSpPr/>
              <p:nvPr/>
            </p:nvSpPr>
            <p:spPr>
              <a:xfrm flipH="1">
                <a:off x="3733580" y="5445761"/>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8" name="Google Shape;1708;p93"/>
              <p:cNvSpPr/>
              <p:nvPr/>
            </p:nvSpPr>
            <p:spPr>
              <a:xfrm>
                <a:off x="3534390" y="4733498"/>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9" name="Google Shape;1709;p93"/>
              <p:cNvSpPr/>
              <p:nvPr/>
            </p:nvSpPr>
            <p:spPr>
              <a:xfrm flipH="1">
                <a:off x="7109455" y="4733498"/>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710" name="Google Shape;1710;p93"/>
            <p:cNvGrpSpPr/>
            <p:nvPr/>
          </p:nvGrpSpPr>
          <p:grpSpPr>
            <a:xfrm>
              <a:off x="852124" y="3148187"/>
              <a:ext cx="8740227" cy="1111879"/>
              <a:chOff x="928324" y="3148187"/>
              <a:chExt cx="8740227" cy="1111879"/>
            </a:xfrm>
          </p:grpSpPr>
          <p:sp>
            <p:nvSpPr>
              <p:cNvPr id="1711" name="Google Shape;1711;p93"/>
              <p:cNvSpPr txBox="1"/>
              <p:nvPr/>
            </p:nvSpPr>
            <p:spPr>
              <a:xfrm>
                <a:off x="8780810" y="3428653"/>
                <a:ext cx="887741"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FF0000"/>
                    </a:solidFill>
                    <a:latin typeface="Arial"/>
                    <a:ea typeface="Arial"/>
                    <a:cs typeface="Arial"/>
                    <a:sym typeface="Arial"/>
                  </a:rPr>
                  <a:t>dữ liệu: 0</a:t>
                </a:r>
                <a:endParaRPr/>
              </a:p>
            </p:txBody>
          </p:sp>
          <p:sp>
            <p:nvSpPr>
              <p:cNvPr id="1712" name="Google Shape;1712;p93"/>
              <p:cNvSpPr/>
              <p:nvPr/>
            </p:nvSpPr>
            <p:spPr>
              <a:xfrm>
                <a:off x="1951775" y="4003822"/>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3" name="Google Shape;1713;p93"/>
              <p:cNvSpPr/>
              <p:nvPr/>
            </p:nvSpPr>
            <p:spPr>
              <a:xfrm flipH="1">
                <a:off x="3733580" y="4003822"/>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4" name="Google Shape;1714;p93"/>
              <p:cNvSpPr/>
              <p:nvPr/>
            </p:nvSpPr>
            <p:spPr>
              <a:xfrm>
                <a:off x="3534390" y="3291559"/>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5" name="Google Shape;1715;p93"/>
              <p:cNvSpPr/>
              <p:nvPr/>
            </p:nvSpPr>
            <p:spPr>
              <a:xfrm flipH="1">
                <a:off x="7109455" y="3291559"/>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16" name="Google Shape;1716;p93"/>
              <p:cNvGrpSpPr/>
              <p:nvPr/>
            </p:nvGrpSpPr>
            <p:grpSpPr>
              <a:xfrm>
                <a:off x="928324" y="3177909"/>
                <a:ext cx="8477963" cy="1082157"/>
                <a:chOff x="750282" y="6599299"/>
                <a:chExt cx="8477963" cy="1273480"/>
              </a:xfrm>
            </p:grpSpPr>
            <p:grpSp>
              <p:nvGrpSpPr>
                <p:cNvPr id="1717" name="Google Shape;1717;p93"/>
                <p:cNvGrpSpPr/>
                <p:nvPr/>
              </p:nvGrpSpPr>
              <p:grpSpPr>
                <a:xfrm>
                  <a:off x="750282" y="6599299"/>
                  <a:ext cx="8477963" cy="1273480"/>
                  <a:chOff x="750282" y="6573765"/>
                  <a:chExt cx="8477963" cy="2037568"/>
                </a:xfrm>
              </p:grpSpPr>
              <p:grpSp>
                <p:nvGrpSpPr>
                  <p:cNvPr id="1718" name="Google Shape;1718;p93"/>
                  <p:cNvGrpSpPr/>
                  <p:nvPr/>
                </p:nvGrpSpPr>
                <p:grpSpPr>
                  <a:xfrm>
                    <a:off x="1106365" y="6641856"/>
                    <a:ext cx="7693269" cy="1969477"/>
                    <a:chOff x="978194" y="3279531"/>
                    <a:chExt cx="7693269" cy="1969477"/>
                  </a:xfrm>
                </p:grpSpPr>
                <p:sp>
                  <p:nvSpPr>
                    <p:cNvPr id="1719" name="Google Shape;1719;p93"/>
                    <p:cNvSpPr/>
                    <p:nvPr/>
                  </p:nvSpPr>
                  <p:spPr>
                    <a:xfrm>
                      <a:off x="978194"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0" name="Google Shape;1720;p93"/>
                    <p:cNvSpPr/>
                    <p:nvPr/>
                  </p:nvSpPr>
                  <p:spPr>
                    <a:xfrm>
                      <a:off x="978194"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1" name="Google Shape;1721;p93"/>
                    <p:cNvSpPr/>
                    <p:nvPr/>
                  </p:nvSpPr>
                  <p:spPr>
                    <a:xfrm>
                      <a:off x="1832463"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2" name="Google Shape;1722;p93"/>
                    <p:cNvSpPr/>
                    <p:nvPr/>
                  </p:nvSpPr>
                  <p:spPr>
                    <a:xfrm>
                      <a:off x="342610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3" name="Google Shape;1723;p93"/>
                    <p:cNvSpPr/>
                    <p:nvPr/>
                  </p:nvSpPr>
                  <p:spPr>
                    <a:xfrm>
                      <a:off x="680142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24" name="Google Shape;1724;p93"/>
                  <p:cNvSpPr/>
                  <p:nvPr/>
                </p:nvSpPr>
                <p:spPr>
                  <a:xfrm>
                    <a:off x="750282" y="7173776"/>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725" name="Google Shape;1725;p93"/>
                  <p:cNvSpPr/>
                  <p:nvPr/>
                </p:nvSpPr>
                <p:spPr>
                  <a:xfrm>
                    <a:off x="750282" y="7780446"/>
                    <a:ext cx="45426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726" name="Google Shape;1726;p93"/>
                  <p:cNvSpPr/>
                  <p:nvPr/>
                </p:nvSpPr>
                <p:spPr>
                  <a:xfrm>
                    <a:off x="2081390" y="8120728"/>
                    <a:ext cx="1370086"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Truyền dữ liệu 1 bit</a:t>
                    </a:r>
                    <a:endParaRPr/>
                  </a:p>
                </p:txBody>
              </p:sp>
              <p:sp>
                <p:nvSpPr>
                  <p:cNvPr id="1727" name="Google Shape;1727;p93"/>
                  <p:cNvSpPr/>
                  <p:nvPr/>
                </p:nvSpPr>
                <p:spPr>
                  <a:xfrm>
                    <a:off x="4304750" y="6573765"/>
                    <a:ext cx="1905550" cy="30777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Cảm biến xuất dữ liệu 1 bit “0” trong 26 - 28 us</a:t>
                    </a:r>
                    <a:endParaRPr/>
                  </a:p>
                </p:txBody>
              </p:sp>
              <p:sp>
                <p:nvSpPr>
                  <p:cNvPr id="1728" name="Google Shape;1728;p93"/>
                  <p:cNvSpPr/>
                  <p:nvPr/>
                </p:nvSpPr>
                <p:spPr>
                  <a:xfrm>
                    <a:off x="7024864" y="7965113"/>
                    <a:ext cx="2203381" cy="28975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Bắt đầu truyền dữ liệu 1 bit tiếp theo</a:t>
                    </a:r>
                    <a:endParaRPr/>
                  </a:p>
                </p:txBody>
              </p:sp>
            </p:grpSp>
            <p:sp>
              <p:nvSpPr>
                <p:cNvPr id="1729" name="Google Shape;1729;p93"/>
                <p:cNvSpPr/>
                <p:nvPr/>
              </p:nvSpPr>
              <p:spPr>
                <a:xfrm>
                  <a:off x="1657350" y="7010400"/>
                  <a:ext cx="6238875" cy="400050"/>
                </a:xfrm>
                <a:custGeom>
                  <a:avLst/>
                  <a:gdLst/>
                  <a:ahLst/>
                  <a:cxnLst/>
                  <a:rect l="l" t="t" r="r" b="b"/>
                  <a:pathLst>
                    <a:path w="6238875" h="400050" extrusionOk="0">
                      <a:moveTo>
                        <a:pt x="0" y="0"/>
                      </a:moveTo>
                      <a:lnTo>
                        <a:pt x="295275" y="0"/>
                      </a:lnTo>
                      <a:lnTo>
                        <a:pt x="371475" y="390525"/>
                      </a:lnTo>
                      <a:lnTo>
                        <a:pt x="1838325" y="390525"/>
                      </a:lnTo>
                      <a:lnTo>
                        <a:pt x="2000250" y="9525"/>
                      </a:lnTo>
                      <a:lnTo>
                        <a:pt x="5143500" y="9525"/>
                      </a:lnTo>
                      <a:lnTo>
                        <a:pt x="5400675" y="400050"/>
                      </a:lnTo>
                      <a:lnTo>
                        <a:pt x="6238875" y="400050"/>
                      </a:lnTo>
                    </a:path>
                  </a:pathLst>
                </a:custGeom>
                <a:noFill/>
                <a:ln w="635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30" name="Google Shape;1730;p93"/>
              <p:cNvSpPr/>
              <p:nvPr/>
            </p:nvSpPr>
            <p:spPr>
              <a:xfrm>
                <a:off x="4480776" y="3148187"/>
                <a:ext cx="1907369" cy="354962"/>
              </a:xfrm>
              <a:prstGeom prst="rect">
                <a:avLst/>
              </a:prstGeom>
              <a:noFill/>
              <a:ln w="25400" cap="flat" cmpd="sng">
                <a:solidFill>
                  <a:srgbClr val="FF433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35"/>
        <p:cNvGrpSpPr/>
        <p:nvPr/>
      </p:nvGrpSpPr>
      <p:grpSpPr>
        <a:xfrm>
          <a:off x="0" y="0"/>
          <a:ext cx="0" cy="0"/>
          <a:chOff x="0" y="0"/>
          <a:chExt cx="0" cy="0"/>
        </a:xfrm>
      </p:grpSpPr>
      <p:sp>
        <p:nvSpPr>
          <p:cNvPr id="1736" name="Google Shape;1736;p94"/>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737" name="Google Shape;1737;p94"/>
          <p:cNvSpPr/>
          <p:nvPr/>
        </p:nvSpPr>
        <p:spPr>
          <a:xfrm>
            <a:off x="712189" y="1791150"/>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Những tín hiệu dữ liệu đối với DHT11</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DHT phản hồi tới MCU</a:t>
            </a:r>
            <a:endParaRPr/>
          </a:p>
        </p:txBody>
      </p:sp>
      <p:grpSp>
        <p:nvGrpSpPr>
          <p:cNvPr id="1738" name="Google Shape;1738;p94"/>
          <p:cNvGrpSpPr/>
          <p:nvPr/>
        </p:nvGrpSpPr>
        <p:grpSpPr>
          <a:xfrm>
            <a:off x="416136" y="436183"/>
            <a:ext cx="9051872" cy="276871"/>
            <a:chOff x="416136" y="436183"/>
            <a:chExt cx="9051872" cy="276871"/>
          </a:xfrm>
        </p:grpSpPr>
        <p:sp>
          <p:nvSpPr>
            <p:cNvPr id="1739" name="Google Shape;1739;p94"/>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740" name="Google Shape;1740;p94"/>
            <p:cNvSpPr/>
            <p:nvPr/>
          </p:nvSpPr>
          <p:spPr>
            <a:xfrm>
              <a:off x="416136" y="436183"/>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2.5. Cảm biến nhiệt độ-độ ẩm</a:t>
              </a:r>
              <a:endParaRPr sz="1799" b="1">
                <a:solidFill>
                  <a:schemeClr val="lt1"/>
                </a:solidFill>
                <a:latin typeface="Arial"/>
                <a:ea typeface="Arial"/>
                <a:cs typeface="Arial"/>
                <a:sym typeface="Arial"/>
              </a:endParaRPr>
            </a:p>
          </p:txBody>
        </p:sp>
      </p:grpSp>
      <p:grpSp>
        <p:nvGrpSpPr>
          <p:cNvPr id="1741" name="Google Shape;1741;p94"/>
          <p:cNvGrpSpPr/>
          <p:nvPr/>
        </p:nvGrpSpPr>
        <p:grpSpPr>
          <a:xfrm>
            <a:off x="712189" y="2877119"/>
            <a:ext cx="8690058" cy="2884238"/>
            <a:chOff x="712182" y="3177909"/>
            <a:chExt cx="8690058" cy="2884238"/>
          </a:xfrm>
        </p:grpSpPr>
        <p:grpSp>
          <p:nvGrpSpPr>
            <p:cNvPr id="1742" name="Google Shape;1742;p94"/>
            <p:cNvGrpSpPr/>
            <p:nvPr/>
          </p:nvGrpSpPr>
          <p:grpSpPr>
            <a:xfrm>
              <a:off x="2168794" y="5811544"/>
              <a:ext cx="4120692" cy="250603"/>
              <a:chOff x="2168794" y="5715000"/>
              <a:chExt cx="4120692" cy="250603"/>
            </a:xfrm>
          </p:grpSpPr>
          <p:grpSp>
            <p:nvGrpSpPr>
              <p:cNvPr id="1743" name="Google Shape;1743;p94"/>
              <p:cNvGrpSpPr/>
              <p:nvPr/>
            </p:nvGrpSpPr>
            <p:grpSpPr>
              <a:xfrm>
                <a:off x="3860156" y="5715000"/>
                <a:ext cx="2429330" cy="250603"/>
                <a:chOff x="3632721" y="5715000"/>
                <a:chExt cx="2429330" cy="250603"/>
              </a:xfrm>
            </p:grpSpPr>
            <p:sp>
              <p:nvSpPr>
                <p:cNvPr id="1744" name="Google Shape;1744;p94"/>
                <p:cNvSpPr/>
                <p:nvPr/>
              </p:nvSpPr>
              <p:spPr>
                <a:xfrm>
                  <a:off x="3727938" y="5715000"/>
                  <a:ext cx="729762" cy="0"/>
                </a:xfrm>
                <a:custGeom>
                  <a:avLst/>
                  <a:gdLst/>
                  <a:ahLst/>
                  <a:cxnLst/>
                  <a:rect l="l" t="t" r="r" b="b"/>
                  <a:pathLst>
                    <a:path w="729762" h="120000" extrusionOk="0">
                      <a:moveTo>
                        <a:pt x="0" y="0"/>
                      </a:moveTo>
                      <a:lnTo>
                        <a:pt x="729762" y="0"/>
                      </a:lnTo>
                    </a:path>
                  </a:pathLst>
                </a:custGeom>
                <a:noFill/>
                <a:ln w="635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5" name="Google Shape;1745;p94"/>
                <p:cNvSpPr/>
                <p:nvPr/>
              </p:nvSpPr>
              <p:spPr>
                <a:xfrm>
                  <a:off x="5231423" y="5715000"/>
                  <a:ext cx="729762" cy="0"/>
                </a:xfrm>
                <a:custGeom>
                  <a:avLst/>
                  <a:gdLst/>
                  <a:ahLst/>
                  <a:cxnLst/>
                  <a:rect l="l" t="t" r="r" b="b"/>
                  <a:pathLst>
                    <a:path w="729762" h="120000" extrusionOk="0">
                      <a:moveTo>
                        <a:pt x="0" y="0"/>
                      </a:moveTo>
                      <a:lnTo>
                        <a:pt x="729762" y="0"/>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6" name="Google Shape;1746;p94"/>
                <p:cNvSpPr/>
                <p:nvPr/>
              </p:nvSpPr>
              <p:spPr>
                <a:xfrm>
                  <a:off x="5149119" y="5811715"/>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DHT</a:t>
                  </a:r>
                  <a:endParaRPr/>
                </a:p>
              </p:txBody>
            </p:sp>
            <p:sp>
              <p:nvSpPr>
                <p:cNvPr id="1747" name="Google Shape;1747;p94"/>
                <p:cNvSpPr/>
                <p:nvPr/>
              </p:nvSpPr>
              <p:spPr>
                <a:xfrm>
                  <a:off x="3632721" y="5802923"/>
                  <a:ext cx="912932"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Tín hiệu MCU</a:t>
                  </a:r>
                  <a:endParaRPr/>
                </a:p>
              </p:txBody>
            </p:sp>
          </p:grpSp>
          <p:sp>
            <p:nvSpPr>
              <p:cNvPr id="1748" name="Google Shape;1748;p94"/>
              <p:cNvSpPr/>
              <p:nvPr/>
            </p:nvSpPr>
            <p:spPr>
              <a:xfrm>
                <a:off x="2168794" y="5741109"/>
                <a:ext cx="1653968"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Giải thích đường tín hiệu:</a:t>
                </a:r>
                <a:endParaRPr/>
              </a:p>
            </p:txBody>
          </p:sp>
        </p:grpSp>
        <p:grpSp>
          <p:nvGrpSpPr>
            <p:cNvPr id="1749" name="Google Shape;1749;p94"/>
            <p:cNvGrpSpPr/>
            <p:nvPr/>
          </p:nvGrpSpPr>
          <p:grpSpPr>
            <a:xfrm>
              <a:off x="712182" y="3177909"/>
              <a:ext cx="8690058" cy="1185920"/>
              <a:chOff x="712182" y="3177909"/>
              <a:chExt cx="8690058" cy="1185920"/>
            </a:xfrm>
          </p:grpSpPr>
          <p:sp>
            <p:nvSpPr>
              <p:cNvPr id="1750" name="Google Shape;1750;p94"/>
              <p:cNvSpPr/>
              <p:nvPr/>
            </p:nvSpPr>
            <p:spPr>
              <a:xfrm>
                <a:off x="1875575" y="4003822"/>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1" name="Google Shape;1751;p94"/>
              <p:cNvSpPr/>
              <p:nvPr/>
            </p:nvSpPr>
            <p:spPr>
              <a:xfrm flipH="1">
                <a:off x="3657380" y="4003822"/>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2" name="Google Shape;1752;p94"/>
              <p:cNvSpPr/>
              <p:nvPr/>
            </p:nvSpPr>
            <p:spPr>
              <a:xfrm>
                <a:off x="3458190" y="3291559"/>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3" name="Google Shape;1753;p94"/>
              <p:cNvSpPr/>
              <p:nvPr/>
            </p:nvSpPr>
            <p:spPr>
              <a:xfrm flipH="1">
                <a:off x="7033255" y="3291559"/>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54" name="Google Shape;1754;p94"/>
              <p:cNvGrpSpPr/>
              <p:nvPr/>
            </p:nvGrpSpPr>
            <p:grpSpPr>
              <a:xfrm>
                <a:off x="718150" y="3177909"/>
                <a:ext cx="8183326" cy="1129373"/>
                <a:chOff x="616308" y="6599300"/>
                <a:chExt cx="8183326" cy="1329044"/>
              </a:xfrm>
            </p:grpSpPr>
            <p:grpSp>
              <p:nvGrpSpPr>
                <p:cNvPr id="1755" name="Google Shape;1755;p94"/>
                <p:cNvGrpSpPr/>
                <p:nvPr/>
              </p:nvGrpSpPr>
              <p:grpSpPr>
                <a:xfrm>
                  <a:off x="616308" y="6599300"/>
                  <a:ext cx="8183326" cy="1329044"/>
                  <a:chOff x="616308" y="6573765"/>
                  <a:chExt cx="8183326" cy="2126470"/>
                </a:xfrm>
              </p:grpSpPr>
              <p:grpSp>
                <p:nvGrpSpPr>
                  <p:cNvPr id="1756" name="Google Shape;1756;p94"/>
                  <p:cNvGrpSpPr/>
                  <p:nvPr/>
                </p:nvGrpSpPr>
                <p:grpSpPr>
                  <a:xfrm>
                    <a:off x="1106365" y="6641856"/>
                    <a:ext cx="7693269" cy="1969477"/>
                    <a:chOff x="978194" y="3279531"/>
                    <a:chExt cx="7693269" cy="1969477"/>
                  </a:xfrm>
                </p:grpSpPr>
                <p:sp>
                  <p:nvSpPr>
                    <p:cNvPr id="1757" name="Google Shape;1757;p94"/>
                    <p:cNvSpPr/>
                    <p:nvPr/>
                  </p:nvSpPr>
                  <p:spPr>
                    <a:xfrm>
                      <a:off x="978194"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8" name="Google Shape;1758;p94"/>
                    <p:cNvSpPr/>
                    <p:nvPr/>
                  </p:nvSpPr>
                  <p:spPr>
                    <a:xfrm>
                      <a:off x="978194"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9" name="Google Shape;1759;p94"/>
                    <p:cNvSpPr/>
                    <p:nvPr/>
                  </p:nvSpPr>
                  <p:spPr>
                    <a:xfrm>
                      <a:off x="1832463"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0" name="Google Shape;1760;p94"/>
                    <p:cNvSpPr/>
                    <p:nvPr/>
                  </p:nvSpPr>
                  <p:spPr>
                    <a:xfrm>
                      <a:off x="342610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1" name="Google Shape;1761;p94"/>
                    <p:cNvSpPr/>
                    <p:nvPr/>
                  </p:nvSpPr>
                  <p:spPr>
                    <a:xfrm>
                      <a:off x="680142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62" name="Google Shape;1762;p94"/>
                  <p:cNvSpPr/>
                  <p:nvPr/>
                </p:nvSpPr>
                <p:spPr>
                  <a:xfrm>
                    <a:off x="616308" y="7173776"/>
                    <a:ext cx="454264" cy="34770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763" name="Google Shape;1763;p94"/>
                  <p:cNvSpPr/>
                  <p:nvPr/>
                </p:nvSpPr>
                <p:spPr>
                  <a:xfrm>
                    <a:off x="616308" y="7780446"/>
                    <a:ext cx="454264" cy="34770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764" name="Google Shape;1764;p94"/>
                  <p:cNvSpPr/>
                  <p:nvPr/>
                </p:nvSpPr>
                <p:spPr>
                  <a:xfrm>
                    <a:off x="2081390" y="8120729"/>
                    <a:ext cx="1370086" cy="5795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Bắt đầu truyền dữ liệu 1 bit (50 us)</a:t>
                    </a:r>
                    <a:endParaRPr/>
                  </a:p>
                </p:txBody>
              </p:sp>
              <p:sp>
                <p:nvSpPr>
                  <p:cNvPr id="1765" name="Google Shape;1765;p94"/>
                  <p:cNvSpPr/>
                  <p:nvPr/>
                </p:nvSpPr>
                <p:spPr>
                  <a:xfrm>
                    <a:off x="4304750" y="6573765"/>
                    <a:ext cx="1905550" cy="5795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Độ dài duy trì điện áp trong vòng 26 - 28 us nghĩa là dữ liệu “0”</a:t>
                    </a:r>
                    <a:endParaRPr/>
                  </a:p>
                </p:txBody>
              </p:sp>
            </p:grpSp>
            <p:sp>
              <p:nvSpPr>
                <p:cNvPr id="1766" name="Google Shape;1766;p94"/>
                <p:cNvSpPr/>
                <p:nvPr/>
              </p:nvSpPr>
              <p:spPr>
                <a:xfrm>
                  <a:off x="1657350" y="7010400"/>
                  <a:ext cx="6238875" cy="400050"/>
                </a:xfrm>
                <a:custGeom>
                  <a:avLst/>
                  <a:gdLst/>
                  <a:ahLst/>
                  <a:cxnLst/>
                  <a:rect l="l" t="t" r="r" b="b"/>
                  <a:pathLst>
                    <a:path w="6238875" h="400050" extrusionOk="0">
                      <a:moveTo>
                        <a:pt x="0" y="0"/>
                      </a:moveTo>
                      <a:lnTo>
                        <a:pt x="295275" y="0"/>
                      </a:lnTo>
                      <a:lnTo>
                        <a:pt x="371475" y="390525"/>
                      </a:lnTo>
                      <a:lnTo>
                        <a:pt x="1838325" y="390525"/>
                      </a:lnTo>
                      <a:lnTo>
                        <a:pt x="2000250" y="9525"/>
                      </a:lnTo>
                      <a:lnTo>
                        <a:pt x="5143500" y="9525"/>
                      </a:lnTo>
                      <a:lnTo>
                        <a:pt x="5400675" y="400050"/>
                      </a:lnTo>
                      <a:lnTo>
                        <a:pt x="6238875" y="400050"/>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67" name="Google Shape;1767;p94"/>
              <p:cNvSpPr/>
              <p:nvPr/>
            </p:nvSpPr>
            <p:spPr>
              <a:xfrm>
                <a:off x="712182" y="4025275"/>
                <a:ext cx="926457"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ĐẦU RA BUS ĐƠN</a:t>
                </a:r>
                <a:endParaRPr/>
              </a:p>
            </p:txBody>
          </p:sp>
          <p:grpSp>
            <p:nvGrpSpPr>
              <p:cNvPr id="1768" name="Google Shape;1768;p94"/>
              <p:cNvGrpSpPr/>
              <p:nvPr/>
            </p:nvGrpSpPr>
            <p:grpSpPr>
              <a:xfrm>
                <a:off x="7783833" y="3288558"/>
                <a:ext cx="1420927" cy="521090"/>
                <a:chOff x="8089900" y="4050910"/>
                <a:chExt cx="1420927" cy="521090"/>
              </a:xfrm>
            </p:grpSpPr>
            <p:sp>
              <p:nvSpPr>
                <p:cNvPr id="1769" name="Google Shape;1769;p94"/>
                <p:cNvSpPr/>
                <p:nvPr/>
              </p:nvSpPr>
              <p:spPr>
                <a:xfrm>
                  <a:off x="8240139" y="4050910"/>
                  <a:ext cx="127068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Bắt đầu truyền dữ liệu bit tiếp theo</a:t>
                  </a:r>
                  <a:endParaRPr/>
                </a:p>
              </p:txBody>
            </p:sp>
            <p:sp>
              <p:nvSpPr>
                <p:cNvPr id="1770" name="Google Shape;1770;p94"/>
                <p:cNvSpPr/>
                <p:nvPr/>
              </p:nvSpPr>
              <p:spPr>
                <a:xfrm>
                  <a:off x="8089900" y="4368800"/>
                  <a:ext cx="1257300" cy="203200"/>
                </a:xfrm>
                <a:custGeom>
                  <a:avLst/>
                  <a:gdLst/>
                  <a:ahLst/>
                  <a:cxnLst/>
                  <a:rect l="l" t="t" r="r" b="b"/>
                  <a:pathLst>
                    <a:path w="1257300" h="203200" extrusionOk="0">
                      <a:moveTo>
                        <a:pt x="1257300" y="0"/>
                      </a:moveTo>
                      <a:lnTo>
                        <a:pt x="88900" y="0"/>
                      </a:lnTo>
                      <a:lnTo>
                        <a:pt x="0" y="203200"/>
                      </a:lnTo>
                    </a:path>
                  </a:pathLst>
                </a:custGeom>
                <a:noFill/>
                <a:ln w="12700" cap="flat" cmpd="sng">
                  <a:solidFill>
                    <a:srgbClr val="00B050"/>
                  </a:solidFill>
                  <a:prstDash val="solid"/>
                  <a:miter lim="800000"/>
                  <a:headEnd type="none" w="sm" len="sm"/>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71" name="Google Shape;1771;p94"/>
              <p:cNvSpPr txBox="1"/>
              <p:nvPr/>
            </p:nvSpPr>
            <p:spPr>
              <a:xfrm>
                <a:off x="8514499" y="3847255"/>
                <a:ext cx="887741"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FF0000"/>
                    </a:solidFill>
                    <a:latin typeface="Arial"/>
                    <a:ea typeface="Arial"/>
                    <a:cs typeface="Arial"/>
                    <a:sym typeface="Arial"/>
                  </a:rPr>
                  <a:t>Biểu thị dữ liệu “0”</a:t>
                </a:r>
                <a:endParaRPr/>
              </a:p>
            </p:txBody>
          </p:sp>
        </p:grpSp>
        <p:grpSp>
          <p:nvGrpSpPr>
            <p:cNvPr id="1772" name="Google Shape;1772;p94"/>
            <p:cNvGrpSpPr/>
            <p:nvPr/>
          </p:nvGrpSpPr>
          <p:grpSpPr>
            <a:xfrm>
              <a:off x="712182" y="4469407"/>
              <a:ext cx="8690058" cy="1180063"/>
              <a:chOff x="712182" y="4545841"/>
              <a:chExt cx="8690058" cy="1180063"/>
            </a:xfrm>
          </p:grpSpPr>
          <p:grpSp>
            <p:nvGrpSpPr>
              <p:cNvPr id="1773" name="Google Shape;1773;p94"/>
              <p:cNvGrpSpPr/>
              <p:nvPr/>
            </p:nvGrpSpPr>
            <p:grpSpPr>
              <a:xfrm>
                <a:off x="718150" y="4545841"/>
                <a:ext cx="8183326" cy="1129373"/>
                <a:chOff x="616308" y="6599301"/>
                <a:chExt cx="8183326" cy="1329044"/>
              </a:xfrm>
            </p:grpSpPr>
            <p:grpSp>
              <p:nvGrpSpPr>
                <p:cNvPr id="1774" name="Google Shape;1774;p94"/>
                <p:cNvGrpSpPr/>
                <p:nvPr/>
              </p:nvGrpSpPr>
              <p:grpSpPr>
                <a:xfrm>
                  <a:off x="616308" y="6599301"/>
                  <a:ext cx="8183326" cy="1329044"/>
                  <a:chOff x="616308" y="6573765"/>
                  <a:chExt cx="8183326" cy="2126470"/>
                </a:xfrm>
              </p:grpSpPr>
              <p:grpSp>
                <p:nvGrpSpPr>
                  <p:cNvPr id="1775" name="Google Shape;1775;p94"/>
                  <p:cNvGrpSpPr/>
                  <p:nvPr/>
                </p:nvGrpSpPr>
                <p:grpSpPr>
                  <a:xfrm>
                    <a:off x="1106365" y="6641856"/>
                    <a:ext cx="7693269" cy="1969477"/>
                    <a:chOff x="978194" y="3279531"/>
                    <a:chExt cx="7693269" cy="1969477"/>
                  </a:xfrm>
                </p:grpSpPr>
                <p:sp>
                  <p:nvSpPr>
                    <p:cNvPr id="1776" name="Google Shape;1776;p94"/>
                    <p:cNvSpPr/>
                    <p:nvPr/>
                  </p:nvSpPr>
                  <p:spPr>
                    <a:xfrm>
                      <a:off x="978194" y="3903784"/>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7" name="Google Shape;1777;p94"/>
                    <p:cNvSpPr/>
                    <p:nvPr/>
                  </p:nvSpPr>
                  <p:spPr>
                    <a:xfrm>
                      <a:off x="978194" y="4501662"/>
                      <a:ext cx="7693269" cy="0"/>
                    </a:xfrm>
                    <a:custGeom>
                      <a:avLst/>
                      <a:gdLst/>
                      <a:ahLst/>
                      <a:cxnLst/>
                      <a:rect l="l" t="t" r="r" b="b"/>
                      <a:pathLst>
                        <a:path w="7693269" h="120000" extrusionOk="0">
                          <a:moveTo>
                            <a:pt x="0" y="0"/>
                          </a:moveTo>
                          <a:lnTo>
                            <a:pt x="7693269" y="0"/>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8" name="Google Shape;1778;p94"/>
                    <p:cNvSpPr/>
                    <p:nvPr/>
                  </p:nvSpPr>
                  <p:spPr>
                    <a:xfrm>
                      <a:off x="1832463"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9" name="Google Shape;1779;p94"/>
                    <p:cNvSpPr/>
                    <p:nvPr/>
                  </p:nvSpPr>
                  <p:spPr>
                    <a:xfrm>
                      <a:off x="342610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0" name="Google Shape;1780;p94"/>
                    <p:cNvSpPr/>
                    <p:nvPr/>
                  </p:nvSpPr>
                  <p:spPr>
                    <a:xfrm>
                      <a:off x="6801422" y="3279531"/>
                      <a:ext cx="0" cy="1969477"/>
                    </a:xfrm>
                    <a:custGeom>
                      <a:avLst/>
                      <a:gdLst/>
                      <a:ahLst/>
                      <a:cxnLst/>
                      <a:rect l="l" t="t" r="r" b="b"/>
                      <a:pathLst>
                        <a:path w="120000" h="1969477" extrusionOk="0">
                          <a:moveTo>
                            <a:pt x="0" y="0"/>
                          </a:moveTo>
                          <a:lnTo>
                            <a:pt x="0" y="1969477"/>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81" name="Google Shape;1781;p94"/>
                  <p:cNvSpPr/>
                  <p:nvPr/>
                </p:nvSpPr>
                <p:spPr>
                  <a:xfrm>
                    <a:off x="616308" y="7173776"/>
                    <a:ext cx="454264" cy="34770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VCC</a:t>
                    </a:r>
                    <a:endParaRPr/>
                  </a:p>
                </p:txBody>
              </p:sp>
              <p:sp>
                <p:nvSpPr>
                  <p:cNvPr id="1782" name="Google Shape;1782;p94"/>
                  <p:cNvSpPr/>
                  <p:nvPr/>
                </p:nvSpPr>
                <p:spPr>
                  <a:xfrm>
                    <a:off x="616308" y="7780446"/>
                    <a:ext cx="454264" cy="34770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GND</a:t>
                    </a:r>
                    <a:endParaRPr/>
                  </a:p>
                </p:txBody>
              </p:sp>
              <p:sp>
                <p:nvSpPr>
                  <p:cNvPr id="1783" name="Google Shape;1783;p94"/>
                  <p:cNvSpPr/>
                  <p:nvPr/>
                </p:nvSpPr>
                <p:spPr>
                  <a:xfrm>
                    <a:off x="2081390" y="8120729"/>
                    <a:ext cx="1370086" cy="5795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Bắt đầu truyền dữ liệu 1 bit (50 us)</a:t>
                    </a:r>
                    <a:endParaRPr/>
                  </a:p>
                </p:txBody>
              </p:sp>
              <p:sp>
                <p:nvSpPr>
                  <p:cNvPr id="1784" name="Google Shape;1784;p94"/>
                  <p:cNvSpPr/>
                  <p:nvPr/>
                </p:nvSpPr>
                <p:spPr>
                  <a:xfrm>
                    <a:off x="4304750" y="6573765"/>
                    <a:ext cx="1905550" cy="5795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Độ dài duy trì điện áp trong vòng 70 us nghĩa là dữ liệu 1 bit “1”</a:t>
                    </a:r>
                    <a:endParaRPr/>
                  </a:p>
                </p:txBody>
              </p:sp>
            </p:grpSp>
            <p:sp>
              <p:nvSpPr>
                <p:cNvPr id="1785" name="Google Shape;1785;p94"/>
                <p:cNvSpPr/>
                <p:nvPr/>
              </p:nvSpPr>
              <p:spPr>
                <a:xfrm>
                  <a:off x="1657350" y="7010400"/>
                  <a:ext cx="6238875" cy="400050"/>
                </a:xfrm>
                <a:custGeom>
                  <a:avLst/>
                  <a:gdLst/>
                  <a:ahLst/>
                  <a:cxnLst/>
                  <a:rect l="l" t="t" r="r" b="b"/>
                  <a:pathLst>
                    <a:path w="6238875" h="400050" extrusionOk="0">
                      <a:moveTo>
                        <a:pt x="0" y="0"/>
                      </a:moveTo>
                      <a:lnTo>
                        <a:pt x="295275" y="0"/>
                      </a:lnTo>
                      <a:lnTo>
                        <a:pt x="371475" y="390525"/>
                      </a:lnTo>
                      <a:lnTo>
                        <a:pt x="1838325" y="390525"/>
                      </a:lnTo>
                      <a:lnTo>
                        <a:pt x="2000250" y="9525"/>
                      </a:lnTo>
                      <a:lnTo>
                        <a:pt x="5143500" y="9525"/>
                      </a:lnTo>
                      <a:lnTo>
                        <a:pt x="5400675" y="400050"/>
                      </a:lnTo>
                      <a:lnTo>
                        <a:pt x="6238875" y="400050"/>
                      </a:lnTo>
                    </a:path>
                  </a:pathLst>
                </a:custGeom>
                <a:noFill/>
                <a:ln w="635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86" name="Google Shape;1786;p94"/>
              <p:cNvSpPr/>
              <p:nvPr/>
            </p:nvSpPr>
            <p:spPr>
              <a:xfrm>
                <a:off x="1875575" y="5357807"/>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7" name="Google Shape;1787;p94"/>
              <p:cNvSpPr/>
              <p:nvPr/>
            </p:nvSpPr>
            <p:spPr>
              <a:xfrm flipH="1">
                <a:off x="3657380" y="5357807"/>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8" name="Google Shape;1788;p94"/>
              <p:cNvSpPr/>
              <p:nvPr/>
            </p:nvSpPr>
            <p:spPr>
              <a:xfrm>
                <a:off x="3458190" y="464554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9" name="Google Shape;1789;p94"/>
              <p:cNvSpPr/>
              <p:nvPr/>
            </p:nvSpPr>
            <p:spPr>
              <a:xfrm flipH="1">
                <a:off x="7033255" y="4645544"/>
                <a:ext cx="186901" cy="143782"/>
              </a:xfrm>
              <a:prstGeom prst="rightArrow">
                <a:avLst>
                  <a:gd name="adj1" fmla="val 50000"/>
                  <a:gd name="adj2" fmla="val 50000"/>
                </a:avLst>
              </a:prstGeom>
              <a:gradFill>
                <a:gsLst>
                  <a:gs pos="0">
                    <a:srgbClr val="7F7F7F">
                      <a:alpha val="0"/>
                    </a:srgbClr>
                  </a:gs>
                  <a:gs pos="6000">
                    <a:srgbClr val="7F7F7F">
                      <a:alpha val="0"/>
                    </a:srgbClr>
                  </a:gs>
                  <a:gs pos="91000">
                    <a:srgbClr val="7F7F7F"/>
                  </a:gs>
                  <a:gs pos="100000">
                    <a:srgbClr val="7F7F7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90" name="Google Shape;1790;p94"/>
              <p:cNvGrpSpPr/>
              <p:nvPr/>
            </p:nvGrpSpPr>
            <p:grpSpPr>
              <a:xfrm>
                <a:off x="7783833" y="4660158"/>
                <a:ext cx="1420927" cy="521090"/>
                <a:chOff x="8089900" y="4050910"/>
                <a:chExt cx="1420927" cy="521090"/>
              </a:xfrm>
            </p:grpSpPr>
            <p:sp>
              <p:nvSpPr>
                <p:cNvPr id="1791" name="Google Shape;1791;p94"/>
                <p:cNvSpPr/>
                <p:nvPr/>
              </p:nvSpPr>
              <p:spPr>
                <a:xfrm>
                  <a:off x="8240139" y="4050910"/>
                  <a:ext cx="127068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262626"/>
                      </a:solidFill>
                      <a:latin typeface="Arial"/>
                      <a:ea typeface="Arial"/>
                      <a:cs typeface="Arial"/>
                      <a:sym typeface="Arial"/>
                    </a:rPr>
                    <a:t>Bắt đầu truyền dữ liệu bit tiếp theo</a:t>
                  </a:r>
                  <a:endParaRPr/>
                </a:p>
              </p:txBody>
            </p:sp>
            <p:sp>
              <p:nvSpPr>
                <p:cNvPr id="1792" name="Google Shape;1792;p94"/>
                <p:cNvSpPr/>
                <p:nvPr/>
              </p:nvSpPr>
              <p:spPr>
                <a:xfrm>
                  <a:off x="8089900" y="4368800"/>
                  <a:ext cx="1257300" cy="203200"/>
                </a:xfrm>
                <a:custGeom>
                  <a:avLst/>
                  <a:gdLst/>
                  <a:ahLst/>
                  <a:cxnLst/>
                  <a:rect l="l" t="t" r="r" b="b"/>
                  <a:pathLst>
                    <a:path w="1257300" h="203200" extrusionOk="0">
                      <a:moveTo>
                        <a:pt x="1257300" y="0"/>
                      </a:moveTo>
                      <a:lnTo>
                        <a:pt x="88900" y="0"/>
                      </a:lnTo>
                      <a:lnTo>
                        <a:pt x="0" y="203200"/>
                      </a:lnTo>
                    </a:path>
                  </a:pathLst>
                </a:custGeom>
                <a:noFill/>
                <a:ln w="12700" cap="flat" cmpd="sng">
                  <a:solidFill>
                    <a:srgbClr val="00B050"/>
                  </a:solidFill>
                  <a:prstDash val="solid"/>
                  <a:miter lim="800000"/>
                  <a:headEnd type="none" w="sm" len="sm"/>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93" name="Google Shape;1793;p94"/>
              <p:cNvSpPr/>
              <p:nvPr/>
            </p:nvSpPr>
            <p:spPr>
              <a:xfrm>
                <a:off x="712182" y="5387350"/>
                <a:ext cx="926457"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ĐẦU RA BUS ĐƠN</a:t>
                </a:r>
                <a:endParaRPr/>
              </a:p>
            </p:txBody>
          </p:sp>
          <p:sp>
            <p:nvSpPr>
              <p:cNvPr id="1794" name="Google Shape;1794;p94"/>
              <p:cNvSpPr txBox="1"/>
              <p:nvPr/>
            </p:nvSpPr>
            <p:spPr>
              <a:xfrm>
                <a:off x="8514499" y="5209459"/>
                <a:ext cx="887741"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FF0000"/>
                    </a:solidFill>
                    <a:latin typeface="Arial"/>
                    <a:ea typeface="Arial"/>
                    <a:cs typeface="Arial"/>
                    <a:sym typeface="Arial"/>
                  </a:rPr>
                  <a:t>Biểu thị dữ liệu “1”</a:t>
                </a:r>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99"/>
        <p:cNvGrpSpPr/>
        <p:nvPr/>
      </p:nvGrpSpPr>
      <p:grpSpPr>
        <a:xfrm>
          <a:off x="0" y="0"/>
          <a:ext cx="0" cy="0"/>
          <a:chOff x="0" y="0"/>
          <a:chExt cx="0" cy="0"/>
        </a:xfrm>
      </p:grpSpPr>
      <p:sp>
        <p:nvSpPr>
          <p:cNvPr id="1800" name="Google Shape;1800;p95"/>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801" name="Google Shape;1801;p95"/>
          <p:cNvSpPr/>
          <p:nvPr/>
        </p:nvSpPr>
        <p:spPr>
          <a:xfrm>
            <a:off x="712189" y="1791154"/>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Định dạng khung của DHT11</a:t>
            </a:r>
            <a:endParaRPr/>
          </a:p>
        </p:txBody>
      </p:sp>
      <p:sp>
        <p:nvSpPr>
          <p:cNvPr id="1802" name="Google Shape;1802;p95"/>
          <p:cNvSpPr/>
          <p:nvPr/>
        </p:nvSpPr>
        <p:spPr>
          <a:xfrm>
            <a:off x="712196" y="2241560"/>
            <a:ext cx="5528263" cy="315539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01">
              <a:solidFill>
                <a:srgbClr val="000000"/>
              </a:solidFill>
              <a:latin typeface="Arial"/>
              <a:ea typeface="Arial"/>
              <a:cs typeface="Arial"/>
              <a:sym typeface="Arial"/>
            </a:endParaRPr>
          </a:p>
        </p:txBody>
      </p:sp>
      <p:grpSp>
        <p:nvGrpSpPr>
          <p:cNvPr id="1803" name="Google Shape;1803;p95"/>
          <p:cNvGrpSpPr/>
          <p:nvPr/>
        </p:nvGrpSpPr>
        <p:grpSpPr>
          <a:xfrm>
            <a:off x="416136" y="436183"/>
            <a:ext cx="9051872" cy="276871"/>
            <a:chOff x="416136" y="436183"/>
            <a:chExt cx="9051872" cy="276871"/>
          </a:xfrm>
        </p:grpSpPr>
        <p:sp>
          <p:nvSpPr>
            <p:cNvPr id="1804" name="Google Shape;1804;p95"/>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805" name="Google Shape;1805;p95"/>
            <p:cNvSpPr/>
            <p:nvPr/>
          </p:nvSpPr>
          <p:spPr>
            <a:xfrm>
              <a:off x="416136" y="436183"/>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2.5.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r>
                <a:rPr lang="en-US" sz="1799" dirty="0">
                  <a:solidFill>
                    <a:schemeClr val="tx1"/>
                  </a:solidFill>
                </a:rPr>
                <a:t> </a:t>
              </a:r>
              <a:r>
                <a:rPr lang="en-US" sz="1799" dirty="0" err="1">
                  <a:solidFill>
                    <a:schemeClr val="tx1"/>
                  </a:solidFill>
                </a:rPr>
                <a:t>nhiệt</a:t>
              </a:r>
              <a:r>
                <a:rPr lang="en-US" sz="1799" dirty="0">
                  <a:solidFill>
                    <a:schemeClr val="tx1"/>
                  </a:solidFill>
                </a:rPr>
                <a:t> </a:t>
              </a:r>
              <a:r>
                <a:rPr lang="en-US" sz="1799" dirty="0" err="1">
                  <a:solidFill>
                    <a:schemeClr val="tx1"/>
                  </a:solidFill>
                </a:rPr>
                <a:t>độ-độ</a:t>
              </a:r>
              <a:r>
                <a:rPr lang="en-US" sz="1799" dirty="0">
                  <a:solidFill>
                    <a:schemeClr val="tx1"/>
                  </a:solidFill>
                </a:rPr>
                <a:t> </a:t>
              </a:r>
              <a:r>
                <a:rPr lang="en-US" sz="1799" dirty="0" err="1">
                  <a:solidFill>
                    <a:schemeClr val="tx1"/>
                  </a:solidFill>
                </a:rPr>
                <a:t>ẩm</a:t>
              </a:r>
              <a:endParaRPr sz="1799" b="1" dirty="0">
                <a:solidFill>
                  <a:schemeClr val="lt1"/>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810"/>
        <p:cNvGrpSpPr/>
        <p:nvPr/>
      </p:nvGrpSpPr>
      <p:grpSpPr>
        <a:xfrm>
          <a:off x="0" y="0"/>
          <a:ext cx="0" cy="0"/>
          <a:chOff x="0" y="0"/>
          <a:chExt cx="0" cy="0"/>
        </a:xfrm>
      </p:grpSpPr>
      <p:sp>
        <p:nvSpPr>
          <p:cNvPr id="1811" name="Google Shape;1811;p96"/>
          <p:cNvSpPr/>
          <p:nvPr/>
        </p:nvSpPr>
        <p:spPr>
          <a:xfrm>
            <a:off x="717593" y="2242389"/>
            <a:ext cx="5522866" cy="360182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01">
              <a:solidFill>
                <a:srgbClr val="000000"/>
              </a:solidFill>
              <a:latin typeface="Arial"/>
              <a:ea typeface="Arial"/>
              <a:cs typeface="Arial"/>
              <a:sym typeface="Arial"/>
            </a:endParaRPr>
          </a:p>
        </p:txBody>
      </p:sp>
      <p:sp>
        <p:nvSpPr>
          <p:cNvPr id="1812" name="Google Shape;1812;p96"/>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sp>
        <p:nvSpPr>
          <p:cNvPr id="1813" name="Google Shape;1813;p96"/>
          <p:cNvSpPr/>
          <p:nvPr/>
        </p:nvSpPr>
        <p:spPr>
          <a:xfrm>
            <a:off x="712189" y="1791154"/>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Định dạng khung của DHT22</a:t>
            </a:r>
            <a:endParaRPr/>
          </a:p>
        </p:txBody>
      </p:sp>
      <p:grpSp>
        <p:nvGrpSpPr>
          <p:cNvPr id="1814" name="Google Shape;1814;p96"/>
          <p:cNvGrpSpPr/>
          <p:nvPr/>
        </p:nvGrpSpPr>
        <p:grpSpPr>
          <a:xfrm>
            <a:off x="416136" y="436183"/>
            <a:ext cx="9051872" cy="276871"/>
            <a:chOff x="416136" y="436183"/>
            <a:chExt cx="9051872" cy="276871"/>
          </a:xfrm>
        </p:grpSpPr>
        <p:sp>
          <p:nvSpPr>
            <p:cNvPr id="1815" name="Google Shape;1815;p96"/>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816" name="Google Shape;1816;p96"/>
            <p:cNvSpPr/>
            <p:nvPr/>
          </p:nvSpPr>
          <p:spPr>
            <a:xfrm>
              <a:off x="416136" y="436183"/>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2.5. Cảm biến nhiệt độ-độ ẩm</a:t>
              </a:r>
              <a:endParaRPr sz="1799" b="1">
                <a:solidFill>
                  <a:schemeClr val="lt1"/>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pic>
        <p:nvPicPr>
          <p:cNvPr id="1822" name="Google Shape;1822;p97" descr="관련 이미지"/>
          <p:cNvPicPr preferRelativeResize="0"/>
          <p:nvPr/>
        </p:nvPicPr>
        <p:blipFill rotWithShape="1">
          <a:blip r:embed="rId3">
            <a:alphaModFix/>
          </a:blip>
          <a:srcRect/>
          <a:stretch/>
        </p:blipFill>
        <p:spPr>
          <a:xfrm>
            <a:off x="416136" y="1728113"/>
            <a:ext cx="4575428" cy="3080294"/>
          </a:xfrm>
          <a:prstGeom prst="rect">
            <a:avLst/>
          </a:prstGeom>
          <a:noFill/>
          <a:ln>
            <a:noFill/>
          </a:ln>
        </p:spPr>
      </p:pic>
      <p:grpSp>
        <p:nvGrpSpPr>
          <p:cNvPr id="1823" name="Google Shape;1823;p97"/>
          <p:cNvGrpSpPr/>
          <p:nvPr/>
        </p:nvGrpSpPr>
        <p:grpSpPr>
          <a:xfrm>
            <a:off x="4897606" y="2013560"/>
            <a:ext cx="4574054" cy="4051960"/>
            <a:chOff x="4032436" y="2863245"/>
            <a:chExt cx="4642033" cy="3428970"/>
          </a:xfrm>
        </p:grpSpPr>
        <p:pic>
          <p:nvPicPr>
            <p:cNvPr id="1824" name="Google Shape;1824;p97" descr="http://cfile30.uf.tistory.com/image/261468445714F8692E3A40"/>
            <p:cNvPicPr preferRelativeResize="0"/>
            <p:nvPr/>
          </p:nvPicPr>
          <p:blipFill rotWithShape="1">
            <a:blip r:embed="rId4">
              <a:alphaModFix/>
            </a:blip>
            <a:srcRect t="16819"/>
            <a:stretch/>
          </p:blipFill>
          <p:spPr>
            <a:xfrm>
              <a:off x="4032436" y="2863245"/>
              <a:ext cx="4642033" cy="3428970"/>
            </a:xfrm>
            <a:prstGeom prst="rect">
              <a:avLst/>
            </a:prstGeom>
            <a:noFill/>
            <a:ln>
              <a:noFill/>
            </a:ln>
          </p:spPr>
        </p:pic>
        <p:pic>
          <p:nvPicPr>
            <p:cNvPr id="1825" name="Google Shape;1825;p97" descr="Raspberry Pi 4 Model B GPIO Pinout Diagram | element14 | Raspberry Pi"/>
            <p:cNvPicPr preferRelativeResize="0"/>
            <p:nvPr/>
          </p:nvPicPr>
          <p:blipFill rotWithShape="1">
            <a:blip r:embed="rId5">
              <a:alphaModFix/>
            </a:blip>
            <a:srcRect l="16260" t="968" r="16271" b="95960"/>
            <a:stretch/>
          </p:blipFill>
          <p:spPr>
            <a:xfrm>
              <a:off x="4770336" y="2933721"/>
              <a:ext cx="2292440" cy="152570"/>
            </a:xfrm>
            <a:prstGeom prst="rect">
              <a:avLst/>
            </a:prstGeom>
            <a:noFill/>
            <a:ln>
              <a:noFill/>
            </a:ln>
          </p:spPr>
        </p:pic>
      </p:grpSp>
      <p:grpSp>
        <p:nvGrpSpPr>
          <p:cNvPr id="1826" name="Google Shape;1826;p97"/>
          <p:cNvGrpSpPr/>
          <p:nvPr/>
        </p:nvGrpSpPr>
        <p:grpSpPr>
          <a:xfrm>
            <a:off x="416136" y="436183"/>
            <a:ext cx="9051872" cy="276871"/>
            <a:chOff x="416136" y="436183"/>
            <a:chExt cx="9051872" cy="276871"/>
          </a:xfrm>
        </p:grpSpPr>
        <p:sp>
          <p:nvSpPr>
            <p:cNvPr id="1827" name="Google Shape;1827;p97"/>
            <p:cNvSpPr/>
            <p:nvPr/>
          </p:nvSpPr>
          <p:spPr>
            <a:xfrm>
              <a:off x="8674469" y="45144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828" name="Google Shape;1828;p97"/>
            <p:cNvSpPr/>
            <p:nvPr/>
          </p:nvSpPr>
          <p:spPr>
            <a:xfrm>
              <a:off x="416136" y="436183"/>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2.5.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r>
                <a:rPr lang="en-US" sz="1799" dirty="0">
                  <a:solidFill>
                    <a:schemeClr val="tx1"/>
                  </a:solidFill>
                </a:rPr>
                <a:t> </a:t>
              </a:r>
              <a:r>
                <a:rPr lang="en-US" sz="1799" dirty="0" err="1">
                  <a:solidFill>
                    <a:schemeClr val="tx1"/>
                  </a:solidFill>
                </a:rPr>
                <a:t>nhiệt</a:t>
              </a:r>
              <a:r>
                <a:rPr lang="en-US" sz="1799" dirty="0">
                  <a:solidFill>
                    <a:schemeClr val="tx1"/>
                  </a:solidFill>
                </a:rPr>
                <a:t> </a:t>
              </a:r>
              <a:r>
                <a:rPr lang="en-US" sz="1799" dirty="0" err="1">
                  <a:solidFill>
                    <a:schemeClr val="tx1"/>
                  </a:solidFill>
                </a:rPr>
                <a:t>độ-độ</a:t>
              </a:r>
              <a:r>
                <a:rPr lang="en-US" sz="1799" dirty="0">
                  <a:solidFill>
                    <a:schemeClr val="tx1"/>
                  </a:solidFill>
                </a:rPr>
                <a:t> </a:t>
              </a:r>
              <a:r>
                <a:rPr lang="en-US" sz="1799" dirty="0" err="1">
                  <a:solidFill>
                    <a:schemeClr val="tx1"/>
                  </a:solidFill>
                </a:rPr>
                <a:t>ẩm</a:t>
              </a:r>
              <a:endParaRPr sz="1799" b="1" dirty="0">
                <a:solidFill>
                  <a:schemeClr val="lt1"/>
                </a:solidFill>
                <a:latin typeface="Arial"/>
                <a:ea typeface="Arial"/>
                <a:cs typeface="Arial"/>
                <a:sym typeface="Arial"/>
              </a:endParaRPr>
            </a:p>
          </p:txBody>
        </p:sp>
      </p:grpSp>
      <p:sp>
        <p:nvSpPr>
          <p:cNvPr id="1829" name="Google Shape;1829;p97"/>
          <p:cNvSpPr/>
          <p:nvPr/>
        </p:nvSpPr>
        <p:spPr>
          <a:xfrm>
            <a:off x="580400" y="15610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DHT11/22 - Cảm biến nhiệt độ và độ ẩm số</a:t>
            </a:r>
            <a:endParaRPr sz="1401">
              <a:solidFill>
                <a:schemeClr val="dk1"/>
              </a:solidFill>
              <a:latin typeface="Arial"/>
              <a:ea typeface="Arial"/>
              <a:cs typeface="Arial"/>
              <a:sym typeface="Arial"/>
            </a:endParaRPr>
          </a:p>
        </p:txBody>
      </p:sp>
      <p:graphicFrame>
        <p:nvGraphicFramePr>
          <p:cNvPr id="1830" name="Google Shape;1830;p97"/>
          <p:cNvGraphicFramePr/>
          <p:nvPr/>
        </p:nvGraphicFramePr>
        <p:xfrm>
          <a:off x="711203" y="4298322"/>
          <a:ext cx="3997975" cy="1236630"/>
        </p:xfrm>
        <a:graphic>
          <a:graphicData uri="http://schemas.openxmlformats.org/drawingml/2006/table">
            <a:tbl>
              <a:tblPr firstRow="1" bandRow="1">
                <a:noFill/>
              </a:tblPr>
              <a:tblGrid>
                <a:gridCol w="591825">
                  <a:extLst>
                    <a:ext uri="{9D8B030D-6E8A-4147-A177-3AD203B41FA5}">
                      <a16:colId xmlns:a16="http://schemas.microsoft.com/office/drawing/2014/main" val="20000"/>
                    </a:ext>
                  </a:extLst>
                </a:gridCol>
                <a:gridCol w="1264925">
                  <a:extLst>
                    <a:ext uri="{9D8B030D-6E8A-4147-A177-3AD203B41FA5}">
                      <a16:colId xmlns:a16="http://schemas.microsoft.com/office/drawing/2014/main" val="20001"/>
                    </a:ext>
                  </a:extLst>
                </a:gridCol>
                <a:gridCol w="1112525">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116525">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Chân</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1</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7</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6</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298275">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Tên</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3.3v DC Power</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GPIO04</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Ground</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98275">
                <a:tc>
                  <a:txBody>
                    <a:bodyPr/>
                    <a:lstStyle/>
                    <a:p>
                      <a:pPr marL="0" marR="0" lvl="0" indent="0" algn="ctr" rtl="0">
                        <a:lnSpc>
                          <a:spcPct val="100000"/>
                        </a:lnSpc>
                        <a:spcBef>
                          <a:spcPts val="0"/>
                        </a:spcBef>
                        <a:spcAft>
                          <a:spcPts val="0"/>
                        </a:spcAft>
                        <a:buClr>
                          <a:schemeClr val="dk1"/>
                        </a:buClr>
                        <a:buSzPts val="1400"/>
                        <a:buFont typeface="Calibri"/>
                        <a:buNone/>
                      </a:pP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Out</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98275">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Màu sắc</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Dây màu đỏ</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Dây màu vàng</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262626"/>
                        </a:buClr>
                        <a:buSzPts val="1400"/>
                        <a:buFont typeface="Arial"/>
                        <a:buNone/>
                      </a:pPr>
                      <a:r>
                        <a:rPr lang="en-US" sz="1400" b="0" u="none" strike="noStrike" cap="none">
                          <a:solidFill>
                            <a:srgbClr val="262626"/>
                          </a:solidFill>
                          <a:latin typeface="Arial"/>
                          <a:ea typeface="Arial"/>
                          <a:cs typeface="Arial"/>
                          <a:sym typeface="Arial"/>
                        </a:rPr>
                        <a:t>Dây màu đen</a:t>
                      </a:r>
                      <a:endParaRPr sz="1400" b="0" u="none" strike="noStrike" cap="none">
                        <a:solidFill>
                          <a:srgbClr val="262626"/>
                        </a:solidFill>
                        <a:latin typeface="Arial"/>
                        <a:ea typeface="Arial"/>
                        <a:cs typeface="Arial"/>
                        <a:sym typeface="Arial"/>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1831" name="Google Shape;1831;p97"/>
          <p:cNvSpPr txBox="1"/>
          <p:nvPr/>
        </p:nvSpPr>
        <p:spPr>
          <a:xfrm>
            <a:off x="5518799" y="2096840"/>
            <a:ext cx="2364770" cy="24622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a:solidFill>
                  <a:schemeClr val="dk1"/>
                </a:solidFill>
                <a:latin typeface="Calibri"/>
                <a:ea typeface="Calibri"/>
                <a:cs typeface="Calibri"/>
                <a:sym typeface="Calibri"/>
              </a:rPr>
              <a:t>Đầu cắm Raspberry Pi B+ J8</a:t>
            </a:r>
            <a:endParaRPr sz="1100" b="1">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746F0CD2-8C28-1275-3D23-38F308FFD62E}"/>
            </a:ext>
          </a:extLst>
        </p:cNvPr>
        <p:cNvGrpSpPr/>
        <p:nvPr/>
      </p:nvGrpSpPr>
      <p:grpSpPr>
        <a:xfrm>
          <a:off x="0" y="0"/>
          <a:ext cx="0" cy="0"/>
          <a:chOff x="0" y="0"/>
          <a:chExt cx="0" cy="0"/>
        </a:xfrm>
      </p:grpSpPr>
      <p:sp>
        <p:nvSpPr>
          <p:cNvPr id="1027" name="Google Shape;1027;p61">
            <a:extLst>
              <a:ext uri="{FF2B5EF4-FFF2-40B4-BE49-F238E27FC236}">
                <a16:creationId xmlns:a16="http://schemas.microsoft.com/office/drawing/2014/main" id="{3EBE3D31-3046-410A-E0E6-6C6EA061A795}"/>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a:extLst>
              <a:ext uri="{FF2B5EF4-FFF2-40B4-BE49-F238E27FC236}">
                <a16:creationId xmlns:a16="http://schemas.microsoft.com/office/drawing/2014/main" id="{949923F4-962C-3DCB-0A25-096C715718D8}"/>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a:extLst>
              <a:ext uri="{FF2B5EF4-FFF2-40B4-BE49-F238E27FC236}">
                <a16:creationId xmlns:a16="http://schemas.microsoft.com/office/drawing/2014/main" id="{F9B94CB1-9932-D29E-7EA7-7503F7AE8A5C}"/>
              </a:ext>
            </a:extLst>
          </p:cNvPr>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1</a:t>
            </a:r>
            <a:r>
              <a:rPr lang="en-US" sz="1799" dirty="0">
                <a:solidFill>
                  <a:schemeClr val="bg1">
                    <a:lumMod val="65000"/>
                  </a:schemeClr>
                </a:solidFill>
                <a:latin typeface="Arial"/>
                <a:ea typeface="Arial"/>
                <a:cs typeface="Arial"/>
                <a:sym typeface="Arial"/>
              </a:rPr>
              <a:t>.1. </a:t>
            </a:r>
            <a:r>
              <a:rPr lang="en-US" sz="1799" dirty="0" err="1">
                <a:solidFill>
                  <a:schemeClr val="bg1">
                    <a:lumMod val="65000"/>
                  </a:schemeClr>
                </a:solidFill>
                <a:latin typeface="Arial"/>
                <a:ea typeface="Arial"/>
                <a:cs typeface="Arial"/>
                <a:sym typeface="Arial"/>
              </a:rPr>
              <a:t>Đầu</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vào</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số</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mạch</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điện</a:t>
            </a:r>
            <a:r>
              <a:rPr lang="en-US" sz="1799" dirty="0">
                <a:solidFill>
                  <a:schemeClr val="bg1">
                    <a:lumMod val="65000"/>
                  </a:schemeClr>
                </a:solidFill>
                <a:latin typeface="Arial"/>
                <a:ea typeface="Arial"/>
                <a:cs typeface="Arial"/>
                <a:sym typeface="Arial"/>
              </a:rPr>
              <a:t>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bg1">
                    <a:lumMod val="65000"/>
                  </a:schemeClr>
                </a:solidFill>
                <a:latin typeface="Arial"/>
                <a:ea typeface="Arial"/>
                <a:cs typeface="Arial"/>
                <a:sym typeface="Arial"/>
              </a:rPr>
              <a:t>1.2. </a:t>
            </a:r>
            <a:r>
              <a:rPr lang="en-US" sz="1799" dirty="0" err="1">
                <a:solidFill>
                  <a:schemeClr val="bg1">
                    <a:lumMod val="65000"/>
                  </a:schemeClr>
                </a:solidFill>
                <a:latin typeface="Arial"/>
                <a:ea typeface="Arial"/>
                <a:cs typeface="Arial"/>
                <a:sym typeface="Arial"/>
              </a:rPr>
              <a:t>Đèn</a:t>
            </a:r>
            <a:r>
              <a:rPr lang="en-US" sz="1799" dirty="0">
                <a:solidFill>
                  <a:schemeClr val="bg1">
                    <a:lumMod val="65000"/>
                  </a:schemeClr>
                </a:solidFill>
                <a:latin typeface="Arial"/>
                <a:ea typeface="Arial"/>
                <a:cs typeface="Arial"/>
                <a:sym typeface="Arial"/>
              </a:rPr>
              <a:t> LED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1.3.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siêu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âm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1.4. </a:t>
            </a:r>
            <a:r>
              <a:rPr lang="en-US" sz="1799" dirty="0" err="1">
                <a:solidFill>
                  <a:srgbClr val="A6A6A6"/>
                </a:solidFill>
                <a:latin typeface="Arial"/>
                <a:ea typeface="Arial"/>
                <a:cs typeface="Arial"/>
                <a:sym typeface="Arial"/>
              </a:rPr>
              <a:t>Màn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hình</a:t>
            </a:r>
            <a:r>
              <a:rPr lang="en-US" sz="1799" dirty="0">
                <a:solidFill>
                  <a:srgbClr val="A6A6A6"/>
                </a:solidFill>
                <a:latin typeface="Arial"/>
                <a:ea typeface="Arial"/>
                <a:cs typeface="Arial"/>
                <a:sym typeface="Arial"/>
              </a:rPr>
              <a:t> 7 </a:t>
            </a:r>
            <a:r>
              <a:rPr lang="en-US" sz="1799" dirty="0" err="1">
                <a:solidFill>
                  <a:srgbClr val="A6A6A6"/>
                </a:solidFill>
                <a:latin typeface="Arial"/>
                <a:ea typeface="Arial"/>
                <a:cs typeface="Arial"/>
                <a:sym typeface="Arial"/>
              </a:rPr>
              <a:t>đoạn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4 </a:t>
            </a:r>
            <a:r>
              <a:rPr lang="en-US" sz="1799" dirty="0" err="1">
                <a:solidFill>
                  <a:srgbClr val="A6A6A6"/>
                </a:solidFill>
                <a:latin typeface="Arial"/>
                <a:ea typeface="Arial"/>
                <a:cs typeface="Arial"/>
                <a:sym typeface="Arial"/>
              </a:rPr>
              <a:t>số</a:t>
            </a:r>
            <a:r>
              <a:rPr lang="en-US" sz="1799" dirty="0">
                <a:solidFill>
                  <a:srgbClr val="A6A6A6"/>
                </a:solidFill>
                <a:latin typeface="Arial"/>
                <a:ea typeface="Arial"/>
                <a:cs typeface="Arial"/>
                <a:sym typeface="Arial"/>
              </a:rPr>
              <a:t>)</a:t>
            </a:r>
            <a:endParaRPr dirty="0"/>
          </a:p>
        </p:txBody>
      </p:sp>
      <p:sp>
        <p:nvSpPr>
          <p:cNvPr id="1030" name="Google Shape;1030;p61">
            <a:extLst>
              <a:ext uri="{FF2B5EF4-FFF2-40B4-BE49-F238E27FC236}">
                <a16:creationId xmlns:a16="http://schemas.microsoft.com/office/drawing/2014/main" id="{D2718672-C0BD-3F84-B137-EE823A8D4E8D}"/>
              </a:ext>
            </a:extLst>
          </p:cNvPr>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1.5.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nhiệt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độ-độ</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ẩm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1.6. </a:t>
            </a:r>
            <a:r>
              <a:rPr lang="en-US" sz="1799" dirty="0" err="1">
                <a:solidFill>
                  <a:schemeClr val="tx1"/>
                </a:solidFill>
                <a:latin typeface="Arial"/>
                <a:ea typeface="Arial"/>
                <a:cs typeface="Arial"/>
                <a:sym typeface="Arial"/>
              </a:rPr>
              <a:t>Lập</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trình</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điều</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khiển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chính</a:t>
            </a:r>
            <a:endParaRPr sz="1799" dirty="0">
              <a:solidFill>
                <a:schemeClr val="tx1"/>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1.7. </a:t>
            </a:r>
            <a:r>
              <a:rPr lang="en-US" sz="1799" dirty="0" err="1">
                <a:solidFill>
                  <a:srgbClr val="A6A6A6"/>
                </a:solidFill>
                <a:latin typeface="Arial"/>
                <a:ea typeface="Arial"/>
                <a:cs typeface="Arial"/>
                <a:sym typeface="Arial"/>
              </a:rPr>
              <a:t>Chuẩn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giao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tiếp</a:t>
            </a:r>
            <a:r>
              <a:rPr lang="en-US" sz="1799" dirty="0">
                <a:solidFill>
                  <a:srgbClr val="A6A6A6"/>
                </a:solidFill>
                <a:latin typeface="Arial"/>
                <a:ea typeface="Arial"/>
                <a:cs typeface="Arial"/>
                <a:sym typeface="Arial"/>
              </a:rPr>
              <a:t> UART</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1.8. </a:t>
            </a:r>
            <a:r>
              <a:rPr lang="en-US" sz="1799" dirty="0" err="1">
                <a:solidFill>
                  <a:srgbClr val="A6A6A6"/>
                </a:solidFill>
                <a:latin typeface="Arial"/>
                <a:ea typeface="Arial"/>
                <a:cs typeface="Arial"/>
                <a:sym typeface="Arial"/>
              </a:rPr>
              <a:t>Chế</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tạo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thiết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bị</a:t>
            </a: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3643402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845"/>
        <p:cNvGrpSpPr/>
        <p:nvPr/>
      </p:nvGrpSpPr>
      <p:grpSpPr>
        <a:xfrm>
          <a:off x="0" y="0"/>
          <a:ext cx="0" cy="0"/>
          <a:chOff x="0" y="0"/>
          <a:chExt cx="0" cy="0"/>
        </a:xfrm>
      </p:grpSpPr>
      <p:sp>
        <p:nvSpPr>
          <p:cNvPr id="1846" name="Google Shape;1846;p99"/>
          <p:cNvSpPr/>
          <p:nvPr/>
        </p:nvSpPr>
        <p:spPr>
          <a:xfrm>
            <a:off x="416136" y="484174"/>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Lập</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trình</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điều</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khiển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chính</a:t>
            </a:r>
            <a:endParaRPr sz="1799" b="1" dirty="0">
              <a:solidFill>
                <a:schemeClr val="tx1"/>
              </a:solidFill>
              <a:latin typeface="Arial"/>
              <a:ea typeface="Arial"/>
              <a:cs typeface="Arial"/>
              <a:sym typeface="Arial"/>
            </a:endParaRPr>
          </a:p>
        </p:txBody>
      </p:sp>
      <p:sp>
        <p:nvSpPr>
          <p:cNvPr id="1847" name="Google Shape;1847;p99"/>
          <p:cNvSpPr/>
          <p:nvPr/>
        </p:nvSpPr>
        <p:spPr>
          <a:xfrm>
            <a:off x="8674469" y="5200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848" name="Google Shape;1848;p99"/>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Bảng ngữ âm</a:t>
            </a:r>
            <a:endParaRPr sz="2401" b="1">
              <a:solidFill>
                <a:srgbClr val="0C0C0C"/>
              </a:solidFill>
              <a:latin typeface="Arial"/>
              <a:ea typeface="Arial"/>
              <a:cs typeface="Arial"/>
              <a:sym typeface="Arial"/>
            </a:endParaRPr>
          </a:p>
        </p:txBody>
      </p:sp>
      <p:grpSp>
        <p:nvGrpSpPr>
          <p:cNvPr id="1849" name="Google Shape;1849;p99"/>
          <p:cNvGrpSpPr/>
          <p:nvPr/>
        </p:nvGrpSpPr>
        <p:grpSpPr>
          <a:xfrm>
            <a:off x="580647" y="2105037"/>
            <a:ext cx="8743698" cy="3871705"/>
            <a:chOff x="696686" y="2253964"/>
            <a:chExt cx="8650515" cy="3816000"/>
          </a:xfrm>
        </p:grpSpPr>
        <p:sp>
          <p:nvSpPr>
            <p:cNvPr id="1850" name="Google Shape;1850;p99"/>
            <p:cNvSpPr/>
            <p:nvPr/>
          </p:nvSpPr>
          <p:spPr>
            <a:xfrm>
              <a:off x="727688" y="4282956"/>
              <a:ext cx="8613162" cy="361617"/>
            </a:xfrm>
            <a:prstGeom prst="rect">
              <a:avLst/>
            </a:prstGeom>
            <a:solidFill>
              <a:srgbClr val="E6F5FF"/>
            </a:solidFill>
            <a:ln w="127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grpSp>
          <p:nvGrpSpPr>
            <p:cNvPr id="1851" name="Google Shape;1851;p99"/>
            <p:cNvGrpSpPr/>
            <p:nvPr/>
          </p:nvGrpSpPr>
          <p:grpSpPr>
            <a:xfrm>
              <a:off x="1161144" y="2253964"/>
              <a:ext cx="8186057" cy="3816000"/>
              <a:chOff x="1161144" y="2236621"/>
              <a:chExt cx="8186057" cy="3833423"/>
            </a:xfrm>
          </p:grpSpPr>
          <p:sp>
            <p:nvSpPr>
              <p:cNvPr id="1852" name="Google Shape;1852;p99"/>
              <p:cNvSpPr/>
              <p:nvPr/>
            </p:nvSpPr>
            <p:spPr>
              <a:xfrm>
                <a:off x="1161144" y="2236621"/>
                <a:ext cx="0" cy="383342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53" name="Google Shape;1853;p99"/>
              <p:cNvSpPr/>
              <p:nvPr/>
            </p:nvSpPr>
            <p:spPr>
              <a:xfrm>
                <a:off x="1821179" y="2859314"/>
                <a:ext cx="0" cy="319314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54" name="Google Shape;1854;p99"/>
              <p:cNvSpPr/>
              <p:nvPr/>
            </p:nvSpPr>
            <p:spPr>
              <a:xfrm>
                <a:off x="2505363" y="2236621"/>
                <a:ext cx="0" cy="383342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55" name="Google Shape;1855;p99"/>
              <p:cNvSpPr/>
              <p:nvPr/>
            </p:nvSpPr>
            <p:spPr>
              <a:xfrm>
                <a:off x="3189547" y="2859314"/>
                <a:ext cx="0" cy="319314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56" name="Google Shape;1856;p99"/>
              <p:cNvSpPr/>
              <p:nvPr/>
            </p:nvSpPr>
            <p:spPr>
              <a:xfrm>
                <a:off x="3873731" y="2236621"/>
                <a:ext cx="0" cy="383342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57" name="Google Shape;1857;p99"/>
              <p:cNvSpPr/>
              <p:nvPr/>
            </p:nvSpPr>
            <p:spPr>
              <a:xfrm>
                <a:off x="4557915" y="2236621"/>
                <a:ext cx="0" cy="383342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58" name="Google Shape;1858;p99"/>
              <p:cNvSpPr/>
              <p:nvPr/>
            </p:nvSpPr>
            <p:spPr>
              <a:xfrm>
                <a:off x="5242099" y="2859314"/>
                <a:ext cx="0" cy="319314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59" name="Google Shape;1859;p99"/>
              <p:cNvSpPr/>
              <p:nvPr/>
            </p:nvSpPr>
            <p:spPr>
              <a:xfrm>
                <a:off x="5926283" y="2236621"/>
                <a:ext cx="0" cy="383342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60" name="Google Shape;1860;p99"/>
              <p:cNvSpPr/>
              <p:nvPr/>
            </p:nvSpPr>
            <p:spPr>
              <a:xfrm>
                <a:off x="6610467" y="2859314"/>
                <a:ext cx="0" cy="319314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61" name="Google Shape;1861;p99"/>
              <p:cNvSpPr/>
              <p:nvPr/>
            </p:nvSpPr>
            <p:spPr>
              <a:xfrm>
                <a:off x="7294651" y="2236621"/>
                <a:ext cx="0" cy="383342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62" name="Google Shape;1862;p99"/>
              <p:cNvSpPr/>
              <p:nvPr/>
            </p:nvSpPr>
            <p:spPr>
              <a:xfrm>
                <a:off x="7978835" y="2859314"/>
                <a:ext cx="0" cy="319314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63" name="Google Shape;1863;p99"/>
              <p:cNvSpPr/>
              <p:nvPr/>
            </p:nvSpPr>
            <p:spPr>
              <a:xfrm>
                <a:off x="8663019" y="2236621"/>
                <a:ext cx="0" cy="383342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864" name="Google Shape;1864;p99"/>
              <p:cNvSpPr/>
              <p:nvPr/>
            </p:nvSpPr>
            <p:spPr>
              <a:xfrm>
                <a:off x="9347201" y="2859314"/>
                <a:ext cx="0" cy="3193143"/>
              </a:xfrm>
              <a:custGeom>
                <a:avLst/>
                <a:gdLst/>
                <a:ahLst/>
                <a:cxnLst/>
                <a:rect l="l" t="t" r="r" b="b"/>
                <a:pathLst>
                  <a:path w="120000" h="3193143" extrusionOk="0">
                    <a:moveTo>
                      <a:pt x="0" y="0"/>
                    </a:moveTo>
                    <a:lnTo>
                      <a:pt x="0" y="3193143"/>
                    </a:lnTo>
                  </a:path>
                </a:pathLst>
              </a:custGeom>
              <a:noFill/>
              <a:ln w="9525" cap="flat" cmpd="sng">
                <a:solidFill>
                  <a:srgbClr val="BFBFBF"/>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1865" name="Google Shape;1865;p99"/>
            <p:cNvSpPr/>
            <p:nvPr/>
          </p:nvSpPr>
          <p:spPr>
            <a:xfrm>
              <a:off x="1279232"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C</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131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262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523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1047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2093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4186</a:t>
              </a:r>
              <a:endParaRPr/>
            </a:p>
          </p:txBody>
        </p:sp>
        <p:sp>
          <p:nvSpPr>
            <p:cNvPr id="1866" name="Google Shape;1866;p99"/>
            <p:cNvSpPr/>
            <p:nvPr/>
          </p:nvSpPr>
          <p:spPr>
            <a:xfrm>
              <a:off x="1962447"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C#</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139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278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554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1109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2218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4435</a:t>
              </a:r>
              <a:endParaRPr/>
            </a:p>
          </p:txBody>
        </p:sp>
        <p:sp>
          <p:nvSpPr>
            <p:cNvPr id="1867" name="Google Shape;1867;p99"/>
            <p:cNvSpPr/>
            <p:nvPr/>
          </p:nvSpPr>
          <p:spPr>
            <a:xfrm>
              <a:off x="2645661"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D</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73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147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294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587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1175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2349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4699</a:t>
              </a:r>
              <a:endParaRPr/>
            </a:p>
          </p:txBody>
        </p:sp>
        <p:sp>
          <p:nvSpPr>
            <p:cNvPr id="1868" name="Google Shape;1868;p99"/>
            <p:cNvSpPr/>
            <p:nvPr/>
          </p:nvSpPr>
          <p:spPr>
            <a:xfrm>
              <a:off x="3328876"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D#</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78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156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311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622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1245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2489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4978</a:t>
              </a:r>
              <a:endParaRPr/>
            </a:p>
          </p:txBody>
        </p:sp>
        <p:sp>
          <p:nvSpPr>
            <p:cNvPr id="1869" name="Google Shape;1869;p99"/>
            <p:cNvSpPr/>
            <p:nvPr/>
          </p:nvSpPr>
          <p:spPr>
            <a:xfrm>
              <a:off x="4012090"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E</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82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165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330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659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1319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2637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5274</a:t>
              </a:r>
              <a:endParaRPr/>
            </a:p>
          </p:txBody>
        </p:sp>
        <p:sp>
          <p:nvSpPr>
            <p:cNvPr id="1870" name="Google Shape;1870;p99"/>
            <p:cNvSpPr/>
            <p:nvPr/>
          </p:nvSpPr>
          <p:spPr>
            <a:xfrm>
              <a:off x="4695305"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F</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87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175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349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699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1397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2794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5588</a:t>
              </a:r>
              <a:endParaRPr/>
            </a:p>
          </p:txBody>
        </p:sp>
        <p:sp>
          <p:nvSpPr>
            <p:cNvPr id="1871" name="Google Shape;1871;p99"/>
            <p:cNvSpPr/>
            <p:nvPr/>
          </p:nvSpPr>
          <p:spPr>
            <a:xfrm>
              <a:off x="5378522"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F#</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93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185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370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740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1475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2960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5920</a:t>
              </a:r>
              <a:endParaRPr/>
            </a:p>
          </p:txBody>
        </p:sp>
        <p:sp>
          <p:nvSpPr>
            <p:cNvPr id="1872" name="Google Shape;1872;p99"/>
            <p:cNvSpPr/>
            <p:nvPr/>
          </p:nvSpPr>
          <p:spPr>
            <a:xfrm>
              <a:off x="6061737"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G</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98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196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392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784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1568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3136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6272</a:t>
              </a:r>
              <a:endParaRPr/>
            </a:p>
          </p:txBody>
        </p:sp>
        <p:sp>
          <p:nvSpPr>
            <p:cNvPr id="1873" name="Google Shape;1873;p99"/>
            <p:cNvSpPr/>
            <p:nvPr/>
          </p:nvSpPr>
          <p:spPr>
            <a:xfrm>
              <a:off x="6744951"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G#</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104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208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415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831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1661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3322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6645</a:t>
              </a:r>
              <a:endParaRPr/>
            </a:p>
          </p:txBody>
        </p:sp>
        <p:sp>
          <p:nvSpPr>
            <p:cNvPr id="1874" name="Google Shape;1874;p99"/>
            <p:cNvSpPr/>
            <p:nvPr/>
          </p:nvSpPr>
          <p:spPr>
            <a:xfrm>
              <a:off x="7428166"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A</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110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220</a:t>
              </a:r>
              <a:endParaRPr/>
            </a:p>
            <a:p>
              <a:pPr marL="0" marR="0" lvl="0" indent="0" algn="r" rtl="0">
                <a:spcBef>
                  <a:spcPts val="1099"/>
                </a:spcBef>
                <a:spcAft>
                  <a:spcPts val="0"/>
                </a:spcAft>
                <a:buNone/>
              </a:pPr>
              <a:r>
                <a:rPr lang="en-US" sz="1401">
                  <a:solidFill>
                    <a:srgbClr val="FF0000"/>
                  </a:solidFill>
                  <a:latin typeface="Arial"/>
                  <a:ea typeface="Arial"/>
                  <a:cs typeface="Arial"/>
                  <a:sym typeface="Arial"/>
                </a:rPr>
                <a:t>440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880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1760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3520</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7040</a:t>
              </a:r>
              <a:endParaRPr/>
            </a:p>
          </p:txBody>
        </p:sp>
        <p:sp>
          <p:nvSpPr>
            <p:cNvPr id="1875" name="Google Shape;1875;p99"/>
            <p:cNvSpPr/>
            <p:nvPr/>
          </p:nvSpPr>
          <p:spPr>
            <a:xfrm>
              <a:off x="8111381"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A3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58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117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233</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466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932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1865</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3729</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7459</a:t>
              </a:r>
              <a:endParaRPr/>
            </a:p>
          </p:txBody>
        </p:sp>
        <p:sp>
          <p:nvSpPr>
            <p:cNvPr id="1876" name="Google Shape;1876;p99"/>
            <p:cNvSpPr/>
            <p:nvPr/>
          </p:nvSpPr>
          <p:spPr>
            <a:xfrm>
              <a:off x="8794600" y="2600325"/>
              <a:ext cx="407459" cy="337601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401">
                  <a:solidFill>
                    <a:srgbClr val="262626"/>
                  </a:solidFill>
                  <a:latin typeface="Arial"/>
                  <a:ea typeface="Arial"/>
                  <a:cs typeface="Arial"/>
                  <a:sym typeface="Arial"/>
                </a:rPr>
                <a:t>B</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62</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124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247</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494</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988</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1976</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3951</a:t>
              </a:r>
              <a:endParaRPr/>
            </a:p>
            <a:p>
              <a:pPr marL="0" marR="0" lvl="0" indent="0" algn="r" rtl="0">
                <a:spcBef>
                  <a:spcPts val="1099"/>
                </a:spcBef>
                <a:spcAft>
                  <a:spcPts val="0"/>
                </a:spcAft>
                <a:buNone/>
              </a:pPr>
              <a:r>
                <a:rPr lang="en-US" sz="1401">
                  <a:solidFill>
                    <a:srgbClr val="262626"/>
                  </a:solidFill>
                  <a:latin typeface="Arial"/>
                  <a:ea typeface="Arial"/>
                  <a:cs typeface="Arial"/>
                  <a:sym typeface="Arial"/>
                </a:rPr>
                <a:t>7902</a:t>
              </a:r>
              <a:endParaRPr/>
            </a:p>
          </p:txBody>
        </p:sp>
        <p:sp>
          <p:nvSpPr>
            <p:cNvPr id="1877" name="Google Shape;1877;p99"/>
            <p:cNvSpPr/>
            <p:nvPr/>
          </p:nvSpPr>
          <p:spPr>
            <a:xfrm>
              <a:off x="717332" y="2955143"/>
              <a:ext cx="407459" cy="302451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0</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1</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2</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3</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4</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5</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6</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7</a:t>
              </a:r>
              <a:endParaRPr/>
            </a:p>
            <a:p>
              <a:pPr marL="0" marR="0" lvl="0" indent="0" algn="ctr" rtl="0">
                <a:spcBef>
                  <a:spcPts val="1099"/>
                </a:spcBef>
                <a:spcAft>
                  <a:spcPts val="0"/>
                </a:spcAft>
                <a:buNone/>
              </a:pPr>
              <a:r>
                <a:rPr lang="en-US" sz="1401">
                  <a:solidFill>
                    <a:srgbClr val="262626"/>
                  </a:solidFill>
                  <a:latin typeface="Arial"/>
                  <a:ea typeface="Arial"/>
                  <a:cs typeface="Arial"/>
                  <a:sym typeface="Arial"/>
                </a:rPr>
                <a:t>8</a:t>
              </a:r>
              <a:endParaRPr/>
            </a:p>
          </p:txBody>
        </p:sp>
        <p:sp>
          <p:nvSpPr>
            <p:cNvPr id="1878" name="Google Shape;1878;p99"/>
            <p:cNvSpPr/>
            <p:nvPr/>
          </p:nvSpPr>
          <p:spPr>
            <a:xfrm>
              <a:off x="696686" y="2873827"/>
              <a:ext cx="8636000" cy="0"/>
            </a:xfrm>
            <a:custGeom>
              <a:avLst/>
              <a:gdLst/>
              <a:ahLst/>
              <a:cxnLst/>
              <a:rect l="l" t="t" r="r" b="b"/>
              <a:pathLst>
                <a:path w="8636000" h="120000" extrusionOk="0">
                  <a:moveTo>
                    <a:pt x="0" y="0"/>
                  </a:moveTo>
                  <a:lnTo>
                    <a:pt x="8636000" y="0"/>
                  </a:lnTo>
                </a:path>
              </a:pathLst>
            </a:custGeom>
            <a:noFill/>
            <a:ln w="1905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nvGrpSpPr>
            <p:cNvPr id="1879" name="Google Shape;1879;p99"/>
            <p:cNvGrpSpPr/>
            <p:nvPr/>
          </p:nvGrpSpPr>
          <p:grpSpPr>
            <a:xfrm>
              <a:off x="1188883" y="2253964"/>
              <a:ext cx="7940900" cy="239865"/>
              <a:chOff x="1188883" y="2224936"/>
              <a:chExt cx="7940900" cy="252000"/>
            </a:xfrm>
          </p:grpSpPr>
          <p:sp>
            <p:nvSpPr>
              <p:cNvPr id="1880" name="Google Shape;1880;p99"/>
              <p:cNvSpPr/>
              <p:nvPr/>
            </p:nvSpPr>
            <p:spPr>
              <a:xfrm>
                <a:off x="1188883" y="2224936"/>
                <a:ext cx="432000" cy="252000"/>
              </a:xfrm>
              <a:prstGeom prst="roundRect">
                <a:avLst>
                  <a:gd name="adj" fmla="val 16667"/>
                </a:avLst>
              </a:prstGeom>
              <a:solidFill>
                <a:srgbClr val="A5A5A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Do</a:t>
                </a:r>
                <a:endParaRPr sz="1601">
                  <a:solidFill>
                    <a:schemeClr val="lt1"/>
                  </a:solidFill>
                  <a:latin typeface="Arial"/>
                  <a:ea typeface="Arial"/>
                  <a:cs typeface="Arial"/>
                  <a:sym typeface="Arial"/>
                </a:endParaRPr>
              </a:p>
            </p:txBody>
          </p:sp>
          <p:sp>
            <p:nvSpPr>
              <p:cNvPr id="1881" name="Google Shape;1881;p99"/>
              <p:cNvSpPr/>
              <p:nvPr/>
            </p:nvSpPr>
            <p:spPr>
              <a:xfrm>
                <a:off x="2538213" y="2224936"/>
                <a:ext cx="432000" cy="252000"/>
              </a:xfrm>
              <a:prstGeom prst="roundRect">
                <a:avLst>
                  <a:gd name="adj" fmla="val 16667"/>
                </a:avLst>
              </a:prstGeom>
              <a:solidFill>
                <a:srgbClr val="A5A5A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Re</a:t>
                </a:r>
                <a:endParaRPr sz="1601">
                  <a:solidFill>
                    <a:schemeClr val="lt1"/>
                  </a:solidFill>
                  <a:latin typeface="Arial"/>
                  <a:ea typeface="Arial"/>
                  <a:cs typeface="Arial"/>
                  <a:sym typeface="Arial"/>
                </a:endParaRPr>
              </a:p>
            </p:txBody>
          </p:sp>
          <p:sp>
            <p:nvSpPr>
              <p:cNvPr id="1882" name="Google Shape;1882;p99"/>
              <p:cNvSpPr/>
              <p:nvPr/>
            </p:nvSpPr>
            <p:spPr>
              <a:xfrm>
                <a:off x="3905824" y="2224936"/>
                <a:ext cx="432000" cy="252000"/>
              </a:xfrm>
              <a:prstGeom prst="roundRect">
                <a:avLst>
                  <a:gd name="adj" fmla="val 16667"/>
                </a:avLst>
              </a:prstGeom>
              <a:solidFill>
                <a:srgbClr val="A5A5A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Mi</a:t>
                </a:r>
                <a:endParaRPr sz="1601">
                  <a:solidFill>
                    <a:schemeClr val="lt1"/>
                  </a:solidFill>
                  <a:latin typeface="Arial"/>
                  <a:ea typeface="Arial"/>
                  <a:cs typeface="Arial"/>
                  <a:sym typeface="Arial"/>
                </a:endParaRPr>
              </a:p>
            </p:txBody>
          </p:sp>
          <p:sp>
            <p:nvSpPr>
              <p:cNvPr id="1883" name="Google Shape;1883;p99"/>
              <p:cNvSpPr/>
              <p:nvPr/>
            </p:nvSpPr>
            <p:spPr>
              <a:xfrm>
                <a:off x="4587498" y="2224936"/>
                <a:ext cx="432000" cy="252000"/>
              </a:xfrm>
              <a:prstGeom prst="roundRect">
                <a:avLst>
                  <a:gd name="adj" fmla="val 16667"/>
                </a:avLst>
              </a:prstGeom>
              <a:solidFill>
                <a:srgbClr val="A5A5A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Fa</a:t>
                </a:r>
                <a:endParaRPr sz="1601">
                  <a:solidFill>
                    <a:schemeClr val="lt1"/>
                  </a:solidFill>
                  <a:latin typeface="Arial"/>
                  <a:ea typeface="Arial"/>
                  <a:cs typeface="Arial"/>
                  <a:sym typeface="Arial"/>
                </a:endParaRPr>
              </a:p>
            </p:txBody>
          </p:sp>
          <p:sp>
            <p:nvSpPr>
              <p:cNvPr id="1884" name="Google Shape;1884;p99"/>
              <p:cNvSpPr/>
              <p:nvPr/>
            </p:nvSpPr>
            <p:spPr>
              <a:xfrm>
                <a:off x="5965336" y="2224936"/>
                <a:ext cx="432000" cy="252000"/>
              </a:xfrm>
              <a:prstGeom prst="roundRect">
                <a:avLst>
                  <a:gd name="adj" fmla="val 16667"/>
                </a:avLst>
              </a:prstGeom>
              <a:solidFill>
                <a:srgbClr val="A5A5A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Sol</a:t>
                </a:r>
                <a:endParaRPr sz="1601">
                  <a:solidFill>
                    <a:schemeClr val="lt1"/>
                  </a:solidFill>
                  <a:latin typeface="Arial"/>
                  <a:ea typeface="Arial"/>
                  <a:cs typeface="Arial"/>
                  <a:sym typeface="Arial"/>
                </a:endParaRPr>
              </a:p>
            </p:txBody>
          </p:sp>
          <p:sp>
            <p:nvSpPr>
              <p:cNvPr id="1885" name="Google Shape;1885;p99"/>
              <p:cNvSpPr/>
              <p:nvPr/>
            </p:nvSpPr>
            <p:spPr>
              <a:xfrm>
                <a:off x="7326588" y="2224936"/>
                <a:ext cx="432000" cy="252000"/>
              </a:xfrm>
              <a:prstGeom prst="roundRect">
                <a:avLst>
                  <a:gd name="adj" fmla="val 16667"/>
                </a:avLst>
              </a:prstGeom>
              <a:solidFill>
                <a:srgbClr val="A5A5A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Ra</a:t>
                </a:r>
                <a:endParaRPr sz="1601">
                  <a:solidFill>
                    <a:schemeClr val="lt1"/>
                  </a:solidFill>
                  <a:latin typeface="Arial"/>
                  <a:ea typeface="Arial"/>
                  <a:cs typeface="Arial"/>
                  <a:sym typeface="Arial"/>
                </a:endParaRPr>
              </a:p>
            </p:txBody>
          </p:sp>
          <p:sp>
            <p:nvSpPr>
              <p:cNvPr id="1886" name="Google Shape;1886;p99"/>
              <p:cNvSpPr/>
              <p:nvPr/>
            </p:nvSpPr>
            <p:spPr>
              <a:xfrm>
                <a:off x="8697783" y="2224936"/>
                <a:ext cx="432000" cy="252000"/>
              </a:xfrm>
              <a:prstGeom prst="roundRect">
                <a:avLst>
                  <a:gd name="adj" fmla="val 16667"/>
                </a:avLst>
              </a:prstGeom>
              <a:solidFill>
                <a:srgbClr val="A5A5A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Si</a:t>
                </a:r>
                <a:endParaRPr sz="1601">
                  <a:solidFill>
                    <a:schemeClr val="lt1"/>
                  </a:solidFill>
                  <a:latin typeface="Arial"/>
                  <a:ea typeface="Arial"/>
                  <a:cs typeface="Arial"/>
                  <a:sym typeface="Arial"/>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3713165A-537E-D8A5-418A-5CC76B844170}"/>
            </a:ext>
          </a:extLst>
        </p:cNvPr>
        <p:cNvGrpSpPr/>
        <p:nvPr/>
      </p:nvGrpSpPr>
      <p:grpSpPr>
        <a:xfrm>
          <a:off x="0" y="0"/>
          <a:ext cx="0" cy="0"/>
          <a:chOff x="0" y="0"/>
          <a:chExt cx="0" cy="0"/>
        </a:xfrm>
      </p:grpSpPr>
      <p:sp>
        <p:nvSpPr>
          <p:cNvPr id="1027" name="Google Shape;1027;p61">
            <a:extLst>
              <a:ext uri="{FF2B5EF4-FFF2-40B4-BE49-F238E27FC236}">
                <a16:creationId xmlns:a16="http://schemas.microsoft.com/office/drawing/2014/main" id="{A14EF6AC-F2C5-DAEF-BA6B-4B73F996D981}"/>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a:extLst>
              <a:ext uri="{FF2B5EF4-FFF2-40B4-BE49-F238E27FC236}">
                <a16:creationId xmlns:a16="http://schemas.microsoft.com/office/drawing/2014/main" id="{216FD1F4-FEC2-AE0E-CB6A-04360C76D57C}"/>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a:extLst>
              <a:ext uri="{FF2B5EF4-FFF2-40B4-BE49-F238E27FC236}">
                <a16:creationId xmlns:a16="http://schemas.microsoft.com/office/drawing/2014/main" id="{3C1FC38B-6B95-CCF1-06DA-F64D5FC0B3AB}"/>
              </a:ext>
            </a:extLst>
          </p:cNvPr>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1</a:t>
            </a:r>
            <a:r>
              <a:rPr lang="en-US" sz="1799" dirty="0">
                <a:solidFill>
                  <a:schemeClr val="bg1">
                    <a:lumMod val="65000"/>
                  </a:schemeClr>
                </a:solidFill>
                <a:latin typeface="Arial"/>
                <a:ea typeface="Arial"/>
                <a:cs typeface="Arial"/>
                <a:sym typeface="Arial"/>
              </a:rPr>
              <a:t>.1. </a:t>
            </a:r>
            <a:r>
              <a:rPr lang="en-US" sz="1799" dirty="0" err="1">
                <a:solidFill>
                  <a:schemeClr val="bg1">
                    <a:lumMod val="65000"/>
                  </a:schemeClr>
                </a:solidFill>
                <a:latin typeface="Arial"/>
                <a:ea typeface="Arial"/>
                <a:cs typeface="Arial"/>
                <a:sym typeface="Arial"/>
              </a:rPr>
              <a:t>Đầu</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vào</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số</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mạch</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điện</a:t>
            </a:r>
            <a:r>
              <a:rPr lang="en-US" sz="1799" dirty="0">
                <a:solidFill>
                  <a:schemeClr val="bg1">
                    <a:lumMod val="65000"/>
                  </a:schemeClr>
                </a:solidFill>
                <a:latin typeface="Arial"/>
                <a:ea typeface="Arial"/>
                <a:cs typeface="Arial"/>
                <a:sym typeface="Arial"/>
              </a:rPr>
              <a:t>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bg1">
                    <a:lumMod val="65000"/>
                  </a:schemeClr>
                </a:solidFill>
                <a:latin typeface="Arial"/>
                <a:ea typeface="Arial"/>
                <a:cs typeface="Arial"/>
                <a:sym typeface="Arial"/>
              </a:rPr>
              <a:t>1.2. </a:t>
            </a:r>
            <a:r>
              <a:rPr lang="en-US" sz="1799" dirty="0" err="1">
                <a:solidFill>
                  <a:schemeClr val="bg1">
                    <a:lumMod val="65000"/>
                  </a:schemeClr>
                </a:solidFill>
                <a:latin typeface="Arial"/>
                <a:ea typeface="Arial"/>
                <a:cs typeface="Arial"/>
                <a:sym typeface="Arial"/>
              </a:rPr>
              <a:t>Đèn</a:t>
            </a:r>
            <a:r>
              <a:rPr lang="en-US" sz="1799" dirty="0">
                <a:solidFill>
                  <a:schemeClr val="bg1">
                    <a:lumMod val="65000"/>
                  </a:schemeClr>
                </a:solidFill>
                <a:latin typeface="Arial"/>
                <a:ea typeface="Arial"/>
                <a:cs typeface="Arial"/>
                <a:sym typeface="Arial"/>
              </a:rPr>
              <a:t> LED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1.3.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siêu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âm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1.4. </a:t>
            </a:r>
            <a:r>
              <a:rPr lang="en-US" sz="1799" dirty="0" err="1">
                <a:solidFill>
                  <a:srgbClr val="A6A6A6"/>
                </a:solidFill>
                <a:latin typeface="Arial"/>
                <a:ea typeface="Arial"/>
                <a:cs typeface="Arial"/>
                <a:sym typeface="Arial"/>
              </a:rPr>
              <a:t>Màn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hình</a:t>
            </a:r>
            <a:r>
              <a:rPr lang="en-US" sz="1799" dirty="0">
                <a:solidFill>
                  <a:srgbClr val="A6A6A6"/>
                </a:solidFill>
                <a:latin typeface="Arial"/>
                <a:ea typeface="Arial"/>
                <a:cs typeface="Arial"/>
                <a:sym typeface="Arial"/>
              </a:rPr>
              <a:t> 7 </a:t>
            </a:r>
            <a:r>
              <a:rPr lang="en-US" sz="1799" dirty="0" err="1">
                <a:solidFill>
                  <a:srgbClr val="A6A6A6"/>
                </a:solidFill>
                <a:latin typeface="Arial"/>
                <a:ea typeface="Arial"/>
                <a:cs typeface="Arial"/>
                <a:sym typeface="Arial"/>
              </a:rPr>
              <a:t>đoạn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4 </a:t>
            </a:r>
            <a:r>
              <a:rPr lang="en-US" sz="1799" dirty="0" err="1">
                <a:solidFill>
                  <a:srgbClr val="A6A6A6"/>
                </a:solidFill>
                <a:latin typeface="Arial"/>
                <a:ea typeface="Arial"/>
                <a:cs typeface="Arial"/>
                <a:sym typeface="Arial"/>
              </a:rPr>
              <a:t>số</a:t>
            </a:r>
            <a:r>
              <a:rPr lang="en-US" sz="1799" dirty="0">
                <a:solidFill>
                  <a:srgbClr val="A6A6A6"/>
                </a:solidFill>
                <a:latin typeface="Arial"/>
                <a:ea typeface="Arial"/>
                <a:cs typeface="Arial"/>
                <a:sym typeface="Arial"/>
              </a:rPr>
              <a:t>)</a:t>
            </a:r>
            <a:endParaRPr dirty="0"/>
          </a:p>
        </p:txBody>
      </p:sp>
      <p:sp>
        <p:nvSpPr>
          <p:cNvPr id="1030" name="Google Shape;1030;p61">
            <a:extLst>
              <a:ext uri="{FF2B5EF4-FFF2-40B4-BE49-F238E27FC236}">
                <a16:creationId xmlns:a16="http://schemas.microsoft.com/office/drawing/2014/main" id="{8C2F9354-C1D7-6E47-CD71-733B0FF6557F}"/>
              </a:ext>
            </a:extLst>
          </p:cNvPr>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1.5.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nhiệt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độ-độ</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ẩm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1.6. </a:t>
            </a:r>
            <a:r>
              <a:rPr lang="en-US" sz="1799" dirty="0" err="1">
                <a:solidFill>
                  <a:srgbClr val="A6A6A6"/>
                </a:solidFill>
                <a:latin typeface="Arial"/>
                <a:ea typeface="Arial"/>
                <a:cs typeface="Arial"/>
                <a:sym typeface="Arial"/>
              </a:rPr>
              <a:t>Lập</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trình</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điều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khiển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chính</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1.7. </a:t>
            </a:r>
            <a:r>
              <a:rPr lang="en-US" sz="1799" dirty="0" err="1">
                <a:solidFill>
                  <a:schemeClr val="tx1"/>
                </a:solidFill>
                <a:latin typeface="Arial"/>
                <a:ea typeface="Arial"/>
                <a:cs typeface="Arial"/>
                <a:sym typeface="Arial"/>
              </a:rPr>
              <a:t>Chuẩn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giao</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tiếp</a:t>
            </a:r>
            <a:r>
              <a:rPr lang="en-US" sz="1799" dirty="0">
                <a:solidFill>
                  <a:schemeClr val="tx1"/>
                </a:solidFill>
                <a:latin typeface="Arial"/>
                <a:ea typeface="Arial"/>
                <a:cs typeface="Arial"/>
                <a:sym typeface="Arial"/>
              </a:rPr>
              <a:t> UART</a:t>
            </a:r>
            <a:endParaRPr dirty="0">
              <a:solidFill>
                <a:schemeClr val="tx1"/>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1.8. </a:t>
            </a:r>
            <a:r>
              <a:rPr lang="en-US" sz="1799" dirty="0" err="1">
                <a:solidFill>
                  <a:srgbClr val="A6A6A6"/>
                </a:solidFill>
                <a:latin typeface="Arial"/>
                <a:ea typeface="Arial"/>
                <a:cs typeface="Arial"/>
                <a:sym typeface="Arial"/>
              </a:rPr>
              <a:t>Chế</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tạo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thiết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bị</a:t>
            </a: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39833241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00"/>
        <p:cNvGrpSpPr/>
        <p:nvPr/>
      </p:nvGrpSpPr>
      <p:grpSpPr>
        <a:xfrm>
          <a:off x="0" y="0"/>
          <a:ext cx="0" cy="0"/>
          <a:chOff x="0" y="0"/>
          <a:chExt cx="0" cy="0"/>
        </a:xfrm>
      </p:grpSpPr>
      <p:sp>
        <p:nvSpPr>
          <p:cNvPr id="1901" name="Google Shape;1901;p101"/>
          <p:cNvSpPr/>
          <p:nvPr/>
        </p:nvSpPr>
        <p:spPr>
          <a:xfrm>
            <a:off x="416136" y="484176"/>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Chuẩn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giao</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tiếp</a:t>
            </a:r>
            <a:r>
              <a:rPr lang="en-US" sz="1799" b="1" dirty="0">
                <a:solidFill>
                  <a:schemeClr val="tx1"/>
                </a:solidFill>
                <a:latin typeface="Arial"/>
                <a:ea typeface="Arial"/>
                <a:cs typeface="Arial"/>
                <a:sym typeface="Arial"/>
              </a:rPr>
              <a:t> UART</a:t>
            </a:r>
            <a:endParaRPr dirty="0">
              <a:solidFill>
                <a:schemeClr val="tx1"/>
              </a:solidFill>
            </a:endParaRPr>
          </a:p>
        </p:txBody>
      </p:sp>
      <p:sp>
        <p:nvSpPr>
          <p:cNvPr id="1902" name="Google Shape;1902;p101"/>
          <p:cNvSpPr/>
          <p:nvPr/>
        </p:nvSpPr>
        <p:spPr>
          <a:xfrm>
            <a:off x="8674469" y="5200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903" name="Google Shape;1903;p101"/>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Chân UART của Raspberry Pi</a:t>
            </a:r>
            <a:endParaRPr/>
          </a:p>
        </p:txBody>
      </p:sp>
      <p:grpSp>
        <p:nvGrpSpPr>
          <p:cNvPr id="1904" name="Google Shape;1904;p101"/>
          <p:cNvGrpSpPr/>
          <p:nvPr/>
        </p:nvGrpSpPr>
        <p:grpSpPr>
          <a:xfrm>
            <a:off x="414349" y="1874520"/>
            <a:ext cx="5260903" cy="4411980"/>
            <a:chOff x="414349" y="1952632"/>
            <a:chExt cx="5260903" cy="4269275"/>
          </a:xfrm>
        </p:grpSpPr>
        <p:grpSp>
          <p:nvGrpSpPr>
            <p:cNvPr id="1905" name="Google Shape;1905;p101"/>
            <p:cNvGrpSpPr/>
            <p:nvPr/>
          </p:nvGrpSpPr>
          <p:grpSpPr>
            <a:xfrm>
              <a:off x="558806" y="2074458"/>
              <a:ext cx="5032507" cy="4147449"/>
              <a:chOff x="752020" y="2273232"/>
              <a:chExt cx="4527208" cy="3784672"/>
            </a:xfrm>
          </p:grpSpPr>
          <p:pic>
            <p:nvPicPr>
              <p:cNvPr id="1906" name="Google Shape;1906;p101"/>
              <p:cNvPicPr preferRelativeResize="0"/>
              <p:nvPr/>
            </p:nvPicPr>
            <p:blipFill rotWithShape="1">
              <a:blip r:embed="rId3">
                <a:alphaModFix/>
              </a:blip>
              <a:srcRect/>
              <a:stretch/>
            </p:blipFill>
            <p:spPr>
              <a:xfrm>
                <a:off x="752020" y="2273232"/>
                <a:ext cx="3739789" cy="3784672"/>
              </a:xfrm>
              <a:prstGeom prst="rect">
                <a:avLst/>
              </a:prstGeom>
              <a:noFill/>
              <a:ln>
                <a:noFill/>
              </a:ln>
            </p:spPr>
          </p:pic>
          <p:sp>
            <p:nvSpPr>
              <p:cNvPr id="1907" name="Google Shape;1907;p101"/>
              <p:cNvSpPr/>
              <p:nvPr/>
            </p:nvSpPr>
            <p:spPr>
              <a:xfrm rot="9039132">
                <a:off x="4519431" y="2625817"/>
                <a:ext cx="716724" cy="300392"/>
              </a:xfrm>
              <a:prstGeom prst="rightArrow">
                <a:avLst>
                  <a:gd name="adj1" fmla="val 50000"/>
                  <a:gd name="adj2" fmla="val 50000"/>
                </a:avLst>
              </a:prstGeom>
              <a:gradFill>
                <a:gsLst>
                  <a:gs pos="0">
                    <a:srgbClr val="193EB0">
                      <a:alpha val="0"/>
                    </a:srgbClr>
                  </a:gs>
                  <a:gs pos="100000">
                    <a:srgbClr val="193EB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Malgun Gothic"/>
                  <a:ea typeface="Malgun Gothic"/>
                  <a:cs typeface="Malgun Gothic"/>
                  <a:sym typeface="Malgun Gothic"/>
                </a:endParaRPr>
              </a:p>
            </p:txBody>
          </p:sp>
          <p:sp>
            <p:nvSpPr>
              <p:cNvPr id="1908" name="Google Shape;1908;p101"/>
              <p:cNvSpPr/>
              <p:nvPr/>
            </p:nvSpPr>
            <p:spPr>
              <a:xfrm rot="9039132">
                <a:off x="4534883" y="2894372"/>
                <a:ext cx="716724" cy="300392"/>
              </a:xfrm>
              <a:prstGeom prst="rightArrow">
                <a:avLst>
                  <a:gd name="adj1" fmla="val 50000"/>
                  <a:gd name="adj2" fmla="val 50000"/>
                </a:avLst>
              </a:prstGeom>
              <a:gradFill>
                <a:gsLst>
                  <a:gs pos="0">
                    <a:srgbClr val="193EB0">
                      <a:alpha val="0"/>
                    </a:srgbClr>
                  </a:gs>
                  <a:gs pos="100000">
                    <a:srgbClr val="193EB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Malgun Gothic"/>
                  <a:ea typeface="Malgun Gothic"/>
                  <a:cs typeface="Malgun Gothic"/>
                  <a:sym typeface="Malgun Gothic"/>
                </a:endParaRPr>
              </a:p>
            </p:txBody>
          </p:sp>
        </p:grpSp>
        <p:sp>
          <p:nvSpPr>
            <p:cNvPr id="1909" name="Google Shape;1909;p101"/>
            <p:cNvSpPr/>
            <p:nvPr/>
          </p:nvSpPr>
          <p:spPr>
            <a:xfrm>
              <a:off x="414349" y="1952632"/>
              <a:ext cx="5260903" cy="4269272"/>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1910" name="Google Shape;1910;p101"/>
            <p:cNvSpPr/>
            <p:nvPr/>
          </p:nvSpPr>
          <p:spPr>
            <a:xfrm>
              <a:off x="2619215" y="2774207"/>
              <a:ext cx="2154263" cy="464951"/>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15"/>
        <p:cNvGrpSpPr/>
        <p:nvPr/>
      </p:nvGrpSpPr>
      <p:grpSpPr>
        <a:xfrm>
          <a:off x="0" y="0"/>
          <a:ext cx="0" cy="0"/>
          <a:chOff x="0" y="0"/>
          <a:chExt cx="0" cy="0"/>
        </a:xfrm>
      </p:grpSpPr>
      <p:sp>
        <p:nvSpPr>
          <p:cNvPr id="1916" name="Google Shape;1916;p102"/>
          <p:cNvSpPr/>
          <p:nvPr/>
        </p:nvSpPr>
        <p:spPr>
          <a:xfrm>
            <a:off x="8674469" y="5200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917" name="Google Shape;1917;p102"/>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Nối Raspberry Pi với bo mạch Arduino Shield</a:t>
            </a:r>
            <a:endParaRPr/>
          </a:p>
        </p:txBody>
      </p:sp>
      <p:sp>
        <p:nvSpPr>
          <p:cNvPr id="1918" name="Google Shape;1918;p102"/>
          <p:cNvSpPr txBox="1"/>
          <p:nvPr/>
        </p:nvSpPr>
        <p:spPr>
          <a:xfrm>
            <a:off x="704865" y="4995009"/>
            <a:ext cx="3049232" cy="1252857"/>
          </a:xfrm>
          <a:prstGeom prst="rect">
            <a:avLst/>
          </a:prstGeom>
          <a:noFill/>
          <a:ln>
            <a:noFill/>
          </a:ln>
        </p:spPr>
        <p:txBody>
          <a:bodyPr spcFirstLastPara="1" wrap="square" lIns="0" tIns="71975" rIns="143950" bIns="71975" anchor="t" anchorCtr="0">
            <a:spAutoFit/>
          </a:bodyPr>
          <a:lstStyle/>
          <a:p>
            <a:pPr marL="182526" marR="0" lvl="0" indent="-182526"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Raspberry Pi 8 (Tx)  Arduino 10 (Rx)</a:t>
            </a:r>
            <a:endParaRPr/>
          </a:p>
          <a:p>
            <a:pPr marL="182526" marR="0" lvl="0" indent="-182526" algn="l" rtl="0">
              <a:spcBef>
                <a:spcPts val="800"/>
              </a:spcBef>
              <a:spcAft>
                <a:spcPts val="0"/>
              </a:spcAft>
              <a:buClr>
                <a:srgbClr val="193EB0"/>
              </a:buClr>
              <a:buSzPts val="1299"/>
              <a:buFont typeface="Arial"/>
              <a:buChar char="‣"/>
            </a:pPr>
            <a:r>
              <a:rPr lang="en-US" sz="1299">
                <a:solidFill>
                  <a:srgbClr val="262626"/>
                </a:solidFill>
                <a:latin typeface="Arial"/>
                <a:ea typeface="Arial"/>
                <a:cs typeface="Arial"/>
                <a:sym typeface="Arial"/>
              </a:rPr>
              <a:t>Raspberry Pi 10 (Rx)  Arduino 11 (Tx)</a:t>
            </a:r>
            <a:endParaRPr/>
          </a:p>
          <a:p>
            <a:pPr marL="182526" marR="0" lvl="0" indent="-182526" algn="l" rtl="0">
              <a:spcBef>
                <a:spcPts val="800"/>
              </a:spcBef>
              <a:spcAft>
                <a:spcPts val="0"/>
              </a:spcAft>
              <a:buClr>
                <a:srgbClr val="193EB0"/>
              </a:buClr>
              <a:buSzPts val="1299"/>
              <a:buFont typeface="Arial"/>
              <a:buChar char="‣"/>
            </a:pPr>
            <a:r>
              <a:rPr lang="en-US" sz="1299">
                <a:solidFill>
                  <a:srgbClr val="262626"/>
                </a:solidFill>
                <a:latin typeface="Arial"/>
                <a:ea typeface="Arial"/>
                <a:cs typeface="Arial"/>
                <a:sym typeface="Arial"/>
              </a:rPr>
              <a:t>Raspberry Pi 5V  Arduino 5V</a:t>
            </a:r>
            <a:endParaRPr/>
          </a:p>
          <a:p>
            <a:pPr marL="182526" marR="0" lvl="0" indent="-182526" algn="l" rtl="0">
              <a:spcBef>
                <a:spcPts val="800"/>
              </a:spcBef>
              <a:spcAft>
                <a:spcPts val="0"/>
              </a:spcAft>
              <a:buClr>
                <a:srgbClr val="193EB0"/>
              </a:buClr>
              <a:buSzPts val="1299"/>
              <a:buFont typeface="Arial"/>
              <a:buChar char="‣"/>
            </a:pPr>
            <a:r>
              <a:rPr lang="en-US" sz="1299">
                <a:solidFill>
                  <a:srgbClr val="262626"/>
                </a:solidFill>
                <a:latin typeface="Arial"/>
                <a:ea typeface="Arial"/>
                <a:cs typeface="Arial"/>
                <a:sym typeface="Arial"/>
              </a:rPr>
              <a:t>Raspberry Pi GND  Arduino GND</a:t>
            </a:r>
            <a:endParaRPr/>
          </a:p>
        </p:txBody>
      </p:sp>
      <p:grpSp>
        <p:nvGrpSpPr>
          <p:cNvPr id="1919" name="Google Shape;1919;p102"/>
          <p:cNvGrpSpPr/>
          <p:nvPr/>
        </p:nvGrpSpPr>
        <p:grpSpPr>
          <a:xfrm>
            <a:off x="566745" y="1952634"/>
            <a:ext cx="6906924" cy="3511910"/>
            <a:chOff x="414345" y="1952634"/>
            <a:chExt cx="6906924" cy="3511910"/>
          </a:xfrm>
        </p:grpSpPr>
        <p:pic>
          <p:nvPicPr>
            <p:cNvPr id="1920" name="Google Shape;1920;p102"/>
            <p:cNvPicPr preferRelativeResize="0"/>
            <p:nvPr/>
          </p:nvPicPr>
          <p:blipFill rotWithShape="1">
            <a:blip r:embed="rId3">
              <a:alphaModFix/>
            </a:blip>
            <a:srcRect/>
            <a:stretch/>
          </p:blipFill>
          <p:spPr>
            <a:xfrm>
              <a:off x="481411" y="2097165"/>
              <a:ext cx="2711072" cy="2743608"/>
            </a:xfrm>
            <a:prstGeom prst="rect">
              <a:avLst/>
            </a:prstGeom>
            <a:noFill/>
            <a:ln>
              <a:noFill/>
            </a:ln>
          </p:spPr>
        </p:pic>
        <p:pic>
          <p:nvPicPr>
            <p:cNvPr id="1921" name="Google Shape;1921;p102"/>
            <p:cNvPicPr preferRelativeResize="0"/>
            <p:nvPr/>
          </p:nvPicPr>
          <p:blipFill rotWithShape="1">
            <a:blip r:embed="rId4">
              <a:alphaModFix/>
            </a:blip>
            <a:srcRect/>
            <a:stretch/>
          </p:blipFill>
          <p:spPr>
            <a:xfrm rot="-5400000">
              <a:off x="4108613" y="2251889"/>
              <a:ext cx="3229337" cy="3195974"/>
            </a:xfrm>
            <a:prstGeom prst="rect">
              <a:avLst/>
            </a:prstGeom>
            <a:noFill/>
            <a:ln>
              <a:noFill/>
            </a:ln>
          </p:spPr>
        </p:pic>
        <p:cxnSp>
          <p:nvCxnSpPr>
            <p:cNvPr id="1922" name="Google Shape;1922;p102"/>
            <p:cNvCxnSpPr/>
            <p:nvPr/>
          </p:nvCxnSpPr>
          <p:spPr>
            <a:xfrm>
              <a:off x="3192483" y="2858353"/>
              <a:ext cx="1105897" cy="1302940"/>
            </a:xfrm>
            <a:prstGeom prst="straightConnector1">
              <a:avLst/>
            </a:prstGeom>
            <a:noFill/>
            <a:ln w="57150" cap="flat" cmpd="sng">
              <a:solidFill>
                <a:srgbClr val="0070C0"/>
              </a:solidFill>
              <a:prstDash val="solid"/>
              <a:miter lim="800000"/>
              <a:headEnd type="none" w="sm" len="sm"/>
              <a:tailEnd type="none" w="sm" len="sm"/>
            </a:ln>
          </p:spPr>
        </p:cxnSp>
        <p:cxnSp>
          <p:nvCxnSpPr>
            <p:cNvPr id="1923" name="Google Shape;1923;p102"/>
            <p:cNvCxnSpPr/>
            <p:nvPr/>
          </p:nvCxnSpPr>
          <p:spPr>
            <a:xfrm>
              <a:off x="3201151" y="2977682"/>
              <a:ext cx="1105897" cy="1302940"/>
            </a:xfrm>
            <a:prstGeom prst="straightConnector1">
              <a:avLst/>
            </a:prstGeom>
            <a:noFill/>
            <a:ln w="57150" cap="flat" cmpd="sng">
              <a:solidFill>
                <a:srgbClr val="FF6600"/>
              </a:solidFill>
              <a:prstDash val="solid"/>
              <a:miter lim="800000"/>
              <a:headEnd type="none" w="sm" len="sm"/>
              <a:tailEnd type="none" w="sm" len="sm"/>
            </a:ln>
          </p:spPr>
        </p:cxnSp>
        <p:cxnSp>
          <p:nvCxnSpPr>
            <p:cNvPr id="1924" name="Google Shape;1924;p102"/>
            <p:cNvCxnSpPr/>
            <p:nvPr/>
          </p:nvCxnSpPr>
          <p:spPr>
            <a:xfrm>
              <a:off x="3217232" y="2739024"/>
              <a:ext cx="1137799" cy="402577"/>
            </a:xfrm>
            <a:prstGeom prst="straightConnector1">
              <a:avLst/>
            </a:prstGeom>
            <a:noFill/>
            <a:ln w="57150" cap="flat" cmpd="sng">
              <a:solidFill>
                <a:schemeClr val="dk1"/>
              </a:solidFill>
              <a:prstDash val="solid"/>
              <a:miter lim="800000"/>
              <a:headEnd type="none" w="sm" len="sm"/>
              <a:tailEnd type="none" w="sm" len="sm"/>
            </a:ln>
          </p:spPr>
        </p:cxnSp>
        <p:cxnSp>
          <p:nvCxnSpPr>
            <p:cNvPr id="1925" name="Google Shape;1925;p102"/>
            <p:cNvCxnSpPr/>
            <p:nvPr/>
          </p:nvCxnSpPr>
          <p:spPr>
            <a:xfrm>
              <a:off x="3214908" y="2498771"/>
              <a:ext cx="1310071" cy="611334"/>
            </a:xfrm>
            <a:prstGeom prst="straightConnector1">
              <a:avLst/>
            </a:prstGeom>
            <a:noFill/>
            <a:ln w="57150" cap="flat" cmpd="sng">
              <a:solidFill>
                <a:srgbClr val="FF0000"/>
              </a:solidFill>
              <a:prstDash val="solid"/>
              <a:miter lim="800000"/>
              <a:headEnd type="none" w="sm" len="sm"/>
              <a:tailEnd type="none" w="sm" len="sm"/>
            </a:ln>
          </p:spPr>
        </p:cxnSp>
        <p:sp>
          <p:nvSpPr>
            <p:cNvPr id="1926" name="Google Shape;1926;p102"/>
            <p:cNvSpPr/>
            <p:nvPr/>
          </p:nvSpPr>
          <p:spPr>
            <a:xfrm>
              <a:off x="414345" y="1952634"/>
              <a:ext cx="2800557" cy="2918547"/>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1927" name="Google Shape;1927;p102"/>
          <p:cNvSpPr/>
          <p:nvPr/>
        </p:nvSpPr>
        <p:spPr>
          <a:xfrm>
            <a:off x="416136" y="484176"/>
            <a:ext cx="5824317" cy="276871"/>
          </a:xfrm>
          <a:prstGeom prst="rect">
            <a:avLst/>
          </a:prstGeom>
          <a:noFill/>
          <a:ln>
            <a:noFill/>
          </a:ln>
        </p:spPr>
        <p:txBody>
          <a:bodyPr spcFirstLastPara="1" wrap="square" lIns="0" tIns="0" rIns="0" bIns="0" anchor="t" anchorCtr="0">
            <a:spAutoFit/>
          </a:bodyPr>
          <a:lstStyle/>
          <a:p>
            <a:pPr lvl="0"/>
            <a:r>
              <a:rPr lang="en-US" sz="1799" b="1" dirty="0" err="1">
                <a:solidFill>
                  <a:schemeClr val="tx1"/>
                </a:solidFill>
              </a:rPr>
              <a:t>Chuẩn</a:t>
            </a:r>
            <a:r>
              <a:rPr lang="en-US" sz="1799" b="1" dirty="0">
                <a:solidFill>
                  <a:schemeClr val="tx1"/>
                </a:solidFill>
              </a:rPr>
              <a:t> </a:t>
            </a:r>
            <a:r>
              <a:rPr lang="en-US" sz="1799" b="1" dirty="0" err="1">
                <a:solidFill>
                  <a:schemeClr val="tx1"/>
                </a:solidFill>
              </a:rPr>
              <a:t>giao</a:t>
            </a:r>
            <a:r>
              <a:rPr lang="en-US" sz="1799" b="1" dirty="0">
                <a:solidFill>
                  <a:schemeClr val="tx1"/>
                </a:solidFill>
              </a:rPr>
              <a:t> </a:t>
            </a:r>
            <a:r>
              <a:rPr lang="en-US" sz="1799" b="1" dirty="0" err="1">
                <a:solidFill>
                  <a:schemeClr val="tx1"/>
                </a:solidFill>
              </a:rPr>
              <a:t>tiếp</a:t>
            </a:r>
            <a:r>
              <a:rPr lang="en-US" sz="1799" b="1" dirty="0">
                <a:solidFill>
                  <a:schemeClr val="tx1"/>
                </a:solidFill>
              </a:rPr>
              <a:t> UART</a:t>
            </a:r>
            <a:endParaRPr lang="en-US" sz="1800"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C6748D40-8AD5-C498-2C8A-376C88C89420}"/>
            </a:ext>
          </a:extLst>
        </p:cNvPr>
        <p:cNvGrpSpPr/>
        <p:nvPr/>
      </p:nvGrpSpPr>
      <p:grpSpPr>
        <a:xfrm>
          <a:off x="0" y="0"/>
          <a:ext cx="0" cy="0"/>
          <a:chOff x="0" y="0"/>
          <a:chExt cx="0" cy="0"/>
        </a:xfrm>
      </p:grpSpPr>
      <p:sp>
        <p:nvSpPr>
          <p:cNvPr id="1027" name="Google Shape;1027;p61">
            <a:extLst>
              <a:ext uri="{FF2B5EF4-FFF2-40B4-BE49-F238E27FC236}">
                <a16:creationId xmlns:a16="http://schemas.microsoft.com/office/drawing/2014/main" id="{0D4BBC90-5CFE-82AA-E4F1-35035781564A}"/>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latin typeface="Arial"/>
                <a:ea typeface="Arial"/>
                <a:cs typeface="Arial"/>
                <a:sym typeface="Arial"/>
              </a:rPr>
              <a:t>Tìm</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hiểu</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về</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mạch</a:t>
            </a:r>
            <a:r>
              <a:rPr lang="en-US" sz="3600" b="1" dirty="0">
                <a:solidFill>
                  <a:schemeClr val="dk1"/>
                </a:solidFill>
                <a:latin typeface="Arial"/>
                <a:ea typeface="Arial"/>
                <a:cs typeface="Arial"/>
                <a:sym typeface="Arial"/>
              </a:rPr>
              <a:t> </a:t>
            </a:r>
            <a:r>
              <a:rPr lang="en-US" sz="3600" b="1" dirty="0" err="1">
                <a:solidFill>
                  <a:schemeClr val="dk1"/>
                </a:solidFill>
                <a:latin typeface="Arial"/>
                <a:ea typeface="Arial"/>
                <a:cs typeface="Arial"/>
                <a:sym typeface="Arial"/>
              </a:rPr>
              <a:t>điện</a:t>
            </a:r>
            <a:endParaRPr sz="3600" b="1" dirty="0">
              <a:solidFill>
                <a:schemeClr val="dk1"/>
              </a:solidFill>
              <a:latin typeface="Arial"/>
              <a:ea typeface="Arial"/>
              <a:cs typeface="Arial"/>
              <a:sym typeface="Arial"/>
            </a:endParaRPr>
          </a:p>
        </p:txBody>
      </p:sp>
      <p:sp>
        <p:nvSpPr>
          <p:cNvPr id="1028" name="Google Shape;1028;p61">
            <a:extLst>
              <a:ext uri="{FF2B5EF4-FFF2-40B4-BE49-F238E27FC236}">
                <a16:creationId xmlns:a16="http://schemas.microsoft.com/office/drawing/2014/main" id="{6BE49F98-948C-C849-293F-7F3EA01B18F1}"/>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1.</a:t>
            </a:r>
            <a:endParaRPr dirty="0"/>
          </a:p>
        </p:txBody>
      </p:sp>
      <p:sp>
        <p:nvSpPr>
          <p:cNvPr id="1029" name="Google Shape;1029;p61">
            <a:extLst>
              <a:ext uri="{FF2B5EF4-FFF2-40B4-BE49-F238E27FC236}">
                <a16:creationId xmlns:a16="http://schemas.microsoft.com/office/drawing/2014/main" id="{F097152D-8B72-281F-139C-530D376DD2D8}"/>
              </a:ext>
            </a:extLst>
          </p:cNvPr>
          <p:cNvSpPr/>
          <p:nvPr/>
        </p:nvSpPr>
        <p:spPr>
          <a:xfrm>
            <a:off x="1054120" y="4003785"/>
            <a:ext cx="3897300" cy="176907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1</a:t>
            </a:r>
            <a:r>
              <a:rPr lang="en-US" sz="1799" dirty="0">
                <a:solidFill>
                  <a:schemeClr val="bg1">
                    <a:lumMod val="65000"/>
                  </a:schemeClr>
                </a:solidFill>
                <a:latin typeface="Arial"/>
                <a:ea typeface="Arial"/>
                <a:cs typeface="Arial"/>
                <a:sym typeface="Arial"/>
              </a:rPr>
              <a:t>.1. </a:t>
            </a:r>
            <a:r>
              <a:rPr lang="en-US" sz="1799" dirty="0" err="1">
                <a:solidFill>
                  <a:schemeClr val="bg1">
                    <a:lumMod val="65000"/>
                  </a:schemeClr>
                </a:solidFill>
                <a:latin typeface="Arial"/>
                <a:ea typeface="Arial"/>
                <a:cs typeface="Arial"/>
                <a:sym typeface="Arial"/>
              </a:rPr>
              <a:t>Đầu</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vào</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số</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và</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mạch</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điện</a:t>
            </a:r>
            <a:r>
              <a:rPr lang="en-US" sz="1799" dirty="0">
                <a:solidFill>
                  <a:schemeClr val="bg1">
                    <a:lumMod val="65000"/>
                  </a:schemeClr>
                </a:solidFill>
                <a:latin typeface="Arial"/>
                <a:ea typeface="Arial"/>
                <a:cs typeface="Arial"/>
                <a:sym typeface="Arial"/>
              </a:rPr>
              <a:t>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chemeClr val="bg1">
                    <a:lumMod val="65000"/>
                  </a:schemeClr>
                </a:solidFill>
                <a:latin typeface="Arial"/>
                <a:ea typeface="Arial"/>
                <a:cs typeface="Arial"/>
                <a:sym typeface="Arial"/>
              </a:rPr>
              <a:t>1.2. </a:t>
            </a:r>
            <a:r>
              <a:rPr lang="en-US" sz="1799" dirty="0" err="1">
                <a:solidFill>
                  <a:schemeClr val="bg1">
                    <a:lumMod val="65000"/>
                  </a:schemeClr>
                </a:solidFill>
                <a:latin typeface="Arial"/>
                <a:ea typeface="Arial"/>
                <a:cs typeface="Arial"/>
                <a:sym typeface="Arial"/>
              </a:rPr>
              <a:t>Đèn</a:t>
            </a:r>
            <a:r>
              <a:rPr lang="en-US" sz="1799" dirty="0">
                <a:solidFill>
                  <a:schemeClr val="bg1">
                    <a:lumMod val="65000"/>
                  </a:schemeClr>
                </a:solidFill>
                <a:latin typeface="Arial"/>
                <a:ea typeface="Arial"/>
                <a:cs typeface="Arial"/>
                <a:sym typeface="Arial"/>
              </a:rPr>
              <a:t> LED </a:t>
            </a:r>
            <a:endParaRPr dirty="0">
              <a:solidFill>
                <a:schemeClr val="bg1">
                  <a:lumMod val="65000"/>
                </a:schemeClr>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1.3.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siêu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âm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1.4. </a:t>
            </a:r>
            <a:r>
              <a:rPr lang="en-US" sz="1799" dirty="0" err="1">
                <a:solidFill>
                  <a:srgbClr val="A6A6A6"/>
                </a:solidFill>
                <a:latin typeface="Arial"/>
                <a:ea typeface="Arial"/>
                <a:cs typeface="Arial"/>
                <a:sym typeface="Arial"/>
              </a:rPr>
              <a:t>Màn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hình</a:t>
            </a:r>
            <a:r>
              <a:rPr lang="en-US" sz="1799" dirty="0">
                <a:solidFill>
                  <a:srgbClr val="A6A6A6"/>
                </a:solidFill>
                <a:latin typeface="Arial"/>
                <a:ea typeface="Arial"/>
                <a:cs typeface="Arial"/>
                <a:sym typeface="Arial"/>
              </a:rPr>
              <a:t> 7 </a:t>
            </a:r>
            <a:r>
              <a:rPr lang="en-US" sz="1799" dirty="0" err="1">
                <a:solidFill>
                  <a:srgbClr val="A6A6A6"/>
                </a:solidFill>
                <a:latin typeface="Arial"/>
                <a:ea typeface="Arial"/>
                <a:cs typeface="Arial"/>
                <a:sym typeface="Arial"/>
              </a:rPr>
              <a:t>đoạn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đèn</a:t>
            </a:r>
            <a:r>
              <a:rPr lang="en-US" sz="1799" dirty="0">
                <a:solidFill>
                  <a:srgbClr val="A6A6A6"/>
                </a:solidFill>
                <a:latin typeface="Arial"/>
                <a:ea typeface="Arial"/>
                <a:cs typeface="Arial"/>
                <a:sym typeface="Arial"/>
              </a:rPr>
              <a:t> LED 4 </a:t>
            </a:r>
            <a:r>
              <a:rPr lang="en-US" sz="1799" dirty="0" err="1">
                <a:solidFill>
                  <a:srgbClr val="A6A6A6"/>
                </a:solidFill>
                <a:latin typeface="Arial"/>
                <a:ea typeface="Arial"/>
                <a:cs typeface="Arial"/>
                <a:sym typeface="Arial"/>
              </a:rPr>
              <a:t>số</a:t>
            </a:r>
            <a:r>
              <a:rPr lang="en-US" sz="1799" dirty="0">
                <a:solidFill>
                  <a:srgbClr val="A6A6A6"/>
                </a:solidFill>
                <a:latin typeface="Arial"/>
                <a:ea typeface="Arial"/>
                <a:cs typeface="Arial"/>
                <a:sym typeface="Arial"/>
              </a:rPr>
              <a:t>)</a:t>
            </a:r>
            <a:endParaRPr dirty="0"/>
          </a:p>
        </p:txBody>
      </p:sp>
      <p:sp>
        <p:nvSpPr>
          <p:cNvPr id="1030" name="Google Shape;1030;p61">
            <a:extLst>
              <a:ext uri="{FF2B5EF4-FFF2-40B4-BE49-F238E27FC236}">
                <a16:creationId xmlns:a16="http://schemas.microsoft.com/office/drawing/2014/main" id="{7B0F59CD-4567-AA1D-DC7F-357EB1C133D5}"/>
              </a:ext>
            </a:extLst>
          </p:cNvPr>
          <p:cNvSpPr/>
          <p:nvPr/>
        </p:nvSpPr>
        <p:spPr>
          <a:xfrm>
            <a:off x="5162257" y="4003785"/>
            <a:ext cx="3897300" cy="1492203"/>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1.5.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nhiệt</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độ-độ</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ẩm</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1.6. </a:t>
            </a:r>
            <a:r>
              <a:rPr lang="en-US" sz="1799" dirty="0" err="1">
                <a:solidFill>
                  <a:srgbClr val="A6A6A6"/>
                </a:solidFill>
                <a:latin typeface="Arial"/>
                <a:ea typeface="Arial"/>
                <a:cs typeface="Arial"/>
                <a:sym typeface="Arial"/>
              </a:rPr>
              <a:t>Lập</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trình</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điều</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khiển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chính</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1.7. </a:t>
            </a:r>
            <a:r>
              <a:rPr lang="en-US" sz="1799" dirty="0" err="1">
                <a:solidFill>
                  <a:srgbClr val="A6A6A6"/>
                </a:solidFill>
                <a:latin typeface="Arial"/>
                <a:ea typeface="Arial"/>
                <a:cs typeface="Arial"/>
                <a:sym typeface="Arial"/>
              </a:rPr>
              <a:t>Chuẩn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giao</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tiếp</a:t>
            </a:r>
            <a:r>
              <a:rPr lang="en-US" sz="1799" dirty="0">
                <a:solidFill>
                  <a:srgbClr val="A6A6A6"/>
                </a:solidFill>
                <a:latin typeface="Arial"/>
                <a:ea typeface="Arial"/>
                <a:cs typeface="Arial"/>
                <a:sym typeface="Arial"/>
              </a:rPr>
              <a:t> UART</a:t>
            </a:r>
            <a:endParaRPr dirty="0"/>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1.8. </a:t>
            </a:r>
            <a:r>
              <a:rPr lang="en-US" sz="1799" dirty="0" err="1">
                <a:solidFill>
                  <a:schemeClr val="tx1"/>
                </a:solidFill>
                <a:latin typeface="Arial"/>
                <a:ea typeface="Arial"/>
                <a:cs typeface="Arial"/>
                <a:sym typeface="Arial"/>
              </a:rPr>
              <a:t>Chế</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tạo</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thiết</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bị</a:t>
            </a:r>
            <a:endParaRPr sz="1799"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952288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941"/>
        <p:cNvGrpSpPr/>
        <p:nvPr/>
      </p:nvGrpSpPr>
      <p:grpSpPr>
        <a:xfrm>
          <a:off x="0" y="0"/>
          <a:ext cx="0" cy="0"/>
          <a:chOff x="0" y="0"/>
          <a:chExt cx="0" cy="0"/>
        </a:xfrm>
      </p:grpSpPr>
      <p:sp>
        <p:nvSpPr>
          <p:cNvPr id="1942" name="Google Shape;1942;p104"/>
          <p:cNvSpPr/>
          <p:nvPr/>
        </p:nvSpPr>
        <p:spPr>
          <a:xfrm>
            <a:off x="416136" y="484176"/>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Chế</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tạo</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thiết</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bị</a:t>
            </a:r>
            <a:endParaRPr sz="1799" b="1" dirty="0">
              <a:solidFill>
                <a:schemeClr val="tx1"/>
              </a:solidFill>
              <a:latin typeface="Arial"/>
              <a:ea typeface="Arial"/>
              <a:cs typeface="Arial"/>
              <a:sym typeface="Arial"/>
            </a:endParaRPr>
          </a:p>
        </p:txBody>
      </p:sp>
      <p:sp>
        <p:nvSpPr>
          <p:cNvPr id="1943" name="Google Shape;1943;p104"/>
          <p:cNvSpPr/>
          <p:nvPr/>
        </p:nvSpPr>
        <p:spPr>
          <a:xfrm>
            <a:off x="8674469" y="5200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944" name="Google Shape;1944;p104"/>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err="1">
                <a:solidFill>
                  <a:srgbClr val="0C0C0C"/>
                </a:solidFill>
              </a:rPr>
              <a:t>Quá</a:t>
            </a:r>
            <a:r>
              <a:rPr lang="en-US" sz="2401" b="1" dirty="0">
                <a:solidFill>
                  <a:srgbClr val="0C0C0C"/>
                </a:solidFill>
              </a:rPr>
              <a:t> </a:t>
            </a:r>
            <a:r>
              <a:rPr lang="en-US" sz="2401" b="1" dirty="0" err="1">
                <a:solidFill>
                  <a:srgbClr val="0C0C0C"/>
                </a:solidFill>
              </a:rPr>
              <a:t>trình</a:t>
            </a:r>
            <a:r>
              <a:rPr lang="en-US" sz="2401" b="1" dirty="0">
                <a:solidFill>
                  <a:srgbClr val="0C0C0C"/>
                </a:solidFill>
              </a:rPr>
              <a:t> </a:t>
            </a:r>
            <a:r>
              <a:rPr lang="en-US" sz="2401" b="1" dirty="0" err="1">
                <a:solidFill>
                  <a:srgbClr val="0C0C0C"/>
                </a:solidFill>
              </a:rPr>
              <a:t>c</a:t>
            </a:r>
            <a:r>
              <a:rPr lang="en-US" sz="2401" b="1" dirty="0" err="1">
                <a:solidFill>
                  <a:srgbClr val="0C0C0C"/>
                </a:solidFill>
                <a:latin typeface="Arial"/>
                <a:ea typeface="Arial"/>
                <a:cs typeface="Arial"/>
                <a:sym typeface="Arial"/>
              </a:rPr>
              <a:t>hế</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tạo</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thiết</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bị</a:t>
            </a:r>
            <a:endParaRPr sz="2401" b="1" dirty="0">
              <a:solidFill>
                <a:srgbClr val="0C0C0C"/>
              </a:solidFill>
              <a:latin typeface="Arial"/>
              <a:ea typeface="Arial"/>
              <a:cs typeface="Arial"/>
              <a:sym typeface="Arial"/>
            </a:endParaRPr>
          </a:p>
        </p:txBody>
      </p:sp>
      <p:grpSp>
        <p:nvGrpSpPr>
          <p:cNvPr id="1945" name="Google Shape;1945;p104"/>
          <p:cNvGrpSpPr/>
          <p:nvPr/>
        </p:nvGrpSpPr>
        <p:grpSpPr>
          <a:xfrm>
            <a:off x="707137" y="2235200"/>
            <a:ext cx="8673971" cy="3824292"/>
            <a:chOff x="707137" y="2235200"/>
            <a:chExt cx="8673971" cy="3824292"/>
          </a:xfrm>
        </p:grpSpPr>
        <p:sp>
          <p:nvSpPr>
            <p:cNvPr id="1946" name="Google Shape;1946;p104"/>
            <p:cNvSpPr/>
            <p:nvPr/>
          </p:nvSpPr>
          <p:spPr>
            <a:xfrm>
              <a:off x="707137" y="2235200"/>
              <a:ext cx="2110115" cy="405652"/>
            </a:xfrm>
            <a:prstGeom prst="rect">
              <a:avLst/>
            </a:prstGeom>
            <a:solidFill>
              <a:srgbClr val="D8D8D8"/>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Lên ý tưởng</a:t>
              </a:r>
              <a:endParaRPr/>
            </a:p>
          </p:txBody>
        </p:sp>
        <p:sp>
          <p:nvSpPr>
            <p:cNvPr id="1947" name="Google Shape;1947;p104"/>
            <p:cNvSpPr/>
            <p:nvPr/>
          </p:nvSpPr>
          <p:spPr>
            <a:xfrm>
              <a:off x="707899" y="2804973"/>
              <a:ext cx="2108591" cy="405652"/>
            </a:xfrm>
            <a:prstGeom prst="rect">
              <a:avLst/>
            </a:prstGeom>
            <a:solidFill>
              <a:srgbClr val="D8D8D8"/>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Thiết kế dịch vụ</a:t>
              </a:r>
              <a:endParaRPr/>
            </a:p>
          </p:txBody>
        </p:sp>
        <p:sp>
          <p:nvSpPr>
            <p:cNvPr id="1948" name="Google Shape;1948;p104"/>
            <p:cNvSpPr/>
            <p:nvPr/>
          </p:nvSpPr>
          <p:spPr>
            <a:xfrm>
              <a:off x="707899" y="3374746"/>
              <a:ext cx="2108590" cy="405652"/>
            </a:xfrm>
            <a:prstGeom prst="rect">
              <a:avLst/>
            </a:prstGeom>
            <a:solidFill>
              <a:srgbClr val="D8D8D8"/>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Tạo mẫu thử</a:t>
              </a:r>
              <a:endParaRPr/>
            </a:p>
          </p:txBody>
        </p:sp>
        <p:sp>
          <p:nvSpPr>
            <p:cNvPr id="1949" name="Google Shape;1949;p104"/>
            <p:cNvSpPr/>
            <p:nvPr/>
          </p:nvSpPr>
          <p:spPr>
            <a:xfrm>
              <a:off x="707899" y="3944519"/>
              <a:ext cx="2108590" cy="405652"/>
            </a:xfrm>
            <a:prstGeom prst="rect">
              <a:avLst/>
            </a:prstGeom>
            <a:solidFill>
              <a:srgbClr val="D8D8D8"/>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Cấu hình phần cứng</a:t>
              </a:r>
              <a:endParaRPr/>
            </a:p>
          </p:txBody>
        </p:sp>
        <p:sp>
          <p:nvSpPr>
            <p:cNvPr id="1950" name="Google Shape;1950;p104"/>
            <p:cNvSpPr/>
            <p:nvPr/>
          </p:nvSpPr>
          <p:spPr>
            <a:xfrm>
              <a:off x="707899" y="4514292"/>
              <a:ext cx="2108590" cy="405652"/>
            </a:xfrm>
            <a:prstGeom prst="rect">
              <a:avLst/>
            </a:prstGeom>
            <a:solidFill>
              <a:srgbClr val="D8D8D8"/>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Cấu hình phần mềm</a:t>
              </a:r>
              <a:endParaRPr/>
            </a:p>
          </p:txBody>
        </p:sp>
        <p:sp>
          <p:nvSpPr>
            <p:cNvPr id="1951" name="Google Shape;1951;p104"/>
            <p:cNvSpPr/>
            <p:nvPr/>
          </p:nvSpPr>
          <p:spPr>
            <a:xfrm>
              <a:off x="707899" y="5084065"/>
              <a:ext cx="2108590" cy="405652"/>
            </a:xfrm>
            <a:prstGeom prst="rect">
              <a:avLst/>
            </a:prstGeom>
            <a:solidFill>
              <a:srgbClr val="D8D8D8"/>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In 3D</a:t>
              </a:r>
              <a:endParaRPr/>
            </a:p>
          </p:txBody>
        </p:sp>
        <p:sp>
          <p:nvSpPr>
            <p:cNvPr id="1952" name="Google Shape;1952;p104"/>
            <p:cNvSpPr/>
            <p:nvPr/>
          </p:nvSpPr>
          <p:spPr>
            <a:xfrm>
              <a:off x="707899" y="5653840"/>
              <a:ext cx="2108590" cy="405652"/>
            </a:xfrm>
            <a:prstGeom prst="rect">
              <a:avLst/>
            </a:prstGeom>
            <a:solidFill>
              <a:srgbClr val="D8D8D8"/>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Chia sẻ kết quả</a:t>
              </a:r>
              <a:endParaRPr/>
            </a:p>
          </p:txBody>
        </p:sp>
        <p:sp>
          <p:nvSpPr>
            <p:cNvPr id="1953" name="Google Shape;1953;p104"/>
            <p:cNvSpPr txBox="1"/>
            <p:nvPr/>
          </p:nvSpPr>
          <p:spPr>
            <a:xfrm>
              <a:off x="2991825" y="2317114"/>
              <a:ext cx="6374037" cy="27858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Bước đưa ra ý tưởng </a:t>
              </a:r>
              <a:endParaRPr/>
            </a:p>
          </p:txBody>
        </p:sp>
        <p:sp>
          <p:nvSpPr>
            <p:cNvPr id="1954" name="Google Shape;1954;p104"/>
            <p:cNvSpPr txBox="1"/>
            <p:nvPr/>
          </p:nvSpPr>
          <p:spPr>
            <a:xfrm>
              <a:off x="2991825" y="2807744"/>
              <a:ext cx="6374037" cy="433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Biến ý tưởng thành dịch vụ. Trong phần này, bên cạnh những gì quan sát được, cần lưu ý đến những giá trị sẽ mang lại cho người dùng cho dù bạn không nhìn thấy được.</a:t>
              </a:r>
              <a:endParaRPr/>
            </a:p>
          </p:txBody>
        </p:sp>
        <p:sp>
          <p:nvSpPr>
            <p:cNvPr id="1955" name="Google Shape;1955;p104"/>
            <p:cNvSpPr txBox="1"/>
            <p:nvPr/>
          </p:nvSpPr>
          <p:spPr>
            <a:xfrm>
              <a:off x="2991825" y="3358397"/>
              <a:ext cx="6374037" cy="433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Sắp xếp phần cứng dùng để tạo thành các khối, v.v. và nếu có ứng dụng di động sử dụng nó, vẽ hình ảnh về nó trên giấy.</a:t>
              </a:r>
              <a:endParaRPr/>
            </a:p>
          </p:txBody>
        </p:sp>
        <p:sp>
          <p:nvSpPr>
            <p:cNvPr id="1956" name="Google Shape;1956;p104"/>
            <p:cNvSpPr txBox="1"/>
            <p:nvPr/>
          </p:nvSpPr>
          <p:spPr>
            <a:xfrm>
              <a:off x="2991825" y="3921087"/>
              <a:ext cx="6374037" cy="4112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Sắp xếp những việc bạn muốn làm với phần cứng nguồn mở. Suy nghĩ về cách bố trí những cảm biến và phần cứng khác nhau, tính đến việc tạo mẫu thử và hình thức cuối cùng.</a:t>
              </a:r>
              <a:endParaRPr/>
            </a:p>
          </p:txBody>
        </p:sp>
        <p:sp>
          <p:nvSpPr>
            <p:cNvPr id="1957" name="Google Shape;1957;p104"/>
            <p:cNvSpPr txBox="1"/>
            <p:nvPr/>
          </p:nvSpPr>
          <p:spPr>
            <a:xfrm>
              <a:off x="3007071" y="4490147"/>
              <a:ext cx="6374037" cy="433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Bao gồm phần mềm để điều khiển phần cứng, phần mềm được sử dụng để điều khiển từ xa và cung cấp dịch vụ.</a:t>
              </a:r>
              <a:endParaRPr/>
            </a:p>
          </p:txBody>
        </p:sp>
        <p:sp>
          <p:nvSpPr>
            <p:cNvPr id="1958" name="Google Shape;1958;p104"/>
            <p:cNvSpPr txBox="1"/>
            <p:nvPr/>
          </p:nvSpPr>
          <p:spPr>
            <a:xfrm>
              <a:off x="2991825" y="5059955"/>
              <a:ext cx="6374037" cy="433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Thực thi mô hình 3D cho phần hình thức của sản phẩm sau khi Chế tạo và các linh kiện có thể hiển thị được. Sau đó, tiến hành in 3D theo kết quả và cuối cùng, hoàn thiện phần cứng.</a:t>
              </a:r>
              <a:endParaRPr/>
            </a:p>
          </p:txBody>
        </p:sp>
        <p:sp>
          <p:nvSpPr>
            <p:cNvPr id="1959" name="Google Shape;1959;p104"/>
            <p:cNvSpPr txBox="1"/>
            <p:nvPr/>
          </p:nvSpPr>
          <p:spPr>
            <a:xfrm>
              <a:off x="2972005" y="5653840"/>
              <a:ext cx="6374036" cy="366797"/>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Hoàn thiện và công bố sản phẩm. Nếu có ý định kinh doanh sản phẩm, hãy xem tiềm năng bán hàng của sản phẩm trên Social Fund.</a:t>
              </a:r>
              <a:endParaRPr/>
            </a:p>
          </p:txBody>
        </p:sp>
        <p:sp>
          <p:nvSpPr>
            <p:cNvPr id="1960" name="Google Shape;1960;p104"/>
            <p:cNvSpPr/>
            <p:nvPr/>
          </p:nvSpPr>
          <p:spPr>
            <a:xfrm>
              <a:off x="1654194" y="2654750"/>
              <a:ext cx="216000" cy="138818"/>
            </a:xfrm>
            <a:prstGeom prst="downArrow">
              <a:avLst>
                <a:gd name="adj1" fmla="val 50000"/>
                <a:gd name="adj2" fmla="val 50000"/>
              </a:avLst>
            </a:prstGeom>
            <a:gradFill>
              <a:gsLst>
                <a:gs pos="0">
                  <a:srgbClr val="0033CC">
                    <a:alpha val="0"/>
                  </a:srgbClr>
                </a:gs>
                <a:gs pos="6000">
                  <a:srgbClr val="0033CC">
                    <a:alpha val="0"/>
                  </a:srgbClr>
                </a:gs>
                <a:gs pos="91000">
                  <a:srgbClr val="0033CC"/>
                </a:gs>
                <a:gs pos="100000">
                  <a:srgbClr val="0033C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961" name="Google Shape;1961;p104"/>
            <p:cNvSpPr/>
            <p:nvPr/>
          </p:nvSpPr>
          <p:spPr>
            <a:xfrm>
              <a:off x="1654194" y="3216117"/>
              <a:ext cx="216000" cy="138818"/>
            </a:xfrm>
            <a:prstGeom prst="downArrow">
              <a:avLst>
                <a:gd name="adj1" fmla="val 50000"/>
                <a:gd name="adj2" fmla="val 50000"/>
              </a:avLst>
            </a:prstGeom>
            <a:gradFill>
              <a:gsLst>
                <a:gs pos="0">
                  <a:srgbClr val="0033CC">
                    <a:alpha val="0"/>
                  </a:srgbClr>
                </a:gs>
                <a:gs pos="6000">
                  <a:srgbClr val="0033CC">
                    <a:alpha val="0"/>
                  </a:srgbClr>
                </a:gs>
                <a:gs pos="91000">
                  <a:srgbClr val="0033CC"/>
                </a:gs>
                <a:gs pos="100000">
                  <a:srgbClr val="0033C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962" name="Google Shape;1962;p104"/>
            <p:cNvSpPr/>
            <p:nvPr/>
          </p:nvSpPr>
          <p:spPr>
            <a:xfrm>
              <a:off x="1654194" y="3783416"/>
              <a:ext cx="216000" cy="138818"/>
            </a:xfrm>
            <a:prstGeom prst="downArrow">
              <a:avLst>
                <a:gd name="adj1" fmla="val 50000"/>
                <a:gd name="adj2" fmla="val 50000"/>
              </a:avLst>
            </a:prstGeom>
            <a:gradFill>
              <a:gsLst>
                <a:gs pos="0">
                  <a:srgbClr val="0033CC">
                    <a:alpha val="0"/>
                  </a:srgbClr>
                </a:gs>
                <a:gs pos="6000">
                  <a:srgbClr val="0033CC">
                    <a:alpha val="0"/>
                  </a:srgbClr>
                </a:gs>
                <a:gs pos="91000">
                  <a:srgbClr val="0033CC"/>
                </a:gs>
                <a:gs pos="100000">
                  <a:srgbClr val="0033C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963" name="Google Shape;1963;p104"/>
            <p:cNvSpPr/>
            <p:nvPr/>
          </p:nvSpPr>
          <p:spPr>
            <a:xfrm>
              <a:off x="1654194" y="4341784"/>
              <a:ext cx="216000" cy="138818"/>
            </a:xfrm>
            <a:prstGeom prst="downArrow">
              <a:avLst>
                <a:gd name="adj1" fmla="val 50000"/>
                <a:gd name="adj2" fmla="val 50000"/>
              </a:avLst>
            </a:prstGeom>
            <a:gradFill>
              <a:gsLst>
                <a:gs pos="0">
                  <a:srgbClr val="0033CC">
                    <a:alpha val="0"/>
                  </a:srgbClr>
                </a:gs>
                <a:gs pos="6000">
                  <a:srgbClr val="0033CC">
                    <a:alpha val="0"/>
                  </a:srgbClr>
                </a:gs>
                <a:gs pos="91000">
                  <a:srgbClr val="0033CC"/>
                </a:gs>
                <a:gs pos="100000">
                  <a:srgbClr val="0033C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964" name="Google Shape;1964;p104"/>
            <p:cNvSpPr/>
            <p:nvPr/>
          </p:nvSpPr>
          <p:spPr>
            <a:xfrm>
              <a:off x="1654194" y="4910486"/>
              <a:ext cx="216000" cy="138818"/>
            </a:xfrm>
            <a:prstGeom prst="downArrow">
              <a:avLst>
                <a:gd name="adj1" fmla="val 50000"/>
                <a:gd name="adj2" fmla="val 50000"/>
              </a:avLst>
            </a:prstGeom>
            <a:gradFill>
              <a:gsLst>
                <a:gs pos="0">
                  <a:srgbClr val="0033CC">
                    <a:alpha val="0"/>
                  </a:srgbClr>
                </a:gs>
                <a:gs pos="6000">
                  <a:srgbClr val="0033CC">
                    <a:alpha val="0"/>
                  </a:srgbClr>
                </a:gs>
                <a:gs pos="91000">
                  <a:srgbClr val="0033CC"/>
                </a:gs>
                <a:gs pos="100000">
                  <a:srgbClr val="0033C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965" name="Google Shape;1965;p104"/>
            <p:cNvSpPr/>
            <p:nvPr/>
          </p:nvSpPr>
          <p:spPr>
            <a:xfrm>
              <a:off x="1654194" y="5485953"/>
              <a:ext cx="216000" cy="138818"/>
            </a:xfrm>
            <a:prstGeom prst="downArrow">
              <a:avLst>
                <a:gd name="adj1" fmla="val 50000"/>
                <a:gd name="adj2" fmla="val 50000"/>
              </a:avLst>
            </a:prstGeom>
            <a:gradFill>
              <a:gsLst>
                <a:gs pos="0">
                  <a:srgbClr val="0033CC">
                    <a:alpha val="0"/>
                  </a:srgbClr>
                </a:gs>
                <a:gs pos="6000">
                  <a:srgbClr val="0033CC">
                    <a:alpha val="0"/>
                  </a:srgbClr>
                </a:gs>
                <a:gs pos="91000">
                  <a:srgbClr val="0033CC"/>
                </a:gs>
                <a:gs pos="100000">
                  <a:srgbClr val="0033C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grpSp>
          <p:nvGrpSpPr>
            <p:cNvPr id="1966" name="Google Shape;1966;p104"/>
            <p:cNvGrpSpPr/>
            <p:nvPr/>
          </p:nvGrpSpPr>
          <p:grpSpPr>
            <a:xfrm>
              <a:off x="2810116" y="2699238"/>
              <a:ext cx="6509730" cy="2866292"/>
              <a:chOff x="2813538" y="2699238"/>
              <a:chExt cx="6506308" cy="2866292"/>
            </a:xfrm>
          </p:grpSpPr>
          <p:sp>
            <p:nvSpPr>
              <p:cNvPr id="1967" name="Google Shape;1967;p104"/>
              <p:cNvSpPr/>
              <p:nvPr/>
            </p:nvSpPr>
            <p:spPr>
              <a:xfrm>
                <a:off x="2813538" y="2699238"/>
                <a:ext cx="6506308" cy="0"/>
              </a:xfrm>
              <a:custGeom>
                <a:avLst/>
                <a:gdLst/>
                <a:ahLst/>
                <a:cxnLst/>
                <a:rect l="l" t="t" r="r" b="b"/>
                <a:pathLst>
                  <a:path w="6506308" h="120000" extrusionOk="0">
                    <a:moveTo>
                      <a:pt x="0" y="0"/>
                    </a:moveTo>
                    <a:lnTo>
                      <a:pt x="6506308" y="0"/>
                    </a:lnTo>
                  </a:path>
                </a:pathLst>
              </a:custGeom>
              <a:solidFill>
                <a:schemeClr val="lt1"/>
              </a:solidFill>
              <a:ln w="12700" cap="flat" cmpd="sng">
                <a:solidFill>
                  <a:srgbClr val="D9D9D9"/>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sp>
            <p:nvSpPr>
              <p:cNvPr id="1968" name="Google Shape;1968;p104"/>
              <p:cNvSpPr/>
              <p:nvPr/>
            </p:nvSpPr>
            <p:spPr>
              <a:xfrm>
                <a:off x="2813538" y="3288323"/>
                <a:ext cx="6506308" cy="0"/>
              </a:xfrm>
              <a:custGeom>
                <a:avLst/>
                <a:gdLst/>
                <a:ahLst/>
                <a:cxnLst/>
                <a:rect l="l" t="t" r="r" b="b"/>
                <a:pathLst>
                  <a:path w="6506308" h="120000" extrusionOk="0">
                    <a:moveTo>
                      <a:pt x="0" y="0"/>
                    </a:moveTo>
                    <a:lnTo>
                      <a:pt x="6506308" y="0"/>
                    </a:lnTo>
                  </a:path>
                </a:pathLst>
              </a:custGeom>
              <a:solidFill>
                <a:schemeClr val="lt1"/>
              </a:solidFill>
              <a:ln w="12700" cap="flat" cmpd="sng">
                <a:solidFill>
                  <a:srgbClr val="D9D9D9"/>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sp>
            <p:nvSpPr>
              <p:cNvPr id="1969" name="Google Shape;1969;p104"/>
              <p:cNvSpPr/>
              <p:nvPr/>
            </p:nvSpPr>
            <p:spPr>
              <a:xfrm>
                <a:off x="2813538" y="3842238"/>
                <a:ext cx="6506308" cy="0"/>
              </a:xfrm>
              <a:custGeom>
                <a:avLst/>
                <a:gdLst/>
                <a:ahLst/>
                <a:cxnLst/>
                <a:rect l="l" t="t" r="r" b="b"/>
                <a:pathLst>
                  <a:path w="6506308" h="120000" extrusionOk="0">
                    <a:moveTo>
                      <a:pt x="0" y="0"/>
                    </a:moveTo>
                    <a:lnTo>
                      <a:pt x="6506308" y="0"/>
                    </a:lnTo>
                  </a:path>
                </a:pathLst>
              </a:custGeom>
              <a:solidFill>
                <a:schemeClr val="lt1"/>
              </a:solidFill>
              <a:ln w="12700" cap="flat" cmpd="sng">
                <a:solidFill>
                  <a:srgbClr val="D9D9D9"/>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sp>
            <p:nvSpPr>
              <p:cNvPr id="1970" name="Google Shape;1970;p104"/>
              <p:cNvSpPr/>
              <p:nvPr/>
            </p:nvSpPr>
            <p:spPr>
              <a:xfrm>
                <a:off x="2813538" y="4422530"/>
                <a:ext cx="6506308" cy="0"/>
              </a:xfrm>
              <a:custGeom>
                <a:avLst/>
                <a:gdLst/>
                <a:ahLst/>
                <a:cxnLst/>
                <a:rect l="l" t="t" r="r" b="b"/>
                <a:pathLst>
                  <a:path w="6506308" h="120000" extrusionOk="0">
                    <a:moveTo>
                      <a:pt x="0" y="0"/>
                    </a:moveTo>
                    <a:lnTo>
                      <a:pt x="6506308" y="0"/>
                    </a:lnTo>
                  </a:path>
                </a:pathLst>
              </a:custGeom>
              <a:solidFill>
                <a:schemeClr val="lt1"/>
              </a:solidFill>
              <a:ln w="12700" cap="flat" cmpd="sng">
                <a:solidFill>
                  <a:srgbClr val="D9D9D9"/>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sp>
            <p:nvSpPr>
              <p:cNvPr id="1971" name="Google Shape;1971;p104"/>
              <p:cNvSpPr/>
              <p:nvPr/>
            </p:nvSpPr>
            <p:spPr>
              <a:xfrm>
                <a:off x="2813538" y="4985238"/>
                <a:ext cx="6506308" cy="0"/>
              </a:xfrm>
              <a:custGeom>
                <a:avLst/>
                <a:gdLst/>
                <a:ahLst/>
                <a:cxnLst/>
                <a:rect l="l" t="t" r="r" b="b"/>
                <a:pathLst>
                  <a:path w="6506308" h="120000" extrusionOk="0">
                    <a:moveTo>
                      <a:pt x="0" y="0"/>
                    </a:moveTo>
                    <a:lnTo>
                      <a:pt x="6506308" y="0"/>
                    </a:lnTo>
                  </a:path>
                </a:pathLst>
              </a:custGeom>
              <a:solidFill>
                <a:schemeClr val="lt1"/>
              </a:solidFill>
              <a:ln w="12700" cap="flat" cmpd="sng">
                <a:solidFill>
                  <a:srgbClr val="D9D9D9"/>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sp>
            <p:nvSpPr>
              <p:cNvPr id="1972" name="Google Shape;1972;p104"/>
              <p:cNvSpPr/>
              <p:nvPr/>
            </p:nvSpPr>
            <p:spPr>
              <a:xfrm>
                <a:off x="2813538" y="5565530"/>
                <a:ext cx="6506308" cy="0"/>
              </a:xfrm>
              <a:custGeom>
                <a:avLst/>
                <a:gdLst/>
                <a:ahLst/>
                <a:cxnLst/>
                <a:rect l="l" t="t" r="r" b="b"/>
                <a:pathLst>
                  <a:path w="6506308" h="120000" extrusionOk="0">
                    <a:moveTo>
                      <a:pt x="0" y="0"/>
                    </a:moveTo>
                    <a:lnTo>
                      <a:pt x="6506308" y="0"/>
                    </a:lnTo>
                  </a:path>
                </a:pathLst>
              </a:custGeom>
              <a:solidFill>
                <a:schemeClr val="lt1"/>
              </a:solidFill>
              <a:ln w="12700" cap="flat" cmpd="sng">
                <a:solidFill>
                  <a:srgbClr val="D9D9D9"/>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77"/>
        <p:cNvGrpSpPr/>
        <p:nvPr/>
      </p:nvGrpSpPr>
      <p:grpSpPr>
        <a:xfrm>
          <a:off x="0" y="0"/>
          <a:ext cx="0" cy="0"/>
          <a:chOff x="0" y="0"/>
          <a:chExt cx="0" cy="0"/>
        </a:xfrm>
      </p:grpSpPr>
      <p:pic>
        <p:nvPicPr>
          <p:cNvPr id="1978" name="Google Shape;1978;p105"/>
          <p:cNvPicPr preferRelativeResize="0"/>
          <p:nvPr/>
        </p:nvPicPr>
        <p:blipFill rotWithShape="1">
          <a:blip r:embed="rId3">
            <a:alphaModFix/>
          </a:blip>
          <a:srcRect l="2536" t="6648" r="965" b="3275"/>
          <a:stretch/>
        </p:blipFill>
        <p:spPr>
          <a:xfrm>
            <a:off x="3080597" y="2279648"/>
            <a:ext cx="3739303" cy="2086350"/>
          </a:xfrm>
          <a:prstGeom prst="rect">
            <a:avLst/>
          </a:prstGeom>
          <a:noFill/>
          <a:ln w="9525" cap="flat" cmpd="sng">
            <a:solidFill>
              <a:srgbClr val="7F7F7F"/>
            </a:solidFill>
            <a:prstDash val="solid"/>
            <a:round/>
            <a:headEnd type="none" w="sm" len="sm"/>
            <a:tailEnd type="none" w="sm" len="sm"/>
          </a:ln>
        </p:spPr>
      </p:pic>
      <p:sp>
        <p:nvSpPr>
          <p:cNvPr id="1979" name="Google Shape;1979;p105"/>
          <p:cNvSpPr/>
          <p:nvPr/>
        </p:nvSpPr>
        <p:spPr>
          <a:xfrm>
            <a:off x="8674469" y="5200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980" name="Google Shape;1980;p105"/>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a:solidFill>
                  <a:srgbClr val="0C0C0C"/>
                </a:solidFill>
                <a:latin typeface="Arial"/>
                <a:ea typeface="Arial"/>
                <a:cs typeface="Arial"/>
                <a:sym typeface="Arial"/>
              </a:rPr>
              <a:t>Tra </a:t>
            </a:r>
            <a:r>
              <a:rPr lang="en-US" sz="2401" b="1" dirty="0" err="1">
                <a:solidFill>
                  <a:srgbClr val="0C0C0C"/>
                </a:solidFill>
                <a:latin typeface="Arial"/>
                <a:ea typeface="Arial"/>
                <a:cs typeface="Arial"/>
                <a:sym typeface="Arial"/>
              </a:rPr>
              <a:t>thông</a:t>
            </a:r>
            <a:r>
              <a:rPr lang="en-US" sz="2401" b="1" dirty="0">
                <a:solidFill>
                  <a:srgbClr val="0C0C0C"/>
                </a:solidFill>
                <a:latin typeface="Arial"/>
                <a:ea typeface="Arial"/>
                <a:cs typeface="Arial"/>
                <a:sym typeface="Arial"/>
              </a:rPr>
              <a:t> tin </a:t>
            </a:r>
            <a:r>
              <a:rPr lang="en-US" sz="2401" b="1" dirty="0" err="1">
                <a:solidFill>
                  <a:srgbClr val="0C0C0C"/>
                </a:solidFill>
                <a:latin typeface="Arial"/>
                <a:ea typeface="Arial"/>
                <a:cs typeface="Arial"/>
                <a:sym typeface="Arial"/>
              </a:rPr>
              <a:t>gói</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phần</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mềm</a:t>
            </a:r>
            <a:r>
              <a:rPr lang="en-US" sz="2401" b="1" dirty="0">
                <a:solidFill>
                  <a:srgbClr val="0C0C0C"/>
                </a:solidFill>
                <a:latin typeface="Arial"/>
                <a:ea typeface="Arial"/>
                <a:cs typeface="Arial"/>
                <a:sym typeface="Arial"/>
              </a:rPr>
              <a:t> NPM</a:t>
            </a:r>
            <a:endParaRPr dirty="0"/>
          </a:p>
        </p:txBody>
      </p:sp>
      <p:sp>
        <p:nvSpPr>
          <p:cNvPr id="1981" name="Google Shape;1981;p105"/>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dirty="0" err="1">
                <a:solidFill>
                  <a:schemeClr val="dk1"/>
                </a:solidFill>
                <a:latin typeface="Arial"/>
                <a:ea typeface="Arial"/>
                <a:cs typeface="Arial"/>
                <a:sym typeface="Arial"/>
              </a:rPr>
              <a:t>Truy</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cập</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vào</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trang</a:t>
            </a:r>
            <a:r>
              <a:rPr lang="en-US" sz="1401" dirty="0">
                <a:solidFill>
                  <a:schemeClr val="dk1"/>
                </a:solidFill>
                <a:latin typeface="Arial"/>
                <a:ea typeface="Arial"/>
                <a:cs typeface="Arial"/>
                <a:sym typeface="Arial"/>
              </a:rPr>
              <a:t> www.npmjs.com</a:t>
            </a:r>
            <a:endParaRPr dirty="0"/>
          </a:p>
        </p:txBody>
      </p:sp>
      <p:sp>
        <p:nvSpPr>
          <p:cNvPr id="1982" name="Google Shape;1982;p105"/>
          <p:cNvSpPr/>
          <p:nvPr/>
        </p:nvSpPr>
        <p:spPr>
          <a:xfrm>
            <a:off x="703271" y="4425916"/>
            <a:ext cx="8487381" cy="1647434"/>
          </a:xfrm>
          <a:prstGeom prst="rect">
            <a:avLst/>
          </a:prstGeom>
          <a:noFill/>
          <a:ln>
            <a:noFill/>
          </a:ln>
        </p:spPr>
        <p:txBody>
          <a:bodyPr spcFirstLastPara="1" wrap="square" lIns="0" tIns="71975" rIns="143950" bIns="71975" anchor="t" anchorCtr="0">
            <a:spAutoFit/>
          </a:bodyPr>
          <a:lstStyle/>
          <a:p>
            <a:pPr marL="182548" marR="0" lvl="0" indent="-182548" algn="just" rtl="0">
              <a:spcBef>
                <a:spcPts val="0"/>
              </a:spcBef>
              <a:spcAft>
                <a:spcPts val="0"/>
              </a:spcAft>
              <a:buClr>
                <a:srgbClr val="193EB0"/>
              </a:buClr>
              <a:buSzPts val="1299"/>
              <a:buFont typeface="Arial"/>
              <a:buChar char="‣"/>
            </a:pPr>
            <a:r>
              <a:rPr lang="vi-VN" sz="1299" dirty="0">
                <a:solidFill>
                  <a:srgbClr val="262626"/>
                </a:solidFill>
                <a:latin typeface="Arial"/>
                <a:ea typeface="Arial"/>
                <a:cs typeface="Arial"/>
                <a:sym typeface="Arial"/>
              </a:rPr>
              <a:t>NPM (Node Packaged Manager) là một chương trình tiếp nhận, cài đặt và quản lý các mô-đun được tạo từ Node.js trên web </a:t>
            </a:r>
          </a:p>
          <a:p>
            <a:pPr marL="182548" marR="0" lvl="0" indent="-182548" algn="just" rtl="0">
              <a:spcBef>
                <a:spcPts val="0"/>
              </a:spcBef>
              <a:spcAft>
                <a:spcPts val="0"/>
              </a:spcAft>
              <a:buClr>
                <a:srgbClr val="193EB0"/>
              </a:buClr>
              <a:buSzPts val="1299"/>
              <a:buFont typeface="Arial"/>
              <a:buChar char="‣"/>
            </a:pPr>
            <a:r>
              <a:rPr lang="vi-VN" sz="1299" dirty="0">
                <a:solidFill>
                  <a:srgbClr val="262626"/>
                </a:solidFill>
                <a:latin typeface="Arial"/>
                <a:ea typeface="Arial"/>
                <a:cs typeface="Arial"/>
                <a:sym typeface="Arial"/>
              </a:rPr>
              <a:t>Các gói thực hiện những chức năng nhỏ hơn chương trình, dịch vụ NPM đề cập đến những dịch vụ quản lý và phân phối những gói này khi sử dụng các nút. </a:t>
            </a:r>
          </a:p>
          <a:p>
            <a:pPr marL="182548" marR="0" lvl="0" indent="-182548" algn="just" rtl="0">
              <a:spcBef>
                <a:spcPts val="0"/>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Tìm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kiếm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một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một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tại</a:t>
            </a:r>
            <a:r>
              <a:rPr lang="en-US" sz="1299" dirty="0">
                <a:solidFill>
                  <a:srgbClr val="262626"/>
                </a:solidFill>
                <a:latin typeface="Arial"/>
                <a:ea typeface="Arial"/>
                <a:cs typeface="Arial"/>
                <a:sym typeface="Arial"/>
              </a:rPr>
              <a:t> website </a:t>
            </a:r>
            <a:r>
              <a:rPr lang="en-US" sz="1299" u="sng" dirty="0">
                <a:solidFill>
                  <a:srgbClr val="262626"/>
                </a:solidFill>
                <a:latin typeface="Arial"/>
                <a:ea typeface="Arial"/>
                <a:cs typeface="Arial"/>
                <a:sym typeface="Arial"/>
                <a:hlinkClick r:id="rId4">
                  <a:extLst>
                    <a:ext uri="{A12FA001-AC4F-418D-AE19-62706E023703}">
                      <ahyp:hlinkClr xmlns:ahyp="http://schemas.microsoft.com/office/drawing/2018/hyperlinkcolor" val="tx"/>
                    </a:ext>
                  </a:extLst>
                </a:hlinkClick>
              </a:rPr>
              <a:t>www.npmjs.com</a:t>
            </a:r>
            <a:r>
              <a:rPr lang="en-US" sz="1299" dirty="0">
                <a:solidFill>
                  <a:srgbClr val="262626"/>
                </a:solidFill>
                <a:latin typeface="Arial"/>
                <a:ea typeface="Arial"/>
                <a:cs typeface="Arial"/>
                <a:sym typeface="Arial"/>
              </a:rPr>
              <a:t>.</a:t>
            </a:r>
            <a:endParaRPr dirty="0"/>
          </a:p>
          <a:p>
            <a:pPr marL="182548" marR="0" lvl="0" indent="-182548" algn="just" rtl="0">
              <a:spcBef>
                <a:spcPts val="802"/>
              </a:spcBef>
              <a:spcAft>
                <a:spcPts val="0"/>
              </a:spcAft>
              <a:buClr>
                <a:srgbClr val="193EB0"/>
              </a:buClr>
              <a:buSzPts val="1299"/>
              <a:buFont typeface="Arial"/>
              <a:buChar char="‣"/>
            </a:pPr>
            <a:r>
              <a:rPr lang="vi-VN" sz="1299" dirty="0">
                <a:solidFill>
                  <a:srgbClr val="262626"/>
                </a:solidFill>
                <a:latin typeface="Arial"/>
                <a:ea typeface="Arial"/>
                <a:cs typeface="Arial"/>
                <a:sym typeface="Arial"/>
              </a:rPr>
              <a:t>Truy cập trang web này giúp bạn dễ dàng tìm hiểu các gói có sẵn và có thể đọc đánh giá hoặc hướng dẫn của các nhà phát triển khác trước khi tải xuống một npm nào đó</a:t>
            </a:r>
            <a:endParaRPr dirty="0"/>
          </a:p>
        </p:txBody>
      </p:sp>
      <p:sp>
        <p:nvSpPr>
          <p:cNvPr id="1983" name="Google Shape;1983;p105"/>
          <p:cNvSpPr/>
          <p:nvPr/>
        </p:nvSpPr>
        <p:spPr>
          <a:xfrm>
            <a:off x="416136" y="484176"/>
            <a:ext cx="5824317" cy="276871"/>
          </a:xfrm>
          <a:prstGeom prst="rect">
            <a:avLst/>
          </a:prstGeom>
          <a:noFill/>
          <a:ln>
            <a:noFill/>
          </a:ln>
        </p:spPr>
        <p:txBody>
          <a:bodyPr spcFirstLastPara="1" wrap="square" lIns="0" tIns="0" rIns="0" bIns="0" anchor="t" anchorCtr="0">
            <a:spAutoFit/>
          </a:bodyPr>
          <a:lstStyle/>
          <a:p>
            <a:pPr lvl="0"/>
            <a:r>
              <a:rPr lang="en-US" sz="1799" b="1" dirty="0" err="1">
                <a:solidFill>
                  <a:schemeClr val="tx1"/>
                </a:solidFill>
              </a:rPr>
              <a:t>Chế</a:t>
            </a:r>
            <a:r>
              <a:rPr lang="en-US" sz="1799" b="1" dirty="0">
                <a:solidFill>
                  <a:schemeClr val="tx1"/>
                </a:solidFill>
              </a:rPr>
              <a:t> </a:t>
            </a:r>
            <a:r>
              <a:rPr lang="en-US" sz="1799" b="1" dirty="0" err="1">
                <a:solidFill>
                  <a:schemeClr val="tx1"/>
                </a:solidFill>
              </a:rPr>
              <a:t>tạo</a:t>
            </a:r>
            <a:r>
              <a:rPr lang="en-US" sz="1799" b="1" dirty="0">
                <a:solidFill>
                  <a:schemeClr val="tx1"/>
                </a:solidFill>
              </a:rPr>
              <a:t> </a:t>
            </a:r>
            <a:r>
              <a:rPr lang="en-US" sz="1799" b="1" dirty="0" err="1">
                <a:solidFill>
                  <a:schemeClr val="tx1"/>
                </a:solidFill>
              </a:rPr>
              <a:t>thiết</a:t>
            </a:r>
            <a:r>
              <a:rPr lang="en-US" sz="1799" b="1" dirty="0">
                <a:solidFill>
                  <a:schemeClr val="tx1"/>
                </a:solidFill>
              </a:rPr>
              <a:t> </a:t>
            </a:r>
            <a:r>
              <a:rPr lang="en-US" sz="1799" b="1" dirty="0" err="1">
                <a:solidFill>
                  <a:schemeClr val="tx1"/>
                </a:solidFill>
              </a:rPr>
              <a:t>bị</a:t>
            </a:r>
            <a:endParaRPr lang="en-US" sz="1799" b="1"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88"/>
        <p:cNvGrpSpPr/>
        <p:nvPr/>
      </p:nvGrpSpPr>
      <p:grpSpPr>
        <a:xfrm>
          <a:off x="0" y="0"/>
          <a:ext cx="0" cy="0"/>
          <a:chOff x="0" y="0"/>
          <a:chExt cx="0" cy="0"/>
        </a:xfrm>
      </p:grpSpPr>
      <p:sp>
        <p:nvSpPr>
          <p:cNvPr id="1989" name="Google Shape;1989;p106"/>
          <p:cNvSpPr/>
          <p:nvPr/>
        </p:nvSpPr>
        <p:spPr>
          <a:xfrm>
            <a:off x="8674469" y="5200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1990" name="Google Shape;1990;p106"/>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a:solidFill>
                  <a:srgbClr val="0C0C0C"/>
                </a:solidFill>
                <a:latin typeface="Arial"/>
                <a:ea typeface="Arial"/>
                <a:cs typeface="Arial"/>
                <a:sym typeface="Arial"/>
              </a:rPr>
              <a:t>Tra </a:t>
            </a:r>
            <a:r>
              <a:rPr lang="en-US" sz="2401" b="1" dirty="0" err="1">
                <a:solidFill>
                  <a:srgbClr val="0C0C0C"/>
                </a:solidFill>
                <a:latin typeface="Arial"/>
                <a:ea typeface="Arial"/>
                <a:cs typeface="Arial"/>
                <a:sym typeface="Arial"/>
              </a:rPr>
              <a:t>thông</a:t>
            </a:r>
            <a:r>
              <a:rPr lang="en-US" sz="2401" b="1" dirty="0">
                <a:solidFill>
                  <a:srgbClr val="0C0C0C"/>
                </a:solidFill>
                <a:latin typeface="Arial"/>
                <a:ea typeface="Arial"/>
                <a:cs typeface="Arial"/>
                <a:sym typeface="Arial"/>
              </a:rPr>
              <a:t> tin </a:t>
            </a:r>
            <a:r>
              <a:rPr lang="en-US" sz="2401" b="1" dirty="0" err="1">
                <a:solidFill>
                  <a:srgbClr val="0C0C0C"/>
                </a:solidFill>
                <a:latin typeface="Arial"/>
                <a:ea typeface="Arial"/>
                <a:cs typeface="Arial"/>
                <a:sym typeface="Arial"/>
              </a:rPr>
              <a:t>gói</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phần</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mềm</a:t>
            </a:r>
            <a:r>
              <a:rPr lang="en-US" sz="2401" b="1" dirty="0">
                <a:solidFill>
                  <a:srgbClr val="0C0C0C"/>
                </a:solidFill>
                <a:latin typeface="Arial"/>
                <a:ea typeface="Arial"/>
                <a:cs typeface="Arial"/>
                <a:sym typeface="Arial"/>
              </a:rPr>
              <a:t> NPM</a:t>
            </a:r>
            <a:endParaRPr lang="en-US" sz="2400" dirty="0"/>
          </a:p>
        </p:txBody>
      </p:sp>
      <p:sp>
        <p:nvSpPr>
          <p:cNvPr id="1991" name="Google Shape;1991;p106"/>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www.npmjs.com</a:t>
            </a:r>
            <a:endParaRPr/>
          </a:p>
        </p:txBody>
      </p:sp>
      <p:sp>
        <p:nvSpPr>
          <p:cNvPr id="1992" name="Google Shape;1992;p106"/>
          <p:cNvSpPr/>
          <p:nvPr/>
        </p:nvSpPr>
        <p:spPr>
          <a:xfrm>
            <a:off x="703271" y="2199524"/>
            <a:ext cx="8487381" cy="745135"/>
          </a:xfrm>
          <a:prstGeom prst="rect">
            <a:avLst/>
          </a:prstGeom>
          <a:noFill/>
          <a:ln>
            <a:noFill/>
          </a:ln>
        </p:spPr>
        <p:txBody>
          <a:bodyPr spcFirstLastPara="1" wrap="square" lIns="0" tIns="71975" rIns="143950" bIns="71975" anchor="t" anchorCtr="0">
            <a:spAutoFit/>
          </a:bodyPr>
          <a:lstStyle/>
          <a:p>
            <a:pPr marL="182548" marR="0" lvl="0" indent="-182548" algn="just" rtl="0">
              <a:spcBef>
                <a:spcPts val="0"/>
              </a:spcBef>
              <a:spcAft>
                <a:spcPts val="0"/>
              </a:spcAft>
              <a:buClr>
                <a:srgbClr val="193EB0"/>
              </a:buClr>
              <a:buSzPts val="1299"/>
              <a:buFont typeface="Arial"/>
              <a:buChar char="‣"/>
            </a:pPr>
            <a:r>
              <a:rPr lang="vi-VN" sz="1299" dirty="0">
                <a:solidFill>
                  <a:srgbClr val="262626"/>
                </a:solidFill>
                <a:latin typeface="Arial"/>
                <a:ea typeface="Arial"/>
                <a:cs typeface="Arial"/>
                <a:sym typeface="Arial"/>
              </a:rPr>
              <a:t>Nếu bạn truy cập vào gói, bạn có thể biết thông tin chi tiết về nhà phát triển nào đã phát triển gói đó, số lượng tải xuống và phiên bản phát hành, phiên bản cấp phép và địa chỉ GitHub. Khi đó, bạn có thể kiểm tra hướng dẫn do nhà phát triển viết, những gợi ý, lưu ý để bạn  xem lại gói này trên trang web này trước khi cài đặt NPM</a:t>
            </a:r>
            <a:endParaRPr dirty="0"/>
          </a:p>
        </p:txBody>
      </p:sp>
      <p:pic>
        <p:nvPicPr>
          <p:cNvPr id="1993" name="Google Shape;1993;p106"/>
          <p:cNvPicPr preferRelativeResize="0"/>
          <p:nvPr/>
        </p:nvPicPr>
        <p:blipFill rotWithShape="1">
          <a:blip r:embed="rId3">
            <a:alphaModFix/>
          </a:blip>
          <a:srcRect l="4065" t="7584" r="1505"/>
          <a:stretch/>
        </p:blipFill>
        <p:spPr>
          <a:xfrm>
            <a:off x="703269" y="3160352"/>
            <a:ext cx="4056844" cy="3168963"/>
          </a:xfrm>
          <a:prstGeom prst="rect">
            <a:avLst/>
          </a:prstGeom>
          <a:noFill/>
          <a:ln w="9525" cap="flat" cmpd="sng">
            <a:solidFill>
              <a:srgbClr val="7F7F7F"/>
            </a:solidFill>
            <a:prstDash val="solid"/>
            <a:round/>
            <a:headEnd type="none" w="sm" len="sm"/>
            <a:tailEnd type="none" w="sm" len="sm"/>
          </a:ln>
        </p:spPr>
      </p:pic>
      <p:pic>
        <p:nvPicPr>
          <p:cNvPr id="1994" name="Google Shape;1994;p106"/>
          <p:cNvPicPr preferRelativeResize="0"/>
          <p:nvPr/>
        </p:nvPicPr>
        <p:blipFill rotWithShape="1">
          <a:blip r:embed="rId4">
            <a:alphaModFix/>
          </a:blip>
          <a:srcRect l="4017" t="8356" r="1957"/>
          <a:stretch/>
        </p:blipFill>
        <p:spPr>
          <a:xfrm>
            <a:off x="4887876" y="3160352"/>
            <a:ext cx="4192197" cy="3168963"/>
          </a:xfrm>
          <a:prstGeom prst="rect">
            <a:avLst/>
          </a:prstGeom>
          <a:noFill/>
          <a:ln w="9525" cap="flat" cmpd="sng">
            <a:solidFill>
              <a:srgbClr val="7F7F7F"/>
            </a:solidFill>
            <a:prstDash val="solid"/>
            <a:round/>
            <a:headEnd type="none" w="sm" len="sm"/>
            <a:tailEnd type="none" w="sm" len="sm"/>
          </a:ln>
        </p:spPr>
      </p:pic>
      <p:sp>
        <p:nvSpPr>
          <p:cNvPr id="1995" name="Google Shape;1995;p106"/>
          <p:cNvSpPr/>
          <p:nvPr/>
        </p:nvSpPr>
        <p:spPr>
          <a:xfrm>
            <a:off x="416136" y="484176"/>
            <a:ext cx="5824317" cy="276871"/>
          </a:xfrm>
          <a:prstGeom prst="rect">
            <a:avLst/>
          </a:prstGeom>
          <a:noFill/>
          <a:ln>
            <a:noFill/>
          </a:ln>
        </p:spPr>
        <p:txBody>
          <a:bodyPr spcFirstLastPara="1" wrap="square" lIns="0" tIns="0" rIns="0" bIns="0" anchor="t" anchorCtr="0">
            <a:spAutoFit/>
          </a:bodyPr>
          <a:lstStyle/>
          <a:p>
            <a:pPr lvl="0"/>
            <a:r>
              <a:rPr lang="en-US" sz="1799" b="1" dirty="0" err="1">
                <a:solidFill>
                  <a:schemeClr val="tx1"/>
                </a:solidFill>
              </a:rPr>
              <a:t>Chế</a:t>
            </a:r>
            <a:r>
              <a:rPr lang="en-US" sz="1799" b="1" dirty="0">
                <a:solidFill>
                  <a:schemeClr val="tx1"/>
                </a:solidFill>
              </a:rPr>
              <a:t> </a:t>
            </a:r>
            <a:r>
              <a:rPr lang="en-US" sz="1799" b="1" dirty="0" err="1">
                <a:solidFill>
                  <a:schemeClr val="tx1"/>
                </a:solidFill>
              </a:rPr>
              <a:t>tạo</a:t>
            </a:r>
            <a:r>
              <a:rPr lang="en-US" sz="1799" b="1" dirty="0">
                <a:solidFill>
                  <a:schemeClr val="tx1"/>
                </a:solidFill>
              </a:rPr>
              <a:t> </a:t>
            </a:r>
            <a:r>
              <a:rPr lang="en-US" sz="1799" b="1" dirty="0" err="1">
                <a:solidFill>
                  <a:schemeClr val="tx1"/>
                </a:solidFill>
              </a:rPr>
              <a:t>thiết</a:t>
            </a:r>
            <a:r>
              <a:rPr lang="en-US" sz="1799" b="1" dirty="0">
                <a:solidFill>
                  <a:schemeClr val="tx1"/>
                </a:solidFill>
              </a:rPr>
              <a:t> </a:t>
            </a:r>
            <a:r>
              <a:rPr lang="en-US" sz="1799" b="1" dirty="0" err="1">
                <a:solidFill>
                  <a:schemeClr val="tx1"/>
                </a:solidFill>
              </a:rPr>
              <a:t>bị</a:t>
            </a:r>
            <a:endParaRPr lang="en-US" sz="1799" b="1"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00"/>
        <p:cNvGrpSpPr/>
        <p:nvPr/>
      </p:nvGrpSpPr>
      <p:grpSpPr>
        <a:xfrm>
          <a:off x="0" y="0"/>
          <a:ext cx="0" cy="0"/>
          <a:chOff x="0" y="0"/>
          <a:chExt cx="0" cy="0"/>
        </a:xfrm>
      </p:grpSpPr>
      <p:sp>
        <p:nvSpPr>
          <p:cNvPr id="2001" name="Google Shape;2001;p107"/>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Tìm hiểu về cảm biến</a:t>
            </a:r>
            <a:endParaRPr sz="3600" b="1">
              <a:solidFill>
                <a:schemeClr val="dk1"/>
              </a:solidFill>
              <a:latin typeface="Arial"/>
              <a:ea typeface="Arial"/>
              <a:cs typeface="Arial"/>
              <a:sym typeface="Arial"/>
            </a:endParaRPr>
          </a:p>
        </p:txBody>
      </p:sp>
      <p:sp>
        <p:nvSpPr>
          <p:cNvPr id="2002" name="Google Shape;2002;p107"/>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2.</a:t>
            </a:r>
            <a:endParaRPr dirty="0"/>
          </a:p>
        </p:txBody>
      </p:sp>
      <p:sp>
        <p:nvSpPr>
          <p:cNvPr id="2003" name="Google Shape;2003;p107"/>
          <p:cNvSpPr/>
          <p:nvPr/>
        </p:nvSpPr>
        <p:spPr>
          <a:xfrm>
            <a:off x="1054120" y="4003783"/>
            <a:ext cx="3897300" cy="2174185"/>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rgbClr val="3F3F3F"/>
                </a:solidFill>
              </a:rPr>
              <a:t>2</a:t>
            </a:r>
            <a:r>
              <a:rPr lang="en-US" sz="1799" dirty="0">
                <a:solidFill>
                  <a:srgbClr val="3F3F3F"/>
                </a:solidFill>
                <a:latin typeface="Arial"/>
                <a:ea typeface="Arial"/>
                <a:cs typeface="Arial"/>
                <a:sym typeface="Arial"/>
              </a:rPr>
              <a:t>.1. Định </a:t>
            </a:r>
            <a:r>
              <a:rPr lang="en-US" sz="1799" dirty="0" err="1">
                <a:solidFill>
                  <a:srgbClr val="3F3F3F"/>
                </a:solidFill>
                <a:latin typeface="Arial"/>
                <a:ea typeface="Arial"/>
                <a:cs typeface="Arial"/>
                <a:sym typeface="Arial"/>
              </a:rPr>
              <a:t>nghĩa</a:t>
            </a:r>
            <a:r>
              <a:rPr lang="en-US" sz="1799" dirty="0">
                <a:solidFill>
                  <a:srgbClr val="3F3F3F"/>
                </a:solidFill>
                <a:latin typeface="Arial"/>
                <a:ea typeface="Arial"/>
                <a:cs typeface="Arial"/>
                <a:sym typeface="Arial"/>
              </a:rPr>
              <a:t> </a:t>
            </a:r>
            <a:r>
              <a:rPr lang="en-US" sz="1799" dirty="0" err="1">
                <a:solidFill>
                  <a:srgbClr val="3F3F3F"/>
                </a:solidFill>
                <a:latin typeface="Arial"/>
                <a:ea typeface="Arial"/>
                <a:cs typeface="Arial"/>
                <a:sym typeface="Arial"/>
              </a:rPr>
              <a:t>cảm</a:t>
            </a:r>
            <a:r>
              <a:rPr lang="en-US" sz="1799" dirty="0">
                <a:solidFill>
                  <a:srgbClr val="3F3F3F"/>
                </a:solidFill>
                <a:latin typeface="Arial"/>
                <a:ea typeface="Arial"/>
                <a:cs typeface="Arial"/>
                <a:sym typeface="Arial"/>
              </a:rPr>
              <a:t> </a:t>
            </a:r>
            <a:r>
              <a:rPr lang="en-US" sz="1799" dirty="0" err="1">
                <a:solidFill>
                  <a:srgbClr val="3F3F3F"/>
                </a:solidFill>
                <a:latin typeface="Arial"/>
                <a:ea typeface="Arial"/>
                <a:cs typeface="Arial"/>
                <a:sym typeface="Arial"/>
              </a:rPr>
              <a:t>biến</a:t>
            </a:r>
            <a:endParaRPr sz="1799" dirty="0">
              <a:solidFill>
                <a:srgbClr val="3F3F3F"/>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2.2. </a:t>
            </a:r>
            <a:r>
              <a:rPr lang="en-US" sz="1799" dirty="0" err="1">
                <a:solidFill>
                  <a:srgbClr val="A6A6A6"/>
                </a:solidFill>
                <a:latin typeface="Arial"/>
                <a:ea typeface="Arial"/>
                <a:cs typeface="Arial"/>
                <a:sym typeface="Arial"/>
              </a:rPr>
              <a:t>Đặc</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điểm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cơ</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bản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của</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2.3. </a:t>
            </a:r>
            <a:r>
              <a:rPr lang="en-US" sz="1799" dirty="0" err="1">
                <a:solidFill>
                  <a:srgbClr val="A6A6A6"/>
                </a:solidFill>
                <a:latin typeface="Arial"/>
                <a:ea typeface="Arial"/>
                <a:cs typeface="Arial"/>
                <a:sym typeface="Arial"/>
              </a:rPr>
              <a:t>Phân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loại</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2.4. </a:t>
            </a:r>
            <a:r>
              <a:rPr lang="en-US" sz="1799" dirty="0" err="1">
                <a:solidFill>
                  <a:srgbClr val="A6A6A6"/>
                </a:solidFill>
                <a:latin typeface="Arial"/>
                <a:ea typeface="Arial"/>
                <a:cs typeface="Arial"/>
                <a:sym typeface="Arial"/>
              </a:rPr>
              <a:t>Ứng</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dụng</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và</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vai</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trò</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của</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sz="1799" dirty="0">
              <a:solidFill>
                <a:srgbClr val="A6A6A6"/>
              </a:solidFill>
              <a:latin typeface="Arial"/>
              <a:ea typeface="Arial"/>
              <a:cs typeface="Arial"/>
              <a:sym typeface="Arial"/>
            </a:endParaRPr>
          </a:p>
          <a:p>
            <a:pPr marL="0" marR="0" lvl="0" indent="0" algn="l" rtl="0">
              <a:spcBef>
                <a:spcPts val="1000"/>
              </a:spcBef>
              <a:spcAft>
                <a:spcPts val="0"/>
              </a:spcAft>
              <a:buNone/>
            </a:pPr>
            <a:endParaRPr sz="1799" dirty="0">
              <a:solidFill>
                <a:srgbClr val="A6A6A6"/>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08"/>
        <p:cNvGrpSpPr/>
        <p:nvPr/>
      </p:nvGrpSpPr>
      <p:grpSpPr>
        <a:xfrm>
          <a:off x="0" y="0"/>
          <a:ext cx="0" cy="0"/>
          <a:chOff x="0" y="0"/>
          <a:chExt cx="0" cy="0"/>
        </a:xfrm>
      </p:grpSpPr>
      <p:sp>
        <p:nvSpPr>
          <p:cNvPr id="2009" name="Google Shape;2009;p108"/>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Cảm biến </a:t>
            </a:r>
            <a:endParaRPr/>
          </a:p>
        </p:txBody>
      </p:sp>
      <p:sp>
        <p:nvSpPr>
          <p:cNvPr id="2010" name="Google Shape;2010;p108"/>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tx1"/>
                </a:solidFill>
                <a:latin typeface="Arial"/>
                <a:ea typeface="Arial"/>
                <a:cs typeface="Arial"/>
                <a:sym typeface="Arial"/>
              </a:rPr>
              <a:t>Định </a:t>
            </a:r>
            <a:r>
              <a:rPr lang="en-US" sz="1799" b="1" dirty="0" err="1">
                <a:solidFill>
                  <a:schemeClr val="tx1"/>
                </a:solidFill>
                <a:latin typeface="Arial"/>
                <a:ea typeface="Arial"/>
                <a:cs typeface="Arial"/>
                <a:sym typeface="Arial"/>
              </a:rPr>
              <a:t>nghĩa</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
        <p:nvSpPr>
          <p:cNvPr id="2011" name="Google Shape;2011;p108"/>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012" name="Google Shape;2012;p108"/>
          <p:cNvSpPr/>
          <p:nvPr/>
        </p:nvSpPr>
        <p:spPr>
          <a:xfrm>
            <a:off x="580400" y="1944544"/>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Cảm biến là thiết bị tiếp nhận kích thích từ bên ngoài và chuyển thành tín hiệu điện.</a:t>
            </a:r>
            <a:endParaRPr/>
          </a:p>
        </p:txBody>
      </p:sp>
      <p:sp>
        <p:nvSpPr>
          <p:cNvPr id="2013" name="Google Shape;2013;p108"/>
          <p:cNvSpPr/>
          <p:nvPr/>
        </p:nvSpPr>
        <p:spPr>
          <a:xfrm>
            <a:off x="712189" y="2174878"/>
            <a:ext cx="8487381" cy="647819"/>
          </a:xfrm>
          <a:prstGeom prst="rect">
            <a:avLst/>
          </a:prstGeom>
          <a:noFill/>
          <a:ln>
            <a:noFill/>
          </a:ln>
        </p:spPr>
        <p:txBody>
          <a:bodyPr spcFirstLastPara="1" wrap="square" lIns="0" tIns="71975" rIns="143950" bIns="71975" anchor="t" anchorCtr="0">
            <a:spAutoFit/>
          </a:bodyPr>
          <a:lstStyle/>
          <a:p>
            <a:pPr marL="182548" marR="0" lvl="0" indent="-182548"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Kích thích bên ngoài: Số lượng, đặc tính hoặc tình trạng cần phát hiện</a:t>
            </a:r>
            <a:endParaRPr/>
          </a:p>
          <a:p>
            <a:pPr marL="182548" marR="0" lvl="0" indent="-182548"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Hiện tượng được dùng để chuyển đổi: Các hiện tượng vật lý, hóa học và sinh học</a:t>
            </a:r>
            <a:endParaRPr/>
          </a:p>
        </p:txBody>
      </p:sp>
      <p:grpSp>
        <p:nvGrpSpPr>
          <p:cNvPr id="2014" name="Google Shape;2014;p108"/>
          <p:cNvGrpSpPr/>
          <p:nvPr/>
        </p:nvGrpSpPr>
        <p:grpSpPr>
          <a:xfrm>
            <a:off x="845496" y="3048875"/>
            <a:ext cx="8086552" cy="3050145"/>
            <a:chOff x="1177674" y="3359489"/>
            <a:chExt cx="7422198" cy="2799558"/>
          </a:xfrm>
        </p:grpSpPr>
        <p:cxnSp>
          <p:nvCxnSpPr>
            <p:cNvPr id="2015" name="Google Shape;2015;p108"/>
            <p:cNvCxnSpPr/>
            <p:nvPr/>
          </p:nvCxnSpPr>
          <p:spPr>
            <a:xfrm>
              <a:off x="4674695" y="5832485"/>
              <a:ext cx="1577897" cy="0"/>
            </a:xfrm>
            <a:prstGeom prst="straightConnector1">
              <a:avLst/>
            </a:prstGeom>
            <a:noFill/>
            <a:ln w="9525" cap="flat" cmpd="sng">
              <a:solidFill>
                <a:schemeClr val="accent1"/>
              </a:solidFill>
              <a:prstDash val="solid"/>
              <a:miter lim="800000"/>
              <a:headEnd type="none" w="sm" len="sm"/>
              <a:tailEnd type="none" w="sm" len="sm"/>
            </a:ln>
          </p:spPr>
        </p:cxnSp>
        <p:cxnSp>
          <p:nvCxnSpPr>
            <p:cNvPr id="2016" name="Google Shape;2016;p108"/>
            <p:cNvCxnSpPr/>
            <p:nvPr/>
          </p:nvCxnSpPr>
          <p:spPr>
            <a:xfrm>
              <a:off x="5595731" y="3940579"/>
              <a:ext cx="2706836" cy="0"/>
            </a:xfrm>
            <a:prstGeom prst="straightConnector1">
              <a:avLst/>
            </a:prstGeom>
            <a:noFill/>
            <a:ln w="9525" cap="flat" cmpd="sng">
              <a:solidFill>
                <a:schemeClr val="accent1"/>
              </a:solidFill>
              <a:prstDash val="solid"/>
              <a:miter lim="800000"/>
              <a:headEnd type="none" w="sm" len="sm"/>
              <a:tailEnd type="none" w="sm" len="sm"/>
            </a:ln>
          </p:spPr>
        </p:cxnSp>
        <p:cxnSp>
          <p:nvCxnSpPr>
            <p:cNvPr id="2017" name="Google Shape;2017;p108"/>
            <p:cNvCxnSpPr/>
            <p:nvPr/>
          </p:nvCxnSpPr>
          <p:spPr>
            <a:xfrm>
              <a:off x="1975405" y="3940579"/>
              <a:ext cx="2706836" cy="0"/>
            </a:xfrm>
            <a:prstGeom prst="straightConnector1">
              <a:avLst/>
            </a:prstGeom>
            <a:noFill/>
            <a:ln w="9525" cap="flat" cmpd="sng">
              <a:solidFill>
                <a:schemeClr val="accent1"/>
              </a:solidFill>
              <a:prstDash val="solid"/>
              <a:miter lim="800000"/>
              <a:headEnd type="none" w="sm" len="sm"/>
              <a:tailEnd type="none" w="sm" len="sm"/>
            </a:ln>
          </p:spPr>
        </p:cxnSp>
        <p:pic>
          <p:nvPicPr>
            <p:cNvPr id="2018" name="Google Shape;2018;p108"/>
            <p:cNvPicPr preferRelativeResize="0"/>
            <p:nvPr/>
          </p:nvPicPr>
          <p:blipFill rotWithShape="1">
            <a:blip r:embed="rId3">
              <a:alphaModFix/>
            </a:blip>
            <a:srcRect/>
            <a:stretch/>
          </p:blipFill>
          <p:spPr>
            <a:xfrm>
              <a:off x="7114855" y="3375699"/>
              <a:ext cx="607079" cy="480806"/>
            </a:xfrm>
            <a:prstGeom prst="rect">
              <a:avLst/>
            </a:prstGeom>
            <a:noFill/>
            <a:ln>
              <a:noFill/>
            </a:ln>
          </p:spPr>
        </p:pic>
        <p:pic>
          <p:nvPicPr>
            <p:cNvPr id="2019" name="Google Shape;2019;p108" descr="color1fn%20sq"/>
            <p:cNvPicPr preferRelativeResize="0"/>
            <p:nvPr/>
          </p:nvPicPr>
          <p:blipFill rotWithShape="1">
            <a:blip r:embed="rId4">
              <a:alphaModFix/>
            </a:blip>
            <a:srcRect l="15044" t="20830" r="16199" b="15622"/>
            <a:stretch/>
          </p:blipFill>
          <p:spPr>
            <a:xfrm>
              <a:off x="1975405" y="3370852"/>
              <a:ext cx="618325" cy="528317"/>
            </a:xfrm>
            <a:prstGeom prst="rect">
              <a:avLst/>
            </a:prstGeom>
            <a:noFill/>
            <a:ln>
              <a:noFill/>
            </a:ln>
          </p:spPr>
        </p:pic>
        <p:graphicFrame>
          <p:nvGraphicFramePr>
            <p:cNvPr id="2020" name="Google Shape;2020;p108"/>
            <p:cNvGraphicFramePr/>
            <p:nvPr/>
          </p:nvGraphicFramePr>
          <p:xfrm>
            <a:off x="2640130" y="3370852"/>
            <a:ext cx="587204" cy="531787"/>
          </p:xfrm>
          <a:graphic>
            <a:graphicData uri="http://schemas.openxmlformats.org/presentationml/2006/ole">
              <mc:AlternateContent xmlns:mc="http://schemas.openxmlformats.org/markup-compatibility/2006">
                <mc:Choice xmlns:v="urn:schemas-microsoft-com:vml" Requires="v">
                  <p:oleObj r:id="rId5" imgW="587204" imgH="531787" progId="Paint.Picture">
                    <p:embed/>
                  </p:oleObj>
                </mc:Choice>
                <mc:Fallback>
                  <p:oleObj r:id="rId5" imgW="587204" imgH="531787" progId="Paint.Picture">
                    <p:embed/>
                    <p:pic>
                      <p:nvPicPr>
                        <p:cNvPr id="2020" name="Google Shape;2020;p108"/>
                        <p:cNvPicPr preferRelativeResize="0"/>
                        <p:nvPr/>
                      </p:nvPicPr>
                      <p:blipFill rotWithShape="1">
                        <a:blip r:embed="rId6">
                          <a:alphaModFix/>
                        </a:blip>
                        <a:srcRect l="4086" t="4038" r="2972" b="5875"/>
                        <a:stretch/>
                      </p:blipFill>
                      <p:spPr>
                        <a:xfrm>
                          <a:off x="2640130" y="3370852"/>
                          <a:ext cx="587204" cy="531787"/>
                        </a:xfrm>
                        <a:prstGeom prst="rect">
                          <a:avLst/>
                        </a:prstGeom>
                        <a:noFill/>
                        <a:ln>
                          <a:noFill/>
                        </a:ln>
                      </p:spPr>
                    </p:pic>
                  </p:oleObj>
                </mc:Fallback>
              </mc:AlternateContent>
            </a:graphicData>
          </a:graphic>
        </p:graphicFrame>
        <p:pic>
          <p:nvPicPr>
            <p:cNvPr id="2021" name="Google Shape;2021;p108"/>
            <p:cNvPicPr preferRelativeResize="0"/>
            <p:nvPr/>
          </p:nvPicPr>
          <p:blipFill rotWithShape="1">
            <a:blip r:embed="rId7">
              <a:alphaModFix/>
            </a:blip>
            <a:srcRect/>
            <a:stretch/>
          </p:blipFill>
          <p:spPr>
            <a:xfrm>
              <a:off x="7195372" y="4127129"/>
              <a:ext cx="872595" cy="542330"/>
            </a:xfrm>
            <a:prstGeom prst="rect">
              <a:avLst/>
            </a:prstGeom>
            <a:noFill/>
            <a:ln>
              <a:noFill/>
            </a:ln>
          </p:spPr>
        </p:pic>
        <p:pic>
          <p:nvPicPr>
            <p:cNvPr id="2022" name="Google Shape;2022;p108" descr="Assure II Meter"/>
            <p:cNvPicPr preferRelativeResize="0"/>
            <p:nvPr/>
          </p:nvPicPr>
          <p:blipFill rotWithShape="1">
            <a:blip r:embed="rId8">
              <a:alphaModFix/>
            </a:blip>
            <a:srcRect/>
            <a:stretch/>
          </p:blipFill>
          <p:spPr>
            <a:xfrm>
              <a:off x="6448999" y="5429274"/>
              <a:ext cx="607982" cy="639738"/>
            </a:xfrm>
            <a:prstGeom prst="rect">
              <a:avLst/>
            </a:prstGeom>
            <a:noFill/>
            <a:ln>
              <a:noFill/>
            </a:ln>
          </p:spPr>
        </p:pic>
        <p:pic>
          <p:nvPicPr>
            <p:cNvPr id="2023" name="Google Shape;2023;p108" descr="image4"/>
            <p:cNvPicPr preferRelativeResize="0"/>
            <p:nvPr/>
          </p:nvPicPr>
          <p:blipFill rotWithShape="1">
            <a:blip r:embed="rId9">
              <a:alphaModFix/>
            </a:blip>
            <a:srcRect t="11980" r="52924" b="11979"/>
            <a:stretch/>
          </p:blipFill>
          <p:spPr>
            <a:xfrm>
              <a:off x="7765986" y="3370851"/>
              <a:ext cx="545619" cy="484563"/>
            </a:xfrm>
            <a:prstGeom prst="rect">
              <a:avLst/>
            </a:prstGeom>
            <a:noFill/>
            <a:ln>
              <a:noFill/>
            </a:ln>
          </p:spPr>
        </p:pic>
        <p:grpSp>
          <p:nvGrpSpPr>
            <p:cNvPr id="2024" name="Google Shape;2024;p108"/>
            <p:cNvGrpSpPr/>
            <p:nvPr/>
          </p:nvGrpSpPr>
          <p:grpSpPr>
            <a:xfrm>
              <a:off x="3845234" y="3689112"/>
              <a:ext cx="2239821" cy="2236682"/>
              <a:chOff x="4068677" y="3706788"/>
              <a:chExt cx="1756028" cy="1753567"/>
            </a:xfrm>
          </p:grpSpPr>
          <p:sp>
            <p:nvSpPr>
              <p:cNvPr id="2025" name="Google Shape;2025;p108"/>
              <p:cNvSpPr/>
              <p:nvPr/>
            </p:nvSpPr>
            <p:spPr>
              <a:xfrm>
                <a:off x="4068677" y="3706788"/>
                <a:ext cx="1753567" cy="1753567"/>
              </a:xfrm>
              <a:prstGeom prst="ellipse">
                <a:avLst/>
              </a:prstGeom>
              <a:solidFill>
                <a:srgbClr val="D8D8D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401">
                  <a:solidFill>
                    <a:srgbClr val="262626"/>
                  </a:solidFill>
                  <a:latin typeface="Arial"/>
                  <a:ea typeface="Arial"/>
                  <a:cs typeface="Arial"/>
                  <a:sym typeface="Arial"/>
                </a:endParaRPr>
              </a:p>
            </p:txBody>
          </p:sp>
          <p:sp>
            <p:nvSpPr>
              <p:cNvPr id="2026" name="Google Shape;2026;p108"/>
              <p:cNvSpPr txBox="1"/>
              <p:nvPr/>
            </p:nvSpPr>
            <p:spPr>
              <a:xfrm>
                <a:off x="4135633" y="4035126"/>
                <a:ext cx="903671" cy="2877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rgbClr val="262626"/>
                    </a:solidFill>
                    <a:latin typeface="Arial"/>
                    <a:ea typeface="Arial"/>
                    <a:cs typeface="Arial"/>
                    <a:sym typeface="Arial"/>
                  </a:rPr>
                  <a:t>Hiện tượng </a:t>
                </a:r>
                <a:endParaRPr/>
              </a:p>
              <a:p>
                <a:pPr marL="0" marR="0" lvl="0" indent="0" algn="ctr" rtl="0">
                  <a:spcBef>
                    <a:spcPts val="0"/>
                  </a:spcBef>
                  <a:spcAft>
                    <a:spcPts val="0"/>
                  </a:spcAft>
                  <a:buNone/>
                </a:pPr>
                <a:r>
                  <a:rPr lang="en-US" sz="1299">
                    <a:solidFill>
                      <a:srgbClr val="262626"/>
                    </a:solidFill>
                    <a:latin typeface="Arial"/>
                    <a:ea typeface="Arial"/>
                    <a:cs typeface="Arial"/>
                    <a:sym typeface="Arial"/>
                  </a:rPr>
                  <a:t>vật lý</a:t>
                </a:r>
                <a:endParaRPr/>
              </a:p>
            </p:txBody>
          </p:sp>
          <p:cxnSp>
            <p:nvCxnSpPr>
              <p:cNvPr id="2027" name="Google Shape;2027;p108"/>
              <p:cNvCxnSpPr>
                <a:stCxn id="2028" idx="0"/>
                <a:endCxn id="2025" idx="0"/>
              </p:cNvCxnSpPr>
              <p:nvPr/>
            </p:nvCxnSpPr>
            <p:spPr>
              <a:xfrm rot="10800000">
                <a:off x="4945460" y="3706925"/>
                <a:ext cx="0" cy="735000"/>
              </a:xfrm>
              <a:prstGeom prst="straightConnector1">
                <a:avLst/>
              </a:prstGeom>
              <a:noFill/>
              <a:ln w="25400" cap="flat" cmpd="sng">
                <a:solidFill>
                  <a:schemeClr val="lt1"/>
                </a:solidFill>
                <a:prstDash val="solid"/>
                <a:miter lim="800000"/>
                <a:headEnd type="none" w="sm" len="sm"/>
                <a:tailEnd type="none" w="sm" len="sm"/>
              </a:ln>
            </p:spPr>
          </p:cxnSp>
          <p:cxnSp>
            <p:nvCxnSpPr>
              <p:cNvPr id="2029" name="Google Shape;2029;p108"/>
              <p:cNvCxnSpPr>
                <a:stCxn id="2025" idx="3"/>
              </p:cNvCxnSpPr>
              <p:nvPr/>
            </p:nvCxnSpPr>
            <p:spPr>
              <a:xfrm rot="10800000" flipH="1">
                <a:off x="4325481" y="4607151"/>
                <a:ext cx="625800" cy="596400"/>
              </a:xfrm>
              <a:prstGeom prst="straightConnector1">
                <a:avLst/>
              </a:prstGeom>
              <a:noFill/>
              <a:ln w="25400" cap="flat" cmpd="sng">
                <a:solidFill>
                  <a:schemeClr val="lt1"/>
                </a:solidFill>
                <a:prstDash val="solid"/>
                <a:miter lim="800000"/>
                <a:headEnd type="none" w="sm" len="sm"/>
                <a:tailEnd type="none" w="sm" len="sm"/>
              </a:ln>
            </p:spPr>
          </p:cxnSp>
          <p:cxnSp>
            <p:nvCxnSpPr>
              <p:cNvPr id="2030" name="Google Shape;2030;p108"/>
              <p:cNvCxnSpPr>
                <a:stCxn id="2025" idx="5"/>
              </p:cNvCxnSpPr>
              <p:nvPr/>
            </p:nvCxnSpPr>
            <p:spPr>
              <a:xfrm rot="10800000">
                <a:off x="4957640" y="4624851"/>
                <a:ext cx="607800" cy="578700"/>
              </a:xfrm>
              <a:prstGeom prst="straightConnector1">
                <a:avLst/>
              </a:prstGeom>
              <a:noFill/>
              <a:ln w="25400" cap="flat" cmpd="sng">
                <a:solidFill>
                  <a:schemeClr val="lt1"/>
                </a:solidFill>
                <a:prstDash val="solid"/>
                <a:miter lim="800000"/>
                <a:headEnd type="none" w="sm" len="sm"/>
                <a:tailEnd type="none" w="sm" len="sm"/>
              </a:ln>
            </p:spPr>
          </p:cxnSp>
          <p:sp>
            <p:nvSpPr>
              <p:cNvPr id="2031" name="Google Shape;2031;p108"/>
              <p:cNvSpPr txBox="1"/>
              <p:nvPr/>
            </p:nvSpPr>
            <p:spPr>
              <a:xfrm>
                <a:off x="4921034" y="4021055"/>
                <a:ext cx="903671" cy="2877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rgbClr val="262626"/>
                    </a:solidFill>
                    <a:latin typeface="Arial"/>
                    <a:ea typeface="Arial"/>
                    <a:cs typeface="Arial"/>
                    <a:sym typeface="Arial"/>
                  </a:rPr>
                  <a:t>Hiện tượng </a:t>
                </a:r>
                <a:endParaRPr/>
              </a:p>
              <a:p>
                <a:pPr marL="0" marR="0" lvl="0" indent="0" algn="ctr" rtl="0">
                  <a:spcBef>
                    <a:spcPts val="0"/>
                  </a:spcBef>
                  <a:spcAft>
                    <a:spcPts val="0"/>
                  </a:spcAft>
                  <a:buNone/>
                </a:pPr>
                <a:r>
                  <a:rPr lang="en-US" sz="1299">
                    <a:solidFill>
                      <a:srgbClr val="262626"/>
                    </a:solidFill>
                    <a:latin typeface="Arial"/>
                    <a:ea typeface="Arial"/>
                    <a:cs typeface="Arial"/>
                    <a:sym typeface="Arial"/>
                  </a:rPr>
                  <a:t>hóa học</a:t>
                </a:r>
                <a:endParaRPr/>
              </a:p>
            </p:txBody>
          </p:sp>
          <p:sp>
            <p:nvSpPr>
              <p:cNvPr id="2032" name="Google Shape;2032;p108"/>
              <p:cNvSpPr txBox="1"/>
              <p:nvPr/>
            </p:nvSpPr>
            <p:spPr>
              <a:xfrm>
                <a:off x="4499577" y="4984597"/>
                <a:ext cx="903671" cy="2877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rgbClr val="262626"/>
                    </a:solidFill>
                    <a:latin typeface="Arial"/>
                    <a:ea typeface="Arial"/>
                    <a:cs typeface="Arial"/>
                    <a:sym typeface="Arial"/>
                  </a:rPr>
                  <a:t>Hiện tượng sinh học</a:t>
                </a:r>
                <a:endParaRPr/>
              </a:p>
            </p:txBody>
          </p:sp>
          <p:sp>
            <p:nvSpPr>
              <p:cNvPr id="2028" name="Google Shape;2028;p108"/>
              <p:cNvSpPr/>
              <p:nvPr/>
            </p:nvSpPr>
            <p:spPr>
              <a:xfrm>
                <a:off x="4184213" y="4441925"/>
                <a:ext cx="1522494" cy="283292"/>
              </a:xfrm>
              <a:prstGeom prst="roundRect">
                <a:avLst>
                  <a:gd name="adj" fmla="val 50000"/>
                </a:avLst>
              </a:prstGeom>
              <a:solidFill>
                <a:srgbClr val="0033CC"/>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1">
                    <a:solidFill>
                      <a:schemeClr val="lt1"/>
                    </a:solidFill>
                    <a:latin typeface="Arial"/>
                    <a:ea typeface="Arial"/>
                    <a:cs typeface="Arial"/>
                    <a:sym typeface="Arial"/>
                  </a:rPr>
                  <a:t>Cảm biến</a:t>
                </a:r>
                <a:endParaRPr sz="1601">
                  <a:solidFill>
                    <a:schemeClr val="lt1"/>
                  </a:solidFill>
                  <a:latin typeface="Arial"/>
                  <a:ea typeface="Arial"/>
                  <a:cs typeface="Arial"/>
                  <a:sym typeface="Arial"/>
                </a:endParaRPr>
              </a:p>
            </p:txBody>
          </p:sp>
        </p:grpSp>
        <p:grpSp>
          <p:nvGrpSpPr>
            <p:cNvPr id="2033" name="Google Shape;2033;p108"/>
            <p:cNvGrpSpPr/>
            <p:nvPr/>
          </p:nvGrpSpPr>
          <p:grpSpPr>
            <a:xfrm>
              <a:off x="1177674" y="3359489"/>
              <a:ext cx="7422198" cy="2799558"/>
              <a:chOff x="711586" y="2753577"/>
              <a:chExt cx="7422198" cy="2799558"/>
            </a:xfrm>
          </p:grpSpPr>
          <p:sp>
            <p:nvSpPr>
              <p:cNvPr id="2034" name="Google Shape;2034;p108"/>
              <p:cNvSpPr/>
              <p:nvPr/>
            </p:nvSpPr>
            <p:spPr>
              <a:xfrm>
                <a:off x="887870" y="4027189"/>
                <a:ext cx="1522494" cy="283292"/>
              </a:xfrm>
              <a:prstGeom prst="roundRect">
                <a:avLst>
                  <a:gd name="adj" fmla="val 50000"/>
                </a:avLst>
              </a:prstGeom>
              <a:solidFill>
                <a:srgbClr val="E6F5FF"/>
              </a:solidFill>
              <a:ln w="127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Năng lượng vào</a:t>
                </a:r>
                <a:endParaRPr/>
              </a:p>
            </p:txBody>
          </p:sp>
          <p:sp>
            <p:nvSpPr>
              <p:cNvPr id="2035" name="Google Shape;2035;p108"/>
              <p:cNvSpPr/>
              <p:nvPr/>
            </p:nvSpPr>
            <p:spPr>
              <a:xfrm>
                <a:off x="711586" y="4269656"/>
                <a:ext cx="1875063" cy="79144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Năng lượng ánh sáng, động</a:t>
                </a:r>
                <a:endParaRPr/>
              </a:p>
              <a:p>
                <a:pPr marL="0" marR="0" lvl="0" indent="0" algn="ctr" rtl="0">
                  <a:spcBef>
                    <a:spcPts val="0"/>
                  </a:spcBef>
                  <a:spcAft>
                    <a:spcPts val="0"/>
                  </a:spcAft>
                  <a:buNone/>
                </a:pPr>
                <a:r>
                  <a:rPr lang="en-US" sz="1401">
                    <a:solidFill>
                      <a:srgbClr val="262626"/>
                    </a:solidFill>
                    <a:latin typeface="Arial"/>
                    <a:ea typeface="Arial"/>
                    <a:cs typeface="Arial"/>
                    <a:sym typeface="Arial"/>
                  </a:rPr>
                  <a:t>lực học, nhiệt độ, từ trường, hóa học.</a:t>
                </a:r>
                <a:endParaRPr/>
              </a:p>
            </p:txBody>
          </p:sp>
          <p:sp>
            <p:nvSpPr>
              <p:cNvPr id="2036" name="Google Shape;2036;p108"/>
              <p:cNvSpPr/>
              <p:nvPr/>
            </p:nvSpPr>
            <p:spPr>
              <a:xfrm>
                <a:off x="6435005" y="4027189"/>
                <a:ext cx="1522494" cy="283292"/>
              </a:xfrm>
              <a:prstGeom prst="roundRect">
                <a:avLst>
                  <a:gd name="adj" fmla="val 50000"/>
                </a:avLst>
              </a:prstGeom>
              <a:solidFill>
                <a:srgbClr val="E6F5FF"/>
              </a:solidFill>
              <a:ln w="127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Tín hiệu ra</a:t>
                </a:r>
                <a:endParaRPr sz="1401">
                  <a:solidFill>
                    <a:srgbClr val="262626"/>
                  </a:solidFill>
                  <a:latin typeface="Arial"/>
                  <a:ea typeface="Arial"/>
                  <a:cs typeface="Arial"/>
                  <a:sym typeface="Arial"/>
                </a:endParaRPr>
              </a:p>
            </p:txBody>
          </p:sp>
          <p:sp>
            <p:nvSpPr>
              <p:cNvPr id="2037" name="Google Shape;2037;p108"/>
              <p:cNvSpPr/>
              <p:nvPr/>
            </p:nvSpPr>
            <p:spPr>
              <a:xfrm>
                <a:off x="6258721" y="4376901"/>
                <a:ext cx="1875063" cy="39572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Thông tin ra dưới dạng tín hiệu điện.</a:t>
                </a:r>
                <a:endParaRPr/>
              </a:p>
            </p:txBody>
          </p:sp>
          <p:sp>
            <p:nvSpPr>
              <p:cNvPr id="2038" name="Google Shape;2038;p108"/>
              <p:cNvSpPr/>
              <p:nvPr/>
            </p:nvSpPr>
            <p:spPr>
              <a:xfrm>
                <a:off x="4900719" y="5157412"/>
                <a:ext cx="1055179" cy="39572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Cảm biến sinh học</a:t>
                </a:r>
                <a:endParaRPr sz="1401">
                  <a:solidFill>
                    <a:srgbClr val="262626"/>
                  </a:solidFill>
                  <a:latin typeface="Arial"/>
                  <a:ea typeface="Arial"/>
                  <a:cs typeface="Arial"/>
                  <a:sym typeface="Arial"/>
                </a:endParaRPr>
              </a:p>
            </p:txBody>
          </p:sp>
          <p:sp>
            <p:nvSpPr>
              <p:cNvPr id="2039" name="Google Shape;2039;p108"/>
              <p:cNvSpPr/>
              <p:nvPr/>
            </p:nvSpPr>
            <p:spPr>
              <a:xfrm>
                <a:off x="2727022" y="2753577"/>
                <a:ext cx="1529269" cy="59358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Cảm biến ánh sáng, </a:t>
                </a:r>
                <a:endParaRPr/>
              </a:p>
              <a:p>
                <a:pPr marL="0" marR="0" lvl="0" indent="0" algn="ctr" rtl="0">
                  <a:spcBef>
                    <a:spcPts val="0"/>
                  </a:spcBef>
                  <a:spcAft>
                    <a:spcPts val="0"/>
                  </a:spcAft>
                  <a:buNone/>
                </a:pPr>
                <a:r>
                  <a:rPr lang="en-US" sz="1401">
                    <a:solidFill>
                      <a:srgbClr val="262626"/>
                    </a:solidFill>
                    <a:latin typeface="Arial"/>
                    <a:ea typeface="Arial"/>
                    <a:cs typeface="Arial"/>
                    <a:sym typeface="Arial"/>
                  </a:rPr>
                  <a:t>nhiệt độ, tốc độ, từ trường</a:t>
                </a:r>
                <a:endParaRPr/>
              </a:p>
            </p:txBody>
          </p:sp>
          <p:sp>
            <p:nvSpPr>
              <p:cNvPr id="2040" name="Google Shape;2040;p108"/>
              <p:cNvSpPr/>
              <p:nvPr/>
            </p:nvSpPr>
            <p:spPr>
              <a:xfrm>
                <a:off x="5067576" y="3090228"/>
                <a:ext cx="1599642" cy="19786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Cảm biến khí, độ ẩm</a:t>
                </a:r>
                <a:endParaRPr sz="1401">
                  <a:solidFill>
                    <a:srgbClr val="262626"/>
                  </a:solidFill>
                  <a:latin typeface="Arial"/>
                  <a:ea typeface="Arial"/>
                  <a:cs typeface="Arial"/>
                  <a:sym typeface="Arial"/>
                </a:endParaRPr>
              </a:p>
            </p:txBody>
          </p:sp>
        </p:grpSp>
        <p:sp>
          <p:nvSpPr>
            <p:cNvPr id="2041" name="Google Shape;2041;p108"/>
            <p:cNvSpPr/>
            <p:nvPr/>
          </p:nvSpPr>
          <p:spPr>
            <a:xfrm rot="-5400000">
              <a:off x="3227942" y="4595645"/>
              <a:ext cx="367458" cy="406510"/>
            </a:xfrm>
            <a:prstGeom prst="downArrow">
              <a:avLst>
                <a:gd name="adj1" fmla="val 56781"/>
                <a:gd name="adj2" fmla="val 56860"/>
              </a:avLst>
            </a:prstGeom>
            <a:gradFill>
              <a:gsLst>
                <a:gs pos="0">
                  <a:srgbClr val="FFFFFF">
                    <a:alpha val="0"/>
                  </a:srgbClr>
                </a:gs>
                <a:gs pos="91000">
                  <a:srgbClr val="A5A5A5"/>
                </a:gs>
                <a:gs pos="100000">
                  <a:srgbClr val="A5A5A5"/>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99">
                <a:solidFill>
                  <a:srgbClr val="FFFFFF"/>
                </a:solidFill>
                <a:latin typeface="Arial"/>
                <a:ea typeface="Arial"/>
                <a:cs typeface="Arial"/>
                <a:sym typeface="Arial"/>
              </a:endParaRPr>
            </a:p>
          </p:txBody>
        </p:sp>
        <p:sp>
          <p:nvSpPr>
            <p:cNvPr id="2042" name="Google Shape;2042;p108"/>
            <p:cNvSpPr/>
            <p:nvPr/>
          </p:nvSpPr>
          <p:spPr>
            <a:xfrm rot="-5400000">
              <a:off x="6318383" y="4595645"/>
              <a:ext cx="367458" cy="406510"/>
            </a:xfrm>
            <a:prstGeom prst="downArrow">
              <a:avLst>
                <a:gd name="adj1" fmla="val 56781"/>
                <a:gd name="adj2" fmla="val 56860"/>
              </a:avLst>
            </a:prstGeom>
            <a:gradFill>
              <a:gsLst>
                <a:gs pos="0">
                  <a:srgbClr val="FFFFFF">
                    <a:alpha val="0"/>
                  </a:srgbClr>
                </a:gs>
                <a:gs pos="91000">
                  <a:srgbClr val="A5A5A5"/>
                </a:gs>
                <a:gs pos="100000">
                  <a:srgbClr val="A5A5A5"/>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99">
                <a:solidFill>
                  <a:srgbClr val="FFFFFF"/>
                </a:solidFill>
                <a:latin typeface="Arial"/>
                <a:ea typeface="Arial"/>
                <a:cs typeface="Arial"/>
                <a:sym typeface="Arial"/>
              </a:endParaRPr>
            </a:p>
          </p:txBody>
        </p:sp>
      </p:grpSp>
      <p:pic>
        <p:nvPicPr>
          <p:cNvPr id="1025" name="Picture 1">
            <a:extLst>
              <a:ext uri="{FF2B5EF4-FFF2-40B4-BE49-F238E27FC236}">
                <a16:creationId xmlns:a16="http://schemas.microsoft.com/office/drawing/2014/main" id="{A1EF6101-DEC8-254A-A57B-6EC45BB474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8900" y="3365500"/>
            <a:ext cx="584200" cy="5207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47"/>
        <p:cNvGrpSpPr/>
        <p:nvPr/>
      </p:nvGrpSpPr>
      <p:grpSpPr>
        <a:xfrm>
          <a:off x="0" y="0"/>
          <a:ext cx="0" cy="0"/>
          <a:chOff x="0" y="0"/>
          <a:chExt cx="0" cy="0"/>
        </a:xfrm>
      </p:grpSpPr>
      <p:sp>
        <p:nvSpPr>
          <p:cNvPr id="2048" name="Google Shape;2048;p109"/>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Những loại kích thích bên ngoài</a:t>
            </a:r>
            <a:endParaRPr sz="2401" b="1">
              <a:solidFill>
                <a:srgbClr val="0C0C0C"/>
              </a:solidFill>
              <a:latin typeface="Arial"/>
              <a:ea typeface="Arial"/>
              <a:cs typeface="Arial"/>
              <a:sym typeface="Arial"/>
            </a:endParaRPr>
          </a:p>
        </p:txBody>
      </p:sp>
      <p:sp>
        <p:nvSpPr>
          <p:cNvPr id="2049" name="Google Shape;2049;p109"/>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050" name="Google Shape;2050;p109"/>
          <p:cNvSpPr/>
          <p:nvPr/>
        </p:nvSpPr>
        <p:spPr>
          <a:xfrm>
            <a:off x="416136" y="444879"/>
            <a:ext cx="5824317" cy="553741"/>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3.1. </a:t>
            </a:r>
            <a:r>
              <a:rPr lang="en-US" sz="1799" b="1" dirty="0">
                <a:solidFill>
                  <a:schemeClr val="tx1"/>
                </a:solidFill>
              </a:rPr>
              <a:t>Định </a:t>
            </a:r>
            <a:r>
              <a:rPr lang="en-US" sz="1799" b="1" dirty="0" err="1">
                <a:solidFill>
                  <a:schemeClr val="tx1"/>
                </a:solidFill>
              </a:rPr>
              <a:t>nghĩa</a:t>
            </a:r>
            <a:r>
              <a:rPr lang="en-US" sz="1799" b="1" dirty="0">
                <a:solidFill>
                  <a:schemeClr val="tx1"/>
                </a:solidFill>
              </a:rPr>
              <a:t> </a:t>
            </a:r>
            <a:r>
              <a:rPr lang="en-US" sz="1799" b="1" dirty="0" err="1">
                <a:solidFill>
                  <a:schemeClr val="tx1"/>
                </a:solidFill>
              </a:rPr>
              <a:t>cảm</a:t>
            </a:r>
            <a:r>
              <a:rPr lang="en-US" sz="1799" b="1" dirty="0">
                <a:solidFill>
                  <a:schemeClr val="tx1"/>
                </a:solidFill>
              </a:rPr>
              <a:t> </a:t>
            </a:r>
            <a:r>
              <a:rPr lang="en-US" sz="1799" b="1" dirty="0" err="1">
                <a:solidFill>
                  <a:schemeClr val="tx1"/>
                </a:solidFill>
              </a:rPr>
              <a:t>biến</a:t>
            </a:r>
            <a:endParaRPr lang="en-US" sz="1799" b="1" dirty="0">
              <a:solidFill>
                <a:schemeClr val="tx1"/>
              </a:solidFill>
            </a:endParaRPr>
          </a:p>
          <a:p>
            <a:pPr marL="0" marR="0" lvl="0" indent="0" algn="l" rtl="0">
              <a:spcBef>
                <a:spcPts val="0"/>
              </a:spcBef>
              <a:spcAft>
                <a:spcPts val="0"/>
              </a:spcAft>
              <a:buNone/>
            </a:pPr>
            <a:endParaRPr sz="1799" b="1" dirty="0">
              <a:solidFill>
                <a:schemeClr val="lt1"/>
              </a:solidFill>
              <a:latin typeface="Arial"/>
              <a:ea typeface="Arial"/>
              <a:cs typeface="Arial"/>
              <a:sym typeface="Arial"/>
            </a:endParaRPr>
          </a:p>
        </p:txBody>
      </p:sp>
      <p:graphicFrame>
        <p:nvGraphicFramePr>
          <p:cNvPr id="2051" name="Google Shape;2051;p109"/>
          <p:cNvGraphicFramePr/>
          <p:nvPr/>
        </p:nvGraphicFramePr>
        <p:xfrm>
          <a:off x="688053" y="2108361"/>
          <a:ext cx="8526700" cy="3828060"/>
        </p:xfrm>
        <a:graphic>
          <a:graphicData uri="http://schemas.openxmlformats.org/drawingml/2006/table">
            <a:tbl>
              <a:tblPr>
                <a:noFill/>
              </a:tblPr>
              <a:tblGrid>
                <a:gridCol w="1315600">
                  <a:extLst>
                    <a:ext uri="{9D8B030D-6E8A-4147-A177-3AD203B41FA5}">
                      <a16:colId xmlns:a16="http://schemas.microsoft.com/office/drawing/2014/main" val="20000"/>
                    </a:ext>
                  </a:extLst>
                </a:gridCol>
                <a:gridCol w="6111425">
                  <a:extLst>
                    <a:ext uri="{9D8B030D-6E8A-4147-A177-3AD203B41FA5}">
                      <a16:colId xmlns:a16="http://schemas.microsoft.com/office/drawing/2014/main" val="20001"/>
                    </a:ext>
                  </a:extLst>
                </a:gridCol>
                <a:gridCol w="1099675">
                  <a:extLst>
                    <a:ext uri="{9D8B030D-6E8A-4147-A177-3AD203B41FA5}">
                      <a16:colId xmlns:a16="http://schemas.microsoft.com/office/drawing/2014/main" val="20002"/>
                    </a:ext>
                  </a:extLst>
                </a:gridCol>
              </a:tblGrid>
              <a:tr h="353925">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Những loại năng lượng</a:t>
                      </a:r>
                      <a:endParaRPr/>
                    </a:p>
                  </a:txBody>
                  <a:tcPr marL="58475" marR="39000" marT="54000" marB="540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Những tính năng áp dụng cho cảm biến</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Năm giác quan</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581525">
                <a:tc>
                  <a:txBody>
                    <a:bodyPr/>
                    <a:lstStyle/>
                    <a:p>
                      <a:pPr marL="0" marR="0" lvl="0" indent="0" algn="ctr" rtl="0">
                        <a:lnSpc>
                          <a:spcPct val="8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Năng lượng </a:t>
                      </a:r>
                      <a:endParaRPr sz="1300" b="0" u="none" strike="noStrike" cap="none">
                        <a:solidFill>
                          <a:srgbClr val="262626"/>
                        </a:solidFill>
                        <a:latin typeface="Arial"/>
                        <a:ea typeface="Arial"/>
                        <a:cs typeface="Arial"/>
                        <a:sym typeface="Arial"/>
                      </a:endParaRPr>
                    </a:p>
                    <a:p>
                      <a:pPr marL="0" marR="0" lvl="0" indent="0" algn="ctr" rtl="0">
                        <a:lnSpc>
                          <a:spcPct val="80000"/>
                        </a:lnSpc>
                        <a:spcBef>
                          <a:spcPts val="26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động lực học</a:t>
                      </a:r>
                      <a:endParaRPr/>
                    </a:p>
                  </a:txBody>
                  <a:tcPr marL="116975" marR="39000" marT="54000" marB="540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33CC"/>
                        </a:buClr>
                        <a:buSzPts val="1200"/>
                        <a:buFont typeface="Arial"/>
                        <a:buNone/>
                      </a:pPr>
                      <a:r>
                        <a:rPr lang="en-US" sz="1200" b="0" u="none" strike="noStrike" cap="none">
                          <a:solidFill>
                            <a:srgbClr val="0033CC"/>
                          </a:solidFill>
                          <a:latin typeface="Arial"/>
                          <a:ea typeface="Arial"/>
                          <a:cs typeface="Arial"/>
                          <a:sym typeface="Arial"/>
                        </a:rPr>
                        <a:t>Tốc độ, Gia tốc, Lực, Áp suất, Khối lượng, Mật độ, Mô-men, Mô-men xoắn, Hình dạng</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Thính giác</a:t>
                      </a:r>
                      <a:endParaRPr/>
                    </a:p>
                    <a:p>
                      <a:pPr marL="0" marR="0" lvl="0" indent="0" algn="ctr" rtl="0">
                        <a:lnSpc>
                          <a:spcPct val="100000"/>
                        </a:lnSpc>
                        <a:spcBef>
                          <a:spcPts val="24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Xúc giác</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581525">
                <a:tc>
                  <a:txBody>
                    <a:bodyPr/>
                    <a:lstStyle/>
                    <a:p>
                      <a:pPr marL="0" marR="0" lvl="0" indent="0" algn="ctr" rtl="0">
                        <a:lnSpc>
                          <a:spcPct val="8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Năng lượng </a:t>
                      </a:r>
                      <a:endParaRPr sz="1300" b="0" u="none" strike="noStrike" cap="none">
                        <a:solidFill>
                          <a:srgbClr val="262626"/>
                        </a:solidFill>
                        <a:latin typeface="Arial"/>
                        <a:ea typeface="Arial"/>
                        <a:cs typeface="Arial"/>
                        <a:sym typeface="Arial"/>
                      </a:endParaRPr>
                    </a:p>
                    <a:p>
                      <a:pPr marL="0" marR="0" lvl="0" indent="0" algn="ctr" rtl="0">
                        <a:lnSpc>
                          <a:spcPct val="80000"/>
                        </a:lnSpc>
                        <a:spcBef>
                          <a:spcPts val="26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bức xạ</a:t>
                      </a:r>
                      <a:endParaRPr/>
                    </a:p>
                  </a:txBody>
                  <a:tcPr marL="116975" marR="39000" marT="54000" marB="540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33CC"/>
                        </a:buClr>
                        <a:buSzPts val="1200"/>
                        <a:buFont typeface="Arial"/>
                        <a:buNone/>
                      </a:pPr>
                      <a:r>
                        <a:rPr lang="en-US" sz="1200" b="0" u="none" strike="noStrike" cap="none">
                          <a:solidFill>
                            <a:srgbClr val="0033CC"/>
                          </a:solidFill>
                          <a:latin typeface="Arial"/>
                          <a:ea typeface="Arial"/>
                          <a:cs typeface="Arial"/>
                          <a:sym typeface="Arial"/>
                        </a:rPr>
                        <a:t>Cường độ bức xạ, Năng lượng, Bước sóng, Biên độ, Pha, Độ truyền qua, Độ phân cực</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Thị giác</a:t>
                      </a:r>
                      <a:endParaRPr/>
                    </a:p>
                    <a:p>
                      <a:pPr marL="0" marR="0" lvl="0" indent="0" algn="ctr" rtl="0">
                        <a:lnSpc>
                          <a:spcPct val="100000"/>
                        </a:lnSpc>
                        <a:spcBef>
                          <a:spcPts val="24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Xúc giác</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534950">
                <a:tc>
                  <a:txBody>
                    <a:bodyPr/>
                    <a:lstStyle/>
                    <a:p>
                      <a:pPr marL="0" marR="0" lvl="0" indent="0" algn="ctr" rtl="0">
                        <a:lnSpc>
                          <a:spcPct val="8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Năng lượng </a:t>
                      </a:r>
                      <a:endParaRPr sz="1300" b="0" u="none" strike="noStrike" cap="none">
                        <a:solidFill>
                          <a:srgbClr val="262626"/>
                        </a:solidFill>
                        <a:latin typeface="Arial"/>
                        <a:ea typeface="Arial"/>
                        <a:cs typeface="Arial"/>
                        <a:sym typeface="Arial"/>
                      </a:endParaRPr>
                    </a:p>
                    <a:p>
                      <a:pPr marL="0" marR="0" lvl="0" indent="0" algn="ctr" rtl="0">
                        <a:lnSpc>
                          <a:spcPct val="80000"/>
                        </a:lnSpc>
                        <a:spcBef>
                          <a:spcPts val="26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nhiệt</a:t>
                      </a:r>
                      <a:endParaRPr/>
                    </a:p>
                  </a:txBody>
                  <a:tcPr marL="116975" marR="39000" marT="54000" marB="540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33CC"/>
                        </a:buClr>
                        <a:buSzPts val="1200"/>
                        <a:buFont typeface="Arial"/>
                        <a:buNone/>
                      </a:pPr>
                      <a:r>
                        <a:rPr lang="en-US" sz="1200" b="0" u="none" strike="noStrike" cap="none">
                          <a:solidFill>
                            <a:srgbClr val="0033CC"/>
                          </a:solidFill>
                          <a:latin typeface="Arial"/>
                          <a:ea typeface="Arial"/>
                          <a:cs typeface="Arial"/>
                          <a:sym typeface="Arial"/>
                        </a:rPr>
                        <a:t>Nhiệt lượng, Nhiệt độ, Thông lượng nhiệt</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Xúc giác</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539825">
                <a:tc>
                  <a:txBody>
                    <a:bodyPr/>
                    <a:lstStyle/>
                    <a:p>
                      <a:pPr marL="0" marR="0" lvl="0" indent="0" algn="ctr" rtl="0">
                        <a:lnSpc>
                          <a:spcPct val="8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Năng lượng từ trường</a:t>
                      </a:r>
                      <a:endParaRPr/>
                    </a:p>
                  </a:txBody>
                  <a:tcPr marL="116975" marR="39000" marT="54000" marB="540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33CC"/>
                        </a:buClr>
                        <a:buSzPts val="1200"/>
                        <a:buFont typeface="Arial"/>
                        <a:buNone/>
                      </a:pPr>
                      <a:r>
                        <a:rPr lang="en-US" sz="1200" b="0" u="none" strike="noStrike" cap="none">
                          <a:solidFill>
                            <a:srgbClr val="0033CC"/>
                          </a:solidFill>
                          <a:latin typeface="Arial"/>
                          <a:ea typeface="Arial"/>
                          <a:cs typeface="Arial"/>
                          <a:sym typeface="Arial"/>
                        </a:rPr>
                        <a:t>Cường độ từ trường, Mô-men, Độ từ thẩm, Mật độ từ thông</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581525">
                <a:tc>
                  <a:txBody>
                    <a:bodyPr/>
                    <a:lstStyle/>
                    <a:p>
                      <a:pPr marL="0" marR="0" lvl="0" indent="0" algn="ctr" rtl="0">
                        <a:lnSpc>
                          <a:spcPct val="8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Năng lượng </a:t>
                      </a:r>
                      <a:endParaRPr sz="1300" b="0" u="none" strike="noStrike" cap="none">
                        <a:solidFill>
                          <a:srgbClr val="262626"/>
                        </a:solidFill>
                        <a:latin typeface="Arial"/>
                        <a:ea typeface="Arial"/>
                        <a:cs typeface="Arial"/>
                        <a:sym typeface="Arial"/>
                      </a:endParaRPr>
                    </a:p>
                    <a:p>
                      <a:pPr marL="0" marR="0" lvl="0" indent="0" algn="ctr" rtl="0">
                        <a:lnSpc>
                          <a:spcPct val="80000"/>
                        </a:lnSpc>
                        <a:spcBef>
                          <a:spcPts val="26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hóa học</a:t>
                      </a:r>
                      <a:endParaRPr/>
                    </a:p>
                  </a:txBody>
                  <a:tcPr marL="116975" marR="39000" marT="54000" marB="540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33CC"/>
                        </a:buClr>
                        <a:buSzPts val="1200"/>
                        <a:buFont typeface="Arial"/>
                        <a:buNone/>
                      </a:pPr>
                      <a:r>
                        <a:rPr lang="en-US" sz="1200" b="0" u="none" strike="noStrike" cap="none">
                          <a:solidFill>
                            <a:srgbClr val="0033CC"/>
                          </a:solidFill>
                          <a:latin typeface="Arial"/>
                          <a:ea typeface="Arial"/>
                          <a:cs typeface="Arial"/>
                          <a:sym typeface="Arial"/>
                        </a:rPr>
                        <a:t>Nồng độ, Tốc độ phản ứng, thế oxy hóa khử, Đặc tính sinh học</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Khứu giác</a:t>
                      </a:r>
                      <a:endParaRPr/>
                    </a:p>
                    <a:p>
                      <a:pPr marL="0" marR="0" lvl="0" indent="0" algn="ctr" rtl="0">
                        <a:lnSpc>
                          <a:spcPct val="100000"/>
                        </a:lnSpc>
                        <a:spcBef>
                          <a:spcPts val="24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Vị giác</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534950">
                <a:tc>
                  <a:txBody>
                    <a:bodyPr/>
                    <a:lstStyle/>
                    <a:p>
                      <a:pPr marL="0" marR="0" lvl="0" indent="0" algn="ctr" rtl="0">
                        <a:lnSpc>
                          <a:spcPct val="8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Năng lượng </a:t>
                      </a:r>
                      <a:endParaRPr sz="1300" b="0" u="none" strike="noStrike" cap="none">
                        <a:solidFill>
                          <a:srgbClr val="262626"/>
                        </a:solidFill>
                        <a:latin typeface="Arial"/>
                        <a:ea typeface="Arial"/>
                        <a:cs typeface="Arial"/>
                        <a:sym typeface="Arial"/>
                      </a:endParaRPr>
                    </a:p>
                    <a:p>
                      <a:pPr marL="0" marR="0" lvl="0" indent="0" algn="ctr" rtl="0">
                        <a:lnSpc>
                          <a:spcPct val="80000"/>
                        </a:lnSpc>
                        <a:spcBef>
                          <a:spcPts val="26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điện</a:t>
                      </a:r>
                      <a:endParaRPr/>
                    </a:p>
                  </a:txBody>
                  <a:tcPr marL="116975" marR="39000" marT="54000" marB="540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D9D9D9"/>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33CC"/>
                        </a:buClr>
                        <a:buSzPts val="1200"/>
                        <a:buFont typeface="Arial"/>
                        <a:buNone/>
                      </a:pPr>
                      <a:r>
                        <a:rPr lang="en-US" sz="1200" b="0" u="none" strike="noStrike" cap="none">
                          <a:solidFill>
                            <a:srgbClr val="0033CC"/>
                          </a:solidFill>
                          <a:latin typeface="Arial"/>
                          <a:ea typeface="Arial"/>
                          <a:cs typeface="Arial"/>
                          <a:sym typeface="Arial"/>
                        </a:rPr>
                        <a:t>Điện áp, Cường độ dòng điện, Điện trở, Điện dung, Tần số</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a:t>
                      </a:r>
                      <a:endParaRPr/>
                    </a:p>
                  </a:txBody>
                  <a:tcPr marL="58475" marR="39000" marT="54000" marB="540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56"/>
        <p:cNvGrpSpPr/>
        <p:nvPr/>
      </p:nvGrpSpPr>
      <p:grpSpPr>
        <a:xfrm>
          <a:off x="0" y="0"/>
          <a:ext cx="0" cy="0"/>
          <a:chOff x="0" y="0"/>
          <a:chExt cx="0" cy="0"/>
        </a:xfrm>
      </p:grpSpPr>
      <p:sp>
        <p:nvSpPr>
          <p:cNvPr id="2057" name="Google Shape;2057;p110"/>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Năm giác quan của con người và cảm biến</a:t>
            </a:r>
            <a:endParaRPr/>
          </a:p>
        </p:txBody>
      </p:sp>
      <p:sp>
        <p:nvSpPr>
          <p:cNvPr id="2058" name="Google Shape;2058;p110"/>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pic>
        <p:nvPicPr>
          <p:cNvPr id="2059" name="Google Shape;2059;p110" descr="Image result for five senses of human"/>
          <p:cNvPicPr preferRelativeResize="0"/>
          <p:nvPr/>
        </p:nvPicPr>
        <p:blipFill rotWithShape="1">
          <a:blip r:embed="rId3">
            <a:alphaModFix/>
          </a:blip>
          <a:srcRect t="4823" b="12870"/>
          <a:stretch/>
        </p:blipFill>
        <p:spPr>
          <a:xfrm>
            <a:off x="3295732" y="3225694"/>
            <a:ext cx="3176690" cy="2823820"/>
          </a:xfrm>
          <a:prstGeom prst="rect">
            <a:avLst/>
          </a:prstGeom>
          <a:noFill/>
          <a:ln>
            <a:noFill/>
          </a:ln>
        </p:spPr>
      </p:pic>
      <p:grpSp>
        <p:nvGrpSpPr>
          <p:cNvPr id="2060" name="Google Shape;2060;p110"/>
          <p:cNvGrpSpPr/>
          <p:nvPr/>
        </p:nvGrpSpPr>
        <p:grpSpPr>
          <a:xfrm>
            <a:off x="934719" y="2103866"/>
            <a:ext cx="8419407" cy="3745923"/>
            <a:chOff x="1037533" y="2103853"/>
            <a:chExt cx="8419410" cy="3745921"/>
          </a:xfrm>
        </p:grpSpPr>
        <p:sp>
          <p:nvSpPr>
            <p:cNvPr id="2061" name="Google Shape;2061;p110"/>
            <p:cNvSpPr/>
            <p:nvPr/>
          </p:nvSpPr>
          <p:spPr>
            <a:xfrm>
              <a:off x="4844394" y="2103853"/>
              <a:ext cx="2018515" cy="73904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1">
                  <a:solidFill>
                    <a:srgbClr val="000000"/>
                  </a:solidFill>
                  <a:latin typeface="Arial"/>
                  <a:ea typeface="Arial"/>
                  <a:cs typeface="Arial"/>
                  <a:sym typeface="Arial"/>
                </a:rPr>
                <a:t>Vị giác </a:t>
              </a:r>
              <a:endParaRPr/>
            </a:p>
            <a:p>
              <a:pPr marL="0" marR="0" lvl="0" indent="0" algn="l" rtl="0">
                <a:spcBef>
                  <a:spcPts val="0"/>
                </a:spcBef>
                <a:spcAft>
                  <a:spcPts val="0"/>
                </a:spcAft>
                <a:buNone/>
              </a:pPr>
              <a:r>
                <a:rPr lang="en-US" sz="1401">
                  <a:solidFill>
                    <a:srgbClr val="000000"/>
                  </a:solidFill>
                  <a:latin typeface="Arial"/>
                  <a:ea typeface="Arial"/>
                  <a:cs typeface="Arial"/>
                  <a:sym typeface="Arial"/>
                </a:rPr>
                <a:t>(Lưỡi điện tử</a:t>
              </a:r>
              <a:endParaRPr/>
            </a:p>
            <a:p>
              <a:pPr marL="0" marR="0" lvl="0" indent="0" algn="l" rtl="0">
                <a:spcBef>
                  <a:spcPts val="0"/>
                </a:spcBef>
                <a:spcAft>
                  <a:spcPts val="0"/>
                </a:spcAft>
                <a:buNone/>
              </a:pPr>
              <a:r>
                <a:rPr lang="en-US" sz="1401">
                  <a:solidFill>
                    <a:srgbClr val="000000"/>
                  </a:solidFill>
                  <a:latin typeface="Arial"/>
                  <a:ea typeface="Arial"/>
                  <a:cs typeface="Arial"/>
                  <a:sym typeface="Arial"/>
                </a:rPr>
                <a:t>Sinh học: các protein)</a:t>
              </a:r>
              <a:endParaRPr/>
            </a:p>
          </p:txBody>
        </p:sp>
        <p:sp>
          <p:nvSpPr>
            <p:cNvPr id="2062" name="Google Shape;2062;p110"/>
            <p:cNvSpPr/>
            <p:nvPr/>
          </p:nvSpPr>
          <p:spPr>
            <a:xfrm>
              <a:off x="7137075" y="4711059"/>
              <a:ext cx="2319868" cy="5234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Thị giác</a:t>
              </a:r>
              <a:endParaRPr sz="1401">
                <a:solidFill>
                  <a:srgbClr val="000000"/>
                </a:solidFill>
                <a:latin typeface="Arial"/>
                <a:ea typeface="Arial"/>
                <a:cs typeface="Arial"/>
                <a:sym typeface="Arial"/>
              </a:endParaRPr>
            </a:p>
            <a:p>
              <a:pPr marL="0" marR="0" lvl="0" indent="0" algn="ctr" rtl="0">
                <a:spcBef>
                  <a:spcPts val="0"/>
                </a:spcBef>
                <a:spcAft>
                  <a:spcPts val="0"/>
                </a:spcAft>
                <a:buNone/>
              </a:pPr>
              <a:r>
                <a:rPr lang="en-US" sz="1401">
                  <a:solidFill>
                    <a:srgbClr val="000000"/>
                  </a:solidFill>
                  <a:latin typeface="Arial"/>
                  <a:ea typeface="Arial"/>
                  <a:cs typeface="Arial"/>
                  <a:sym typeface="Arial"/>
                </a:rPr>
                <a:t>(Cảm biến CCD, điốt quang)</a:t>
              </a:r>
              <a:endParaRPr/>
            </a:p>
          </p:txBody>
        </p:sp>
        <p:sp>
          <p:nvSpPr>
            <p:cNvPr id="2063" name="Google Shape;2063;p110"/>
            <p:cNvSpPr/>
            <p:nvPr/>
          </p:nvSpPr>
          <p:spPr>
            <a:xfrm>
              <a:off x="1037533" y="4695403"/>
              <a:ext cx="986167" cy="5234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Thính giác</a:t>
              </a:r>
              <a:endParaRPr sz="1401">
                <a:solidFill>
                  <a:srgbClr val="000000"/>
                </a:solidFill>
                <a:latin typeface="Arial"/>
                <a:ea typeface="Arial"/>
                <a:cs typeface="Arial"/>
                <a:sym typeface="Arial"/>
              </a:endParaRPr>
            </a:p>
            <a:p>
              <a:pPr marL="0" marR="0" lvl="0" indent="0" algn="ctr" rtl="0">
                <a:spcBef>
                  <a:spcPts val="0"/>
                </a:spcBef>
                <a:spcAft>
                  <a:spcPts val="0"/>
                </a:spcAft>
                <a:buNone/>
              </a:pPr>
              <a:r>
                <a:rPr lang="en-US" sz="1401">
                  <a:solidFill>
                    <a:srgbClr val="000000"/>
                  </a:solidFill>
                  <a:latin typeface="Arial"/>
                  <a:ea typeface="Arial"/>
                  <a:cs typeface="Arial"/>
                  <a:sym typeface="Arial"/>
                </a:rPr>
                <a:t>(Micro)</a:t>
              </a:r>
              <a:endParaRPr/>
            </a:p>
          </p:txBody>
        </p:sp>
        <p:cxnSp>
          <p:nvCxnSpPr>
            <p:cNvPr id="2064" name="Google Shape;2064;p110"/>
            <p:cNvCxnSpPr/>
            <p:nvPr/>
          </p:nvCxnSpPr>
          <p:spPr>
            <a:xfrm>
              <a:off x="7131004" y="3036768"/>
              <a:ext cx="0" cy="0"/>
            </a:xfrm>
            <a:prstGeom prst="straightConnector1">
              <a:avLst/>
            </a:prstGeom>
            <a:noFill/>
            <a:ln w="12700" cap="flat" cmpd="sng">
              <a:solidFill>
                <a:schemeClr val="dk1"/>
              </a:solidFill>
              <a:prstDash val="solid"/>
              <a:round/>
              <a:headEnd type="none" w="sm" len="sm"/>
              <a:tailEnd type="none" w="sm" len="sm"/>
            </a:ln>
          </p:spPr>
        </p:cxnSp>
        <p:sp>
          <p:nvSpPr>
            <p:cNvPr id="2065" name="Google Shape;2065;p110"/>
            <p:cNvSpPr/>
            <p:nvPr/>
          </p:nvSpPr>
          <p:spPr>
            <a:xfrm>
              <a:off x="1341053" y="3066235"/>
              <a:ext cx="1406154" cy="5234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Xúc giác</a:t>
              </a:r>
              <a:endParaRPr sz="1401">
                <a:solidFill>
                  <a:srgbClr val="000000"/>
                </a:solidFill>
                <a:latin typeface="Arial"/>
                <a:ea typeface="Arial"/>
                <a:cs typeface="Arial"/>
                <a:sym typeface="Arial"/>
              </a:endParaRPr>
            </a:p>
            <a:p>
              <a:pPr marL="0" marR="0" lvl="0" indent="0" algn="ctr" rtl="0">
                <a:spcBef>
                  <a:spcPts val="0"/>
                </a:spcBef>
                <a:spcAft>
                  <a:spcPts val="0"/>
                </a:spcAft>
                <a:buNone/>
              </a:pPr>
              <a:r>
                <a:rPr lang="en-US" sz="1401">
                  <a:solidFill>
                    <a:srgbClr val="000000"/>
                  </a:solidFill>
                  <a:latin typeface="Arial"/>
                  <a:ea typeface="Arial"/>
                  <a:cs typeface="Arial"/>
                  <a:sym typeface="Arial"/>
                </a:rPr>
                <a:t>(Mảng xúc giác)</a:t>
              </a:r>
              <a:endParaRPr/>
            </a:p>
          </p:txBody>
        </p:sp>
        <p:sp>
          <p:nvSpPr>
            <p:cNvPr id="2066" name="Google Shape;2066;p110"/>
            <p:cNvSpPr/>
            <p:nvPr/>
          </p:nvSpPr>
          <p:spPr>
            <a:xfrm>
              <a:off x="7289592" y="3682594"/>
              <a:ext cx="1955986" cy="739048"/>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Khứu giác</a:t>
              </a:r>
              <a:endParaRPr sz="1401">
                <a:solidFill>
                  <a:srgbClr val="000000"/>
                </a:solidFill>
                <a:latin typeface="Arial"/>
                <a:ea typeface="Arial"/>
                <a:cs typeface="Arial"/>
                <a:sym typeface="Arial"/>
              </a:endParaRPr>
            </a:p>
            <a:p>
              <a:pPr marL="0" marR="0" lvl="0" indent="0" algn="ctr" rtl="0">
                <a:spcBef>
                  <a:spcPts val="0"/>
                </a:spcBef>
                <a:spcAft>
                  <a:spcPts val="0"/>
                </a:spcAft>
                <a:buNone/>
              </a:pPr>
              <a:r>
                <a:rPr lang="en-US" sz="1401">
                  <a:solidFill>
                    <a:srgbClr val="000000"/>
                  </a:solidFill>
                  <a:latin typeface="Arial"/>
                  <a:ea typeface="Arial"/>
                  <a:cs typeface="Arial"/>
                  <a:sym typeface="Arial"/>
                </a:rPr>
                <a:t>(Mũi điện tử </a:t>
              </a:r>
              <a:endParaRPr/>
            </a:p>
            <a:p>
              <a:pPr marL="0" marR="0" lvl="0" indent="0" algn="ctr" rtl="0">
                <a:spcBef>
                  <a:spcPts val="0"/>
                </a:spcBef>
                <a:spcAft>
                  <a:spcPts val="0"/>
                </a:spcAft>
                <a:buNone/>
              </a:pPr>
              <a:r>
                <a:rPr lang="en-US" sz="1401">
                  <a:solidFill>
                    <a:srgbClr val="000000"/>
                  </a:solidFill>
                  <a:latin typeface="Arial"/>
                  <a:ea typeface="Arial"/>
                  <a:cs typeface="Arial"/>
                  <a:sym typeface="Arial"/>
                </a:rPr>
                <a:t>Hóa học: Chất tạo mùi)</a:t>
              </a:r>
              <a:endParaRPr/>
            </a:p>
          </p:txBody>
        </p:sp>
        <p:cxnSp>
          <p:nvCxnSpPr>
            <p:cNvPr id="2067" name="Google Shape;2067;p110"/>
            <p:cNvCxnSpPr/>
            <p:nvPr/>
          </p:nvCxnSpPr>
          <p:spPr>
            <a:xfrm>
              <a:off x="2624733" y="2963542"/>
              <a:ext cx="1133487" cy="1057129"/>
            </a:xfrm>
            <a:prstGeom prst="straightConnector1">
              <a:avLst/>
            </a:prstGeom>
            <a:noFill/>
            <a:ln w="12700" cap="flat" cmpd="sng">
              <a:solidFill>
                <a:srgbClr val="FF0000"/>
              </a:solidFill>
              <a:prstDash val="solid"/>
              <a:round/>
              <a:headEnd type="oval" w="med" len="med"/>
              <a:tailEnd type="none" w="med" len="med"/>
            </a:ln>
          </p:spPr>
        </p:cxnSp>
        <p:cxnSp>
          <p:nvCxnSpPr>
            <p:cNvPr id="2068" name="Google Shape;2068;p110"/>
            <p:cNvCxnSpPr/>
            <p:nvPr/>
          </p:nvCxnSpPr>
          <p:spPr>
            <a:xfrm>
              <a:off x="2120680" y="5546910"/>
              <a:ext cx="1637538" cy="0"/>
            </a:xfrm>
            <a:prstGeom prst="straightConnector1">
              <a:avLst/>
            </a:prstGeom>
            <a:noFill/>
            <a:ln w="12700" cap="flat" cmpd="sng">
              <a:solidFill>
                <a:srgbClr val="FF0000"/>
              </a:solidFill>
              <a:prstDash val="solid"/>
              <a:round/>
              <a:headEnd type="oval" w="med" len="med"/>
              <a:tailEnd type="none" w="med" len="med"/>
            </a:ln>
          </p:spPr>
        </p:cxnSp>
        <p:cxnSp>
          <p:nvCxnSpPr>
            <p:cNvPr id="2069" name="Google Shape;2069;p110"/>
            <p:cNvCxnSpPr/>
            <p:nvPr/>
          </p:nvCxnSpPr>
          <p:spPr>
            <a:xfrm flipH="1">
              <a:off x="6291928" y="3372936"/>
              <a:ext cx="1416805" cy="712737"/>
            </a:xfrm>
            <a:prstGeom prst="straightConnector1">
              <a:avLst/>
            </a:prstGeom>
            <a:noFill/>
            <a:ln w="12700" cap="flat" cmpd="sng">
              <a:solidFill>
                <a:srgbClr val="FF0000"/>
              </a:solidFill>
              <a:prstDash val="solid"/>
              <a:round/>
              <a:headEnd type="oval" w="med" len="med"/>
              <a:tailEnd type="none" w="med" len="med"/>
            </a:ln>
          </p:spPr>
        </p:cxnSp>
        <p:cxnSp>
          <p:nvCxnSpPr>
            <p:cNvPr id="2070" name="Google Shape;2070;p110"/>
            <p:cNvCxnSpPr/>
            <p:nvPr/>
          </p:nvCxnSpPr>
          <p:spPr>
            <a:xfrm>
              <a:off x="5002748" y="2796350"/>
              <a:ext cx="0" cy="576000"/>
            </a:xfrm>
            <a:prstGeom prst="straightConnector1">
              <a:avLst/>
            </a:prstGeom>
            <a:noFill/>
            <a:ln w="12700" cap="flat" cmpd="sng">
              <a:solidFill>
                <a:srgbClr val="FF0000"/>
              </a:solidFill>
              <a:prstDash val="solid"/>
              <a:round/>
              <a:headEnd type="oval" w="med" len="med"/>
              <a:tailEnd type="none" w="med" len="med"/>
            </a:ln>
          </p:spPr>
        </p:cxnSp>
        <p:pic>
          <p:nvPicPr>
            <p:cNvPr id="2071" name="Google Shape;2071;p110" descr="002_OV5610_CCD_CHIP"/>
            <p:cNvPicPr preferRelativeResize="0"/>
            <p:nvPr/>
          </p:nvPicPr>
          <p:blipFill rotWithShape="1">
            <a:blip r:embed="rId4">
              <a:alphaModFix/>
            </a:blip>
            <a:srcRect t="17099" b="4662"/>
            <a:stretch/>
          </p:blipFill>
          <p:spPr>
            <a:xfrm>
              <a:off x="7869272" y="5273774"/>
              <a:ext cx="828000" cy="576000"/>
            </a:xfrm>
            <a:prstGeom prst="rect">
              <a:avLst/>
            </a:prstGeom>
            <a:noFill/>
            <a:ln>
              <a:noFill/>
            </a:ln>
          </p:spPr>
        </p:pic>
        <p:pic>
          <p:nvPicPr>
            <p:cNvPr id="2072" name="Google Shape;2072;p110"/>
            <p:cNvPicPr preferRelativeResize="0"/>
            <p:nvPr/>
          </p:nvPicPr>
          <p:blipFill rotWithShape="1">
            <a:blip r:embed="rId5">
              <a:alphaModFix/>
            </a:blip>
            <a:srcRect l="26990" t="4924" b="10985"/>
            <a:stretch/>
          </p:blipFill>
          <p:spPr>
            <a:xfrm>
              <a:off x="1116614" y="5273774"/>
              <a:ext cx="828000" cy="576000"/>
            </a:xfrm>
            <a:prstGeom prst="rect">
              <a:avLst/>
            </a:prstGeom>
            <a:noFill/>
            <a:ln>
              <a:noFill/>
            </a:ln>
          </p:spPr>
        </p:pic>
        <p:pic>
          <p:nvPicPr>
            <p:cNvPr id="2073" name="Google Shape;2073;p110" descr="chip tactile"/>
            <p:cNvPicPr preferRelativeResize="0"/>
            <p:nvPr/>
          </p:nvPicPr>
          <p:blipFill rotWithShape="1">
            <a:blip r:embed="rId6">
              <a:alphaModFix/>
            </a:blip>
            <a:srcRect/>
            <a:stretch/>
          </p:blipFill>
          <p:spPr>
            <a:xfrm>
              <a:off x="1630132" y="2387542"/>
              <a:ext cx="828000" cy="576000"/>
            </a:xfrm>
            <a:prstGeom prst="rect">
              <a:avLst/>
            </a:prstGeom>
            <a:noFill/>
            <a:ln>
              <a:noFill/>
            </a:ln>
          </p:spPr>
        </p:pic>
        <p:pic>
          <p:nvPicPr>
            <p:cNvPr id="2074" name="Google Shape;2074;p110" descr="8035cov1.hand"/>
            <p:cNvPicPr preferRelativeResize="0"/>
            <p:nvPr/>
          </p:nvPicPr>
          <p:blipFill rotWithShape="1">
            <a:blip r:embed="rId7">
              <a:alphaModFix/>
            </a:blip>
            <a:srcRect l="57702" t="3969" b="48952"/>
            <a:stretch/>
          </p:blipFill>
          <p:spPr>
            <a:xfrm>
              <a:off x="3987667" y="2168328"/>
              <a:ext cx="828000" cy="576000"/>
            </a:xfrm>
            <a:prstGeom prst="rect">
              <a:avLst/>
            </a:prstGeom>
            <a:noFill/>
            <a:ln>
              <a:noFill/>
            </a:ln>
          </p:spPr>
        </p:pic>
        <p:pic>
          <p:nvPicPr>
            <p:cNvPr id="2075" name="Google Shape;2075;p110" descr="photo of electronic nose sensors"/>
            <p:cNvPicPr preferRelativeResize="0"/>
            <p:nvPr/>
          </p:nvPicPr>
          <p:blipFill rotWithShape="1">
            <a:blip r:embed="rId8">
              <a:alphaModFix/>
            </a:blip>
            <a:srcRect/>
            <a:stretch/>
          </p:blipFill>
          <p:spPr>
            <a:xfrm>
              <a:off x="7875335" y="3003904"/>
              <a:ext cx="828000" cy="576000"/>
            </a:xfrm>
            <a:prstGeom prst="rect">
              <a:avLst/>
            </a:prstGeom>
            <a:noFill/>
            <a:ln>
              <a:noFill/>
            </a:ln>
          </p:spPr>
        </p:pic>
      </p:grpSp>
      <p:cxnSp>
        <p:nvCxnSpPr>
          <p:cNvPr id="2076" name="Google Shape;2076;p110"/>
          <p:cNvCxnSpPr/>
          <p:nvPr/>
        </p:nvCxnSpPr>
        <p:spPr>
          <a:xfrm rot="10800000">
            <a:off x="6111693" y="5553644"/>
            <a:ext cx="1580026" cy="2"/>
          </a:xfrm>
          <a:prstGeom prst="straightConnector1">
            <a:avLst/>
          </a:prstGeom>
          <a:noFill/>
          <a:ln w="12700" cap="flat" cmpd="sng">
            <a:solidFill>
              <a:srgbClr val="FF0000"/>
            </a:solidFill>
            <a:prstDash val="solid"/>
            <a:round/>
            <a:headEnd type="oval" w="med" len="med"/>
            <a:tailEnd type="none" w="med" len="med"/>
          </a:ln>
        </p:spPr>
      </p:cxnSp>
      <p:sp>
        <p:nvSpPr>
          <p:cNvPr id="2077" name="Google Shape;2077;p110"/>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3.1. Định nghĩa cảm biến</a:t>
            </a:r>
            <a:endParaRPr sz="1799" b="1">
              <a:solidFill>
                <a:schemeClr val="lt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82"/>
        <p:cNvGrpSpPr/>
        <p:nvPr/>
      </p:nvGrpSpPr>
      <p:grpSpPr>
        <a:xfrm>
          <a:off x="0" y="0"/>
          <a:ext cx="0" cy="0"/>
          <a:chOff x="0" y="0"/>
          <a:chExt cx="0" cy="0"/>
        </a:xfrm>
      </p:grpSpPr>
      <p:sp>
        <p:nvSpPr>
          <p:cNvPr id="2083" name="Google Shape;2083;p111"/>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Cảm biến và bộ chuyển đổi</a:t>
            </a:r>
            <a:endParaRPr sz="2401" b="1">
              <a:solidFill>
                <a:srgbClr val="0C0C0C"/>
              </a:solidFill>
              <a:latin typeface="Arial"/>
              <a:ea typeface="Arial"/>
              <a:cs typeface="Arial"/>
              <a:sym typeface="Arial"/>
            </a:endParaRPr>
          </a:p>
        </p:txBody>
      </p:sp>
      <p:sp>
        <p:nvSpPr>
          <p:cNvPr id="2084" name="Google Shape;2084;p111"/>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085" name="Google Shape;2085;p111"/>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Bộ chuyển đổi</a:t>
            </a:r>
            <a:endParaRPr sz="1401">
              <a:solidFill>
                <a:schemeClr val="dk1"/>
              </a:solidFill>
              <a:latin typeface="Arial"/>
              <a:ea typeface="Arial"/>
              <a:cs typeface="Arial"/>
              <a:sym typeface="Arial"/>
            </a:endParaRPr>
          </a:p>
        </p:txBody>
      </p:sp>
      <p:sp>
        <p:nvSpPr>
          <p:cNvPr id="2086" name="Google Shape;2086;p111"/>
          <p:cNvSpPr/>
          <p:nvPr/>
        </p:nvSpPr>
        <p:spPr>
          <a:xfrm>
            <a:off x="712189" y="2174877"/>
            <a:ext cx="8487381" cy="2160413"/>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Bộ chuyển đổi là thuật ngữ dùng để mô tả thiết bị chuyển đổi một dạng năng lượng (tín hiệu) thành dạng năng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lượng khác (tín hiệu)</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Trong hệ thống đo lường,</a:t>
            </a:r>
            <a:endParaRPr/>
          </a:p>
          <a:p>
            <a:pPr marL="285750" marR="0" lvl="0" indent="-285750"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Cảm biến: Bộ chuyển đổi tín hiệu đầu vào chuyển đổi các đại lượng không điện thành tín hiệu điện </a:t>
            </a:r>
            <a:endParaRPr/>
          </a:p>
          <a:p>
            <a:pPr marL="285750" marR="0" lvl="0" indent="-285750"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Bộ dẫn động: Bộ chuyển đổi đầu ra chuyển đổi tín hiệu điện thành loại năng lượng khác</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Cảm biến và bộ chuyển đổi khác nhau ở chỗ đầu ra có phải (năng lượng) tín hiệu điện hay không. Tuy nhiên,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trên thực tế, hai thuật ngữ này thường được sử dụng thay thế cho nhau.</a:t>
            </a:r>
            <a:endParaRPr/>
          </a:p>
        </p:txBody>
      </p:sp>
      <p:grpSp>
        <p:nvGrpSpPr>
          <p:cNvPr id="2087" name="Google Shape;2087;p111"/>
          <p:cNvGrpSpPr/>
          <p:nvPr/>
        </p:nvGrpSpPr>
        <p:grpSpPr>
          <a:xfrm>
            <a:off x="734972" y="4301717"/>
            <a:ext cx="8322775" cy="1842385"/>
            <a:chOff x="729346" y="4301722"/>
            <a:chExt cx="8322773" cy="1842387"/>
          </a:xfrm>
        </p:grpSpPr>
        <p:pic>
          <p:nvPicPr>
            <p:cNvPr id="2088" name="Google Shape;2088;p111" descr="elem_sens_01"/>
            <p:cNvPicPr preferRelativeResize="0"/>
            <p:nvPr/>
          </p:nvPicPr>
          <p:blipFill rotWithShape="1">
            <a:blip r:embed="rId3">
              <a:alphaModFix/>
            </a:blip>
            <a:srcRect/>
            <a:stretch/>
          </p:blipFill>
          <p:spPr>
            <a:xfrm>
              <a:off x="2501398" y="5211169"/>
              <a:ext cx="669558" cy="838088"/>
            </a:xfrm>
            <a:prstGeom prst="rect">
              <a:avLst/>
            </a:prstGeom>
            <a:noFill/>
            <a:ln>
              <a:noFill/>
            </a:ln>
          </p:spPr>
        </p:pic>
        <p:pic>
          <p:nvPicPr>
            <p:cNvPr id="2089" name="Google Shape;2089;p111" descr="PENTS"/>
            <p:cNvPicPr preferRelativeResize="0"/>
            <p:nvPr/>
          </p:nvPicPr>
          <p:blipFill rotWithShape="1">
            <a:blip r:embed="rId4">
              <a:alphaModFix/>
            </a:blip>
            <a:srcRect/>
            <a:stretch/>
          </p:blipFill>
          <p:spPr>
            <a:xfrm>
              <a:off x="4542701" y="5223541"/>
              <a:ext cx="827413" cy="842978"/>
            </a:xfrm>
            <a:prstGeom prst="rect">
              <a:avLst/>
            </a:prstGeom>
            <a:noFill/>
            <a:ln>
              <a:noFill/>
            </a:ln>
          </p:spPr>
        </p:pic>
        <p:graphicFrame>
          <p:nvGraphicFramePr>
            <p:cNvPr id="2090" name="Google Shape;2090;p111"/>
            <p:cNvGraphicFramePr/>
            <p:nvPr/>
          </p:nvGraphicFramePr>
          <p:xfrm>
            <a:off x="6414708" y="5206280"/>
            <a:ext cx="413176" cy="842977"/>
          </p:xfrm>
          <a:graphic>
            <a:graphicData uri="http://schemas.openxmlformats.org/presentationml/2006/ole">
              <mc:AlternateContent xmlns:mc="http://schemas.openxmlformats.org/markup-compatibility/2006">
                <mc:Choice xmlns:v="urn:schemas-microsoft-com:vml" Requires="v">
                  <p:oleObj r:id="rId5" imgW="413176" imgH="842977" progId="Paint.Picture">
                    <p:embed/>
                  </p:oleObj>
                </mc:Choice>
                <mc:Fallback>
                  <p:oleObj r:id="rId5" imgW="413176" imgH="842977" progId="Paint.Picture">
                    <p:embed/>
                    <p:pic>
                      <p:nvPicPr>
                        <p:cNvPr id="2090" name="Google Shape;2090;p111"/>
                        <p:cNvPicPr preferRelativeResize="0"/>
                        <p:nvPr/>
                      </p:nvPicPr>
                      <p:blipFill rotWithShape="1">
                        <a:blip r:embed="rId6">
                          <a:alphaModFix/>
                        </a:blip>
                        <a:srcRect/>
                        <a:stretch/>
                      </p:blipFill>
                      <p:spPr>
                        <a:xfrm>
                          <a:off x="6414708" y="5206280"/>
                          <a:ext cx="413176" cy="842977"/>
                        </a:xfrm>
                        <a:prstGeom prst="rect">
                          <a:avLst/>
                        </a:prstGeom>
                        <a:noFill/>
                        <a:ln>
                          <a:noFill/>
                        </a:ln>
                      </p:spPr>
                    </p:pic>
                  </p:oleObj>
                </mc:Fallback>
              </mc:AlternateContent>
            </a:graphicData>
          </a:graphic>
        </p:graphicFrame>
        <p:sp>
          <p:nvSpPr>
            <p:cNvPr id="2091" name="Google Shape;2091;p111"/>
            <p:cNvSpPr txBox="1"/>
            <p:nvPr/>
          </p:nvSpPr>
          <p:spPr>
            <a:xfrm>
              <a:off x="729346" y="4518114"/>
              <a:ext cx="1302729" cy="29225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rgbClr val="000000"/>
                  </a:solidFill>
                  <a:latin typeface="Arial"/>
                  <a:ea typeface="Arial"/>
                  <a:cs typeface="Arial"/>
                  <a:sym typeface="Arial"/>
                </a:rPr>
                <a:t>Tín hiệu đầu vào</a:t>
              </a:r>
              <a:endParaRPr sz="1299">
                <a:solidFill>
                  <a:srgbClr val="000000"/>
                </a:solidFill>
                <a:latin typeface="Arial"/>
                <a:ea typeface="Arial"/>
                <a:cs typeface="Arial"/>
                <a:sym typeface="Arial"/>
              </a:endParaRPr>
            </a:p>
          </p:txBody>
        </p:sp>
        <p:cxnSp>
          <p:nvCxnSpPr>
            <p:cNvPr id="2092" name="Google Shape;2092;p111"/>
            <p:cNvCxnSpPr/>
            <p:nvPr/>
          </p:nvCxnSpPr>
          <p:spPr>
            <a:xfrm>
              <a:off x="1117309" y="4839046"/>
              <a:ext cx="882379" cy="0"/>
            </a:xfrm>
            <a:prstGeom prst="straightConnector1">
              <a:avLst/>
            </a:prstGeom>
            <a:noFill/>
            <a:ln w="12700" cap="flat" cmpd="sng">
              <a:solidFill>
                <a:srgbClr val="595959"/>
              </a:solidFill>
              <a:prstDash val="solid"/>
              <a:miter lim="800000"/>
              <a:headEnd type="none" w="sm" len="sm"/>
              <a:tailEnd type="triangle" w="med" len="med"/>
            </a:ln>
          </p:spPr>
        </p:cxnSp>
        <p:cxnSp>
          <p:nvCxnSpPr>
            <p:cNvPr id="2093" name="Google Shape;2093;p111"/>
            <p:cNvCxnSpPr/>
            <p:nvPr/>
          </p:nvCxnSpPr>
          <p:spPr>
            <a:xfrm>
              <a:off x="3322751" y="4823247"/>
              <a:ext cx="3146629" cy="0"/>
            </a:xfrm>
            <a:prstGeom prst="straightConnector1">
              <a:avLst/>
            </a:prstGeom>
            <a:noFill/>
            <a:ln w="12700" cap="flat" cmpd="sng">
              <a:solidFill>
                <a:srgbClr val="595959"/>
              </a:solidFill>
              <a:prstDash val="solid"/>
              <a:miter lim="800000"/>
              <a:headEnd type="none" w="sm" len="sm"/>
              <a:tailEnd type="none" w="sm" len="sm"/>
            </a:ln>
          </p:spPr>
        </p:cxnSp>
        <p:sp>
          <p:nvSpPr>
            <p:cNvPr id="2094" name="Google Shape;2094;p111"/>
            <p:cNvSpPr txBox="1"/>
            <p:nvPr/>
          </p:nvSpPr>
          <p:spPr>
            <a:xfrm>
              <a:off x="4219560" y="4603068"/>
              <a:ext cx="1404000" cy="432000"/>
            </a:xfrm>
            <a:prstGeom prst="rect">
              <a:avLst/>
            </a:prstGeom>
            <a:solidFill>
              <a:schemeClr val="lt1"/>
            </a:solidFill>
            <a:ln w="19050" cap="flat" cmpd="sng">
              <a:solidFill>
                <a:srgbClr val="0077C8"/>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800">
                  <a:solidFill>
                    <a:srgbClr val="262626"/>
                  </a:solidFill>
                  <a:latin typeface="Arial"/>
                  <a:ea typeface="Arial"/>
                  <a:cs typeface="Arial"/>
                  <a:sym typeface="Arial"/>
                </a:rPr>
                <a:t>Bộ xử lý </a:t>
              </a:r>
              <a:endParaRPr/>
            </a:p>
            <a:p>
              <a:pPr marL="0" marR="0" lvl="0" indent="0" algn="ctr" rtl="0">
                <a:spcBef>
                  <a:spcPts val="0"/>
                </a:spcBef>
                <a:spcAft>
                  <a:spcPts val="0"/>
                </a:spcAft>
                <a:buNone/>
              </a:pPr>
              <a:r>
                <a:rPr lang="en-US" sz="800">
                  <a:solidFill>
                    <a:srgbClr val="262626"/>
                  </a:solidFill>
                  <a:latin typeface="Arial"/>
                  <a:ea typeface="Arial"/>
                  <a:cs typeface="Arial"/>
                  <a:sym typeface="Arial"/>
                </a:rPr>
                <a:t>tín hiệu</a:t>
              </a:r>
              <a:endParaRPr sz="800">
                <a:solidFill>
                  <a:srgbClr val="262626"/>
                </a:solidFill>
                <a:latin typeface="Arial"/>
                <a:ea typeface="Arial"/>
                <a:cs typeface="Arial"/>
                <a:sym typeface="Arial"/>
              </a:endParaRPr>
            </a:p>
          </p:txBody>
        </p:sp>
        <p:sp>
          <p:nvSpPr>
            <p:cNvPr id="2095" name="Google Shape;2095;p111"/>
            <p:cNvSpPr txBox="1"/>
            <p:nvPr/>
          </p:nvSpPr>
          <p:spPr>
            <a:xfrm>
              <a:off x="2024412" y="4603068"/>
              <a:ext cx="1404000" cy="432000"/>
            </a:xfrm>
            <a:prstGeom prst="rect">
              <a:avLst/>
            </a:prstGeom>
            <a:solidFill>
              <a:schemeClr val="lt1"/>
            </a:solidFill>
            <a:ln w="19050" cap="flat" cmpd="sng">
              <a:solidFill>
                <a:srgbClr val="0077C8"/>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800">
                  <a:solidFill>
                    <a:srgbClr val="262626"/>
                  </a:solidFill>
                  <a:latin typeface="Arial"/>
                  <a:ea typeface="Arial"/>
                  <a:cs typeface="Arial"/>
                  <a:sym typeface="Arial"/>
                </a:rPr>
                <a:t>Bộ chuyển đổi tín hiệu đầu vào</a:t>
              </a:r>
              <a:endParaRPr sz="800">
                <a:solidFill>
                  <a:srgbClr val="262626"/>
                </a:solidFill>
                <a:latin typeface="Arial"/>
                <a:ea typeface="Arial"/>
                <a:cs typeface="Arial"/>
                <a:sym typeface="Arial"/>
              </a:endParaRPr>
            </a:p>
            <a:p>
              <a:pPr marL="0" marR="0" lvl="0" indent="0" algn="ctr" rtl="0">
                <a:spcBef>
                  <a:spcPts val="0"/>
                </a:spcBef>
                <a:spcAft>
                  <a:spcPts val="0"/>
                </a:spcAft>
                <a:buNone/>
              </a:pPr>
              <a:r>
                <a:rPr lang="en-US" sz="800">
                  <a:solidFill>
                    <a:srgbClr val="262626"/>
                  </a:solidFill>
                  <a:latin typeface="Arial"/>
                  <a:ea typeface="Arial"/>
                  <a:cs typeface="Arial"/>
                  <a:sym typeface="Arial"/>
                </a:rPr>
                <a:t>(Cảm biến)</a:t>
              </a:r>
              <a:endParaRPr/>
            </a:p>
          </p:txBody>
        </p:sp>
        <p:sp>
          <p:nvSpPr>
            <p:cNvPr id="2096" name="Google Shape;2096;p111"/>
            <p:cNvSpPr txBox="1"/>
            <p:nvPr/>
          </p:nvSpPr>
          <p:spPr>
            <a:xfrm>
              <a:off x="6414708" y="4603068"/>
              <a:ext cx="1404000" cy="432000"/>
            </a:xfrm>
            <a:prstGeom prst="rect">
              <a:avLst/>
            </a:prstGeom>
            <a:solidFill>
              <a:schemeClr val="lt1"/>
            </a:solidFill>
            <a:ln w="19050" cap="flat" cmpd="sng">
              <a:solidFill>
                <a:srgbClr val="FF4337"/>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800">
                  <a:solidFill>
                    <a:srgbClr val="262626"/>
                  </a:solidFill>
                  <a:latin typeface="Arial"/>
                  <a:ea typeface="Arial"/>
                  <a:cs typeface="Arial"/>
                  <a:sym typeface="Arial"/>
                </a:rPr>
                <a:t>Bộ chuyển đổi tín hiệu đầu ra</a:t>
              </a:r>
              <a:endParaRPr sz="800">
                <a:solidFill>
                  <a:srgbClr val="262626"/>
                </a:solidFill>
                <a:latin typeface="Arial"/>
                <a:ea typeface="Arial"/>
                <a:cs typeface="Arial"/>
                <a:sym typeface="Arial"/>
              </a:endParaRPr>
            </a:p>
            <a:p>
              <a:pPr marL="0" marR="0" lvl="0" indent="0" algn="ctr" rtl="0">
                <a:spcBef>
                  <a:spcPts val="0"/>
                </a:spcBef>
                <a:spcAft>
                  <a:spcPts val="0"/>
                </a:spcAft>
                <a:buNone/>
              </a:pPr>
              <a:r>
                <a:rPr lang="en-US" sz="800">
                  <a:solidFill>
                    <a:srgbClr val="262626"/>
                  </a:solidFill>
                  <a:latin typeface="Arial"/>
                  <a:ea typeface="Arial"/>
                  <a:cs typeface="Arial"/>
                  <a:sym typeface="Arial"/>
                </a:rPr>
                <a:t>(Bộ dẫn động)</a:t>
              </a:r>
              <a:endParaRPr/>
            </a:p>
          </p:txBody>
        </p:sp>
        <p:sp>
          <p:nvSpPr>
            <p:cNvPr id="2097" name="Google Shape;2097;p111"/>
            <p:cNvSpPr txBox="1"/>
            <p:nvPr/>
          </p:nvSpPr>
          <p:spPr>
            <a:xfrm>
              <a:off x="3309840" y="4301722"/>
              <a:ext cx="1066318" cy="2922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rgbClr val="000000"/>
                  </a:solidFill>
                  <a:latin typeface="Arial"/>
                  <a:ea typeface="Arial"/>
                  <a:cs typeface="Arial"/>
                  <a:sym typeface="Arial"/>
                </a:rPr>
                <a:t>Tín hiệu điện</a:t>
              </a:r>
              <a:endParaRPr sz="1299">
                <a:solidFill>
                  <a:srgbClr val="000000"/>
                </a:solidFill>
                <a:latin typeface="Arial"/>
                <a:ea typeface="Arial"/>
                <a:cs typeface="Arial"/>
                <a:sym typeface="Arial"/>
              </a:endParaRPr>
            </a:p>
          </p:txBody>
        </p:sp>
        <p:sp>
          <p:nvSpPr>
            <p:cNvPr id="2098" name="Google Shape;2098;p111"/>
            <p:cNvSpPr txBox="1"/>
            <p:nvPr/>
          </p:nvSpPr>
          <p:spPr>
            <a:xfrm>
              <a:off x="7867179" y="4513053"/>
              <a:ext cx="1184940" cy="29225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rgbClr val="000000"/>
                  </a:solidFill>
                  <a:latin typeface="Arial"/>
                  <a:ea typeface="Arial"/>
                  <a:cs typeface="Arial"/>
                  <a:sym typeface="Arial"/>
                </a:rPr>
                <a:t>Tín hiệu đầu ra</a:t>
              </a:r>
              <a:endParaRPr sz="1299">
                <a:solidFill>
                  <a:srgbClr val="000000"/>
                </a:solidFill>
                <a:latin typeface="Arial"/>
                <a:ea typeface="Arial"/>
                <a:cs typeface="Arial"/>
                <a:sym typeface="Arial"/>
              </a:endParaRPr>
            </a:p>
          </p:txBody>
        </p:sp>
        <p:cxnSp>
          <p:nvCxnSpPr>
            <p:cNvPr id="2099" name="Google Shape;2099;p111"/>
            <p:cNvCxnSpPr/>
            <p:nvPr/>
          </p:nvCxnSpPr>
          <p:spPr>
            <a:xfrm>
              <a:off x="7820071" y="4839046"/>
              <a:ext cx="976688" cy="0"/>
            </a:xfrm>
            <a:prstGeom prst="straightConnector1">
              <a:avLst/>
            </a:prstGeom>
            <a:noFill/>
            <a:ln w="12700" cap="flat" cmpd="sng">
              <a:solidFill>
                <a:srgbClr val="595959"/>
              </a:solidFill>
              <a:prstDash val="solid"/>
              <a:miter lim="800000"/>
              <a:headEnd type="none" w="sm" len="sm"/>
              <a:tailEnd type="triangle" w="med" len="med"/>
            </a:ln>
          </p:spPr>
        </p:cxnSp>
        <p:sp>
          <p:nvSpPr>
            <p:cNvPr id="2100" name="Google Shape;2100;p111"/>
            <p:cNvSpPr txBox="1"/>
            <p:nvPr/>
          </p:nvSpPr>
          <p:spPr>
            <a:xfrm>
              <a:off x="5494582" y="4301722"/>
              <a:ext cx="1066318" cy="2922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rgbClr val="000000"/>
                  </a:solidFill>
                  <a:latin typeface="Arial"/>
                  <a:ea typeface="Arial"/>
                  <a:cs typeface="Arial"/>
                  <a:sym typeface="Arial"/>
                </a:rPr>
                <a:t>Tín hiệu điện</a:t>
              </a:r>
              <a:endParaRPr sz="1299">
                <a:solidFill>
                  <a:srgbClr val="000000"/>
                </a:solidFill>
                <a:latin typeface="Arial"/>
                <a:ea typeface="Arial"/>
                <a:cs typeface="Arial"/>
                <a:sym typeface="Arial"/>
              </a:endParaRPr>
            </a:p>
          </p:txBody>
        </p:sp>
        <p:sp>
          <p:nvSpPr>
            <p:cNvPr id="2101" name="Google Shape;2101;p111"/>
            <p:cNvSpPr txBox="1"/>
            <p:nvPr/>
          </p:nvSpPr>
          <p:spPr>
            <a:xfrm>
              <a:off x="1620401" y="5836204"/>
              <a:ext cx="1269579" cy="30790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rgbClr val="FF0000"/>
                  </a:solidFill>
                  <a:latin typeface="Arial"/>
                  <a:ea typeface="Arial"/>
                  <a:cs typeface="Arial"/>
                  <a:sym typeface="Arial"/>
                </a:rPr>
                <a:t>Cảm biến RTD</a:t>
              </a:r>
              <a:endParaRPr/>
            </a:p>
          </p:txBody>
        </p:sp>
        <p:sp>
          <p:nvSpPr>
            <p:cNvPr id="2102" name="Google Shape;2102;p111"/>
            <p:cNvSpPr txBox="1"/>
            <p:nvPr/>
          </p:nvSpPr>
          <p:spPr>
            <a:xfrm>
              <a:off x="6955864" y="5816233"/>
              <a:ext cx="846706" cy="30790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rgbClr val="FF0000"/>
                  </a:solidFill>
                  <a:latin typeface="Arial"/>
                  <a:ea typeface="Arial"/>
                  <a:cs typeface="Arial"/>
                  <a:sym typeface="Arial"/>
                </a:rPr>
                <a:t>Nhiệt kế</a:t>
              </a:r>
              <a:endParaRPr sz="1401">
                <a:solidFill>
                  <a:srgbClr val="FF0000"/>
                </a:solidFill>
                <a:latin typeface="Arial"/>
                <a:ea typeface="Arial"/>
                <a:cs typeface="Arial"/>
                <a:sym typeface="Arial"/>
              </a:endParaRPr>
            </a:p>
          </p:txBody>
        </p:sp>
        <p:cxnSp>
          <p:nvCxnSpPr>
            <p:cNvPr id="2103" name="Google Shape;2103;p111"/>
            <p:cNvCxnSpPr/>
            <p:nvPr/>
          </p:nvCxnSpPr>
          <p:spPr>
            <a:xfrm>
              <a:off x="3842997" y="4549140"/>
              <a:ext cx="0" cy="244186"/>
            </a:xfrm>
            <a:prstGeom prst="straightConnector1">
              <a:avLst/>
            </a:prstGeom>
            <a:noFill/>
            <a:ln w="12700" cap="flat" cmpd="sng">
              <a:solidFill>
                <a:srgbClr val="595959"/>
              </a:solidFill>
              <a:prstDash val="solid"/>
              <a:miter lim="800000"/>
              <a:headEnd type="none" w="sm" len="sm"/>
              <a:tailEnd type="triangle" w="med" len="med"/>
            </a:ln>
          </p:spPr>
        </p:cxnSp>
        <p:cxnSp>
          <p:nvCxnSpPr>
            <p:cNvPr id="2104" name="Google Shape;2104;p111"/>
            <p:cNvCxnSpPr/>
            <p:nvPr/>
          </p:nvCxnSpPr>
          <p:spPr>
            <a:xfrm>
              <a:off x="6027740" y="4549140"/>
              <a:ext cx="0" cy="244186"/>
            </a:xfrm>
            <a:prstGeom prst="straightConnector1">
              <a:avLst/>
            </a:prstGeom>
            <a:noFill/>
            <a:ln w="12700" cap="flat" cmpd="sng">
              <a:solidFill>
                <a:srgbClr val="595959"/>
              </a:solidFill>
              <a:prstDash val="solid"/>
              <a:miter lim="800000"/>
              <a:headEnd type="none" w="sm" len="sm"/>
              <a:tailEnd type="triangle" w="med" len="med"/>
            </a:ln>
          </p:spPr>
        </p:cxnSp>
      </p:grpSp>
      <p:sp>
        <p:nvSpPr>
          <p:cNvPr id="2105" name="Google Shape;2105;p111"/>
          <p:cNvSpPr/>
          <p:nvPr/>
        </p:nvSpPr>
        <p:spPr>
          <a:xfrm>
            <a:off x="416136" y="444879"/>
            <a:ext cx="5824317" cy="553741"/>
          </a:xfrm>
          <a:prstGeom prst="rect">
            <a:avLst/>
          </a:prstGeom>
          <a:noFill/>
          <a:ln>
            <a:noFill/>
          </a:ln>
        </p:spPr>
        <p:txBody>
          <a:bodyPr spcFirstLastPara="1" wrap="square" lIns="0" tIns="0" rIns="0" bIns="0" anchor="t" anchorCtr="0">
            <a:spAutoFit/>
          </a:bodyPr>
          <a:lstStyle/>
          <a:p>
            <a:r>
              <a:rPr lang="en-US" sz="1799" b="1" dirty="0">
                <a:solidFill>
                  <a:schemeClr val="lt1"/>
                </a:solidFill>
                <a:latin typeface="Arial"/>
                <a:ea typeface="Arial"/>
                <a:cs typeface="Arial"/>
                <a:sym typeface="Arial"/>
              </a:rPr>
              <a:t>3.1. </a:t>
            </a:r>
            <a:r>
              <a:rPr lang="en-US" sz="1799" b="1" dirty="0">
                <a:solidFill>
                  <a:schemeClr val="tx1"/>
                </a:solidFill>
              </a:rPr>
              <a:t>Định </a:t>
            </a:r>
            <a:r>
              <a:rPr lang="en-US" sz="1799" b="1" dirty="0" err="1">
                <a:solidFill>
                  <a:schemeClr val="tx1"/>
                </a:solidFill>
              </a:rPr>
              <a:t>nghĩa</a:t>
            </a:r>
            <a:r>
              <a:rPr lang="en-US" sz="1799" b="1" dirty="0">
                <a:solidFill>
                  <a:schemeClr val="tx1"/>
                </a:solidFill>
              </a:rPr>
              <a:t> </a:t>
            </a:r>
            <a:r>
              <a:rPr lang="en-US" sz="1799" b="1" dirty="0" err="1">
                <a:solidFill>
                  <a:schemeClr val="tx1"/>
                </a:solidFill>
              </a:rPr>
              <a:t>cảm</a:t>
            </a:r>
            <a:r>
              <a:rPr lang="en-US" sz="1799" b="1" dirty="0">
                <a:solidFill>
                  <a:schemeClr val="tx1"/>
                </a:solidFill>
              </a:rPr>
              <a:t> </a:t>
            </a:r>
            <a:r>
              <a:rPr lang="en-US" sz="1799" b="1" dirty="0" err="1">
                <a:solidFill>
                  <a:schemeClr val="tx1"/>
                </a:solidFill>
              </a:rPr>
              <a:t>biến</a:t>
            </a:r>
            <a:endParaRPr lang="en-US" sz="1799" b="1" dirty="0">
              <a:solidFill>
                <a:schemeClr val="tx1"/>
              </a:solidFill>
            </a:endParaRPr>
          </a:p>
          <a:p>
            <a:pPr marL="0" marR="0" lvl="0" indent="0" algn="l" rtl="0">
              <a:spcBef>
                <a:spcPts val="0"/>
              </a:spcBef>
              <a:spcAft>
                <a:spcPts val="0"/>
              </a:spcAft>
              <a:buNone/>
            </a:pPr>
            <a:endParaRPr sz="1799" b="1" dirty="0">
              <a:solidFill>
                <a:schemeClr val="lt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00">
          <a:extLst>
            <a:ext uri="{FF2B5EF4-FFF2-40B4-BE49-F238E27FC236}">
              <a16:creationId xmlns:a16="http://schemas.microsoft.com/office/drawing/2014/main" id="{08777968-4A49-04BC-2A2D-69A7273FB1D6}"/>
            </a:ext>
          </a:extLst>
        </p:cNvPr>
        <p:cNvGrpSpPr/>
        <p:nvPr/>
      </p:nvGrpSpPr>
      <p:grpSpPr>
        <a:xfrm>
          <a:off x="0" y="0"/>
          <a:ext cx="0" cy="0"/>
          <a:chOff x="0" y="0"/>
          <a:chExt cx="0" cy="0"/>
        </a:xfrm>
      </p:grpSpPr>
      <p:sp>
        <p:nvSpPr>
          <p:cNvPr id="2001" name="Google Shape;2001;p107">
            <a:extLst>
              <a:ext uri="{FF2B5EF4-FFF2-40B4-BE49-F238E27FC236}">
                <a16:creationId xmlns:a16="http://schemas.microsoft.com/office/drawing/2014/main" id="{F7FB434F-E1BD-5971-9E2A-2B7DE212B5D2}"/>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Tìm hiểu về cảm biến</a:t>
            </a:r>
            <a:endParaRPr sz="3600" b="1">
              <a:solidFill>
                <a:schemeClr val="dk1"/>
              </a:solidFill>
              <a:latin typeface="Arial"/>
              <a:ea typeface="Arial"/>
              <a:cs typeface="Arial"/>
              <a:sym typeface="Arial"/>
            </a:endParaRPr>
          </a:p>
        </p:txBody>
      </p:sp>
      <p:sp>
        <p:nvSpPr>
          <p:cNvPr id="2002" name="Google Shape;2002;p107">
            <a:extLst>
              <a:ext uri="{FF2B5EF4-FFF2-40B4-BE49-F238E27FC236}">
                <a16:creationId xmlns:a16="http://schemas.microsoft.com/office/drawing/2014/main" id="{2610F663-E759-2A95-2008-5D3D39BF79A2}"/>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2.</a:t>
            </a:r>
            <a:endParaRPr dirty="0"/>
          </a:p>
        </p:txBody>
      </p:sp>
      <p:sp>
        <p:nvSpPr>
          <p:cNvPr id="2003" name="Google Shape;2003;p107">
            <a:extLst>
              <a:ext uri="{FF2B5EF4-FFF2-40B4-BE49-F238E27FC236}">
                <a16:creationId xmlns:a16="http://schemas.microsoft.com/office/drawing/2014/main" id="{590BD88C-14EA-93E9-3438-9A687177BE03}"/>
              </a:ext>
            </a:extLst>
          </p:cNvPr>
          <p:cNvSpPr/>
          <p:nvPr/>
        </p:nvSpPr>
        <p:spPr>
          <a:xfrm>
            <a:off x="1054120" y="4003783"/>
            <a:ext cx="3897300" cy="2174185"/>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2</a:t>
            </a:r>
            <a:r>
              <a:rPr lang="en-US" sz="1799" dirty="0">
                <a:solidFill>
                  <a:schemeClr val="bg1">
                    <a:lumMod val="65000"/>
                  </a:schemeClr>
                </a:solidFill>
                <a:latin typeface="Arial"/>
                <a:ea typeface="Arial"/>
                <a:cs typeface="Arial"/>
                <a:sym typeface="Arial"/>
              </a:rPr>
              <a:t>.1. Định </a:t>
            </a:r>
            <a:r>
              <a:rPr lang="en-US" sz="1799" dirty="0" err="1">
                <a:solidFill>
                  <a:schemeClr val="bg1">
                    <a:lumMod val="65000"/>
                  </a:schemeClr>
                </a:solidFill>
                <a:latin typeface="Arial"/>
                <a:ea typeface="Arial"/>
                <a:cs typeface="Arial"/>
                <a:sym typeface="Arial"/>
              </a:rPr>
              <a:t>nghĩa</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cảm</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biến</a:t>
            </a:r>
            <a:endParaRPr sz="1799" dirty="0">
              <a:solidFill>
                <a:schemeClr val="bg1">
                  <a:lumMod val="65000"/>
                </a:schemeClr>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2.2. </a:t>
            </a:r>
            <a:r>
              <a:rPr lang="en-US" sz="1799" dirty="0" err="1">
                <a:solidFill>
                  <a:schemeClr val="tx1"/>
                </a:solidFill>
                <a:latin typeface="Arial"/>
                <a:ea typeface="Arial"/>
                <a:cs typeface="Arial"/>
                <a:sym typeface="Arial"/>
              </a:rPr>
              <a:t>Đặc</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điểm</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cơ</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bản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của</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cảm</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biến</a:t>
            </a:r>
            <a:endParaRPr dirty="0">
              <a:solidFill>
                <a:schemeClr val="tx1"/>
              </a:solidFil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2.3. </a:t>
            </a:r>
            <a:r>
              <a:rPr lang="en-US" sz="1799" dirty="0" err="1">
                <a:solidFill>
                  <a:srgbClr val="A6A6A6"/>
                </a:solidFill>
                <a:latin typeface="Arial"/>
                <a:ea typeface="Arial"/>
                <a:cs typeface="Arial"/>
                <a:sym typeface="Arial"/>
              </a:rPr>
              <a:t>Phân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loại</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2.4. </a:t>
            </a:r>
            <a:r>
              <a:rPr lang="en-US" sz="1799" dirty="0" err="1">
                <a:solidFill>
                  <a:srgbClr val="A6A6A6"/>
                </a:solidFill>
                <a:latin typeface="Arial"/>
                <a:ea typeface="Arial"/>
                <a:cs typeface="Arial"/>
                <a:sym typeface="Arial"/>
              </a:rPr>
              <a:t>Ứng</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dụng</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và</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vai</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trò</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của</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sz="1799" dirty="0">
              <a:solidFill>
                <a:srgbClr val="A6A6A6"/>
              </a:solidFill>
              <a:latin typeface="Arial"/>
              <a:ea typeface="Arial"/>
              <a:cs typeface="Arial"/>
              <a:sym typeface="Arial"/>
            </a:endParaRPr>
          </a:p>
          <a:p>
            <a:pPr marL="0" marR="0" lvl="0" indent="0" algn="l" rtl="0">
              <a:spcBef>
                <a:spcPts val="1000"/>
              </a:spcBef>
              <a:spcAft>
                <a:spcPts val="0"/>
              </a:spcAft>
              <a:buNone/>
            </a:pP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9412134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sp>
        <p:nvSpPr>
          <p:cNvPr id="2119" name="Google Shape;2119;p113"/>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Hệ thống cảm biến</a:t>
            </a:r>
            <a:endParaRPr sz="2401" b="1">
              <a:solidFill>
                <a:srgbClr val="0C0C0C"/>
              </a:solidFill>
              <a:latin typeface="Arial"/>
              <a:ea typeface="Arial"/>
              <a:cs typeface="Arial"/>
              <a:sym typeface="Arial"/>
            </a:endParaRPr>
          </a:p>
        </p:txBody>
      </p:sp>
      <p:sp>
        <p:nvSpPr>
          <p:cNvPr id="2120" name="Google Shape;2120;p113"/>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a:solidFill>
                  <a:schemeClr val="tx1"/>
                </a:solidFill>
              </a:rPr>
              <a:t>. </a:t>
            </a:r>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
        <p:nvSpPr>
          <p:cNvPr id="2121" name="Google Shape;2121;p113"/>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122" name="Google Shape;2122;p113"/>
          <p:cNvSpPr/>
          <p:nvPr/>
        </p:nvSpPr>
        <p:spPr>
          <a:xfrm>
            <a:off x="580400" y="1891203"/>
            <a:ext cx="8619172" cy="800604"/>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Cảm biến và phần cứng xử lý tín hiệu gắn liền với cảm biến</a:t>
            </a:r>
            <a:endParaRPr sz="1401">
              <a:solidFill>
                <a:schemeClr val="dk1"/>
              </a:solidFill>
              <a:latin typeface="Arial"/>
              <a:ea typeface="Arial"/>
              <a:cs typeface="Arial"/>
              <a:sym typeface="Arial"/>
            </a:endParaRPr>
          </a:p>
          <a:p>
            <a:pPr marL="115879" marR="0" lvl="0" indent="-115879" algn="l" rtl="0">
              <a:spcBef>
                <a:spcPts val="600"/>
              </a:spcBef>
              <a:spcAft>
                <a:spcPts val="0"/>
              </a:spcAft>
              <a:buClr>
                <a:schemeClr val="dk1"/>
              </a:buClr>
              <a:buSzPts val="1681"/>
              <a:buFont typeface="Arial"/>
              <a:buChar char="•"/>
            </a:pPr>
            <a:r>
              <a:rPr lang="en-US" sz="1401">
                <a:solidFill>
                  <a:schemeClr val="dk1"/>
                </a:solidFill>
                <a:latin typeface="Arial"/>
                <a:ea typeface="Arial"/>
                <a:cs typeface="Arial"/>
                <a:sym typeface="Arial"/>
              </a:rPr>
              <a:t>Hệ thống ở đây có thể là một hệ thống đo lường, hệ thống thu thập dữ liệu hay một hệ thống điều khiển quá </a:t>
            </a:r>
            <a:endParaRPr/>
          </a:p>
          <a:p>
            <a:pPr marL="115879" marR="0" lvl="0" indent="-115879" algn="l" rtl="0">
              <a:spcBef>
                <a:spcPts val="600"/>
              </a:spcBef>
              <a:spcAft>
                <a:spcPts val="0"/>
              </a:spcAft>
              <a:buClr>
                <a:schemeClr val="dk1"/>
              </a:buClr>
              <a:buSzPts val="1681"/>
              <a:buFont typeface="Arial"/>
              <a:buChar char="•"/>
            </a:pPr>
            <a:r>
              <a:rPr lang="en-US" sz="1401">
                <a:solidFill>
                  <a:schemeClr val="dk1"/>
                </a:solidFill>
                <a:latin typeface="Arial"/>
                <a:ea typeface="Arial"/>
                <a:cs typeface="Arial"/>
                <a:sym typeface="Arial"/>
              </a:rPr>
              <a:t>trình xử lý.</a:t>
            </a:r>
            <a:endParaRPr/>
          </a:p>
        </p:txBody>
      </p:sp>
      <p:grpSp>
        <p:nvGrpSpPr>
          <p:cNvPr id="2123" name="Google Shape;2123;p113"/>
          <p:cNvGrpSpPr/>
          <p:nvPr/>
        </p:nvGrpSpPr>
        <p:grpSpPr>
          <a:xfrm>
            <a:off x="1129748" y="2590288"/>
            <a:ext cx="7646504" cy="3738882"/>
            <a:chOff x="1764213" y="3035846"/>
            <a:chExt cx="6377573" cy="3118417"/>
          </a:xfrm>
        </p:grpSpPr>
        <p:cxnSp>
          <p:nvCxnSpPr>
            <p:cNvPr id="2124" name="Google Shape;2124;p113"/>
            <p:cNvCxnSpPr/>
            <p:nvPr/>
          </p:nvCxnSpPr>
          <p:spPr>
            <a:xfrm>
              <a:off x="6496046" y="5702934"/>
              <a:ext cx="0" cy="224822"/>
            </a:xfrm>
            <a:prstGeom prst="straightConnector1">
              <a:avLst/>
            </a:prstGeom>
            <a:noFill/>
            <a:ln w="38100" cap="flat" cmpd="sng">
              <a:solidFill>
                <a:srgbClr val="7F7F7F"/>
              </a:solidFill>
              <a:prstDash val="solid"/>
              <a:miter lim="800000"/>
              <a:headEnd type="none" w="sm" len="sm"/>
              <a:tailEnd type="triangle" w="med" len="med"/>
            </a:ln>
          </p:spPr>
        </p:cxnSp>
        <p:cxnSp>
          <p:nvCxnSpPr>
            <p:cNvPr id="2125" name="Google Shape;2125;p113"/>
            <p:cNvCxnSpPr/>
            <p:nvPr/>
          </p:nvCxnSpPr>
          <p:spPr>
            <a:xfrm>
              <a:off x="2974215" y="3791050"/>
              <a:ext cx="590683" cy="0"/>
            </a:xfrm>
            <a:prstGeom prst="straightConnector1">
              <a:avLst/>
            </a:prstGeom>
            <a:noFill/>
            <a:ln w="38100" cap="flat" cmpd="sng">
              <a:solidFill>
                <a:srgbClr val="0033CC"/>
              </a:solidFill>
              <a:prstDash val="solid"/>
              <a:miter lim="800000"/>
              <a:headEnd type="none" w="sm" len="sm"/>
              <a:tailEnd type="triangle" w="med" len="med"/>
            </a:ln>
          </p:spPr>
        </p:cxnSp>
        <p:sp>
          <p:nvSpPr>
            <p:cNvPr id="2126" name="Google Shape;2126;p113"/>
            <p:cNvSpPr/>
            <p:nvPr/>
          </p:nvSpPr>
          <p:spPr>
            <a:xfrm>
              <a:off x="1851011" y="3451221"/>
              <a:ext cx="1300069" cy="658847"/>
            </a:xfrm>
            <a:custGeom>
              <a:avLst/>
              <a:gdLst/>
              <a:ahLst/>
              <a:cxnLst/>
              <a:rect l="l" t="t" r="r" b="b"/>
              <a:pathLst>
                <a:path w="1196204" h="671581" extrusionOk="0">
                  <a:moveTo>
                    <a:pt x="721553" y="0"/>
                  </a:moveTo>
                  <a:cubicBezTo>
                    <a:pt x="837472" y="0"/>
                    <a:pt x="937060" y="69923"/>
                    <a:pt x="980217" y="169988"/>
                  </a:cubicBezTo>
                  <a:cubicBezTo>
                    <a:pt x="1102453" y="186775"/>
                    <a:pt x="1196204" y="291908"/>
                    <a:pt x="1196204" y="418937"/>
                  </a:cubicBezTo>
                  <a:cubicBezTo>
                    <a:pt x="1196204" y="548609"/>
                    <a:pt x="1098511" y="655464"/>
                    <a:pt x="972566" y="668657"/>
                  </a:cubicBezTo>
                  <a:lnTo>
                    <a:pt x="972566" y="671581"/>
                  </a:lnTo>
                  <a:lnTo>
                    <a:pt x="943560" y="671581"/>
                  </a:lnTo>
                  <a:lnTo>
                    <a:pt x="206130" y="671581"/>
                  </a:lnTo>
                  <a:lnTo>
                    <a:pt x="206130" y="671581"/>
                  </a:lnTo>
                  <a:cubicBezTo>
                    <a:pt x="206130" y="671581"/>
                    <a:pt x="206130" y="671581"/>
                    <a:pt x="206129" y="671581"/>
                  </a:cubicBezTo>
                  <a:cubicBezTo>
                    <a:pt x="92287" y="671581"/>
                    <a:pt x="0" y="579294"/>
                    <a:pt x="0" y="465452"/>
                  </a:cubicBezTo>
                  <a:cubicBezTo>
                    <a:pt x="0" y="351610"/>
                    <a:pt x="92287" y="259323"/>
                    <a:pt x="206129" y="259323"/>
                  </a:cubicBezTo>
                  <a:lnTo>
                    <a:pt x="240537" y="262792"/>
                  </a:lnTo>
                  <a:cubicBezTo>
                    <a:pt x="262640" y="173626"/>
                    <a:pt x="343380" y="107863"/>
                    <a:pt x="439480" y="107863"/>
                  </a:cubicBezTo>
                  <a:cubicBezTo>
                    <a:pt x="458582" y="107863"/>
                    <a:pt x="477078" y="110461"/>
                    <a:pt x="494389" y="116200"/>
                  </a:cubicBezTo>
                  <a:cubicBezTo>
                    <a:pt x="545045" y="45565"/>
                    <a:pt x="627978" y="0"/>
                    <a:pt x="721553" y="0"/>
                  </a:cubicBezTo>
                  <a:close/>
                </a:path>
              </a:pathLst>
            </a:custGeom>
            <a:gradFill>
              <a:gsLst>
                <a:gs pos="0">
                  <a:srgbClr val="D8D8D8"/>
                </a:gs>
                <a:gs pos="100000">
                  <a:schemeClr val="lt1"/>
                </a:gs>
              </a:gsLst>
              <a:lin ang="27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2127" name="Google Shape;2127;p113"/>
            <p:cNvSpPr txBox="1"/>
            <p:nvPr/>
          </p:nvSpPr>
          <p:spPr>
            <a:xfrm>
              <a:off x="3544989" y="3076013"/>
              <a:ext cx="1407913" cy="256808"/>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1">
                  <a:solidFill>
                    <a:schemeClr val="dk1"/>
                  </a:solidFill>
                  <a:latin typeface="Arial"/>
                  <a:ea typeface="Arial"/>
                  <a:cs typeface="Arial"/>
                  <a:sym typeface="Arial"/>
                </a:rPr>
                <a:t>Influence factors</a:t>
              </a:r>
              <a:endParaRPr/>
            </a:p>
          </p:txBody>
        </p:sp>
        <p:sp>
          <p:nvSpPr>
            <p:cNvPr id="2128" name="Google Shape;2128;p113"/>
            <p:cNvSpPr txBox="1"/>
            <p:nvPr/>
          </p:nvSpPr>
          <p:spPr>
            <a:xfrm>
              <a:off x="1968585" y="5374599"/>
              <a:ext cx="2688260" cy="5901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99">
                  <a:solidFill>
                    <a:srgbClr val="FF0000"/>
                  </a:solidFill>
                  <a:latin typeface="Arial"/>
                  <a:ea typeface="Arial"/>
                  <a:cs typeface="Arial"/>
                  <a:sym typeface="Arial"/>
                </a:rPr>
                <a:t>Cấu trúc cảm biến tiêu chuẩn</a:t>
              </a:r>
              <a:endParaRPr sz="1999">
                <a:solidFill>
                  <a:srgbClr val="FF0000"/>
                </a:solidFill>
                <a:latin typeface="Arial"/>
                <a:ea typeface="Arial"/>
                <a:cs typeface="Arial"/>
                <a:sym typeface="Arial"/>
              </a:endParaRPr>
            </a:p>
          </p:txBody>
        </p:sp>
        <p:sp>
          <p:nvSpPr>
            <p:cNvPr id="2129" name="Google Shape;2129;p113"/>
            <p:cNvSpPr txBox="1"/>
            <p:nvPr/>
          </p:nvSpPr>
          <p:spPr>
            <a:xfrm>
              <a:off x="5631691" y="3035846"/>
              <a:ext cx="1728710" cy="282478"/>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chemeClr val="dk1"/>
                  </a:solidFill>
                  <a:latin typeface="Arial"/>
                  <a:ea typeface="Arial"/>
                  <a:cs typeface="Arial"/>
                  <a:sym typeface="Arial"/>
                </a:rPr>
                <a:t>Giao diện cảm biến</a:t>
              </a:r>
              <a:endParaRPr sz="1601">
                <a:solidFill>
                  <a:schemeClr val="dk1"/>
                </a:solidFill>
                <a:latin typeface="Arial"/>
                <a:ea typeface="Arial"/>
                <a:cs typeface="Arial"/>
                <a:sym typeface="Arial"/>
              </a:endParaRPr>
            </a:p>
          </p:txBody>
        </p:sp>
        <p:sp>
          <p:nvSpPr>
            <p:cNvPr id="2130" name="Google Shape;2130;p113"/>
            <p:cNvSpPr txBox="1"/>
            <p:nvPr/>
          </p:nvSpPr>
          <p:spPr>
            <a:xfrm>
              <a:off x="5602032" y="5871785"/>
              <a:ext cx="1835126" cy="2824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chemeClr val="dk1"/>
                  </a:solidFill>
                  <a:latin typeface="Arial"/>
                  <a:ea typeface="Arial"/>
                  <a:cs typeface="Arial"/>
                  <a:sym typeface="Arial"/>
                </a:rPr>
                <a:t>Giá trị đã đo</a:t>
              </a:r>
              <a:endParaRPr sz="1601">
                <a:solidFill>
                  <a:schemeClr val="dk1"/>
                </a:solidFill>
                <a:latin typeface="Arial"/>
                <a:ea typeface="Arial"/>
                <a:cs typeface="Arial"/>
                <a:sym typeface="Arial"/>
              </a:endParaRPr>
            </a:p>
          </p:txBody>
        </p:sp>
        <p:sp>
          <p:nvSpPr>
            <p:cNvPr id="2131" name="Google Shape;2131;p113"/>
            <p:cNvSpPr txBox="1"/>
            <p:nvPr/>
          </p:nvSpPr>
          <p:spPr>
            <a:xfrm>
              <a:off x="1764213" y="3241181"/>
              <a:ext cx="1562668" cy="282478"/>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chemeClr val="dk1"/>
                  </a:solidFill>
                  <a:latin typeface="Arial"/>
                  <a:ea typeface="Arial"/>
                  <a:cs typeface="Arial"/>
                  <a:sym typeface="Arial"/>
                </a:rPr>
                <a:t>Đại lượng đã đo</a:t>
              </a:r>
              <a:endParaRPr/>
            </a:p>
          </p:txBody>
        </p:sp>
        <p:sp>
          <p:nvSpPr>
            <p:cNvPr id="2132" name="Google Shape;2132;p113"/>
            <p:cNvSpPr txBox="1"/>
            <p:nvPr/>
          </p:nvSpPr>
          <p:spPr>
            <a:xfrm>
              <a:off x="3583505" y="3035846"/>
              <a:ext cx="1422419" cy="282478"/>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chemeClr val="dk1"/>
                  </a:solidFill>
                  <a:latin typeface="Arial"/>
                  <a:ea typeface="Arial"/>
                  <a:cs typeface="Arial"/>
                  <a:sym typeface="Arial"/>
                </a:rPr>
                <a:t>Yếu tố ảnh hưởng</a:t>
              </a:r>
              <a:endParaRPr/>
            </a:p>
          </p:txBody>
        </p:sp>
        <p:sp>
          <p:nvSpPr>
            <p:cNvPr id="2133" name="Google Shape;2133;p113"/>
            <p:cNvSpPr/>
            <p:nvPr/>
          </p:nvSpPr>
          <p:spPr>
            <a:xfrm>
              <a:off x="1834273" y="3753422"/>
              <a:ext cx="1422553" cy="205468"/>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1">
                  <a:solidFill>
                    <a:srgbClr val="FF0000"/>
                  </a:solidFill>
                  <a:latin typeface="Arial"/>
                  <a:ea typeface="Arial"/>
                  <a:cs typeface="Arial"/>
                  <a:sym typeface="Arial"/>
                </a:rPr>
                <a:t>Môi trường thực tế</a:t>
              </a:r>
              <a:endParaRPr/>
            </a:p>
          </p:txBody>
        </p:sp>
        <p:sp>
          <p:nvSpPr>
            <p:cNvPr id="2134" name="Google Shape;2134;p113"/>
            <p:cNvSpPr/>
            <p:nvPr/>
          </p:nvSpPr>
          <p:spPr>
            <a:xfrm>
              <a:off x="3564898" y="3491554"/>
              <a:ext cx="1476373" cy="598991"/>
            </a:xfrm>
            <a:prstGeom prst="rect">
              <a:avLst/>
            </a:prstGeom>
            <a:solidFill>
              <a:srgbClr val="E6F5FF"/>
            </a:solidFill>
            <a:ln w="127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1">
                <a:solidFill>
                  <a:schemeClr val="lt1"/>
                </a:solidFill>
                <a:latin typeface="Arial"/>
                <a:ea typeface="Arial"/>
                <a:cs typeface="Arial"/>
                <a:sym typeface="Arial"/>
              </a:endParaRPr>
            </a:p>
          </p:txBody>
        </p:sp>
        <p:sp>
          <p:nvSpPr>
            <p:cNvPr id="2135" name="Google Shape;2135;p113"/>
            <p:cNvSpPr/>
            <p:nvPr/>
          </p:nvSpPr>
          <p:spPr>
            <a:xfrm>
              <a:off x="3597828" y="3624195"/>
              <a:ext cx="1410521" cy="33371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300">
                  <a:solidFill>
                    <a:srgbClr val="262626"/>
                  </a:solidFill>
                  <a:latin typeface="Arial"/>
                  <a:ea typeface="Arial"/>
                  <a:cs typeface="Arial"/>
                  <a:sym typeface="Arial"/>
                </a:rPr>
                <a:t>Thành phần cảm biến</a:t>
              </a:r>
              <a:endParaRPr/>
            </a:p>
            <a:p>
              <a:pPr marL="0" marR="0" lvl="0" indent="0" algn="ctr" rtl="0">
                <a:spcBef>
                  <a:spcPts val="0"/>
                </a:spcBef>
                <a:spcAft>
                  <a:spcPts val="0"/>
                </a:spcAft>
                <a:buNone/>
              </a:pPr>
              <a:r>
                <a:rPr lang="en-US" sz="1300">
                  <a:solidFill>
                    <a:srgbClr val="0070C0"/>
                  </a:solidFill>
                  <a:latin typeface="Arial"/>
                  <a:ea typeface="Arial"/>
                  <a:cs typeface="Arial"/>
                  <a:sym typeface="Arial"/>
                </a:rPr>
                <a:t>Chuyển đổi năng lượng</a:t>
              </a:r>
              <a:endParaRPr/>
            </a:p>
          </p:txBody>
        </p:sp>
        <p:sp>
          <p:nvSpPr>
            <p:cNvPr id="2136" name="Google Shape;2136;p113"/>
            <p:cNvSpPr/>
            <p:nvPr/>
          </p:nvSpPr>
          <p:spPr>
            <a:xfrm>
              <a:off x="3564898" y="4320297"/>
              <a:ext cx="1476373" cy="598991"/>
            </a:xfrm>
            <a:prstGeom prst="rect">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1">
                <a:solidFill>
                  <a:schemeClr val="lt1"/>
                </a:solidFill>
                <a:latin typeface="Arial"/>
                <a:ea typeface="Arial"/>
                <a:cs typeface="Arial"/>
                <a:sym typeface="Arial"/>
              </a:endParaRPr>
            </a:p>
          </p:txBody>
        </p:sp>
        <p:sp>
          <p:nvSpPr>
            <p:cNvPr id="2137" name="Google Shape;2137;p113"/>
            <p:cNvSpPr/>
            <p:nvPr/>
          </p:nvSpPr>
          <p:spPr>
            <a:xfrm>
              <a:off x="3564896" y="4439999"/>
              <a:ext cx="1476373" cy="35959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Bảo vệ quá áp</a:t>
              </a:r>
              <a:endParaRPr sz="1401">
                <a:solidFill>
                  <a:srgbClr val="262626"/>
                </a:solidFill>
                <a:latin typeface="Arial"/>
                <a:ea typeface="Arial"/>
                <a:cs typeface="Arial"/>
                <a:sym typeface="Arial"/>
              </a:endParaRPr>
            </a:p>
            <a:p>
              <a:pPr marL="0" marR="0" lvl="0" indent="0" algn="ctr" rtl="0">
                <a:spcBef>
                  <a:spcPts val="0"/>
                </a:spcBef>
                <a:spcAft>
                  <a:spcPts val="0"/>
                </a:spcAft>
                <a:buNone/>
              </a:pPr>
              <a:r>
                <a:rPr lang="en-US" sz="1401">
                  <a:solidFill>
                    <a:srgbClr val="262626"/>
                  </a:solidFill>
                  <a:latin typeface="Arial"/>
                  <a:ea typeface="Arial"/>
                  <a:cs typeface="Arial"/>
                  <a:sym typeface="Arial"/>
                </a:rPr>
                <a:t>Mạch hoạt động</a:t>
              </a:r>
              <a:endParaRPr sz="1401">
                <a:solidFill>
                  <a:srgbClr val="262626"/>
                </a:solidFill>
                <a:latin typeface="Arial"/>
                <a:ea typeface="Arial"/>
                <a:cs typeface="Arial"/>
                <a:sym typeface="Arial"/>
              </a:endParaRPr>
            </a:p>
          </p:txBody>
        </p:sp>
        <p:sp>
          <p:nvSpPr>
            <p:cNvPr id="2138" name="Google Shape;2138;p113"/>
            <p:cNvSpPr/>
            <p:nvPr/>
          </p:nvSpPr>
          <p:spPr>
            <a:xfrm>
              <a:off x="1909794" y="4129592"/>
              <a:ext cx="1476373" cy="1104493"/>
            </a:xfrm>
            <a:prstGeom prst="rect">
              <a:avLst/>
            </a:prstGeom>
            <a:noFill/>
            <a:ln>
              <a:noFill/>
            </a:ln>
          </p:spPr>
          <p:txBody>
            <a:bodyPr spcFirstLastPara="1" wrap="square" lIns="91425" tIns="45700" rIns="91425" bIns="45700" anchor="t" anchorCtr="0">
              <a:noAutofit/>
            </a:bodyPr>
            <a:lstStyle/>
            <a:p>
              <a:pPr marL="171437" marR="0" lvl="0" indent="-171437" algn="l" rtl="0">
                <a:spcBef>
                  <a:spcPts val="0"/>
                </a:spcBef>
                <a:spcAft>
                  <a:spcPts val="0"/>
                </a:spcAft>
                <a:buClr>
                  <a:srgbClr val="262626"/>
                </a:buClr>
                <a:buSzPts val="1401"/>
                <a:buFont typeface="Arial"/>
                <a:buChar char="•"/>
              </a:pPr>
              <a:r>
                <a:rPr lang="en-US" sz="1401">
                  <a:solidFill>
                    <a:srgbClr val="262626"/>
                  </a:solidFill>
                  <a:latin typeface="Arial"/>
                  <a:ea typeface="Arial"/>
                  <a:cs typeface="Arial"/>
                  <a:sym typeface="Arial"/>
                </a:rPr>
                <a:t>Cơ học</a:t>
              </a:r>
              <a:endParaRPr/>
            </a:p>
            <a:p>
              <a:pPr marL="171437" marR="0" lvl="0" indent="-171437" algn="l" rtl="0">
                <a:spcBef>
                  <a:spcPts val="400"/>
                </a:spcBef>
                <a:spcAft>
                  <a:spcPts val="0"/>
                </a:spcAft>
                <a:buClr>
                  <a:srgbClr val="262626"/>
                </a:buClr>
                <a:buSzPts val="1401"/>
                <a:buFont typeface="Arial"/>
                <a:buChar char="•"/>
              </a:pPr>
              <a:r>
                <a:rPr lang="en-US" sz="1401">
                  <a:solidFill>
                    <a:srgbClr val="262626"/>
                  </a:solidFill>
                  <a:latin typeface="Arial"/>
                  <a:ea typeface="Arial"/>
                  <a:cs typeface="Arial"/>
                  <a:sym typeface="Arial"/>
                </a:rPr>
                <a:t>Bức xạ (quang học)</a:t>
              </a:r>
              <a:endParaRPr/>
            </a:p>
            <a:p>
              <a:pPr marL="171437" marR="0" lvl="0" indent="-171437" algn="l" rtl="0">
                <a:spcBef>
                  <a:spcPts val="400"/>
                </a:spcBef>
                <a:spcAft>
                  <a:spcPts val="0"/>
                </a:spcAft>
                <a:buClr>
                  <a:srgbClr val="262626"/>
                </a:buClr>
                <a:buSzPts val="1401"/>
                <a:buFont typeface="Arial"/>
                <a:buChar char="•"/>
              </a:pPr>
              <a:r>
                <a:rPr lang="en-US" sz="1401">
                  <a:solidFill>
                    <a:srgbClr val="262626"/>
                  </a:solidFill>
                  <a:latin typeface="Arial"/>
                  <a:ea typeface="Arial"/>
                  <a:cs typeface="Arial"/>
                  <a:sym typeface="Arial"/>
                </a:rPr>
                <a:t>Từ tính</a:t>
              </a:r>
              <a:endParaRPr/>
            </a:p>
            <a:p>
              <a:pPr marL="171437" marR="0" lvl="0" indent="-171437" algn="l" rtl="0">
                <a:spcBef>
                  <a:spcPts val="400"/>
                </a:spcBef>
                <a:spcAft>
                  <a:spcPts val="0"/>
                </a:spcAft>
                <a:buClr>
                  <a:srgbClr val="262626"/>
                </a:buClr>
                <a:buSzPts val="1401"/>
                <a:buFont typeface="Arial"/>
                <a:buChar char="•"/>
              </a:pPr>
              <a:r>
                <a:rPr lang="en-US" sz="1401">
                  <a:solidFill>
                    <a:srgbClr val="262626"/>
                  </a:solidFill>
                  <a:latin typeface="Arial"/>
                  <a:ea typeface="Arial"/>
                  <a:cs typeface="Arial"/>
                  <a:sym typeface="Arial"/>
                </a:rPr>
                <a:t>Nhiệt</a:t>
              </a:r>
              <a:endParaRPr/>
            </a:p>
            <a:p>
              <a:pPr marL="171437" marR="0" lvl="0" indent="-171437" algn="l" rtl="0">
                <a:spcBef>
                  <a:spcPts val="400"/>
                </a:spcBef>
                <a:spcAft>
                  <a:spcPts val="0"/>
                </a:spcAft>
                <a:buClr>
                  <a:srgbClr val="262626"/>
                </a:buClr>
                <a:buSzPts val="1401"/>
                <a:buFont typeface="Arial"/>
                <a:buChar char="•"/>
              </a:pPr>
              <a:r>
                <a:rPr lang="en-US" sz="1401">
                  <a:solidFill>
                    <a:srgbClr val="262626"/>
                  </a:solidFill>
                  <a:latin typeface="Arial"/>
                  <a:ea typeface="Arial"/>
                  <a:cs typeface="Arial"/>
                  <a:sym typeface="Arial"/>
                </a:rPr>
                <a:t>Hóa học</a:t>
              </a:r>
              <a:endParaRPr/>
            </a:p>
          </p:txBody>
        </p:sp>
        <p:sp>
          <p:nvSpPr>
            <p:cNvPr id="2139" name="Google Shape;2139;p113"/>
            <p:cNvSpPr/>
            <p:nvPr/>
          </p:nvSpPr>
          <p:spPr>
            <a:xfrm>
              <a:off x="5280981" y="3365840"/>
              <a:ext cx="2454823" cy="883073"/>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1">
                <a:solidFill>
                  <a:schemeClr val="lt1"/>
                </a:solidFill>
                <a:latin typeface="Arial"/>
                <a:ea typeface="Arial"/>
                <a:cs typeface="Arial"/>
                <a:sym typeface="Arial"/>
              </a:endParaRPr>
            </a:p>
          </p:txBody>
        </p:sp>
        <p:sp>
          <p:nvSpPr>
            <p:cNvPr id="2140" name="Google Shape;2140;p113"/>
            <p:cNvSpPr/>
            <p:nvPr/>
          </p:nvSpPr>
          <p:spPr>
            <a:xfrm>
              <a:off x="5602587" y="3430269"/>
              <a:ext cx="1811615" cy="205468"/>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1">
                  <a:solidFill>
                    <a:srgbClr val="262626"/>
                  </a:solidFill>
                  <a:latin typeface="Arial"/>
                  <a:ea typeface="Arial"/>
                  <a:cs typeface="Arial"/>
                  <a:sym typeface="Arial"/>
                </a:rPr>
                <a:t>Điều hòa tín hiệu analog</a:t>
              </a:r>
              <a:endParaRPr/>
            </a:p>
          </p:txBody>
        </p:sp>
        <p:sp>
          <p:nvSpPr>
            <p:cNvPr id="2141" name="Google Shape;2141;p113"/>
            <p:cNvSpPr/>
            <p:nvPr/>
          </p:nvSpPr>
          <p:spPr>
            <a:xfrm>
              <a:off x="5383414" y="3616255"/>
              <a:ext cx="1984340" cy="592287"/>
            </a:xfrm>
            <a:prstGeom prst="rect">
              <a:avLst/>
            </a:prstGeom>
            <a:noFill/>
            <a:ln>
              <a:noFill/>
            </a:ln>
          </p:spPr>
          <p:txBody>
            <a:bodyPr spcFirstLastPara="1" wrap="square" lIns="91425" tIns="45700" rIns="91425" bIns="45700" anchor="t" anchorCtr="0">
              <a:noAutofit/>
            </a:bodyPr>
            <a:lstStyle/>
            <a:p>
              <a:pPr marL="171437" marR="0" lvl="0" indent="-171437" algn="l" rtl="0">
                <a:spcBef>
                  <a:spcPts val="0"/>
                </a:spcBef>
                <a:spcAft>
                  <a:spcPts val="0"/>
                </a:spcAft>
                <a:buClr>
                  <a:srgbClr val="262626"/>
                </a:buClr>
                <a:buSzPts val="1401"/>
                <a:buFont typeface="Arial"/>
                <a:buChar char="•"/>
              </a:pPr>
              <a:r>
                <a:rPr lang="en-US" sz="1401">
                  <a:solidFill>
                    <a:srgbClr val="262626"/>
                  </a:solidFill>
                  <a:latin typeface="Arial"/>
                  <a:ea typeface="Arial"/>
                  <a:cs typeface="Arial"/>
                  <a:sym typeface="Arial"/>
                </a:rPr>
                <a:t>Khuếch đại</a:t>
              </a:r>
              <a:endParaRPr sz="1401">
                <a:solidFill>
                  <a:srgbClr val="262626"/>
                </a:solidFill>
                <a:latin typeface="Arial"/>
                <a:ea typeface="Arial"/>
                <a:cs typeface="Arial"/>
                <a:sym typeface="Arial"/>
              </a:endParaRPr>
            </a:p>
            <a:p>
              <a:pPr marL="171437" marR="0" lvl="0" indent="-171437" algn="l" rtl="0">
                <a:spcBef>
                  <a:spcPts val="0"/>
                </a:spcBef>
                <a:spcAft>
                  <a:spcPts val="0"/>
                </a:spcAft>
                <a:buClr>
                  <a:srgbClr val="262626"/>
                </a:buClr>
                <a:buSzPts val="1401"/>
                <a:buFont typeface="Arial"/>
                <a:buChar char="•"/>
              </a:pPr>
              <a:r>
                <a:rPr lang="en-US" sz="1401">
                  <a:solidFill>
                    <a:srgbClr val="262626"/>
                  </a:solidFill>
                  <a:latin typeface="Arial"/>
                  <a:ea typeface="Arial"/>
                  <a:cs typeface="Arial"/>
                  <a:sym typeface="Arial"/>
                </a:rPr>
                <a:t>Tuyến tính hóa</a:t>
              </a:r>
              <a:endParaRPr sz="1401">
                <a:solidFill>
                  <a:srgbClr val="262626"/>
                </a:solidFill>
                <a:latin typeface="Arial"/>
                <a:ea typeface="Arial"/>
                <a:cs typeface="Arial"/>
                <a:sym typeface="Arial"/>
              </a:endParaRPr>
            </a:p>
            <a:p>
              <a:pPr marL="171437" marR="0" lvl="0" indent="-171437" algn="l" rtl="0">
                <a:spcBef>
                  <a:spcPts val="0"/>
                </a:spcBef>
                <a:spcAft>
                  <a:spcPts val="0"/>
                </a:spcAft>
                <a:buClr>
                  <a:srgbClr val="262626"/>
                </a:buClr>
                <a:buSzPts val="1401"/>
                <a:buFont typeface="Arial"/>
                <a:buChar char="•"/>
              </a:pPr>
              <a:r>
                <a:rPr lang="en-US" sz="1401">
                  <a:solidFill>
                    <a:srgbClr val="262626"/>
                  </a:solidFill>
                  <a:latin typeface="Arial"/>
                  <a:ea typeface="Arial"/>
                  <a:cs typeface="Arial"/>
                  <a:sym typeface="Arial"/>
                </a:rPr>
                <a:t>Chuyển đổi tín hiệu</a:t>
              </a:r>
              <a:endParaRPr sz="1401">
                <a:solidFill>
                  <a:srgbClr val="262626"/>
                </a:solidFill>
                <a:latin typeface="Arial"/>
                <a:ea typeface="Arial"/>
                <a:cs typeface="Arial"/>
                <a:sym typeface="Arial"/>
              </a:endParaRPr>
            </a:p>
          </p:txBody>
        </p:sp>
        <p:sp>
          <p:nvSpPr>
            <p:cNvPr id="2142" name="Google Shape;2142;p113"/>
            <p:cNvSpPr/>
            <p:nvPr/>
          </p:nvSpPr>
          <p:spPr>
            <a:xfrm>
              <a:off x="5280981" y="4991278"/>
              <a:ext cx="2454823" cy="709852"/>
            </a:xfrm>
            <a:prstGeom prst="rect">
              <a:avLst/>
            </a:prstGeom>
            <a:solidFill>
              <a:schemeClr val="lt1"/>
            </a:solidFill>
            <a:ln w="12700" cap="flat" cmpd="sng">
              <a:solidFill>
                <a:srgbClr val="00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1">
                <a:solidFill>
                  <a:schemeClr val="lt1"/>
                </a:solidFill>
                <a:latin typeface="Arial"/>
                <a:ea typeface="Arial"/>
                <a:cs typeface="Arial"/>
                <a:sym typeface="Arial"/>
              </a:endParaRPr>
            </a:p>
          </p:txBody>
        </p:sp>
        <p:sp>
          <p:nvSpPr>
            <p:cNvPr id="2143" name="Google Shape;2143;p113"/>
            <p:cNvSpPr/>
            <p:nvPr/>
          </p:nvSpPr>
          <p:spPr>
            <a:xfrm>
              <a:off x="5667188" y="5027074"/>
              <a:ext cx="1503949" cy="205468"/>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1">
                  <a:solidFill>
                    <a:srgbClr val="262626"/>
                  </a:solidFill>
                  <a:latin typeface="Arial"/>
                  <a:ea typeface="Arial"/>
                  <a:cs typeface="Arial"/>
                  <a:sym typeface="Arial"/>
                </a:rPr>
                <a:t>Xử lý tín hiệu digital</a:t>
              </a:r>
              <a:endParaRPr/>
            </a:p>
          </p:txBody>
        </p:sp>
        <p:sp>
          <p:nvSpPr>
            <p:cNvPr id="2144" name="Google Shape;2144;p113"/>
            <p:cNvSpPr/>
            <p:nvPr/>
          </p:nvSpPr>
          <p:spPr>
            <a:xfrm>
              <a:off x="5383414" y="5202408"/>
              <a:ext cx="1271505" cy="459942"/>
            </a:xfrm>
            <a:prstGeom prst="rect">
              <a:avLst/>
            </a:prstGeom>
            <a:noFill/>
            <a:ln>
              <a:noFill/>
            </a:ln>
          </p:spPr>
          <p:txBody>
            <a:bodyPr spcFirstLastPara="1" wrap="square" lIns="91425" tIns="45700" rIns="91425" bIns="45700" anchor="t" anchorCtr="0">
              <a:noAutofit/>
            </a:bodyPr>
            <a:lstStyle/>
            <a:p>
              <a:pPr marL="171437" marR="0" lvl="0" indent="-171437" algn="l" rtl="0">
                <a:spcBef>
                  <a:spcPts val="0"/>
                </a:spcBef>
                <a:spcAft>
                  <a:spcPts val="0"/>
                </a:spcAft>
                <a:buClr>
                  <a:srgbClr val="262626"/>
                </a:buClr>
                <a:buSzPts val="1200"/>
                <a:buFont typeface="Arial"/>
                <a:buChar char="•"/>
              </a:pPr>
              <a:r>
                <a:rPr lang="en-US" sz="1200">
                  <a:solidFill>
                    <a:srgbClr val="262626"/>
                  </a:solidFill>
                  <a:latin typeface="Arial"/>
                  <a:ea typeface="Arial"/>
                  <a:cs typeface="Arial"/>
                  <a:sym typeface="Arial"/>
                </a:rPr>
                <a:t>Tính toán</a:t>
              </a:r>
              <a:endParaRPr sz="1200">
                <a:solidFill>
                  <a:srgbClr val="262626"/>
                </a:solidFill>
                <a:latin typeface="Arial"/>
                <a:ea typeface="Arial"/>
                <a:cs typeface="Arial"/>
                <a:sym typeface="Arial"/>
              </a:endParaRPr>
            </a:p>
            <a:p>
              <a:pPr marL="171437" marR="0" lvl="0" indent="-171437" algn="l" rtl="0">
                <a:spcBef>
                  <a:spcPts val="0"/>
                </a:spcBef>
                <a:spcAft>
                  <a:spcPts val="0"/>
                </a:spcAft>
                <a:buClr>
                  <a:srgbClr val="262626"/>
                </a:buClr>
                <a:buSzPts val="1200"/>
                <a:buFont typeface="Arial"/>
                <a:buChar char="•"/>
              </a:pPr>
              <a:r>
                <a:rPr lang="en-US" sz="1200">
                  <a:solidFill>
                    <a:srgbClr val="262626"/>
                  </a:solidFill>
                  <a:latin typeface="Arial"/>
                  <a:ea typeface="Arial"/>
                  <a:cs typeface="Arial"/>
                  <a:sym typeface="Arial"/>
                </a:rPr>
                <a:t>Hiệu chỉnh</a:t>
              </a:r>
              <a:endParaRPr sz="1200">
                <a:solidFill>
                  <a:srgbClr val="262626"/>
                </a:solidFill>
                <a:latin typeface="Arial"/>
                <a:ea typeface="Arial"/>
                <a:cs typeface="Arial"/>
                <a:sym typeface="Arial"/>
              </a:endParaRPr>
            </a:p>
            <a:p>
              <a:pPr marL="171437" marR="0" lvl="0" indent="-171437" algn="l" rtl="0">
                <a:spcBef>
                  <a:spcPts val="0"/>
                </a:spcBef>
                <a:spcAft>
                  <a:spcPts val="0"/>
                </a:spcAft>
                <a:buClr>
                  <a:srgbClr val="262626"/>
                </a:buClr>
                <a:buSzPts val="1200"/>
                <a:buFont typeface="Arial"/>
                <a:buChar char="•"/>
              </a:pPr>
              <a:r>
                <a:rPr lang="en-US" sz="1200">
                  <a:solidFill>
                    <a:srgbClr val="262626"/>
                  </a:solidFill>
                  <a:latin typeface="Arial"/>
                  <a:ea typeface="Arial"/>
                  <a:cs typeface="Arial"/>
                  <a:sym typeface="Arial"/>
                </a:rPr>
                <a:t>Sửa chữa</a:t>
              </a:r>
              <a:endParaRPr sz="1200">
                <a:solidFill>
                  <a:srgbClr val="262626"/>
                </a:solidFill>
                <a:latin typeface="Arial"/>
                <a:ea typeface="Arial"/>
                <a:cs typeface="Arial"/>
                <a:sym typeface="Arial"/>
              </a:endParaRPr>
            </a:p>
          </p:txBody>
        </p:sp>
        <p:cxnSp>
          <p:nvCxnSpPr>
            <p:cNvPr id="2145" name="Google Shape;2145;p113"/>
            <p:cNvCxnSpPr/>
            <p:nvPr/>
          </p:nvCxnSpPr>
          <p:spPr>
            <a:xfrm>
              <a:off x="4294714" y="4095475"/>
              <a:ext cx="0" cy="224822"/>
            </a:xfrm>
            <a:prstGeom prst="straightConnector1">
              <a:avLst/>
            </a:prstGeom>
            <a:noFill/>
            <a:ln w="38100" cap="flat" cmpd="sng">
              <a:solidFill>
                <a:srgbClr val="7F7F7F"/>
              </a:solidFill>
              <a:prstDash val="solid"/>
              <a:miter lim="800000"/>
              <a:headEnd type="none" w="sm" len="sm"/>
              <a:tailEnd type="none" w="sm" len="sm"/>
            </a:ln>
          </p:spPr>
        </p:cxnSp>
        <p:sp>
          <p:nvSpPr>
            <p:cNvPr id="2146" name="Google Shape;2146;p113"/>
            <p:cNvSpPr/>
            <p:nvPr/>
          </p:nvSpPr>
          <p:spPr>
            <a:xfrm>
              <a:off x="6499028" y="4237353"/>
              <a:ext cx="1642758" cy="2310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latin typeface="Arial"/>
                  <a:ea typeface="Arial"/>
                  <a:cs typeface="Arial"/>
                  <a:sym typeface="Arial"/>
                </a:rPr>
                <a:t>Biên độ - Tần số</a:t>
              </a:r>
              <a:endParaRPr sz="1200">
                <a:solidFill>
                  <a:srgbClr val="262626"/>
                </a:solidFill>
                <a:latin typeface="Arial"/>
                <a:ea typeface="Arial"/>
                <a:cs typeface="Arial"/>
                <a:sym typeface="Arial"/>
              </a:endParaRPr>
            </a:p>
          </p:txBody>
        </p:sp>
        <p:cxnSp>
          <p:nvCxnSpPr>
            <p:cNvPr id="2147" name="Google Shape;2147;p113"/>
            <p:cNvCxnSpPr/>
            <p:nvPr/>
          </p:nvCxnSpPr>
          <p:spPr>
            <a:xfrm>
              <a:off x="6496046" y="4247322"/>
              <a:ext cx="0" cy="224822"/>
            </a:xfrm>
            <a:prstGeom prst="straightConnector1">
              <a:avLst/>
            </a:prstGeom>
            <a:noFill/>
            <a:ln w="38100" cap="flat" cmpd="sng">
              <a:solidFill>
                <a:srgbClr val="7F7F7F"/>
              </a:solidFill>
              <a:prstDash val="solid"/>
              <a:miter lim="800000"/>
              <a:headEnd type="none" w="sm" len="sm"/>
              <a:tailEnd type="triangle" w="med" len="med"/>
            </a:ln>
          </p:spPr>
        </p:cxnSp>
        <p:sp>
          <p:nvSpPr>
            <p:cNvPr id="2148" name="Google Shape;2148;p113"/>
            <p:cNvSpPr/>
            <p:nvPr/>
          </p:nvSpPr>
          <p:spPr>
            <a:xfrm>
              <a:off x="5280981" y="4454968"/>
              <a:ext cx="2454823" cy="311383"/>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1">
                <a:solidFill>
                  <a:schemeClr val="lt1"/>
                </a:solidFill>
                <a:latin typeface="Arial"/>
                <a:ea typeface="Arial"/>
                <a:cs typeface="Arial"/>
                <a:sym typeface="Arial"/>
              </a:endParaRPr>
            </a:p>
          </p:txBody>
        </p:sp>
        <p:sp>
          <p:nvSpPr>
            <p:cNvPr id="2149" name="Google Shape;2149;p113"/>
            <p:cNvSpPr/>
            <p:nvPr/>
          </p:nvSpPr>
          <p:spPr>
            <a:xfrm>
              <a:off x="5325509" y="4515955"/>
              <a:ext cx="2187309" cy="205468"/>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1">
                  <a:solidFill>
                    <a:srgbClr val="262626"/>
                  </a:solidFill>
                  <a:latin typeface="Arial"/>
                  <a:ea typeface="Arial"/>
                  <a:cs typeface="Arial"/>
                  <a:sym typeface="Arial"/>
                </a:rPr>
                <a:t>Bộ chuyển đổi analog/digital</a:t>
              </a:r>
              <a:endParaRPr/>
            </a:p>
          </p:txBody>
        </p:sp>
        <p:cxnSp>
          <p:nvCxnSpPr>
            <p:cNvPr id="2150" name="Google Shape;2150;p113"/>
            <p:cNvCxnSpPr/>
            <p:nvPr/>
          </p:nvCxnSpPr>
          <p:spPr>
            <a:xfrm>
              <a:off x="5041270" y="3791050"/>
              <a:ext cx="239711" cy="0"/>
            </a:xfrm>
            <a:prstGeom prst="straightConnector1">
              <a:avLst/>
            </a:prstGeom>
            <a:noFill/>
            <a:ln w="38100" cap="flat" cmpd="sng">
              <a:solidFill>
                <a:srgbClr val="7F7F7F"/>
              </a:solidFill>
              <a:prstDash val="solid"/>
              <a:miter lim="800000"/>
              <a:headEnd type="none" w="sm" len="sm"/>
              <a:tailEnd type="triangle" w="med" len="med"/>
            </a:ln>
          </p:spPr>
        </p:cxnSp>
        <p:cxnSp>
          <p:nvCxnSpPr>
            <p:cNvPr id="2151" name="Google Shape;2151;p113"/>
            <p:cNvCxnSpPr/>
            <p:nvPr/>
          </p:nvCxnSpPr>
          <p:spPr>
            <a:xfrm>
              <a:off x="6496046" y="4766456"/>
              <a:ext cx="0" cy="224822"/>
            </a:xfrm>
            <a:prstGeom prst="straightConnector1">
              <a:avLst/>
            </a:prstGeom>
            <a:noFill/>
            <a:ln w="38100" cap="flat" cmpd="sng">
              <a:solidFill>
                <a:srgbClr val="7F7F7F"/>
              </a:solidFill>
              <a:prstDash val="solid"/>
              <a:miter lim="800000"/>
              <a:headEnd type="none" w="sm" len="sm"/>
              <a:tailEnd type="triangle" w="med" len="med"/>
            </a:ln>
          </p:spPr>
        </p:cxnSp>
        <p:sp>
          <p:nvSpPr>
            <p:cNvPr id="2152" name="Google Shape;2152;p113"/>
            <p:cNvSpPr/>
            <p:nvPr/>
          </p:nvSpPr>
          <p:spPr>
            <a:xfrm>
              <a:off x="5175284" y="3318217"/>
              <a:ext cx="2653564" cy="1515912"/>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1">
                <a:solidFill>
                  <a:schemeClr val="lt1"/>
                </a:solidFill>
                <a:latin typeface="Calibri"/>
                <a:ea typeface="Calibri"/>
                <a:cs typeface="Calibri"/>
                <a:sym typeface="Calibri"/>
              </a:endParaRPr>
            </a:p>
          </p:txBody>
        </p:sp>
        <p:grpSp>
          <p:nvGrpSpPr>
            <p:cNvPr id="2153" name="Google Shape;2153;p113"/>
            <p:cNvGrpSpPr/>
            <p:nvPr/>
          </p:nvGrpSpPr>
          <p:grpSpPr>
            <a:xfrm>
              <a:off x="4157760" y="3255873"/>
              <a:ext cx="290649" cy="224822"/>
              <a:chOff x="3672600" y="3115650"/>
              <a:chExt cx="304800" cy="235768"/>
            </a:xfrm>
          </p:grpSpPr>
          <p:cxnSp>
            <p:nvCxnSpPr>
              <p:cNvPr id="2154" name="Google Shape;2154;p113"/>
              <p:cNvCxnSpPr/>
              <p:nvPr/>
            </p:nvCxnSpPr>
            <p:spPr>
              <a:xfrm>
                <a:off x="3825000" y="3115650"/>
                <a:ext cx="0" cy="235768"/>
              </a:xfrm>
              <a:prstGeom prst="straightConnector1">
                <a:avLst/>
              </a:prstGeom>
              <a:noFill/>
              <a:ln w="38100" cap="flat" cmpd="sng">
                <a:solidFill>
                  <a:srgbClr val="FF0000"/>
                </a:solidFill>
                <a:prstDash val="solid"/>
                <a:miter lim="800000"/>
                <a:headEnd type="none" w="sm" len="sm"/>
                <a:tailEnd type="triangle" w="med" len="med"/>
              </a:ln>
            </p:spPr>
          </p:cxnSp>
          <p:cxnSp>
            <p:nvCxnSpPr>
              <p:cNvPr id="2155" name="Google Shape;2155;p113"/>
              <p:cNvCxnSpPr/>
              <p:nvPr/>
            </p:nvCxnSpPr>
            <p:spPr>
              <a:xfrm>
                <a:off x="3672600" y="3115650"/>
                <a:ext cx="0" cy="235768"/>
              </a:xfrm>
              <a:prstGeom prst="straightConnector1">
                <a:avLst/>
              </a:prstGeom>
              <a:noFill/>
              <a:ln w="38100" cap="flat" cmpd="sng">
                <a:solidFill>
                  <a:srgbClr val="FF0000"/>
                </a:solidFill>
                <a:prstDash val="solid"/>
                <a:miter lim="800000"/>
                <a:headEnd type="none" w="sm" len="sm"/>
                <a:tailEnd type="triangle" w="med" len="med"/>
              </a:ln>
            </p:spPr>
          </p:cxnSp>
          <p:cxnSp>
            <p:nvCxnSpPr>
              <p:cNvPr id="2156" name="Google Shape;2156;p113"/>
              <p:cNvCxnSpPr/>
              <p:nvPr/>
            </p:nvCxnSpPr>
            <p:spPr>
              <a:xfrm>
                <a:off x="3977400" y="3115650"/>
                <a:ext cx="0" cy="235768"/>
              </a:xfrm>
              <a:prstGeom prst="straightConnector1">
                <a:avLst/>
              </a:prstGeom>
              <a:noFill/>
              <a:ln w="38100" cap="flat" cmpd="sng">
                <a:solidFill>
                  <a:srgbClr val="FF0000"/>
                </a:solidFill>
                <a:prstDash val="solid"/>
                <a:miter lim="800000"/>
                <a:headEnd type="none" w="sm" len="sm"/>
                <a:tailEnd type="triangle" w="med" len="med"/>
              </a:ln>
            </p:spPr>
          </p:cxnSp>
        </p:gr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2162" name="Google Shape;2162;p114"/>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Cảm biến thông minh</a:t>
            </a:r>
            <a:endParaRPr sz="2401" b="1">
              <a:solidFill>
                <a:srgbClr val="0C0C0C"/>
              </a:solidFill>
              <a:latin typeface="Arial"/>
              <a:ea typeface="Arial"/>
              <a:cs typeface="Arial"/>
              <a:sym typeface="Arial"/>
            </a:endParaRPr>
          </a:p>
        </p:txBody>
      </p:sp>
      <p:sp>
        <p:nvSpPr>
          <p:cNvPr id="2163" name="Google Shape;2163;p114"/>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164" name="Google Shape;2164;p114"/>
          <p:cNvSpPr/>
          <p:nvPr/>
        </p:nvSpPr>
        <p:spPr>
          <a:xfrm>
            <a:off x="580400" y="189120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Cảm biến thông minh</a:t>
            </a:r>
            <a:endParaRPr sz="1401">
              <a:solidFill>
                <a:schemeClr val="dk1"/>
              </a:solidFill>
              <a:latin typeface="Arial"/>
              <a:ea typeface="Arial"/>
              <a:cs typeface="Arial"/>
              <a:sym typeface="Arial"/>
            </a:endParaRPr>
          </a:p>
        </p:txBody>
      </p:sp>
      <p:sp>
        <p:nvSpPr>
          <p:cNvPr id="2165" name="Google Shape;2165;p114"/>
          <p:cNvSpPr/>
          <p:nvPr/>
        </p:nvSpPr>
        <p:spPr>
          <a:xfrm>
            <a:off x="712189" y="2121537"/>
            <a:ext cx="8487381" cy="1857894"/>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Cảm biến thông minh cần có các chức năng sau:</a:t>
            </a:r>
            <a:endParaRPr/>
          </a:p>
          <a:p>
            <a:pPr marL="355571" marR="0" lvl="1" indent="-179374" algn="l" rtl="0">
              <a:spcBef>
                <a:spcPts val="802"/>
              </a:spcBef>
              <a:spcAft>
                <a:spcPts val="0"/>
              </a:spcAft>
              <a:buClr>
                <a:srgbClr val="193EB0"/>
              </a:buClr>
              <a:buSzPts val="1299"/>
              <a:buFont typeface="Arial"/>
              <a:buChar char="•"/>
            </a:pPr>
            <a:r>
              <a:rPr lang="en-US" sz="1299" b="0" i="0" u="none" strike="noStrike" cap="none">
                <a:solidFill>
                  <a:srgbClr val="262626"/>
                </a:solidFill>
                <a:latin typeface="Arial"/>
                <a:ea typeface="Arial"/>
                <a:cs typeface="Arial"/>
                <a:sym typeface="Arial"/>
              </a:rPr>
              <a:t>Thu thập, xử lý và lưu dữ liệu mới: đo số lượng, tiến hành xử lý tính toán, thống kê và lưu kết quả trong bộ nhớ</a:t>
            </a:r>
            <a:endParaRPr/>
          </a:p>
          <a:p>
            <a:pPr marL="355571" marR="0" lvl="1" indent="-179374" algn="l" rtl="0">
              <a:spcBef>
                <a:spcPts val="802"/>
              </a:spcBef>
              <a:spcAft>
                <a:spcPts val="0"/>
              </a:spcAft>
              <a:buClr>
                <a:srgbClr val="193EB0"/>
              </a:buClr>
              <a:buSzPts val="1299"/>
              <a:buFont typeface="Arial"/>
              <a:buChar char="•"/>
            </a:pPr>
            <a:r>
              <a:rPr lang="en-US" sz="1299" b="0" i="0" u="none" strike="noStrike" cap="none">
                <a:solidFill>
                  <a:srgbClr val="262626"/>
                </a:solidFill>
                <a:latin typeface="Arial"/>
                <a:ea typeface="Arial"/>
                <a:cs typeface="Arial"/>
                <a:sym typeface="Arial"/>
              </a:rPr>
              <a:t>Chức năng bù trừ tự động: tự động bù trừ những thay đổi trong các tham số bên ngoài</a:t>
            </a:r>
            <a:endParaRPr/>
          </a:p>
          <a:p>
            <a:pPr marL="355571" marR="0" lvl="1" indent="-179374" algn="l" rtl="0">
              <a:spcBef>
                <a:spcPts val="802"/>
              </a:spcBef>
              <a:spcAft>
                <a:spcPts val="0"/>
              </a:spcAft>
              <a:buClr>
                <a:srgbClr val="193EB0"/>
              </a:buClr>
              <a:buSzPts val="1299"/>
              <a:buFont typeface="Arial"/>
              <a:buChar char="•"/>
            </a:pPr>
            <a:r>
              <a:rPr lang="en-US" sz="1299" b="0" i="0" u="none" strike="noStrike" cap="none">
                <a:solidFill>
                  <a:srgbClr val="262626"/>
                </a:solidFill>
                <a:latin typeface="Arial"/>
                <a:ea typeface="Arial"/>
                <a:cs typeface="Arial"/>
                <a:sym typeface="Arial"/>
              </a:rPr>
              <a:t>Tự chẩn đoán: tự kiểm tra</a:t>
            </a:r>
            <a:endParaRPr/>
          </a:p>
          <a:p>
            <a:pPr marL="355571" marR="0" lvl="1" indent="-179374" algn="l" rtl="0">
              <a:spcBef>
                <a:spcPts val="802"/>
              </a:spcBef>
              <a:spcAft>
                <a:spcPts val="0"/>
              </a:spcAft>
              <a:buClr>
                <a:srgbClr val="193EB0"/>
              </a:buClr>
              <a:buSzPts val="1299"/>
              <a:buFont typeface="Arial"/>
              <a:buChar char="•"/>
            </a:pPr>
            <a:r>
              <a:rPr lang="en-US" sz="1299" b="0" i="0" u="none" strike="noStrike" cap="none">
                <a:solidFill>
                  <a:srgbClr val="262626"/>
                </a:solidFill>
                <a:latin typeface="Arial"/>
                <a:ea typeface="Arial"/>
                <a:cs typeface="Arial"/>
                <a:sym typeface="Arial"/>
              </a:rPr>
              <a:t>Đưa ra quyết định: lựa chọn dữ liệu để tự gửi đi </a:t>
            </a:r>
            <a:endParaRPr/>
          </a:p>
          <a:p>
            <a:pPr marL="355571" marR="0" lvl="1" indent="-179374" algn="l" rtl="0">
              <a:spcBef>
                <a:spcPts val="802"/>
              </a:spcBef>
              <a:spcAft>
                <a:spcPts val="0"/>
              </a:spcAft>
              <a:buClr>
                <a:srgbClr val="193EB0"/>
              </a:buClr>
              <a:buSzPts val="1299"/>
              <a:buFont typeface="Arial"/>
              <a:buChar char="•"/>
            </a:pPr>
            <a:r>
              <a:rPr lang="en-US" sz="1299" b="0" i="0" u="none" strike="noStrike" cap="none">
                <a:solidFill>
                  <a:srgbClr val="262626"/>
                </a:solidFill>
                <a:latin typeface="Arial"/>
                <a:ea typeface="Arial"/>
                <a:cs typeface="Arial"/>
                <a:sym typeface="Arial"/>
              </a:rPr>
              <a:t>Khả năng truyền thông: giao tiếp với các cảm biến khác (chức năng trao đổi thông tin)</a:t>
            </a:r>
            <a:endParaRPr/>
          </a:p>
        </p:txBody>
      </p:sp>
      <p:sp>
        <p:nvSpPr>
          <p:cNvPr id="2166" name="Google Shape;2166;p114"/>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3.2. Đặc điểm cơ bản của cảm biến</a:t>
            </a:r>
            <a:endParaRPr sz="1799" b="1">
              <a:solidFill>
                <a:schemeClr val="lt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71"/>
        <p:cNvGrpSpPr/>
        <p:nvPr/>
      </p:nvGrpSpPr>
      <p:grpSpPr>
        <a:xfrm>
          <a:off x="0" y="0"/>
          <a:ext cx="0" cy="0"/>
          <a:chOff x="0" y="0"/>
          <a:chExt cx="0" cy="0"/>
        </a:xfrm>
      </p:grpSpPr>
      <p:sp>
        <p:nvSpPr>
          <p:cNvPr id="2172" name="Google Shape;2172;p115"/>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Bộ phát tín hiệu</a:t>
            </a:r>
            <a:endParaRPr sz="2401" b="1">
              <a:solidFill>
                <a:srgbClr val="0C0C0C"/>
              </a:solidFill>
              <a:latin typeface="Arial"/>
              <a:ea typeface="Arial"/>
              <a:cs typeface="Arial"/>
              <a:sym typeface="Arial"/>
            </a:endParaRPr>
          </a:p>
        </p:txBody>
      </p:sp>
      <p:sp>
        <p:nvSpPr>
          <p:cNvPr id="2173" name="Google Shape;2173;p115"/>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174" name="Google Shape;2174;p115"/>
          <p:cNvSpPr/>
          <p:nvPr/>
        </p:nvSpPr>
        <p:spPr>
          <a:xfrm>
            <a:off x="580394" y="1944548"/>
            <a:ext cx="8548115" cy="559384"/>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Hệ thống cảm biến với dòng điện ra 4-20 mA truyền thông tin cảm biến qua một khoảng cách xa mà vẫn giữ </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được độ chính xác.</a:t>
            </a:r>
            <a:endParaRPr/>
          </a:p>
        </p:txBody>
      </p:sp>
      <p:sp>
        <p:nvSpPr>
          <p:cNvPr id="2175" name="Google Shape;2175;p115"/>
          <p:cNvSpPr/>
          <p:nvPr/>
        </p:nvSpPr>
        <p:spPr>
          <a:xfrm>
            <a:off x="967865" y="5630956"/>
            <a:ext cx="2289409" cy="3386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rgbClr val="000000"/>
                </a:solidFill>
                <a:latin typeface="Arial"/>
                <a:ea typeface="Arial"/>
                <a:cs typeface="Arial"/>
                <a:sym typeface="Arial"/>
              </a:rPr>
              <a:t>Bộ phát tín hiệu áp suất</a:t>
            </a:r>
            <a:endParaRPr sz="1601">
              <a:solidFill>
                <a:srgbClr val="000000"/>
              </a:solidFill>
              <a:latin typeface="Arial"/>
              <a:ea typeface="Arial"/>
              <a:cs typeface="Arial"/>
              <a:sym typeface="Arial"/>
            </a:endParaRPr>
          </a:p>
        </p:txBody>
      </p:sp>
      <p:sp>
        <p:nvSpPr>
          <p:cNvPr id="2176" name="Google Shape;2176;p115"/>
          <p:cNvSpPr/>
          <p:nvPr/>
        </p:nvSpPr>
        <p:spPr>
          <a:xfrm>
            <a:off x="5366600" y="5571320"/>
            <a:ext cx="2385588" cy="3386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1">
                <a:solidFill>
                  <a:srgbClr val="000000"/>
                </a:solidFill>
                <a:latin typeface="Arial"/>
                <a:ea typeface="Arial"/>
                <a:cs typeface="Arial"/>
                <a:sym typeface="Arial"/>
              </a:rPr>
              <a:t>Bộ phát tín hiệu nhiệt độ</a:t>
            </a:r>
            <a:endParaRPr sz="1601">
              <a:solidFill>
                <a:srgbClr val="000000"/>
              </a:solidFill>
              <a:latin typeface="Arial"/>
              <a:ea typeface="Arial"/>
              <a:cs typeface="Arial"/>
              <a:sym typeface="Arial"/>
            </a:endParaRPr>
          </a:p>
        </p:txBody>
      </p:sp>
      <p:grpSp>
        <p:nvGrpSpPr>
          <p:cNvPr id="2177" name="Google Shape;2177;p115"/>
          <p:cNvGrpSpPr/>
          <p:nvPr/>
        </p:nvGrpSpPr>
        <p:grpSpPr>
          <a:xfrm>
            <a:off x="570458" y="2625231"/>
            <a:ext cx="3084221" cy="2946091"/>
            <a:chOff x="996597" y="2625223"/>
            <a:chExt cx="3084222" cy="2946091"/>
          </a:xfrm>
        </p:grpSpPr>
        <p:pic>
          <p:nvPicPr>
            <p:cNvPr id="2178" name="Google Shape;2178;p115" descr="pressure_transmitter_tptsn"/>
            <p:cNvPicPr preferRelativeResize="0"/>
            <p:nvPr/>
          </p:nvPicPr>
          <p:blipFill rotWithShape="1">
            <a:blip r:embed="rId3">
              <a:alphaModFix/>
            </a:blip>
            <a:srcRect/>
            <a:stretch/>
          </p:blipFill>
          <p:spPr>
            <a:xfrm>
              <a:off x="1093391" y="2726258"/>
              <a:ext cx="2890634" cy="2744020"/>
            </a:xfrm>
            <a:prstGeom prst="rect">
              <a:avLst/>
            </a:prstGeom>
            <a:noFill/>
            <a:ln w="9525" cap="flat" cmpd="sng">
              <a:solidFill>
                <a:srgbClr val="000000"/>
              </a:solidFill>
              <a:prstDash val="solid"/>
              <a:miter lim="800000"/>
              <a:headEnd type="none" w="sm" len="sm"/>
              <a:tailEnd type="none" w="sm" len="sm"/>
            </a:ln>
          </p:spPr>
        </p:pic>
        <p:sp>
          <p:nvSpPr>
            <p:cNvPr id="2179" name="Google Shape;2179;p115"/>
            <p:cNvSpPr/>
            <p:nvPr/>
          </p:nvSpPr>
          <p:spPr>
            <a:xfrm>
              <a:off x="996597" y="2625223"/>
              <a:ext cx="3084222" cy="2946091"/>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grpSp>
        <p:nvGrpSpPr>
          <p:cNvPr id="2180" name="Google Shape;2180;p115"/>
          <p:cNvGrpSpPr/>
          <p:nvPr/>
        </p:nvGrpSpPr>
        <p:grpSpPr>
          <a:xfrm>
            <a:off x="4064231" y="2625231"/>
            <a:ext cx="4990321" cy="2946091"/>
            <a:chOff x="4064224" y="2625223"/>
            <a:chExt cx="4990323" cy="2946091"/>
          </a:xfrm>
        </p:grpSpPr>
        <p:pic>
          <p:nvPicPr>
            <p:cNvPr id="2181" name="Google Shape;2181;p115" descr="Smart_Temperature_Transmitter_small">
              <a:hlinkClick r:id="rId4"/>
            </p:cNvPr>
            <p:cNvPicPr preferRelativeResize="0"/>
            <p:nvPr/>
          </p:nvPicPr>
          <p:blipFill rotWithShape="1">
            <a:blip r:embed="rId5">
              <a:alphaModFix/>
            </a:blip>
            <a:srcRect/>
            <a:stretch/>
          </p:blipFill>
          <p:spPr>
            <a:xfrm>
              <a:off x="4190931" y="2726258"/>
              <a:ext cx="4736909" cy="2744020"/>
            </a:xfrm>
            <a:prstGeom prst="rect">
              <a:avLst/>
            </a:prstGeom>
            <a:noFill/>
            <a:ln>
              <a:noFill/>
            </a:ln>
          </p:spPr>
        </p:pic>
        <p:sp>
          <p:nvSpPr>
            <p:cNvPr id="2182" name="Google Shape;2182;p115"/>
            <p:cNvSpPr/>
            <p:nvPr/>
          </p:nvSpPr>
          <p:spPr>
            <a:xfrm>
              <a:off x="4064224" y="2625223"/>
              <a:ext cx="4990323" cy="2946091"/>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2183" name="Google Shape;2183;p115"/>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3.2</a:t>
            </a:r>
            <a:r>
              <a:rPr lang="en-US" sz="1799" dirty="0">
                <a:solidFill>
                  <a:schemeClr val="tx1"/>
                </a:solidFill>
              </a:rPr>
              <a:t> . </a:t>
            </a:r>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88"/>
        <p:cNvGrpSpPr/>
        <p:nvPr/>
      </p:nvGrpSpPr>
      <p:grpSpPr>
        <a:xfrm>
          <a:off x="0" y="0"/>
          <a:ext cx="0" cy="0"/>
          <a:chOff x="0" y="0"/>
          <a:chExt cx="0" cy="0"/>
        </a:xfrm>
      </p:grpSpPr>
      <p:sp>
        <p:nvSpPr>
          <p:cNvPr id="2189" name="Google Shape;2189;p116"/>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Đặc điểm của cảm biến</a:t>
            </a:r>
            <a:endParaRPr sz="2401" b="1">
              <a:solidFill>
                <a:srgbClr val="0C0C0C"/>
              </a:solidFill>
              <a:latin typeface="Arial"/>
              <a:ea typeface="Arial"/>
              <a:cs typeface="Arial"/>
              <a:sym typeface="Arial"/>
            </a:endParaRPr>
          </a:p>
        </p:txBody>
      </p:sp>
      <p:sp>
        <p:nvSpPr>
          <p:cNvPr id="2190" name="Google Shape;2190;p116"/>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191" name="Google Shape;2191;p116"/>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Đặc tính tĩnh</a:t>
            </a:r>
            <a:endParaRPr sz="1401">
              <a:solidFill>
                <a:schemeClr val="dk1"/>
              </a:solidFill>
              <a:latin typeface="Arial"/>
              <a:ea typeface="Arial"/>
              <a:cs typeface="Arial"/>
              <a:sym typeface="Arial"/>
            </a:endParaRPr>
          </a:p>
        </p:txBody>
      </p:sp>
      <p:sp>
        <p:nvSpPr>
          <p:cNvPr id="2192" name="Google Shape;2192;p116"/>
          <p:cNvSpPr/>
          <p:nvPr/>
        </p:nvSpPr>
        <p:spPr>
          <a:xfrm>
            <a:off x="712189" y="2174882"/>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Đặc tính khi tín hiệu đầu vào không thay đổi theo thời gian</a:t>
            </a:r>
            <a:endParaRPr sz="1299">
              <a:solidFill>
                <a:srgbClr val="262626"/>
              </a:solidFill>
              <a:latin typeface="Arial"/>
              <a:ea typeface="Arial"/>
              <a:cs typeface="Arial"/>
              <a:sym typeface="Arial"/>
            </a:endParaRPr>
          </a:p>
        </p:txBody>
      </p:sp>
      <p:grpSp>
        <p:nvGrpSpPr>
          <p:cNvPr id="2193" name="Google Shape;2193;p116"/>
          <p:cNvGrpSpPr/>
          <p:nvPr/>
        </p:nvGrpSpPr>
        <p:grpSpPr>
          <a:xfrm>
            <a:off x="882723" y="2528899"/>
            <a:ext cx="3600391" cy="804964"/>
            <a:chOff x="712182" y="1757635"/>
            <a:chExt cx="3600391" cy="804962"/>
          </a:xfrm>
        </p:grpSpPr>
        <p:sp>
          <p:nvSpPr>
            <p:cNvPr id="2194" name="Google Shape;2194;p116"/>
            <p:cNvSpPr/>
            <p:nvPr/>
          </p:nvSpPr>
          <p:spPr>
            <a:xfrm>
              <a:off x="1095268" y="1757635"/>
              <a:ext cx="3217305" cy="804962"/>
            </a:xfrm>
            <a:prstGeom prst="rect">
              <a:avLst/>
            </a:prstGeom>
            <a:noFill/>
            <a:ln>
              <a:noFill/>
            </a:ln>
          </p:spPr>
          <p:txBody>
            <a:bodyPr spcFirstLastPara="1" wrap="square" lIns="0" tIns="0" rIns="0" bIns="0" anchor="t" anchorCtr="0">
              <a:spAutoFit/>
            </a:bodyPr>
            <a:lstStyle/>
            <a:p>
              <a:pPr marL="177787" marR="0" lvl="1" indent="-177787" algn="l" rtl="0">
                <a:spcBef>
                  <a:spcPts val="0"/>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Độ nhạy</a:t>
              </a:r>
              <a:endParaRPr sz="1299" b="0" i="0" u="none" strike="noStrike" cap="none">
                <a:solidFill>
                  <a:srgbClr val="262626"/>
                </a:solidFill>
                <a:latin typeface="Arial"/>
                <a:ea typeface="Arial"/>
                <a:cs typeface="Arial"/>
                <a:sym typeface="Arial"/>
              </a:endParaRPr>
            </a:p>
            <a:p>
              <a:pPr marL="177787" marR="0" lvl="1" indent="-177787" algn="l" rtl="0">
                <a:spcBef>
                  <a:spcPts val="802"/>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Độ tuyến tính</a:t>
              </a:r>
              <a:endParaRPr sz="1299" b="0" i="0" u="none" strike="noStrike" cap="none">
                <a:solidFill>
                  <a:srgbClr val="262626"/>
                </a:solidFill>
                <a:latin typeface="Arial"/>
                <a:ea typeface="Arial"/>
                <a:cs typeface="Arial"/>
                <a:sym typeface="Arial"/>
              </a:endParaRPr>
            </a:p>
            <a:p>
              <a:pPr marL="177787" marR="0" lvl="1" indent="-177787" algn="l" rtl="0">
                <a:spcBef>
                  <a:spcPts val="802"/>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Độ trễ</a:t>
              </a:r>
              <a:endParaRPr sz="1299" b="0" i="0" u="none" strike="noStrike" cap="none">
                <a:solidFill>
                  <a:srgbClr val="262626"/>
                </a:solidFill>
                <a:latin typeface="Arial"/>
                <a:ea typeface="Arial"/>
                <a:cs typeface="Arial"/>
                <a:sym typeface="Arial"/>
              </a:endParaRPr>
            </a:p>
          </p:txBody>
        </p:sp>
        <p:sp>
          <p:nvSpPr>
            <p:cNvPr id="2195" name="Google Shape;2195;p116"/>
            <p:cNvSpPr/>
            <p:nvPr/>
          </p:nvSpPr>
          <p:spPr>
            <a:xfrm>
              <a:off x="712182" y="1770345"/>
              <a:ext cx="324899" cy="175953"/>
            </a:xfrm>
            <a:prstGeom prst="roundRect">
              <a:avLst>
                <a:gd name="adj" fmla="val 16667"/>
              </a:avLst>
            </a:prstGeom>
            <a:solidFill>
              <a:srgbClr val="193EB0"/>
            </a:solidFill>
            <a:ln>
              <a:noFill/>
            </a:ln>
          </p:spPr>
          <p:txBody>
            <a:bodyPr spcFirstLastPara="1" wrap="square" lIns="72000" tIns="0" rIns="72000" bIns="0" anchor="b" anchorCtr="0">
              <a:noAutofit/>
            </a:bodyPr>
            <a:lstStyle/>
            <a:p>
              <a:pPr marL="0" marR="0" lvl="0" indent="0" algn="ctr" rtl="0">
                <a:lnSpc>
                  <a:spcPct val="100000"/>
                </a:lnSpc>
                <a:spcBef>
                  <a:spcPts val="0"/>
                </a:spcBef>
                <a:spcAft>
                  <a:spcPts val="0"/>
                </a:spcAft>
                <a:buNone/>
              </a:pPr>
              <a:r>
                <a:rPr lang="en-US" sz="1000" b="1">
                  <a:solidFill>
                    <a:schemeClr val="lt1"/>
                  </a:solidFill>
                  <a:latin typeface="Arial"/>
                  <a:ea typeface="Arial"/>
                  <a:cs typeface="Arial"/>
                  <a:sym typeface="Arial"/>
                </a:rPr>
                <a:t>VD</a:t>
              </a:r>
              <a:endParaRPr sz="1000" b="1">
                <a:solidFill>
                  <a:schemeClr val="lt1"/>
                </a:solidFill>
                <a:latin typeface="Arial"/>
                <a:ea typeface="Arial"/>
                <a:cs typeface="Arial"/>
                <a:sym typeface="Arial"/>
              </a:endParaRPr>
            </a:p>
          </p:txBody>
        </p:sp>
      </p:grpSp>
      <p:sp>
        <p:nvSpPr>
          <p:cNvPr id="2196" name="Google Shape;2196;p116"/>
          <p:cNvSpPr/>
          <p:nvPr/>
        </p:nvSpPr>
        <p:spPr>
          <a:xfrm>
            <a:off x="580400" y="3654075"/>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Đặc tính động</a:t>
            </a:r>
            <a:endParaRPr sz="1401">
              <a:solidFill>
                <a:schemeClr val="dk1"/>
              </a:solidFill>
              <a:latin typeface="Arial"/>
              <a:ea typeface="Arial"/>
              <a:cs typeface="Arial"/>
              <a:sym typeface="Arial"/>
            </a:endParaRPr>
          </a:p>
        </p:txBody>
      </p:sp>
      <p:sp>
        <p:nvSpPr>
          <p:cNvPr id="2197" name="Google Shape;2197;p116"/>
          <p:cNvSpPr/>
          <p:nvPr/>
        </p:nvSpPr>
        <p:spPr>
          <a:xfrm>
            <a:off x="712189" y="3884410"/>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Đặc điểm khi tín hiệu đầu vào thay đổi theo thời gian</a:t>
            </a:r>
            <a:endParaRPr sz="1299">
              <a:solidFill>
                <a:srgbClr val="262626"/>
              </a:solidFill>
              <a:latin typeface="Arial"/>
              <a:ea typeface="Arial"/>
              <a:cs typeface="Arial"/>
              <a:sym typeface="Arial"/>
            </a:endParaRPr>
          </a:p>
        </p:txBody>
      </p:sp>
      <p:grpSp>
        <p:nvGrpSpPr>
          <p:cNvPr id="2198" name="Google Shape;2198;p116"/>
          <p:cNvGrpSpPr/>
          <p:nvPr/>
        </p:nvGrpSpPr>
        <p:grpSpPr>
          <a:xfrm>
            <a:off x="882723" y="4238425"/>
            <a:ext cx="3600391" cy="502445"/>
            <a:chOff x="712182" y="1757635"/>
            <a:chExt cx="3600391" cy="502443"/>
          </a:xfrm>
        </p:grpSpPr>
        <p:sp>
          <p:nvSpPr>
            <p:cNvPr id="2199" name="Google Shape;2199;p116"/>
            <p:cNvSpPr/>
            <p:nvPr/>
          </p:nvSpPr>
          <p:spPr>
            <a:xfrm>
              <a:off x="1095268" y="1757635"/>
              <a:ext cx="3217305" cy="502443"/>
            </a:xfrm>
            <a:prstGeom prst="rect">
              <a:avLst/>
            </a:prstGeom>
            <a:noFill/>
            <a:ln>
              <a:noFill/>
            </a:ln>
          </p:spPr>
          <p:txBody>
            <a:bodyPr spcFirstLastPara="1" wrap="square" lIns="0" tIns="0" rIns="0" bIns="0" anchor="t" anchorCtr="0">
              <a:spAutoFit/>
            </a:bodyPr>
            <a:lstStyle/>
            <a:p>
              <a:pPr marL="177787" marR="0" lvl="1" indent="-177787" algn="l" rtl="0">
                <a:spcBef>
                  <a:spcPts val="0"/>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Thời gian hoặc tốc độ phản hồi</a:t>
              </a:r>
              <a:endParaRPr sz="1299" b="0" i="0" u="none" strike="noStrike" cap="none">
                <a:solidFill>
                  <a:srgbClr val="262626"/>
                </a:solidFill>
                <a:latin typeface="Arial"/>
                <a:ea typeface="Arial"/>
                <a:cs typeface="Arial"/>
                <a:sym typeface="Arial"/>
              </a:endParaRPr>
            </a:p>
            <a:p>
              <a:pPr marL="177787" marR="0" lvl="1" indent="-177787" algn="l" rtl="0">
                <a:spcBef>
                  <a:spcPts val="802"/>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Đặc tính về tần số</a:t>
              </a:r>
              <a:endParaRPr sz="1299" b="0" i="0" u="none" strike="noStrike" cap="none">
                <a:solidFill>
                  <a:srgbClr val="262626"/>
                </a:solidFill>
                <a:latin typeface="Arial"/>
                <a:ea typeface="Arial"/>
                <a:cs typeface="Arial"/>
                <a:sym typeface="Arial"/>
              </a:endParaRPr>
            </a:p>
          </p:txBody>
        </p:sp>
        <p:sp>
          <p:nvSpPr>
            <p:cNvPr id="2200" name="Google Shape;2200;p116"/>
            <p:cNvSpPr/>
            <p:nvPr/>
          </p:nvSpPr>
          <p:spPr>
            <a:xfrm>
              <a:off x="712182" y="1770345"/>
              <a:ext cx="324899" cy="175953"/>
            </a:xfrm>
            <a:prstGeom prst="roundRect">
              <a:avLst>
                <a:gd name="adj" fmla="val 16667"/>
              </a:avLst>
            </a:prstGeom>
            <a:solidFill>
              <a:srgbClr val="193EB0"/>
            </a:solidFill>
            <a:ln>
              <a:noFill/>
            </a:ln>
          </p:spPr>
          <p:txBody>
            <a:bodyPr spcFirstLastPara="1" wrap="square" lIns="72000" tIns="0" rIns="72000" bIns="0" anchor="b" anchorCtr="0">
              <a:noAutofit/>
            </a:bodyPr>
            <a:lstStyle/>
            <a:p>
              <a:pPr marL="0" marR="0" lvl="0" indent="0" algn="ctr" rtl="0">
                <a:lnSpc>
                  <a:spcPct val="100000"/>
                </a:lnSpc>
                <a:spcBef>
                  <a:spcPts val="0"/>
                </a:spcBef>
                <a:spcAft>
                  <a:spcPts val="0"/>
                </a:spcAft>
                <a:buNone/>
              </a:pPr>
              <a:r>
                <a:rPr lang="en-US" sz="1000" b="1">
                  <a:solidFill>
                    <a:schemeClr val="lt1"/>
                  </a:solidFill>
                  <a:latin typeface="Arial"/>
                  <a:ea typeface="Arial"/>
                  <a:cs typeface="Arial"/>
                  <a:sym typeface="Arial"/>
                </a:rPr>
                <a:t>VD</a:t>
              </a:r>
              <a:endParaRPr sz="1000" b="1">
                <a:solidFill>
                  <a:schemeClr val="lt1"/>
                </a:solidFill>
                <a:latin typeface="Arial"/>
                <a:ea typeface="Arial"/>
                <a:cs typeface="Arial"/>
                <a:sym typeface="Arial"/>
              </a:endParaRPr>
            </a:p>
          </p:txBody>
        </p:sp>
      </p:grpSp>
      <p:sp>
        <p:nvSpPr>
          <p:cNvPr id="2201" name="Google Shape;2201;p116"/>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3.2. Đặc điểm cơ bản của cảm biến</a:t>
            </a:r>
            <a:endParaRPr sz="1799" b="1">
              <a:solidFill>
                <a:schemeClr val="lt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206"/>
        <p:cNvGrpSpPr/>
        <p:nvPr/>
      </p:nvGrpSpPr>
      <p:grpSpPr>
        <a:xfrm>
          <a:off x="0" y="0"/>
          <a:ext cx="0" cy="0"/>
          <a:chOff x="0" y="0"/>
          <a:chExt cx="0" cy="0"/>
        </a:xfrm>
      </p:grpSpPr>
      <p:sp>
        <p:nvSpPr>
          <p:cNvPr id="2207" name="Google Shape;2207;p117"/>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Hàm truyền</a:t>
            </a:r>
            <a:endParaRPr sz="2401" b="1">
              <a:solidFill>
                <a:srgbClr val="0C0C0C"/>
              </a:solidFill>
              <a:latin typeface="Arial"/>
              <a:ea typeface="Arial"/>
              <a:cs typeface="Arial"/>
              <a:sym typeface="Arial"/>
            </a:endParaRPr>
          </a:p>
        </p:txBody>
      </p:sp>
      <p:sp>
        <p:nvSpPr>
          <p:cNvPr id="2208" name="Google Shape;2208;p117"/>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209" name="Google Shape;2209;p117"/>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Định nghĩa</a:t>
            </a:r>
            <a:endParaRPr sz="1401">
              <a:solidFill>
                <a:schemeClr val="dk1"/>
              </a:solidFill>
              <a:latin typeface="Arial"/>
              <a:ea typeface="Arial"/>
              <a:cs typeface="Arial"/>
              <a:sym typeface="Arial"/>
            </a:endParaRPr>
          </a:p>
        </p:txBody>
      </p:sp>
      <p:sp>
        <p:nvSpPr>
          <p:cNvPr id="2210" name="Google Shape;2210;p117"/>
          <p:cNvSpPr/>
          <p:nvPr/>
        </p:nvSpPr>
        <p:spPr>
          <a:xfrm>
            <a:off x="712189" y="2174879"/>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Hàm truyền là sự phụ thuộc hàm giữa tín hiệu đầu vào thực tế và tín hiệu đầu ra của cảm biến.</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Hàm truyền thường được biểu diễn bằng phương trình, bảng biểu, đồ thị, v.v.</a:t>
            </a:r>
            <a:endParaRPr/>
          </a:p>
        </p:txBody>
      </p:sp>
      <p:grpSp>
        <p:nvGrpSpPr>
          <p:cNvPr id="2211" name="Google Shape;2211;p117"/>
          <p:cNvGrpSpPr/>
          <p:nvPr/>
        </p:nvGrpSpPr>
        <p:grpSpPr>
          <a:xfrm>
            <a:off x="882723" y="3115326"/>
            <a:ext cx="3600391" cy="199927"/>
            <a:chOff x="712182" y="1757635"/>
            <a:chExt cx="3600391" cy="199926"/>
          </a:xfrm>
        </p:grpSpPr>
        <p:sp>
          <p:nvSpPr>
            <p:cNvPr id="2212" name="Google Shape;2212;p117"/>
            <p:cNvSpPr/>
            <p:nvPr/>
          </p:nvSpPr>
          <p:spPr>
            <a:xfrm>
              <a:off x="1095268" y="1757635"/>
              <a:ext cx="3217305" cy="199926"/>
            </a:xfrm>
            <a:prstGeom prst="rect">
              <a:avLst/>
            </a:prstGeom>
            <a:noFill/>
            <a:ln>
              <a:noFill/>
            </a:ln>
          </p:spPr>
          <p:txBody>
            <a:bodyPr spcFirstLastPara="1" wrap="square" lIns="0" tIns="0" rIns="0" bIns="0" anchor="t" anchorCtr="0">
              <a:spAutoFit/>
            </a:bodyPr>
            <a:lstStyle/>
            <a:p>
              <a:pPr marL="0" marR="0" lvl="1" indent="0" algn="l" rtl="0">
                <a:spcBef>
                  <a:spcPts val="0"/>
                </a:spcBef>
                <a:spcAft>
                  <a:spcPts val="0"/>
                </a:spcAft>
                <a:buNone/>
              </a:pPr>
              <a:r>
                <a:rPr lang="en-US" sz="1299" b="0" i="0" u="none" strike="noStrike" cap="none">
                  <a:solidFill>
                    <a:srgbClr val="262626"/>
                  </a:solidFill>
                  <a:latin typeface="Arial"/>
                  <a:ea typeface="Arial"/>
                  <a:cs typeface="Arial"/>
                  <a:sym typeface="Arial"/>
                </a:rPr>
                <a:t>Cảm biến nhiệt độ</a:t>
              </a:r>
              <a:endParaRPr sz="1299" b="0" i="0" u="none" strike="noStrike" cap="none">
                <a:solidFill>
                  <a:srgbClr val="262626"/>
                </a:solidFill>
                <a:latin typeface="Arial"/>
                <a:ea typeface="Arial"/>
                <a:cs typeface="Arial"/>
                <a:sym typeface="Arial"/>
              </a:endParaRPr>
            </a:p>
          </p:txBody>
        </p:sp>
        <p:sp>
          <p:nvSpPr>
            <p:cNvPr id="2213" name="Google Shape;2213;p117"/>
            <p:cNvSpPr/>
            <p:nvPr/>
          </p:nvSpPr>
          <p:spPr>
            <a:xfrm>
              <a:off x="712182" y="1770345"/>
              <a:ext cx="324899" cy="175953"/>
            </a:xfrm>
            <a:prstGeom prst="roundRect">
              <a:avLst>
                <a:gd name="adj" fmla="val 16667"/>
              </a:avLst>
            </a:prstGeom>
            <a:solidFill>
              <a:srgbClr val="193EB0"/>
            </a:solidFill>
            <a:ln>
              <a:noFill/>
            </a:ln>
          </p:spPr>
          <p:txBody>
            <a:bodyPr spcFirstLastPara="1" wrap="square" lIns="72000" tIns="0" rIns="72000" bIns="0" anchor="b" anchorCtr="0">
              <a:noAutofit/>
            </a:bodyPr>
            <a:lstStyle/>
            <a:p>
              <a:pPr marL="0" marR="0" lvl="0" indent="0" algn="ctr" rtl="0">
                <a:lnSpc>
                  <a:spcPct val="100000"/>
                </a:lnSpc>
                <a:spcBef>
                  <a:spcPts val="0"/>
                </a:spcBef>
                <a:spcAft>
                  <a:spcPts val="0"/>
                </a:spcAft>
                <a:buNone/>
              </a:pPr>
              <a:r>
                <a:rPr lang="en-US" sz="1000" b="1">
                  <a:solidFill>
                    <a:schemeClr val="lt1"/>
                  </a:solidFill>
                  <a:latin typeface="Arial"/>
                  <a:ea typeface="Arial"/>
                  <a:cs typeface="Arial"/>
                  <a:sym typeface="Arial"/>
                </a:rPr>
                <a:t>VD</a:t>
              </a:r>
              <a:endParaRPr sz="1000" b="1">
                <a:solidFill>
                  <a:schemeClr val="lt1"/>
                </a:solidFill>
                <a:latin typeface="Arial"/>
                <a:ea typeface="Arial"/>
                <a:cs typeface="Arial"/>
                <a:sym typeface="Arial"/>
              </a:endParaRPr>
            </a:p>
          </p:txBody>
        </p:sp>
      </p:grpSp>
      <p:grpSp>
        <p:nvGrpSpPr>
          <p:cNvPr id="2214" name="Google Shape;2214;p117"/>
          <p:cNvGrpSpPr/>
          <p:nvPr/>
        </p:nvGrpSpPr>
        <p:grpSpPr>
          <a:xfrm>
            <a:off x="4722576" y="3427036"/>
            <a:ext cx="3951896" cy="973727"/>
            <a:chOff x="712182" y="3429000"/>
            <a:chExt cx="3951894" cy="973727"/>
          </a:xfrm>
        </p:grpSpPr>
        <p:sp>
          <p:nvSpPr>
            <p:cNvPr id="2215" name="Google Shape;2215;p117"/>
            <p:cNvSpPr/>
            <p:nvPr/>
          </p:nvSpPr>
          <p:spPr>
            <a:xfrm>
              <a:off x="712182" y="3429000"/>
              <a:ext cx="3951894" cy="950338"/>
            </a:xfrm>
            <a:prstGeom prst="rect">
              <a:avLst/>
            </a:prstGeom>
            <a:noFill/>
            <a:ln>
              <a:noFill/>
            </a:ln>
          </p:spPr>
          <p:txBody>
            <a:bodyPr spcFirstLastPara="1" wrap="square" lIns="0" tIns="71975" rIns="143950" bIns="71975" anchor="t" anchorCtr="0">
              <a:spAutoFit/>
            </a:bodyPr>
            <a:lstStyle/>
            <a:p>
              <a:pPr marL="355571" marR="0" lvl="1" indent="-179375" algn="l" rtl="0">
                <a:spcBef>
                  <a:spcPts val="0"/>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RTD :</a:t>
              </a:r>
              <a:endParaRPr/>
            </a:p>
            <a:p>
              <a:pPr marL="355571" marR="0" lvl="1" indent="-90475" algn="l" rtl="0">
                <a:spcBef>
                  <a:spcPts val="802"/>
                </a:spcBef>
                <a:spcAft>
                  <a:spcPts val="0"/>
                </a:spcAft>
                <a:buClr>
                  <a:srgbClr val="193EB0"/>
                </a:buClr>
                <a:buSzPts val="1400"/>
                <a:buFont typeface="Arial"/>
                <a:buNone/>
              </a:pPr>
              <a:endParaRPr sz="1299" b="0" i="0" u="none" strike="noStrike" cap="none">
                <a:solidFill>
                  <a:srgbClr val="262626"/>
                </a:solidFill>
                <a:latin typeface="Arial"/>
                <a:ea typeface="Arial"/>
                <a:cs typeface="Arial"/>
                <a:sym typeface="Arial"/>
              </a:endParaRPr>
            </a:p>
            <a:p>
              <a:pPr marL="355571" marR="0" lvl="1" indent="-179375" algn="l" rtl="0">
                <a:spcBef>
                  <a:spcPts val="802"/>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Nhiệt điện trở :</a:t>
              </a:r>
              <a:endParaRPr/>
            </a:p>
          </p:txBody>
        </p:sp>
        <p:sp>
          <p:nvSpPr>
            <p:cNvPr id="2216" name="Google Shape;2216;p117"/>
            <p:cNvSpPr txBox="1"/>
            <p:nvPr/>
          </p:nvSpPr>
          <p:spPr>
            <a:xfrm>
              <a:off x="1948347" y="3440392"/>
              <a:ext cx="1854145" cy="3692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17" name="Google Shape;2217;p117"/>
            <p:cNvSpPr txBox="1"/>
            <p:nvPr/>
          </p:nvSpPr>
          <p:spPr>
            <a:xfrm>
              <a:off x="1948347" y="3862752"/>
              <a:ext cx="2534753" cy="5399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grpSp>
        <p:nvGrpSpPr>
          <p:cNvPr id="2218" name="Google Shape;2218;p117"/>
          <p:cNvGrpSpPr/>
          <p:nvPr/>
        </p:nvGrpSpPr>
        <p:grpSpPr>
          <a:xfrm>
            <a:off x="883862" y="3601630"/>
            <a:ext cx="3599247" cy="1951973"/>
            <a:chOff x="5088573" y="3998220"/>
            <a:chExt cx="3599246" cy="1951975"/>
          </a:xfrm>
        </p:grpSpPr>
        <p:cxnSp>
          <p:nvCxnSpPr>
            <p:cNvPr id="2219" name="Google Shape;2219;p117"/>
            <p:cNvCxnSpPr/>
            <p:nvPr/>
          </p:nvCxnSpPr>
          <p:spPr>
            <a:xfrm>
              <a:off x="5520482" y="5797844"/>
              <a:ext cx="3167337" cy="0"/>
            </a:xfrm>
            <a:prstGeom prst="straightConnector1">
              <a:avLst/>
            </a:prstGeom>
            <a:noFill/>
            <a:ln w="9525" cap="flat" cmpd="sng">
              <a:solidFill>
                <a:schemeClr val="dk1"/>
              </a:solidFill>
              <a:prstDash val="solid"/>
              <a:miter lim="800000"/>
              <a:headEnd type="none" w="sm" len="sm"/>
              <a:tailEnd type="triangle" w="med" len="med"/>
            </a:ln>
          </p:spPr>
        </p:cxnSp>
        <p:cxnSp>
          <p:nvCxnSpPr>
            <p:cNvPr id="2220" name="Google Shape;2220;p117"/>
            <p:cNvCxnSpPr/>
            <p:nvPr/>
          </p:nvCxnSpPr>
          <p:spPr>
            <a:xfrm rot="10800000">
              <a:off x="5808421" y="4070206"/>
              <a:ext cx="0" cy="1879989"/>
            </a:xfrm>
            <a:prstGeom prst="straightConnector1">
              <a:avLst/>
            </a:prstGeom>
            <a:noFill/>
            <a:ln w="9525" cap="flat" cmpd="sng">
              <a:solidFill>
                <a:schemeClr val="dk1"/>
              </a:solidFill>
              <a:prstDash val="solid"/>
              <a:miter lim="800000"/>
              <a:headEnd type="none" w="sm" len="sm"/>
              <a:tailEnd type="triangle" w="med" len="med"/>
            </a:ln>
          </p:spPr>
        </p:cxnSp>
        <p:cxnSp>
          <p:nvCxnSpPr>
            <p:cNvPr id="2221" name="Google Shape;2221;p117"/>
            <p:cNvCxnSpPr/>
            <p:nvPr/>
          </p:nvCxnSpPr>
          <p:spPr>
            <a:xfrm rot="10800000" flipH="1">
              <a:off x="5808421" y="4286160"/>
              <a:ext cx="1871608" cy="1295729"/>
            </a:xfrm>
            <a:prstGeom prst="straightConnector1">
              <a:avLst/>
            </a:prstGeom>
            <a:noFill/>
            <a:ln w="9525" cap="flat" cmpd="sng">
              <a:solidFill>
                <a:srgbClr val="FF3300"/>
              </a:solidFill>
              <a:prstDash val="solid"/>
              <a:miter lim="800000"/>
              <a:headEnd type="none" w="sm" len="sm"/>
              <a:tailEnd type="none" w="sm" len="sm"/>
            </a:ln>
          </p:spPr>
        </p:cxnSp>
        <p:sp>
          <p:nvSpPr>
            <p:cNvPr id="2222" name="Google Shape;2222;p117"/>
            <p:cNvSpPr txBox="1"/>
            <p:nvPr/>
          </p:nvSpPr>
          <p:spPr>
            <a:xfrm>
              <a:off x="6600256" y="4924735"/>
              <a:ext cx="1854145" cy="3692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23" name="Google Shape;2223;p117"/>
            <p:cNvSpPr txBox="1"/>
            <p:nvPr/>
          </p:nvSpPr>
          <p:spPr>
            <a:xfrm>
              <a:off x="5088573" y="3998220"/>
              <a:ext cx="750862" cy="3692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2224" name="Google Shape;2224;p117"/>
          <p:cNvSpPr/>
          <p:nvPr/>
        </p:nvSpPr>
        <p:spPr>
          <a:xfrm>
            <a:off x="882719" y="3440395"/>
            <a:ext cx="3781367" cy="2274608"/>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2225" name="Google Shape;2225;p117"/>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3.2</a:t>
            </a:r>
            <a:r>
              <a:rPr lang="en-US" sz="1799" dirty="0">
                <a:solidFill>
                  <a:schemeClr val="tx1"/>
                </a:solidFill>
              </a:rPr>
              <a:t> . </a:t>
            </a:r>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230"/>
        <p:cNvGrpSpPr/>
        <p:nvPr/>
      </p:nvGrpSpPr>
      <p:grpSpPr>
        <a:xfrm>
          <a:off x="0" y="0"/>
          <a:ext cx="0" cy="0"/>
          <a:chOff x="0" y="0"/>
          <a:chExt cx="0" cy="0"/>
        </a:xfrm>
      </p:grpSpPr>
      <p:sp>
        <p:nvSpPr>
          <p:cNvPr id="2231" name="Google Shape;2231;p118"/>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Độ nhạy</a:t>
            </a:r>
            <a:endParaRPr sz="2401" b="1">
              <a:solidFill>
                <a:srgbClr val="0C0C0C"/>
              </a:solidFill>
              <a:latin typeface="Arial"/>
              <a:ea typeface="Arial"/>
              <a:cs typeface="Arial"/>
              <a:sym typeface="Arial"/>
            </a:endParaRPr>
          </a:p>
        </p:txBody>
      </p:sp>
      <p:sp>
        <p:nvSpPr>
          <p:cNvPr id="2232" name="Google Shape;2232;p118"/>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233" name="Google Shape;2233;p118"/>
          <p:cNvSpPr/>
          <p:nvPr/>
        </p:nvSpPr>
        <p:spPr>
          <a:xfrm>
            <a:off x="580400" y="1944544"/>
            <a:ext cx="8619172" cy="559384"/>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Nếu sự phụ thuộc giữa tín hiệu vào/ra của cảm biến là đường thẳng thì hàm truyền là</a:t>
            </a:r>
            <a:endParaRPr/>
          </a:p>
          <a:p>
            <a:pPr marL="115879" marR="0" lvl="0" indent="-9122" algn="l" rtl="0">
              <a:spcBef>
                <a:spcPts val="1000"/>
              </a:spcBef>
              <a:spcAft>
                <a:spcPts val="0"/>
              </a:spcAft>
              <a:buClr>
                <a:schemeClr val="lt1"/>
              </a:buClr>
              <a:buSzPts val="1681"/>
              <a:buFont typeface="Calibri"/>
              <a:buNone/>
            </a:pPr>
            <a:endParaRPr sz="1401">
              <a:solidFill>
                <a:schemeClr val="dk1"/>
              </a:solidFill>
              <a:latin typeface="Arial"/>
              <a:ea typeface="Arial"/>
              <a:cs typeface="Arial"/>
              <a:sym typeface="Arial"/>
            </a:endParaRPr>
          </a:p>
        </p:txBody>
      </p:sp>
      <p:sp>
        <p:nvSpPr>
          <p:cNvPr id="2234" name="Google Shape;2234;p118"/>
          <p:cNvSpPr txBox="1"/>
          <p:nvPr/>
        </p:nvSpPr>
        <p:spPr>
          <a:xfrm>
            <a:off x="4236553" y="2253693"/>
            <a:ext cx="855042"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35" name="Google Shape;2235;p118"/>
          <p:cNvSpPr/>
          <p:nvPr/>
        </p:nvSpPr>
        <p:spPr>
          <a:xfrm>
            <a:off x="709605" y="2673707"/>
            <a:ext cx="8619172" cy="2155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1">
                <a:solidFill>
                  <a:schemeClr val="dk1"/>
                </a:solidFill>
                <a:latin typeface="Arial"/>
                <a:ea typeface="Arial"/>
                <a:cs typeface="Arial"/>
                <a:sym typeface="Arial"/>
              </a:rPr>
              <a:t>Độ nhạy là độ dốc của đường thẳng.</a:t>
            </a:r>
            <a:endParaRPr/>
          </a:p>
        </p:txBody>
      </p:sp>
      <p:sp>
        <p:nvSpPr>
          <p:cNvPr id="2236" name="Google Shape;2236;p118"/>
          <p:cNvSpPr/>
          <p:nvPr/>
        </p:nvSpPr>
        <p:spPr>
          <a:xfrm>
            <a:off x="580400" y="5217871"/>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Nếu hàm truyền phi tuyến thì chỉ xác định được độ nhạy bằng tín hiệu đầu vào cụ thể xo. </a:t>
            </a:r>
            <a:endParaRPr/>
          </a:p>
        </p:txBody>
      </p:sp>
      <p:sp>
        <p:nvSpPr>
          <p:cNvPr id="2237" name="Google Shape;2237;p118"/>
          <p:cNvSpPr txBox="1"/>
          <p:nvPr/>
        </p:nvSpPr>
        <p:spPr>
          <a:xfrm>
            <a:off x="4044385" y="5508909"/>
            <a:ext cx="1239378" cy="56137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nvGrpSpPr>
          <p:cNvPr id="2238" name="Google Shape;2238;p118"/>
          <p:cNvGrpSpPr/>
          <p:nvPr/>
        </p:nvGrpSpPr>
        <p:grpSpPr>
          <a:xfrm>
            <a:off x="873876" y="3015962"/>
            <a:ext cx="2528433" cy="2071111"/>
            <a:chOff x="4859933" y="2584660"/>
            <a:chExt cx="3405113" cy="2789224"/>
          </a:xfrm>
        </p:grpSpPr>
        <p:pic>
          <p:nvPicPr>
            <p:cNvPr id="2239" name="Google Shape;2239;p118"/>
            <p:cNvPicPr preferRelativeResize="0"/>
            <p:nvPr/>
          </p:nvPicPr>
          <p:blipFill rotWithShape="1">
            <a:blip r:embed="rId3">
              <a:alphaModFix/>
            </a:blip>
            <a:srcRect l="4054" t="4763" r="3163" b="4663"/>
            <a:stretch/>
          </p:blipFill>
          <p:spPr>
            <a:xfrm>
              <a:off x="4859933" y="2598973"/>
              <a:ext cx="3292789" cy="2636910"/>
            </a:xfrm>
            <a:prstGeom prst="rect">
              <a:avLst/>
            </a:prstGeom>
            <a:noFill/>
            <a:ln>
              <a:noFill/>
            </a:ln>
          </p:spPr>
        </p:pic>
        <p:sp>
          <p:nvSpPr>
            <p:cNvPr id="2240" name="Google Shape;2240;p118"/>
            <p:cNvSpPr/>
            <p:nvPr/>
          </p:nvSpPr>
          <p:spPr>
            <a:xfrm>
              <a:off x="5283101" y="2804901"/>
              <a:ext cx="846624" cy="455595"/>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Tín hiệu đầu ra</a:t>
              </a:r>
              <a:endParaRPr sz="1099">
                <a:solidFill>
                  <a:schemeClr val="dk1"/>
                </a:solidFill>
                <a:latin typeface="Arial"/>
                <a:ea typeface="Arial"/>
                <a:cs typeface="Arial"/>
                <a:sym typeface="Arial"/>
              </a:endParaRPr>
            </a:p>
          </p:txBody>
        </p:sp>
        <p:sp>
          <p:nvSpPr>
            <p:cNvPr id="2241" name="Google Shape;2241;p118"/>
            <p:cNvSpPr/>
            <p:nvPr/>
          </p:nvSpPr>
          <p:spPr>
            <a:xfrm>
              <a:off x="7544758" y="4338347"/>
              <a:ext cx="720288" cy="103553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Tín hiệu đầu vào</a:t>
              </a:r>
              <a:endParaRPr sz="1099">
                <a:solidFill>
                  <a:schemeClr val="dk1"/>
                </a:solidFill>
                <a:latin typeface="Arial"/>
                <a:ea typeface="Arial"/>
                <a:cs typeface="Arial"/>
                <a:sym typeface="Arial"/>
              </a:endParaRPr>
            </a:p>
          </p:txBody>
        </p:sp>
        <p:sp>
          <p:nvSpPr>
            <p:cNvPr id="2242" name="Google Shape;2242;p118"/>
            <p:cNvSpPr/>
            <p:nvPr/>
          </p:nvSpPr>
          <p:spPr>
            <a:xfrm>
              <a:off x="5656361" y="3347071"/>
              <a:ext cx="473359"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43" name="Google Shape;2243;p118"/>
            <p:cNvSpPr/>
            <p:nvPr/>
          </p:nvSpPr>
          <p:spPr>
            <a:xfrm>
              <a:off x="6032968" y="2584660"/>
              <a:ext cx="39304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44" name="Google Shape;2244;p118"/>
            <p:cNvSpPr/>
            <p:nvPr/>
          </p:nvSpPr>
          <p:spPr>
            <a:xfrm>
              <a:off x="6203837" y="4892484"/>
              <a:ext cx="39304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45" name="Google Shape;2245;p118"/>
            <p:cNvSpPr/>
            <p:nvPr/>
          </p:nvSpPr>
          <p:spPr>
            <a:xfrm>
              <a:off x="7002165" y="4341557"/>
              <a:ext cx="473359"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46" name="Google Shape;2246;p118"/>
            <p:cNvSpPr/>
            <p:nvPr/>
          </p:nvSpPr>
          <p:spPr>
            <a:xfrm>
              <a:off x="5046419" y="4033129"/>
              <a:ext cx="473359"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47" name="Google Shape;2247;p118"/>
            <p:cNvSpPr/>
            <p:nvPr/>
          </p:nvSpPr>
          <p:spPr>
            <a:xfrm>
              <a:off x="6562679" y="4000127"/>
              <a:ext cx="26175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48" name="Google Shape;2248;p118"/>
            <p:cNvSpPr/>
            <p:nvPr/>
          </p:nvSpPr>
          <p:spPr>
            <a:xfrm>
              <a:off x="6802127" y="3839883"/>
              <a:ext cx="26175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49" name="Google Shape;2249;p118"/>
            <p:cNvSpPr/>
            <p:nvPr/>
          </p:nvSpPr>
          <p:spPr>
            <a:xfrm>
              <a:off x="7990815" y="4140497"/>
              <a:ext cx="26175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2250" name="Google Shape;2250;p118"/>
          <p:cNvSpPr/>
          <p:nvPr/>
        </p:nvSpPr>
        <p:spPr>
          <a:xfrm>
            <a:off x="709597" y="3015964"/>
            <a:ext cx="2743200" cy="2022199"/>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2251" name="Google Shape;2251;p118"/>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3.2. Đặc điểm cơ bản của cảm biến</a:t>
            </a:r>
            <a:endParaRPr sz="1799" b="1">
              <a:solidFill>
                <a:schemeClr val="lt1"/>
              </a:solidFill>
              <a:latin typeface="Arial"/>
              <a:ea typeface="Arial"/>
              <a:cs typeface="Arial"/>
              <a:sym typeface="Arial"/>
            </a:endParaRPr>
          </a:p>
        </p:txBody>
      </p:sp>
      <p:sp>
        <p:nvSpPr>
          <p:cNvPr id="2252" name="Google Shape;2252;p118"/>
          <p:cNvSpPr txBox="1"/>
          <p:nvPr/>
        </p:nvSpPr>
        <p:spPr>
          <a:xfrm>
            <a:off x="3869906" y="3179500"/>
            <a:ext cx="3646639" cy="68172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257"/>
        <p:cNvGrpSpPr/>
        <p:nvPr/>
      </p:nvGrpSpPr>
      <p:grpSpPr>
        <a:xfrm>
          <a:off x="0" y="0"/>
          <a:ext cx="0" cy="0"/>
          <a:chOff x="0" y="0"/>
          <a:chExt cx="0" cy="0"/>
        </a:xfrm>
      </p:grpSpPr>
      <p:sp>
        <p:nvSpPr>
          <p:cNvPr id="2258" name="Google Shape;2258;p119"/>
          <p:cNvSpPr/>
          <p:nvPr/>
        </p:nvSpPr>
        <p:spPr>
          <a:xfrm>
            <a:off x="450003" y="1375105"/>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Phạm vi hoạt động và Giá trị đầu ra toàn thang</a:t>
            </a:r>
            <a:endParaRPr/>
          </a:p>
        </p:txBody>
      </p:sp>
      <p:sp>
        <p:nvSpPr>
          <p:cNvPr id="2259" name="Google Shape;2259;p119"/>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260" name="Google Shape;2260;p119"/>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Phạm vi hoạt động hay khoảng đo</a:t>
            </a:r>
            <a:endParaRPr sz="1401">
              <a:solidFill>
                <a:schemeClr val="dk1"/>
              </a:solidFill>
              <a:latin typeface="Arial"/>
              <a:ea typeface="Arial"/>
              <a:cs typeface="Arial"/>
              <a:sym typeface="Arial"/>
            </a:endParaRPr>
          </a:p>
        </p:txBody>
      </p:sp>
      <p:sp>
        <p:nvSpPr>
          <p:cNvPr id="2261" name="Google Shape;2261;p119"/>
          <p:cNvSpPr txBox="1"/>
          <p:nvPr/>
        </p:nvSpPr>
        <p:spPr>
          <a:xfrm>
            <a:off x="906014" y="2615643"/>
            <a:ext cx="1681421"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62" name="Google Shape;2262;p119"/>
          <p:cNvSpPr/>
          <p:nvPr/>
        </p:nvSpPr>
        <p:spPr>
          <a:xfrm>
            <a:off x="712189" y="2174884"/>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Phạm vi giữa tín hiệu đầu vào nhỏ nhất và lớn nhất để tạo tín hiệu đầu ra cảm biến có nghĩa</a:t>
            </a:r>
            <a:endParaRPr sz="1299">
              <a:solidFill>
                <a:srgbClr val="262626"/>
              </a:solidFill>
              <a:latin typeface="Arial"/>
              <a:ea typeface="Arial"/>
              <a:cs typeface="Arial"/>
              <a:sym typeface="Arial"/>
            </a:endParaRPr>
          </a:p>
        </p:txBody>
      </p:sp>
      <p:sp>
        <p:nvSpPr>
          <p:cNvPr id="2263" name="Google Shape;2263;p119"/>
          <p:cNvSpPr/>
          <p:nvPr/>
        </p:nvSpPr>
        <p:spPr>
          <a:xfrm>
            <a:off x="712189" y="3097864"/>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Đây được gọi là giá trị đầu vào toàn thang hoặc phạm vi toàn thang</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Trong nhiều trường hợp, khoảng đo bằng 0 ~ 〖+𝑥〗_𝑚𝑎𝑥</a:t>
            </a:r>
            <a:endParaRPr sz="1299">
              <a:solidFill>
                <a:srgbClr val="262626"/>
              </a:solidFill>
              <a:latin typeface="Arial"/>
              <a:ea typeface="Arial"/>
              <a:cs typeface="Arial"/>
              <a:sym typeface="Arial"/>
            </a:endParaRPr>
          </a:p>
        </p:txBody>
      </p:sp>
      <p:sp>
        <p:nvSpPr>
          <p:cNvPr id="2264" name="Google Shape;2264;p119"/>
          <p:cNvSpPr/>
          <p:nvPr/>
        </p:nvSpPr>
        <p:spPr>
          <a:xfrm>
            <a:off x="580400" y="4259830"/>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Giá trị đầu ra toàn thang ； FSO</a:t>
            </a:r>
            <a:endParaRPr/>
          </a:p>
        </p:txBody>
      </p:sp>
      <p:sp>
        <p:nvSpPr>
          <p:cNvPr id="2265" name="Google Shape;2265;p119"/>
          <p:cNvSpPr/>
          <p:nvPr/>
        </p:nvSpPr>
        <p:spPr>
          <a:xfrm>
            <a:off x="712189" y="4490160"/>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Chênh lệch đại số giữa tín hiệu đầu vào lớn nhất (+ymax) và tín hiệu đầu ra nhỏ nhất (-ymin)</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Với mỗi tín hiệu đầu vào và đầu ra, cũng có thể sử dụng tín hiệu đầu vào và đầu ra định mức</a:t>
            </a:r>
            <a:endParaRPr sz="1299">
              <a:solidFill>
                <a:srgbClr val="262626"/>
              </a:solidFill>
              <a:latin typeface="Arial"/>
              <a:ea typeface="Arial"/>
              <a:cs typeface="Arial"/>
              <a:sym typeface="Arial"/>
            </a:endParaRPr>
          </a:p>
        </p:txBody>
      </p:sp>
      <p:sp>
        <p:nvSpPr>
          <p:cNvPr id="2266" name="Google Shape;2266;p119"/>
          <p:cNvSpPr txBox="1"/>
          <p:nvPr/>
        </p:nvSpPr>
        <p:spPr>
          <a:xfrm>
            <a:off x="4951413" y="2787412"/>
            <a:ext cx="3335337" cy="14575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67" name="Google Shape;2267;p119"/>
          <p:cNvSpPr/>
          <p:nvPr/>
        </p:nvSpPr>
        <p:spPr>
          <a:xfrm>
            <a:off x="5085440" y="2945466"/>
            <a:ext cx="817251" cy="304800"/>
          </a:xfrm>
          <a:prstGeom prst="roundRect">
            <a:avLst>
              <a:gd name="adj" fmla="val 50000"/>
            </a:avLst>
          </a:prstGeom>
          <a:solidFill>
            <a:srgbClr val="193EB0"/>
          </a:solidFill>
          <a:ln>
            <a:noFill/>
          </a:ln>
        </p:spPr>
        <p:txBody>
          <a:bodyPr spcFirstLastPara="1" wrap="square" lIns="72000" tIns="0" rIns="72000" bIns="0" anchor="ctr" anchorCtr="0">
            <a:noAutofit/>
          </a:bodyPr>
          <a:lstStyle/>
          <a:p>
            <a:pPr marL="0" marR="0" lvl="0" indent="0" algn="ctr" rtl="0">
              <a:lnSpc>
                <a:spcPct val="76982"/>
              </a:lnSpc>
              <a:spcBef>
                <a:spcPts val="0"/>
              </a:spcBef>
              <a:spcAft>
                <a:spcPts val="0"/>
              </a:spcAft>
              <a:buNone/>
            </a:pPr>
            <a:r>
              <a:rPr lang="en-US" sz="1299" b="1">
                <a:solidFill>
                  <a:schemeClr val="lt1"/>
                </a:solidFill>
                <a:latin typeface="Arial"/>
                <a:ea typeface="Arial"/>
                <a:cs typeface="Arial"/>
                <a:sym typeface="Arial"/>
              </a:rPr>
              <a:t>Tín hiệu đầu ra</a:t>
            </a:r>
            <a:endParaRPr sz="1299" b="1">
              <a:solidFill>
                <a:schemeClr val="lt1"/>
              </a:solidFill>
              <a:latin typeface="Arial"/>
              <a:ea typeface="Arial"/>
              <a:cs typeface="Arial"/>
              <a:sym typeface="Arial"/>
            </a:endParaRPr>
          </a:p>
        </p:txBody>
      </p:sp>
      <p:sp>
        <p:nvSpPr>
          <p:cNvPr id="2268" name="Google Shape;2268;p119"/>
          <p:cNvSpPr/>
          <p:nvPr/>
        </p:nvSpPr>
        <p:spPr>
          <a:xfrm>
            <a:off x="7285716" y="3860651"/>
            <a:ext cx="817251" cy="304800"/>
          </a:xfrm>
          <a:prstGeom prst="roundRect">
            <a:avLst>
              <a:gd name="adj" fmla="val 50000"/>
            </a:avLst>
          </a:prstGeom>
          <a:solidFill>
            <a:srgbClr val="193EB0"/>
          </a:solidFill>
          <a:ln>
            <a:noFill/>
          </a:ln>
        </p:spPr>
        <p:txBody>
          <a:bodyPr spcFirstLastPara="1" wrap="square" lIns="72000" tIns="0" rIns="72000" bIns="0" anchor="ctr" anchorCtr="0">
            <a:noAutofit/>
          </a:bodyPr>
          <a:lstStyle/>
          <a:p>
            <a:pPr marL="0" marR="0" lvl="0" indent="0" algn="ctr" rtl="0">
              <a:lnSpc>
                <a:spcPct val="76982"/>
              </a:lnSpc>
              <a:spcBef>
                <a:spcPts val="0"/>
              </a:spcBef>
              <a:spcAft>
                <a:spcPts val="0"/>
              </a:spcAft>
              <a:buNone/>
            </a:pPr>
            <a:r>
              <a:rPr lang="en-US" sz="1299" b="1">
                <a:solidFill>
                  <a:schemeClr val="lt1"/>
                </a:solidFill>
                <a:latin typeface="Arial"/>
                <a:ea typeface="Arial"/>
                <a:cs typeface="Arial"/>
                <a:sym typeface="Arial"/>
              </a:rPr>
              <a:t>Tín hiệu đầu vào</a:t>
            </a:r>
            <a:endParaRPr sz="1299" b="1">
              <a:solidFill>
                <a:schemeClr val="lt1"/>
              </a:solidFill>
              <a:latin typeface="Arial"/>
              <a:ea typeface="Arial"/>
              <a:cs typeface="Arial"/>
              <a:sym typeface="Arial"/>
            </a:endParaRPr>
          </a:p>
        </p:txBody>
      </p:sp>
      <p:sp>
        <p:nvSpPr>
          <p:cNvPr id="2269" name="Google Shape;2269;p119"/>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3.2</a:t>
            </a:r>
            <a:r>
              <a:rPr lang="en-US" sz="1799" dirty="0">
                <a:solidFill>
                  <a:schemeClr val="tx1"/>
                </a:solidFill>
              </a:rPr>
              <a:t> . </a:t>
            </a:r>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274"/>
        <p:cNvGrpSpPr/>
        <p:nvPr/>
      </p:nvGrpSpPr>
      <p:grpSpPr>
        <a:xfrm>
          <a:off x="0" y="0"/>
          <a:ext cx="0" cy="0"/>
          <a:chOff x="0" y="0"/>
          <a:chExt cx="0" cy="0"/>
        </a:xfrm>
      </p:grpSpPr>
      <p:sp>
        <p:nvSpPr>
          <p:cNvPr id="2275" name="Google Shape;2275;p120"/>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Độ phân giải</a:t>
            </a:r>
            <a:endParaRPr sz="2401" b="1">
              <a:solidFill>
                <a:srgbClr val="0C0C0C"/>
              </a:solidFill>
              <a:latin typeface="Arial"/>
              <a:ea typeface="Arial"/>
              <a:cs typeface="Arial"/>
              <a:sym typeface="Arial"/>
            </a:endParaRPr>
          </a:p>
        </p:txBody>
      </p:sp>
      <p:sp>
        <p:nvSpPr>
          <p:cNvPr id="2276" name="Google Shape;2276;p120"/>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277" name="Google Shape;2277;p120"/>
          <p:cNvSpPr/>
          <p:nvPr/>
        </p:nvSpPr>
        <p:spPr>
          <a:xfrm>
            <a:off x="580400" y="1944547"/>
            <a:ext cx="8619172" cy="1118768"/>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Gia số nhỏ nhất có thể phát hiện</a:t>
            </a:r>
            <a:endParaRPr sz="1401">
              <a:solidFill>
                <a:schemeClr val="dk1"/>
              </a:solidFill>
              <a:latin typeface="Arial"/>
              <a:ea typeface="Arial"/>
              <a:cs typeface="Arial"/>
              <a:sym typeface="Arial"/>
            </a:endParaRPr>
          </a:p>
          <a:p>
            <a:pPr marL="115879" marR="0" lvl="0" indent="-115879" algn="l" rtl="0">
              <a:spcBef>
                <a:spcPts val="1000"/>
              </a:spcBef>
              <a:spcAft>
                <a:spcPts val="0"/>
              </a:spcAft>
              <a:buClr>
                <a:srgbClr val="262626"/>
              </a:buClr>
              <a:buSzPts val="1681"/>
              <a:buFont typeface="Arial"/>
              <a:buChar char="•"/>
            </a:pPr>
            <a:r>
              <a:rPr lang="en-US" sz="1401">
                <a:solidFill>
                  <a:srgbClr val="262626"/>
                </a:solidFill>
                <a:latin typeface="Arial"/>
                <a:ea typeface="Arial"/>
                <a:cs typeface="Arial"/>
                <a:sym typeface="Arial"/>
              </a:rPr>
              <a:t>Như trong hình, nếu Δx nhỏ đi thì Δy cũng nhỏ đi. Do vậy, Δy là đại lượng không xác định mặc dù tín hiệu đầu vào thay đổi. Trong trường hợp này, Δx chính là độ phân giải góc</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Nguyên nhân</a:t>
            </a:r>
            <a:endParaRPr sz="1401">
              <a:solidFill>
                <a:schemeClr val="dk1"/>
              </a:solidFill>
              <a:latin typeface="Arial"/>
              <a:ea typeface="Arial"/>
              <a:cs typeface="Arial"/>
              <a:sym typeface="Arial"/>
            </a:endParaRPr>
          </a:p>
        </p:txBody>
      </p:sp>
      <p:sp>
        <p:nvSpPr>
          <p:cNvPr id="2278" name="Google Shape;2278;p120"/>
          <p:cNvSpPr/>
          <p:nvPr/>
        </p:nvSpPr>
        <p:spPr>
          <a:xfrm>
            <a:off x="3504307" y="3062795"/>
            <a:ext cx="5695260" cy="1252857"/>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Các phần bị thay đổi của tín hiệu đầu vào được xử lý bên trong cảm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biến và không xuất ra dưới dạng tín hiệu đầu ra</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(Δx) phản hồi trước thay đổi của tín hiệu đầu vào (Δy) thì cảm biến sẽ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ít bị nhiễu hơn</a:t>
            </a:r>
            <a:endParaRPr/>
          </a:p>
        </p:txBody>
      </p:sp>
      <p:sp>
        <p:nvSpPr>
          <p:cNvPr id="2279" name="Google Shape;2279;p120"/>
          <p:cNvSpPr/>
          <p:nvPr/>
        </p:nvSpPr>
        <p:spPr>
          <a:xfrm>
            <a:off x="558807" y="3120371"/>
            <a:ext cx="2822576" cy="2274608"/>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nvGrpSpPr>
          <p:cNvPr id="2280" name="Google Shape;2280;p120"/>
          <p:cNvGrpSpPr/>
          <p:nvPr/>
        </p:nvGrpSpPr>
        <p:grpSpPr>
          <a:xfrm>
            <a:off x="745068" y="3269637"/>
            <a:ext cx="2528433" cy="2071111"/>
            <a:chOff x="4859933" y="2584660"/>
            <a:chExt cx="3405113" cy="2789224"/>
          </a:xfrm>
        </p:grpSpPr>
        <p:pic>
          <p:nvPicPr>
            <p:cNvPr id="2281" name="Google Shape;2281;p120"/>
            <p:cNvPicPr preferRelativeResize="0"/>
            <p:nvPr/>
          </p:nvPicPr>
          <p:blipFill rotWithShape="1">
            <a:blip r:embed="rId3">
              <a:alphaModFix/>
            </a:blip>
            <a:srcRect l="4054" t="4763" r="3163" b="4663"/>
            <a:stretch/>
          </p:blipFill>
          <p:spPr>
            <a:xfrm>
              <a:off x="4859933" y="2598973"/>
              <a:ext cx="3292789" cy="2636910"/>
            </a:xfrm>
            <a:prstGeom prst="rect">
              <a:avLst/>
            </a:prstGeom>
            <a:noFill/>
            <a:ln>
              <a:noFill/>
            </a:ln>
          </p:spPr>
        </p:pic>
        <p:sp>
          <p:nvSpPr>
            <p:cNvPr id="2282" name="Google Shape;2282;p120"/>
            <p:cNvSpPr/>
            <p:nvPr/>
          </p:nvSpPr>
          <p:spPr>
            <a:xfrm>
              <a:off x="5283101" y="2804901"/>
              <a:ext cx="846624" cy="455595"/>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Tín hiệu đầu ra</a:t>
              </a:r>
              <a:endParaRPr sz="1099">
                <a:solidFill>
                  <a:schemeClr val="dk1"/>
                </a:solidFill>
                <a:latin typeface="Arial"/>
                <a:ea typeface="Arial"/>
                <a:cs typeface="Arial"/>
                <a:sym typeface="Arial"/>
              </a:endParaRPr>
            </a:p>
          </p:txBody>
        </p:sp>
        <p:sp>
          <p:nvSpPr>
            <p:cNvPr id="2283" name="Google Shape;2283;p120"/>
            <p:cNvSpPr/>
            <p:nvPr/>
          </p:nvSpPr>
          <p:spPr>
            <a:xfrm>
              <a:off x="7544758" y="4338347"/>
              <a:ext cx="720288" cy="103553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Tín hiệu đầu vào</a:t>
              </a:r>
              <a:endParaRPr sz="1099">
                <a:solidFill>
                  <a:schemeClr val="dk1"/>
                </a:solidFill>
                <a:latin typeface="Arial"/>
                <a:ea typeface="Arial"/>
                <a:cs typeface="Arial"/>
                <a:sym typeface="Arial"/>
              </a:endParaRPr>
            </a:p>
          </p:txBody>
        </p:sp>
        <p:sp>
          <p:nvSpPr>
            <p:cNvPr id="2284" name="Google Shape;2284;p120"/>
            <p:cNvSpPr/>
            <p:nvPr/>
          </p:nvSpPr>
          <p:spPr>
            <a:xfrm>
              <a:off x="5656361" y="3347071"/>
              <a:ext cx="473359"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85" name="Google Shape;2285;p120"/>
            <p:cNvSpPr/>
            <p:nvPr/>
          </p:nvSpPr>
          <p:spPr>
            <a:xfrm>
              <a:off x="6032968" y="2584660"/>
              <a:ext cx="39304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86" name="Google Shape;2286;p120"/>
            <p:cNvSpPr/>
            <p:nvPr/>
          </p:nvSpPr>
          <p:spPr>
            <a:xfrm>
              <a:off x="6203837" y="4892484"/>
              <a:ext cx="39304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87" name="Google Shape;2287;p120"/>
            <p:cNvSpPr/>
            <p:nvPr/>
          </p:nvSpPr>
          <p:spPr>
            <a:xfrm>
              <a:off x="7002165" y="4341557"/>
              <a:ext cx="473359"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88" name="Google Shape;2288;p120"/>
            <p:cNvSpPr/>
            <p:nvPr/>
          </p:nvSpPr>
          <p:spPr>
            <a:xfrm>
              <a:off x="5046419" y="4033129"/>
              <a:ext cx="473359"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89" name="Google Shape;2289;p120"/>
            <p:cNvSpPr/>
            <p:nvPr/>
          </p:nvSpPr>
          <p:spPr>
            <a:xfrm>
              <a:off x="6562679" y="4000127"/>
              <a:ext cx="26175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90" name="Google Shape;2290;p120"/>
            <p:cNvSpPr/>
            <p:nvPr/>
          </p:nvSpPr>
          <p:spPr>
            <a:xfrm>
              <a:off x="6802127" y="3839883"/>
              <a:ext cx="26175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291" name="Google Shape;2291;p120"/>
            <p:cNvSpPr/>
            <p:nvPr/>
          </p:nvSpPr>
          <p:spPr>
            <a:xfrm>
              <a:off x="7990815" y="4140497"/>
              <a:ext cx="261758" cy="2024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2292" name="Google Shape;2292;p120"/>
          <p:cNvSpPr/>
          <p:nvPr/>
        </p:nvSpPr>
        <p:spPr>
          <a:xfrm>
            <a:off x="580400" y="5581471"/>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Độ phân giải góc càng nhỏ càng tốt </a:t>
            </a:r>
            <a:endParaRPr/>
          </a:p>
        </p:txBody>
      </p:sp>
      <p:sp>
        <p:nvSpPr>
          <p:cNvPr id="2293" name="Google Shape;2293;p120"/>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a:solidFill>
                  <a:schemeClr val="lt1"/>
                </a:solidFill>
                <a:latin typeface="Arial"/>
                <a:ea typeface="Arial"/>
                <a:cs typeface="Arial"/>
                <a:sym typeface="Arial"/>
              </a:rPr>
              <a:t>3.2. Đặc điểm cơ bản của cảm biến</a:t>
            </a:r>
            <a:endParaRPr sz="1799" b="1">
              <a:solidFill>
                <a:schemeClr val="lt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298"/>
        <p:cNvGrpSpPr/>
        <p:nvPr/>
      </p:nvGrpSpPr>
      <p:grpSpPr>
        <a:xfrm>
          <a:off x="0" y="0"/>
          <a:ext cx="0" cy="0"/>
          <a:chOff x="0" y="0"/>
          <a:chExt cx="0" cy="0"/>
        </a:xfrm>
      </p:grpSpPr>
      <p:sp>
        <p:nvSpPr>
          <p:cNvPr id="2299" name="Google Shape;2299;p121"/>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Độ chính xác và độ chụm</a:t>
            </a:r>
            <a:endParaRPr sz="2401" b="1">
              <a:solidFill>
                <a:srgbClr val="0C0C0C"/>
              </a:solidFill>
              <a:latin typeface="Arial"/>
              <a:ea typeface="Arial"/>
              <a:cs typeface="Arial"/>
              <a:sym typeface="Arial"/>
            </a:endParaRPr>
          </a:p>
        </p:txBody>
      </p:sp>
      <p:sp>
        <p:nvSpPr>
          <p:cNvPr id="2300" name="Google Shape;2300;p121"/>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301" name="Google Shape;2301;p121"/>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Độ chính xác</a:t>
            </a:r>
            <a:endParaRPr sz="1401">
              <a:solidFill>
                <a:schemeClr val="dk1"/>
              </a:solidFill>
              <a:latin typeface="Arial"/>
              <a:ea typeface="Arial"/>
              <a:cs typeface="Arial"/>
              <a:sym typeface="Arial"/>
            </a:endParaRPr>
          </a:p>
        </p:txBody>
      </p:sp>
      <p:sp>
        <p:nvSpPr>
          <p:cNvPr id="2302" name="Google Shape;2302;p121"/>
          <p:cNvSpPr/>
          <p:nvPr/>
        </p:nvSpPr>
        <p:spPr>
          <a:xfrm>
            <a:off x="712188" y="2174882"/>
            <a:ext cx="8757284" cy="950338"/>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Phép đo cho biết mức độ mà tín hiệu đầu ra của cảm biến gần với giá đúng. Trên thực tế là không chính xác</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Sai số: Phương pháp để thể hiện độ chính xác</a:t>
            </a:r>
            <a:endParaRPr sz="1299">
              <a:solidFill>
                <a:srgbClr val="262626"/>
              </a:solidFill>
              <a:latin typeface="Arial"/>
              <a:ea typeface="Arial"/>
              <a:cs typeface="Arial"/>
              <a:sym typeface="Arial"/>
            </a:endParaRPr>
          </a:p>
          <a:p>
            <a:pPr marL="285750" marR="0" lvl="0" indent="-285750"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Phân bổ giá trị cực trị giữa xt và xm được đo bằng cảm biến</a:t>
            </a:r>
            <a:endParaRPr/>
          </a:p>
        </p:txBody>
      </p:sp>
      <p:sp>
        <p:nvSpPr>
          <p:cNvPr id="2303" name="Google Shape;2303;p121"/>
          <p:cNvSpPr/>
          <p:nvPr/>
        </p:nvSpPr>
        <p:spPr>
          <a:xfrm>
            <a:off x="1068796" y="3139987"/>
            <a:ext cx="1284903" cy="338682"/>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304" name="Google Shape;2304;p121"/>
          <p:cNvSpPr/>
          <p:nvPr/>
        </p:nvSpPr>
        <p:spPr>
          <a:xfrm>
            <a:off x="712189" y="3566438"/>
            <a:ext cx="8487381" cy="345300"/>
          </a:xfrm>
          <a:prstGeom prst="rect">
            <a:avLst/>
          </a:prstGeom>
          <a:noFill/>
          <a:ln>
            <a:noFill/>
          </a:ln>
        </p:spPr>
        <p:txBody>
          <a:bodyPr spcFirstLastPara="1" wrap="square" lIns="0" tIns="71975" rIns="143950" bIns="71975" anchor="t" anchorCtr="0">
            <a:spAutoFit/>
          </a:bodyPr>
          <a:lstStyle/>
          <a:p>
            <a:pPr marL="461945" marR="0" lvl="1" indent="-285749" algn="l" rtl="0">
              <a:spcBef>
                <a:spcPts val="0"/>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Xác định sai số tương đối (sai số phần trăm)</a:t>
            </a:r>
            <a:endParaRPr/>
          </a:p>
        </p:txBody>
      </p:sp>
      <p:sp>
        <p:nvSpPr>
          <p:cNvPr id="2305" name="Google Shape;2305;p121"/>
          <p:cNvSpPr/>
          <p:nvPr/>
        </p:nvSpPr>
        <p:spPr>
          <a:xfrm>
            <a:off x="1068789" y="3904447"/>
            <a:ext cx="2097434" cy="55566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306" name="Google Shape;2306;p121"/>
          <p:cNvSpPr/>
          <p:nvPr/>
        </p:nvSpPr>
        <p:spPr>
          <a:xfrm>
            <a:off x="712189" y="4595566"/>
            <a:ext cx="8487381" cy="345300"/>
          </a:xfrm>
          <a:prstGeom prst="rect">
            <a:avLst/>
          </a:prstGeom>
          <a:noFill/>
          <a:ln>
            <a:noFill/>
          </a:ln>
        </p:spPr>
        <p:txBody>
          <a:bodyPr spcFirstLastPara="1" wrap="square" lIns="0" tIns="71975" rIns="143950" bIns="71975" anchor="t" anchorCtr="0">
            <a:spAutoFit/>
          </a:bodyPr>
          <a:lstStyle/>
          <a:p>
            <a:pPr marL="461945" marR="0" lvl="1" indent="-285749" algn="l" rtl="0">
              <a:spcBef>
                <a:spcPts val="0"/>
              </a:spcBef>
              <a:spcAft>
                <a:spcPts val="0"/>
              </a:spcAft>
              <a:buClr>
                <a:srgbClr val="193EB0"/>
              </a:buClr>
              <a:buSzPts val="1400"/>
              <a:buFont typeface="Arial"/>
              <a:buChar char="•"/>
            </a:pPr>
            <a:r>
              <a:rPr lang="en-US" sz="1299" b="0" i="0" u="none" strike="noStrike" cap="none">
                <a:solidFill>
                  <a:srgbClr val="262626"/>
                </a:solidFill>
                <a:latin typeface="Arial"/>
                <a:ea typeface="Arial"/>
                <a:cs typeface="Arial"/>
                <a:sym typeface="Arial"/>
              </a:rPr>
              <a:t>Xác định phần trăm FSO (giá trị đầu ra toàn thang) </a:t>
            </a:r>
            <a:endParaRPr/>
          </a:p>
        </p:txBody>
      </p:sp>
      <p:sp>
        <p:nvSpPr>
          <p:cNvPr id="2307" name="Google Shape;2307;p121"/>
          <p:cNvSpPr/>
          <p:nvPr/>
        </p:nvSpPr>
        <p:spPr>
          <a:xfrm>
            <a:off x="1068789" y="4954357"/>
            <a:ext cx="2097434" cy="51411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308" name="Google Shape;2308;p121"/>
          <p:cNvSpPr/>
          <p:nvPr/>
        </p:nvSpPr>
        <p:spPr>
          <a:xfrm>
            <a:off x="712189" y="5614173"/>
            <a:ext cx="8487381" cy="545227"/>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Ví dụ về biểu điện độ chính xác (sai số) của cảm biến</a:t>
            </a:r>
            <a:br>
              <a:rPr lang="en-US" sz="1299">
                <a:solidFill>
                  <a:srgbClr val="262626"/>
                </a:solidFill>
                <a:latin typeface="Arial"/>
                <a:ea typeface="Arial"/>
                <a:cs typeface="Arial"/>
                <a:sym typeface="Arial"/>
              </a:rPr>
            </a:br>
            <a:r>
              <a:rPr lang="en-US" sz="1299">
                <a:solidFill>
                  <a:srgbClr val="262626"/>
                </a:solidFill>
                <a:latin typeface="Arial"/>
                <a:ea typeface="Arial"/>
                <a:cs typeface="Arial"/>
                <a:sym typeface="Arial"/>
              </a:rPr>
              <a:t>Giá trị đầu vào toàn thang của cảm biến áp suất là 100 kPa và giá trị đầu ra toàn thang là 10 Ω, ± 0,5%, ± 500 Pa, ± 0,05 Ω </a:t>
            </a:r>
            <a:endParaRPr/>
          </a:p>
        </p:txBody>
      </p:sp>
      <p:sp>
        <p:nvSpPr>
          <p:cNvPr id="2309" name="Google Shape;2309;p121"/>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b="1" dirty="0">
                <a:solidFill>
                  <a:schemeClr val="lt1"/>
                </a:solidFill>
                <a:latin typeface="Arial"/>
                <a:ea typeface="Arial"/>
                <a:cs typeface="Arial"/>
                <a:sym typeface="Arial"/>
              </a:rPr>
              <a:t>3.2</a:t>
            </a:r>
            <a:r>
              <a:rPr lang="en-US" sz="1799" dirty="0">
                <a:solidFill>
                  <a:schemeClr val="tx1"/>
                </a:solidFill>
              </a:rPr>
              <a:t> . </a:t>
            </a:r>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314"/>
        <p:cNvGrpSpPr/>
        <p:nvPr/>
      </p:nvGrpSpPr>
      <p:grpSpPr>
        <a:xfrm>
          <a:off x="0" y="0"/>
          <a:ext cx="0" cy="0"/>
          <a:chOff x="0" y="0"/>
          <a:chExt cx="0" cy="0"/>
        </a:xfrm>
      </p:grpSpPr>
      <p:sp>
        <p:nvSpPr>
          <p:cNvPr id="2315" name="Google Shape;2315;p122"/>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316" name="Google Shape;2316;p122"/>
          <p:cNvSpPr/>
          <p:nvPr/>
        </p:nvSpPr>
        <p:spPr>
          <a:xfrm>
            <a:off x="580400" y="1520828"/>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Độ chụm</a:t>
            </a:r>
            <a:endParaRPr sz="1401">
              <a:solidFill>
                <a:schemeClr val="dk1"/>
              </a:solidFill>
              <a:latin typeface="Arial"/>
              <a:ea typeface="Arial"/>
              <a:cs typeface="Arial"/>
              <a:sym typeface="Arial"/>
            </a:endParaRPr>
          </a:p>
        </p:txBody>
      </p:sp>
      <p:sp>
        <p:nvSpPr>
          <p:cNvPr id="2317" name="Google Shape;2317;p122"/>
          <p:cNvSpPr/>
          <p:nvPr/>
        </p:nvSpPr>
        <p:spPr>
          <a:xfrm>
            <a:off x="712189" y="1751164"/>
            <a:ext cx="8487381" cy="950338"/>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chemeClr val="dk1"/>
                </a:solidFill>
                <a:latin typeface="Arial"/>
                <a:ea typeface="Arial"/>
                <a:cs typeface="Arial"/>
                <a:sym typeface="Arial"/>
              </a:rPr>
              <a:t>Biểu thị mức độ trùng khớp giữa các giá trị được đo với nhau khi liên tục đo cùng một lượng bằng cùng cách </a:t>
            </a:r>
            <a:endParaRPr/>
          </a:p>
          <a:p>
            <a:pPr marL="182513" marR="0" lvl="0" indent="-182513" algn="l" rtl="0">
              <a:spcBef>
                <a:spcPts val="802"/>
              </a:spcBef>
              <a:spcAft>
                <a:spcPts val="0"/>
              </a:spcAft>
              <a:buClr>
                <a:srgbClr val="193EB0"/>
              </a:buClr>
              <a:buSzPts val="1299"/>
              <a:buFont typeface="Arial"/>
              <a:buChar char="‣"/>
            </a:pPr>
            <a:r>
              <a:rPr lang="en-US" sz="1299">
                <a:solidFill>
                  <a:schemeClr val="dk1"/>
                </a:solidFill>
                <a:latin typeface="Arial"/>
                <a:ea typeface="Arial"/>
                <a:cs typeface="Arial"/>
                <a:sym typeface="Arial"/>
              </a:rPr>
              <a:t>thức, dưới các điều kiện (môi trường, con người) giống nhau và trong thời gian ngắn. </a:t>
            </a:r>
            <a:endParaRPr/>
          </a:p>
          <a:p>
            <a:pPr marL="182513" marR="0" lvl="0" indent="-182513" algn="l" rtl="0">
              <a:spcBef>
                <a:spcPts val="802"/>
              </a:spcBef>
              <a:spcAft>
                <a:spcPts val="0"/>
              </a:spcAft>
              <a:buClr>
                <a:srgbClr val="193EB0"/>
              </a:buClr>
              <a:buSzPts val="1299"/>
              <a:buFont typeface="Arial"/>
              <a:buChar char="‣"/>
            </a:pPr>
            <a:r>
              <a:rPr lang="en-US" sz="1299">
                <a:solidFill>
                  <a:schemeClr val="dk1"/>
                </a:solidFill>
                <a:latin typeface="Arial"/>
                <a:ea typeface="Arial"/>
                <a:cs typeface="Arial"/>
                <a:sym typeface="Arial"/>
              </a:rPr>
              <a:t>The unit mainly uses %/FS (% of Full Scale). That is, '(△/FS) x 100%' is obtained.</a:t>
            </a:r>
            <a:endParaRPr/>
          </a:p>
        </p:txBody>
      </p:sp>
      <p:sp>
        <p:nvSpPr>
          <p:cNvPr id="2318" name="Google Shape;2318;p122"/>
          <p:cNvSpPr/>
          <p:nvPr/>
        </p:nvSpPr>
        <p:spPr>
          <a:xfrm>
            <a:off x="580400" y="2762220"/>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Độ tái lập</a:t>
            </a:r>
            <a:endParaRPr sz="1401">
              <a:solidFill>
                <a:schemeClr val="dk1"/>
              </a:solidFill>
              <a:latin typeface="Arial"/>
              <a:ea typeface="Arial"/>
              <a:cs typeface="Arial"/>
              <a:sym typeface="Arial"/>
            </a:endParaRPr>
          </a:p>
        </p:txBody>
      </p:sp>
      <p:sp>
        <p:nvSpPr>
          <p:cNvPr id="2319" name="Google Shape;2319;p122"/>
          <p:cNvSpPr/>
          <p:nvPr/>
        </p:nvSpPr>
        <p:spPr>
          <a:xfrm>
            <a:off x="712189" y="2992558"/>
            <a:ext cx="8487381" cy="950338"/>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Biểu thị mức độ trùng khớp giữa các giá trị được đo với nhau khi đo cùng một lượng trong khoảng thời gian dài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bằng cùng cách thức hoặc do người khác hoặc phòng thí nghiệm khác thực hiện.</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Để duy trì độ tái lập, cần kiểm tra, sửa chữa, bảo dưỡng cảm biến định kỳ.</a:t>
            </a:r>
            <a:endParaRPr/>
          </a:p>
        </p:txBody>
      </p:sp>
      <p:sp>
        <p:nvSpPr>
          <p:cNvPr id="2320" name="Google Shape;2320;p122"/>
          <p:cNvSpPr/>
          <p:nvPr/>
        </p:nvSpPr>
        <p:spPr>
          <a:xfrm>
            <a:off x="580400" y="392427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Độ chụm</a:t>
            </a:r>
            <a:endParaRPr sz="1401">
              <a:solidFill>
                <a:schemeClr val="dk1"/>
              </a:solidFill>
              <a:latin typeface="Arial"/>
              <a:ea typeface="Arial"/>
              <a:cs typeface="Arial"/>
              <a:sym typeface="Arial"/>
            </a:endParaRPr>
          </a:p>
        </p:txBody>
      </p:sp>
      <p:sp>
        <p:nvSpPr>
          <p:cNvPr id="2321" name="Google Shape;2321;p122"/>
          <p:cNvSpPr/>
          <p:nvPr/>
        </p:nvSpPr>
        <p:spPr>
          <a:xfrm>
            <a:off x="712189" y="4154611"/>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Phép đo độ lặp lại và tái lập của phép đo</a:t>
            </a:r>
            <a:endParaRPr sz="1299">
              <a:solidFill>
                <a:srgbClr val="262626"/>
              </a:solidFill>
              <a:latin typeface="Arial"/>
              <a:ea typeface="Arial"/>
              <a:cs typeface="Arial"/>
              <a:sym typeface="Arial"/>
            </a:endParaRPr>
          </a:p>
        </p:txBody>
      </p:sp>
      <p:sp>
        <p:nvSpPr>
          <p:cNvPr id="2322" name="Google Shape;2322;p122"/>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Đặc</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điểm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cơ</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bản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của</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327"/>
        <p:cNvGrpSpPr/>
        <p:nvPr/>
      </p:nvGrpSpPr>
      <p:grpSpPr>
        <a:xfrm>
          <a:off x="0" y="0"/>
          <a:ext cx="0" cy="0"/>
          <a:chOff x="0" y="0"/>
          <a:chExt cx="0" cy="0"/>
        </a:xfrm>
      </p:grpSpPr>
      <p:sp>
        <p:nvSpPr>
          <p:cNvPr id="2328" name="Google Shape;2328;p123"/>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329" name="Google Shape;2329;p123"/>
          <p:cNvSpPr/>
          <p:nvPr/>
        </p:nvSpPr>
        <p:spPr>
          <a:xfrm>
            <a:off x="580400" y="1520828"/>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Sự khác biệt giữa độ chính xác và độ chụm</a:t>
            </a:r>
            <a:endParaRPr sz="1401">
              <a:solidFill>
                <a:schemeClr val="dk1"/>
              </a:solidFill>
              <a:latin typeface="Arial"/>
              <a:ea typeface="Arial"/>
              <a:cs typeface="Arial"/>
              <a:sym typeface="Arial"/>
            </a:endParaRPr>
          </a:p>
        </p:txBody>
      </p:sp>
      <p:grpSp>
        <p:nvGrpSpPr>
          <p:cNvPr id="2330" name="Google Shape;2330;p123"/>
          <p:cNvGrpSpPr/>
          <p:nvPr/>
        </p:nvGrpSpPr>
        <p:grpSpPr>
          <a:xfrm>
            <a:off x="1494972" y="1952635"/>
            <a:ext cx="7353759" cy="4252926"/>
            <a:chOff x="2129700" y="2663912"/>
            <a:chExt cx="6020219" cy="3481697"/>
          </a:xfrm>
        </p:grpSpPr>
        <p:pic>
          <p:nvPicPr>
            <p:cNvPr id="2331" name="Google Shape;2331;p123"/>
            <p:cNvPicPr preferRelativeResize="0"/>
            <p:nvPr/>
          </p:nvPicPr>
          <p:blipFill rotWithShape="1">
            <a:blip r:embed="rId3">
              <a:alphaModFix/>
            </a:blip>
            <a:srcRect/>
            <a:stretch/>
          </p:blipFill>
          <p:spPr>
            <a:xfrm>
              <a:off x="2197072" y="4727075"/>
              <a:ext cx="2595999" cy="1398478"/>
            </a:xfrm>
            <a:prstGeom prst="rect">
              <a:avLst/>
            </a:prstGeom>
            <a:noFill/>
            <a:ln>
              <a:noFill/>
            </a:ln>
          </p:spPr>
        </p:pic>
        <p:sp>
          <p:nvSpPr>
            <p:cNvPr id="2332" name="Google Shape;2332;p123"/>
            <p:cNvSpPr/>
            <p:nvPr/>
          </p:nvSpPr>
          <p:spPr>
            <a:xfrm>
              <a:off x="3495072" y="5573427"/>
              <a:ext cx="600373" cy="306556"/>
            </a:xfrm>
            <a:prstGeom prst="rect">
              <a:avLst/>
            </a:prstGeom>
            <a:noFill/>
            <a:ln>
              <a:noFill/>
            </a:ln>
          </p:spPr>
          <p:txBody>
            <a:bodyPr spcFirstLastPara="1" wrap="square" lIns="91425" tIns="45700" rIns="91425" bIns="45700" anchor="t" anchorCtr="0">
              <a:spAutoFit/>
            </a:bodyPr>
            <a:lstStyle/>
            <a:p>
              <a:pPr marL="0" marR="0" lvl="0" indent="0" algn="l" rtl="0">
                <a:lnSpc>
                  <a:spcPct val="157030"/>
                </a:lnSpc>
                <a:spcBef>
                  <a:spcPts val="0"/>
                </a:spcBef>
                <a:spcAft>
                  <a:spcPts val="0"/>
                </a:spcAft>
                <a:buNone/>
              </a:pPr>
              <a:endParaRPr sz="1401" b="1">
                <a:solidFill>
                  <a:srgbClr val="FF0000"/>
                </a:solidFill>
                <a:latin typeface="Arial"/>
                <a:ea typeface="Arial"/>
                <a:cs typeface="Arial"/>
                <a:sym typeface="Arial"/>
              </a:endParaRPr>
            </a:p>
          </p:txBody>
        </p:sp>
        <p:pic>
          <p:nvPicPr>
            <p:cNvPr id="2333" name="Google Shape;2333;p123"/>
            <p:cNvPicPr preferRelativeResize="0"/>
            <p:nvPr/>
          </p:nvPicPr>
          <p:blipFill rotWithShape="1">
            <a:blip r:embed="rId4">
              <a:alphaModFix/>
            </a:blip>
            <a:srcRect/>
            <a:stretch/>
          </p:blipFill>
          <p:spPr>
            <a:xfrm>
              <a:off x="5192120" y="2971984"/>
              <a:ext cx="2957799" cy="1676521"/>
            </a:xfrm>
            <a:prstGeom prst="rect">
              <a:avLst/>
            </a:prstGeom>
            <a:noFill/>
            <a:ln>
              <a:noFill/>
            </a:ln>
          </p:spPr>
        </p:pic>
        <p:pic>
          <p:nvPicPr>
            <p:cNvPr id="2334" name="Google Shape;2334;p123"/>
            <p:cNvPicPr preferRelativeResize="0"/>
            <p:nvPr/>
          </p:nvPicPr>
          <p:blipFill rotWithShape="1">
            <a:blip r:embed="rId5">
              <a:alphaModFix/>
            </a:blip>
            <a:srcRect/>
            <a:stretch/>
          </p:blipFill>
          <p:spPr>
            <a:xfrm>
              <a:off x="2137685" y="2984726"/>
              <a:ext cx="2739688" cy="1514268"/>
            </a:xfrm>
            <a:prstGeom prst="rect">
              <a:avLst/>
            </a:prstGeom>
            <a:noFill/>
            <a:ln>
              <a:noFill/>
            </a:ln>
          </p:spPr>
        </p:pic>
        <p:sp>
          <p:nvSpPr>
            <p:cNvPr id="2335" name="Google Shape;2335;p123"/>
            <p:cNvSpPr/>
            <p:nvPr/>
          </p:nvSpPr>
          <p:spPr>
            <a:xfrm>
              <a:off x="3138787" y="2663912"/>
              <a:ext cx="3635000" cy="676342"/>
            </a:xfrm>
            <a:custGeom>
              <a:avLst/>
              <a:gdLst/>
              <a:ahLst/>
              <a:cxnLst/>
              <a:rect l="l" t="t" r="r" b="b"/>
              <a:pathLst>
                <a:path w="4783667" h="890067" extrusionOk="0">
                  <a:moveTo>
                    <a:pt x="4783667" y="890067"/>
                  </a:moveTo>
                  <a:cubicBezTo>
                    <a:pt x="3912306" y="457561"/>
                    <a:pt x="3040945" y="25056"/>
                    <a:pt x="2243667" y="1067"/>
                  </a:cubicBezTo>
                  <a:cubicBezTo>
                    <a:pt x="1446389" y="-22922"/>
                    <a:pt x="723194" y="361605"/>
                    <a:pt x="0" y="746133"/>
                  </a:cubicBezTo>
                </a:path>
              </a:pathLst>
            </a:custGeom>
            <a:noFill/>
            <a:ln w="952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Arial"/>
                <a:ea typeface="Arial"/>
                <a:cs typeface="Arial"/>
                <a:sym typeface="Arial"/>
              </a:endParaRPr>
            </a:p>
          </p:txBody>
        </p:sp>
        <p:sp>
          <p:nvSpPr>
            <p:cNvPr id="2336" name="Google Shape;2336;p123"/>
            <p:cNvSpPr/>
            <p:nvPr/>
          </p:nvSpPr>
          <p:spPr>
            <a:xfrm>
              <a:off x="3975159" y="3676145"/>
              <a:ext cx="2193867" cy="506914"/>
            </a:xfrm>
            <a:custGeom>
              <a:avLst/>
              <a:gdLst/>
              <a:ahLst/>
              <a:cxnLst/>
              <a:rect l="l" t="t" r="r" b="b"/>
              <a:pathLst>
                <a:path w="2887133" h="667100" extrusionOk="0">
                  <a:moveTo>
                    <a:pt x="2887133" y="667100"/>
                  </a:moveTo>
                  <a:cubicBezTo>
                    <a:pt x="2369961" y="384172"/>
                    <a:pt x="1852789" y="101244"/>
                    <a:pt x="1371600" y="23633"/>
                  </a:cubicBezTo>
                  <a:cubicBezTo>
                    <a:pt x="890411" y="-53978"/>
                    <a:pt x="445205" y="73727"/>
                    <a:pt x="0" y="201433"/>
                  </a:cubicBezTo>
                </a:path>
              </a:pathLst>
            </a:custGeom>
            <a:noFill/>
            <a:ln w="952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Arial"/>
                <a:ea typeface="Arial"/>
                <a:cs typeface="Arial"/>
                <a:sym typeface="Arial"/>
              </a:endParaRPr>
            </a:p>
          </p:txBody>
        </p:sp>
        <p:sp>
          <p:nvSpPr>
            <p:cNvPr id="2337" name="Google Shape;2337;p123"/>
            <p:cNvSpPr/>
            <p:nvPr/>
          </p:nvSpPr>
          <p:spPr>
            <a:xfrm>
              <a:off x="5647393" y="4560314"/>
              <a:ext cx="1161841" cy="23926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rgbClr val="FF0000"/>
                  </a:solidFill>
                  <a:latin typeface="Arial"/>
                  <a:ea typeface="Arial"/>
                  <a:cs typeface="Arial"/>
                  <a:sym typeface="Arial"/>
                </a:rPr>
                <a:t>Độ chụm</a:t>
              </a:r>
              <a:endParaRPr sz="1299">
                <a:solidFill>
                  <a:srgbClr val="FF0000"/>
                </a:solidFill>
                <a:latin typeface="Arial"/>
                <a:ea typeface="Arial"/>
                <a:cs typeface="Arial"/>
                <a:sym typeface="Arial"/>
              </a:endParaRPr>
            </a:p>
          </p:txBody>
        </p:sp>
        <p:sp>
          <p:nvSpPr>
            <p:cNvPr id="2338" name="Google Shape;2338;p123"/>
            <p:cNvSpPr txBox="1"/>
            <p:nvPr/>
          </p:nvSpPr>
          <p:spPr>
            <a:xfrm>
              <a:off x="6565173" y="3100331"/>
              <a:ext cx="920714" cy="327343"/>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giá trị đúng</a:t>
              </a:r>
              <a:endParaRPr sz="1299">
                <a:solidFill>
                  <a:schemeClr val="dk1"/>
                </a:solidFill>
                <a:latin typeface="Arial"/>
                <a:ea typeface="Arial"/>
                <a:cs typeface="Arial"/>
                <a:sym typeface="Arial"/>
              </a:endParaRPr>
            </a:p>
            <a:p>
              <a:pPr marL="0" marR="0" lvl="0" indent="0" algn="ctr" rtl="0">
                <a:spcBef>
                  <a:spcPts val="0"/>
                </a:spcBef>
                <a:spcAft>
                  <a:spcPts val="0"/>
                </a:spcAft>
                <a:buNone/>
              </a:pPr>
              <a:endParaRPr sz="1299">
                <a:solidFill>
                  <a:schemeClr val="dk1"/>
                </a:solidFill>
                <a:latin typeface="Arial"/>
                <a:ea typeface="Arial"/>
                <a:cs typeface="Arial"/>
                <a:sym typeface="Arial"/>
              </a:endParaRPr>
            </a:p>
          </p:txBody>
        </p:sp>
        <p:sp>
          <p:nvSpPr>
            <p:cNvPr id="2339" name="Google Shape;2339;p123"/>
            <p:cNvSpPr txBox="1"/>
            <p:nvPr/>
          </p:nvSpPr>
          <p:spPr>
            <a:xfrm>
              <a:off x="6636401" y="3912763"/>
              <a:ext cx="849486" cy="23926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giá trị đúng</a:t>
              </a:r>
              <a:endParaRPr sz="1299">
                <a:solidFill>
                  <a:schemeClr val="dk1"/>
                </a:solidFill>
                <a:latin typeface="Arial"/>
                <a:ea typeface="Arial"/>
                <a:cs typeface="Arial"/>
                <a:sym typeface="Arial"/>
              </a:endParaRPr>
            </a:p>
          </p:txBody>
        </p:sp>
        <p:sp>
          <p:nvSpPr>
            <p:cNvPr id="2340" name="Google Shape;2340;p123"/>
            <p:cNvSpPr txBox="1"/>
            <p:nvPr/>
          </p:nvSpPr>
          <p:spPr>
            <a:xfrm>
              <a:off x="5928352" y="3657713"/>
              <a:ext cx="2195294" cy="23926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Trung bình các giá trị được đo</a:t>
              </a:r>
              <a:endParaRPr/>
            </a:p>
          </p:txBody>
        </p:sp>
        <p:sp>
          <p:nvSpPr>
            <p:cNvPr id="2341" name="Google Shape;2341;p123"/>
            <p:cNvSpPr txBox="1"/>
            <p:nvPr/>
          </p:nvSpPr>
          <p:spPr>
            <a:xfrm>
              <a:off x="5130667" y="4385234"/>
              <a:ext cx="2195294" cy="23926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Trung bình các giá trị được đo</a:t>
              </a:r>
              <a:endParaRPr/>
            </a:p>
          </p:txBody>
        </p:sp>
        <p:sp>
          <p:nvSpPr>
            <p:cNvPr id="2342" name="Google Shape;2342;p123"/>
            <p:cNvSpPr txBox="1"/>
            <p:nvPr/>
          </p:nvSpPr>
          <p:spPr>
            <a:xfrm>
              <a:off x="3280163" y="4313339"/>
              <a:ext cx="1852671" cy="23926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Repeatable &amp; Reproducible</a:t>
              </a:r>
              <a:endParaRPr sz="1299">
                <a:solidFill>
                  <a:schemeClr val="dk1"/>
                </a:solidFill>
                <a:latin typeface="Arial"/>
                <a:ea typeface="Arial"/>
                <a:cs typeface="Arial"/>
                <a:sym typeface="Arial"/>
              </a:endParaRPr>
            </a:p>
          </p:txBody>
        </p:sp>
        <p:sp>
          <p:nvSpPr>
            <p:cNvPr id="2343" name="Google Shape;2343;p123"/>
            <p:cNvSpPr/>
            <p:nvPr/>
          </p:nvSpPr>
          <p:spPr>
            <a:xfrm>
              <a:off x="6450140" y="2840162"/>
              <a:ext cx="1177576" cy="23926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99">
                  <a:solidFill>
                    <a:srgbClr val="FF0000"/>
                  </a:solidFill>
                  <a:latin typeface="Arial"/>
                  <a:ea typeface="Arial"/>
                  <a:cs typeface="Arial"/>
                  <a:sym typeface="Arial"/>
                </a:rPr>
                <a:t>Độ chính xác</a:t>
              </a:r>
              <a:endParaRPr sz="1299">
                <a:solidFill>
                  <a:srgbClr val="FF0000"/>
                </a:solidFill>
                <a:latin typeface="Arial"/>
                <a:ea typeface="Arial"/>
                <a:cs typeface="Arial"/>
                <a:sym typeface="Arial"/>
              </a:endParaRPr>
            </a:p>
          </p:txBody>
        </p:sp>
        <p:sp>
          <p:nvSpPr>
            <p:cNvPr id="2344" name="Google Shape;2344;p123"/>
            <p:cNvSpPr txBox="1"/>
            <p:nvPr/>
          </p:nvSpPr>
          <p:spPr>
            <a:xfrm>
              <a:off x="2868380" y="4747237"/>
              <a:ext cx="1023982" cy="1636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Giá trị tham chiếu</a:t>
              </a:r>
              <a:endParaRPr sz="1299">
                <a:solidFill>
                  <a:schemeClr val="dk1"/>
                </a:solidFill>
                <a:latin typeface="Arial"/>
                <a:ea typeface="Arial"/>
                <a:cs typeface="Arial"/>
                <a:sym typeface="Arial"/>
              </a:endParaRPr>
            </a:p>
          </p:txBody>
        </p:sp>
        <p:sp>
          <p:nvSpPr>
            <p:cNvPr id="2345" name="Google Shape;2345;p123"/>
            <p:cNvSpPr txBox="1"/>
            <p:nvPr/>
          </p:nvSpPr>
          <p:spPr>
            <a:xfrm>
              <a:off x="3405199" y="4965430"/>
              <a:ext cx="599294" cy="327343"/>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Độ chính xác</a:t>
              </a:r>
              <a:endParaRPr sz="1299">
                <a:solidFill>
                  <a:schemeClr val="dk1"/>
                </a:solidFill>
                <a:latin typeface="Arial"/>
                <a:ea typeface="Arial"/>
                <a:cs typeface="Arial"/>
                <a:sym typeface="Arial"/>
              </a:endParaRPr>
            </a:p>
          </p:txBody>
        </p:sp>
        <p:sp>
          <p:nvSpPr>
            <p:cNvPr id="2346" name="Google Shape;2346;p123"/>
            <p:cNvSpPr txBox="1"/>
            <p:nvPr/>
          </p:nvSpPr>
          <p:spPr>
            <a:xfrm>
              <a:off x="2129700" y="4996929"/>
              <a:ext cx="666572" cy="327343"/>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99">
                  <a:solidFill>
                    <a:schemeClr val="dk1"/>
                  </a:solidFill>
                  <a:latin typeface="Arial"/>
                  <a:ea typeface="Arial"/>
                  <a:cs typeface="Arial"/>
                  <a:sym typeface="Arial"/>
                </a:rPr>
                <a:t>Mật độ</a:t>
              </a:r>
              <a:endParaRPr sz="1299">
                <a:solidFill>
                  <a:schemeClr val="dk1"/>
                </a:solidFill>
                <a:latin typeface="Arial"/>
                <a:ea typeface="Arial"/>
                <a:cs typeface="Arial"/>
                <a:sym typeface="Arial"/>
              </a:endParaRPr>
            </a:p>
            <a:p>
              <a:pPr marL="0" marR="0" lvl="0" indent="0" algn="l" rtl="0">
                <a:spcBef>
                  <a:spcPts val="0"/>
                </a:spcBef>
                <a:spcAft>
                  <a:spcPts val="0"/>
                </a:spcAft>
                <a:buNone/>
              </a:pPr>
              <a:r>
                <a:rPr lang="en-US" sz="1299">
                  <a:solidFill>
                    <a:schemeClr val="dk1"/>
                  </a:solidFill>
                  <a:latin typeface="Arial"/>
                  <a:ea typeface="Arial"/>
                  <a:cs typeface="Arial"/>
                  <a:sym typeface="Arial"/>
                </a:rPr>
                <a:t>xác xuất</a:t>
              </a:r>
              <a:endParaRPr sz="1299">
                <a:solidFill>
                  <a:schemeClr val="dk1"/>
                </a:solidFill>
                <a:latin typeface="Arial"/>
                <a:ea typeface="Arial"/>
                <a:cs typeface="Arial"/>
                <a:sym typeface="Arial"/>
              </a:endParaRPr>
            </a:p>
          </p:txBody>
        </p:sp>
        <p:sp>
          <p:nvSpPr>
            <p:cNvPr id="2347" name="Google Shape;2347;p123"/>
            <p:cNvSpPr txBox="1"/>
            <p:nvPr/>
          </p:nvSpPr>
          <p:spPr>
            <a:xfrm>
              <a:off x="3707073" y="5981937"/>
              <a:ext cx="666572" cy="1636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Độ chụm</a:t>
              </a:r>
              <a:endParaRPr sz="1299">
                <a:solidFill>
                  <a:schemeClr val="dk1"/>
                </a:solidFill>
                <a:latin typeface="Arial"/>
                <a:ea typeface="Arial"/>
                <a:cs typeface="Arial"/>
                <a:sym typeface="Arial"/>
              </a:endParaRPr>
            </a:p>
          </p:txBody>
        </p:sp>
        <p:sp>
          <p:nvSpPr>
            <p:cNvPr id="2348" name="Google Shape;2348;p123"/>
            <p:cNvSpPr txBox="1"/>
            <p:nvPr/>
          </p:nvSpPr>
          <p:spPr>
            <a:xfrm>
              <a:off x="4432918" y="5900047"/>
              <a:ext cx="392572" cy="16367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Giá trị</a:t>
              </a:r>
              <a:endParaRPr sz="1299">
                <a:solidFill>
                  <a:schemeClr val="dk1"/>
                </a:solidFill>
                <a:latin typeface="Arial"/>
                <a:ea typeface="Arial"/>
                <a:cs typeface="Arial"/>
                <a:sym typeface="Arial"/>
              </a:endParaRPr>
            </a:p>
          </p:txBody>
        </p:sp>
      </p:grpSp>
      <p:sp>
        <p:nvSpPr>
          <p:cNvPr id="2349" name="Google Shape;2349;p123"/>
          <p:cNvSpPr txBox="1"/>
          <p:nvPr/>
        </p:nvSpPr>
        <p:spPr>
          <a:xfrm>
            <a:off x="5402487" y="2795095"/>
            <a:ext cx="192360" cy="199927"/>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(a)</a:t>
            </a:r>
            <a:endParaRPr sz="1299">
              <a:solidFill>
                <a:schemeClr val="dk1"/>
              </a:solidFill>
              <a:latin typeface="Arial"/>
              <a:ea typeface="Arial"/>
              <a:cs typeface="Arial"/>
              <a:sym typeface="Arial"/>
            </a:endParaRPr>
          </a:p>
        </p:txBody>
      </p:sp>
      <p:sp>
        <p:nvSpPr>
          <p:cNvPr id="2350" name="Google Shape;2350;p123"/>
          <p:cNvSpPr txBox="1"/>
          <p:nvPr/>
        </p:nvSpPr>
        <p:spPr>
          <a:xfrm>
            <a:off x="5399282" y="3836095"/>
            <a:ext cx="198772" cy="199927"/>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(b)</a:t>
            </a:r>
            <a:endParaRPr sz="1299">
              <a:solidFill>
                <a:schemeClr val="dk1"/>
              </a:solidFill>
              <a:latin typeface="Arial"/>
              <a:ea typeface="Arial"/>
              <a:cs typeface="Arial"/>
              <a:sym typeface="Arial"/>
            </a:endParaRPr>
          </a:p>
        </p:txBody>
      </p:sp>
      <p:sp>
        <p:nvSpPr>
          <p:cNvPr id="2351" name="Google Shape;2351;p123"/>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pic>
        <p:nvPicPr>
          <p:cNvPr id="2352" name="Google Shape;2352;p123"/>
          <p:cNvPicPr preferRelativeResize="0"/>
          <p:nvPr/>
        </p:nvPicPr>
        <p:blipFill rotWithShape="1">
          <a:blip r:embed="rId6">
            <a:alphaModFix/>
          </a:blip>
          <a:srcRect/>
          <a:stretch/>
        </p:blipFill>
        <p:spPr>
          <a:xfrm>
            <a:off x="1409476" y="3981714"/>
            <a:ext cx="1719221" cy="365792"/>
          </a:xfrm>
          <a:prstGeom prst="rect">
            <a:avLst/>
          </a:prstGeom>
          <a:noFill/>
          <a:ln>
            <a:noFill/>
          </a:ln>
        </p:spPr>
      </p:pic>
      <p:pic>
        <p:nvPicPr>
          <p:cNvPr id="2353" name="Google Shape;2353;p123"/>
          <p:cNvPicPr preferRelativeResize="0"/>
          <p:nvPr/>
        </p:nvPicPr>
        <p:blipFill rotWithShape="1">
          <a:blip r:embed="rId7">
            <a:alphaModFix/>
          </a:blip>
          <a:srcRect/>
          <a:stretch/>
        </p:blipFill>
        <p:spPr>
          <a:xfrm>
            <a:off x="3027930" y="3993009"/>
            <a:ext cx="2401253" cy="29225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358"/>
        <p:cNvGrpSpPr/>
        <p:nvPr/>
      </p:nvGrpSpPr>
      <p:grpSpPr>
        <a:xfrm>
          <a:off x="0" y="0"/>
          <a:ext cx="0" cy="0"/>
          <a:chOff x="0" y="0"/>
          <a:chExt cx="0" cy="0"/>
        </a:xfrm>
      </p:grpSpPr>
      <p:sp>
        <p:nvSpPr>
          <p:cNvPr id="2359" name="Google Shape;2359;p124"/>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360" name="Google Shape;2360;p124"/>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Hiệu chỉnh</a:t>
            </a:r>
            <a:endParaRPr sz="2401" b="1">
              <a:solidFill>
                <a:srgbClr val="0C0C0C"/>
              </a:solidFill>
              <a:latin typeface="Arial"/>
              <a:ea typeface="Arial"/>
              <a:cs typeface="Arial"/>
              <a:sym typeface="Arial"/>
            </a:endParaRPr>
          </a:p>
        </p:txBody>
      </p:sp>
      <p:sp>
        <p:nvSpPr>
          <p:cNvPr id="2361" name="Google Shape;2361;p124"/>
          <p:cNvSpPr/>
          <p:nvPr/>
        </p:nvSpPr>
        <p:spPr>
          <a:xfrm>
            <a:off x="4297680" y="2001440"/>
            <a:ext cx="5157310" cy="1549911"/>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Quá trình đo giá trị đầu ra bằng cách cho phép gửi giá trị đã biết cho cảm biến</a:t>
            </a:r>
            <a:endParaRPr sz="1401">
              <a:solidFill>
                <a:schemeClr val="dk1"/>
              </a:solidFill>
              <a:latin typeface="Arial"/>
              <a:ea typeface="Arial"/>
              <a:cs typeface="Arial"/>
              <a:sym typeface="Arial"/>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Giá trị đã biết sử dụng trong hiệu chỉnh được gọi là “tiêu chuẩn” </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Sự phụ thuộc giữa giá trị đầu vào và giá trị đầu ra được hình thành thông qua hiệu chỉnh. Đường cong thu được tại đó được gọi là </a:t>
            </a:r>
            <a:r>
              <a:rPr lang="en-US" sz="1401">
                <a:solidFill>
                  <a:srgbClr val="FF0000"/>
                </a:solidFill>
                <a:latin typeface="Arial"/>
                <a:ea typeface="Arial"/>
                <a:cs typeface="Arial"/>
                <a:sym typeface="Arial"/>
              </a:rPr>
              <a:t>đường cong hiệu chỉnh.</a:t>
            </a:r>
            <a:endParaRPr/>
          </a:p>
        </p:txBody>
      </p:sp>
      <p:grpSp>
        <p:nvGrpSpPr>
          <p:cNvPr id="2362" name="Google Shape;2362;p124"/>
          <p:cNvGrpSpPr/>
          <p:nvPr/>
        </p:nvGrpSpPr>
        <p:grpSpPr>
          <a:xfrm>
            <a:off x="514997" y="1919249"/>
            <a:ext cx="3645524" cy="2542042"/>
            <a:chOff x="5245114" y="2241560"/>
            <a:chExt cx="3954463" cy="2757467"/>
          </a:xfrm>
        </p:grpSpPr>
        <p:sp>
          <p:nvSpPr>
            <p:cNvPr id="2363" name="Google Shape;2363;p124"/>
            <p:cNvSpPr/>
            <p:nvPr/>
          </p:nvSpPr>
          <p:spPr>
            <a:xfrm>
              <a:off x="5245114" y="2241560"/>
              <a:ext cx="3954463" cy="2511426"/>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grpSp>
          <p:nvGrpSpPr>
            <p:cNvPr id="2364" name="Google Shape;2364;p124"/>
            <p:cNvGrpSpPr/>
            <p:nvPr/>
          </p:nvGrpSpPr>
          <p:grpSpPr>
            <a:xfrm>
              <a:off x="5254630" y="2323751"/>
              <a:ext cx="3815835" cy="2675276"/>
              <a:chOff x="5594410" y="2404903"/>
              <a:chExt cx="3541351" cy="2482838"/>
            </a:xfrm>
          </p:grpSpPr>
          <p:pic>
            <p:nvPicPr>
              <p:cNvPr id="2365" name="Google Shape;2365;p124"/>
              <p:cNvPicPr preferRelativeResize="0"/>
              <p:nvPr/>
            </p:nvPicPr>
            <p:blipFill rotWithShape="1">
              <a:blip r:embed="rId3">
                <a:alphaModFix/>
              </a:blip>
              <a:srcRect l="5886" t="5576" r="5869" b="5796"/>
              <a:stretch/>
            </p:blipFill>
            <p:spPr>
              <a:xfrm>
                <a:off x="6053011" y="2434900"/>
                <a:ext cx="3082749" cy="2187686"/>
              </a:xfrm>
              <a:prstGeom prst="rect">
                <a:avLst/>
              </a:prstGeom>
              <a:noFill/>
              <a:ln>
                <a:noFill/>
              </a:ln>
            </p:spPr>
          </p:pic>
          <p:sp>
            <p:nvSpPr>
              <p:cNvPr id="2366" name="Google Shape;2366;p124"/>
              <p:cNvSpPr txBox="1"/>
              <p:nvPr/>
            </p:nvSpPr>
            <p:spPr>
              <a:xfrm>
                <a:off x="7259502" y="4361007"/>
                <a:ext cx="902054" cy="52673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Tín hiệu đầu vào</a:t>
                </a:r>
                <a:endParaRPr sz="1400">
                  <a:solidFill>
                    <a:schemeClr val="dk1"/>
                  </a:solidFill>
                  <a:latin typeface="Arial"/>
                  <a:ea typeface="Arial"/>
                  <a:cs typeface="Arial"/>
                  <a:sym typeface="Arial"/>
                </a:endParaRPr>
              </a:p>
            </p:txBody>
          </p:sp>
          <p:grpSp>
            <p:nvGrpSpPr>
              <p:cNvPr id="2367" name="Google Shape;2367;p124"/>
              <p:cNvGrpSpPr/>
              <p:nvPr/>
            </p:nvGrpSpPr>
            <p:grpSpPr>
              <a:xfrm>
                <a:off x="5594410" y="2404903"/>
                <a:ext cx="3541351" cy="2037607"/>
                <a:chOff x="5594410" y="2404903"/>
                <a:chExt cx="3541351" cy="2037607"/>
              </a:xfrm>
            </p:grpSpPr>
            <p:sp>
              <p:nvSpPr>
                <p:cNvPr id="2368" name="Google Shape;2368;p124"/>
                <p:cNvSpPr txBox="1"/>
                <p:nvPr/>
              </p:nvSpPr>
              <p:spPr>
                <a:xfrm>
                  <a:off x="5594410" y="3245566"/>
                  <a:ext cx="775903" cy="74362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Tín hiệu đầu ra</a:t>
                  </a:r>
                  <a:endParaRPr sz="1400">
                    <a:solidFill>
                      <a:schemeClr val="dk1"/>
                    </a:solidFill>
                    <a:latin typeface="Arial"/>
                    <a:ea typeface="Arial"/>
                    <a:cs typeface="Arial"/>
                    <a:sym typeface="Arial"/>
                  </a:endParaRPr>
                </a:p>
              </p:txBody>
            </p:sp>
            <p:sp>
              <p:nvSpPr>
                <p:cNvPr id="2369" name="Google Shape;2369;p124"/>
                <p:cNvSpPr/>
                <p:nvPr/>
              </p:nvSpPr>
              <p:spPr>
                <a:xfrm>
                  <a:off x="6126479" y="2917327"/>
                  <a:ext cx="225159" cy="382604"/>
                </a:xfrm>
                <a:prstGeom prst="rect">
                  <a:avLst/>
                </a:prstGeom>
                <a:solidFill>
                  <a:schemeClr val="lt1"/>
                </a:solid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050">
                    <a:solidFill>
                      <a:schemeClr val="dk1"/>
                    </a:solidFill>
                    <a:latin typeface="Arial"/>
                    <a:ea typeface="Arial"/>
                    <a:cs typeface="Arial"/>
                    <a:sym typeface="Arial"/>
                  </a:endParaRPr>
                </a:p>
              </p:txBody>
            </p:sp>
            <p:sp>
              <p:nvSpPr>
                <p:cNvPr id="2370" name="Google Shape;2370;p124"/>
                <p:cNvSpPr txBox="1"/>
                <p:nvPr/>
              </p:nvSpPr>
              <p:spPr>
                <a:xfrm>
                  <a:off x="6079547" y="2404903"/>
                  <a:ext cx="293659" cy="2427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371" name="Google Shape;2371;p124"/>
                <p:cNvSpPr txBox="1"/>
                <p:nvPr/>
              </p:nvSpPr>
              <p:spPr>
                <a:xfrm>
                  <a:off x="8842102" y="4199718"/>
                  <a:ext cx="293659" cy="2427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grpSp>
      </p:grpSp>
      <p:sp>
        <p:nvSpPr>
          <p:cNvPr id="2372" name="Google Shape;2372;p124"/>
          <p:cNvSpPr/>
          <p:nvPr/>
        </p:nvSpPr>
        <p:spPr>
          <a:xfrm>
            <a:off x="580400" y="4424011"/>
            <a:ext cx="8619172" cy="1206099"/>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Để hiệu chỉnh hàm truyền phi tuyến, trước tiên hãy chia đường cong hiệu chỉnh thành nhiều đoạn nhỏ. Coi mỗi đoạn đó là một đường thẳng và tính hằng số a, b. Cuối cùng, biểu diễn đường cong hiệu chỉnh dưới  dạng một nhóm gồm nhiều đường thẳng.</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Do cần nhiều thời gian để hiệu chỉnh cảm biến nên điều quan trọng là phải giảm thiểu số điểm cần hiệu chỉnh nhiều nhất có thể để cắt bớt chi phí sản xuất.</a:t>
            </a:r>
            <a:endParaRPr/>
          </a:p>
        </p:txBody>
      </p:sp>
      <p:sp>
        <p:nvSpPr>
          <p:cNvPr id="2373" name="Google Shape;2373;p124"/>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a:solidFill>
                  <a:schemeClr val="tx1"/>
                </a:solidFill>
              </a:rPr>
              <a:t>. </a:t>
            </a:r>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378"/>
        <p:cNvGrpSpPr/>
        <p:nvPr/>
      </p:nvGrpSpPr>
      <p:grpSpPr>
        <a:xfrm>
          <a:off x="0" y="0"/>
          <a:ext cx="0" cy="0"/>
          <a:chOff x="0" y="0"/>
          <a:chExt cx="0" cy="0"/>
        </a:xfrm>
      </p:grpSpPr>
      <p:grpSp>
        <p:nvGrpSpPr>
          <p:cNvPr id="2379" name="Google Shape;2379;p125"/>
          <p:cNvGrpSpPr/>
          <p:nvPr/>
        </p:nvGrpSpPr>
        <p:grpSpPr>
          <a:xfrm>
            <a:off x="580392" y="2934973"/>
            <a:ext cx="4661268" cy="3177067"/>
            <a:chOff x="4800067" y="3065722"/>
            <a:chExt cx="4661266" cy="3177068"/>
          </a:xfrm>
        </p:grpSpPr>
        <p:pic>
          <p:nvPicPr>
            <p:cNvPr id="2380" name="Google Shape;2380;p125"/>
            <p:cNvPicPr preferRelativeResize="0"/>
            <p:nvPr/>
          </p:nvPicPr>
          <p:blipFill rotWithShape="1">
            <a:blip r:embed="rId3">
              <a:alphaModFix/>
            </a:blip>
            <a:srcRect/>
            <a:stretch/>
          </p:blipFill>
          <p:spPr>
            <a:xfrm>
              <a:off x="4800067" y="3068556"/>
              <a:ext cx="4661266" cy="3102010"/>
            </a:xfrm>
            <a:prstGeom prst="rect">
              <a:avLst/>
            </a:prstGeom>
            <a:noFill/>
            <a:ln>
              <a:noFill/>
            </a:ln>
          </p:spPr>
        </p:pic>
        <p:sp>
          <p:nvSpPr>
            <p:cNvPr id="2381" name="Google Shape;2381;p125"/>
            <p:cNvSpPr txBox="1"/>
            <p:nvPr/>
          </p:nvSpPr>
          <p:spPr>
            <a:xfrm>
              <a:off x="4888238" y="3860043"/>
              <a:ext cx="71985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Đầu ra </a:t>
              </a:r>
              <a:endParaRPr/>
            </a:p>
            <a:p>
              <a:pPr marL="0" marR="0" lvl="0" indent="0" algn="ctr" rtl="0">
                <a:spcBef>
                  <a:spcPts val="0"/>
                </a:spcBef>
                <a:spcAft>
                  <a:spcPts val="0"/>
                </a:spcAft>
                <a:buNone/>
              </a:pPr>
              <a:r>
                <a:rPr lang="en-US" sz="1200">
                  <a:solidFill>
                    <a:schemeClr val="dk1"/>
                  </a:solidFill>
                  <a:latin typeface="Arial"/>
                  <a:ea typeface="Arial"/>
                  <a:cs typeface="Arial"/>
                  <a:sym typeface="Arial"/>
                </a:rPr>
                <a:t>định mức</a:t>
              </a:r>
              <a:endParaRPr sz="1200">
                <a:solidFill>
                  <a:schemeClr val="dk1"/>
                </a:solidFill>
                <a:latin typeface="Arial"/>
                <a:ea typeface="Arial"/>
                <a:cs typeface="Arial"/>
                <a:sym typeface="Arial"/>
              </a:endParaRPr>
            </a:p>
          </p:txBody>
        </p:sp>
        <p:sp>
          <p:nvSpPr>
            <p:cNvPr id="2382" name="Google Shape;2382;p125"/>
            <p:cNvSpPr txBox="1"/>
            <p:nvPr/>
          </p:nvSpPr>
          <p:spPr>
            <a:xfrm>
              <a:off x="6019108" y="3725550"/>
              <a:ext cx="1111592"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Đường cong thực</a:t>
              </a:r>
              <a:endParaRPr/>
            </a:p>
          </p:txBody>
        </p:sp>
        <p:sp>
          <p:nvSpPr>
            <p:cNvPr id="2383" name="Google Shape;2383;p125"/>
            <p:cNvSpPr txBox="1"/>
            <p:nvPr/>
          </p:nvSpPr>
          <p:spPr>
            <a:xfrm>
              <a:off x="7887784" y="4269754"/>
              <a:ext cx="1128199"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Đường cong lý tưởng</a:t>
              </a:r>
              <a:endParaRPr/>
            </a:p>
          </p:txBody>
        </p:sp>
        <p:sp>
          <p:nvSpPr>
            <p:cNvPr id="2384" name="Google Shape;2384;p125"/>
            <p:cNvSpPr txBox="1"/>
            <p:nvPr/>
          </p:nvSpPr>
          <p:spPr>
            <a:xfrm>
              <a:off x="7247472" y="5781125"/>
              <a:ext cx="1111592"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Đầu vào định mức</a:t>
              </a:r>
              <a:endParaRPr sz="1200">
                <a:solidFill>
                  <a:schemeClr val="dk1"/>
                </a:solidFill>
                <a:latin typeface="Arial"/>
                <a:ea typeface="Arial"/>
                <a:cs typeface="Arial"/>
                <a:sym typeface="Arial"/>
              </a:endParaRPr>
            </a:p>
          </p:txBody>
        </p:sp>
        <p:sp>
          <p:nvSpPr>
            <p:cNvPr id="2385" name="Google Shape;2385;p125"/>
            <p:cNvSpPr txBox="1"/>
            <p:nvPr/>
          </p:nvSpPr>
          <p:spPr>
            <a:xfrm>
              <a:off x="6681838" y="4960429"/>
              <a:ext cx="1072274" cy="369332"/>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Phân bổ đầu ra </a:t>
              </a:r>
              <a:endParaRPr/>
            </a:p>
            <a:p>
              <a:pPr marL="0" marR="0" lvl="0" indent="0" algn="l" rtl="0">
                <a:spcBef>
                  <a:spcPts val="0"/>
                </a:spcBef>
                <a:spcAft>
                  <a:spcPts val="0"/>
                </a:spcAft>
                <a:buNone/>
              </a:pPr>
              <a:r>
                <a:rPr lang="en-US" sz="1200">
                  <a:solidFill>
                    <a:schemeClr val="dk1"/>
                  </a:solidFill>
                  <a:latin typeface="Arial"/>
                  <a:ea typeface="Arial"/>
                  <a:cs typeface="Arial"/>
                  <a:sym typeface="Arial"/>
                </a:rPr>
                <a:t>lớn nhất</a:t>
              </a:r>
              <a:endParaRPr sz="1200">
                <a:solidFill>
                  <a:schemeClr val="dk1"/>
                </a:solidFill>
                <a:latin typeface="Arial"/>
                <a:ea typeface="Arial"/>
                <a:cs typeface="Arial"/>
                <a:sym typeface="Arial"/>
              </a:endParaRPr>
            </a:p>
          </p:txBody>
        </p:sp>
        <p:sp>
          <p:nvSpPr>
            <p:cNvPr id="2386" name="Google Shape;2386;p125"/>
            <p:cNvSpPr txBox="1"/>
            <p:nvPr/>
          </p:nvSpPr>
          <p:spPr>
            <a:xfrm>
              <a:off x="6219416" y="5328960"/>
              <a:ext cx="1425818" cy="369332"/>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Phân bổ đầu vào lớn nhất</a:t>
              </a:r>
              <a:endParaRPr sz="1200">
                <a:solidFill>
                  <a:schemeClr val="dk1"/>
                </a:solidFill>
                <a:latin typeface="Arial"/>
                <a:ea typeface="Arial"/>
                <a:cs typeface="Arial"/>
                <a:sym typeface="Arial"/>
              </a:endParaRPr>
            </a:p>
          </p:txBody>
        </p:sp>
        <p:sp>
          <p:nvSpPr>
            <p:cNvPr id="2387" name="Google Shape;2387;p125"/>
            <p:cNvSpPr txBox="1"/>
            <p:nvPr/>
          </p:nvSpPr>
          <p:spPr>
            <a:xfrm>
              <a:off x="5395744" y="3065722"/>
              <a:ext cx="23139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388" name="Google Shape;2388;p125"/>
            <p:cNvSpPr txBox="1"/>
            <p:nvPr/>
          </p:nvSpPr>
          <p:spPr>
            <a:xfrm>
              <a:off x="8885545" y="5609449"/>
              <a:ext cx="23139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2389" name="Google Shape;2389;p125"/>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390" name="Google Shape;2390;p125"/>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Độ tuyến tính</a:t>
            </a:r>
            <a:endParaRPr sz="2401" b="1">
              <a:solidFill>
                <a:srgbClr val="0C0C0C"/>
              </a:solidFill>
              <a:latin typeface="Arial"/>
              <a:ea typeface="Arial"/>
              <a:cs typeface="Arial"/>
              <a:sym typeface="Arial"/>
            </a:endParaRPr>
          </a:p>
        </p:txBody>
      </p:sp>
      <p:sp>
        <p:nvSpPr>
          <p:cNvPr id="2391" name="Google Shape;2391;p125"/>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Định nghĩa</a:t>
            </a:r>
            <a:endParaRPr sz="1401">
              <a:solidFill>
                <a:schemeClr val="dk1"/>
              </a:solidFill>
              <a:latin typeface="Arial"/>
              <a:ea typeface="Arial"/>
              <a:cs typeface="Arial"/>
              <a:sym typeface="Arial"/>
            </a:endParaRPr>
          </a:p>
        </p:txBody>
      </p:sp>
      <p:sp>
        <p:nvSpPr>
          <p:cNvPr id="2392" name="Google Shape;2392;p125"/>
          <p:cNvSpPr/>
          <p:nvPr/>
        </p:nvSpPr>
        <p:spPr>
          <a:xfrm>
            <a:off x="712189" y="2174884"/>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Độ sai lệch của đường đặc trưng của cảm biến so với sự phụ thuộc đường thẳng lý tưởng</a:t>
            </a:r>
            <a:endParaRPr/>
          </a:p>
        </p:txBody>
      </p:sp>
      <p:sp>
        <p:nvSpPr>
          <p:cNvPr id="2393" name="Google Shape;2393;p125"/>
          <p:cNvSpPr/>
          <p:nvPr/>
        </p:nvSpPr>
        <p:spPr>
          <a:xfrm>
            <a:off x="580400" y="2574656"/>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Biểu diễn độ tuyến tính</a:t>
            </a:r>
            <a:endParaRPr sz="1401">
              <a:solidFill>
                <a:schemeClr val="dk1"/>
              </a:solidFill>
              <a:latin typeface="Arial"/>
              <a:ea typeface="Arial"/>
              <a:cs typeface="Arial"/>
              <a:sym typeface="Arial"/>
            </a:endParaRPr>
          </a:p>
        </p:txBody>
      </p:sp>
      <p:sp>
        <p:nvSpPr>
          <p:cNvPr id="2394" name="Google Shape;2394;p125"/>
          <p:cNvSpPr/>
          <p:nvPr/>
        </p:nvSpPr>
        <p:spPr>
          <a:xfrm>
            <a:off x="5090161" y="2851153"/>
            <a:ext cx="4410550" cy="1453424"/>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Độ tuyến tính thường được biểu thị bằng tính phi tuyến</a:t>
            </a:r>
            <a:endParaRPr/>
          </a:p>
          <a:p>
            <a:pPr marL="355571" marR="0" lvl="1" indent="-179375" algn="l" rtl="0">
              <a:spcBef>
                <a:spcPts val="802"/>
              </a:spcBef>
              <a:spcAft>
                <a:spcPts val="0"/>
              </a:spcAft>
              <a:buClr>
                <a:srgbClr val="193EB0"/>
              </a:buClr>
              <a:buSzPts val="1400"/>
              <a:buFont typeface="Arial"/>
              <a:buChar char="•"/>
            </a:pPr>
            <a:r>
              <a:rPr lang="en-US" sz="1300" b="0" i="0" u="none" strike="noStrike" cap="none">
                <a:solidFill>
                  <a:srgbClr val="262626"/>
                </a:solidFill>
                <a:latin typeface="Arial"/>
                <a:ea typeface="Arial"/>
                <a:cs typeface="Arial"/>
                <a:sym typeface="Arial"/>
              </a:rPr>
              <a:t>Độ tuyến tính = Phân bổ đầu ra lớn nhất/đầu ra định mức x 100%</a:t>
            </a:r>
            <a:endParaRPr/>
          </a:p>
          <a:p>
            <a:pPr marL="355571" marR="0" lvl="1" indent="-179375" algn="l" rtl="0">
              <a:spcBef>
                <a:spcPts val="802"/>
              </a:spcBef>
              <a:spcAft>
                <a:spcPts val="0"/>
              </a:spcAft>
              <a:buClr>
                <a:srgbClr val="193EB0"/>
              </a:buClr>
              <a:buSzPts val="1400"/>
              <a:buFont typeface="Arial"/>
              <a:buChar char="•"/>
            </a:pPr>
            <a:r>
              <a:rPr lang="en-US" sz="1300" b="0" i="0" u="none" strike="noStrike" cap="none">
                <a:solidFill>
                  <a:srgbClr val="262626"/>
                </a:solidFill>
                <a:latin typeface="Arial"/>
                <a:ea typeface="Arial"/>
                <a:cs typeface="Arial"/>
                <a:sym typeface="Arial"/>
              </a:rPr>
              <a:t>Độ tuyến tính = Phân bổ đầu vào lớn </a:t>
            </a:r>
            <a:endParaRPr/>
          </a:p>
          <a:p>
            <a:pPr marL="355571" marR="0" lvl="1" indent="-179375" algn="l" rtl="0">
              <a:spcBef>
                <a:spcPts val="802"/>
              </a:spcBef>
              <a:spcAft>
                <a:spcPts val="0"/>
              </a:spcAft>
              <a:buClr>
                <a:srgbClr val="193EB0"/>
              </a:buClr>
              <a:buSzPts val="1400"/>
              <a:buFont typeface="Arial"/>
              <a:buChar char="•"/>
            </a:pPr>
            <a:r>
              <a:rPr lang="en-US" sz="1300" b="0" i="0" u="none" strike="noStrike" cap="none">
                <a:solidFill>
                  <a:srgbClr val="262626"/>
                </a:solidFill>
                <a:latin typeface="Arial"/>
                <a:ea typeface="Arial"/>
                <a:cs typeface="Arial"/>
                <a:sym typeface="Arial"/>
              </a:rPr>
              <a:t>nhất/đầu vào định mức x 100%</a:t>
            </a:r>
            <a:endParaRPr/>
          </a:p>
        </p:txBody>
      </p:sp>
      <p:sp>
        <p:nvSpPr>
          <p:cNvPr id="2395" name="Google Shape;2395;p125"/>
          <p:cNvSpPr/>
          <p:nvPr/>
        </p:nvSpPr>
        <p:spPr>
          <a:xfrm>
            <a:off x="554481" y="2879657"/>
            <a:ext cx="4396940" cy="3114503"/>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sp>
        <p:nvSpPr>
          <p:cNvPr id="2396" name="Google Shape;2396;p125"/>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401"/>
        <p:cNvGrpSpPr/>
        <p:nvPr/>
      </p:nvGrpSpPr>
      <p:grpSpPr>
        <a:xfrm>
          <a:off x="0" y="0"/>
          <a:ext cx="0" cy="0"/>
          <a:chOff x="0" y="0"/>
          <a:chExt cx="0" cy="0"/>
        </a:xfrm>
      </p:grpSpPr>
      <p:sp>
        <p:nvSpPr>
          <p:cNvPr id="2402" name="Google Shape;2402;p126"/>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403" name="Google Shape;2403;p126"/>
          <p:cNvSpPr/>
          <p:nvPr/>
        </p:nvSpPr>
        <p:spPr>
          <a:xfrm>
            <a:off x="530705" y="1132161"/>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rgbClr val="0033FF"/>
              </a:buClr>
              <a:buSzPts val="1681"/>
              <a:buFont typeface="Arial"/>
              <a:buChar char="•"/>
            </a:pPr>
            <a:r>
              <a:rPr lang="en-US" sz="1401" b="1" dirty="0">
                <a:solidFill>
                  <a:srgbClr val="0033FF"/>
                </a:solidFill>
                <a:latin typeface="Arial"/>
                <a:ea typeface="Arial"/>
                <a:cs typeface="Arial"/>
                <a:sym typeface="Arial"/>
              </a:rPr>
              <a:t> Tuyến </a:t>
            </a:r>
            <a:r>
              <a:rPr lang="en-US" sz="1401" b="1" dirty="0" err="1">
                <a:solidFill>
                  <a:srgbClr val="0033FF"/>
                </a:solidFill>
                <a:latin typeface="Arial"/>
                <a:ea typeface="Arial"/>
                <a:cs typeface="Arial"/>
                <a:sym typeface="Arial"/>
              </a:rPr>
              <a:t>tính</a:t>
            </a:r>
            <a:r>
              <a:rPr lang="en-US" sz="1401" b="1" dirty="0">
                <a:solidFill>
                  <a:srgbClr val="0033FF"/>
                </a:solidFill>
                <a:latin typeface="Arial"/>
                <a:ea typeface="Arial"/>
                <a:cs typeface="Arial"/>
                <a:sym typeface="Arial"/>
              </a:rPr>
              <a:t> </a:t>
            </a:r>
            <a:r>
              <a:rPr lang="en-US" sz="1401" b="1" dirty="0" err="1">
                <a:solidFill>
                  <a:srgbClr val="0033FF"/>
                </a:solidFill>
                <a:latin typeface="Arial"/>
                <a:ea typeface="Arial"/>
                <a:cs typeface="Arial"/>
                <a:sym typeface="Arial"/>
              </a:rPr>
              <a:t>hóa</a:t>
            </a:r>
            <a:r>
              <a:rPr lang="en-US" sz="1401" b="1" dirty="0">
                <a:solidFill>
                  <a:srgbClr val="0033FF"/>
                </a:solidFill>
                <a:latin typeface="Arial"/>
                <a:ea typeface="Arial"/>
                <a:cs typeface="Arial"/>
                <a:sym typeface="Arial"/>
              </a:rPr>
              <a:t> </a:t>
            </a:r>
            <a:r>
              <a:rPr lang="en-US" sz="1401" b="1" dirty="0" err="1">
                <a:solidFill>
                  <a:srgbClr val="0033FF"/>
                </a:solidFill>
                <a:latin typeface="Arial"/>
                <a:ea typeface="Arial"/>
                <a:cs typeface="Arial"/>
                <a:sym typeface="Arial"/>
              </a:rPr>
              <a:t>các</a:t>
            </a:r>
            <a:r>
              <a:rPr lang="en-US" sz="1401" b="1" dirty="0">
                <a:solidFill>
                  <a:srgbClr val="0033FF"/>
                </a:solidFill>
                <a:latin typeface="Arial"/>
                <a:ea typeface="Arial"/>
                <a:cs typeface="Arial"/>
                <a:sym typeface="Arial"/>
              </a:rPr>
              <a:t> </a:t>
            </a:r>
            <a:r>
              <a:rPr lang="en-US" sz="1401" b="1" dirty="0" err="1">
                <a:solidFill>
                  <a:srgbClr val="0033FF"/>
                </a:solidFill>
                <a:latin typeface="Arial"/>
                <a:ea typeface="Arial"/>
                <a:cs typeface="Arial"/>
                <a:sym typeface="Arial"/>
              </a:rPr>
              <a:t>đặc</a:t>
            </a:r>
            <a:r>
              <a:rPr lang="en-US" sz="1401" b="1" dirty="0">
                <a:solidFill>
                  <a:srgbClr val="0033FF"/>
                </a:solidFill>
                <a:latin typeface="Arial"/>
                <a:ea typeface="Arial"/>
                <a:cs typeface="Arial"/>
                <a:sym typeface="Arial"/>
              </a:rPr>
              <a:t> </a:t>
            </a:r>
            <a:r>
              <a:rPr lang="en-US" sz="1401" b="1" dirty="0" err="1">
                <a:solidFill>
                  <a:srgbClr val="0033FF"/>
                </a:solidFill>
                <a:latin typeface="Arial"/>
                <a:ea typeface="Arial"/>
                <a:cs typeface="Arial"/>
                <a:sym typeface="Arial"/>
              </a:rPr>
              <a:t>điểm</a:t>
            </a:r>
            <a:r>
              <a:rPr lang="en-US" sz="1401" b="1" dirty="0">
                <a:solidFill>
                  <a:srgbClr val="0033FF"/>
                </a:solidFill>
                <a:latin typeface="Arial"/>
                <a:ea typeface="Arial"/>
                <a:cs typeface="Arial"/>
                <a:sym typeface="Arial"/>
              </a:rPr>
              <a:t> </a:t>
            </a:r>
            <a:r>
              <a:rPr lang="en-US" sz="1401" b="1" dirty="0" err="1">
                <a:solidFill>
                  <a:srgbClr val="0033FF"/>
                </a:solidFill>
                <a:latin typeface="Arial"/>
                <a:ea typeface="Arial"/>
                <a:cs typeface="Arial"/>
                <a:sym typeface="Arial"/>
              </a:rPr>
              <a:t>của</a:t>
            </a:r>
            <a:r>
              <a:rPr lang="en-US" sz="1401" b="1" dirty="0">
                <a:solidFill>
                  <a:srgbClr val="0033FF"/>
                </a:solidFill>
                <a:latin typeface="Arial"/>
                <a:ea typeface="Arial"/>
                <a:cs typeface="Arial"/>
                <a:sym typeface="Arial"/>
              </a:rPr>
              <a:t> </a:t>
            </a:r>
            <a:r>
              <a:rPr lang="en-US" sz="1401" b="1" dirty="0" err="1">
                <a:solidFill>
                  <a:srgbClr val="0033FF"/>
                </a:solidFill>
                <a:latin typeface="Arial"/>
                <a:ea typeface="Arial"/>
                <a:cs typeface="Arial"/>
                <a:sym typeface="Arial"/>
              </a:rPr>
              <a:t>cảm</a:t>
            </a:r>
            <a:r>
              <a:rPr lang="en-US" sz="1401" b="1" dirty="0">
                <a:solidFill>
                  <a:srgbClr val="0033FF"/>
                </a:solidFill>
                <a:latin typeface="Arial"/>
                <a:ea typeface="Arial"/>
                <a:cs typeface="Arial"/>
                <a:sym typeface="Arial"/>
              </a:rPr>
              <a:t> </a:t>
            </a:r>
            <a:r>
              <a:rPr lang="en-US" sz="1401" b="1" dirty="0" err="1">
                <a:solidFill>
                  <a:srgbClr val="0033FF"/>
                </a:solidFill>
                <a:latin typeface="Arial"/>
                <a:ea typeface="Arial"/>
                <a:cs typeface="Arial"/>
                <a:sym typeface="Arial"/>
              </a:rPr>
              <a:t>biến</a:t>
            </a:r>
            <a:endParaRPr sz="1401" b="1" dirty="0">
              <a:solidFill>
                <a:srgbClr val="0033FF"/>
              </a:solidFill>
              <a:latin typeface="Arial"/>
              <a:ea typeface="Arial"/>
              <a:cs typeface="Arial"/>
              <a:sym typeface="Arial"/>
            </a:endParaRPr>
          </a:p>
        </p:txBody>
      </p:sp>
      <p:sp>
        <p:nvSpPr>
          <p:cNvPr id="2404" name="Google Shape;2404;p126"/>
          <p:cNvSpPr/>
          <p:nvPr/>
        </p:nvSpPr>
        <p:spPr>
          <a:xfrm>
            <a:off x="4358640" y="1515844"/>
            <a:ext cx="5109368" cy="4067602"/>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Một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của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sử</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dụng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phương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pháp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bình</a:t>
            </a:r>
            <a:r>
              <a:rPr lang="en-US" sz="1299" dirty="0">
                <a:solidFill>
                  <a:srgbClr val="262626"/>
                </a:solidFill>
                <a:latin typeface="Arial"/>
                <a:ea typeface="Arial"/>
                <a:cs typeface="Arial"/>
                <a:sym typeface="Arial"/>
              </a:rPr>
              <a:t> </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phương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tối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thiểu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đánh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đường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thẳng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phù</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hợp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nhất</a:t>
            </a:r>
            <a:r>
              <a:rPr lang="en-US" sz="1299" dirty="0">
                <a:solidFill>
                  <a:srgbClr val="262626"/>
                </a:solidFill>
                <a:latin typeface="Arial"/>
                <a:ea typeface="Arial"/>
                <a:cs typeface="Arial"/>
                <a:sym typeface="Arial"/>
              </a:rPr>
              <a:t>.</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Độ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trong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trường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hợp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này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được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gọi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lập</a:t>
            </a:r>
            <a:r>
              <a:rPr lang="en-US" sz="1299" dirty="0">
                <a:solidFill>
                  <a:srgbClr val="262626"/>
                </a:solidFill>
                <a:latin typeface="Arial"/>
                <a:ea typeface="Arial"/>
                <a:cs typeface="Arial"/>
                <a:sym typeface="Arial"/>
              </a:rPr>
              <a:t>.</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Nếu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trị</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của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vượt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quá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giới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hạn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phép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thì</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trị</a:t>
            </a:r>
            <a:r>
              <a:rPr lang="en-US" sz="1299" dirty="0">
                <a:solidFill>
                  <a:srgbClr val="262626"/>
                </a:solidFill>
                <a:latin typeface="Arial"/>
                <a:ea typeface="Arial"/>
                <a:cs typeface="Arial"/>
                <a:sym typeface="Arial"/>
              </a:rPr>
              <a:t> </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ra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sẽ</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bắt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bão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hòa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mất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phản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hồi</a:t>
            </a:r>
            <a:r>
              <a:rPr lang="en-US" sz="1299" dirty="0">
                <a:solidFill>
                  <a:srgbClr val="262626"/>
                </a:solidFill>
                <a:latin typeface="Arial"/>
                <a:ea typeface="Arial"/>
                <a:cs typeface="Arial"/>
                <a:sym typeface="Arial"/>
              </a:rPr>
              <a:t>. Do </a:t>
            </a:r>
            <a:r>
              <a:rPr lang="en-US" sz="1299" dirty="0" err="1">
                <a:solidFill>
                  <a:srgbClr val="262626"/>
                </a:solidFill>
                <a:latin typeface="Arial"/>
                <a:ea typeface="Arial"/>
                <a:cs typeface="Arial"/>
                <a:sym typeface="Arial"/>
              </a:rPr>
              <a:t>vậy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trị</a:t>
            </a:r>
            <a:r>
              <a:rPr lang="en-US" sz="1299" dirty="0">
                <a:solidFill>
                  <a:srgbClr val="262626"/>
                </a:solidFill>
                <a:latin typeface="Arial"/>
                <a:ea typeface="Arial"/>
                <a:cs typeface="Arial"/>
                <a:sym typeface="Arial"/>
              </a:rPr>
              <a:t> </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lớn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nhất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hoặc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trị</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định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mức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sẽ</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đáng</a:t>
            </a:r>
            <a:r>
              <a:rPr lang="en-US" sz="1299" dirty="0">
                <a:solidFill>
                  <a:srgbClr val="262626"/>
                </a:solidFill>
                <a:latin typeface="Arial"/>
                <a:ea typeface="Arial"/>
                <a:cs typeface="Arial"/>
                <a:sym typeface="Arial"/>
              </a:rPr>
              <a:t> tin </a:t>
            </a:r>
            <a:r>
              <a:rPr lang="en-US" sz="1299" dirty="0" err="1">
                <a:solidFill>
                  <a:srgbClr val="262626"/>
                </a:solidFill>
                <a:latin typeface="Arial"/>
                <a:ea typeface="Arial"/>
                <a:cs typeface="Arial"/>
                <a:sym typeface="Arial"/>
              </a:rPr>
              <a:t>cậy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hơn</a:t>
            </a:r>
            <a:r>
              <a:rPr lang="en-US" sz="1299" dirty="0">
                <a:solidFill>
                  <a:srgbClr val="262626"/>
                </a:solidFill>
                <a:latin typeface="Arial"/>
                <a:ea typeface="Arial"/>
                <a:cs typeface="Arial"/>
                <a:sym typeface="Arial"/>
              </a:rPr>
              <a:t>.</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Nếu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đặc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điểm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hoặc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chuyển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đổi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của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thành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phần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là</a:t>
            </a:r>
            <a:r>
              <a:rPr lang="en-US" sz="1299" dirty="0">
                <a:solidFill>
                  <a:srgbClr val="262626"/>
                </a:solidFill>
                <a:latin typeface="Arial"/>
                <a:ea typeface="Arial"/>
                <a:cs typeface="Arial"/>
                <a:sym typeface="Arial"/>
              </a:rPr>
              <a:t> phi </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trong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không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có</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chức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năng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thì</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trị</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a:t>
            </a:r>
            <a:r>
              <a:rPr lang="en-US" sz="1299" dirty="0">
                <a:solidFill>
                  <a:srgbClr val="262626"/>
                </a:solidFill>
                <a:latin typeface="Arial"/>
                <a:ea typeface="Arial"/>
                <a:cs typeface="Arial"/>
                <a:sym typeface="Arial"/>
              </a:rPr>
              <a:t> </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ra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của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toàn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sẽ</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mang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bằng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dùng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chuyển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đổi</a:t>
            </a:r>
            <a:endParaRPr dirty="0"/>
          </a:p>
          <a:p>
            <a:pPr marL="182513" marR="0" lvl="0" indent="-182513" algn="l" rtl="0">
              <a:spcBef>
                <a:spcPts val="802"/>
              </a:spcBef>
              <a:spcAft>
                <a:spcPts val="0"/>
              </a:spcAft>
              <a:buClr>
                <a:srgbClr val="193EB0"/>
              </a:buClr>
              <a:buSzPts val="1299"/>
              <a:buFont typeface="Arial"/>
              <a:buChar char="‣"/>
            </a:pPr>
            <a:r>
              <a:rPr lang="en-US" sz="1299" dirty="0">
                <a:solidFill>
                  <a:srgbClr val="262626"/>
                </a:solidFill>
                <a:latin typeface="Arial"/>
                <a:ea typeface="Arial"/>
                <a:cs typeface="Arial"/>
                <a:sym typeface="Arial"/>
              </a:rPr>
              <a:t>Ngay </a:t>
            </a:r>
            <a:r>
              <a:rPr lang="en-US" sz="1299" dirty="0" err="1">
                <a:solidFill>
                  <a:srgbClr val="262626"/>
                </a:solidFill>
                <a:latin typeface="Arial"/>
                <a:ea typeface="Arial"/>
                <a:cs typeface="Arial"/>
                <a:sym typeface="Arial"/>
              </a:rPr>
              <a:t>cả</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sử</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dụng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thành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phần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trong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phạm</a:t>
            </a:r>
            <a:r>
              <a:rPr lang="en-US" sz="1299" dirty="0">
                <a:solidFill>
                  <a:srgbClr val="262626"/>
                </a:solidFill>
                <a:latin typeface="Arial"/>
                <a:ea typeface="Arial"/>
                <a:cs typeface="Arial"/>
                <a:sym typeface="Arial"/>
              </a:rPr>
              <a:t> vi </a:t>
            </a:r>
            <a:r>
              <a:rPr lang="en-US" sz="1299" dirty="0" err="1">
                <a:solidFill>
                  <a:srgbClr val="262626"/>
                </a:solidFill>
                <a:latin typeface="Arial"/>
                <a:ea typeface="Arial"/>
                <a:cs typeface="Arial"/>
                <a:sym typeface="Arial"/>
              </a:rPr>
              <a:t>có</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cao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thì</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của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toàn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sẽ</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trừ</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tuyến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tính</a:t>
            </a:r>
            <a:r>
              <a:rPr lang="en-US" sz="1299" dirty="0">
                <a:solidFill>
                  <a:srgbClr val="262626"/>
                </a:solidFill>
                <a:latin typeface="Arial"/>
                <a:ea typeface="Arial"/>
                <a:cs typeface="Arial"/>
                <a:sym typeface="Arial"/>
              </a:rPr>
              <a:t> ở </a:t>
            </a:r>
            <a:r>
              <a:rPr lang="en-US" sz="1299" dirty="0" err="1">
                <a:solidFill>
                  <a:srgbClr val="262626"/>
                </a:solidFill>
                <a:latin typeface="Arial"/>
                <a:ea typeface="Arial"/>
                <a:cs typeface="Arial"/>
                <a:sym typeface="Arial"/>
              </a:rPr>
              <a:t>mạch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chuyển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đổi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khuếch</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đại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cao</a:t>
            </a:r>
            <a:r>
              <a:rPr lang="en-US" sz="1299" dirty="0">
                <a:solidFill>
                  <a:srgbClr val="262626"/>
                </a:solidFill>
                <a:latin typeface="Arial"/>
                <a:ea typeface="Arial"/>
                <a:cs typeface="Arial"/>
                <a:sym typeface="Arial"/>
              </a:rPr>
              <a:t>.</a:t>
            </a:r>
            <a:endParaRPr dirty="0"/>
          </a:p>
        </p:txBody>
      </p:sp>
      <p:grpSp>
        <p:nvGrpSpPr>
          <p:cNvPr id="2405" name="Google Shape;2405;p126"/>
          <p:cNvGrpSpPr/>
          <p:nvPr/>
        </p:nvGrpSpPr>
        <p:grpSpPr>
          <a:xfrm>
            <a:off x="688031" y="1564124"/>
            <a:ext cx="3518209" cy="4401012"/>
            <a:chOff x="554471" y="1871747"/>
            <a:chExt cx="3569853" cy="4465615"/>
          </a:xfrm>
        </p:grpSpPr>
        <p:grpSp>
          <p:nvGrpSpPr>
            <p:cNvPr id="2406" name="Google Shape;2406;p126"/>
            <p:cNvGrpSpPr/>
            <p:nvPr/>
          </p:nvGrpSpPr>
          <p:grpSpPr>
            <a:xfrm>
              <a:off x="718616" y="1952625"/>
              <a:ext cx="3076152" cy="4384737"/>
              <a:chOff x="821414" y="2053753"/>
              <a:chExt cx="2670646" cy="3806730"/>
            </a:xfrm>
          </p:grpSpPr>
          <p:pic>
            <p:nvPicPr>
              <p:cNvPr id="2407" name="Google Shape;2407;p126"/>
              <p:cNvPicPr preferRelativeResize="0"/>
              <p:nvPr/>
            </p:nvPicPr>
            <p:blipFill rotWithShape="1">
              <a:blip r:embed="rId3">
                <a:alphaModFix/>
              </a:blip>
              <a:srcRect/>
              <a:stretch/>
            </p:blipFill>
            <p:spPr>
              <a:xfrm>
                <a:off x="829981" y="2053753"/>
                <a:ext cx="2662079" cy="1940397"/>
              </a:xfrm>
              <a:prstGeom prst="rect">
                <a:avLst/>
              </a:prstGeom>
              <a:noFill/>
              <a:ln>
                <a:noFill/>
              </a:ln>
            </p:spPr>
          </p:pic>
          <p:grpSp>
            <p:nvGrpSpPr>
              <p:cNvPr id="2408" name="Google Shape;2408;p126"/>
              <p:cNvGrpSpPr/>
              <p:nvPr/>
            </p:nvGrpSpPr>
            <p:grpSpPr>
              <a:xfrm>
                <a:off x="821414" y="2499001"/>
                <a:ext cx="2634256" cy="3361482"/>
                <a:chOff x="7133536" y="3008214"/>
                <a:chExt cx="2280916" cy="2910598"/>
              </a:xfrm>
            </p:grpSpPr>
            <p:pic>
              <p:nvPicPr>
                <p:cNvPr id="2409" name="Google Shape;2409;p126"/>
                <p:cNvPicPr preferRelativeResize="0"/>
                <p:nvPr/>
              </p:nvPicPr>
              <p:blipFill rotWithShape="1">
                <a:blip r:embed="rId4">
                  <a:alphaModFix/>
                </a:blip>
                <a:srcRect/>
                <a:stretch/>
              </p:blipFill>
              <p:spPr>
                <a:xfrm>
                  <a:off x="7133536" y="4407129"/>
                  <a:ext cx="2207314" cy="1511683"/>
                </a:xfrm>
                <a:prstGeom prst="rect">
                  <a:avLst/>
                </a:prstGeom>
                <a:noFill/>
                <a:ln>
                  <a:noFill/>
                </a:ln>
              </p:spPr>
            </p:pic>
            <p:sp>
              <p:nvSpPr>
                <p:cNvPr id="2410" name="Google Shape;2410;p126"/>
                <p:cNvSpPr txBox="1"/>
                <p:nvPr/>
              </p:nvSpPr>
              <p:spPr>
                <a:xfrm>
                  <a:off x="7140955" y="4641863"/>
                  <a:ext cx="454400" cy="289551"/>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Đầu ra</a:t>
                  </a:r>
                  <a:endParaRPr sz="1200">
                    <a:solidFill>
                      <a:schemeClr val="dk1"/>
                    </a:solidFill>
                    <a:latin typeface="Arial"/>
                    <a:ea typeface="Arial"/>
                    <a:cs typeface="Arial"/>
                    <a:sym typeface="Arial"/>
                  </a:endParaRPr>
                </a:p>
              </p:txBody>
            </p:sp>
            <p:sp>
              <p:nvSpPr>
                <p:cNvPr id="2411" name="Google Shape;2411;p126"/>
                <p:cNvSpPr txBox="1"/>
                <p:nvPr/>
              </p:nvSpPr>
              <p:spPr>
                <a:xfrm>
                  <a:off x="7807446" y="5574973"/>
                  <a:ext cx="859494" cy="14085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Lớn nhất</a:t>
                  </a:r>
                  <a:endParaRPr sz="1200">
                    <a:solidFill>
                      <a:schemeClr val="dk1"/>
                    </a:solidFill>
                    <a:latin typeface="Arial"/>
                    <a:ea typeface="Arial"/>
                    <a:cs typeface="Arial"/>
                    <a:sym typeface="Arial"/>
                  </a:endParaRPr>
                </a:p>
              </p:txBody>
            </p:sp>
            <p:sp>
              <p:nvSpPr>
                <p:cNvPr id="2412" name="Google Shape;2412;p126"/>
                <p:cNvSpPr txBox="1"/>
                <p:nvPr/>
              </p:nvSpPr>
              <p:spPr>
                <a:xfrm>
                  <a:off x="8732294" y="5568177"/>
                  <a:ext cx="543201" cy="14085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Đầu vào</a:t>
                  </a:r>
                  <a:endParaRPr sz="1200">
                    <a:solidFill>
                      <a:schemeClr val="dk1"/>
                    </a:solidFill>
                    <a:latin typeface="Arial"/>
                    <a:ea typeface="Arial"/>
                    <a:cs typeface="Arial"/>
                    <a:sym typeface="Arial"/>
                  </a:endParaRPr>
                </a:p>
              </p:txBody>
            </p:sp>
            <p:sp>
              <p:nvSpPr>
                <p:cNvPr id="2413" name="Google Shape;2413;p126"/>
                <p:cNvSpPr txBox="1"/>
                <p:nvPr/>
              </p:nvSpPr>
              <p:spPr>
                <a:xfrm>
                  <a:off x="9113724" y="5436155"/>
                  <a:ext cx="161772" cy="1388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14" name="Google Shape;2414;p126"/>
                <p:cNvSpPr txBox="1"/>
                <p:nvPr/>
              </p:nvSpPr>
              <p:spPr>
                <a:xfrm>
                  <a:off x="7595355" y="4406941"/>
                  <a:ext cx="161772" cy="1388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15" name="Google Shape;2415;p126"/>
                <p:cNvSpPr txBox="1"/>
                <p:nvPr/>
              </p:nvSpPr>
              <p:spPr>
                <a:xfrm>
                  <a:off x="8058054" y="4132889"/>
                  <a:ext cx="859494" cy="14085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Áp suất (% FS)</a:t>
                  </a:r>
                  <a:endParaRPr/>
                </a:p>
              </p:txBody>
            </p:sp>
            <p:sp>
              <p:nvSpPr>
                <p:cNvPr id="2416" name="Google Shape;2416;p126"/>
                <p:cNvSpPr txBox="1"/>
                <p:nvPr/>
              </p:nvSpPr>
              <p:spPr>
                <a:xfrm>
                  <a:off x="9095294" y="4111409"/>
                  <a:ext cx="319158" cy="13881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100%</a:t>
                  </a:r>
                  <a:endParaRPr sz="1200">
                    <a:solidFill>
                      <a:schemeClr val="dk1"/>
                    </a:solidFill>
                    <a:latin typeface="Arial"/>
                    <a:ea typeface="Arial"/>
                    <a:cs typeface="Arial"/>
                    <a:sym typeface="Arial"/>
                  </a:endParaRPr>
                </a:p>
              </p:txBody>
            </p:sp>
            <p:sp>
              <p:nvSpPr>
                <p:cNvPr id="2417" name="Google Shape;2417;p126"/>
                <p:cNvSpPr txBox="1"/>
                <p:nvPr/>
              </p:nvSpPr>
              <p:spPr>
                <a:xfrm>
                  <a:off x="7406419" y="4111409"/>
                  <a:ext cx="319158" cy="13881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0</a:t>
                  </a:r>
                  <a:endParaRPr sz="1200">
                    <a:solidFill>
                      <a:schemeClr val="dk1"/>
                    </a:solidFill>
                    <a:latin typeface="Arial"/>
                    <a:ea typeface="Arial"/>
                    <a:cs typeface="Arial"/>
                    <a:sym typeface="Arial"/>
                  </a:endParaRPr>
                </a:p>
              </p:txBody>
            </p:sp>
            <p:sp>
              <p:nvSpPr>
                <p:cNvPr id="2418" name="Google Shape;2418;p126"/>
                <p:cNvSpPr txBox="1"/>
                <p:nvPr/>
              </p:nvSpPr>
              <p:spPr>
                <a:xfrm>
                  <a:off x="7140955" y="3222274"/>
                  <a:ext cx="454400" cy="289551"/>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Đầu ra</a:t>
                  </a:r>
                  <a:endParaRPr sz="1200">
                    <a:solidFill>
                      <a:schemeClr val="dk1"/>
                    </a:solidFill>
                    <a:latin typeface="Arial"/>
                    <a:ea typeface="Arial"/>
                    <a:cs typeface="Arial"/>
                    <a:sym typeface="Arial"/>
                  </a:endParaRPr>
                </a:p>
              </p:txBody>
            </p:sp>
            <p:sp>
              <p:nvSpPr>
                <p:cNvPr id="2419" name="Google Shape;2419;p126"/>
                <p:cNvSpPr txBox="1"/>
                <p:nvPr/>
              </p:nvSpPr>
              <p:spPr>
                <a:xfrm>
                  <a:off x="7676241" y="3008214"/>
                  <a:ext cx="526012" cy="144776"/>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+0.2% FS</a:t>
                  </a:r>
                  <a:endParaRPr sz="1200">
                    <a:solidFill>
                      <a:schemeClr val="dk1"/>
                    </a:solidFill>
                    <a:latin typeface="Arial"/>
                    <a:ea typeface="Arial"/>
                    <a:cs typeface="Arial"/>
                    <a:sym typeface="Arial"/>
                  </a:endParaRPr>
                </a:p>
              </p:txBody>
            </p:sp>
            <p:sp>
              <p:nvSpPr>
                <p:cNvPr id="2420" name="Google Shape;2420;p126"/>
                <p:cNvSpPr txBox="1"/>
                <p:nvPr/>
              </p:nvSpPr>
              <p:spPr>
                <a:xfrm>
                  <a:off x="8237192" y="3596958"/>
                  <a:ext cx="526012" cy="144776"/>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-0.2% FS</a:t>
                  </a:r>
                  <a:endParaRPr sz="1200">
                    <a:solidFill>
                      <a:schemeClr val="dk1"/>
                    </a:solidFill>
                    <a:latin typeface="Arial"/>
                    <a:ea typeface="Arial"/>
                    <a:cs typeface="Arial"/>
                    <a:sym typeface="Arial"/>
                  </a:endParaRPr>
                </a:p>
              </p:txBody>
            </p:sp>
            <p:sp>
              <p:nvSpPr>
                <p:cNvPr id="2421" name="Google Shape;2421;p126"/>
                <p:cNvSpPr txBox="1"/>
                <p:nvPr/>
              </p:nvSpPr>
              <p:spPr>
                <a:xfrm>
                  <a:off x="8939431" y="3189403"/>
                  <a:ext cx="319157" cy="164224"/>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BFSL</a:t>
                  </a:r>
                  <a:endParaRPr sz="1200">
                    <a:solidFill>
                      <a:schemeClr val="dk1"/>
                    </a:solidFill>
                    <a:latin typeface="Arial"/>
                    <a:ea typeface="Arial"/>
                    <a:cs typeface="Arial"/>
                    <a:sym typeface="Arial"/>
                  </a:endParaRPr>
                </a:p>
              </p:txBody>
            </p:sp>
          </p:grpSp>
        </p:grpSp>
        <p:sp>
          <p:nvSpPr>
            <p:cNvPr id="2422" name="Google Shape;2422;p126"/>
            <p:cNvSpPr/>
            <p:nvPr/>
          </p:nvSpPr>
          <p:spPr>
            <a:xfrm>
              <a:off x="554471" y="1871747"/>
              <a:ext cx="3569853" cy="4465615"/>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2423" name="Google Shape;2423;p126"/>
          <p:cNvSpPr/>
          <p:nvPr/>
        </p:nvSpPr>
        <p:spPr>
          <a:xfrm>
            <a:off x="482310" y="511925"/>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Đặc</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điểm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cơ</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bản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của</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
        <p:nvSpPr>
          <p:cNvPr id="2424" name="Google Shape;2424;p126"/>
          <p:cNvSpPr txBox="1"/>
          <p:nvPr/>
        </p:nvSpPr>
        <p:spPr>
          <a:xfrm>
            <a:off x="1667346" y="3518409"/>
            <a:ext cx="1064301" cy="24622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a:solidFill>
                  <a:schemeClr val="dk1"/>
                </a:solidFill>
                <a:latin typeface="Calibri"/>
                <a:ea typeface="Calibri"/>
                <a:cs typeface="Calibri"/>
                <a:sym typeface="Calibri"/>
              </a:rPr>
              <a:t>Ví dụ:</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429"/>
        <p:cNvGrpSpPr/>
        <p:nvPr/>
      </p:nvGrpSpPr>
      <p:grpSpPr>
        <a:xfrm>
          <a:off x="0" y="0"/>
          <a:ext cx="0" cy="0"/>
          <a:chOff x="0" y="0"/>
          <a:chExt cx="0" cy="0"/>
        </a:xfrm>
      </p:grpSpPr>
      <p:sp>
        <p:nvSpPr>
          <p:cNvPr id="2430" name="Google Shape;2430;p127"/>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431" name="Google Shape;2431;p127"/>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Hysteresis</a:t>
            </a:r>
            <a:endParaRPr/>
          </a:p>
        </p:txBody>
      </p:sp>
      <p:sp>
        <p:nvSpPr>
          <p:cNvPr id="2432" name="Google Shape;2432;p127"/>
          <p:cNvSpPr/>
          <p:nvPr/>
        </p:nvSpPr>
        <p:spPr>
          <a:xfrm>
            <a:off x="580400" y="1944545"/>
            <a:ext cx="8619172" cy="774956"/>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Hiện tượng mà hai giá trị đầu vào x, trong đó mỗi giá trị đầu ra được đo bằng cách tăng x hoặc giảm x, không chuyển thành giá trị đầu ra tương ứng với giá trị đầu vào x1</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Tính độ trễ</a:t>
            </a:r>
            <a:endParaRPr sz="1401">
              <a:solidFill>
                <a:schemeClr val="dk1"/>
              </a:solidFill>
              <a:latin typeface="Arial"/>
              <a:ea typeface="Arial"/>
              <a:cs typeface="Arial"/>
              <a:sym typeface="Arial"/>
            </a:endParaRPr>
          </a:p>
        </p:txBody>
      </p:sp>
      <p:sp>
        <p:nvSpPr>
          <p:cNvPr id="2433" name="Google Shape;2433;p127"/>
          <p:cNvSpPr/>
          <p:nvPr/>
        </p:nvSpPr>
        <p:spPr>
          <a:xfrm>
            <a:off x="712189" y="2719117"/>
            <a:ext cx="8487381" cy="345300"/>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Hysteresis difference </a:t>
            </a:r>
            <a:endParaRPr/>
          </a:p>
        </p:txBody>
      </p:sp>
      <p:sp>
        <p:nvSpPr>
          <p:cNvPr id="2434" name="Google Shape;2434;p127"/>
          <p:cNvSpPr txBox="1"/>
          <p:nvPr/>
        </p:nvSpPr>
        <p:spPr>
          <a:xfrm>
            <a:off x="2589791" y="2710651"/>
            <a:ext cx="852028"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35" name="Google Shape;2435;p127"/>
          <p:cNvSpPr txBox="1"/>
          <p:nvPr/>
        </p:nvSpPr>
        <p:spPr>
          <a:xfrm>
            <a:off x="900418" y="3253184"/>
            <a:ext cx="3378745" cy="51405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36" name="Google Shape;2436;p127"/>
          <p:cNvSpPr/>
          <p:nvPr/>
        </p:nvSpPr>
        <p:spPr>
          <a:xfrm>
            <a:off x="580400" y="4027347"/>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Nguyên nhân trễ:</a:t>
            </a:r>
            <a:endParaRPr/>
          </a:p>
        </p:txBody>
      </p:sp>
      <p:sp>
        <p:nvSpPr>
          <p:cNvPr id="2437" name="Google Shape;2437;p127"/>
          <p:cNvSpPr/>
          <p:nvPr/>
        </p:nvSpPr>
        <p:spPr>
          <a:xfrm>
            <a:off x="712191" y="4257682"/>
            <a:ext cx="4971015" cy="1047672"/>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Độ trễ xảy ra tùy thuộc vào những tính chất vật lý của nhiều vật liệu khác nhau sử dụng trong cảm biến.</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Cụ thể, độ trễ ở vật liệu đàn hồi, vật liệu có từ tính mạnh, vật liệu điện môi mạnh rất quan trọng.</a:t>
            </a:r>
            <a:endParaRPr/>
          </a:p>
        </p:txBody>
      </p:sp>
      <p:grpSp>
        <p:nvGrpSpPr>
          <p:cNvPr id="2438" name="Google Shape;2438;p127"/>
          <p:cNvGrpSpPr/>
          <p:nvPr/>
        </p:nvGrpSpPr>
        <p:grpSpPr>
          <a:xfrm>
            <a:off x="5614627" y="3478833"/>
            <a:ext cx="3712253" cy="2865515"/>
            <a:chOff x="5264107" y="3429007"/>
            <a:chExt cx="3712253" cy="2865515"/>
          </a:xfrm>
        </p:grpSpPr>
        <p:grpSp>
          <p:nvGrpSpPr>
            <p:cNvPr id="2439" name="Google Shape;2439;p127"/>
            <p:cNvGrpSpPr/>
            <p:nvPr/>
          </p:nvGrpSpPr>
          <p:grpSpPr>
            <a:xfrm>
              <a:off x="5264107" y="3429007"/>
              <a:ext cx="3631454" cy="2865515"/>
              <a:chOff x="4941299" y="2936281"/>
              <a:chExt cx="4259693" cy="3361247"/>
            </a:xfrm>
          </p:grpSpPr>
          <p:pic>
            <p:nvPicPr>
              <p:cNvPr id="2440" name="Google Shape;2440;p127"/>
              <p:cNvPicPr preferRelativeResize="0"/>
              <p:nvPr/>
            </p:nvPicPr>
            <p:blipFill rotWithShape="1">
              <a:blip r:embed="rId3">
                <a:alphaModFix/>
              </a:blip>
              <a:srcRect r="3586"/>
              <a:stretch/>
            </p:blipFill>
            <p:spPr>
              <a:xfrm>
                <a:off x="4941299" y="2936281"/>
                <a:ext cx="4259693" cy="3361247"/>
              </a:xfrm>
              <a:prstGeom prst="rect">
                <a:avLst/>
              </a:prstGeom>
              <a:noFill/>
              <a:ln>
                <a:noFill/>
              </a:ln>
            </p:spPr>
          </p:pic>
          <p:sp>
            <p:nvSpPr>
              <p:cNvPr id="2441" name="Google Shape;2441;p127"/>
              <p:cNvSpPr txBox="1"/>
              <p:nvPr/>
            </p:nvSpPr>
            <p:spPr>
              <a:xfrm>
                <a:off x="5021743" y="3299243"/>
                <a:ext cx="796790" cy="280444"/>
              </a:xfrm>
              <a:prstGeom prst="rect">
                <a:avLst/>
              </a:prstGeom>
              <a:solidFill>
                <a:schemeClr val="lt1"/>
              </a:solidFill>
              <a:ln>
                <a:noFill/>
              </a:ln>
            </p:spPr>
            <p:txBody>
              <a:bodyPr spcFirstLastPara="1" wrap="square" lIns="0" tIns="0" rIns="0" bIns="0"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Tín hiệu đầu ra</a:t>
                </a:r>
                <a:endParaRPr sz="1200">
                  <a:solidFill>
                    <a:schemeClr val="dk1"/>
                  </a:solidFill>
                  <a:latin typeface="Arial"/>
                  <a:ea typeface="Arial"/>
                  <a:cs typeface="Arial"/>
                  <a:sym typeface="Arial"/>
                </a:endParaRPr>
              </a:p>
              <a:p>
                <a:pPr marL="0" marR="0" lvl="0" indent="0" algn="r" rtl="0">
                  <a:spcBef>
                    <a:spcPts val="0"/>
                  </a:spcBef>
                  <a:spcAft>
                    <a:spcPts val="0"/>
                  </a:spcAft>
                  <a:buNone/>
                </a:pPr>
                <a:endParaRPr sz="1200">
                  <a:solidFill>
                    <a:schemeClr val="dk1"/>
                  </a:solidFill>
                  <a:latin typeface="Arial"/>
                  <a:ea typeface="Arial"/>
                  <a:cs typeface="Arial"/>
                  <a:sym typeface="Arial"/>
                </a:endParaRPr>
              </a:p>
            </p:txBody>
          </p:sp>
          <p:sp>
            <p:nvSpPr>
              <p:cNvPr id="2442" name="Google Shape;2442;p127"/>
              <p:cNvSpPr txBox="1"/>
              <p:nvPr/>
            </p:nvSpPr>
            <p:spPr>
              <a:xfrm>
                <a:off x="7985592" y="5795727"/>
                <a:ext cx="906966" cy="262173"/>
              </a:xfrm>
              <a:prstGeom prst="rect">
                <a:avLst/>
              </a:prstGeom>
              <a:solidFill>
                <a:schemeClr val="lt1"/>
              </a:solidFill>
              <a:ln>
                <a:noFill/>
              </a:ln>
            </p:spPr>
            <p:txBody>
              <a:bodyPr spcFirstLastPara="1" wrap="square" lIns="0" tIns="0" rIns="0" bIns="0"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Tín hiệu đầu vào</a:t>
                </a:r>
                <a:endParaRPr sz="1200">
                  <a:solidFill>
                    <a:schemeClr val="dk1"/>
                  </a:solidFill>
                  <a:latin typeface="Arial"/>
                  <a:ea typeface="Arial"/>
                  <a:cs typeface="Arial"/>
                  <a:sym typeface="Arial"/>
                </a:endParaRPr>
              </a:p>
            </p:txBody>
          </p:sp>
          <p:sp>
            <p:nvSpPr>
              <p:cNvPr id="2443" name="Google Shape;2443;p127"/>
              <p:cNvSpPr txBox="1"/>
              <p:nvPr/>
            </p:nvSpPr>
            <p:spPr>
              <a:xfrm>
                <a:off x="5392800" y="3890848"/>
                <a:ext cx="425733" cy="367355"/>
              </a:xfrm>
              <a:prstGeom prst="rect">
                <a:avLst/>
              </a:prstGeom>
              <a:solidFill>
                <a:schemeClr val="lt1"/>
              </a:solidFill>
              <a:ln>
                <a:noFill/>
              </a:ln>
            </p:spPr>
            <p:txBody>
              <a:bodyPr spcFirstLastPara="1" wrap="square" lIns="0" tIns="0" rIns="0" bIns="0" anchor="t" anchorCtr="0">
                <a:noAutofit/>
              </a:bodyPr>
              <a:lstStyle/>
              <a:p>
                <a:pPr marL="0" marR="0" lvl="0" indent="0" algn="r" rtl="0">
                  <a:spcBef>
                    <a:spcPts val="0"/>
                  </a:spcBef>
                  <a:spcAft>
                    <a:spcPts val="0"/>
                  </a:spcAft>
                  <a:buNone/>
                </a:pPr>
                <a:r>
                  <a:rPr lang="en-US" sz="1200">
                    <a:solidFill>
                      <a:schemeClr val="dk1"/>
                    </a:solidFill>
                    <a:latin typeface="Arial"/>
                    <a:ea typeface="Arial"/>
                    <a:cs typeface="Arial"/>
                    <a:sym typeface="Arial"/>
                  </a:rPr>
                  <a:t>FSO</a:t>
                </a:r>
                <a:endParaRPr sz="1200">
                  <a:solidFill>
                    <a:schemeClr val="dk1"/>
                  </a:solidFill>
                  <a:latin typeface="Arial"/>
                  <a:ea typeface="Arial"/>
                  <a:cs typeface="Arial"/>
                  <a:sym typeface="Arial"/>
                </a:endParaRPr>
              </a:p>
            </p:txBody>
          </p:sp>
          <p:sp>
            <p:nvSpPr>
              <p:cNvPr id="2444" name="Google Shape;2444;p127"/>
              <p:cNvSpPr txBox="1"/>
              <p:nvPr/>
            </p:nvSpPr>
            <p:spPr>
              <a:xfrm>
                <a:off x="5943608" y="3242610"/>
                <a:ext cx="285892" cy="2527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45" name="Google Shape;2445;p127"/>
              <p:cNvSpPr txBox="1"/>
              <p:nvPr/>
            </p:nvSpPr>
            <p:spPr>
              <a:xfrm>
                <a:off x="8915100" y="5607164"/>
                <a:ext cx="285892" cy="2527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46" name="Google Shape;2446;p127"/>
              <p:cNvSpPr txBox="1"/>
              <p:nvPr/>
            </p:nvSpPr>
            <p:spPr>
              <a:xfrm>
                <a:off x="6928199" y="5795727"/>
                <a:ext cx="285892" cy="2527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47" name="Google Shape;2447;p127"/>
              <p:cNvSpPr txBox="1"/>
              <p:nvPr/>
            </p:nvSpPr>
            <p:spPr>
              <a:xfrm>
                <a:off x="5605667" y="5092788"/>
                <a:ext cx="285892" cy="2527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48" name="Google Shape;2448;p127"/>
              <p:cNvSpPr txBox="1"/>
              <p:nvPr/>
            </p:nvSpPr>
            <p:spPr>
              <a:xfrm>
                <a:off x="5605667" y="4292809"/>
                <a:ext cx="285892" cy="2527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2449" name="Google Shape;2449;p127"/>
            <p:cNvSpPr/>
            <p:nvPr/>
          </p:nvSpPr>
          <p:spPr>
            <a:xfrm>
              <a:off x="5347919" y="3589027"/>
              <a:ext cx="3628441" cy="2613653"/>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2450" name="Google Shape;2450;p127"/>
          <p:cNvSpPr/>
          <p:nvPr/>
        </p:nvSpPr>
        <p:spPr>
          <a:xfrm>
            <a:off x="450003" y="849639"/>
            <a:ext cx="5824317" cy="276871"/>
          </a:xfrm>
          <a:prstGeom prst="rect">
            <a:avLst/>
          </a:prstGeom>
          <a:noFill/>
          <a:ln>
            <a:noFill/>
          </a:ln>
        </p:spPr>
        <p:txBody>
          <a:bodyPr spcFirstLastPara="1" wrap="square" lIns="0" tIns="0" rIns="0" bIns="0" anchor="t" anchorCtr="0">
            <a:spAutoFit/>
          </a:bodyPr>
          <a:lstStyle/>
          <a:p>
            <a:pPr lvl="0"/>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455"/>
        <p:cNvGrpSpPr/>
        <p:nvPr/>
      </p:nvGrpSpPr>
      <p:grpSpPr>
        <a:xfrm>
          <a:off x="0" y="0"/>
          <a:ext cx="0" cy="0"/>
          <a:chOff x="0" y="0"/>
          <a:chExt cx="0" cy="0"/>
        </a:xfrm>
      </p:grpSpPr>
      <p:sp>
        <p:nvSpPr>
          <p:cNvPr id="2456" name="Google Shape;2456;p128"/>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457" name="Google Shape;2457;p128"/>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Khả năng lựa chọn</a:t>
            </a:r>
            <a:endParaRPr sz="2401" b="1">
              <a:solidFill>
                <a:srgbClr val="0C0C0C"/>
              </a:solidFill>
              <a:latin typeface="Arial"/>
              <a:ea typeface="Arial"/>
              <a:cs typeface="Arial"/>
              <a:sym typeface="Arial"/>
            </a:endParaRPr>
          </a:p>
        </p:txBody>
      </p:sp>
      <p:sp>
        <p:nvSpPr>
          <p:cNvPr id="2458" name="Google Shape;2458;p128"/>
          <p:cNvSpPr/>
          <p:nvPr/>
        </p:nvSpPr>
        <p:spPr>
          <a:xfrm>
            <a:off x="580400" y="1944544"/>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Đặc tính chỉ chọn các biến mong muốn giữa nhiều biến là giá trị đầu vào của cảm biến</a:t>
            </a:r>
            <a:endParaRPr sz="1401">
              <a:solidFill>
                <a:schemeClr val="dk1"/>
              </a:solidFill>
              <a:latin typeface="Arial"/>
              <a:ea typeface="Arial"/>
              <a:cs typeface="Arial"/>
              <a:sym typeface="Arial"/>
            </a:endParaRPr>
          </a:p>
        </p:txBody>
      </p:sp>
      <p:grpSp>
        <p:nvGrpSpPr>
          <p:cNvPr id="2459" name="Google Shape;2459;p128"/>
          <p:cNvGrpSpPr/>
          <p:nvPr/>
        </p:nvGrpSpPr>
        <p:grpSpPr>
          <a:xfrm>
            <a:off x="2357339" y="2440321"/>
            <a:ext cx="4613484" cy="1977362"/>
            <a:chOff x="2781408" y="2597402"/>
            <a:chExt cx="4613483" cy="1977364"/>
          </a:xfrm>
        </p:grpSpPr>
        <p:sp>
          <p:nvSpPr>
            <p:cNvPr id="2460" name="Google Shape;2460;p128"/>
            <p:cNvSpPr/>
            <p:nvPr/>
          </p:nvSpPr>
          <p:spPr>
            <a:xfrm>
              <a:off x="2781408" y="2597402"/>
              <a:ext cx="1978567" cy="1977364"/>
            </a:xfrm>
            <a:prstGeom prst="ellipse">
              <a:avLst/>
            </a:prstGeom>
            <a:solidFill>
              <a:srgbClr val="D5DBE5"/>
            </a:solidFill>
            <a:ln w="9525" cap="flat" cmpd="sng">
              <a:solidFill>
                <a:schemeClr val="dk1"/>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1" name="Google Shape;2461;p128"/>
            <p:cNvSpPr/>
            <p:nvPr/>
          </p:nvSpPr>
          <p:spPr>
            <a:xfrm>
              <a:off x="2932760" y="3390574"/>
              <a:ext cx="207896" cy="199961"/>
            </a:xfrm>
            <a:prstGeom prst="triangle">
              <a:avLst>
                <a:gd name="adj" fmla="val 50000"/>
              </a:avLst>
            </a:prstGeom>
            <a:solidFill>
              <a:srgbClr val="33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2" name="Google Shape;2462;p128"/>
            <p:cNvSpPr/>
            <p:nvPr/>
          </p:nvSpPr>
          <p:spPr>
            <a:xfrm>
              <a:off x="3618340" y="3454054"/>
              <a:ext cx="196787" cy="212657"/>
            </a:xfrm>
            <a:prstGeom prst="plus">
              <a:avLst>
                <a:gd name="adj" fmla="val 25000"/>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3" name="Google Shape;2463;p128"/>
            <p:cNvSpPr/>
            <p:nvPr/>
          </p:nvSpPr>
          <p:spPr>
            <a:xfrm>
              <a:off x="3275550" y="3822236"/>
              <a:ext cx="185678" cy="199961"/>
            </a:xfrm>
            <a:prstGeom prst="octagon">
              <a:avLst>
                <a:gd name="adj" fmla="val 29287"/>
              </a:avLst>
            </a:prstGeom>
            <a:solidFill>
              <a:srgbClr val="CC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4" name="Google Shape;2464;p128"/>
            <p:cNvSpPr/>
            <p:nvPr/>
          </p:nvSpPr>
          <p:spPr>
            <a:xfrm>
              <a:off x="3770692" y="3847627"/>
              <a:ext cx="252332" cy="187265"/>
            </a:xfrm>
            <a:prstGeom prst="ellipse">
              <a:avLst/>
            </a:prstGeom>
            <a:solidFill>
              <a:srgbClr val="FF7C8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5" name="Google Shape;2465;p128"/>
            <p:cNvSpPr/>
            <p:nvPr/>
          </p:nvSpPr>
          <p:spPr>
            <a:xfrm>
              <a:off x="4037306" y="3314398"/>
              <a:ext cx="190439" cy="199961"/>
            </a:xfrm>
            <a:prstGeom prst="pentagon">
              <a:avLst>
                <a:gd name="hf" fmla="val 105146"/>
                <a:gd name="vf" fmla="val 110557"/>
              </a:avLst>
            </a:prstGeom>
            <a:solidFill>
              <a:srgbClr val="00B05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6" name="Google Shape;2466;p128"/>
            <p:cNvSpPr/>
            <p:nvPr/>
          </p:nvSpPr>
          <p:spPr>
            <a:xfrm>
              <a:off x="3516773" y="3104916"/>
              <a:ext cx="157113" cy="168221"/>
            </a:xfrm>
            <a:prstGeom prst="rect">
              <a:avLst/>
            </a:prstGeom>
            <a:solidFill>
              <a:srgbClr val="FF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7" name="Google Shape;2467;p128"/>
            <p:cNvSpPr/>
            <p:nvPr/>
          </p:nvSpPr>
          <p:spPr>
            <a:xfrm>
              <a:off x="4329312" y="3898411"/>
              <a:ext cx="196787" cy="199961"/>
            </a:xfrm>
            <a:custGeom>
              <a:avLst/>
              <a:gdLst/>
              <a:ahLst/>
              <a:cxnLst/>
              <a:rect l="l" t="t"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68" name="Google Shape;2468;p128"/>
            <p:cNvSpPr/>
            <p:nvPr/>
          </p:nvSpPr>
          <p:spPr>
            <a:xfrm>
              <a:off x="4885877" y="3487911"/>
              <a:ext cx="509759" cy="149177"/>
            </a:xfrm>
            <a:prstGeom prst="stripedRight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Arial"/>
                <a:ea typeface="Arial"/>
                <a:cs typeface="Arial"/>
                <a:sym typeface="Arial"/>
              </a:endParaRPr>
            </a:p>
          </p:txBody>
        </p:sp>
        <p:sp>
          <p:nvSpPr>
            <p:cNvPr id="2469" name="Google Shape;2469;p128"/>
            <p:cNvSpPr/>
            <p:nvPr/>
          </p:nvSpPr>
          <p:spPr>
            <a:xfrm>
              <a:off x="7204452" y="3437581"/>
              <a:ext cx="190439" cy="199961"/>
            </a:xfrm>
            <a:prstGeom prst="pentagon">
              <a:avLst>
                <a:gd name="hf" fmla="val 105146"/>
                <a:gd name="vf" fmla="val 110557"/>
              </a:avLst>
            </a:prstGeom>
            <a:solidFill>
              <a:srgbClr val="00B05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799">
                <a:solidFill>
                  <a:srgbClr val="000000"/>
                </a:solidFill>
                <a:latin typeface="Arial"/>
                <a:ea typeface="Arial"/>
                <a:cs typeface="Arial"/>
                <a:sym typeface="Arial"/>
              </a:endParaRPr>
            </a:p>
          </p:txBody>
        </p:sp>
        <p:sp>
          <p:nvSpPr>
            <p:cNvPr id="2470" name="Google Shape;2470;p128"/>
            <p:cNvSpPr/>
            <p:nvPr/>
          </p:nvSpPr>
          <p:spPr>
            <a:xfrm>
              <a:off x="6568791" y="3476644"/>
              <a:ext cx="509759" cy="149177"/>
            </a:xfrm>
            <a:prstGeom prst="stripedRight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Arial"/>
                <a:ea typeface="Arial"/>
                <a:cs typeface="Arial"/>
                <a:sym typeface="Arial"/>
              </a:endParaRPr>
            </a:p>
          </p:txBody>
        </p:sp>
        <p:sp>
          <p:nvSpPr>
            <p:cNvPr id="2471" name="Google Shape;2471;p128"/>
            <p:cNvSpPr/>
            <p:nvPr/>
          </p:nvSpPr>
          <p:spPr>
            <a:xfrm>
              <a:off x="5478100" y="3358606"/>
              <a:ext cx="1008227" cy="403551"/>
            </a:xfrm>
            <a:prstGeom prst="roundRect">
              <a:avLst>
                <a:gd name="adj" fmla="val 50000"/>
              </a:avLst>
            </a:prstGeom>
            <a:solidFill>
              <a:srgbClr val="0033CC"/>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1">
                  <a:solidFill>
                    <a:schemeClr val="lt1"/>
                  </a:solidFill>
                  <a:latin typeface="Arial"/>
                  <a:ea typeface="Arial"/>
                  <a:cs typeface="Arial"/>
                  <a:sym typeface="Arial"/>
                </a:rPr>
                <a:t>Cảm biến</a:t>
              </a:r>
              <a:endParaRPr sz="1401">
                <a:solidFill>
                  <a:schemeClr val="lt1"/>
                </a:solidFill>
                <a:latin typeface="Arial"/>
                <a:ea typeface="Arial"/>
                <a:cs typeface="Arial"/>
                <a:sym typeface="Arial"/>
              </a:endParaRPr>
            </a:p>
          </p:txBody>
        </p:sp>
      </p:grpSp>
      <p:sp>
        <p:nvSpPr>
          <p:cNvPr id="2472" name="Google Shape;2472;p128"/>
          <p:cNvSpPr/>
          <p:nvPr/>
        </p:nvSpPr>
        <p:spPr>
          <a:xfrm>
            <a:off x="580400" y="4622538"/>
            <a:ext cx="8619172" cy="990528"/>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Cảm biến chỉ phát hiện ra những hiện tượng vật lý mong muốn và không bị ảnh hưởng bởi hiện tượng khác.</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Ví dụ, do hầu hết cảm biến thường bị ảnh hưởng bởi nhiệt độ và độ ẩm nên có thể cải thiện khả năng lựa chọn của cảm biến bằng cách thay cấu trúc cảm biến hoặc bù vào bằng mạch điện tử. Bên cạnh đó, khả  năng lựa chọn phụ thuộc vào một số hóa chất như trong cảm biến độ ẩm và cảm biến khí.</a:t>
            </a:r>
            <a:endParaRPr/>
          </a:p>
        </p:txBody>
      </p:sp>
      <p:sp>
        <p:nvSpPr>
          <p:cNvPr id="2473" name="Google Shape;2473;p128"/>
          <p:cNvSpPr/>
          <p:nvPr/>
        </p:nvSpPr>
        <p:spPr>
          <a:xfrm>
            <a:off x="380505" y="773831"/>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Đặc</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điểm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cơ</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bản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của</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478"/>
        <p:cNvGrpSpPr/>
        <p:nvPr/>
      </p:nvGrpSpPr>
      <p:grpSpPr>
        <a:xfrm>
          <a:off x="0" y="0"/>
          <a:ext cx="0" cy="0"/>
          <a:chOff x="0" y="0"/>
          <a:chExt cx="0" cy="0"/>
        </a:xfrm>
      </p:grpSpPr>
      <p:sp>
        <p:nvSpPr>
          <p:cNvPr id="2479" name="Google Shape;2479;p129"/>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480" name="Google Shape;2480;p129"/>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Đặc tính động</a:t>
            </a:r>
            <a:endParaRPr sz="2401" b="1">
              <a:solidFill>
                <a:srgbClr val="0C0C0C"/>
              </a:solidFill>
              <a:latin typeface="Arial"/>
              <a:ea typeface="Arial"/>
              <a:cs typeface="Arial"/>
              <a:sym typeface="Arial"/>
            </a:endParaRPr>
          </a:p>
        </p:txBody>
      </p:sp>
      <p:sp>
        <p:nvSpPr>
          <p:cNvPr id="2481" name="Google Shape;2481;p129"/>
          <p:cNvSpPr/>
          <p:nvPr/>
        </p:nvSpPr>
        <p:spPr>
          <a:xfrm>
            <a:off x="580400" y="189120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rgbClr val="0033FF"/>
              </a:buClr>
              <a:buSzPts val="1681"/>
              <a:buFont typeface="Arial"/>
              <a:buChar char="•"/>
            </a:pPr>
            <a:r>
              <a:rPr lang="en-US" sz="1401" b="1">
                <a:solidFill>
                  <a:srgbClr val="0033FF"/>
                </a:solidFill>
                <a:latin typeface="Arial"/>
                <a:ea typeface="Arial"/>
                <a:cs typeface="Arial"/>
                <a:sym typeface="Arial"/>
              </a:rPr>
              <a:t> Đặc tính phản hồi theo thời gian của cảm biến</a:t>
            </a:r>
            <a:endParaRPr sz="1401" b="1">
              <a:solidFill>
                <a:srgbClr val="0033FF"/>
              </a:solidFill>
              <a:latin typeface="Arial"/>
              <a:ea typeface="Arial"/>
              <a:cs typeface="Arial"/>
              <a:sym typeface="Arial"/>
            </a:endParaRPr>
          </a:p>
        </p:txBody>
      </p:sp>
      <p:sp>
        <p:nvSpPr>
          <p:cNvPr id="2482" name="Google Shape;2482;p129"/>
          <p:cNvSpPr/>
          <p:nvPr/>
        </p:nvSpPr>
        <p:spPr>
          <a:xfrm>
            <a:off x="3612332" y="2174877"/>
            <a:ext cx="6035824" cy="2560266"/>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Đặc tính phản hồi theo thời gian trong trường hợp đột ngột thay đổi  kích thước</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Thời gian phản hồi</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Đo bằng cách áp dụng một hàm bậc thang cho giá trị đầu vào</a:t>
            </a:r>
            <a:endParaRPr/>
          </a:p>
          <a:p>
            <a:pPr marL="0" marR="0" lvl="0" indent="0" algn="l" rtl="0">
              <a:spcBef>
                <a:spcPts val="802"/>
              </a:spcBef>
              <a:spcAft>
                <a:spcPts val="0"/>
              </a:spcAft>
              <a:buNone/>
            </a:pPr>
            <a:r>
              <a:rPr lang="en-US" sz="1299">
                <a:solidFill>
                  <a:srgbClr val="262626"/>
                </a:solidFill>
                <a:latin typeface="Arial"/>
                <a:ea typeface="Arial"/>
                <a:cs typeface="Arial"/>
                <a:sym typeface="Arial"/>
              </a:rPr>
              <a:t>- Thời gian tăng</a:t>
            </a:r>
            <a:endParaRPr sz="1299">
              <a:solidFill>
                <a:srgbClr val="262626"/>
              </a:solidFill>
              <a:latin typeface="Arial"/>
              <a:ea typeface="Arial"/>
              <a:cs typeface="Arial"/>
              <a:sym typeface="Arial"/>
            </a:endParaRPr>
          </a:p>
          <a:p>
            <a:pPr marL="0" marR="0" lvl="0" indent="0" algn="l" rtl="0">
              <a:spcBef>
                <a:spcPts val="802"/>
              </a:spcBef>
              <a:spcAft>
                <a:spcPts val="0"/>
              </a:spcAft>
              <a:buNone/>
            </a:pPr>
            <a:r>
              <a:rPr lang="en-US" sz="1299">
                <a:solidFill>
                  <a:srgbClr val="262626"/>
                </a:solidFill>
                <a:latin typeface="Arial"/>
                <a:ea typeface="Arial"/>
                <a:cs typeface="Arial"/>
                <a:sym typeface="Arial"/>
              </a:rPr>
              <a:t>- Thời gian giảm</a:t>
            </a:r>
            <a:endParaRPr sz="1299">
              <a:solidFill>
                <a:srgbClr val="262626"/>
              </a:solidFill>
              <a:latin typeface="Arial"/>
              <a:ea typeface="Arial"/>
              <a:cs typeface="Arial"/>
              <a:sym typeface="Arial"/>
            </a:endParaRPr>
          </a:p>
          <a:p>
            <a:pPr marL="0" marR="0" lvl="0" indent="0" algn="l" rtl="0">
              <a:spcBef>
                <a:spcPts val="802"/>
              </a:spcBef>
              <a:spcAft>
                <a:spcPts val="0"/>
              </a:spcAft>
              <a:buNone/>
            </a:pPr>
            <a:r>
              <a:rPr lang="en-US" sz="1299">
                <a:solidFill>
                  <a:srgbClr val="262626"/>
                </a:solidFill>
                <a:latin typeface="Arial"/>
                <a:ea typeface="Arial"/>
                <a:cs typeface="Arial"/>
                <a:sym typeface="Arial"/>
              </a:rPr>
              <a:t>- Hằng số thời gian</a:t>
            </a:r>
            <a:endParaRPr sz="1299">
              <a:solidFill>
                <a:srgbClr val="262626"/>
              </a:solidFill>
              <a:latin typeface="Arial"/>
              <a:ea typeface="Arial"/>
              <a:cs typeface="Arial"/>
              <a:sym typeface="Arial"/>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Các cảm biến từ những nhà sản xuất khác nhau có thời gian phản hồi khác nhau và trong nhiều trường hợp, thời gian đạt 90% được định nghĩa là thời gian phản hồi (90% thời gian phản hồi).</a:t>
            </a:r>
            <a:endParaRPr/>
          </a:p>
        </p:txBody>
      </p:sp>
      <p:grpSp>
        <p:nvGrpSpPr>
          <p:cNvPr id="2483" name="Google Shape;2483;p129"/>
          <p:cNvGrpSpPr/>
          <p:nvPr/>
        </p:nvGrpSpPr>
        <p:grpSpPr>
          <a:xfrm>
            <a:off x="686512" y="2241723"/>
            <a:ext cx="2757728" cy="4183292"/>
            <a:chOff x="686512" y="2241723"/>
            <a:chExt cx="2932270" cy="4448061"/>
          </a:xfrm>
        </p:grpSpPr>
        <p:sp>
          <p:nvSpPr>
            <p:cNvPr id="2484" name="Google Shape;2484;p129"/>
            <p:cNvSpPr/>
            <p:nvPr/>
          </p:nvSpPr>
          <p:spPr>
            <a:xfrm>
              <a:off x="686512" y="2241723"/>
              <a:ext cx="2932270" cy="4313074"/>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nvGrpSpPr>
            <p:cNvPr id="2485" name="Google Shape;2485;p129"/>
            <p:cNvGrpSpPr/>
            <p:nvPr/>
          </p:nvGrpSpPr>
          <p:grpSpPr>
            <a:xfrm>
              <a:off x="815248" y="2299616"/>
              <a:ext cx="2680734" cy="4390168"/>
              <a:chOff x="815248" y="2299616"/>
              <a:chExt cx="2680734" cy="4390168"/>
            </a:xfrm>
          </p:grpSpPr>
          <p:grpSp>
            <p:nvGrpSpPr>
              <p:cNvPr id="2486" name="Google Shape;2486;p129"/>
              <p:cNvGrpSpPr/>
              <p:nvPr/>
            </p:nvGrpSpPr>
            <p:grpSpPr>
              <a:xfrm>
                <a:off x="839167" y="4403626"/>
                <a:ext cx="2656815" cy="2286158"/>
                <a:chOff x="839167" y="4403626"/>
                <a:chExt cx="2656815" cy="2286158"/>
              </a:xfrm>
            </p:grpSpPr>
            <p:grpSp>
              <p:nvGrpSpPr>
                <p:cNvPr id="2487" name="Google Shape;2487;p129"/>
                <p:cNvGrpSpPr/>
                <p:nvPr/>
              </p:nvGrpSpPr>
              <p:grpSpPr>
                <a:xfrm>
                  <a:off x="839167" y="4403626"/>
                  <a:ext cx="2656815" cy="2286158"/>
                  <a:chOff x="6108783" y="4051198"/>
                  <a:chExt cx="2713809" cy="2335202"/>
                </a:xfrm>
              </p:grpSpPr>
              <p:pic>
                <p:nvPicPr>
                  <p:cNvPr id="2488" name="Google Shape;2488;p129"/>
                  <p:cNvPicPr preferRelativeResize="0"/>
                  <p:nvPr/>
                </p:nvPicPr>
                <p:blipFill rotWithShape="1">
                  <a:blip r:embed="rId3">
                    <a:alphaModFix/>
                  </a:blip>
                  <a:srcRect r="4654"/>
                  <a:stretch/>
                </p:blipFill>
                <p:spPr>
                  <a:xfrm>
                    <a:off x="6154738" y="4051198"/>
                    <a:ext cx="2667854" cy="2059633"/>
                  </a:xfrm>
                  <a:prstGeom prst="rect">
                    <a:avLst/>
                  </a:prstGeom>
                  <a:noFill/>
                  <a:ln>
                    <a:noFill/>
                  </a:ln>
                </p:spPr>
              </p:pic>
              <p:sp>
                <p:nvSpPr>
                  <p:cNvPr id="2489" name="Google Shape;2489;p129"/>
                  <p:cNvSpPr/>
                  <p:nvPr/>
                </p:nvSpPr>
                <p:spPr>
                  <a:xfrm>
                    <a:off x="6820778" y="6018974"/>
                    <a:ext cx="780656" cy="367426"/>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99">
                        <a:solidFill>
                          <a:srgbClr val="FF0000"/>
                        </a:solidFill>
                        <a:latin typeface="Arial"/>
                        <a:ea typeface="Arial"/>
                        <a:cs typeface="Arial"/>
                        <a:sym typeface="Arial"/>
                      </a:rPr>
                      <a:t>thời gian giảm</a:t>
                    </a:r>
                    <a:endParaRPr sz="1099">
                      <a:solidFill>
                        <a:srgbClr val="FF0000"/>
                      </a:solidFill>
                      <a:latin typeface="Arial"/>
                      <a:ea typeface="Arial"/>
                      <a:cs typeface="Arial"/>
                      <a:sym typeface="Arial"/>
                    </a:endParaRPr>
                  </a:p>
                </p:txBody>
              </p:sp>
              <p:sp>
                <p:nvSpPr>
                  <p:cNvPr id="2490" name="Google Shape;2490;p129"/>
                  <p:cNvSpPr txBox="1"/>
                  <p:nvPr/>
                </p:nvSpPr>
                <p:spPr>
                  <a:xfrm>
                    <a:off x="7504771" y="5886829"/>
                    <a:ext cx="512807" cy="36742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Thời gian</a:t>
                    </a:r>
                    <a:endParaRPr sz="1099">
                      <a:solidFill>
                        <a:schemeClr val="dk1"/>
                      </a:solidFill>
                      <a:latin typeface="Arial"/>
                      <a:ea typeface="Arial"/>
                      <a:cs typeface="Arial"/>
                      <a:sym typeface="Arial"/>
                    </a:endParaRPr>
                  </a:p>
                </p:txBody>
              </p:sp>
              <p:sp>
                <p:nvSpPr>
                  <p:cNvPr id="2491" name="Google Shape;2491;p129"/>
                  <p:cNvSpPr txBox="1"/>
                  <p:nvPr/>
                </p:nvSpPr>
                <p:spPr>
                  <a:xfrm>
                    <a:off x="6108783" y="4579572"/>
                    <a:ext cx="512807" cy="17589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100%</a:t>
                    </a:r>
                    <a:endParaRPr sz="1099">
                      <a:solidFill>
                        <a:schemeClr val="dk1"/>
                      </a:solidFill>
                      <a:latin typeface="Arial"/>
                      <a:ea typeface="Arial"/>
                      <a:cs typeface="Arial"/>
                      <a:sym typeface="Arial"/>
                    </a:endParaRPr>
                  </a:p>
                </p:txBody>
              </p:sp>
              <p:sp>
                <p:nvSpPr>
                  <p:cNvPr id="2492" name="Google Shape;2492;p129"/>
                  <p:cNvSpPr txBox="1"/>
                  <p:nvPr/>
                </p:nvSpPr>
                <p:spPr>
                  <a:xfrm>
                    <a:off x="6108783" y="4958079"/>
                    <a:ext cx="512807" cy="283381"/>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Voltage</a:t>
                    </a:r>
                    <a:endParaRPr sz="1099">
                      <a:solidFill>
                        <a:schemeClr val="dk1"/>
                      </a:solidFill>
                      <a:latin typeface="Arial"/>
                      <a:ea typeface="Arial"/>
                      <a:cs typeface="Arial"/>
                      <a:sym typeface="Arial"/>
                    </a:endParaRPr>
                  </a:p>
                </p:txBody>
              </p:sp>
            </p:grpSp>
            <p:sp>
              <p:nvSpPr>
                <p:cNvPr id="2493" name="Google Shape;2493;p129"/>
                <p:cNvSpPr txBox="1"/>
                <p:nvPr/>
              </p:nvSpPr>
              <p:spPr>
                <a:xfrm>
                  <a:off x="1172365" y="4537032"/>
                  <a:ext cx="188231" cy="2042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94" name="Google Shape;2494;p129"/>
                <p:cNvSpPr txBox="1"/>
                <p:nvPr/>
              </p:nvSpPr>
              <p:spPr>
                <a:xfrm>
                  <a:off x="3280553" y="5996509"/>
                  <a:ext cx="188231" cy="2042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95" name="Google Shape;2495;p129"/>
                <p:cNvSpPr txBox="1"/>
                <p:nvPr/>
              </p:nvSpPr>
              <p:spPr>
                <a:xfrm>
                  <a:off x="2449350" y="4769180"/>
                  <a:ext cx="188231" cy="204200"/>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496" name="Google Shape;2496;p129"/>
                <p:cNvSpPr txBox="1"/>
                <p:nvPr/>
              </p:nvSpPr>
              <p:spPr>
                <a:xfrm>
                  <a:off x="1631296" y="6163252"/>
                  <a:ext cx="372794" cy="204200"/>
                </a:xfrm>
                <a:prstGeom prst="rect">
                  <a:avLst/>
                </a:prstGeom>
                <a:blipFill rotWithShape="1">
                  <a:blip r:embed="rId7">
                    <a:alphaModFix/>
                  </a:blip>
                  <a:stretch>
                    <a:fillRect r="-344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grpSp>
            <p:nvGrpSpPr>
              <p:cNvPr id="2497" name="Google Shape;2497;p129"/>
              <p:cNvGrpSpPr/>
              <p:nvPr/>
            </p:nvGrpSpPr>
            <p:grpSpPr>
              <a:xfrm>
                <a:off x="815248" y="2299616"/>
                <a:ext cx="2653536" cy="2360357"/>
                <a:chOff x="815248" y="2299616"/>
                <a:chExt cx="2653536" cy="2360357"/>
              </a:xfrm>
            </p:grpSpPr>
            <p:grpSp>
              <p:nvGrpSpPr>
                <p:cNvPr id="2498" name="Google Shape;2498;p129"/>
                <p:cNvGrpSpPr/>
                <p:nvPr/>
              </p:nvGrpSpPr>
              <p:grpSpPr>
                <a:xfrm>
                  <a:off x="815248" y="2299616"/>
                  <a:ext cx="2595374" cy="2360357"/>
                  <a:chOff x="6085288" y="1932670"/>
                  <a:chExt cx="2651049" cy="2410992"/>
                </a:xfrm>
              </p:grpSpPr>
              <p:pic>
                <p:nvPicPr>
                  <p:cNvPr id="2499" name="Google Shape;2499;p129"/>
                  <p:cNvPicPr preferRelativeResize="0"/>
                  <p:nvPr/>
                </p:nvPicPr>
                <p:blipFill rotWithShape="1">
                  <a:blip r:embed="rId8">
                    <a:alphaModFix/>
                  </a:blip>
                  <a:srcRect r="6880"/>
                  <a:stretch/>
                </p:blipFill>
                <p:spPr>
                  <a:xfrm>
                    <a:off x="6085288" y="1932670"/>
                    <a:ext cx="2651049" cy="2162232"/>
                  </a:xfrm>
                  <a:prstGeom prst="rect">
                    <a:avLst/>
                  </a:prstGeom>
                  <a:noFill/>
                  <a:ln>
                    <a:noFill/>
                  </a:ln>
                </p:spPr>
              </p:pic>
              <p:sp>
                <p:nvSpPr>
                  <p:cNvPr id="2500" name="Google Shape;2500;p129"/>
                  <p:cNvSpPr/>
                  <p:nvPr/>
                </p:nvSpPr>
                <p:spPr>
                  <a:xfrm>
                    <a:off x="6645747" y="3976236"/>
                    <a:ext cx="653883" cy="367426"/>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99">
                        <a:solidFill>
                          <a:srgbClr val="FF0000"/>
                        </a:solidFill>
                        <a:latin typeface="Arial"/>
                        <a:ea typeface="Arial"/>
                        <a:cs typeface="Arial"/>
                        <a:sym typeface="Arial"/>
                      </a:rPr>
                      <a:t>thời gian tăng</a:t>
                    </a:r>
                    <a:endParaRPr sz="1099">
                      <a:solidFill>
                        <a:srgbClr val="FF0000"/>
                      </a:solidFill>
                      <a:latin typeface="Arial"/>
                      <a:ea typeface="Arial"/>
                      <a:cs typeface="Arial"/>
                      <a:sym typeface="Arial"/>
                    </a:endParaRPr>
                  </a:p>
                </p:txBody>
              </p:sp>
              <p:sp>
                <p:nvSpPr>
                  <p:cNvPr id="2501" name="Google Shape;2501;p129"/>
                  <p:cNvSpPr/>
                  <p:nvPr/>
                </p:nvSpPr>
                <p:spPr>
                  <a:xfrm>
                    <a:off x="6420527" y="2420148"/>
                    <a:ext cx="1196549" cy="1268342"/>
                  </a:xfrm>
                  <a:custGeom>
                    <a:avLst/>
                    <a:gdLst/>
                    <a:ahLst/>
                    <a:cxnLst/>
                    <a:rect l="l" t="t" r="r" b="b"/>
                    <a:pathLst>
                      <a:path w="1270000" h="1346200" extrusionOk="0">
                        <a:moveTo>
                          <a:pt x="0" y="8467"/>
                        </a:moveTo>
                        <a:lnTo>
                          <a:pt x="1270000" y="0"/>
                        </a:lnTo>
                        <a:lnTo>
                          <a:pt x="1270000" y="1346200"/>
                        </a:lnTo>
                      </a:path>
                    </a:pathLst>
                  </a:custGeom>
                  <a:noFill/>
                  <a:ln w="12700" cap="flat" cmpd="sng">
                    <a:solidFill>
                      <a:srgbClr val="FF3300"/>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FFFFFF"/>
                      </a:solidFill>
                      <a:latin typeface="Arial"/>
                      <a:ea typeface="Arial"/>
                      <a:cs typeface="Arial"/>
                      <a:sym typeface="Arial"/>
                    </a:endParaRPr>
                  </a:p>
                </p:txBody>
              </p:sp>
              <p:sp>
                <p:nvSpPr>
                  <p:cNvPr id="2502" name="Google Shape;2502;p129"/>
                  <p:cNvSpPr txBox="1"/>
                  <p:nvPr/>
                </p:nvSpPr>
                <p:spPr>
                  <a:xfrm>
                    <a:off x="7571735" y="3430009"/>
                    <a:ext cx="493735" cy="3200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03" name="Google Shape;2503;p129"/>
                  <p:cNvSpPr txBox="1"/>
                  <p:nvPr/>
                </p:nvSpPr>
                <p:spPr>
                  <a:xfrm>
                    <a:off x="6834158" y="2293039"/>
                    <a:ext cx="493735" cy="3200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04" name="Google Shape;2504;p129"/>
                  <p:cNvSpPr txBox="1"/>
                  <p:nvPr/>
                </p:nvSpPr>
                <p:spPr>
                  <a:xfrm>
                    <a:off x="7419215" y="3885041"/>
                    <a:ext cx="512809" cy="36742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99">
                        <a:solidFill>
                          <a:schemeClr val="dk1"/>
                        </a:solidFill>
                        <a:latin typeface="Arial"/>
                        <a:ea typeface="Arial"/>
                        <a:cs typeface="Arial"/>
                        <a:sym typeface="Arial"/>
                      </a:rPr>
                      <a:t>Thời gian</a:t>
                    </a:r>
                    <a:endParaRPr sz="1099">
                      <a:solidFill>
                        <a:schemeClr val="dk1"/>
                      </a:solidFill>
                      <a:latin typeface="Arial"/>
                      <a:ea typeface="Arial"/>
                      <a:cs typeface="Arial"/>
                      <a:sym typeface="Arial"/>
                    </a:endParaRPr>
                  </a:p>
                </p:txBody>
              </p:sp>
              <p:sp>
                <p:nvSpPr>
                  <p:cNvPr id="2505" name="Google Shape;2505;p129"/>
                  <p:cNvSpPr txBox="1"/>
                  <p:nvPr/>
                </p:nvSpPr>
                <p:spPr>
                  <a:xfrm>
                    <a:off x="6100528" y="2969677"/>
                    <a:ext cx="512809" cy="17589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99">
                        <a:solidFill>
                          <a:schemeClr val="dk1"/>
                        </a:solidFill>
                        <a:latin typeface="Arial"/>
                        <a:ea typeface="Arial"/>
                        <a:cs typeface="Arial"/>
                        <a:sym typeface="Arial"/>
                      </a:rPr>
                      <a:t>50%</a:t>
                    </a:r>
                    <a:endParaRPr sz="1099">
                      <a:solidFill>
                        <a:schemeClr val="dk1"/>
                      </a:solidFill>
                      <a:latin typeface="Arial"/>
                      <a:ea typeface="Arial"/>
                      <a:cs typeface="Arial"/>
                      <a:sym typeface="Arial"/>
                    </a:endParaRPr>
                  </a:p>
                </p:txBody>
              </p:sp>
              <p:sp>
                <p:nvSpPr>
                  <p:cNvPr id="2506" name="Google Shape;2506;p129"/>
                  <p:cNvSpPr txBox="1"/>
                  <p:nvPr/>
                </p:nvSpPr>
                <p:spPr>
                  <a:xfrm>
                    <a:off x="6100528" y="2723973"/>
                    <a:ext cx="512809" cy="17589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99">
                        <a:solidFill>
                          <a:schemeClr val="dk1"/>
                        </a:solidFill>
                        <a:latin typeface="Arial"/>
                        <a:ea typeface="Arial"/>
                        <a:cs typeface="Arial"/>
                        <a:sym typeface="Arial"/>
                      </a:rPr>
                      <a:t>63%</a:t>
                    </a:r>
                    <a:endParaRPr sz="1099">
                      <a:solidFill>
                        <a:schemeClr val="dk1"/>
                      </a:solidFill>
                      <a:latin typeface="Arial"/>
                      <a:ea typeface="Arial"/>
                      <a:cs typeface="Arial"/>
                      <a:sym typeface="Arial"/>
                    </a:endParaRPr>
                  </a:p>
                </p:txBody>
              </p:sp>
              <p:sp>
                <p:nvSpPr>
                  <p:cNvPr id="2507" name="Google Shape;2507;p129"/>
                  <p:cNvSpPr txBox="1"/>
                  <p:nvPr/>
                </p:nvSpPr>
                <p:spPr>
                  <a:xfrm>
                    <a:off x="6100528" y="2388498"/>
                    <a:ext cx="512809" cy="175891"/>
                  </a:xfrm>
                  <a:prstGeom prst="rect">
                    <a:avLst/>
                  </a:prstGeom>
                  <a:solidFill>
                    <a:schemeClr val="lt1"/>
                  </a:solid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99">
                        <a:solidFill>
                          <a:schemeClr val="dk1"/>
                        </a:solidFill>
                        <a:latin typeface="Arial"/>
                        <a:ea typeface="Arial"/>
                        <a:cs typeface="Arial"/>
                        <a:sym typeface="Arial"/>
                      </a:rPr>
                      <a:t>100%</a:t>
                    </a:r>
                    <a:endParaRPr sz="1099">
                      <a:solidFill>
                        <a:schemeClr val="dk1"/>
                      </a:solidFill>
                      <a:latin typeface="Arial"/>
                      <a:ea typeface="Arial"/>
                      <a:cs typeface="Arial"/>
                      <a:sym typeface="Arial"/>
                    </a:endParaRPr>
                  </a:p>
                </p:txBody>
              </p:sp>
            </p:grpSp>
            <p:sp>
              <p:nvSpPr>
                <p:cNvPr id="2508" name="Google Shape;2508;p129"/>
                <p:cNvSpPr txBox="1"/>
                <p:nvPr/>
              </p:nvSpPr>
              <p:spPr>
                <a:xfrm>
                  <a:off x="1208146" y="2383587"/>
                  <a:ext cx="248120" cy="219327"/>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09" name="Google Shape;2509;p129"/>
                <p:cNvSpPr txBox="1"/>
                <p:nvPr/>
              </p:nvSpPr>
              <p:spPr>
                <a:xfrm>
                  <a:off x="3280553" y="3976413"/>
                  <a:ext cx="188231" cy="2042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10" name="Google Shape;2510;p129"/>
                <p:cNvSpPr txBox="1"/>
                <p:nvPr/>
              </p:nvSpPr>
              <p:spPr>
                <a:xfrm>
                  <a:off x="1691851" y="3385074"/>
                  <a:ext cx="188231" cy="204200"/>
                </a:xfrm>
                <a:prstGeom prst="rect">
                  <a:avLst/>
                </a:prstGeom>
                <a:blipFill rotWithShape="1">
                  <a:blip r:embed="rId10">
                    <a:alphaModFix/>
                  </a:blip>
                  <a:stretch>
                    <a:fillRect l="-3447" r="-10343" b="-156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11" name="Google Shape;2511;p129"/>
                <p:cNvSpPr txBox="1"/>
                <p:nvPr/>
              </p:nvSpPr>
              <p:spPr>
                <a:xfrm>
                  <a:off x="1778997" y="2924428"/>
                  <a:ext cx="188231" cy="204200"/>
                </a:xfrm>
                <a:prstGeom prst="rect">
                  <a:avLst/>
                </a:pr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grpSp>
      </p:grpSp>
      <p:sp>
        <p:nvSpPr>
          <p:cNvPr id="2512" name="Google Shape;2512;p129"/>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517"/>
        <p:cNvGrpSpPr/>
        <p:nvPr/>
      </p:nvGrpSpPr>
      <p:grpSpPr>
        <a:xfrm>
          <a:off x="0" y="0"/>
          <a:ext cx="0" cy="0"/>
          <a:chOff x="0" y="0"/>
          <a:chExt cx="0" cy="0"/>
        </a:xfrm>
      </p:grpSpPr>
      <p:sp>
        <p:nvSpPr>
          <p:cNvPr id="2518" name="Google Shape;2518;p130"/>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519" name="Google Shape;2519;p130"/>
          <p:cNvSpPr/>
          <p:nvPr/>
        </p:nvSpPr>
        <p:spPr>
          <a:xfrm>
            <a:off x="580400" y="1530358"/>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rgbClr val="0033FF"/>
              </a:buClr>
              <a:buSzPts val="1681"/>
              <a:buFont typeface="Arial"/>
              <a:buChar char="•"/>
            </a:pPr>
            <a:r>
              <a:rPr lang="en-US" sz="1401" b="1">
                <a:solidFill>
                  <a:srgbClr val="0033FF"/>
                </a:solidFill>
                <a:latin typeface="Arial"/>
                <a:ea typeface="Arial"/>
                <a:cs typeface="Arial"/>
                <a:sym typeface="Arial"/>
              </a:rPr>
              <a:t> Đặc tính đáp ứng tần số</a:t>
            </a:r>
            <a:endParaRPr sz="1401" b="1">
              <a:solidFill>
                <a:srgbClr val="0033FF"/>
              </a:solidFill>
              <a:latin typeface="Arial"/>
              <a:ea typeface="Arial"/>
              <a:cs typeface="Arial"/>
              <a:sym typeface="Arial"/>
            </a:endParaRPr>
          </a:p>
        </p:txBody>
      </p:sp>
      <p:sp>
        <p:nvSpPr>
          <p:cNvPr id="2520" name="Google Shape;2520;p130"/>
          <p:cNvSpPr/>
          <p:nvPr/>
        </p:nvSpPr>
        <p:spPr>
          <a:xfrm>
            <a:off x="712189" y="1760688"/>
            <a:ext cx="8487381"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Đáp ứng tần số khi thay đổi giá trị đầu vào của cảm biến theo hình sin (sin hoặc cos)</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Tần số phản hồi: Là dải tần số khi đầu ra giảm -3 dB ở tần số đầu vào</a:t>
            </a:r>
            <a:endParaRPr sz="1299">
              <a:solidFill>
                <a:srgbClr val="262626"/>
              </a:solidFill>
              <a:latin typeface="Arial"/>
              <a:ea typeface="Arial"/>
              <a:cs typeface="Arial"/>
              <a:sym typeface="Arial"/>
            </a:endParaRPr>
          </a:p>
        </p:txBody>
      </p:sp>
      <p:grpSp>
        <p:nvGrpSpPr>
          <p:cNvPr id="2521" name="Google Shape;2521;p130"/>
          <p:cNvGrpSpPr/>
          <p:nvPr/>
        </p:nvGrpSpPr>
        <p:grpSpPr>
          <a:xfrm>
            <a:off x="862884" y="2528894"/>
            <a:ext cx="7811590" cy="3267660"/>
            <a:chOff x="1193460" y="2997091"/>
            <a:chExt cx="7082635" cy="2962733"/>
          </a:xfrm>
        </p:grpSpPr>
        <p:pic>
          <p:nvPicPr>
            <p:cNvPr id="2522" name="Google Shape;2522;p130"/>
            <p:cNvPicPr preferRelativeResize="0"/>
            <p:nvPr/>
          </p:nvPicPr>
          <p:blipFill rotWithShape="1">
            <a:blip r:embed="rId3">
              <a:alphaModFix/>
            </a:blip>
            <a:srcRect l="6486" b="11319"/>
            <a:stretch/>
          </p:blipFill>
          <p:spPr>
            <a:xfrm>
              <a:off x="1915654" y="2997091"/>
              <a:ext cx="6360441" cy="2735115"/>
            </a:xfrm>
            <a:prstGeom prst="rect">
              <a:avLst/>
            </a:prstGeom>
            <a:noFill/>
            <a:ln>
              <a:noFill/>
            </a:ln>
          </p:spPr>
        </p:pic>
        <p:sp>
          <p:nvSpPr>
            <p:cNvPr id="2523" name="Google Shape;2523;p130"/>
            <p:cNvSpPr/>
            <p:nvPr/>
          </p:nvSpPr>
          <p:spPr>
            <a:xfrm>
              <a:off x="1193460" y="3300017"/>
              <a:ext cx="986386" cy="359454"/>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Đầu ra [Db]</a:t>
              </a:r>
              <a:endParaRPr/>
            </a:p>
          </p:txBody>
        </p:sp>
        <p:sp>
          <p:nvSpPr>
            <p:cNvPr id="2524" name="Google Shape;2524;p130"/>
            <p:cNvSpPr/>
            <p:nvPr/>
          </p:nvSpPr>
          <p:spPr>
            <a:xfrm>
              <a:off x="4465774" y="5713941"/>
              <a:ext cx="1260201"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Tần số [Hz]</a:t>
              </a:r>
              <a:endParaRPr/>
            </a:p>
          </p:txBody>
        </p:sp>
        <p:sp>
          <p:nvSpPr>
            <p:cNvPr id="2525" name="Google Shape;2525;p130"/>
            <p:cNvSpPr/>
            <p:nvPr/>
          </p:nvSpPr>
          <p:spPr>
            <a:xfrm>
              <a:off x="3731701" y="5486323"/>
              <a:ext cx="1260201"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100</a:t>
              </a:r>
              <a:endParaRPr sz="1299">
                <a:solidFill>
                  <a:schemeClr val="dk1"/>
                </a:solidFill>
                <a:latin typeface="Arial"/>
                <a:ea typeface="Arial"/>
                <a:cs typeface="Arial"/>
                <a:sym typeface="Arial"/>
              </a:endParaRPr>
            </a:p>
          </p:txBody>
        </p:sp>
        <p:sp>
          <p:nvSpPr>
            <p:cNvPr id="2526" name="Google Shape;2526;p130"/>
            <p:cNvSpPr/>
            <p:nvPr/>
          </p:nvSpPr>
          <p:spPr>
            <a:xfrm>
              <a:off x="5714460" y="5452557"/>
              <a:ext cx="1260201"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a:solidFill>
                    <a:schemeClr val="dk1"/>
                  </a:solidFill>
                  <a:latin typeface="Arial"/>
                  <a:ea typeface="Arial"/>
                  <a:cs typeface="Arial"/>
                  <a:sym typeface="Arial"/>
                </a:rPr>
                <a:t>1K</a:t>
              </a:r>
              <a:endParaRPr sz="1299">
                <a:solidFill>
                  <a:schemeClr val="dk1"/>
                </a:solidFill>
                <a:latin typeface="Arial"/>
                <a:ea typeface="Arial"/>
                <a:cs typeface="Arial"/>
                <a:sym typeface="Arial"/>
              </a:endParaRPr>
            </a:p>
          </p:txBody>
        </p:sp>
        <p:sp>
          <p:nvSpPr>
            <p:cNvPr id="2527" name="Google Shape;2527;p130"/>
            <p:cNvSpPr/>
            <p:nvPr/>
          </p:nvSpPr>
          <p:spPr>
            <a:xfrm>
              <a:off x="1881108" y="5288799"/>
              <a:ext cx="438591"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b="1">
                  <a:solidFill>
                    <a:schemeClr val="dk1"/>
                  </a:solidFill>
                  <a:latin typeface="Arial"/>
                  <a:ea typeface="Arial"/>
                  <a:cs typeface="Arial"/>
                  <a:sym typeface="Arial"/>
                </a:rPr>
                <a:t>-30</a:t>
              </a:r>
              <a:endParaRPr sz="1299" b="1">
                <a:solidFill>
                  <a:schemeClr val="dk1"/>
                </a:solidFill>
                <a:latin typeface="Arial"/>
                <a:ea typeface="Arial"/>
                <a:cs typeface="Arial"/>
                <a:sym typeface="Arial"/>
              </a:endParaRPr>
            </a:p>
          </p:txBody>
        </p:sp>
        <p:sp>
          <p:nvSpPr>
            <p:cNvPr id="2528" name="Google Shape;2528;p130"/>
            <p:cNvSpPr/>
            <p:nvPr/>
          </p:nvSpPr>
          <p:spPr>
            <a:xfrm>
              <a:off x="1881108" y="4727449"/>
              <a:ext cx="438591"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b="1">
                  <a:solidFill>
                    <a:schemeClr val="dk1"/>
                  </a:solidFill>
                  <a:latin typeface="Arial"/>
                  <a:ea typeface="Arial"/>
                  <a:cs typeface="Arial"/>
                  <a:sym typeface="Arial"/>
                </a:rPr>
                <a:t>-20</a:t>
              </a:r>
              <a:endParaRPr sz="1299" b="1">
                <a:solidFill>
                  <a:schemeClr val="dk1"/>
                </a:solidFill>
                <a:latin typeface="Arial"/>
                <a:ea typeface="Arial"/>
                <a:cs typeface="Arial"/>
                <a:sym typeface="Arial"/>
              </a:endParaRPr>
            </a:p>
          </p:txBody>
        </p:sp>
        <p:sp>
          <p:nvSpPr>
            <p:cNvPr id="2529" name="Google Shape;2529;p130"/>
            <p:cNvSpPr/>
            <p:nvPr/>
          </p:nvSpPr>
          <p:spPr>
            <a:xfrm>
              <a:off x="1881108" y="4153309"/>
              <a:ext cx="438591"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b="1">
                  <a:solidFill>
                    <a:schemeClr val="dk1"/>
                  </a:solidFill>
                  <a:latin typeface="Arial"/>
                  <a:ea typeface="Arial"/>
                  <a:cs typeface="Arial"/>
                  <a:sym typeface="Arial"/>
                </a:rPr>
                <a:t>-10</a:t>
              </a:r>
              <a:endParaRPr sz="1299" b="1">
                <a:solidFill>
                  <a:schemeClr val="dk1"/>
                </a:solidFill>
                <a:latin typeface="Arial"/>
                <a:ea typeface="Arial"/>
                <a:cs typeface="Arial"/>
                <a:sym typeface="Arial"/>
              </a:endParaRPr>
            </a:p>
          </p:txBody>
        </p:sp>
        <p:sp>
          <p:nvSpPr>
            <p:cNvPr id="2530" name="Google Shape;2530;p130"/>
            <p:cNvSpPr/>
            <p:nvPr/>
          </p:nvSpPr>
          <p:spPr>
            <a:xfrm>
              <a:off x="1881108" y="3591411"/>
              <a:ext cx="438591"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b="1">
                  <a:solidFill>
                    <a:schemeClr val="dk1"/>
                  </a:solidFill>
                  <a:latin typeface="Arial"/>
                  <a:ea typeface="Arial"/>
                  <a:cs typeface="Arial"/>
                  <a:sym typeface="Arial"/>
                </a:rPr>
                <a:t>0</a:t>
              </a:r>
              <a:endParaRPr sz="1299" b="1">
                <a:solidFill>
                  <a:schemeClr val="dk1"/>
                </a:solidFill>
                <a:latin typeface="Arial"/>
                <a:ea typeface="Arial"/>
                <a:cs typeface="Arial"/>
                <a:sym typeface="Arial"/>
              </a:endParaRPr>
            </a:p>
          </p:txBody>
        </p:sp>
        <p:sp>
          <p:nvSpPr>
            <p:cNvPr id="2531" name="Google Shape;2531;p130"/>
            <p:cNvSpPr/>
            <p:nvPr/>
          </p:nvSpPr>
          <p:spPr>
            <a:xfrm>
              <a:off x="7665992" y="3695257"/>
              <a:ext cx="526293" cy="245883"/>
            </a:xfrm>
            <a:prstGeom prst="rect">
              <a:avLst/>
            </a:prstGeom>
            <a:solidFill>
              <a:schemeClr val="lt1"/>
            </a:solid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99" b="1">
                  <a:solidFill>
                    <a:schemeClr val="dk1"/>
                  </a:solidFill>
                  <a:latin typeface="Arial"/>
                  <a:ea typeface="Arial"/>
                  <a:cs typeface="Arial"/>
                  <a:sym typeface="Arial"/>
                </a:rPr>
                <a:t>3[dB]</a:t>
              </a:r>
              <a:endParaRPr sz="1299" b="1">
                <a:solidFill>
                  <a:schemeClr val="dk1"/>
                </a:solidFill>
                <a:latin typeface="Arial"/>
                <a:ea typeface="Arial"/>
                <a:cs typeface="Arial"/>
                <a:sym typeface="Arial"/>
              </a:endParaRPr>
            </a:p>
          </p:txBody>
        </p:sp>
      </p:grpSp>
      <p:sp>
        <p:nvSpPr>
          <p:cNvPr id="2532" name="Google Shape;2532;p130"/>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Đặc</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điểm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cơ</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bản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của</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537"/>
        <p:cNvGrpSpPr/>
        <p:nvPr/>
      </p:nvGrpSpPr>
      <p:grpSpPr>
        <a:xfrm>
          <a:off x="0" y="0"/>
          <a:ext cx="0" cy="0"/>
          <a:chOff x="0" y="0"/>
          <a:chExt cx="0" cy="0"/>
        </a:xfrm>
      </p:grpSpPr>
      <p:sp>
        <p:nvSpPr>
          <p:cNvPr id="2538" name="Google Shape;2538;p131"/>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539" name="Google Shape;2539;p131"/>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Tạp âm </a:t>
            </a:r>
            <a:endParaRPr/>
          </a:p>
        </p:txBody>
      </p:sp>
      <p:sp>
        <p:nvSpPr>
          <p:cNvPr id="2540" name="Google Shape;2540;p131"/>
          <p:cNvSpPr/>
          <p:nvPr/>
        </p:nvSpPr>
        <p:spPr>
          <a:xfrm>
            <a:off x="580391" y="1891205"/>
            <a:ext cx="8858081" cy="2581348"/>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Tạp âm là tín hiệu bất thường không mong muốn.</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Tạp âm dao động bất thường được tạo ra từ thiết bị cảm biến hoặc mạch chuyển đổi và trong một số trường hợp, không thể loại bỏ tạp âm.</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Do tạp âm xuất hiện ở đầu ra thông qua một số đường nên sẽ xảy ra sai số khi (Δy) phản hồi trước sự thay đổi đầu vào (Δx) của cảm biến giảm dưới mức tạp âm.</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Nếu tạp âm đi vào cảm biến tăng thì sẽ không thể phát hiện ra tín hiệu đầu vào cực nhỏ, ngay cả khi độ nhạy cao và giới hạn dưới của phép đo lớn.</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Do vậy, có thể giảm giới hạn phát hiện dưới bằng cách tăng tỷ số tín hiệu trên tạp âm (tỷ số S/N) của cảm biến.</a:t>
            </a:r>
            <a:endParaRPr/>
          </a:p>
          <a:p>
            <a:pPr marL="115879" marR="0" lvl="0" indent="-115879" algn="l" rtl="0">
              <a:spcBef>
                <a:spcPts val="1000"/>
              </a:spcBef>
              <a:spcAft>
                <a:spcPts val="0"/>
              </a:spcAft>
              <a:buClr>
                <a:schemeClr val="dk1"/>
              </a:buClr>
              <a:buSzPts val="1681"/>
              <a:buFont typeface="Arial"/>
              <a:buChar char="•"/>
            </a:pPr>
            <a:r>
              <a:rPr lang="en-US" sz="1401">
                <a:solidFill>
                  <a:schemeClr val="dk1"/>
                </a:solidFill>
                <a:latin typeface="Arial"/>
                <a:ea typeface="Arial"/>
                <a:cs typeface="Arial"/>
                <a:sym typeface="Arial"/>
              </a:rPr>
              <a:t>Sử dụng bộ lọc để tăng tỷ số tín hiệu trên tạp âm.</a:t>
            </a:r>
            <a:endParaRPr/>
          </a:p>
        </p:txBody>
      </p:sp>
      <p:sp>
        <p:nvSpPr>
          <p:cNvPr id="2541" name="Google Shape;2541;p131"/>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546"/>
        <p:cNvGrpSpPr/>
        <p:nvPr/>
      </p:nvGrpSpPr>
      <p:grpSpPr>
        <a:xfrm>
          <a:off x="0" y="0"/>
          <a:ext cx="0" cy="0"/>
          <a:chOff x="0" y="0"/>
          <a:chExt cx="0" cy="0"/>
        </a:xfrm>
      </p:grpSpPr>
      <p:grpSp>
        <p:nvGrpSpPr>
          <p:cNvPr id="2547" name="Google Shape;2547;p132"/>
          <p:cNvGrpSpPr/>
          <p:nvPr/>
        </p:nvGrpSpPr>
        <p:grpSpPr>
          <a:xfrm>
            <a:off x="507542" y="2578553"/>
            <a:ext cx="2963563" cy="1707364"/>
            <a:chOff x="507533" y="2685230"/>
            <a:chExt cx="2963563" cy="1707362"/>
          </a:xfrm>
        </p:grpSpPr>
        <p:grpSp>
          <p:nvGrpSpPr>
            <p:cNvPr id="2548" name="Google Shape;2548;p132"/>
            <p:cNvGrpSpPr/>
            <p:nvPr/>
          </p:nvGrpSpPr>
          <p:grpSpPr>
            <a:xfrm>
              <a:off x="507533" y="2685230"/>
              <a:ext cx="2938986" cy="1707362"/>
              <a:chOff x="507533" y="2730950"/>
              <a:chExt cx="2938986" cy="1707362"/>
            </a:xfrm>
          </p:grpSpPr>
          <p:pic>
            <p:nvPicPr>
              <p:cNvPr id="2549" name="Google Shape;2549;p132"/>
              <p:cNvPicPr preferRelativeResize="0"/>
              <p:nvPr/>
            </p:nvPicPr>
            <p:blipFill rotWithShape="1">
              <a:blip r:embed="rId3">
                <a:alphaModFix/>
              </a:blip>
              <a:srcRect/>
              <a:stretch/>
            </p:blipFill>
            <p:spPr>
              <a:xfrm>
                <a:off x="507533" y="2730950"/>
                <a:ext cx="2781878" cy="1707362"/>
              </a:xfrm>
              <a:prstGeom prst="rect">
                <a:avLst/>
              </a:prstGeom>
              <a:noFill/>
              <a:ln>
                <a:noFill/>
              </a:ln>
            </p:spPr>
          </p:pic>
          <p:grpSp>
            <p:nvGrpSpPr>
              <p:cNvPr id="2550" name="Google Shape;2550;p132"/>
              <p:cNvGrpSpPr/>
              <p:nvPr/>
            </p:nvGrpSpPr>
            <p:grpSpPr>
              <a:xfrm>
                <a:off x="819060" y="2878229"/>
                <a:ext cx="2627459" cy="1159761"/>
                <a:chOff x="819060" y="2878229"/>
                <a:chExt cx="2627459" cy="1159761"/>
              </a:xfrm>
            </p:grpSpPr>
            <p:sp>
              <p:nvSpPr>
                <p:cNvPr id="2551" name="Google Shape;2551;p132"/>
                <p:cNvSpPr/>
                <p:nvPr/>
              </p:nvSpPr>
              <p:spPr>
                <a:xfrm>
                  <a:off x="819060" y="2881201"/>
                  <a:ext cx="739117"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Sensor</a:t>
                  </a:r>
                  <a:endParaRPr sz="1200">
                    <a:solidFill>
                      <a:schemeClr val="dk1"/>
                    </a:solidFill>
                    <a:latin typeface="Arial"/>
                    <a:ea typeface="Arial"/>
                    <a:cs typeface="Arial"/>
                    <a:sym typeface="Arial"/>
                  </a:endParaRPr>
                </a:p>
              </p:txBody>
            </p:sp>
            <p:sp>
              <p:nvSpPr>
                <p:cNvPr id="2552" name="Google Shape;2552;p132"/>
                <p:cNvSpPr/>
                <p:nvPr/>
              </p:nvSpPr>
              <p:spPr>
                <a:xfrm>
                  <a:off x="1939856" y="2878229"/>
                  <a:ext cx="1506663"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Interface circuit</a:t>
                  </a:r>
                  <a:endParaRPr sz="1200">
                    <a:solidFill>
                      <a:schemeClr val="dk1"/>
                    </a:solidFill>
                    <a:latin typeface="Arial"/>
                    <a:ea typeface="Arial"/>
                    <a:cs typeface="Arial"/>
                    <a:sym typeface="Arial"/>
                  </a:endParaRPr>
                </a:p>
              </p:txBody>
            </p:sp>
            <p:sp>
              <p:nvSpPr>
                <p:cNvPr id="2553" name="Google Shape;2553;p132"/>
                <p:cNvSpPr/>
                <p:nvPr/>
              </p:nvSpPr>
              <p:spPr>
                <a:xfrm>
                  <a:off x="840251" y="3387900"/>
                  <a:ext cx="208784"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54" name="Google Shape;2554;p132"/>
                <p:cNvSpPr/>
                <p:nvPr/>
              </p:nvSpPr>
              <p:spPr>
                <a:xfrm>
                  <a:off x="1025203" y="3847742"/>
                  <a:ext cx="208784" cy="190248"/>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55" name="Google Shape;2555;p132"/>
                <p:cNvSpPr/>
                <p:nvPr/>
              </p:nvSpPr>
              <p:spPr>
                <a:xfrm>
                  <a:off x="1825938" y="3632497"/>
                  <a:ext cx="208784" cy="211438"/>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56" name="Google Shape;2556;p132"/>
                <p:cNvSpPr/>
                <p:nvPr/>
              </p:nvSpPr>
              <p:spPr>
                <a:xfrm>
                  <a:off x="2882356" y="3632497"/>
                  <a:ext cx="208784"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grpSp>
        <p:sp>
          <p:nvSpPr>
            <p:cNvPr id="2557" name="Google Shape;2557;p132"/>
            <p:cNvSpPr/>
            <p:nvPr/>
          </p:nvSpPr>
          <p:spPr>
            <a:xfrm>
              <a:off x="562862" y="2837630"/>
              <a:ext cx="2908234" cy="1496356"/>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2558" name="Google Shape;2558;p132"/>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559" name="Google Shape;2559;p132"/>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Trở kháng đầu ra </a:t>
            </a:r>
            <a:endParaRPr/>
          </a:p>
        </p:txBody>
      </p:sp>
      <p:sp>
        <p:nvSpPr>
          <p:cNvPr id="2560" name="Google Shape;2560;p132"/>
          <p:cNvSpPr/>
          <p:nvPr/>
        </p:nvSpPr>
        <p:spPr>
          <a:xfrm>
            <a:off x="580400" y="1891205"/>
            <a:ext cx="8619172" cy="800604"/>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Khi nối cảm biến với một mạch điện tử, sự phụ thuộc giữa trở kháng đầu ra của cảm biến và trở kháng đầu </a:t>
            </a:r>
            <a:endParaRPr/>
          </a:p>
          <a:p>
            <a:pPr marL="115879" marR="0" lvl="0" indent="-115879" algn="l" rtl="0">
              <a:spcBef>
                <a:spcPts val="600"/>
              </a:spcBef>
              <a:spcAft>
                <a:spcPts val="0"/>
              </a:spcAft>
              <a:buClr>
                <a:schemeClr val="dk1"/>
              </a:buClr>
              <a:buSzPts val="1681"/>
              <a:buFont typeface="Arial"/>
              <a:buChar char="•"/>
            </a:pPr>
            <a:r>
              <a:rPr lang="en-US" sz="1401">
                <a:solidFill>
                  <a:schemeClr val="dk1"/>
                </a:solidFill>
                <a:latin typeface="Arial"/>
                <a:ea typeface="Arial"/>
                <a:cs typeface="Arial"/>
                <a:sym typeface="Arial"/>
              </a:rPr>
              <a:t>vào của mạch rất quan trọng.</a:t>
            </a:r>
            <a:endParaRPr/>
          </a:p>
          <a:p>
            <a:pPr marL="115879" marR="0" lvl="0" indent="-115879" algn="l" rtl="0">
              <a:spcBef>
                <a:spcPts val="600"/>
              </a:spcBef>
              <a:spcAft>
                <a:spcPts val="0"/>
              </a:spcAft>
              <a:buClr>
                <a:schemeClr val="dk1"/>
              </a:buClr>
              <a:buSzPts val="1681"/>
              <a:buFont typeface="Arial"/>
              <a:buChar char="•"/>
            </a:pPr>
            <a:r>
              <a:rPr lang="en-US" sz="1401">
                <a:solidFill>
                  <a:schemeClr val="dk1"/>
                </a:solidFill>
                <a:latin typeface="Arial"/>
                <a:ea typeface="Arial"/>
                <a:cs typeface="Arial"/>
                <a:sym typeface="Arial"/>
              </a:rPr>
              <a:t>Đối với cảm biến có điện áp ra</a:t>
            </a:r>
            <a:endParaRPr sz="1401">
              <a:solidFill>
                <a:schemeClr val="dk1"/>
              </a:solidFill>
              <a:latin typeface="Arial"/>
              <a:ea typeface="Arial"/>
              <a:cs typeface="Arial"/>
              <a:sym typeface="Arial"/>
            </a:endParaRPr>
          </a:p>
        </p:txBody>
      </p:sp>
      <p:sp>
        <p:nvSpPr>
          <p:cNvPr id="2561" name="Google Shape;2561;p132"/>
          <p:cNvSpPr/>
          <p:nvPr/>
        </p:nvSpPr>
        <p:spPr>
          <a:xfrm>
            <a:off x="3600950" y="2637359"/>
            <a:ext cx="5598625" cy="1150264"/>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Trở kháng cảm biến Zo được mắc nối tiếp với trở kháng đầu vào Zi của mạch.</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Để giảm thiểu sự biến dạng của tín hiệu đầu ra, tức là V=Vs thì trở kháng đầu ra của cảm biến phải nhỏ (Zo&lt;&lt;Zi)</a:t>
            </a:r>
            <a:endParaRPr/>
          </a:p>
          <a:p>
            <a:pPr marL="0" marR="0" lvl="0" indent="0" algn="l" rtl="0">
              <a:spcBef>
                <a:spcPts val="802"/>
              </a:spcBef>
              <a:spcAft>
                <a:spcPts val="0"/>
              </a:spcAft>
              <a:buNone/>
            </a:pPr>
            <a:endParaRPr sz="1299">
              <a:solidFill>
                <a:srgbClr val="262626"/>
              </a:solidFill>
              <a:latin typeface="Arial"/>
              <a:ea typeface="Arial"/>
              <a:cs typeface="Arial"/>
              <a:sym typeface="Arial"/>
            </a:endParaRPr>
          </a:p>
        </p:txBody>
      </p:sp>
      <p:sp>
        <p:nvSpPr>
          <p:cNvPr id="2562" name="Google Shape;2562;p132"/>
          <p:cNvSpPr/>
          <p:nvPr/>
        </p:nvSpPr>
        <p:spPr>
          <a:xfrm>
            <a:off x="580395" y="4350484"/>
            <a:ext cx="2772411"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Đối với cảm biến có dòng điện ra</a:t>
            </a:r>
            <a:endParaRPr sz="1401">
              <a:solidFill>
                <a:schemeClr val="dk1"/>
              </a:solidFill>
              <a:latin typeface="Arial"/>
              <a:ea typeface="Arial"/>
              <a:cs typeface="Arial"/>
              <a:sym typeface="Arial"/>
            </a:endParaRPr>
          </a:p>
        </p:txBody>
      </p:sp>
      <p:sp>
        <p:nvSpPr>
          <p:cNvPr id="2563" name="Google Shape;2563;p132"/>
          <p:cNvSpPr/>
          <p:nvPr/>
        </p:nvSpPr>
        <p:spPr>
          <a:xfrm>
            <a:off x="3600950" y="4554315"/>
            <a:ext cx="5598625" cy="647819"/>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Trở kháng cảm biến Zo được mắc song song với trở kháng đầu vào Zi của mạch.</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Trở kháng đầu vào của mạch phải nhỏ sao cho I=Is. (Zo&gt;&gt;Zi)</a:t>
            </a:r>
            <a:endParaRPr/>
          </a:p>
        </p:txBody>
      </p:sp>
      <p:grpSp>
        <p:nvGrpSpPr>
          <p:cNvPr id="2564" name="Google Shape;2564;p132"/>
          <p:cNvGrpSpPr/>
          <p:nvPr/>
        </p:nvGrpSpPr>
        <p:grpSpPr>
          <a:xfrm>
            <a:off x="562865" y="4632641"/>
            <a:ext cx="2908236" cy="1621395"/>
            <a:chOff x="562862" y="4807892"/>
            <a:chExt cx="2908234" cy="1621396"/>
          </a:xfrm>
        </p:grpSpPr>
        <p:sp>
          <p:nvSpPr>
            <p:cNvPr id="2565" name="Google Shape;2565;p132"/>
            <p:cNvSpPr/>
            <p:nvPr/>
          </p:nvSpPr>
          <p:spPr>
            <a:xfrm>
              <a:off x="2951497" y="5653561"/>
              <a:ext cx="208781"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66" name="Google Shape;2566;p132"/>
            <p:cNvSpPr/>
            <p:nvPr/>
          </p:nvSpPr>
          <p:spPr>
            <a:xfrm>
              <a:off x="909392" y="5633328"/>
              <a:ext cx="208784"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67" name="Google Shape;2567;p132"/>
            <p:cNvSpPr/>
            <p:nvPr/>
          </p:nvSpPr>
          <p:spPr>
            <a:xfrm>
              <a:off x="909392" y="5660456"/>
              <a:ext cx="208784"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68" name="Google Shape;2568;p132"/>
            <p:cNvSpPr/>
            <p:nvPr/>
          </p:nvSpPr>
          <p:spPr>
            <a:xfrm>
              <a:off x="909392" y="5669141"/>
              <a:ext cx="208784"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nvGrpSpPr>
            <p:cNvPr id="2569" name="Google Shape;2569;p132"/>
            <p:cNvGrpSpPr/>
            <p:nvPr/>
          </p:nvGrpSpPr>
          <p:grpSpPr>
            <a:xfrm>
              <a:off x="661952" y="4838982"/>
              <a:ext cx="2809144" cy="1590306"/>
              <a:chOff x="5684600" y="4454531"/>
              <a:chExt cx="2809144" cy="1590306"/>
            </a:xfrm>
          </p:grpSpPr>
          <p:grpSp>
            <p:nvGrpSpPr>
              <p:cNvPr id="2570" name="Google Shape;2570;p132"/>
              <p:cNvGrpSpPr/>
              <p:nvPr/>
            </p:nvGrpSpPr>
            <p:grpSpPr>
              <a:xfrm>
                <a:off x="5684600" y="4454531"/>
                <a:ext cx="2809144" cy="1590306"/>
                <a:chOff x="6151955" y="4324179"/>
                <a:chExt cx="3188895" cy="1805290"/>
              </a:xfrm>
            </p:grpSpPr>
            <p:pic>
              <p:nvPicPr>
                <p:cNvPr id="2571" name="Google Shape;2571;p132"/>
                <p:cNvPicPr preferRelativeResize="0"/>
                <p:nvPr/>
              </p:nvPicPr>
              <p:blipFill rotWithShape="1">
                <a:blip r:embed="rId4">
                  <a:alphaModFix/>
                </a:blip>
                <a:srcRect/>
                <a:stretch/>
              </p:blipFill>
              <p:spPr>
                <a:xfrm>
                  <a:off x="6151955" y="4324179"/>
                  <a:ext cx="3069755" cy="1805290"/>
                </a:xfrm>
                <a:prstGeom prst="rect">
                  <a:avLst/>
                </a:prstGeom>
                <a:noFill/>
                <a:ln>
                  <a:noFill/>
                </a:ln>
              </p:spPr>
            </p:pic>
            <p:sp>
              <p:nvSpPr>
                <p:cNvPr id="2572" name="Google Shape;2572;p132"/>
                <p:cNvSpPr/>
                <p:nvPr/>
              </p:nvSpPr>
              <p:spPr>
                <a:xfrm>
                  <a:off x="6358200" y="4350963"/>
                  <a:ext cx="839037" cy="209630"/>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Sensor</a:t>
                  </a:r>
                  <a:endParaRPr sz="1200">
                    <a:solidFill>
                      <a:schemeClr val="dk1"/>
                    </a:solidFill>
                    <a:latin typeface="Arial"/>
                    <a:ea typeface="Arial"/>
                    <a:cs typeface="Arial"/>
                    <a:sym typeface="Arial"/>
                  </a:endParaRPr>
                </a:p>
              </p:txBody>
            </p:sp>
            <p:sp>
              <p:nvSpPr>
                <p:cNvPr id="2573" name="Google Shape;2573;p132"/>
                <p:cNvSpPr/>
                <p:nvPr/>
              </p:nvSpPr>
              <p:spPr>
                <a:xfrm>
                  <a:off x="7630512" y="4347590"/>
                  <a:ext cx="1710338" cy="209630"/>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Interface circuit</a:t>
                  </a:r>
                  <a:endParaRPr sz="1200">
                    <a:solidFill>
                      <a:schemeClr val="dk1"/>
                    </a:solidFill>
                    <a:latin typeface="Arial"/>
                    <a:ea typeface="Arial"/>
                    <a:cs typeface="Arial"/>
                    <a:sym typeface="Arial"/>
                  </a:endParaRPr>
                </a:p>
              </p:txBody>
            </p:sp>
          </p:grpSp>
          <p:cxnSp>
            <p:nvCxnSpPr>
              <p:cNvPr id="2574" name="Google Shape;2574;p132"/>
              <p:cNvCxnSpPr/>
              <p:nvPr/>
            </p:nvCxnSpPr>
            <p:spPr>
              <a:xfrm>
                <a:off x="8182929" y="4703026"/>
                <a:ext cx="0" cy="1249566"/>
              </a:xfrm>
              <a:prstGeom prst="straightConnector1">
                <a:avLst/>
              </a:prstGeom>
              <a:noFill/>
              <a:ln w="12700" cap="flat" cmpd="sng">
                <a:solidFill>
                  <a:srgbClr val="757272"/>
                </a:solidFill>
                <a:prstDash val="solid"/>
                <a:miter lim="800000"/>
                <a:headEnd type="none" w="sm" len="sm"/>
                <a:tailEnd type="none" w="sm" len="sm"/>
              </a:ln>
            </p:spPr>
          </p:cxnSp>
        </p:grpSp>
        <p:sp>
          <p:nvSpPr>
            <p:cNvPr id="2575" name="Google Shape;2575;p132"/>
            <p:cNvSpPr/>
            <p:nvPr/>
          </p:nvSpPr>
          <p:spPr>
            <a:xfrm>
              <a:off x="909392" y="5660456"/>
              <a:ext cx="208784"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76" name="Google Shape;2576;p132"/>
            <p:cNvSpPr/>
            <p:nvPr/>
          </p:nvSpPr>
          <p:spPr>
            <a:xfrm>
              <a:off x="1547698" y="5390876"/>
              <a:ext cx="164826"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77" name="Google Shape;2577;p132"/>
            <p:cNvSpPr/>
            <p:nvPr/>
          </p:nvSpPr>
          <p:spPr>
            <a:xfrm>
              <a:off x="2928637" y="5645941"/>
              <a:ext cx="208784" cy="15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78" name="Google Shape;2578;p132"/>
            <p:cNvSpPr/>
            <p:nvPr/>
          </p:nvSpPr>
          <p:spPr>
            <a:xfrm>
              <a:off x="1895079" y="5253664"/>
              <a:ext cx="208784" cy="211438"/>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579" name="Google Shape;2579;p132"/>
            <p:cNvSpPr/>
            <p:nvPr/>
          </p:nvSpPr>
          <p:spPr>
            <a:xfrm>
              <a:off x="562862" y="4807892"/>
              <a:ext cx="2908234" cy="1590306"/>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Calibri"/>
                <a:ea typeface="Calibri"/>
                <a:cs typeface="Calibri"/>
                <a:sym typeface="Calibri"/>
              </a:endParaRPr>
            </a:p>
          </p:txBody>
        </p:sp>
      </p:grpSp>
      <p:sp>
        <p:nvSpPr>
          <p:cNvPr id="2580" name="Google Shape;2580;p132"/>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err="1">
                <a:solidFill>
                  <a:schemeClr val="tx1"/>
                </a:solidFill>
                <a:latin typeface="Arial"/>
                <a:ea typeface="Arial"/>
                <a:cs typeface="Arial"/>
                <a:sym typeface="Arial"/>
              </a:rPr>
              <a:t>Đặc</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điểm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cơ</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bản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của</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585"/>
        <p:cNvGrpSpPr/>
        <p:nvPr/>
      </p:nvGrpSpPr>
      <p:grpSpPr>
        <a:xfrm>
          <a:off x="0" y="0"/>
          <a:ext cx="0" cy="0"/>
          <a:chOff x="0" y="0"/>
          <a:chExt cx="0" cy="0"/>
        </a:xfrm>
      </p:grpSpPr>
      <p:sp>
        <p:nvSpPr>
          <p:cNvPr id="2586" name="Google Shape;2586;p133"/>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587" name="Google Shape;2587;p133"/>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Ảnh hưởng môi trường</a:t>
            </a:r>
            <a:endParaRPr/>
          </a:p>
        </p:txBody>
      </p:sp>
      <p:sp>
        <p:nvSpPr>
          <p:cNvPr id="2588" name="Google Shape;2588;p133"/>
          <p:cNvSpPr/>
          <p:nvPr/>
        </p:nvSpPr>
        <p:spPr>
          <a:xfrm>
            <a:off x="580400" y="1944542"/>
            <a:ext cx="8619172" cy="723660"/>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Các biến bên ngoài ảnh hưởng tới hiệu suất của cảm biến như nhiệt độ và độ ẩm được gọi là các tham số môi trường.</a:t>
            </a:r>
            <a:endParaRPr/>
          </a:p>
          <a:p>
            <a:pPr marL="115879" marR="0" lvl="0" indent="-115879" algn="l" rtl="0">
              <a:spcBef>
                <a:spcPts val="600"/>
              </a:spcBef>
              <a:spcAft>
                <a:spcPts val="0"/>
              </a:spcAft>
              <a:buClr>
                <a:schemeClr val="dk1"/>
              </a:buClr>
              <a:buSzPts val="1681"/>
              <a:buFont typeface="Arial"/>
              <a:buChar char="•"/>
            </a:pPr>
            <a:r>
              <a:rPr lang="en-US" sz="1401">
                <a:solidFill>
                  <a:schemeClr val="dk1"/>
                </a:solidFill>
                <a:latin typeface="Arial"/>
                <a:ea typeface="Arial"/>
                <a:cs typeface="Arial"/>
                <a:sym typeface="Arial"/>
              </a:rPr>
              <a:t>Những thay đổi về độ nhạy hoặc mức đầu ra do thời gian, nhiệt độ hoặc các yếu tố khác được gọi là độ mất ổn định của các đặc tính của cảm biến hay độ lệch.</a:t>
            </a:r>
            <a:endParaRPr/>
          </a:p>
        </p:txBody>
      </p:sp>
      <p:grpSp>
        <p:nvGrpSpPr>
          <p:cNvPr id="2589" name="Google Shape;2589;p133"/>
          <p:cNvGrpSpPr/>
          <p:nvPr/>
        </p:nvGrpSpPr>
        <p:grpSpPr>
          <a:xfrm>
            <a:off x="703276" y="2830368"/>
            <a:ext cx="4248136" cy="199927"/>
            <a:chOff x="712182" y="1757635"/>
            <a:chExt cx="4248136" cy="199926"/>
          </a:xfrm>
        </p:grpSpPr>
        <p:sp>
          <p:nvSpPr>
            <p:cNvPr id="2590" name="Google Shape;2590;p133"/>
            <p:cNvSpPr/>
            <p:nvPr/>
          </p:nvSpPr>
          <p:spPr>
            <a:xfrm>
              <a:off x="1095268" y="1757635"/>
              <a:ext cx="3865050" cy="199926"/>
            </a:xfrm>
            <a:prstGeom prst="rect">
              <a:avLst/>
            </a:prstGeom>
            <a:noFill/>
            <a:ln>
              <a:noFill/>
            </a:ln>
          </p:spPr>
          <p:txBody>
            <a:bodyPr spcFirstLastPara="1" wrap="square" lIns="0" tIns="0" rIns="0" bIns="0" anchor="t" anchorCtr="0">
              <a:spAutoFit/>
            </a:bodyPr>
            <a:lstStyle/>
            <a:p>
              <a:pPr marL="0" marR="0" lvl="1" indent="0" algn="l" rtl="0">
                <a:spcBef>
                  <a:spcPts val="0"/>
                </a:spcBef>
                <a:spcAft>
                  <a:spcPts val="0"/>
                </a:spcAft>
                <a:buNone/>
              </a:pPr>
              <a:r>
                <a:rPr lang="en-US" sz="1299" b="0" i="0" u="none" strike="noStrike" cap="none">
                  <a:solidFill>
                    <a:srgbClr val="262626"/>
                  </a:solidFill>
                  <a:latin typeface="Arial"/>
                  <a:ea typeface="Arial"/>
                  <a:cs typeface="Arial"/>
                  <a:sym typeface="Arial"/>
                </a:rPr>
                <a:t>nhiệt độ ảnh hưởng đến hầu hết tất cả các cảm biến.</a:t>
              </a:r>
              <a:endParaRPr sz="1299" b="0" i="0" u="none" strike="noStrike" cap="none">
                <a:solidFill>
                  <a:srgbClr val="262626"/>
                </a:solidFill>
                <a:latin typeface="Arial"/>
                <a:ea typeface="Arial"/>
                <a:cs typeface="Arial"/>
                <a:sym typeface="Arial"/>
              </a:endParaRPr>
            </a:p>
          </p:txBody>
        </p:sp>
        <p:sp>
          <p:nvSpPr>
            <p:cNvPr id="2591" name="Google Shape;2591;p133"/>
            <p:cNvSpPr/>
            <p:nvPr/>
          </p:nvSpPr>
          <p:spPr>
            <a:xfrm>
              <a:off x="712182" y="1770345"/>
              <a:ext cx="324899" cy="175953"/>
            </a:xfrm>
            <a:prstGeom prst="roundRect">
              <a:avLst>
                <a:gd name="adj" fmla="val 16667"/>
              </a:avLst>
            </a:prstGeom>
            <a:solidFill>
              <a:srgbClr val="193EB0"/>
            </a:solidFill>
            <a:ln>
              <a:noFill/>
            </a:ln>
          </p:spPr>
          <p:txBody>
            <a:bodyPr spcFirstLastPara="1" wrap="square" lIns="72000" tIns="0" rIns="72000" bIns="0" anchor="b" anchorCtr="0">
              <a:noAutofit/>
            </a:bodyPr>
            <a:lstStyle/>
            <a:p>
              <a:pPr marL="0" marR="0" lvl="0" indent="0" algn="ctr" rtl="0">
                <a:lnSpc>
                  <a:spcPct val="100000"/>
                </a:lnSpc>
                <a:spcBef>
                  <a:spcPts val="0"/>
                </a:spcBef>
                <a:spcAft>
                  <a:spcPts val="0"/>
                </a:spcAft>
                <a:buNone/>
              </a:pPr>
              <a:r>
                <a:rPr lang="en-US" sz="1000" b="1">
                  <a:solidFill>
                    <a:schemeClr val="lt1"/>
                  </a:solidFill>
                  <a:latin typeface="Arial"/>
                  <a:ea typeface="Arial"/>
                  <a:cs typeface="Arial"/>
                  <a:sym typeface="Arial"/>
                </a:rPr>
                <a:t>VD</a:t>
              </a:r>
              <a:endParaRPr/>
            </a:p>
          </p:txBody>
        </p:sp>
      </p:grpSp>
      <p:sp>
        <p:nvSpPr>
          <p:cNvPr id="2592" name="Google Shape;2592;p133"/>
          <p:cNvSpPr/>
          <p:nvPr/>
        </p:nvSpPr>
        <p:spPr>
          <a:xfrm>
            <a:off x="703268" y="3260727"/>
            <a:ext cx="3960813" cy="692113"/>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99">
                <a:solidFill>
                  <a:srgbClr val="262626"/>
                </a:solidFill>
                <a:latin typeface="Arial"/>
                <a:ea typeface="Arial"/>
                <a:cs typeface="Arial"/>
                <a:sym typeface="Arial"/>
              </a:rPr>
              <a:t>Hình (a): Sai số độ nhạy hay trôi độ nhạy</a:t>
            </a:r>
            <a:endParaRPr sz="1299">
              <a:solidFill>
                <a:srgbClr val="262626"/>
              </a:solidFill>
              <a:latin typeface="Arial"/>
              <a:ea typeface="Arial"/>
              <a:cs typeface="Arial"/>
              <a:sym typeface="Arial"/>
            </a:endParaRPr>
          </a:p>
          <a:p>
            <a:pPr marL="0" marR="0" lvl="0" indent="0" algn="l" rtl="0">
              <a:spcBef>
                <a:spcPts val="0"/>
              </a:spcBef>
              <a:spcAft>
                <a:spcPts val="0"/>
              </a:spcAft>
              <a:buNone/>
            </a:pPr>
            <a:r>
              <a:rPr lang="en-US" sz="1299">
                <a:solidFill>
                  <a:srgbClr val="262626"/>
                </a:solidFill>
                <a:latin typeface="Arial"/>
                <a:ea typeface="Arial"/>
                <a:cs typeface="Arial"/>
                <a:sym typeface="Arial"/>
              </a:rPr>
              <a:t>Hình (b): Cân đối hoặc dời về không</a:t>
            </a:r>
            <a:endParaRPr sz="1299">
              <a:solidFill>
                <a:srgbClr val="262626"/>
              </a:solidFill>
              <a:latin typeface="Arial"/>
              <a:ea typeface="Arial"/>
              <a:cs typeface="Arial"/>
              <a:sym typeface="Arial"/>
            </a:endParaRPr>
          </a:p>
          <a:p>
            <a:pPr marL="0" marR="0" lvl="0" indent="0" algn="l" rtl="0">
              <a:spcBef>
                <a:spcPts val="0"/>
              </a:spcBef>
              <a:spcAft>
                <a:spcPts val="0"/>
              </a:spcAft>
              <a:buNone/>
            </a:pPr>
            <a:r>
              <a:rPr lang="en-US" sz="1299">
                <a:solidFill>
                  <a:srgbClr val="262626"/>
                </a:solidFill>
                <a:latin typeface="Arial"/>
                <a:ea typeface="Arial"/>
                <a:cs typeface="Arial"/>
                <a:sym typeface="Arial"/>
              </a:rPr>
              <a:t>Hình (c): Dời về không và trôi độ nhạy đồng thời</a:t>
            </a:r>
            <a:endParaRPr sz="1299">
              <a:solidFill>
                <a:srgbClr val="262626"/>
              </a:solidFill>
              <a:latin typeface="Arial"/>
              <a:ea typeface="Arial"/>
              <a:cs typeface="Arial"/>
              <a:sym typeface="Arial"/>
            </a:endParaRPr>
          </a:p>
        </p:txBody>
      </p:sp>
      <p:grpSp>
        <p:nvGrpSpPr>
          <p:cNvPr id="2593" name="Google Shape;2593;p133"/>
          <p:cNvGrpSpPr/>
          <p:nvPr/>
        </p:nvGrpSpPr>
        <p:grpSpPr>
          <a:xfrm>
            <a:off x="833150" y="4134288"/>
            <a:ext cx="8236541" cy="2160040"/>
            <a:chOff x="833142" y="4172378"/>
            <a:chExt cx="8236542" cy="2160040"/>
          </a:xfrm>
        </p:grpSpPr>
        <p:grpSp>
          <p:nvGrpSpPr>
            <p:cNvPr id="2594" name="Google Shape;2594;p133"/>
            <p:cNvGrpSpPr/>
            <p:nvPr/>
          </p:nvGrpSpPr>
          <p:grpSpPr>
            <a:xfrm>
              <a:off x="833142" y="4172378"/>
              <a:ext cx="8236542" cy="2160040"/>
              <a:chOff x="833142" y="4172378"/>
              <a:chExt cx="8236542" cy="2160040"/>
            </a:xfrm>
          </p:grpSpPr>
          <p:pic>
            <p:nvPicPr>
              <p:cNvPr id="2595" name="Google Shape;2595;p133"/>
              <p:cNvPicPr preferRelativeResize="0"/>
              <p:nvPr/>
            </p:nvPicPr>
            <p:blipFill rotWithShape="1">
              <a:blip r:embed="rId3">
                <a:alphaModFix/>
              </a:blip>
              <a:srcRect t="7334" b="20967"/>
              <a:stretch/>
            </p:blipFill>
            <p:spPr>
              <a:xfrm>
                <a:off x="1087231" y="4172378"/>
                <a:ext cx="7982453" cy="1870353"/>
              </a:xfrm>
              <a:prstGeom prst="rect">
                <a:avLst/>
              </a:prstGeom>
              <a:noFill/>
              <a:ln>
                <a:noFill/>
              </a:ln>
            </p:spPr>
          </p:pic>
          <p:sp>
            <p:nvSpPr>
              <p:cNvPr id="2596" name="Google Shape;2596;p133"/>
              <p:cNvSpPr txBox="1"/>
              <p:nvPr/>
            </p:nvSpPr>
            <p:spPr>
              <a:xfrm>
                <a:off x="2322251" y="5885378"/>
                <a:ext cx="41167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0000"/>
                    </a:solidFill>
                    <a:latin typeface="Arial"/>
                    <a:ea typeface="Arial"/>
                    <a:cs typeface="Arial"/>
                    <a:sym typeface="Arial"/>
                  </a:rPr>
                  <a:t>(a)</a:t>
                </a:r>
                <a:endParaRPr sz="1200">
                  <a:solidFill>
                    <a:srgbClr val="FF0000"/>
                  </a:solidFill>
                  <a:latin typeface="Arial"/>
                  <a:ea typeface="Arial"/>
                  <a:cs typeface="Arial"/>
                  <a:sym typeface="Arial"/>
                </a:endParaRPr>
              </a:p>
            </p:txBody>
          </p:sp>
          <p:sp>
            <p:nvSpPr>
              <p:cNvPr id="2597" name="Google Shape;2597;p133"/>
              <p:cNvSpPr txBox="1"/>
              <p:nvPr/>
            </p:nvSpPr>
            <p:spPr>
              <a:xfrm>
                <a:off x="5017792" y="5885378"/>
                <a:ext cx="41167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0000"/>
                    </a:solidFill>
                    <a:latin typeface="Arial"/>
                    <a:ea typeface="Arial"/>
                    <a:cs typeface="Arial"/>
                    <a:sym typeface="Arial"/>
                  </a:rPr>
                  <a:t>(b)</a:t>
                </a:r>
                <a:endParaRPr sz="1200">
                  <a:solidFill>
                    <a:srgbClr val="FF0000"/>
                  </a:solidFill>
                  <a:latin typeface="Arial"/>
                  <a:ea typeface="Arial"/>
                  <a:cs typeface="Arial"/>
                  <a:sym typeface="Arial"/>
                </a:endParaRPr>
              </a:p>
            </p:txBody>
          </p:sp>
          <p:sp>
            <p:nvSpPr>
              <p:cNvPr id="2598" name="Google Shape;2598;p133"/>
              <p:cNvSpPr/>
              <p:nvPr/>
            </p:nvSpPr>
            <p:spPr>
              <a:xfrm>
                <a:off x="3073835" y="4451787"/>
                <a:ext cx="112175" cy="329067"/>
              </a:xfrm>
              <a:prstGeom prst="rightBrace">
                <a:avLst>
                  <a:gd name="adj1" fmla="val 8333"/>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rgbClr val="000000"/>
                  </a:solidFill>
                  <a:latin typeface="Arial"/>
                  <a:ea typeface="Arial"/>
                  <a:cs typeface="Arial"/>
                  <a:sym typeface="Arial"/>
                </a:endParaRPr>
              </a:p>
            </p:txBody>
          </p:sp>
          <p:cxnSp>
            <p:nvCxnSpPr>
              <p:cNvPr id="2599" name="Google Shape;2599;p133"/>
              <p:cNvCxnSpPr/>
              <p:nvPr/>
            </p:nvCxnSpPr>
            <p:spPr>
              <a:xfrm>
                <a:off x="3073834" y="4451787"/>
                <a:ext cx="0" cy="0"/>
              </a:xfrm>
              <a:prstGeom prst="straightConnector1">
                <a:avLst/>
              </a:prstGeom>
              <a:noFill/>
              <a:ln w="9525" cap="flat" cmpd="sng">
                <a:solidFill>
                  <a:schemeClr val="accent1"/>
                </a:solidFill>
                <a:prstDash val="solid"/>
                <a:miter lim="800000"/>
                <a:headEnd type="none" w="sm" len="sm"/>
                <a:tailEnd type="none" w="sm" len="sm"/>
              </a:ln>
            </p:spPr>
          </p:cxnSp>
          <p:cxnSp>
            <p:nvCxnSpPr>
              <p:cNvPr id="2600" name="Google Shape;2600;p133"/>
              <p:cNvCxnSpPr/>
              <p:nvPr/>
            </p:nvCxnSpPr>
            <p:spPr>
              <a:xfrm>
                <a:off x="3025428" y="4451788"/>
                <a:ext cx="0" cy="1234298"/>
              </a:xfrm>
              <a:prstGeom prst="straightConnector1">
                <a:avLst/>
              </a:prstGeom>
              <a:noFill/>
              <a:ln w="9525" cap="flat" cmpd="sng">
                <a:solidFill>
                  <a:srgbClr val="0000FF"/>
                </a:solidFill>
                <a:prstDash val="dash"/>
                <a:miter lim="800000"/>
                <a:headEnd type="none" w="sm" len="sm"/>
                <a:tailEnd type="none" w="sm" len="sm"/>
              </a:ln>
            </p:spPr>
          </p:cxnSp>
          <p:sp>
            <p:nvSpPr>
              <p:cNvPr id="2601" name="Google Shape;2601;p133"/>
              <p:cNvSpPr/>
              <p:nvPr/>
            </p:nvSpPr>
            <p:spPr>
              <a:xfrm>
                <a:off x="2802535" y="5686087"/>
                <a:ext cx="110647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Đầu vào định mức </a:t>
                </a:r>
                <a:endParaRPr/>
              </a:p>
              <a:p>
                <a:pPr marL="0" marR="0" lvl="0" indent="0" algn="ctr" rtl="0">
                  <a:spcBef>
                    <a:spcPts val="0"/>
                  </a:spcBef>
                  <a:spcAft>
                    <a:spcPts val="0"/>
                  </a:spcAft>
                  <a:buNone/>
                </a:pPr>
                <a:r>
                  <a:rPr lang="en-US" sz="1200" b="1">
                    <a:solidFill>
                      <a:srgbClr val="000000"/>
                    </a:solidFill>
                    <a:latin typeface="Arial"/>
                    <a:ea typeface="Arial"/>
                    <a:cs typeface="Arial"/>
                    <a:sym typeface="Arial"/>
                  </a:rPr>
                  <a:t>(100%fs)</a:t>
                </a:r>
                <a:endParaRPr/>
              </a:p>
            </p:txBody>
          </p:sp>
          <p:sp>
            <p:nvSpPr>
              <p:cNvPr id="2602" name="Google Shape;2602;p133"/>
              <p:cNvSpPr/>
              <p:nvPr/>
            </p:nvSpPr>
            <p:spPr>
              <a:xfrm>
                <a:off x="833142" y="4483028"/>
                <a:ext cx="686545" cy="4728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Tín hiệu đầu ra</a:t>
                </a:r>
                <a:endParaRPr sz="1200">
                  <a:solidFill>
                    <a:srgbClr val="000000"/>
                  </a:solidFill>
                  <a:latin typeface="Arial"/>
                  <a:ea typeface="Arial"/>
                  <a:cs typeface="Arial"/>
                  <a:sym typeface="Arial"/>
                </a:endParaRPr>
              </a:p>
            </p:txBody>
          </p:sp>
          <p:sp>
            <p:nvSpPr>
              <p:cNvPr id="2603" name="Google Shape;2603;p133"/>
              <p:cNvSpPr/>
              <p:nvPr/>
            </p:nvSpPr>
            <p:spPr>
              <a:xfrm>
                <a:off x="1993072" y="5720983"/>
                <a:ext cx="686541" cy="22855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Tín hiệu đầu vào</a:t>
                </a:r>
                <a:endParaRPr sz="1200">
                  <a:solidFill>
                    <a:srgbClr val="000000"/>
                  </a:solidFill>
                  <a:latin typeface="Arial"/>
                  <a:ea typeface="Arial"/>
                  <a:cs typeface="Arial"/>
                  <a:sym typeface="Arial"/>
                </a:endParaRPr>
              </a:p>
            </p:txBody>
          </p:sp>
          <p:sp>
            <p:nvSpPr>
              <p:cNvPr id="2604" name="Google Shape;2604;p133"/>
              <p:cNvSpPr/>
              <p:nvPr/>
            </p:nvSpPr>
            <p:spPr>
              <a:xfrm>
                <a:off x="4855065" y="5726418"/>
                <a:ext cx="686541" cy="1911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Tín hiệu đầu vào</a:t>
                </a:r>
                <a:endParaRPr sz="1200">
                  <a:solidFill>
                    <a:srgbClr val="000000"/>
                  </a:solidFill>
                  <a:latin typeface="Arial"/>
                  <a:ea typeface="Arial"/>
                  <a:cs typeface="Arial"/>
                  <a:sym typeface="Arial"/>
                </a:endParaRPr>
              </a:p>
            </p:txBody>
          </p:sp>
          <p:sp>
            <p:nvSpPr>
              <p:cNvPr id="2605" name="Google Shape;2605;p133"/>
              <p:cNvSpPr/>
              <p:nvPr/>
            </p:nvSpPr>
            <p:spPr>
              <a:xfrm>
                <a:off x="3485999" y="4483028"/>
                <a:ext cx="686545" cy="4728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Output</a:t>
                </a:r>
                <a:endParaRPr sz="1200">
                  <a:solidFill>
                    <a:srgbClr val="000000"/>
                  </a:solidFill>
                  <a:latin typeface="Arial"/>
                  <a:ea typeface="Arial"/>
                  <a:cs typeface="Arial"/>
                  <a:sym typeface="Arial"/>
                </a:endParaRPr>
              </a:p>
            </p:txBody>
          </p:sp>
          <p:sp>
            <p:nvSpPr>
              <p:cNvPr id="2606" name="Google Shape;2606;p133"/>
              <p:cNvSpPr/>
              <p:nvPr/>
            </p:nvSpPr>
            <p:spPr>
              <a:xfrm>
                <a:off x="3088236" y="4401799"/>
                <a:ext cx="918345" cy="15361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Sai số khoảng đo</a:t>
                </a:r>
                <a:endParaRPr sz="1200">
                  <a:solidFill>
                    <a:srgbClr val="000000"/>
                  </a:solidFill>
                  <a:latin typeface="Arial"/>
                  <a:ea typeface="Arial"/>
                  <a:cs typeface="Arial"/>
                  <a:sym typeface="Arial"/>
                </a:endParaRPr>
              </a:p>
            </p:txBody>
          </p:sp>
          <p:sp>
            <p:nvSpPr>
              <p:cNvPr id="2607" name="Google Shape;2607;p133"/>
              <p:cNvSpPr txBox="1"/>
              <p:nvPr/>
            </p:nvSpPr>
            <p:spPr>
              <a:xfrm>
                <a:off x="7634887" y="5865741"/>
                <a:ext cx="41167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0000"/>
                    </a:solidFill>
                    <a:latin typeface="Arial"/>
                    <a:ea typeface="Arial"/>
                    <a:cs typeface="Arial"/>
                    <a:sym typeface="Arial"/>
                  </a:rPr>
                  <a:t>(c)</a:t>
                </a:r>
                <a:endParaRPr sz="1200">
                  <a:solidFill>
                    <a:srgbClr val="FF0000"/>
                  </a:solidFill>
                  <a:latin typeface="Arial"/>
                  <a:ea typeface="Arial"/>
                  <a:cs typeface="Arial"/>
                  <a:sym typeface="Arial"/>
                </a:endParaRPr>
              </a:p>
            </p:txBody>
          </p:sp>
          <p:sp>
            <p:nvSpPr>
              <p:cNvPr id="2608" name="Google Shape;2608;p133"/>
              <p:cNvSpPr/>
              <p:nvPr/>
            </p:nvSpPr>
            <p:spPr>
              <a:xfrm>
                <a:off x="7467959" y="5746815"/>
                <a:ext cx="686541" cy="17537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Tín hiệu đầu vào</a:t>
                </a:r>
                <a:endParaRPr sz="1200">
                  <a:solidFill>
                    <a:srgbClr val="000000"/>
                  </a:solidFill>
                  <a:latin typeface="Arial"/>
                  <a:ea typeface="Arial"/>
                  <a:cs typeface="Arial"/>
                  <a:sym typeface="Arial"/>
                </a:endParaRPr>
              </a:p>
            </p:txBody>
          </p:sp>
          <p:sp>
            <p:nvSpPr>
              <p:cNvPr id="2609" name="Google Shape;2609;p133"/>
              <p:cNvSpPr/>
              <p:nvPr/>
            </p:nvSpPr>
            <p:spPr>
              <a:xfrm>
                <a:off x="6905644" y="4642414"/>
                <a:ext cx="817145" cy="17083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Tổng sai số</a:t>
                </a:r>
                <a:endParaRPr sz="1200">
                  <a:solidFill>
                    <a:srgbClr val="000000"/>
                  </a:solidFill>
                  <a:latin typeface="Arial"/>
                  <a:ea typeface="Arial"/>
                  <a:cs typeface="Arial"/>
                  <a:sym typeface="Arial"/>
                </a:endParaRPr>
              </a:p>
            </p:txBody>
          </p:sp>
          <p:sp>
            <p:nvSpPr>
              <p:cNvPr id="2610" name="Google Shape;2610;p133"/>
              <p:cNvSpPr/>
              <p:nvPr/>
            </p:nvSpPr>
            <p:spPr>
              <a:xfrm>
                <a:off x="6129539" y="4483028"/>
                <a:ext cx="686545" cy="4728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Tín hiệu đầu ra</a:t>
                </a:r>
                <a:endParaRPr sz="1200">
                  <a:solidFill>
                    <a:srgbClr val="000000"/>
                  </a:solidFill>
                  <a:latin typeface="Arial"/>
                  <a:ea typeface="Arial"/>
                  <a:cs typeface="Arial"/>
                  <a:sym typeface="Arial"/>
                </a:endParaRPr>
              </a:p>
            </p:txBody>
          </p:sp>
          <p:grpSp>
            <p:nvGrpSpPr>
              <p:cNvPr id="2611" name="Google Shape;2611;p133"/>
              <p:cNvGrpSpPr/>
              <p:nvPr/>
            </p:nvGrpSpPr>
            <p:grpSpPr>
              <a:xfrm>
                <a:off x="4957216" y="5119667"/>
                <a:ext cx="944499" cy="366733"/>
                <a:chOff x="4950333" y="5131859"/>
                <a:chExt cx="944499" cy="366733"/>
              </a:xfrm>
            </p:grpSpPr>
            <p:sp>
              <p:nvSpPr>
                <p:cNvPr id="2612" name="Google Shape;2612;p133"/>
                <p:cNvSpPr/>
                <p:nvPr/>
              </p:nvSpPr>
              <p:spPr>
                <a:xfrm>
                  <a:off x="4950333" y="5178161"/>
                  <a:ext cx="926211" cy="3204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sp>
              <p:nvSpPr>
                <p:cNvPr id="2613" name="Google Shape;2613;p133"/>
                <p:cNvSpPr/>
                <p:nvPr/>
              </p:nvSpPr>
              <p:spPr>
                <a:xfrm>
                  <a:off x="5078457" y="5131859"/>
                  <a:ext cx="816375" cy="3204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grpSp>
          <p:grpSp>
            <p:nvGrpSpPr>
              <p:cNvPr id="2614" name="Google Shape;2614;p133"/>
              <p:cNvGrpSpPr/>
              <p:nvPr/>
            </p:nvGrpSpPr>
            <p:grpSpPr>
              <a:xfrm>
                <a:off x="7650480" y="5175190"/>
                <a:ext cx="854227" cy="366733"/>
                <a:chOff x="5040605" y="5131859"/>
                <a:chExt cx="854227" cy="366733"/>
              </a:xfrm>
            </p:grpSpPr>
            <p:sp>
              <p:nvSpPr>
                <p:cNvPr id="2615" name="Google Shape;2615;p133"/>
                <p:cNvSpPr/>
                <p:nvPr/>
              </p:nvSpPr>
              <p:spPr>
                <a:xfrm>
                  <a:off x="5040605" y="5178161"/>
                  <a:ext cx="835939" cy="3204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sp>
              <p:nvSpPr>
                <p:cNvPr id="2616" name="Google Shape;2616;p133"/>
                <p:cNvSpPr/>
                <p:nvPr/>
              </p:nvSpPr>
              <p:spPr>
                <a:xfrm>
                  <a:off x="5078457" y="5131859"/>
                  <a:ext cx="816375" cy="3204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grpSp>
          <p:sp>
            <p:nvSpPr>
              <p:cNvPr id="2617" name="Google Shape;2617;p133"/>
              <p:cNvSpPr/>
              <p:nvPr/>
            </p:nvSpPr>
            <p:spPr>
              <a:xfrm>
                <a:off x="4956048" y="5141533"/>
                <a:ext cx="1167681" cy="38758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α : Đường cong lý tưởng</a:t>
                </a:r>
                <a:endParaRPr sz="1200">
                  <a:solidFill>
                    <a:srgbClr val="000000"/>
                  </a:solidFill>
                  <a:latin typeface="Arial"/>
                  <a:ea typeface="Arial"/>
                  <a:cs typeface="Arial"/>
                  <a:sym typeface="Arial"/>
                </a:endParaRPr>
              </a:p>
            </p:txBody>
          </p:sp>
          <p:sp>
            <p:nvSpPr>
              <p:cNvPr id="2618" name="Google Shape;2618;p133"/>
              <p:cNvSpPr/>
              <p:nvPr/>
            </p:nvSpPr>
            <p:spPr>
              <a:xfrm>
                <a:off x="7590589" y="5153446"/>
                <a:ext cx="1246718" cy="363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α : Đường cong lý tưởng</a:t>
                </a:r>
                <a:endParaRPr sz="1200">
                  <a:solidFill>
                    <a:srgbClr val="000000"/>
                  </a:solidFill>
                  <a:latin typeface="Arial"/>
                  <a:ea typeface="Arial"/>
                  <a:cs typeface="Arial"/>
                  <a:sym typeface="Arial"/>
                </a:endParaRPr>
              </a:p>
            </p:txBody>
          </p:sp>
          <p:sp>
            <p:nvSpPr>
              <p:cNvPr id="2619" name="Google Shape;2619;p133"/>
              <p:cNvSpPr/>
              <p:nvPr/>
            </p:nvSpPr>
            <p:spPr>
              <a:xfrm>
                <a:off x="2413000" y="5176520"/>
                <a:ext cx="609600" cy="39624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sp>
            <p:nvSpPr>
              <p:cNvPr id="2620" name="Google Shape;2620;p133"/>
              <p:cNvSpPr/>
              <p:nvPr/>
            </p:nvSpPr>
            <p:spPr>
              <a:xfrm>
                <a:off x="3042920" y="5176520"/>
                <a:ext cx="609600" cy="39624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Arial"/>
                  <a:ea typeface="Arial"/>
                  <a:cs typeface="Arial"/>
                  <a:sym typeface="Arial"/>
                </a:endParaRPr>
              </a:p>
            </p:txBody>
          </p:sp>
          <p:sp>
            <p:nvSpPr>
              <p:cNvPr id="2621" name="Google Shape;2621;p133"/>
              <p:cNvSpPr/>
              <p:nvPr/>
            </p:nvSpPr>
            <p:spPr>
              <a:xfrm>
                <a:off x="2135308" y="5196824"/>
                <a:ext cx="1710726" cy="276999"/>
              </a:xfrm>
              <a:prstGeom prst="rect">
                <a:avLst/>
              </a:prstGeom>
              <a:solidFill>
                <a:schemeClr val="lt1"/>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α : Đường cong lý tưởng</a:t>
                </a:r>
                <a:endParaRPr sz="1200">
                  <a:solidFill>
                    <a:srgbClr val="000000"/>
                  </a:solidFill>
                  <a:latin typeface="Arial"/>
                  <a:ea typeface="Arial"/>
                  <a:cs typeface="Arial"/>
                  <a:sym typeface="Arial"/>
                </a:endParaRPr>
              </a:p>
            </p:txBody>
          </p:sp>
        </p:grpSp>
        <p:sp>
          <p:nvSpPr>
            <p:cNvPr id="2622" name="Google Shape;2622;p133"/>
            <p:cNvSpPr/>
            <p:nvPr/>
          </p:nvSpPr>
          <p:spPr>
            <a:xfrm>
              <a:off x="1301365" y="4234189"/>
              <a:ext cx="208784"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23" name="Google Shape;2623;p133"/>
            <p:cNvSpPr/>
            <p:nvPr/>
          </p:nvSpPr>
          <p:spPr>
            <a:xfrm>
              <a:off x="4006581" y="4234189"/>
              <a:ext cx="208784"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24" name="Google Shape;2624;p133"/>
            <p:cNvSpPr/>
            <p:nvPr/>
          </p:nvSpPr>
          <p:spPr>
            <a:xfrm>
              <a:off x="6607405" y="4234189"/>
              <a:ext cx="208784"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25" name="Google Shape;2625;p133"/>
            <p:cNvSpPr/>
            <p:nvPr/>
          </p:nvSpPr>
          <p:spPr>
            <a:xfrm>
              <a:off x="8679855" y="5569818"/>
              <a:ext cx="258213"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26" name="Google Shape;2626;p133"/>
            <p:cNvSpPr/>
            <p:nvPr/>
          </p:nvSpPr>
          <p:spPr>
            <a:xfrm>
              <a:off x="6035363" y="5569818"/>
              <a:ext cx="258213"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27" name="Google Shape;2627;p133"/>
            <p:cNvSpPr/>
            <p:nvPr/>
          </p:nvSpPr>
          <p:spPr>
            <a:xfrm>
              <a:off x="3384576" y="5569818"/>
              <a:ext cx="258213"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28" name="Google Shape;2628;p133"/>
            <p:cNvSpPr/>
            <p:nvPr/>
          </p:nvSpPr>
          <p:spPr>
            <a:xfrm>
              <a:off x="2322251" y="4677049"/>
              <a:ext cx="181472"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29" name="Google Shape;2629;p133"/>
            <p:cNvSpPr/>
            <p:nvPr/>
          </p:nvSpPr>
          <p:spPr>
            <a:xfrm>
              <a:off x="7811229" y="4383784"/>
              <a:ext cx="197124"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30" name="Google Shape;2630;p133"/>
            <p:cNvSpPr/>
            <p:nvPr/>
          </p:nvSpPr>
          <p:spPr>
            <a:xfrm>
              <a:off x="4873850" y="4663765"/>
              <a:ext cx="197124"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631" name="Google Shape;2631;p133"/>
            <p:cNvSpPr/>
            <p:nvPr/>
          </p:nvSpPr>
          <p:spPr>
            <a:xfrm>
              <a:off x="4012411" y="5374640"/>
              <a:ext cx="197124" cy="232536"/>
            </a:xfrm>
            <a:prstGeom prst="ellipse">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2632" name="Google Shape;2632;p133"/>
          <p:cNvSpPr/>
          <p:nvPr/>
        </p:nvSpPr>
        <p:spPr>
          <a:xfrm>
            <a:off x="416136" y="444878"/>
            <a:ext cx="5824317" cy="276871"/>
          </a:xfrm>
          <a:prstGeom prst="rect">
            <a:avLst/>
          </a:prstGeom>
          <a:noFill/>
          <a:ln>
            <a:noFill/>
          </a:ln>
        </p:spPr>
        <p:txBody>
          <a:bodyPr spcFirstLastPara="1" wrap="square" lIns="0" tIns="0" rIns="0" bIns="0" anchor="t" anchorCtr="0">
            <a:spAutoFit/>
          </a:bodyPr>
          <a:lstStyle/>
          <a:p>
            <a:pPr lvl="0"/>
            <a:r>
              <a:rPr lang="en-US" sz="1799" dirty="0" err="1">
                <a:solidFill>
                  <a:schemeClr val="tx1"/>
                </a:solidFill>
              </a:rPr>
              <a:t>Đặc</a:t>
            </a:r>
            <a:r>
              <a:rPr lang="en-US" sz="1799" dirty="0">
                <a:solidFill>
                  <a:schemeClr val="tx1"/>
                </a:solidFill>
              </a:rPr>
              <a:t> </a:t>
            </a:r>
            <a:r>
              <a:rPr lang="en-US" sz="1799" dirty="0" err="1">
                <a:solidFill>
                  <a:schemeClr val="tx1"/>
                </a:solidFill>
              </a:rPr>
              <a:t>điểm</a:t>
            </a:r>
            <a:r>
              <a:rPr lang="en-US" sz="1799" dirty="0">
                <a:solidFill>
                  <a:schemeClr val="tx1"/>
                </a:solidFill>
              </a:rPr>
              <a:t> </a:t>
            </a:r>
            <a:r>
              <a:rPr lang="en-US" sz="1799" dirty="0" err="1">
                <a:solidFill>
                  <a:schemeClr val="tx1"/>
                </a:solidFill>
              </a:rPr>
              <a:t>cơ</a:t>
            </a:r>
            <a:r>
              <a:rPr lang="en-US" sz="1799" dirty="0">
                <a:solidFill>
                  <a:schemeClr val="tx1"/>
                </a:solidFill>
              </a:rPr>
              <a:t> </a:t>
            </a:r>
            <a:r>
              <a:rPr lang="en-US" sz="1799" dirty="0" err="1">
                <a:solidFill>
                  <a:schemeClr val="tx1"/>
                </a:solidFill>
              </a:rPr>
              <a:t>bản</a:t>
            </a:r>
            <a:r>
              <a:rPr lang="en-US" sz="1799" dirty="0">
                <a:solidFill>
                  <a:schemeClr val="tx1"/>
                </a:solidFill>
              </a:rPr>
              <a:t> </a:t>
            </a:r>
            <a:r>
              <a:rPr lang="en-US" sz="1799" dirty="0" err="1">
                <a:solidFill>
                  <a:schemeClr val="tx1"/>
                </a:solidFill>
              </a:rPr>
              <a:t>của</a:t>
            </a:r>
            <a:r>
              <a:rPr lang="en-US" sz="1799" dirty="0">
                <a:solidFill>
                  <a:schemeClr val="tx1"/>
                </a:solidFill>
              </a:rPr>
              <a:t> </a:t>
            </a:r>
            <a:r>
              <a:rPr lang="en-US" sz="1799" dirty="0" err="1">
                <a:solidFill>
                  <a:schemeClr val="tx1"/>
                </a:solidFill>
              </a:rPr>
              <a:t>cảm</a:t>
            </a:r>
            <a:r>
              <a:rPr lang="en-US" sz="1799" dirty="0">
                <a:solidFill>
                  <a:schemeClr val="tx1"/>
                </a:solidFill>
              </a:rPr>
              <a:t> </a:t>
            </a:r>
            <a:r>
              <a:rPr lang="en-US" sz="1799" dirty="0" err="1">
                <a:solidFill>
                  <a:schemeClr val="tx1"/>
                </a:solidFill>
              </a:rPr>
              <a:t>biến</a:t>
            </a:r>
            <a:endParaRPr sz="1799" b="1" dirty="0">
              <a:solidFill>
                <a:schemeClr val="lt1"/>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000">
          <a:extLst>
            <a:ext uri="{FF2B5EF4-FFF2-40B4-BE49-F238E27FC236}">
              <a16:creationId xmlns:a16="http://schemas.microsoft.com/office/drawing/2014/main" id="{7CAC5C40-6CF7-CA08-027C-A8726D59474F}"/>
            </a:ext>
          </a:extLst>
        </p:cNvPr>
        <p:cNvGrpSpPr/>
        <p:nvPr/>
      </p:nvGrpSpPr>
      <p:grpSpPr>
        <a:xfrm>
          <a:off x="0" y="0"/>
          <a:ext cx="0" cy="0"/>
          <a:chOff x="0" y="0"/>
          <a:chExt cx="0" cy="0"/>
        </a:xfrm>
      </p:grpSpPr>
      <p:sp>
        <p:nvSpPr>
          <p:cNvPr id="2001" name="Google Shape;2001;p107">
            <a:extLst>
              <a:ext uri="{FF2B5EF4-FFF2-40B4-BE49-F238E27FC236}">
                <a16:creationId xmlns:a16="http://schemas.microsoft.com/office/drawing/2014/main" id="{CEE1DCE5-8160-4A4B-DB9C-0E3142B7824D}"/>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Tìm hiểu về cảm biến</a:t>
            </a:r>
            <a:endParaRPr sz="3600" b="1">
              <a:solidFill>
                <a:schemeClr val="dk1"/>
              </a:solidFill>
              <a:latin typeface="Arial"/>
              <a:ea typeface="Arial"/>
              <a:cs typeface="Arial"/>
              <a:sym typeface="Arial"/>
            </a:endParaRPr>
          </a:p>
        </p:txBody>
      </p:sp>
      <p:sp>
        <p:nvSpPr>
          <p:cNvPr id="2002" name="Google Shape;2002;p107">
            <a:extLst>
              <a:ext uri="{FF2B5EF4-FFF2-40B4-BE49-F238E27FC236}">
                <a16:creationId xmlns:a16="http://schemas.microsoft.com/office/drawing/2014/main" id="{3A161D03-161A-4039-C197-1B67BB97FB37}"/>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2.</a:t>
            </a:r>
            <a:endParaRPr dirty="0"/>
          </a:p>
        </p:txBody>
      </p:sp>
      <p:sp>
        <p:nvSpPr>
          <p:cNvPr id="2003" name="Google Shape;2003;p107">
            <a:extLst>
              <a:ext uri="{FF2B5EF4-FFF2-40B4-BE49-F238E27FC236}">
                <a16:creationId xmlns:a16="http://schemas.microsoft.com/office/drawing/2014/main" id="{28467C2D-9468-E8D1-53BD-596589891AAE}"/>
              </a:ext>
            </a:extLst>
          </p:cNvPr>
          <p:cNvSpPr/>
          <p:nvPr/>
        </p:nvSpPr>
        <p:spPr>
          <a:xfrm>
            <a:off x="1054120" y="4003783"/>
            <a:ext cx="3897300" cy="2174185"/>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2</a:t>
            </a:r>
            <a:r>
              <a:rPr lang="en-US" sz="1799" dirty="0">
                <a:solidFill>
                  <a:schemeClr val="bg1">
                    <a:lumMod val="65000"/>
                  </a:schemeClr>
                </a:solidFill>
                <a:latin typeface="Arial"/>
                <a:ea typeface="Arial"/>
                <a:cs typeface="Arial"/>
                <a:sym typeface="Arial"/>
              </a:rPr>
              <a:t>.1. Định </a:t>
            </a:r>
            <a:r>
              <a:rPr lang="en-US" sz="1799" dirty="0" err="1">
                <a:solidFill>
                  <a:schemeClr val="bg1">
                    <a:lumMod val="65000"/>
                  </a:schemeClr>
                </a:solidFill>
                <a:latin typeface="Arial"/>
                <a:ea typeface="Arial"/>
                <a:cs typeface="Arial"/>
                <a:sym typeface="Arial"/>
              </a:rPr>
              <a:t>nghĩa</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cảm</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biến</a:t>
            </a:r>
            <a:endParaRPr sz="1799" dirty="0">
              <a:solidFill>
                <a:schemeClr val="bg1">
                  <a:lumMod val="65000"/>
                </a:schemeClr>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2.2. </a:t>
            </a:r>
            <a:r>
              <a:rPr lang="en-US" sz="1799" dirty="0" err="1">
                <a:solidFill>
                  <a:srgbClr val="A6A6A6"/>
                </a:solidFill>
                <a:latin typeface="Arial"/>
                <a:ea typeface="Arial"/>
                <a:cs typeface="Arial"/>
                <a:sym typeface="Arial"/>
              </a:rPr>
              <a:t>Đặc</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điểm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cơ</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bản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của</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dirty="0"/>
          </a:p>
          <a:p>
            <a:pPr marL="176201" marR="0" lvl="0" indent="-176201" algn="l" rtl="0">
              <a:spcBef>
                <a:spcPts val="1000"/>
              </a:spcBef>
              <a:spcAft>
                <a:spcPts val="0"/>
              </a:spcAft>
              <a:buClr>
                <a:srgbClr val="A6A6A6"/>
              </a:buClr>
              <a:buSzPts val="2159"/>
              <a:buFont typeface="Arial"/>
              <a:buChar char="•"/>
            </a:pPr>
            <a:r>
              <a:rPr lang="en-US" sz="1799" dirty="0">
                <a:solidFill>
                  <a:schemeClr val="tx1"/>
                </a:solidFill>
                <a:latin typeface="Arial"/>
                <a:ea typeface="Arial"/>
                <a:cs typeface="Arial"/>
                <a:sym typeface="Arial"/>
              </a:rPr>
              <a:t>2.3. </a:t>
            </a:r>
            <a:r>
              <a:rPr lang="en-US" sz="1799" dirty="0" err="1">
                <a:solidFill>
                  <a:schemeClr val="tx1"/>
                </a:solidFill>
                <a:latin typeface="Arial"/>
                <a:ea typeface="Arial"/>
                <a:cs typeface="Arial"/>
                <a:sym typeface="Arial"/>
              </a:rPr>
              <a:t>Phân</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loại</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cảm</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biến</a:t>
            </a:r>
            <a:endParaRPr sz="1799" dirty="0">
              <a:solidFill>
                <a:schemeClr val="tx1"/>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2.4. </a:t>
            </a:r>
            <a:r>
              <a:rPr lang="en-US" sz="1799" dirty="0" err="1">
                <a:solidFill>
                  <a:srgbClr val="A6A6A6"/>
                </a:solidFill>
                <a:latin typeface="Arial"/>
                <a:ea typeface="Arial"/>
                <a:cs typeface="Arial"/>
                <a:sym typeface="Arial"/>
              </a:rPr>
              <a:t>Ứng</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dụng</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và</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vai</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trò</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của</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sz="1799" dirty="0">
              <a:solidFill>
                <a:srgbClr val="A6A6A6"/>
              </a:solidFill>
              <a:latin typeface="Arial"/>
              <a:ea typeface="Arial"/>
              <a:cs typeface="Arial"/>
              <a:sym typeface="Arial"/>
            </a:endParaRPr>
          </a:p>
          <a:p>
            <a:pPr marL="0" marR="0" lvl="0" indent="0" algn="l" rtl="0">
              <a:spcBef>
                <a:spcPts val="1000"/>
              </a:spcBef>
              <a:spcAft>
                <a:spcPts val="0"/>
              </a:spcAft>
              <a:buNone/>
            </a:pP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40551159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645"/>
        <p:cNvGrpSpPr/>
        <p:nvPr/>
      </p:nvGrpSpPr>
      <p:grpSpPr>
        <a:xfrm>
          <a:off x="0" y="0"/>
          <a:ext cx="0" cy="0"/>
          <a:chOff x="0" y="0"/>
          <a:chExt cx="0" cy="0"/>
        </a:xfrm>
      </p:grpSpPr>
      <p:sp>
        <p:nvSpPr>
          <p:cNvPr id="2646" name="Google Shape;2646;p135"/>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lt1"/>
                </a:solidFill>
                <a:latin typeface="Arial"/>
                <a:ea typeface="Arial"/>
                <a:cs typeface="Arial"/>
                <a:sym typeface="Arial"/>
              </a:rPr>
              <a:t>3.3. </a:t>
            </a:r>
            <a:r>
              <a:rPr lang="en-US" sz="1799" b="1" dirty="0" err="1">
                <a:solidFill>
                  <a:schemeClr val="tx1"/>
                </a:solidFill>
                <a:latin typeface="Arial"/>
                <a:ea typeface="Arial"/>
                <a:cs typeface="Arial"/>
                <a:sym typeface="Arial"/>
              </a:rPr>
              <a:t>Phân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loại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
        <p:nvSpPr>
          <p:cNvPr id="2647" name="Google Shape;2647;p135"/>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648" name="Google Shape;2648;p135"/>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err="1">
                <a:solidFill>
                  <a:srgbClr val="0C0C0C"/>
                </a:solidFill>
              </a:rPr>
              <a:t>D</a:t>
            </a:r>
            <a:r>
              <a:rPr lang="en-US" sz="2401" b="1" dirty="0" err="1">
                <a:solidFill>
                  <a:srgbClr val="0C0C0C"/>
                </a:solidFill>
                <a:latin typeface="Arial"/>
                <a:ea typeface="Arial"/>
                <a:cs typeface="Arial"/>
                <a:sym typeface="Arial"/>
              </a:rPr>
              <a:t>ựa</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theo</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nguồn</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cung</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cấp</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điện</a:t>
            </a:r>
            <a:endParaRPr sz="2401" b="1" dirty="0">
              <a:solidFill>
                <a:srgbClr val="0C0C0C"/>
              </a:solidFill>
              <a:latin typeface="Arial"/>
              <a:ea typeface="Arial"/>
              <a:cs typeface="Arial"/>
              <a:sym typeface="Arial"/>
            </a:endParaRPr>
          </a:p>
        </p:txBody>
      </p:sp>
      <p:sp>
        <p:nvSpPr>
          <p:cNvPr id="2649" name="Google Shape;2649;p135"/>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dirty="0" err="1">
                <a:solidFill>
                  <a:schemeClr val="dk1"/>
                </a:solidFill>
                <a:latin typeface="Arial"/>
                <a:ea typeface="Arial"/>
                <a:cs typeface="Arial"/>
                <a:sym typeface="Arial"/>
              </a:rPr>
              <a:t>Cảm</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biến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điều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chế</a:t>
            </a:r>
            <a:endParaRPr sz="1401" dirty="0">
              <a:solidFill>
                <a:schemeClr val="dk1"/>
              </a:solidFill>
              <a:latin typeface="Arial"/>
              <a:ea typeface="Arial"/>
              <a:cs typeface="Arial"/>
              <a:sym typeface="Arial"/>
            </a:endParaRPr>
          </a:p>
        </p:txBody>
      </p:sp>
      <p:sp>
        <p:nvSpPr>
          <p:cNvPr id="2650" name="Google Shape;2650;p135"/>
          <p:cNvSpPr/>
          <p:nvPr/>
        </p:nvSpPr>
        <p:spPr>
          <a:xfrm>
            <a:off x="712189" y="2197742"/>
            <a:ext cx="8487381" cy="2360321"/>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Sử</a:t>
            </a:r>
            <a:r>
              <a:rPr lang="en-US" sz="1299" dirty="0">
                <a:solidFill>
                  <a:srgbClr val="262626"/>
                </a:solidFill>
                <a:latin typeface="Arial"/>
                <a:ea typeface="Arial"/>
                <a:cs typeface="Arial"/>
                <a:sym typeface="Arial"/>
              </a:rPr>
              <a:t> dung </a:t>
            </a:r>
            <a:r>
              <a:rPr lang="en-US" sz="1299" dirty="0" err="1">
                <a:solidFill>
                  <a:srgbClr val="262626"/>
                </a:solidFill>
                <a:latin typeface="Arial"/>
                <a:ea typeface="Arial"/>
                <a:cs typeface="Arial"/>
                <a:sym typeface="Arial"/>
              </a:rPr>
              <a:t>nguồn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bên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ngoài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hoạt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giao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tiếp</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Hầu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hết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công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suất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tín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hiệu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ra</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từ</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nguồn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cấp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bên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ngoài</a:t>
            </a:r>
            <a:r>
              <a:rPr lang="en-US" sz="1299" dirty="0">
                <a:solidFill>
                  <a:srgbClr val="262626"/>
                </a:solidFill>
                <a:latin typeface="Arial"/>
                <a:ea typeface="Arial"/>
                <a:cs typeface="Arial"/>
                <a:sym typeface="Arial"/>
              </a:rPr>
              <a:t>.</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vào</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chỉ</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điều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khiển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đầu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ra.</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Ưu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điểm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áp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nguồn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có</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thể</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thay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đổi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toàn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nhạy</a:t>
            </a:r>
            <a:r>
              <a:rPr lang="en-US" sz="1299" dirty="0">
                <a:solidFill>
                  <a:srgbClr val="262626"/>
                </a:solidFill>
                <a:latin typeface="Arial"/>
                <a:ea typeface="Arial"/>
                <a:cs typeface="Arial"/>
                <a:sym typeface="Arial"/>
              </a:rPr>
              <a:t>.</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Ví</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dụ</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về</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transistor </a:t>
            </a:r>
            <a:r>
              <a:rPr lang="en-US" sz="1299" dirty="0" err="1">
                <a:solidFill>
                  <a:srgbClr val="262626"/>
                </a:solidFill>
                <a:latin typeface="Arial"/>
                <a:ea typeface="Arial"/>
                <a:cs typeface="Arial"/>
                <a:sym typeface="Arial"/>
              </a:rPr>
              <a:t>quang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nhiệt</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điện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trở</a:t>
            </a:r>
            <a:endParaRPr dirty="0"/>
          </a:p>
          <a:p>
            <a:pPr marL="182513" marR="0" lvl="0" indent="-182513" algn="l" rtl="0">
              <a:spcBef>
                <a:spcPts val="802"/>
              </a:spcBef>
              <a:spcAft>
                <a:spcPts val="0"/>
              </a:spcAft>
              <a:buClr>
                <a:srgbClr val="193EB0"/>
              </a:buClr>
              <a:buSzPts val="1299"/>
              <a:buFont typeface="Arial"/>
              <a:buChar char="‣"/>
            </a:pPr>
            <a:r>
              <a:rPr lang="en-US" sz="1299" dirty="0">
                <a:solidFill>
                  <a:srgbClr val="262626"/>
                </a:solidFill>
                <a:latin typeface="Arial"/>
                <a:ea typeface="Arial"/>
                <a:cs typeface="Arial"/>
                <a:sym typeface="Arial"/>
              </a:rPr>
              <a:t>Các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điều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chế</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cần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nhiều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dây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hơn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các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tự</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cấp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nguồn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và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có</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thể</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tăng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nguy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cơ</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cháy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nổ</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khi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sử</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dụng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nguồn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cấp</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phụ</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trong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môi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trường</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dễ</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cháy</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nổ</a:t>
            </a:r>
            <a:r>
              <a:rPr lang="en-US" sz="1299" dirty="0">
                <a:solidFill>
                  <a:srgbClr val="262626"/>
                </a:solidFill>
                <a:latin typeface="Arial"/>
                <a:ea typeface="Arial"/>
                <a:cs typeface="Arial"/>
                <a:sym typeface="Arial"/>
              </a:rPr>
              <a:t>.</a:t>
            </a:r>
            <a:endParaRPr dirty="0"/>
          </a:p>
          <a:p>
            <a:pPr marL="182513" marR="0" lvl="0" indent="-182513" algn="l" rtl="0">
              <a:spcBef>
                <a:spcPts val="802"/>
              </a:spcBef>
              <a:spcAft>
                <a:spcPts val="0"/>
              </a:spcAft>
              <a:buClr>
                <a:srgbClr val="193EB0"/>
              </a:buClr>
              <a:buSzPts val="1299"/>
              <a:buFont typeface="Arial"/>
              <a:buChar char="‣"/>
            </a:pP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điều</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chế</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còn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được</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gọi</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là</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cảm</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biến</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thụ</a:t>
            </a:r>
            <a:r>
              <a:rPr lang="en-US" sz="1299" dirty="0">
                <a:solidFill>
                  <a:srgbClr val="262626"/>
                </a:solidFill>
                <a:latin typeface="Arial"/>
                <a:ea typeface="Arial"/>
                <a:cs typeface="Arial"/>
                <a:sym typeface="Arial"/>
              </a:rPr>
              <a:t> </a:t>
            </a:r>
            <a:r>
              <a:rPr lang="en-US" sz="1299" dirty="0" err="1">
                <a:solidFill>
                  <a:srgbClr val="262626"/>
                </a:solidFill>
                <a:latin typeface="Arial"/>
                <a:ea typeface="Arial"/>
                <a:cs typeface="Arial"/>
                <a:sym typeface="Arial"/>
              </a:rPr>
              <a:t>động</a:t>
            </a:r>
            <a:r>
              <a:rPr lang="en-US" sz="1299" dirty="0">
                <a:solidFill>
                  <a:srgbClr val="262626"/>
                </a:solidFill>
                <a:latin typeface="Arial"/>
                <a:ea typeface="Arial"/>
                <a:cs typeface="Arial"/>
                <a:sym typeface="Arial"/>
              </a:rPr>
              <a:t>.</a:t>
            </a:r>
            <a:endParaRPr dirty="0"/>
          </a:p>
        </p:txBody>
      </p:sp>
      <p:grpSp>
        <p:nvGrpSpPr>
          <p:cNvPr id="2651" name="Google Shape;2651;p135"/>
          <p:cNvGrpSpPr/>
          <p:nvPr/>
        </p:nvGrpSpPr>
        <p:grpSpPr>
          <a:xfrm>
            <a:off x="5433731" y="4551143"/>
            <a:ext cx="3053049" cy="1493481"/>
            <a:chOff x="6086947" y="4518772"/>
            <a:chExt cx="2661008" cy="1301701"/>
          </a:xfrm>
        </p:grpSpPr>
        <p:sp>
          <p:nvSpPr>
            <p:cNvPr id="2652" name="Google Shape;2652;p135"/>
            <p:cNvSpPr/>
            <p:nvPr/>
          </p:nvSpPr>
          <p:spPr>
            <a:xfrm>
              <a:off x="6350990" y="4738012"/>
              <a:ext cx="509759" cy="149177"/>
            </a:xfrm>
            <a:prstGeom prst="stripedRight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1">
                <a:solidFill>
                  <a:srgbClr val="FFFFFF"/>
                </a:solidFill>
                <a:latin typeface="Arial"/>
                <a:ea typeface="Arial"/>
                <a:cs typeface="Arial"/>
                <a:sym typeface="Arial"/>
              </a:endParaRPr>
            </a:p>
          </p:txBody>
        </p:sp>
        <p:sp>
          <p:nvSpPr>
            <p:cNvPr id="2653" name="Google Shape;2653;p135"/>
            <p:cNvSpPr/>
            <p:nvPr/>
          </p:nvSpPr>
          <p:spPr>
            <a:xfrm>
              <a:off x="8033904" y="4726745"/>
              <a:ext cx="509759" cy="149177"/>
            </a:xfrm>
            <a:prstGeom prst="stripedRightArrow">
              <a:avLst>
                <a:gd name="adj1" fmla="val 50000"/>
                <a:gd name="adj2" fmla="val 50000"/>
              </a:avLst>
            </a:prstGeom>
            <a:solidFill>
              <a:srgbClr val="0077C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1">
                <a:solidFill>
                  <a:srgbClr val="FFFFFF"/>
                </a:solidFill>
                <a:latin typeface="Arial"/>
                <a:ea typeface="Arial"/>
                <a:cs typeface="Arial"/>
                <a:sym typeface="Arial"/>
              </a:endParaRPr>
            </a:p>
          </p:txBody>
        </p:sp>
        <p:sp>
          <p:nvSpPr>
            <p:cNvPr id="2654" name="Google Shape;2654;p135"/>
            <p:cNvSpPr/>
            <p:nvPr/>
          </p:nvSpPr>
          <p:spPr>
            <a:xfrm>
              <a:off x="6943213" y="4608707"/>
              <a:ext cx="1008227" cy="403551"/>
            </a:xfrm>
            <a:prstGeom prst="roundRect">
              <a:avLst>
                <a:gd name="adj" fmla="val 50000"/>
              </a:avLst>
            </a:prstGeom>
            <a:solidFill>
              <a:schemeClr val="lt1"/>
            </a:solidFill>
            <a:ln w="9525" cap="flat" cmpd="sng">
              <a:solidFill>
                <a:srgbClr val="A5A5A5"/>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Cảm biến</a:t>
              </a:r>
              <a:endParaRPr sz="1401">
                <a:solidFill>
                  <a:srgbClr val="262626"/>
                </a:solidFill>
                <a:latin typeface="Arial"/>
                <a:ea typeface="Arial"/>
                <a:cs typeface="Arial"/>
                <a:sym typeface="Arial"/>
              </a:endParaRPr>
            </a:p>
          </p:txBody>
        </p:sp>
        <p:sp>
          <p:nvSpPr>
            <p:cNvPr id="2655" name="Google Shape;2655;p135"/>
            <p:cNvSpPr/>
            <p:nvPr/>
          </p:nvSpPr>
          <p:spPr>
            <a:xfrm>
              <a:off x="6086947" y="4518772"/>
              <a:ext cx="918345" cy="15361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Tín hiệu đầu vào</a:t>
              </a:r>
              <a:endParaRPr sz="1401">
                <a:solidFill>
                  <a:srgbClr val="000000"/>
                </a:solidFill>
                <a:latin typeface="Arial"/>
                <a:ea typeface="Arial"/>
                <a:cs typeface="Arial"/>
                <a:sym typeface="Arial"/>
              </a:endParaRPr>
            </a:p>
          </p:txBody>
        </p:sp>
        <p:sp>
          <p:nvSpPr>
            <p:cNvPr id="2656" name="Google Shape;2656;p135"/>
            <p:cNvSpPr/>
            <p:nvPr/>
          </p:nvSpPr>
          <p:spPr>
            <a:xfrm>
              <a:off x="7829610" y="4550579"/>
              <a:ext cx="918345" cy="12180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Tín hiệu đầu ra</a:t>
              </a:r>
              <a:endParaRPr sz="1401">
                <a:solidFill>
                  <a:srgbClr val="000000"/>
                </a:solidFill>
                <a:latin typeface="Arial"/>
                <a:ea typeface="Arial"/>
                <a:cs typeface="Arial"/>
                <a:sym typeface="Arial"/>
              </a:endParaRPr>
            </a:p>
          </p:txBody>
        </p:sp>
        <p:sp>
          <p:nvSpPr>
            <p:cNvPr id="2657" name="Google Shape;2657;p135"/>
            <p:cNvSpPr/>
            <p:nvPr/>
          </p:nvSpPr>
          <p:spPr>
            <a:xfrm rot="-5400000">
              <a:off x="7290647" y="5108278"/>
              <a:ext cx="295619" cy="131439"/>
            </a:xfrm>
            <a:prstGeom prst="stripedRightArrow">
              <a:avLst>
                <a:gd name="adj1" fmla="val 50000"/>
                <a:gd name="adj2" fmla="val 50000"/>
              </a:avLst>
            </a:prstGeom>
            <a:solidFill>
              <a:srgbClr val="0077C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1">
                <a:solidFill>
                  <a:srgbClr val="FFFFFF"/>
                </a:solidFill>
                <a:latin typeface="Arial"/>
                <a:ea typeface="Arial"/>
                <a:cs typeface="Arial"/>
                <a:sym typeface="Arial"/>
              </a:endParaRPr>
            </a:p>
          </p:txBody>
        </p:sp>
        <p:sp>
          <p:nvSpPr>
            <p:cNvPr id="2658" name="Google Shape;2658;p135"/>
            <p:cNvSpPr/>
            <p:nvPr/>
          </p:nvSpPr>
          <p:spPr>
            <a:xfrm>
              <a:off x="6979282" y="5364217"/>
              <a:ext cx="918346" cy="45625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Nguồn cấp phụ</a:t>
              </a:r>
              <a:endParaRPr sz="1401">
                <a:solidFill>
                  <a:srgbClr val="000000"/>
                </a:solidFill>
                <a:latin typeface="Arial"/>
                <a:ea typeface="Arial"/>
                <a:cs typeface="Arial"/>
                <a:sym typeface="Arial"/>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663"/>
        <p:cNvGrpSpPr/>
        <p:nvPr/>
      </p:nvGrpSpPr>
      <p:grpSpPr>
        <a:xfrm>
          <a:off x="0" y="0"/>
          <a:ext cx="0" cy="0"/>
          <a:chOff x="0" y="0"/>
          <a:chExt cx="0" cy="0"/>
        </a:xfrm>
      </p:grpSpPr>
      <p:sp>
        <p:nvSpPr>
          <p:cNvPr id="2664" name="Google Shape;2664;p136"/>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665" name="Google Shape;2665;p136"/>
          <p:cNvSpPr/>
          <p:nvPr/>
        </p:nvSpPr>
        <p:spPr>
          <a:xfrm>
            <a:off x="580400" y="1520828"/>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Cảm biến tự sinh</a:t>
            </a:r>
            <a:endParaRPr sz="1401">
              <a:solidFill>
                <a:schemeClr val="dk1"/>
              </a:solidFill>
              <a:latin typeface="Arial"/>
              <a:ea typeface="Arial"/>
              <a:cs typeface="Arial"/>
              <a:sym typeface="Arial"/>
            </a:endParaRPr>
          </a:p>
        </p:txBody>
      </p:sp>
      <p:sp>
        <p:nvSpPr>
          <p:cNvPr id="2666" name="Google Shape;2666;p136"/>
          <p:cNvSpPr/>
          <p:nvPr/>
        </p:nvSpPr>
        <p:spPr>
          <a:xfrm>
            <a:off x="712189" y="1774032"/>
            <a:ext cx="8487381" cy="1252857"/>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Không cần nguồn cấp bên ngoài và công suất đầu ra được lấy từ đầu vào. Tức là công suất cần để chuyển đổi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được lấy từ đối tượng cần đo (đầu vào).</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Ví dụ về cảm biến: pin mặt trời, cặp nhiệt điện</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Cảm biến tự cấp nguồn còn được gọi là cảm biến chủ động.</a:t>
            </a:r>
            <a:endParaRPr/>
          </a:p>
        </p:txBody>
      </p:sp>
      <p:grpSp>
        <p:nvGrpSpPr>
          <p:cNvPr id="2667" name="Google Shape;2667;p136"/>
          <p:cNvGrpSpPr/>
          <p:nvPr/>
        </p:nvGrpSpPr>
        <p:grpSpPr>
          <a:xfrm>
            <a:off x="2815262" y="3295655"/>
            <a:ext cx="3629581" cy="673107"/>
            <a:chOff x="3591033" y="3686602"/>
            <a:chExt cx="2661008" cy="493486"/>
          </a:xfrm>
        </p:grpSpPr>
        <p:sp>
          <p:nvSpPr>
            <p:cNvPr id="2668" name="Google Shape;2668;p136"/>
            <p:cNvSpPr/>
            <p:nvPr/>
          </p:nvSpPr>
          <p:spPr>
            <a:xfrm>
              <a:off x="3855076" y="3905842"/>
              <a:ext cx="509759" cy="149177"/>
            </a:xfrm>
            <a:prstGeom prst="stripedRight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1">
                <a:solidFill>
                  <a:srgbClr val="FFFFFF"/>
                </a:solidFill>
                <a:latin typeface="Arial"/>
                <a:ea typeface="Arial"/>
                <a:cs typeface="Arial"/>
                <a:sym typeface="Arial"/>
              </a:endParaRPr>
            </a:p>
          </p:txBody>
        </p:sp>
        <p:sp>
          <p:nvSpPr>
            <p:cNvPr id="2669" name="Google Shape;2669;p136"/>
            <p:cNvSpPr/>
            <p:nvPr/>
          </p:nvSpPr>
          <p:spPr>
            <a:xfrm>
              <a:off x="5537990" y="3894575"/>
              <a:ext cx="509759" cy="149177"/>
            </a:xfrm>
            <a:prstGeom prst="stripedRightArrow">
              <a:avLst>
                <a:gd name="adj1" fmla="val 50000"/>
                <a:gd name="adj2" fmla="val 50000"/>
              </a:avLst>
            </a:prstGeom>
            <a:solidFill>
              <a:srgbClr val="0077C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1">
                <a:solidFill>
                  <a:srgbClr val="FFFFFF"/>
                </a:solidFill>
                <a:latin typeface="Arial"/>
                <a:ea typeface="Arial"/>
                <a:cs typeface="Arial"/>
                <a:sym typeface="Arial"/>
              </a:endParaRPr>
            </a:p>
          </p:txBody>
        </p:sp>
        <p:sp>
          <p:nvSpPr>
            <p:cNvPr id="2670" name="Google Shape;2670;p136"/>
            <p:cNvSpPr/>
            <p:nvPr/>
          </p:nvSpPr>
          <p:spPr>
            <a:xfrm>
              <a:off x="4447299" y="3776537"/>
              <a:ext cx="1008227" cy="403551"/>
            </a:xfrm>
            <a:prstGeom prst="roundRect">
              <a:avLst>
                <a:gd name="adj" fmla="val 50000"/>
              </a:avLst>
            </a:prstGeom>
            <a:solidFill>
              <a:schemeClr val="lt1"/>
            </a:solidFill>
            <a:ln w="9525" cap="flat" cmpd="sng">
              <a:solidFill>
                <a:srgbClr val="A5A5A5"/>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401">
                  <a:solidFill>
                    <a:srgbClr val="262626"/>
                  </a:solidFill>
                  <a:latin typeface="Arial"/>
                  <a:ea typeface="Arial"/>
                  <a:cs typeface="Arial"/>
                  <a:sym typeface="Arial"/>
                </a:rPr>
                <a:t>Cảm biến</a:t>
              </a:r>
              <a:endParaRPr sz="1401">
                <a:solidFill>
                  <a:srgbClr val="262626"/>
                </a:solidFill>
                <a:latin typeface="Arial"/>
                <a:ea typeface="Arial"/>
                <a:cs typeface="Arial"/>
                <a:sym typeface="Arial"/>
              </a:endParaRPr>
            </a:p>
          </p:txBody>
        </p:sp>
        <p:sp>
          <p:nvSpPr>
            <p:cNvPr id="2671" name="Google Shape;2671;p136"/>
            <p:cNvSpPr/>
            <p:nvPr/>
          </p:nvSpPr>
          <p:spPr>
            <a:xfrm>
              <a:off x="3591033" y="3686602"/>
              <a:ext cx="918345" cy="15361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Tín hiệu đầu vào</a:t>
              </a:r>
              <a:endParaRPr sz="1401">
                <a:solidFill>
                  <a:srgbClr val="000000"/>
                </a:solidFill>
                <a:latin typeface="Arial"/>
                <a:ea typeface="Arial"/>
                <a:cs typeface="Arial"/>
                <a:sym typeface="Arial"/>
              </a:endParaRPr>
            </a:p>
          </p:txBody>
        </p:sp>
        <p:sp>
          <p:nvSpPr>
            <p:cNvPr id="2672" name="Google Shape;2672;p136"/>
            <p:cNvSpPr/>
            <p:nvPr/>
          </p:nvSpPr>
          <p:spPr>
            <a:xfrm>
              <a:off x="5333696" y="3718409"/>
              <a:ext cx="918345" cy="12180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1">
                  <a:solidFill>
                    <a:srgbClr val="000000"/>
                  </a:solidFill>
                  <a:latin typeface="Arial"/>
                  <a:ea typeface="Arial"/>
                  <a:cs typeface="Arial"/>
                  <a:sym typeface="Arial"/>
                </a:rPr>
                <a:t>Tín hiệu đầu ra</a:t>
              </a:r>
              <a:endParaRPr sz="1401">
                <a:solidFill>
                  <a:srgbClr val="000000"/>
                </a:solidFill>
                <a:latin typeface="Arial"/>
                <a:ea typeface="Arial"/>
                <a:cs typeface="Arial"/>
                <a:sym typeface="Arial"/>
              </a:endParaRPr>
            </a:p>
          </p:txBody>
        </p:sp>
      </p:grpSp>
      <p:sp>
        <p:nvSpPr>
          <p:cNvPr id="2673" name="Google Shape;2673;p136"/>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lt1"/>
                </a:solidFill>
                <a:latin typeface="Arial"/>
                <a:ea typeface="Arial"/>
                <a:cs typeface="Arial"/>
                <a:sym typeface="Arial"/>
              </a:rPr>
              <a:t>3.3. </a:t>
            </a:r>
            <a:r>
              <a:rPr lang="en-US" sz="1799" b="1" dirty="0" err="1">
                <a:solidFill>
                  <a:schemeClr val="tx1"/>
                </a:solidFill>
                <a:latin typeface="Arial"/>
                <a:ea typeface="Arial"/>
                <a:cs typeface="Arial"/>
                <a:sym typeface="Arial"/>
              </a:rPr>
              <a:t>Phân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loại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678"/>
        <p:cNvGrpSpPr/>
        <p:nvPr/>
      </p:nvGrpSpPr>
      <p:grpSpPr>
        <a:xfrm>
          <a:off x="0" y="0"/>
          <a:ext cx="0" cy="0"/>
          <a:chOff x="0" y="0"/>
          <a:chExt cx="0" cy="0"/>
        </a:xfrm>
      </p:grpSpPr>
      <p:sp>
        <p:nvSpPr>
          <p:cNvPr id="2679" name="Google Shape;2679;p137"/>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680" name="Google Shape;2680;p137"/>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err="1">
                <a:solidFill>
                  <a:srgbClr val="0C0C0C"/>
                </a:solidFill>
              </a:rPr>
              <a:t>Dựa</a:t>
            </a:r>
            <a:r>
              <a:rPr lang="en-US" sz="2401" b="1" dirty="0">
                <a:solidFill>
                  <a:srgbClr val="0C0C0C"/>
                </a:solidFill>
              </a:rPr>
              <a:t> </a:t>
            </a:r>
            <a:r>
              <a:rPr lang="en-US" sz="2401" b="1" dirty="0" err="1">
                <a:solidFill>
                  <a:srgbClr val="0C0C0C"/>
                </a:solidFill>
              </a:rPr>
              <a:t>theo</a:t>
            </a:r>
            <a:r>
              <a:rPr lang="en-US" sz="2401" b="1" dirty="0">
                <a:solidFill>
                  <a:srgbClr val="0C0C0C"/>
                </a:solidFill>
              </a:rPr>
              <a:t> </a:t>
            </a:r>
            <a:r>
              <a:rPr lang="en-US" sz="2401" b="1" dirty="0" err="1">
                <a:solidFill>
                  <a:srgbClr val="0C0C0C"/>
                </a:solidFill>
                <a:latin typeface="Arial"/>
                <a:ea typeface="Arial"/>
                <a:cs typeface="Arial"/>
                <a:sym typeface="Arial"/>
              </a:rPr>
              <a:t>loại</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tín</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hiệu</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đầu</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ra</a:t>
            </a:r>
            <a:endParaRPr sz="2401" b="1" dirty="0">
              <a:solidFill>
                <a:srgbClr val="0C0C0C"/>
              </a:solidFill>
              <a:latin typeface="Arial"/>
              <a:ea typeface="Arial"/>
              <a:cs typeface="Arial"/>
              <a:sym typeface="Arial"/>
            </a:endParaRPr>
          </a:p>
        </p:txBody>
      </p:sp>
      <p:sp>
        <p:nvSpPr>
          <p:cNvPr id="2681" name="Google Shape;2681;p137"/>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Cảm biến analog</a:t>
            </a:r>
            <a:endParaRPr/>
          </a:p>
        </p:txBody>
      </p:sp>
      <p:sp>
        <p:nvSpPr>
          <p:cNvPr id="2682" name="Google Shape;2682;p137"/>
          <p:cNvSpPr/>
          <p:nvPr/>
        </p:nvSpPr>
        <p:spPr>
          <a:xfrm>
            <a:off x="712189" y="2174875"/>
            <a:ext cx="8487381" cy="1452783"/>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Tín hiệu analog có đầu ra thay đổi liên tục</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Thông tin thu được từ biên độ tín hiệu đầu ra.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Cảm biến có tín hiệu đầu ra biến thiên được phân loại là cảm biến analog. Tuy nhiên, có lúc tín hiệu tuần hoàn được gọi là cảm biến chuẩn số hóa do dễ dàng chuyển đổi thành tín hiệu số.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Hầu hết các cảm biến đều là cảm biến analog. </a:t>
            </a:r>
            <a:endParaRPr/>
          </a:p>
        </p:txBody>
      </p:sp>
      <p:sp>
        <p:nvSpPr>
          <p:cNvPr id="2683" name="Google Shape;2683;p137"/>
          <p:cNvSpPr/>
          <p:nvPr/>
        </p:nvSpPr>
        <p:spPr>
          <a:xfrm>
            <a:off x="580400" y="3827720"/>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 Cảm biến số</a:t>
            </a:r>
            <a:endParaRPr sz="1401">
              <a:solidFill>
                <a:schemeClr val="dk1"/>
              </a:solidFill>
              <a:latin typeface="Arial"/>
              <a:ea typeface="Arial"/>
              <a:cs typeface="Arial"/>
              <a:sym typeface="Arial"/>
            </a:endParaRPr>
          </a:p>
        </p:txBody>
      </p:sp>
      <p:sp>
        <p:nvSpPr>
          <p:cNvPr id="2684" name="Google Shape;2684;p137"/>
          <p:cNvSpPr/>
          <p:nvPr/>
        </p:nvSpPr>
        <p:spPr>
          <a:xfrm>
            <a:off x="712189" y="4058057"/>
            <a:ext cx="8487381" cy="1452783"/>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Đầu ra cảm biến là tín hiệu số.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Tín hiệu số thường dễ truyền hơn, tái lập tốt hơn, ổn định hơn và chính xác hơn tín hiệu analog.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Bộ mã hóa vòng quay cũng là một cảm biến số. </a:t>
            </a:r>
            <a:endParaRPr/>
          </a:p>
          <a:p>
            <a:pPr marL="182513" marR="0" lvl="0" indent="-182513" algn="l" rtl="0">
              <a:spcBef>
                <a:spcPts val="802"/>
              </a:spcBef>
              <a:spcAft>
                <a:spcPts val="0"/>
              </a:spcAft>
              <a:buClr>
                <a:srgbClr val="193EB0"/>
              </a:buClr>
              <a:buSzPts val="1299"/>
              <a:buFont typeface="Arial"/>
              <a:buChar char="‣"/>
            </a:pPr>
            <a:r>
              <a:rPr lang="en-US" sz="1299">
                <a:solidFill>
                  <a:srgbClr val="262626"/>
                </a:solidFill>
                <a:latin typeface="Arial"/>
                <a:ea typeface="Arial"/>
                <a:cs typeface="Arial"/>
                <a:sym typeface="Arial"/>
              </a:rPr>
              <a:t>Đầu ra của một thành phần cảm biến thường không phải sạng số. Nhìn chung, sự kết hợp của các bộ chuyển đổi tín hiệu analog sang digital sẽ cho ra tín hiệu số.</a:t>
            </a:r>
            <a:endParaRPr/>
          </a:p>
        </p:txBody>
      </p:sp>
      <p:sp>
        <p:nvSpPr>
          <p:cNvPr id="2685" name="Google Shape;2685;p137"/>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lt1"/>
                </a:solidFill>
                <a:latin typeface="Arial"/>
                <a:ea typeface="Arial"/>
                <a:cs typeface="Arial"/>
                <a:sym typeface="Arial"/>
              </a:rPr>
              <a:t>3.3. </a:t>
            </a:r>
            <a:r>
              <a:rPr lang="en-US" sz="1799" b="1" dirty="0" err="1">
                <a:solidFill>
                  <a:schemeClr val="tx1"/>
                </a:solidFill>
                <a:latin typeface="Arial"/>
                <a:ea typeface="Arial"/>
                <a:cs typeface="Arial"/>
                <a:sym typeface="Arial"/>
              </a:rPr>
              <a:t>Phân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loại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690"/>
        <p:cNvGrpSpPr/>
        <p:nvPr/>
      </p:nvGrpSpPr>
      <p:grpSpPr>
        <a:xfrm>
          <a:off x="0" y="0"/>
          <a:ext cx="0" cy="0"/>
          <a:chOff x="0" y="0"/>
          <a:chExt cx="0" cy="0"/>
        </a:xfrm>
      </p:grpSpPr>
      <p:sp>
        <p:nvSpPr>
          <p:cNvPr id="2691" name="Google Shape;2691;p138"/>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692" name="Google Shape;2692;p138"/>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err="1">
                <a:solidFill>
                  <a:srgbClr val="0C0C0C"/>
                </a:solidFill>
              </a:rPr>
              <a:t>Dựa</a:t>
            </a:r>
            <a:r>
              <a:rPr lang="en-US" sz="2401" b="1" dirty="0">
                <a:solidFill>
                  <a:srgbClr val="0C0C0C"/>
                </a:solidFill>
              </a:rPr>
              <a:t> </a:t>
            </a:r>
            <a:r>
              <a:rPr lang="en-US" sz="2401" b="1" dirty="0" err="1">
                <a:solidFill>
                  <a:srgbClr val="0C0C0C"/>
                </a:solidFill>
              </a:rPr>
              <a:t>t</a:t>
            </a:r>
            <a:r>
              <a:rPr lang="en-US" sz="2401" b="1" dirty="0" err="1">
                <a:solidFill>
                  <a:srgbClr val="0C0C0C"/>
                </a:solidFill>
                <a:latin typeface="Arial"/>
                <a:ea typeface="Arial"/>
                <a:cs typeface="Arial"/>
                <a:sym typeface="Arial"/>
              </a:rPr>
              <a:t>heo</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đối</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tượng</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cần</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phát</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hiện</a:t>
            </a:r>
            <a:endParaRPr dirty="0"/>
          </a:p>
        </p:txBody>
      </p:sp>
      <p:sp>
        <p:nvSpPr>
          <p:cNvPr id="2693" name="Google Shape;2693;p138"/>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Cảm biến được phân loại theo đối tượng cần phát hiện.</a:t>
            </a:r>
            <a:endParaRPr/>
          </a:p>
        </p:txBody>
      </p:sp>
      <p:sp>
        <p:nvSpPr>
          <p:cNvPr id="2694" name="Google Shape;2694;p138"/>
          <p:cNvSpPr/>
          <p:nvPr/>
        </p:nvSpPr>
        <p:spPr>
          <a:xfrm>
            <a:off x="712189" y="2174885"/>
            <a:ext cx="8487381" cy="899042"/>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Cảm biến áp suất, cảm biến tốc độ, cảm biến nhiệt độ, cảm biến dịch chuyển</a:t>
            </a:r>
            <a:endParaRPr/>
          </a:p>
          <a:p>
            <a:pPr marL="182513" marR="0" lvl="0" indent="-182513" algn="l" rtl="0">
              <a:spcBef>
                <a:spcPts val="600"/>
              </a:spcBef>
              <a:spcAft>
                <a:spcPts val="0"/>
              </a:spcAft>
              <a:buClr>
                <a:srgbClr val="193EB0"/>
              </a:buClr>
              <a:buSzPts val="1299"/>
              <a:buFont typeface="Arial"/>
              <a:buChar char="‣"/>
            </a:pPr>
            <a:r>
              <a:rPr lang="en-US" sz="1299">
                <a:solidFill>
                  <a:srgbClr val="262626"/>
                </a:solidFill>
                <a:latin typeface="Arial"/>
                <a:ea typeface="Arial"/>
                <a:cs typeface="Arial"/>
                <a:sym typeface="Arial"/>
              </a:rPr>
              <a:t>Cảm biến khí, Cảm biến độ ẩm</a:t>
            </a:r>
            <a:endParaRPr/>
          </a:p>
          <a:p>
            <a:pPr marL="182513" marR="0" lvl="0" indent="-182513" algn="l" rtl="0">
              <a:spcBef>
                <a:spcPts val="600"/>
              </a:spcBef>
              <a:spcAft>
                <a:spcPts val="0"/>
              </a:spcAft>
              <a:buClr>
                <a:srgbClr val="193EB0"/>
              </a:buClr>
              <a:buSzPts val="1299"/>
              <a:buFont typeface="Arial"/>
              <a:buChar char="‣"/>
            </a:pPr>
            <a:r>
              <a:rPr lang="en-US" sz="1299">
                <a:solidFill>
                  <a:srgbClr val="262626"/>
                </a:solidFill>
                <a:latin typeface="Arial"/>
                <a:ea typeface="Arial"/>
                <a:cs typeface="Arial"/>
                <a:sym typeface="Arial"/>
              </a:rPr>
              <a:t>Đường huyết</a:t>
            </a:r>
            <a:endParaRPr/>
          </a:p>
        </p:txBody>
      </p:sp>
      <p:sp>
        <p:nvSpPr>
          <p:cNvPr id="2695" name="Google Shape;2695;p138"/>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lt1"/>
                </a:solidFill>
                <a:latin typeface="Arial"/>
                <a:ea typeface="Arial"/>
                <a:cs typeface="Arial"/>
                <a:sym typeface="Arial"/>
              </a:rPr>
              <a:t>3.3. </a:t>
            </a:r>
            <a:r>
              <a:rPr lang="en-US" sz="1799" b="1" dirty="0" err="1">
                <a:solidFill>
                  <a:schemeClr val="tx1"/>
                </a:solidFill>
                <a:latin typeface="Arial"/>
                <a:ea typeface="Arial"/>
                <a:cs typeface="Arial"/>
                <a:sym typeface="Arial"/>
              </a:rPr>
              <a:t>Phân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loại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graphicFrame>
        <p:nvGraphicFramePr>
          <p:cNvPr id="2696" name="Google Shape;2696;p138"/>
          <p:cNvGraphicFramePr/>
          <p:nvPr/>
        </p:nvGraphicFramePr>
        <p:xfrm>
          <a:off x="625961" y="3332872"/>
          <a:ext cx="8528050" cy="2446440"/>
        </p:xfrm>
        <a:graphic>
          <a:graphicData uri="http://schemas.openxmlformats.org/drawingml/2006/table">
            <a:tbl>
              <a:tblPr>
                <a:noFill/>
              </a:tblPr>
              <a:tblGrid>
                <a:gridCol w="734150">
                  <a:extLst>
                    <a:ext uri="{9D8B030D-6E8A-4147-A177-3AD203B41FA5}">
                      <a16:colId xmlns:a16="http://schemas.microsoft.com/office/drawing/2014/main" val="20000"/>
                    </a:ext>
                  </a:extLst>
                </a:gridCol>
                <a:gridCol w="1268500">
                  <a:extLst>
                    <a:ext uri="{9D8B030D-6E8A-4147-A177-3AD203B41FA5}">
                      <a16:colId xmlns:a16="http://schemas.microsoft.com/office/drawing/2014/main" val="20001"/>
                    </a:ext>
                  </a:extLst>
                </a:gridCol>
                <a:gridCol w="1111700">
                  <a:extLst>
                    <a:ext uri="{9D8B030D-6E8A-4147-A177-3AD203B41FA5}">
                      <a16:colId xmlns:a16="http://schemas.microsoft.com/office/drawing/2014/main" val="20002"/>
                    </a:ext>
                  </a:extLst>
                </a:gridCol>
                <a:gridCol w="1071025">
                  <a:extLst>
                    <a:ext uri="{9D8B030D-6E8A-4147-A177-3AD203B41FA5}">
                      <a16:colId xmlns:a16="http://schemas.microsoft.com/office/drawing/2014/main" val="20003"/>
                    </a:ext>
                  </a:extLst>
                </a:gridCol>
                <a:gridCol w="1075325">
                  <a:extLst>
                    <a:ext uri="{9D8B030D-6E8A-4147-A177-3AD203B41FA5}">
                      <a16:colId xmlns:a16="http://schemas.microsoft.com/office/drawing/2014/main" val="20004"/>
                    </a:ext>
                  </a:extLst>
                </a:gridCol>
                <a:gridCol w="1210250">
                  <a:extLst>
                    <a:ext uri="{9D8B030D-6E8A-4147-A177-3AD203B41FA5}">
                      <a16:colId xmlns:a16="http://schemas.microsoft.com/office/drawing/2014/main" val="20005"/>
                    </a:ext>
                  </a:extLst>
                </a:gridCol>
                <a:gridCol w="1017075">
                  <a:extLst>
                    <a:ext uri="{9D8B030D-6E8A-4147-A177-3AD203B41FA5}">
                      <a16:colId xmlns:a16="http://schemas.microsoft.com/office/drawing/2014/main" val="20006"/>
                    </a:ext>
                  </a:extLst>
                </a:gridCol>
                <a:gridCol w="1040025">
                  <a:extLst>
                    <a:ext uri="{9D8B030D-6E8A-4147-A177-3AD203B41FA5}">
                      <a16:colId xmlns:a16="http://schemas.microsoft.com/office/drawing/2014/main" val="20007"/>
                    </a:ext>
                  </a:extLst>
                </a:gridCol>
              </a:tblGrid>
              <a:tr h="463725">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Số</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Vị trí</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Sửa đổi</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Lưu lượng</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Thành phần</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Hạt</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Năng lượng tỏa nhiệt</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Khí nguy hại, độc</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849800">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Độ dài</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Mức độ</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Áp suất</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Gia tốc</a:t>
                      </a:r>
                      <a:endParaRPr/>
                    </a:p>
                    <a:p>
                      <a:pPr marL="0" marR="0" lvl="0" indent="0" algn="ctr" rtl="0">
                        <a:lnSpc>
                          <a:spcPct val="100000"/>
                        </a:lnSpc>
                        <a:spcBef>
                          <a:spcPts val="24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tốc độ</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Độ ẩm</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Trọng lượng riêng, khối lượng riêng</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Nhiệt độ</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Hương vị</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66277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Mặt </a:t>
                      </a:r>
                      <a:endParaRPr sz="1300" b="0" u="none" strike="noStrike" cap="none">
                        <a:solidFill>
                          <a:srgbClr val="262626"/>
                        </a:solidFill>
                        <a:latin typeface="Arial"/>
                        <a:ea typeface="Arial"/>
                        <a:cs typeface="Arial"/>
                        <a:sym typeface="Arial"/>
                      </a:endParaRPr>
                    </a:p>
                    <a:p>
                      <a:pPr marL="0" marR="0" lvl="0" indent="0" algn="ctr" rtl="0">
                        <a:lnSpc>
                          <a:spcPct val="100000"/>
                        </a:lnSpc>
                        <a:spcBef>
                          <a:spcPts val="26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phẳng</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Dịch chuyển tuyến tính</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Mô-men xoắn</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Sóng âm</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Nồng độ ion</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Khiếm khuyết</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Lửa</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Khứu giác</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4637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Chất </a:t>
                      </a:r>
                      <a:endParaRPr sz="1300" b="0" u="none" strike="noStrike" cap="none">
                        <a:solidFill>
                          <a:srgbClr val="262626"/>
                        </a:solidFill>
                        <a:latin typeface="Arial"/>
                        <a:ea typeface="Arial"/>
                        <a:cs typeface="Arial"/>
                        <a:sym typeface="Arial"/>
                      </a:endParaRPr>
                    </a:p>
                    <a:p>
                      <a:pPr marL="0" marR="0" lvl="0" indent="0" algn="ctr" rtl="0">
                        <a:lnSpc>
                          <a:spcPct val="100000"/>
                        </a:lnSpc>
                        <a:spcBef>
                          <a:spcPts val="26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rắn</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Dịch chuyển quay</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Thông lượng</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Rung động</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Độ đục</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Độ ẩm</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Khói</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Đường huyết</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701"/>
        <p:cNvGrpSpPr/>
        <p:nvPr/>
      </p:nvGrpSpPr>
      <p:grpSpPr>
        <a:xfrm>
          <a:off x="0" y="0"/>
          <a:ext cx="0" cy="0"/>
          <a:chOff x="0" y="0"/>
          <a:chExt cx="0" cy="0"/>
        </a:xfrm>
      </p:grpSpPr>
      <p:sp>
        <p:nvSpPr>
          <p:cNvPr id="2702" name="Google Shape;2702;p139"/>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703" name="Google Shape;2703;p139"/>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err="1">
                <a:solidFill>
                  <a:srgbClr val="0C0C0C"/>
                </a:solidFill>
              </a:rPr>
              <a:t>Dựa</a:t>
            </a:r>
            <a:r>
              <a:rPr lang="en-US" sz="2400" b="1" dirty="0">
                <a:solidFill>
                  <a:srgbClr val="0C0C0C"/>
                </a:solidFill>
              </a:rPr>
              <a:t> </a:t>
            </a:r>
            <a:r>
              <a:rPr lang="en-US" sz="2400" b="1" dirty="0" err="1">
                <a:solidFill>
                  <a:srgbClr val="0C0C0C"/>
                </a:solidFill>
              </a:rPr>
              <a:t>t</a:t>
            </a:r>
            <a:r>
              <a:rPr lang="en-US" sz="2400" b="1" dirty="0" err="1">
                <a:solidFill>
                  <a:srgbClr val="0C0C0C"/>
                </a:solidFill>
                <a:latin typeface="Arial"/>
                <a:ea typeface="Arial"/>
                <a:cs typeface="Arial"/>
                <a:sym typeface="Arial"/>
              </a:rPr>
              <a:t>heo</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liệu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tạo</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cảm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biến</a:t>
            </a:r>
            <a:endParaRPr dirty="0"/>
          </a:p>
        </p:txBody>
      </p:sp>
      <p:sp>
        <p:nvSpPr>
          <p:cNvPr id="2704" name="Google Shape;2704;p139"/>
          <p:cNvSpPr/>
          <p:nvPr/>
        </p:nvSpPr>
        <p:spPr>
          <a:xfrm>
            <a:off x="580400" y="1944540"/>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dirty="0" err="1">
                <a:solidFill>
                  <a:schemeClr val="dk1"/>
                </a:solidFill>
                <a:latin typeface="Arial"/>
                <a:ea typeface="Arial"/>
                <a:cs typeface="Arial"/>
                <a:sym typeface="Arial"/>
              </a:rPr>
              <a:t>Cảm</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biến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được</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phân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loại</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theo</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vật</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liệu</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chuyển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đổi</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tín</a:t>
            </a:r>
            <a:r>
              <a:rPr lang="en-US" sz="1401" dirty="0">
                <a:solidFill>
                  <a:schemeClr val="dk1"/>
                </a:solidFill>
                <a:latin typeface="Arial"/>
                <a:ea typeface="Arial"/>
                <a:cs typeface="Arial"/>
                <a:sym typeface="Arial"/>
              </a:rPr>
              <a:t> </a:t>
            </a:r>
            <a:r>
              <a:rPr lang="en-US" sz="1401" dirty="0" err="1">
                <a:solidFill>
                  <a:schemeClr val="dk1"/>
                </a:solidFill>
                <a:latin typeface="Arial"/>
                <a:ea typeface="Arial"/>
                <a:cs typeface="Arial"/>
                <a:sym typeface="Arial"/>
              </a:rPr>
              <a:t>hiệu</a:t>
            </a:r>
            <a:endParaRPr dirty="0"/>
          </a:p>
        </p:txBody>
      </p:sp>
      <p:sp>
        <p:nvSpPr>
          <p:cNvPr id="2705" name="Google Shape;2705;p139"/>
          <p:cNvSpPr/>
          <p:nvPr/>
        </p:nvSpPr>
        <p:spPr>
          <a:xfrm>
            <a:off x="712189" y="2174885"/>
            <a:ext cx="8487381" cy="899042"/>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Vật liệu vô cơ: Cảm biến kim loại, Cảm biến gốm, Cảm biến sợi quang</a:t>
            </a:r>
            <a:endParaRPr/>
          </a:p>
          <a:p>
            <a:pPr marL="182513" marR="0" lvl="0" indent="-182513" algn="l" rtl="0">
              <a:spcBef>
                <a:spcPts val="600"/>
              </a:spcBef>
              <a:spcAft>
                <a:spcPts val="0"/>
              </a:spcAft>
              <a:buClr>
                <a:srgbClr val="193EB0"/>
              </a:buClr>
              <a:buSzPts val="1299"/>
              <a:buFont typeface="Arial"/>
              <a:buChar char="‣"/>
            </a:pPr>
            <a:r>
              <a:rPr lang="en-US" sz="1299">
                <a:solidFill>
                  <a:srgbClr val="262626"/>
                </a:solidFill>
                <a:latin typeface="Arial"/>
                <a:ea typeface="Arial"/>
                <a:cs typeface="Arial"/>
                <a:sym typeface="Arial"/>
              </a:rPr>
              <a:t>Vật liệu hữu cơ: Cảm biến polyme, Cảm biến sinh học</a:t>
            </a:r>
            <a:endParaRPr/>
          </a:p>
          <a:p>
            <a:pPr marL="182513" marR="0" lvl="0" indent="-182513" algn="l" rtl="0">
              <a:spcBef>
                <a:spcPts val="600"/>
              </a:spcBef>
              <a:spcAft>
                <a:spcPts val="0"/>
              </a:spcAft>
              <a:buClr>
                <a:srgbClr val="193EB0"/>
              </a:buClr>
              <a:buSzPts val="1299"/>
              <a:buFont typeface="Arial"/>
              <a:buChar char="‣"/>
            </a:pPr>
            <a:r>
              <a:rPr lang="en-US" sz="1299">
                <a:solidFill>
                  <a:srgbClr val="262626"/>
                </a:solidFill>
                <a:latin typeface="Arial"/>
                <a:ea typeface="Arial"/>
                <a:cs typeface="Arial"/>
                <a:sym typeface="Arial"/>
              </a:rPr>
              <a:t>Vật liệu tổng hợp: Cảm biến áp điện PZT</a:t>
            </a:r>
            <a:endParaRPr/>
          </a:p>
        </p:txBody>
      </p:sp>
      <p:sp>
        <p:nvSpPr>
          <p:cNvPr id="2706" name="Google Shape;2706;p139"/>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lt1"/>
                </a:solidFill>
                <a:latin typeface="Arial"/>
                <a:ea typeface="Arial"/>
                <a:cs typeface="Arial"/>
                <a:sym typeface="Arial"/>
              </a:rPr>
              <a:t>3.3. </a:t>
            </a:r>
            <a:r>
              <a:rPr lang="en-US" sz="1799" b="1" dirty="0" err="1">
                <a:solidFill>
                  <a:schemeClr val="tx1"/>
                </a:solidFill>
                <a:latin typeface="Arial"/>
                <a:ea typeface="Arial"/>
                <a:cs typeface="Arial"/>
                <a:sym typeface="Arial"/>
              </a:rPr>
              <a:t>Phân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loại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graphicFrame>
        <p:nvGraphicFramePr>
          <p:cNvPr id="2707" name="Google Shape;2707;p139"/>
          <p:cNvGraphicFramePr/>
          <p:nvPr/>
        </p:nvGraphicFramePr>
        <p:xfrm>
          <a:off x="625961" y="3417807"/>
          <a:ext cx="8528050" cy="2560260"/>
        </p:xfrm>
        <a:graphic>
          <a:graphicData uri="http://schemas.openxmlformats.org/drawingml/2006/table">
            <a:tbl>
              <a:tblPr>
                <a:noFill/>
              </a:tblPr>
              <a:tblGrid>
                <a:gridCol w="1993800">
                  <a:extLst>
                    <a:ext uri="{9D8B030D-6E8A-4147-A177-3AD203B41FA5}">
                      <a16:colId xmlns:a16="http://schemas.microsoft.com/office/drawing/2014/main" val="20000"/>
                    </a:ext>
                  </a:extLst>
                </a:gridCol>
                <a:gridCol w="6534250">
                  <a:extLst>
                    <a:ext uri="{9D8B030D-6E8A-4147-A177-3AD203B41FA5}">
                      <a16:colId xmlns:a16="http://schemas.microsoft.com/office/drawing/2014/main" val="20001"/>
                    </a:ext>
                  </a:extLst>
                </a:gridCol>
              </a:tblGrid>
              <a:tr h="271125">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Vật liệu</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E5E5E5"/>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Ví dụ</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E5E5E5"/>
                    </a:solidFill>
                  </a:tcPr>
                </a:tc>
                <a:extLst>
                  <a:ext uri="{0D108BD9-81ED-4DB2-BD59-A6C34878D82A}">
                    <a16:rowId xmlns:a16="http://schemas.microsoft.com/office/drawing/2014/main" val="10000"/>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Kim loại</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RTD, cảm biến kiểu điện trở, cảm biến tải trọng, cặp nhiệt điện</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Chất bán dẫn</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hall, Mạch tích hợp hall, Cảm biến áp suất bán dẫn, Điốt quang</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Gốm</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độ ẩm, Cảm biến gắn trên nhiệt điện trở, Cảm biến khí, Cảm biến áp điện, Cảm biến oxy</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Sợi quang học</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nhiệt độ, Cảm biến mức, Cảm biến áp suất</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Vật liệu điện môi</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hỏa điện, Cảm biến nhiệt độ</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Đại phân tử</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độ ẩm, Cảm biến áp điện</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Vật liệu sinh học</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sinh học</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7"/>
                  </a:ext>
                </a:extLst>
              </a:tr>
              <a:tr h="2711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Vật liệu tổng hợp</a:t>
                      </a:r>
                      <a:endParaRPr/>
                    </a:p>
                  </a:txBody>
                  <a:tcPr marL="46125" marR="46125" marT="12750" marB="127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áp điện PZT</a:t>
                      </a:r>
                      <a:endParaRPr/>
                    </a:p>
                  </a:txBody>
                  <a:tcPr marL="46125" marR="46125" marT="12750" marB="127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712"/>
        <p:cNvGrpSpPr/>
        <p:nvPr/>
      </p:nvGrpSpPr>
      <p:grpSpPr>
        <a:xfrm>
          <a:off x="0" y="0"/>
          <a:ext cx="0" cy="0"/>
          <a:chOff x="0" y="0"/>
          <a:chExt cx="0" cy="0"/>
        </a:xfrm>
      </p:grpSpPr>
      <p:sp>
        <p:nvSpPr>
          <p:cNvPr id="2713" name="Google Shape;2713;p140"/>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714" name="Google Shape;2714;p140"/>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err="1">
                <a:solidFill>
                  <a:srgbClr val="0C0C0C"/>
                </a:solidFill>
                <a:latin typeface="Arial"/>
                <a:ea typeface="Arial"/>
                <a:cs typeface="Arial"/>
                <a:sym typeface="Arial"/>
              </a:rPr>
              <a:t>Dựa</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theo</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nguyên</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lý</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và</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hiệu</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ứng</a:t>
            </a:r>
            <a:endParaRPr sz="2401" b="1" dirty="0">
              <a:solidFill>
                <a:srgbClr val="0C0C0C"/>
              </a:solidFill>
              <a:latin typeface="Arial"/>
              <a:ea typeface="Arial"/>
              <a:cs typeface="Arial"/>
              <a:sym typeface="Arial"/>
            </a:endParaRPr>
          </a:p>
        </p:txBody>
      </p:sp>
      <p:sp>
        <p:nvSpPr>
          <p:cNvPr id="2715" name="Google Shape;2715;p140"/>
          <p:cNvSpPr/>
          <p:nvPr/>
        </p:nvSpPr>
        <p:spPr>
          <a:xfrm>
            <a:off x="580400" y="1944540"/>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Cảm biến được phân loại theo nguyên lý và hiệu quả sử dụng trong quá trình chuyển đổi</a:t>
            </a:r>
            <a:endParaRPr/>
          </a:p>
        </p:txBody>
      </p:sp>
      <p:sp>
        <p:nvSpPr>
          <p:cNvPr id="2716" name="Google Shape;2716;p140"/>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lt1"/>
                </a:solidFill>
                <a:latin typeface="Arial"/>
                <a:ea typeface="Arial"/>
                <a:cs typeface="Arial"/>
                <a:sym typeface="Arial"/>
              </a:rPr>
              <a:t>3.3. </a:t>
            </a:r>
            <a:r>
              <a:rPr lang="en-US" sz="1799" b="1" dirty="0" err="1">
                <a:solidFill>
                  <a:schemeClr val="tx1"/>
                </a:solidFill>
                <a:latin typeface="Arial"/>
                <a:ea typeface="Arial"/>
                <a:cs typeface="Arial"/>
                <a:sym typeface="Arial"/>
              </a:rPr>
              <a:t>Phân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loại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graphicFrame>
        <p:nvGraphicFramePr>
          <p:cNvPr id="2717" name="Google Shape;2717;p140"/>
          <p:cNvGraphicFramePr/>
          <p:nvPr/>
        </p:nvGraphicFramePr>
        <p:xfrm>
          <a:off x="687387" y="2565586"/>
          <a:ext cx="8528025" cy="3425250"/>
        </p:xfrm>
        <a:graphic>
          <a:graphicData uri="http://schemas.openxmlformats.org/drawingml/2006/table">
            <a:tbl>
              <a:tblPr>
                <a:noFill/>
              </a:tblPr>
              <a:tblGrid>
                <a:gridCol w="1620750">
                  <a:extLst>
                    <a:ext uri="{9D8B030D-6E8A-4147-A177-3AD203B41FA5}">
                      <a16:colId xmlns:a16="http://schemas.microsoft.com/office/drawing/2014/main" val="20000"/>
                    </a:ext>
                  </a:extLst>
                </a:gridCol>
                <a:gridCol w="6907275">
                  <a:extLst>
                    <a:ext uri="{9D8B030D-6E8A-4147-A177-3AD203B41FA5}">
                      <a16:colId xmlns:a16="http://schemas.microsoft.com/office/drawing/2014/main" val="20001"/>
                    </a:ext>
                  </a:extLst>
                </a:gridCol>
              </a:tblGrid>
              <a:tr h="369800">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Phân loại</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E5E5E5"/>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đại diện</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E5E5E5"/>
                    </a:solidFill>
                  </a:tcPr>
                </a:tc>
                <a:extLst>
                  <a:ext uri="{0D108BD9-81ED-4DB2-BD59-A6C34878D82A}">
                    <a16:rowId xmlns:a16="http://schemas.microsoft.com/office/drawing/2014/main" val="10000"/>
                  </a:ext>
                </a:extLst>
              </a:tr>
              <a:tr h="819650">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Động lực học</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mức, Cảm biến tốc độ, Cảm biến gia tốc, Cảm biến rung động, Cảm biến tải trọng, Cảm biến áp suất, Cảm biến lưu lượng</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589500">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Điện từ</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hall, Mạch tích hợp hall, cảm biến điện trở từ (MR)</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819650">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Ánh sáng</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Điốt quang, transistor quang, Cảm biến hồng ngoại, Cảm biến tia cực tím, Ống quang điện, Cảm biến hình ảnh (CCD và CMOS)</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4133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Nhiệt độ</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Cặp nhiệt điện, RTD, Điện trở nhiệt NTC/PTC, Cảm biến nhiệt độ IC</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4133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Hóa học</a:t>
                      </a:r>
                      <a:endParaRPr/>
                    </a:p>
                  </a:txBody>
                  <a:tcPr marL="64750" marR="64750" marT="17900" marB="179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khí, Cảm biến độ ẩm, Cảm biến ion, Cảm biến sinh học</a:t>
                      </a:r>
                      <a:endParaRPr/>
                    </a:p>
                  </a:txBody>
                  <a:tcPr marL="64750" marR="64750" marT="17900" marB="179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722"/>
        <p:cNvGrpSpPr/>
        <p:nvPr/>
      </p:nvGrpSpPr>
      <p:grpSpPr>
        <a:xfrm>
          <a:off x="0" y="0"/>
          <a:ext cx="0" cy="0"/>
          <a:chOff x="0" y="0"/>
          <a:chExt cx="0" cy="0"/>
        </a:xfrm>
      </p:grpSpPr>
      <p:sp>
        <p:nvSpPr>
          <p:cNvPr id="2723" name="Google Shape;2723;p141"/>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724" name="Google Shape;2724;p141"/>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dirty="0" err="1">
                <a:solidFill>
                  <a:srgbClr val="0C0C0C"/>
                </a:solidFill>
                <a:latin typeface="Arial"/>
                <a:ea typeface="Arial"/>
                <a:cs typeface="Arial"/>
                <a:sym typeface="Arial"/>
              </a:rPr>
              <a:t>Dựa</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theo</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cách</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sử</a:t>
            </a:r>
            <a:r>
              <a:rPr lang="en-US" sz="2401" b="1" dirty="0">
                <a:solidFill>
                  <a:srgbClr val="0C0C0C"/>
                </a:solidFill>
                <a:latin typeface="Arial"/>
                <a:ea typeface="Arial"/>
                <a:cs typeface="Arial"/>
                <a:sym typeface="Arial"/>
              </a:rPr>
              <a:t> </a:t>
            </a:r>
            <a:r>
              <a:rPr lang="en-US" sz="2401" b="1" dirty="0" err="1">
                <a:solidFill>
                  <a:srgbClr val="0C0C0C"/>
                </a:solidFill>
                <a:latin typeface="Arial"/>
                <a:ea typeface="Arial"/>
                <a:cs typeface="Arial"/>
                <a:sym typeface="Arial"/>
              </a:rPr>
              <a:t>dụng</a:t>
            </a:r>
            <a:endParaRPr sz="2401" b="1" dirty="0">
              <a:solidFill>
                <a:srgbClr val="0C0C0C"/>
              </a:solidFill>
              <a:latin typeface="Arial"/>
              <a:ea typeface="Arial"/>
              <a:cs typeface="Arial"/>
              <a:sym typeface="Arial"/>
            </a:endParaRPr>
          </a:p>
        </p:txBody>
      </p:sp>
      <p:sp>
        <p:nvSpPr>
          <p:cNvPr id="2725" name="Google Shape;2725;p141"/>
          <p:cNvSpPr/>
          <p:nvPr/>
        </p:nvSpPr>
        <p:spPr>
          <a:xfrm>
            <a:off x="580400" y="1944543"/>
            <a:ext cx="8619172" cy="215572"/>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Phân loại theo ứng dụng trong công nghiệp của cảm biến</a:t>
            </a:r>
            <a:endParaRPr sz="1401">
              <a:solidFill>
                <a:schemeClr val="dk1"/>
              </a:solidFill>
              <a:latin typeface="Arial"/>
              <a:ea typeface="Arial"/>
              <a:cs typeface="Arial"/>
              <a:sym typeface="Arial"/>
            </a:endParaRPr>
          </a:p>
        </p:txBody>
      </p:sp>
      <p:sp>
        <p:nvSpPr>
          <p:cNvPr id="2726" name="Google Shape;2726;p141"/>
          <p:cNvSpPr/>
          <p:nvPr/>
        </p:nvSpPr>
        <p:spPr>
          <a:xfrm>
            <a:off x="712189" y="2197738"/>
            <a:ext cx="8487381" cy="622171"/>
          </a:xfrm>
          <a:prstGeom prst="rect">
            <a:avLst/>
          </a:prstGeom>
          <a:noFill/>
          <a:ln>
            <a:noFill/>
          </a:ln>
        </p:spPr>
        <p:txBody>
          <a:bodyPr spcFirstLastPara="1" wrap="square" lIns="0" tIns="71975" rIns="143950" bIns="71975" anchor="t" anchorCtr="0">
            <a:spAutoFit/>
          </a:bodyPr>
          <a:lstStyle/>
          <a:p>
            <a:pPr marL="182513" marR="0" lvl="0" indent="-182513" algn="l" rtl="0">
              <a:spcBef>
                <a:spcPts val="0"/>
              </a:spcBef>
              <a:spcAft>
                <a:spcPts val="0"/>
              </a:spcAft>
              <a:buClr>
                <a:srgbClr val="193EB0"/>
              </a:buClr>
              <a:buSzPts val="1299"/>
              <a:buFont typeface="Arial"/>
              <a:buChar char="‣"/>
            </a:pPr>
            <a:r>
              <a:rPr lang="en-US" sz="1299">
                <a:solidFill>
                  <a:srgbClr val="262626"/>
                </a:solidFill>
                <a:latin typeface="Arial"/>
                <a:ea typeface="Arial"/>
                <a:cs typeface="Arial"/>
                <a:sym typeface="Arial"/>
              </a:rPr>
              <a:t>Công nghiệp, Công cộng, Nghiên cứu, Y tế, Quân sự, v.v.</a:t>
            </a:r>
            <a:endParaRPr/>
          </a:p>
          <a:p>
            <a:pPr marL="182513" marR="0" lvl="0" indent="-182513" algn="l" rtl="0">
              <a:spcBef>
                <a:spcPts val="600"/>
              </a:spcBef>
              <a:spcAft>
                <a:spcPts val="0"/>
              </a:spcAft>
              <a:buClr>
                <a:srgbClr val="193EB0"/>
              </a:buClr>
              <a:buSzPts val="1299"/>
              <a:buFont typeface="Arial"/>
              <a:buChar char="‣"/>
            </a:pPr>
            <a:r>
              <a:rPr lang="en-US" sz="1299">
                <a:solidFill>
                  <a:srgbClr val="262626"/>
                </a:solidFill>
                <a:latin typeface="Arial"/>
                <a:ea typeface="Arial"/>
                <a:cs typeface="Arial"/>
                <a:sym typeface="Arial"/>
              </a:rPr>
              <a:t>Phương tiện di chuyển, Robot, Phòng chống thiên tai, v.v.</a:t>
            </a:r>
            <a:endParaRPr/>
          </a:p>
        </p:txBody>
      </p:sp>
      <p:sp>
        <p:nvSpPr>
          <p:cNvPr id="2727" name="Google Shape;2727;p141"/>
          <p:cNvSpPr/>
          <p:nvPr/>
        </p:nvSpPr>
        <p:spPr>
          <a:xfrm>
            <a:off x="416136" y="444879"/>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lt1"/>
                </a:solidFill>
                <a:latin typeface="Arial"/>
                <a:ea typeface="Arial"/>
                <a:cs typeface="Arial"/>
                <a:sym typeface="Arial"/>
              </a:rPr>
              <a:t>3.3. </a:t>
            </a:r>
            <a:r>
              <a:rPr lang="en-US" sz="1799" b="1" dirty="0" err="1">
                <a:solidFill>
                  <a:schemeClr val="tx1"/>
                </a:solidFill>
                <a:latin typeface="Arial"/>
                <a:ea typeface="Arial"/>
                <a:cs typeface="Arial"/>
                <a:sym typeface="Arial"/>
              </a:rPr>
              <a:t>Phân</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loại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000">
          <a:extLst>
            <a:ext uri="{FF2B5EF4-FFF2-40B4-BE49-F238E27FC236}">
              <a16:creationId xmlns:a16="http://schemas.microsoft.com/office/drawing/2014/main" id="{C076BF00-0D19-C5E2-40AB-F3608E8201E7}"/>
            </a:ext>
          </a:extLst>
        </p:cNvPr>
        <p:cNvGrpSpPr/>
        <p:nvPr/>
      </p:nvGrpSpPr>
      <p:grpSpPr>
        <a:xfrm>
          <a:off x="0" y="0"/>
          <a:ext cx="0" cy="0"/>
          <a:chOff x="0" y="0"/>
          <a:chExt cx="0" cy="0"/>
        </a:xfrm>
      </p:grpSpPr>
      <p:sp>
        <p:nvSpPr>
          <p:cNvPr id="2001" name="Google Shape;2001;p107">
            <a:extLst>
              <a:ext uri="{FF2B5EF4-FFF2-40B4-BE49-F238E27FC236}">
                <a16:creationId xmlns:a16="http://schemas.microsoft.com/office/drawing/2014/main" id="{5C47BEE7-2E65-B530-2641-058F77B52722}"/>
              </a:ext>
            </a:extLst>
          </p:cNvPr>
          <p:cNvSpPr/>
          <p:nvPr/>
        </p:nvSpPr>
        <p:spPr>
          <a:xfrm>
            <a:off x="990006" y="3038809"/>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Tìm hiểu về cảm biến</a:t>
            </a:r>
            <a:endParaRPr sz="3600" b="1">
              <a:solidFill>
                <a:schemeClr val="dk1"/>
              </a:solidFill>
              <a:latin typeface="Arial"/>
              <a:ea typeface="Arial"/>
              <a:cs typeface="Arial"/>
              <a:sym typeface="Arial"/>
            </a:endParaRPr>
          </a:p>
        </p:txBody>
      </p:sp>
      <p:sp>
        <p:nvSpPr>
          <p:cNvPr id="2002" name="Google Shape;2002;p107">
            <a:extLst>
              <a:ext uri="{FF2B5EF4-FFF2-40B4-BE49-F238E27FC236}">
                <a16:creationId xmlns:a16="http://schemas.microsoft.com/office/drawing/2014/main" id="{191AF45E-C70C-52E4-DDCF-75EA5DF5B5F6}"/>
              </a:ext>
            </a:extLst>
          </p:cNvPr>
          <p:cNvSpPr/>
          <p:nvPr/>
        </p:nvSpPr>
        <p:spPr>
          <a:xfrm>
            <a:off x="990012" y="2748549"/>
            <a:ext cx="5479711" cy="30764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99" b="1" dirty="0">
                <a:solidFill>
                  <a:srgbClr val="7F7F7F"/>
                </a:solidFill>
                <a:latin typeface="Arial"/>
                <a:ea typeface="Arial"/>
                <a:cs typeface="Arial"/>
                <a:sym typeface="Arial"/>
              </a:rPr>
              <a:t>2.</a:t>
            </a:r>
            <a:endParaRPr dirty="0"/>
          </a:p>
        </p:txBody>
      </p:sp>
      <p:sp>
        <p:nvSpPr>
          <p:cNvPr id="2003" name="Google Shape;2003;p107">
            <a:extLst>
              <a:ext uri="{FF2B5EF4-FFF2-40B4-BE49-F238E27FC236}">
                <a16:creationId xmlns:a16="http://schemas.microsoft.com/office/drawing/2014/main" id="{92DA3D14-B327-9626-02DD-4B8C6C9C7E91}"/>
              </a:ext>
            </a:extLst>
          </p:cNvPr>
          <p:cNvSpPr/>
          <p:nvPr/>
        </p:nvSpPr>
        <p:spPr>
          <a:xfrm>
            <a:off x="1054119" y="4003783"/>
            <a:ext cx="5415603" cy="1897314"/>
          </a:xfrm>
          <a:prstGeom prst="rect">
            <a:avLst/>
          </a:prstGeom>
          <a:noFill/>
          <a:ln>
            <a:noFill/>
          </a:ln>
        </p:spPr>
        <p:txBody>
          <a:bodyPr spcFirstLastPara="1" wrap="square" lIns="0" tIns="0" rIns="0" bIns="0" anchor="t" anchorCtr="0">
            <a:spAutoFit/>
          </a:bodyPr>
          <a:lstStyle/>
          <a:p>
            <a:pPr marL="176201" marR="0" lvl="0" indent="-176201" algn="l" rtl="0">
              <a:spcBef>
                <a:spcPts val="0"/>
              </a:spcBef>
              <a:spcAft>
                <a:spcPts val="0"/>
              </a:spcAft>
              <a:buClr>
                <a:srgbClr val="3F3F3F"/>
              </a:buClr>
              <a:buSzPts val="2159"/>
              <a:buFont typeface="Arial"/>
              <a:buChar char="•"/>
            </a:pPr>
            <a:r>
              <a:rPr lang="en-US" sz="1799" dirty="0">
                <a:solidFill>
                  <a:schemeClr val="bg1">
                    <a:lumMod val="65000"/>
                  </a:schemeClr>
                </a:solidFill>
              </a:rPr>
              <a:t>2</a:t>
            </a:r>
            <a:r>
              <a:rPr lang="en-US" sz="1799" dirty="0">
                <a:solidFill>
                  <a:schemeClr val="bg1">
                    <a:lumMod val="65000"/>
                  </a:schemeClr>
                </a:solidFill>
                <a:latin typeface="Arial"/>
                <a:ea typeface="Arial"/>
                <a:cs typeface="Arial"/>
                <a:sym typeface="Arial"/>
              </a:rPr>
              <a:t>.1. Định </a:t>
            </a:r>
            <a:r>
              <a:rPr lang="en-US" sz="1799" dirty="0" err="1">
                <a:solidFill>
                  <a:schemeClr val="bg1">
                    <a:lumMod val="65000"/>
                  </a:schemeClr>
                </a:solidFill>
                <a:latin typeface="Arial"/>
                <a:ea typeface="Arial"/>
                <a:cs typeface="Arial"/>
                <a:sym typeface="Arial"/>
              </a:rPr>
              <a:t>nghĩa</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cảm</a:t>
            </a:r>
            <a:r>
              <a:rPr lang="en-US" sz="1799" dirty="0">
                <a:solidFill>
                  <a:schemeClr val="bg1">
                    <a:lumMod val="65000"/>
                  </a:schemeClr>
                </a:solidFill>
                <a:latin typeface="Arial"/>
                <a:ea typeface="Arial"/>
                <a:cs typeface="Arial"/>
                <a:sym typeface="Arial"/>
              </a:rPr>
              <a:t> </a:t>
            </a:r>
            <a:r>
              <a:rPr lang="en-US" sz="1799" dirty="0" err="1">
                <a:solidFill>
                  <a:schemeClr val="bg1">
                    <a:lumMod val="65000"/>
                  </a:schemeClr>
                </a:solidFill>
                <a:latin typeface="Arial"/>
                <a:ea typeface="Arial"/>
                <a:cs typeface="Arial"/>
                <a:sym typeface="Arial"/>
              </a:rPr>
              <a:t>biến</a:t>
            </a:r>
            <a:endParaRPr sz="1799" dirty="0">
              <a:solidFill>
                <a:schemeClr val="bg1">
                  <a:lumMod val="65000"/>
                </a:schemeClr>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2.2. </a:t>
            </a:r>
            <a:r>
              <a:rPr lang="en-US" sz="1799" dirty="0" err="1">
                <a:solidFill>
                  <a:srgbClr val="A6A6A6"/>
                </a:solidFill>
                <a:latin typeface="Arial"/>
                <a:ea typeface="Arial"/>
                <a:cs typeface="Arial"/>
                <a:sym typeface="Arial"/>
              </a:rPr>
              <a:t>Đặc</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điểm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cơ</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bản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của</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dirty="0"/>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2.3. </a:t>
            </a:r>
            <a:r>
              <a:rPr lang="en-US" sz="1799" dirty="0" err="1">
                <a:solidFill>
                  <a:srgbClr val="A6A6A6"/>
                </a:solidFill>
                <a:latin typeface="Arial"/>
                <a:ea typeface="Arial"/>
                <a:cs typeface="Arial"/>
                <a:sym typeface="Arial"/>
              </a:rPr>
              <a:t>Phân</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loại</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cảm</a:t>
            </a:r>
            <a:r>
              <a:rPr lang="en-US" sz="1799" dirty="0">
                <a:solidFill>
                  <a:srgbClr val="A6A6A6"/>
                </a:solidFill>
                <a:latin typeface="Arial"/>
                <a:ea typeface="Arial"/>
                <a:cs typeface="Arial"/>
                <a:sym typeface="Arial"/>
              </a:rPr>
              <a:t> </a:t>
            </a:r>
            <a:r>
              <a:rPr lang="en-US" sz="1799" dirty="0" err="1">
                <a:solidFill>
                  <a:srgbClr val="A6A6A6"/>
                </a:solidFill>
                <a:latin typeface="Arial"/>
                <a:ea typeface="Arial"/>
                <a:cs typeface="Arial"/>
                <a:sym typeface="Arial"/>
              </a:rPr>
              <a:t>biến</a:t>
            </a:r>
            <a:endParaRPr sz="1799" dirty="0">
              <a:solidFill>
                <a:srgbClr val="A6A6A6"/>
              </a:solidFill>
              <a:latin typeface="Arial"/>
              <a:ea typeface="Arial"/>
              <a:cs typeface="Arial"/>
              <a:sym typeface="Arial"/>
            </a:endParaRPr>
          </a:p>
          <a:p>
            <a:pPr marL="176201" marR="0" lvl="0" indent="-176201" algn="l" rtl="0">
              <a:spcBef>
                <a:spcPts val="1000"/>
              </a:spcBef>
              <a:spcAft>
                <a:spcPts val="0"/>
              </a:spcAft>
              <a:buClr>
                <a:srgbClr val="A6A6A6"/>
              </a:buClr>
              <a:buSzPts val="2159"/>
              <a:buFont typeface="Arial"/>
              <a:buChar char="•"/>
            </a:pPr>
            <a:r>
              <a:rPr lang="en-US" sz="1799" dirty="0">
                <a:solidFill>
                  <a:srgbClr val="A6A6A6"/>
                </a:solidFill>
                <a:latin typeface="Arial"/>
                <a:ea typeface="Arial"/>
                <a:cs typeface="Arial"/>
                <a:sym typeface="Arial"/>
              </a:rPr>
              <a:t>2.4. </a:t>
            </a:r>
            <a:r>
              <a:rPr lang="en-US" sz="1799" dirty="0" err="1">
                <a:solidFill>
                  <a:schemeClr val="tx1"/>
                </a:solidFill>
                <a:latin typeface="Arial"/>
                <a:ea typeface="Arial"/>
                <a:cs typeface="Arial"/>
                <a:sym typeface="Arial"/>
              </a:rPr>
              <a:t>Ứng</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dụng</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và</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vai</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trò</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của</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cảm</a:t>
            </a:r>
            <a:r>
              <a:rPr lang="en-US" sz="1799" dirty="0">
                <a:solidFill>
                  <a:schemeClr val="tx1"/>
                </a:solidFill>
                <a:latin typeface="Arial"/>
                <a:ea typeface="Arial"/>
                <a:cs typeface="Arial"/>
                <a:sym typeface="Arial"/>
              </a:rPr>
              <a:t> </a:t>
            </a:r>
            <a:r>
              <a:rPr lang="en-US" sz="1799" dirty="0" err="1">
                <a:solidFill>
                  <a:schemeClr val="tx1"/>
                </a:solidFill>
                <a:latin typeface="Arial"/>
                <a:ea typeface="Arial"/>
                <a:cs typeface="Arial"/>
                <a:sym typeface="Arial"/>
              </a:rPr>
              <a:t>biến</a:t>
            </a:r>
            <a:endParaRPr sz="1799" dirty="0">
              <a:solidFill>
                <a:schemeClr val="tx1"/>
              </a:solidFill>
              <a:latin typeface="Arial"/>
              <a:ea typeface="Arial"/>
              <a:cs typeface="Arial"/>
              <a:sym typeface="Arial"/>
            </a:endParaRPr>
          </a:p>
          <a:p>
            <a:pPr marL="0" marR="0" lvl="0" indent="0" algn="l" rtl="0">
              <a:spcBef>
                <a:spcPts val="1000"/>
              </a:spcBef>
              <a:spcAft>
                <a:spcPts val="0"/>
              </a:spcAft>
              <a:buNone/>
            </a:pPr>
            <a:endParaRPr sz="1799"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3269498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740"/>
        <p:cNvGrpSpPr/>
        <p:nvPr/>
      </p:nvGrpSpPr>
      <p:grpSpPr>
        <a:xfrm>
          <a:off x="0" y="0"/>
          <a:ext cx="0" cy="0"/>
          <a:chOff x="0" y="0"/>
          <a:chExt cx="0" cy="0"/>
        </a:xfrm>
      </p:grpSpPr>
      <p:sp>
        <p:nvSpPr>
          <p:cNvPr id="2741" name="Google Shape;2741;p143"/>
          <p:cNvSpPr/>
          <p:nvPr/>
        </p:nvSpPr>
        <p:spPr>
          <a:xfrm>
            <a:off x="416136" y="444878"/>
            <a:ext cx="5824317" cy="2768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99" b="1" dirty="0">
                <a:solidFill>
                  <a:schemeClr val="bg1"/>
                </a:solidFill>
                <a:latin typeface="Arial"/>
                <a:ea typeface="Arial"/>
                <a:cs typeface="Arial"/>
                <a:sym typeface="Arial"/>
              </a:rPr>
              <a:t>3.4. </a:t>
            </a:r>
            <a:r>
              <a:rPr lang="en-US" sz="1799" b="1" dirty="0" err="1">
                <a:solidFill>
                  <a:schemeClr val="tx1"/>
                </a:solidFill>
                <a:latin typeface="Arial"/>
                <a:ea typeface="Arial"/>
                <a:cs typeface="Arial"/>
                <a:sym typeface="Arial"/>
              </a:rPr>
              <a:t>Ứng</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dụng</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và</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vai</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trò</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của</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cảm</a:t>
            </a:r>
            <a:r>
              <a:rPr lang="en-US" sz="1799" b="1" dirty="0">
                <a:solidFill>
                  <a:schemeClr val="tx1"/>
                </a:solidFill>
                <a:latin typeface="Arial"/>
                <a:ea typeface="Arial"/>
                <a:cs typeface="Arial"/>
                <a:sym typeface="Arial"/>
              </a:rPr>
              <a:t> </a:t>
            </a:r>
            <a:r>
              <a:rPr lang="en-US" sz="1799" b="1" dirty="0" err="1">
                <a:solidFill>
                  <a:schemeClr val="tx1"/>
                </a:solidFill>
                <a:latin typeface="Arial"/>
                <a:ea typeface="Arial"/>
                <a:cs typeface="Arial"/>
                <a:sym typeface="Arial"/>
              </a:rPr>
              <a:t>biến</a:t>
            </a:r>
            <a:endParaRPr sz="1799" b="1" dirty="0">
              <a:solidFill>
                <a:schemeClr val="tx1"/>
              </a:solidFill>
              <a:latin typeface="Arial"/>
              <a:ea typeface="Arial"/>
              <a:cs typeface="Arial"/>
              <a:sym typeface="Arial"/>
            </a:endParaRPr>
          </a:p>
        </p:txBody>
      </p:sp>
      <p:sp>
        <p:nvSpPr>
          <p:cNvPr id="2742" name="Google Shape;2742;p143"/>
          <p:cNvSpPr/>
          <p:nvPr/>
        </p:nvSpPr>
        <p:spPr>
          <a:xfrm>
            <a:off x="8674469" y="480784"/>
            <a:ext cx="793539" cy="24634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1" b="1" dirty="0">
                <a:solidFill>
                  <a:srgbClr val="D8D8D8"/>
                </a:solidFill>
                <a:latin typeface="Arial"/>
                <a:ea typeface="Arial"/>
                <a:cs typeface="Arial"/>
                <a:sym typeface="Arial"/>
              </a:rPr>
              <a:t>   </a:t>
            </a:r>
            <a:endParaRPr dirty="0"/>
          </a:p>
        </p:txBody>
      </p:sp>
      <p:sp>
        <p:nvSpPr>
          <p:cNvPr id="2743" name="Google Shape;2743;p143"/>
          <p:cNvSpPr/>
          <p:nvPr/>
        </p:nvSpPr>
        <p:spPr>
          <a:xfrm>
            <a:off x="450003" y="1375106"/>
            <a:ext cx="9004987" cy="3694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1" b="1">
                <a:solidFill>
                  <a:srgbClr val="0C0C0C"/>
                </a:solidFill>
                <a:latin typeface="Arial"/>
                <a:ea typeface="Arial"/>
                <a:cs typeface="Arial"/>
                <a:sym typeface="Arial"/>
              </a:rPr>
              <a:t>Vai trò của cảm biến</a:t>
            </a:r>
            <a:endParaRPr sz="2401" b="1">
              <a:solidFill>
                <a:srgbClr val="0C0C0C"/>
              </a:solidFill>
              <a:latin typeface="Arial"/>
              <a:ea typeface="Arial"/>
              <a:cs typeface="Arial"/>
              <a:sym typeface="Arial"/>
            </a:endParaRPr>
          </a:p>
        </p:txBody>
      </p:sp>
      <p:sp>
        <p:nvSpPr>
          <p:cNvPr id="2744" name="Google Shape;2744;p143"/>
          <p:cNvSpPr/>
          <p:nvPr/>
        </p:nvSpPr>
        <p:spPr>
          <a:xfrm>
            <a:off x="580400" y="1868347"/>
            <a:ext cx="8619172" cy="939231"/>
          </a:xfrm>
          <a:prstGeom prst="rect">
            <a:avLst/>
          </a:prstGeom>
          <a:noFill/>
          <a:ln>
            <a:noFill/>
          </a:ln>
        </p:spPr>
        <p:txBody>
          <a:bodyPr spcFirstLastPara="1" wrap="square" lIns="0" tIns="0" rIns="0" bIns="0" anchor="t" anchorCtr="0">
            <a:spAutoFit/>
          </a:bodyPr>
          <a:lstStyle/>
          <a:p>
            <a:pPr marL="115879" marR="0" lvl="0" indent="-115879" algn="l" rtl="0">
              <a:spcBef>
                <a:spcPts val="0"/>
              </a:spcBef>
              <a:spcAft>
                <a:spcPts val="0"/>
              </a:spcAft>
              <a:buClr>
                <a:schemeClr val="dk1"/>
              </a:buClr>
              <a:buSzPts val="1681"/>
              <a:buFont typeface="Arial"/>
              <a:buChar char="•"/>
            </a:pPr>
            <a:r>
              <a:rPr lang="en-US" sz="1401">
                <a:solidFill>
                  <a:schemeClr val="dk1"/>
                </a:solidFill>
                <a:latin typeface="Arial"/>
                <a:ea typeface="Arial"/>
                <a:cs typeface="Arial"/>
                <a:sym typeface="Arial"/>
              </a:rPr>
              <a:t>Trong xã hội thông tin, cảm biến đóng vai trò vô cùng quan trọng, góp phần xây dựng phúc lợi và thịnh vượng của con người thông qua tự động hóa, giám sát ô nhiễm, phòng ngừa thiên tai, quản lý an toàn và chăm sóc sức khỏe.</a:t>
            </a:r>
            <a:endParaRPr/>
          </a:p>
          <a:p>
            <a:pPr marL="115879" marR="0" lvl="0" indent="-115879" algn="l" rtl="0">
              <a:spcBef>
                <a:spcPts val="600"/>
              </a:spcBef>
              <a:spcAft>
                <a:spcPts val="0"/>
              </a:spcAft>
              <a:buClr>
                <a:schemeClr val="dk1"/>
              </a:buClr>
              <a:buSzPts val="1681"/>
              <a:buFont typeface="Arial"/>
              <a:buChar char="•"/>
            </a:pPr>
            <a:r>
              <a:rPr lang="en-US" sz="1401">
                <a:solidFill>
                  <a:schemeClr val="dk1"/>
                </a:solidFill>
                <a:latin typeface="Arial"/>
                <a:ea typeface="Arial"/>
                <a:cs typeface="Arial"/>
                <a:sym typeface="Arial"/>
              </a:rPr>
              <a:t>Đồng thời, những nhà nghiên cứu và kỹ thuật viên về cảm biến cũng phải phát triển các cảm biến tối ưu để đáp ứng những nhu cầu này.</a:t>
            </a:r>
            <a:endParaRPr/>
          </a:p>
        </p:txBody>
      </p:sp>
      <p:graphicFrame>
        <p:nvGraphicFramePr>
          <p:cNvPr id="2745" name="Google Shape;2745;p143"/>
          <p:cNvGraphicFramePr/>
          <p:nvPr/>
        </p:nvGraphicFramePr>
        <p:xfrm>
          <a:off x="635999" y="3157344"/>
          <a:ext cx="8630825" cy="2746200"/>
        </p:xfrm>
        <a:graphic>
          <a:graphicData uri="http://schemas.openxmlformats.org/drawingml/2006/table">
            <a:tbl>
              <a:tblPr firstRow="1" bandRow="1">
                <a:noFill/>
              </a:tblPr>
              <a:tblGrid>
                <a:gridCol w="2170325">
                  <a:extLst>
                    <a:ext uri="{9D8B030D-6E8A-4147-A177-3AD203B41FA5}">
                      <a16:colId xmlns:a16="http://schemas.microsoft.com/office/drawing/2014/main" val="20000"/>
                    </a:ext>
                  </a:extLst>
                </a:gridCol>
                <a:gridCol w="3248850">
                  <a:extLst>
                    <a:ext uri="{9D8B030D-6E8A-4147-A177-3AD203B41FA5}">
                      <a16:colId xmlns:a16="http://schemas.microsoft.com/office/drawing/2014/main" val="20001"/>
                    </a:ext>
                  </a:extLst>
                </a:gridCol>
                <a:gridCol w="3211650">
                  <a:extLst>
                    <a:ext uri="{9D8B030D-6E8A-4147-A177-3AD203B41FA5}">
                      <a16:colId xmlns:a16="http://schemas.microsoft.com/office/drawing/2014/main" val="20002"/>
                    </a:ext>
                  </a:extLst>
                </a:gridCol>
              </a:tblGrid>
              <a:tr h="294900">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Lĩnh vực</a:t>
                      </a:r>
                      <a:endParaRPr/>
                    </a:p>
                  </a:txBody>
                  <a:tcPr marL="91400" marR="91400" marT="45700" marB="45700" anchor="ctr">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Vai trò</a:t>
                      </a:r>
                      <a:endParaRPr/>
                    </a:p>
                  </a:txBody>
                  <a:tcPr marL="91400" marR="91400" marT="45700" marB="457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chính</a:t>
                      </a:r>
                      <a:endParaRPr/>
                    </a:p>
                  </a:txBody>
                  <a:tcPr marL="91400" marR="91400" marT="45700" marB="45700" anchor="ctr">
                    <a:lnL w="9525" cap="flat" cmpd="sng">
                      <a:solidFill>
                        <a:srgbClr val="BFBFBF"/>
                      </a:solidFill>
                      <a:prstDash val="solid"/>
                      <a:round/>
                      <a:headEnd type="none" w="sm" len="sm"/>
                      <a:tailEnd type="none" w="sm" len="sm"/>
                    </a:lnL>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47197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Thiết bị gia dụng</a:t>
                      </a:r>
                      <a:endParaRPr/>
                    </a:p>
                  </a:txBody>
                  <a:tcPr marL="91400" marR="91400" marT="45700" marB="45700" anchor="ctr">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thoải mái, tiện lợi, ổn định</a:t>
                      </a:r>
                      <a:endParaRPr/>
                    </a:p>
                  </a:txBody>
                  <a:tcPr marL="91400" marR="91400" marT="45700" marB="457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nhiệt độ, độ ẩm, áp suất, khí, ánh sáng</a:t>
                      </a:r>
                      <a:endParaRPr/>
                    </a:p>
                  </a:txBody>
                  <a:tcPr marL="91400" marR="91400" marT="45700" marB="45700" anchor="ctr">
                    <a:lnL w="9525" cap="flat" cmpd="sng">
                      <a:solidFill>
                        <a:srgbClr val="BFBFBF"/>
                      </a:solidFill>
                      <a:prstDash val="solid"/>
                      <a:round/>
                      <a:headEnd type="none" w="sm" len="sm"/>
                      <a:tailEnd type="none" w="sm" len="sm"/>
                    </a:lnL>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4915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An toàn, phòng ngừa thiên tai</a:t>
                      </a:r>
                      <a:endParaRPr/>
                    </a:p>
                  </a:txBody>
                  <a:tcPr marL="91400" marR="91400" marT="45700" marB="45700" anchor="ctr">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báo động khói, báo động mức khí, dự báo động đất</a:t>
                      </a:r>
                      <a:endParaRPr/>
                    </a:p>
                  </a:txBody>
                  <a:tcPr marL="91400" marR="91400" marT="45700" marB="457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siêu âm, ánh sáng</a:t>
                      </a:r>
                      <a:endParaRPr/>
                    </a:p>
                  </a:txBody>
                  <a:tcPr marL="91400" marR="91400" marT="45700" marB="45700" anchor="ctr">
                    <a:lnL w="9525" cap="flat" cmpd="sng">
                      <a:solidFill>
                        <a:srgbClr val="BFBFBF"/>
                      </a:solidFill>
                      <a:prstDash val="solid"/>
                      <a:round/>
                      <a:headEnd type="none" w="sm" len="sm"/>
                      <a:tailEnd type="none" w="sm" len="sm"/>
                    </a:lnL>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524300">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Công nghệ phát triển tài nguyên, năng lượng</a:t>
                      </a:r>
                      <a:endParaRPr/>
                    </a:p>
                  </a:txBody>
                  <a:tcPr marL="91400" marR="91400" marT="45700" marB="45700" anchor="ctr">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tài nguyên khoáng sản, thăm dò vật chất, khảo sát địa nhiệt</a:t>
                      </a:r>
                      <a:endParaRPr/>
                    </a:p>
                  </a:txBody>
                  <a:tcPr marL="91400" marR="91400" marT="45700" marB="457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nhiệt độ, độ ẩm, từ tính, siêu âm</a:t>
                      </a:r>
                      <a:endParaRPr/>
                    </a:p>
                  </a:txBody>
                  <a:tcPr marL="91400" marR="91400" marT="45700" marB="45700" anchor="ctr">
                    <a:lnL w="9525" cap="flat" cmpd="sng">
                      <a:solidFill>
                        <a:srgbClr val="BFBFBF"/>
                      </a:solidFill>
                      <a:prstDash val="solid"/>
                      <a:round/>
                      <a:headEnd type="none" w="sm" len="sm"/>
                      <a:tailEnd type="none" w="sm" len="sm"/>
                    </a:lnL>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47197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Công nghệ về thực phẩm</a:t>
                      </a:r>
                      <a:endParaRPr/>
                    </a:p>
                  </a:txBody>
                  <a:tcPr marL="91400" marR="91400" marT="45700" marB="45700" anchor="ctr">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chế biến thực phẩm đông lạnh, Dò cá</a:t>
                      </a:r>
                      <a:endParaRPr/>
                    </a:p>
                  </a:txBody>
                  <a:tcPr marL="91400" marR="91400" marT="45700" marB="457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khí, nhiệt độ, hóa học</a:t>
                      </a:r>
                      <a:endParaRPr/>
                    </a:p>
                  </a:txBody>
                  <a:tcPr marL="91400" marR="91400" marT="45700" marB="45700" anchor="ctr">
                    <a:lnL w="9525" cap="flat" cmpd="sng">
                      <a:solidFill>
                        <a:srgbClr val="BFBFBF"/>
                      </a:solidFill>
                      <a:prstDash val="solid"/>
                      <a:round/>
                      <a:headEnd type="none" w="sm" len="sm"/>
                      <a:tailEnd type="none" w="sm" len="sm"/>
                    </a:lnL>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491525">
                <a:tc>
                  <a:txBody>
                    <a:bodyPr/>
                    <a:lstStyle/>
                    <a:p>
                      <a:pPr marL="0" marR="0" lvl="0" indent="0" algn="ctr" rtl="0">
                        <a:lnSpc>
                          <a:spcPct val="100000"/>
                        </a:lnSpc>
                        <a:spcBef>
                          <a:spcPts val="0"/>
                        </a:spcBef>
                        <a:spcAft>
                          <a:spcPts val="0"/>
                        </a:spcAft>
                        <a:buClr>
                          <a:srgbClr val="262626"/>
                        </a:buClr>
                        <a:buSzPts val="1300"/>
                        <a:buFont typeface="Arial"/>
                        <a:buNone/>
                      </a:pPr>
                      <a:r>
                        <a:rPr lang="en-US" sz="1300" b="0" u="none" strike="noStrike" cap="none">
                          <a:solidFill>
                            <a:srgbClr val="262626"/>
                          </a:solidFill>
                          <a:latin typeface="Arial"/>
                          <a:ea typeface="Arial"/>
                          <a:cs typeface="Arial"/>
                          <a:sym typeface="Arial"/>
                        </a:rPr>
                        <a:t>Phòng ngừa ô nhiễm</a:t>
                      </a:r>
                      <a:endParaRPr/>
                    </a:p>
                  </a:txBody>
                  <a:tcPr marL="91400" marR="91400" marT="45700" marB="45700" anchor="ctr">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phát hiện các chất độc hại trong không khí, sông ngòi, v.v.</a:t>
                      </a:r>
                      <a:endParaRPr/>
                    </a:p>
                  </a:txBody>
                  <a:tcPr marL="91400" marR="91400" marT="45700" marB="457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cảm biến ánh sáng, cảm biến từ trường</a:t>
                      </a:r>
                      <a:endParaRPr/>
                    </a:p>
                  </a:txBody>
                  <a:tcPr marL="91400" marR="91400" marT="45700" marB="45700" anchor="ctr">
                    <a:lnL w="9525" cap="flat" cmpd="sng">
                      <a:solidFill>
                        <a:srgbClr val="BFBFBF"/>
                      </a:solidFill>
                      <a:prstDash val="solid"/>
                      <a:round/>
                      <a:headEnd type="none" w="sm" len="sm"/>
                      <a:tailEnd type="none" w="sm" len="sm"/>
                    </a:lnL>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750"/>
        <p:cNvGrpSpPr/>
        <p:nvPr/>
      </p:nvGrpSpPr>
      <p:grpSpPr>
        <a:xfrm>
          <a:off x="0" y="0"/>
          <a:ext cx="0" cy="0"/>
          <a:chOff x="0" y="0"/>
          <a:chExt cx="0" cy="0"/>
        </a:xfrm>
      </p:grpSpPr>
      <p:grpSp>
        <p:nvGrpSpPr>
          <p:cNvPr id="2751" name="Google Shape;2751;p144"/>
          <p:cNvGrpSpPr/>
          <p:nvPr/>
        </p:nvGrpSpPr>
        <p:grpSpPr>
          <a:xfrm>
            <a:off x="990000" y="2748477"/>
            <a:ext cx="8344500" cy="2322355"/>
            <a:chOff x="990000" y="2748477"/>
            <a:chExt cx="8344500" cy="2322355"/>
          </a:xfrm>
        </p:grpSpPr>
        <p:sp>
          <p:nvSpPr>
            <p:cNvPr id="2752" name="Google Shape;2752;p144"/>
            <p:cNvSpPr/>
            <p:nvPr/>
          </p:nvSpPr>
          <p:spPr>
            <a:xfrm>
              <a:off x="990000" y="3038807"/>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Mạch &amp; Linh kiện cơ bản</a:t>
              </a:r>
              <a:endParaRPr sz="3600" b="1">
                <a:solidFill>
                  <a:schemeClr val="dk1"/>
                </a:solidFill>
                <a:latin typeface="Arial"/>
                <a:ea typeface="Arial"/>
                <a:cs typeface="Arial"/>
                <a:sym typeface="Arial"/>
              </a:endParaRPr>
            </a:p>
          </p:txBody>
        </p:sp>
        <p:sp>
          <p:nvSpPr>
            <p:cNvPr id="2753" name="Google Shape;2753;p144"/>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a:t>
              </a:r>
              <a:endParaRPr dirty="0"/>
            </a:p>
          </p:txBody>
        </p:sp>
        <p:sp>
          <p:nvSpPr>
            <p:cNvPr id="2754" name="Google Shape;2754;p144"/>
            <p:cNvSpPr/>
            <p:nvPr/>
          </p:nvSpPr>
          <p:spPr>
            <a:xfrm>
              <a:off x="1054112" y="3983355"/>
              <a:ext cx="5373676" cy="1087477"/>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rgbClr val="3F3F3F"/>
                  </a:solidFill>
                  <a:latin typeface="Arial"/>
                  <a:ea typeface="Arial"/>
                  <a:cs typeface="Arial"/>
                  <a:sym typeface="Arial"/>
                </a:rPr>
                <a:t>3.1. </a:t>
              </a:r>
              <a:r>
                <a:rPr lang="en-US" sz="1800" dirty="0" err="1">
                  <a:solidFill>
                    <a:srgbClr val="3F3F3F"/>
                  </a:solidFill>
                  <a:latin typeface="Arial"/>
                  <a:ea typeface="Arial"/>
                  <a:cs typeface="Arial"/>
                  <a:sym typeface="Arial"/>
                </a:rPr>
                <a:t>Nội</a:t>
              </a:r>
              <a:r>
                <a:rPr lang="en-US" sz="1800" dirty="0">
                  <a:solidFill>
                    <a:srgbClr val="3F3F3F"/>
                  </a:solidFill>
                  <a:latin typeface="Arial"/>
                  <a:ea typeface="Arial"/>
                  <a:cs typeface="Arial"/>
                  <a:sym typeface="Arial"/>
                </a:rPr>
                <a:t> dung </a:t>
              </a:r>
              <a:r>
                <a:rPr lang="en-US" sz="1800" dirty="0" err="1">
                  <a:solidFill>
                    <a:srgbClr val="3F3F3F"/>
                  </a:solidFill>
                  <a:latin typeface="Arial"/>
                  <a:ea typeface="Arial"/>
                  <a:cs typeface="Arial"/>
                  <a:sym typeface="Arial"/>
                </a:rPr>
                <a:t>cơ</a:t>
              </a:r>
              <a:r>
                <a:rPr lang="en-US" sz="1800" dirty="0">
                  <a:solidFill>
                    <a:srgbClr val="3F3F3F"/>
                  </a:solidFill>
                  <a:latin typeface="Arial"/>
                  <a:ea typeface="Arial"/>
                  <a:cs typeface="Arial"/>
                  <a:sym typeface="Arial"/>
                </a:rPr>
                <a:t> </a:t>
              </a:r>
              <a:r>
                <a:rPr lang="en-US" sz="1800" dirty="0" err="1">
                  <a:solidFill>
                    <a:srgbClr val="3F3F3F"/>
                  </a:solidFill>
                  <a:latin typeface="Arial"/>
                  <a:ea typeface="Arial"/>
                  <a:cs typeface="Arial"/>
                  <a:sym typeface="Arial"/>
                </a:rPr>
                <a:t>bản</a:t>
              </a:r>
              <a:r>
                <a:rPr lang="en-US" sz="1800" dirty="0">
                  <a:solidFill>
                    <a:srgbClr val="3F3F3F"/>
                  </a:solidFill>
                  <a:latin typeface="Arial"/>
                  <a:ea typeface="Arial"/>
                  <a:cs typeface="Arial"/>
                  <a:sym typeface="Arial"/>
                </a:rPr>
                <a:t> </a:t>
              </a:r>
              <a:r>
                <a:rPr lang="en-US" sz="1800" dirty="0" err="1">
                  <a:solidFill>
                    <a:srgbClr val="3F3F3F"/>
                  </a:solidFill>
                  <a:latin typeface="Arial"/>
                  <a:ea typeface="Arial"/>
                  <a:cs typeface="Arial"/>
                  <a:sym typeface="Arial"/>
                </a:rPr>
                <a:t>về</a:t>
              </a:r>
              <a:r>
                <a:rPr lang="en-US" sz="1800" dirty="0">
                  <a:solidFill>
                    <a:srgbClr val="3F3F3F"/>
                  </a:solidFill>
                  <a:latin typeface="Arial"/>
                  <a:ea typeface="Arial"/>
                  <a:cs typeface="Arial"/>
                  <a:sym typeface="Arial"/>
                </a:rPr>
                <a:t> </a:t>
              </a:r>
              <a:r>
                <a:rPr lang="en-US" sz="1800" dirty="0" err="1">
                  <a:solidFill>
                    <a:srgbClr val="3F3F3F"/>
                  </a:solidFill>
                  <a:latin typeface="Arial"/>
                  <a:ea typeface="Arial"/>
                  <a:cs typeface="Arial"/>
                  <a:sym typeface="Arial"/>
                </a:rPr>
                <a:t>điện</a:t>
              </a:r>
              <a:r>
                <a:rPr lang="en-US" sz="1800" dirty="0">
                  <a:solidFill>
                    <a:srgbClr val="3F3F3F"/>
                  </a:solidFill>
                  <a:latin typeface="Arial"/>
                  <a:ea typeface="Arial"/>
                  <a:cs typeface="Arial"/>
                  <a:sym typeface="Arial"/>
                </a:rPr>
                <a:t> </a:t>
              </a:r>
              <a:r>
                <a:rPr lang="en-US" sz="1800" dirty="0" err="1">
                  <a:solidFill>
                    <a:srgbClr val="3F3F3F"/>
                  </a:solidFill>
                  <a:latin typeface="Arial"/>
                  <a:ea typeface="Arial"/>
                  <a:cs typeface="Arial"/>
                  <a:sym typeface="Arial"/>
                </a:rPr>
                <a:t>tử</a:t>
              </a:r>
              <a:r>
                <a:rPr lang="en-US" sz="1800" dirty="0">
                  <a:solidFill>
                    <a:srgbClr val="3F3F3F"/>
                  </a:solidFill>
                  <a:latin typeface="Arial"/>
                  <a:ea typeface="Arial"/>
                  <a:cs typeface="Arial"/>
                  <a:sym typeface="Arial"/>
                </a:rPr>
                <a:t> </a:t>
              </a:r>
              <a:r>
                <a:rPr lang="en-US" sz="1800" dirty="0" err="1">
                  <a:solidFill>
                    <a:srgbClr val="3F3F3F"/>
                  </a:solidFill>
                  <a:latin typeface="Arial"/>
                  <a:ea typeface="Arial"/>
                  <a:cs typeface="Arial"/>
                  <a:sym typeface="Arial"/>
                </a:rPr>
                <a:t>học</a:t>
              </a:r>
              <a:endParaRPr dirty="0"/>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3.2. Các </a:t>
              </a:r>
              <a:r>
                <a:rPr lang="en-US" sz="1800" dirty="0" err="1">
                  <a:solidFill>
                    <a:srgbClr val="A6A6A6"/>
                  </a:solidFill>
                  <a:latin typeface="Arial"/>
                  <a:ea typeface="Arial"/>
                  <a:cs typeface="Arial"/>
                  <a:sym typeface="Arial"/>
                </a:rPr>
                <a:t>loại</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linh</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kiện</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điện</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tử</a:t>
              </a:r>
              <a:endParaRPr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3.3. </a:t>
              </a:r>
              <a:r>
                <a:rPr lang="en-US" sz="1800" dirty="0" err="1">
                  <a:solidFill>
                    <a:srgbClr val="A6A6A6"/>
                  </a:solidFill>
                  <a:latin typeface="Arial"/>
                  <a:ea typeface="Arial"/>
                  <a:cs typeface="Arial"/>
                  <a:sym typeface="Arial"/>
                </a:rPr>
                <a:t>Diễn</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giải</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sơ</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đồ</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mạch</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điện</a:t>
              </a:r>
              <a:r>
                <a:rPr lang="en-US" sz="1800" dirty="0">
                  <a:solidFill>
                    <a:srgbClr val="A6A6A6"/>
                  </a:solidFill>
                  <a:latin typeface="Arial"/>
                  <a:ea typeface="Arial"/>
                  <a:cs typeface="Arial"/>
                  <a:sym typeface="Arial"/>
                </a:rPr>
                <a:t> </a:t>
              </a:r>
              <a:endParaRPr sz="1800" dirty="0">
                <a:solidFill>
                  <a:srgbClr val="A6A6A6"/>
                </a:solidFill>
                <a:latin typeface="Arial"/>
                <a:ea typeface="Arial"/>
                <a:cs typeface="Arial"/>
                <a:sym typeface="Arial"/>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759"/>
        <p:cNvGrpSpPr/>
        <p:nvPr/>
      </p:nvGrpSpPr>
      <p:grpSpPr>
        <a:xfrm>
          <a:off x="0" y="0"/>
          <a:ext cx="0" cy="0"/>
          <a:chOff x="0" y="0"/>
          <a:chExt cx="0" cy="0"/>
        </a:xfrm>
      </p:grpSpPr>
      <p:sp>
        <p:nvSpPr>
          <p:cNvPr id="2760" name="Google Shape;2760;p145"/>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Điện áp, Cường độ dòng điện, Điện trở</a:t>
            </a:r>
            <a:endParaRPr/>
          </a:p>
        </p:txBody>
      </p:sp>
      <p:sp>
        <p:nvSpPr>
          <p:cNvPr id="2761" name="Google Shape;2761;p145"/>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4.1. </a:t>
            </a:r>
            <a:r>
              <a:rPr lang="en-US" sz="1800" b="1" dirty="0" err="1">
                <a:solidFill>
                  <a:schemeClr val="tx1"/>
                </a:solidFill>
                <a:latin typeface="Arial"/>
                <a:ea typeface="Arial"/>
                <a:cs typeface="Arial"/>
                <a:sym typeface="Arial"/>
              </a:rPr>
              <a:t>Nội</a:t>
            </a:r>
            <a:r>
              <a:rPr lang="en-US" sz="1800" b="1" dirty="0">
                <a:solidFill>
                  <a:schemeClr val="tx1"/>
                </a:solidFill>
                <a:latin typeface="Arial"/>
                <a:ea typeface="Arial"/>
                <a:cs typeface="Arial"/>
                <a:sym typeface="Arial"/>
              </a:rPr>
              <a:t> dung </a:t>
            </a:r>
            <a:r>
              <a:rPr lang="en-US" sz="1800" b="1" dirty="0" err="1">
                <a:solidFill>
                  <a:schemeClr val="tx1"/>
                </a:solidFill>
                <a:latin typeface="Arial"/>
                <a:ea typeface="Arial"/>
                <a:cs typeface="Arial"/>
                <a:sym typeface="Arial"/>
              </a:rPr>
              <a:t>cơ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bản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về</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học</a:t>
            </a:r>
            <a:endParaRPr sz="1800" b="1" dirty="0">
              <a:solidFill>
                <a:schemeClr val="tx1"/>
              </a:solidFill>
              <a:latin typeface="Arial"/>
              <a:ea typeface="Arial"/>
              <a:cs typeface="Arial"/>
              <a:sym typeface="Arial"/>
            </a:endParaRPr>
          </a:p>
        </p:txBody>
      </p:sp>
      <p:sp>
        <p:nvSpPr>
          <p:cNvPr id="2762" name="Google Shape;2762;p145"/>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763" name="Google Shape;2763;p145"/>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 Điện áp</a:t>
            </a:r>
            <a:endParaRPr sz="1400">
              <a:solidFill>
                <a:schemeClr val="dk1"/>
              </a:solidFill>
              <a:latin typeface="Arial"/>
              <a:ea typeface="Arial"/>
              <a:cs typeface="Arial"/>
              <a:sym typeface="Arial"/>
            </a:endParaRPr>
          </a:p>
        </p:txBody>
      </p:sp>
      <p:sp>
        <p:nvSpPr>
          <p:cNvPr id="2764" name="Google Shape;2764;p145"/>
          <p:cNvSpPr/>
          <p:nvPr/>
        </p:nvSpPr>
        <p:spPr>
          <a:xfrm>
            <a:off x="712182" y="2174873"/>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Năng lượng khiến dòng điện chạy qua (Đơn vị: Vôn [V]) </a:t>
            </a:r>
            <a:endParaRPr/>
          </a:p>
        </p:txBody>
      </p:sp>
      <p:sp>
        <p:nvSpPr>
          <p:cNvPr id="2765" name="Google Shape;2765;p145"/>
          <p:cNvSpPr/>
          <p:nvPr/>
        </p:nvSpPr>
        <p:spPr>
          <a:xfrm>
            <a:off x="580388" y="2588509"/>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Cường độ dòng điện</a:t>
            </a:r>
            <a:endParaRPr/>
          </a:p>
        </p:txBody>
      </p:sp>
      <p:sp>
        <p:nvSpPr>
          <p:cNvPr id="2766" name="Google Shape;2766;p145"/>
          <p:cNvSpPr/>
          <p:nvPr/>
        </p:nvSpPr>
        <p:spPr>
          <a:xfrm>
            <a:off x="712182" y="2818845"/>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Lượng điện chạy qua (Đơn vị: Ampe [A])</a:t>
            </a:r>
            <a:endParaRPr/>
          </a:p>
        </p:txBody>
      </p:sp>
      <p:sp>
        <p:nvSpPr>
          <p:cNvPr id="2767" name="Google Shape;2767;p145"/>
          <p:cNvSpPr/>
          <p:nvPr/>
        </p:nvSpPr>
        <p:spPr>
          <a:xfrm>
            <a:off x="580388" y="324505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Điện trở</a:t>
            </a:r>
            <a:endParaRPr sz="1400">
              <a:solidFill>
                <a:schemeClr val="dk1"/>
              </a:solidFill>
              <a:latin typeface="Arial"/>
              <a:ea typeface="Arial"/>
              <a:cs typeface="Arial"/>
              <a:sym typeface="Arial"/>
            </a:endParaRPr>
          </a:p>
        </p:txBody>
      </p:sp>
      <p:sp>
        <p:nvSpPr>
          <p:cNvPr id="2768" name="Google Shape;2768;p145"/>
          <p:cNvSpPr/>
          <p:nvPr/>
        </p:nvSpPr>
        <p:spPr>
          <a:xfrm>
            <a:off x="712182" y="3475394"/>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Phần tử hoặc linh kiện cản trở dòng điện chạy qua (Đơn vị: Ôm [Ω])</a:t>
            </a:r>
            <a:endParaRPr/>
          </a:p>
        </p:txBody>
      </p:sp>
      <p:grpSp>
        <p:nvGrpSpPr>
          <p:cNvPr id="2769" name="Google Shape;2769;p145"/>
          <p:cNvGrpSpPr/>
          <p:nvPr/>
        </p:nvGrpSpPr>
        <p:grpSpPr>
          <a:xfrm>
            <a:off x="2185864" y="3901607"/>
            <a:ext cx="6310494" cy="2461092"/>
            <a:chOff x="2185864" y="3901607"/>
            <a:chExt cx="6310494" cy="2461092"/>
          </a:xfrm>
        </p:grpSpPr>
        <p:pic>
          <p:nvPicPr>
            <p:cNvPr id="2770" name="Google Shape;2770;p145"/>
            <p:cNvPicPr preferRelativeResize="0"/>
            <p:nvPr/>
          </p:nvPicPr>
          <p:blipFill rotWithShape="1">
            <a:blip r:embed="rId3">
              <a:alphaModFix/>
            </a:blip>
            <a:srcRect/>
            <a:stretch/>
          </p:blipFill>
          <p:spPr>
            <a:xfrm>
              <a:off x="2185864" y="3901607"/>
              <a:ext cx="6310494" cy="2461092"/>
            </a:xfrm>
            <a:prstGeom prst="rect">
              <a:avLst/>
            </a:prstGeom>
            <a:noFill/>
            <a:ln>
              <a:noFill/>
            </a:ln>
          </p:spPr>
        </p:pic>
        <p:sp>
          <p:nvSpPr>
            <p:cNvPr id="2771" name="Google Shape;2771;p145"/>
            <p:cNvSpPr txBox="1"/>
            <p:nvPr/>
          </p:nvSpPr>
          <p:spPr>
            <a:xfrm>
              <a:off x="2437685" y="4854614"/>
              <a:ext cx="670560" cy="471766"/>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Dòng</a:t>
              </a:r>
              <a:endParaRPr/>
            </a:p>
            <a:p>
              <a:pPr marL="0" marR="0" lvl="0" indent="0" algn="ctr" rtl="0">
                <a:spcBef>
                  <a:spcPts val="0"/>
                </a:spcBef>
                <a:spcAft>
                  <a:spcPts val="0"/>
                </a:spcAft>
                <a:buNone/>
              </a:pPr>
              <a:r>
                <a:rPr lang="en-US" sz="1400">
                  <a:solidFill>
                    <a:schemeClr val="dk1"/>
                  </a:solidFill>
                  <a:latin typeface="Arial"/>
                  <a:ea typeface="Arial"/>
                  <a:cs typeface="Arial"/>
                  <a:sym typeface="Arial"/>
                </a:rPr>
                <a:t>nước</a:t>
              </a:r>
              <a:endParaRPr/>
            </a:p>
          </p:txBody>
        </p:sp>
        <p:grpSp>
          <p:nvGrpSpPr>
            <p:cNvPr id="2772" name="Google Shape;2772;p145"/>
            <p:cNvGrpSpPr/>
            <p:nvPr/>
          </p:nvGrpSpPr>
          <p:grpSpPr>
            <a:xfrm>
              <a:off x="4207791" y="4657833"/>
              <a:ext cx="1074420" cy="878013"/>
              <a:chOff x="3783330" y="4657999"/>
              <a:chExt cx="1074420" cy="878013"/>
            </a:xfrm>
          </p:grpSpPr>
          <p:sp>
            <p:nvSpPr>
              <p:cNvPr id="2773" name="Google Shape;2773;p145"/>
              <p:cNvSpPr/>
              <p:nvPr/>
            </p:nvSpPr>
            <p:spPr>
              <a:xfrm>
                <a:off x="3783330" y="4657999"/>
                <a:ext cx="1074420" cy="61520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4" name="Google Shape;2774;p145"/>
              <p:cNvSpPr/>
              <p:nvPr/>
            </p:nvSpPr>
            <p:spPr>
              <a:xfrm>
                <a:off x="4137660" y="5231046"/>
                <a:ext cx="514350" cy="30496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775" name="Google Shape;2775;p145"/>
            <p:cNvSpPr/>
            <p:nvPr/>
          </p:nvSpPr>
          <p:spPr>
            <a:xfrm>
              <a:off x="4097301" y="4563173"/>
              <a:ext cx="1127760" cy="675327"/>
            </a:xfrm>
            <a:prstGeom prst="wedgeRoundRectCallout">
              <a:avLst>
                <a:gd name="adj1" fmla="val 19708"/>
                <a:gd name="adj2" fmla="val 80553"/>
                <a:gd name="adj3" fmla="val 16667"/>
              </a:avLst>
            </a:prstGeom>
            <a:solidFill>
              <a:srgbClr val="2F54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Arial"/>
                  <a:ea typeface="Arial"/>
                  <a:cs typeface="Arial"/>
                  <a:sym typeface="Arial"/>
                </a:rPr>
                <a:t>Điện trở</a:t>
              </a:r>
              <a:endParaRPr sz="1400" b="1">
                <a:solidFill>
                  <a:schemeClr val="lt1"/>
                </a:solidFill>
                <a:latin typeface="Arial"/>
                <a:ea typeface="Arial"/>
                <a:cs typeface="Arial"/>
                <a:sym typeface="Arial"/>
              </a:endParaRPr>
            </a:p>
          </p:txBody>
        </p:sp>
        <p:sp>
          <p:nvSpPr>
            <p:cNvPr id="2776" name="Google Shape;2776;p145"/>
            <p:cNvSpPr txBox="1"/>
            <p:nvPr/>
          </p:nvSpPr>
          <p:spPr>
            <a:xfrm>
              <a:off x="3360066" y="4854614"/>
              <a:ext cx="670560" cy="471766"/>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Dòng điện</a:t>
              </a:r>
              <a:endParaRPr sz="1400">
                <a:solidFill>
                  <a:schemeClr val="dk1"/>
                </a:solidFill>
                <a:latin typeface="Arial"/>
                <a:ea typeface="Arial"/>
                <a:cs typeface="Arial"/>
                <a:sym typeface="Arial"/>
              </a:endParaRPr>
            </a:p>
          </p:txBody>
        </p:sp>
        <p:sp>
          <p:nvSpPr>
            <p:cNvPr id="2777" name="Google Shape;2777;p145"/>
            <p:cNvSpPr txBox="1"/>
            <p:nvPr/>
          </p:nvSpPr>
          <p:spPr>
            <a:xfrm>
              <a:off x="6631550" y="5200820"/>
              <a:ext cx="670560" cy="471766"/>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Dòng</a:t>
              </a:r>
              <a:endParaRPr/>
            </a:p>
            <a:p>
              <a:pPr marL="0" marR="0" lvl="0" indent="0" algn="ctr" rtl="0">
                <a:spcBef>
                  <a:spcPts val="0"/>
                </a:spcBef>
                <a:spcAft>
                  <a:spcPts val="0"/>
                </a:spcAft>
                <a:buNone/>
              </a:pPr>
              <a:r>
                <a:rPr lang="en-US" sz="1400">
                  <a:solidFill>
                    <a:schemeClr val="dk1"/>
                  </a:solidFill>
                  <a:latin typeface="Arial"/>
                  <a:ea typeface="Arial"/>
                  <a:cs typeface="Arial"/>
                  <a:sym typeface="Arial"/>
                </a:rPr>
                <a:t>nước</a:t>
              </a:r>
              <a:endParaRPr/>
            </a:p>
          </p:txBody>
        </p:sp>
        <p:sp>
          <p:nvSpPr>
            <p:cNvPr id="2778" name="Google Shape;2778;p145"/>
            <p:cNvSpPr txBox="1"/>
            <p:nvPr/>
          </p:nvSpPr>
          <p:spPr>
            <a:xfrm>
              <a:off x="7616429" y="5185580"/>
              <a:ext cx="670560" cy="471766"/>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Dòng điện</a:t>
              </a:r>
              <a:endParaRPr sz="1400">
                <a:solidFill>
                  <a:schemeClr val="dk1"/>
                </a:solidFill>
                <a:latin typeface="Arial"/>
                <a:ea typeface="Arial"/>
                <a:cs typeface="Arial"/>
                <a:sym typeface="Arial"/>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783"/>
        <p:cNvGrpSpPr/>
        <p:nvPr/>
      </p:nvGrpSpPr>
      <p:grpSpPr>
        <a:xfrm>
          <a:off x="0" y="0"/>
          <a:ext cx="0" cy="0"/>
          <a:chOff x="0" y="0"/>
          <a:chExt cx="0" cy="0"/>
        </a:xfrm>
      </p:grpSpPr>
      <p:sp>
        <p:nvSpPr>
          <p:cNvPr id="2784" name="Google Shape;2784;p146"/>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Dòng một chiều và Dòng xoay chiều</a:t>
            </a:r>
            <a:endParaRPr sz="2400" b="1">
              <a:solidFill>
                <a:srgbClr val="0C0C0C"/>
              </a:solidFill>
              <a:latin typeface="Arial"/>
              <a:ea typeface="Arial"/>
              <a:cs typeface="Arial"/>
              <a:sym typeface="Arial"/>
            </a:endParaRPr>
          </a:p>
        </p:txBody>
      </p:sp>
      <p:sp>
        <p:nvSpPr>
          <p:cNvPr id="2785" name="Google Shape;2785;p146"/>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786" name="Google Shape;2786;p146"/>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b="1">
                <a:solidFill>
                  <a:schemeClr val="dk1"/>
                </a:solidFill>
                <a:latin typeface="Arial"/>
                <a:ea typeface="Arial"/>
                <a:cs typeface="Arial"/>
                <a:sym typeface="Arial"/>
              </a:rPr>
              <a:t>DC: </a:t>
            </a:r>
            <a:r>
              <a:rPr lang="en-US" sz="1400">
                <a:solidFill>
                  <a:schemeClr val="dk1"/>
                </a:solidFill>
                <a:latin typeface="Arial"/>
                <a:ea typeface="Arial"/>
                <a:cs typeface="Arial"/>
                <a:sym typeface="Arial"/>
              </a:rPr>
              <a:t>Dòng một chiều</a:t>
            </a:r>
            <a:endParaRPr sz="1400">
              <a:solidFill>
                <a:schemeClr val="dk1"/>
              </a:solidFill>
              <a:latin typeface="Arial"/>
              <a:ea typeface="Arial"/>
              <a:cs typeface="Arial"/>
              <a:sym typeface="Arial"/>
            </a:endParaRPr>
          </a:p>
        </p:txBody>
      </p:sp>
      <p:sp>
        <p:nvSpPr>
          <p:cNvPr id="2787" name="Google Shape;2787;p146"/>
          <p:cNvSpPr/>
          <p:nvPr/>
        </p:nvSpPr>
        <p:spPr>
          <a:xfrm>
            <a:off x="712182" y="2174873"/>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Trạng thái điện luôn đi vào cùng một chiều. Dòng điện chạy trong pin là dòng một chiều.</a:t>
            </a:r>
            <a:endParaRPr/>
          </a:p>
        </p:txBody>
      </p:sp>
      <p:sp>
        <p:nvSpPr>
          <p:cNvPr id="2788" name="Google Shape;2788;p146"/>
          <p:cNvSpPr/>
          <p:nvPr/>
        </p:nvSpPr>
        <p:spPr>
          <a:xfrm>
            <a:off x="580388" y="2588509"/>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b="1">
                <a:solidFill>
                  <a:schemeClr val="dk1"/>
                </a:solidFill>
                <a:latin typeface="Arial"/>
                <a:ea typeface="Arial"/>
                <a:cs typeface="Arial"/>
                <a:sym typeface="Arial"/>
              </a:rPr>
              <a:t>AC: </a:t>
            </a:r>
            <a:r>
              <a:rPr lang="en-US" sz="1400">
                <a:solidFill>
                  <a:schemeClr val="dk1"/>
                </a:solidFill>
                <a:latin typeface="Arial"/>
                <a:ea typeface="Arial"/>
                <a:cs typeface="Arial"/>
                <a:sym typeface="Arial"/>
              </a:rPr>
              <a:t>Dòng xoay chiều</a:t>
            </a:r>
            <a:endParaRPr sz="1400">
              <a:solidFill>
                <a:schemeClr val="dk1"/>
              </a:solidFill>
              <a:latin typeface="Arial"/>
              <a:ea typeface="Arial"/>
              <a:cs typeface="Arial"/>
              <a:sym typeface="Arial"/>
            </a:endParaRPr>
          </a:p>
        </p:txBody>
      </p:sp>
      <p:sp>
        <p:nvSpPr>
          <p:cNvPr id="2789" name="Google Shape;2789;p146"/>
          <p:cNvSpPr/>
          <p:nvPr/>
        </p:nvSpPr>
        <p:spPr>
          <a:xfrm>
            <a:off x="712182" y="2818845"/>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Trạng thái dòng điện thay đổi liên tục, do vậy + và - sẽ lần lượt xuất hiện. Điện tích trong nhà là điện xoay chiều.</a:t>
            </a:r>
            <a:endParaRPr/>
          </a:p>
        </p:txBody>
      </p:sp>
      <p:sp>
        <p:nvSpPr>
          <p:cNvPr id="2790" name="Google Shape;2790;p146"/>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4.1. </a:t>
            </a:r>
            <a:r>
              <a:rPr lang="en-US" sz="1800" b="1" dirty="0" err="1">
                <a:solidFill>
                  <a:schemeClr val="tx1"/>
                </a:solidFill>
                <a:latin typeface="Arial"/>
                <a:ea typeface="Arial"/>
                <a:cs typeface="Arial"/>
                <a:sym typeface="Arial"/>
              </a:rPr>
              <a:t>Nội</a:t>
            </a:r>
            <a:r>
              <a:rPr lang="en-US" sz="1800" b="1" dirty="0">
                <a:solidFill>
                  <a:schemeClr val="tx1"/>
                </a:solidFill>
                <a:latin typeface="Arial"/>
                <a:ea typeface="Arial"/>
                <a:cs typeface="Arial"/>
                <a:sym typeface="Arial"/>
              </a:rPr>
              <a:t> dung </a:t>
            </a:r>
            <a:r>
              <a:rPr lang="en-US" sz="1800" b="1" dirty="0" err="1">
                <a:solidFill>
                  <a:schemeClr val="tx1"/>
                </a:solidFill>
                <a:latin typeface="Arial"/>
                <a:ea typeface="Arial"/>
                <a:cs typeface="Arial"/>
                <a:sym typeface="Arial"/>
              </a:rPr>
              <a:t>cơ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bản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về</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học</a:t>
            </a:r>
            <a:endParaRPr sz="1800" b="1" dirty="0">
              <a:solidFill>
                <a:schemeClr val="tx1"/>
              </a:solidFill>
              <a:latin typeface="Arial"/>
              <a:ea typeface="Arial"/>
              <a:cs typeface="Arial"/>
              <a:sym typeface="Arial"/>
            </a:endParaRPr>
          </a:p>
        </p:txBody>
      </p:sp>
      <p:grpSp>
        <p:nvGrpSpPr>
          <p:cNvPr id="2791" name="Google Shape;2791;p146"/>
          <p:cNvGrpSpPr/>
          <p:nvPr/>
        </p:nvGrpSpPr>
        <p:grpSpPr>
          <a:xfrm>
            <a:off x="712182" y="3500068"/>
            <a:ext cx="8591838" cy="2054911"/>
            <a:chOff x="712182" y="3583888"/>
            <a:chExt cx="8591838" cy="2054911"/>
          </a:xfrm>
        </p:grpSpPr>
        <p:sp>
          <p:nvSpPr>
            <p:cNvPr id="2792" name="Google Shape;2792;p146"/>
            <p:cNvSpPr/>
            <p:nvPr/>
          </p:nvSpPr>
          <p:spPr>
            <a:xfrm>
              <a:off x="712182" y="3583888"/>
              <a:ext cx="8591838" cy="2054911"/>
            </a:xfrm>
            <a:prstGeom prst="rect">
              <a:avLst/>
            </a:pr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793" name="Google Shape;2793;p146"/>
            <p:cNvGrpSpPr/>
            <p:nvPr/>
          </p:nvGrpSpPr>
          <p:grpSpPr>
            <a:xfrm>
              <a:off x="1477407" y="3799337"/>
              <a:ext cx="6963252" cy="1772913"/>
              <a:chOff x="1027535" y="4279090"/>
              <a:chExt cx="7524151" cy="1915724"/>
            </a:xfrm>
          </p:grpSpPr>
          <p:graphicFrame>
            <p:nvGraphicFramePr>
              <p:cNvPr id="2794" name="Google Shape;2794;p146"/>
              <p:cNvGraphicFramePr/>
              <p:nvPr/>
            </p:nvGraphicFramePr>
            <p:xfrm>
              <a:off x="1470336" y="4279090"/>
              <a:ext cx="6767155" cy="1741107"/>
            </p:xfrm>
            <a:graphic>
              <a:graphicData uri="http://schemas.openxmlformats.org/presentationml/2006/ole">
                <mc:AlternateContent xmlns:mc="http://schemas.openxmlformats.org/markup-compatibility/2006">
                  <mc:Choice xmlns:v="urn:schemas-microsoft-com:vml" Requires="v">
                    <p:oleObj r:id="rId3" imgW="6767155" imgH="1741107" progId="Visio.Drawing.6">
                      <p:embed/>
                    </p:oleObj>
                  </mc:Choice>
                  <mc:Fallback>
                    <p:oleObj r:id="rId3" imgW="6767155" imgH="1741107" progId="Visio.Drawing.6">
                      <p:embed/>
                      <p:pic>
                        <p:nvPicPr>
                          <p:cNvPr id="2794" name="Google Shape;2794;p146"/>
                          <p:cNvPicPr preferRelativeResize="0"/>
                          <p:nvPr/>
                        </p:nvPicPr>
                        <p:blipFill rotWithShape="1">
                          <a:blip r:embed="rId4">
                            <a:alphaModFix/>
                          </a:blip>
                          <a:srcRect/>
                          <a:stretch/>
                        </p:blipFill>
                        <p:spPr>
                          <a:xfrm>
                            <a:off x="1470336" y="4279090"/>
                            <a:ext cx="6767155" cy="1741107"/>
                          </a:xfrm>
                          <a:prstGeom prst="rect">
                            <a:avLst/>
                          </a:prstGeom>
                          <a:noFill/>
                          <a:ln>
                            <a:noFill/>
                          </a:ln>
                        </p:spPr>
                      </p:pic>
                    </p:oleObj>
                  </mc:Fallback>
                </mc:AlternateContent>
              </a:graphicData>
            </a:graphic>
          </p:graphicFrame>
          <p:sp>
            <p:nvSpPr>
              <p:cNvPr id="2795" name="Google Shape;2795;p146"/>
              <p:cNvSpPr txBox="1"/>
              <p:nvPr/>
            </p:nvSpPr>
            <p:spPr>
              <a:xfrm>
                <a:off x="2983013" y="5828102"/>
                <a:ext cx="7175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00FF"/>
                  </a:buClr>
                  <a:buSzPts val="1800"/>
                  <a:buFont typeface="Arial"/>
                  <a:buNone/>
                </a:pPr>
                <a:r>
                  <a:rPr lang="en-US" sz="1800" b="0" i="0" u="none" strike="noStrike" cap="none">
                    <a:solidFill>
                      <a:srgbClr val="CC00FF"/>
                    </a:solidFill>
                    <a:latin typeface="Arial"/>
                    <a:ea typeface="Arial"/>
                    <a:cs typeface="Arial"/>
                    <a:sym typeface="Arial"/>
                  </a:rPr>
                  <a:t>직류 </a:t>
                </a:r>
                <a:endParaRPr/>
              </a:p>
            </p:txBody>
          </p:sp>
          <p:sp>
            <p:nvSpPr>
              <p:cNvPr id="2796" name="Google Shape;2796;p146"/>
              <p:cNvSpPr txBox="1"/>
              <p:nvPr/>
            </p:nvSpPr>
            <p:spPr>
              <a:xfrm>
                <a:off x="6871173" y="5828102"/>
                <a:ext cx="7175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00FF"/>
                  </a:buClr>
                  <a:buSzPts val="1800"/>
                  <a:buFont typeface="Arial"/>
                  <a:buNone/>
                </a:pPr>
                <a:r>
                  <a:rPr lang="en-US" sz="1800" b="0" i="0" u="none" strike="noStrike" cap="none">
                    <a:solidFill>
                      <a:srgbClr val="CC00FF"/>
                    </a:solidFill>
                    <a:latin typeface="Arial"/>
                    <a:ea typeface="Arial"/>
                    <a:cs typeface="Arial"/>
                    <a:sym typeface="Arial"/>
                  </a:rPr>
                  <a:t>교류 </a:t>
                </a:r>
                <a:endParaRPr/>
              </a:p>
            </p:txBody>
          </p:sp>
          <p:sp>
            <p:nvSpPr>
              <p:cNvPr id="2797" name="Google Shape;2797;p146"/>
              <p:cNvSpPr txBox="1"/>
              <p:nvPr/>
            </p:nvSpPr>
            <p:spPr>
              <a:xfrm>
                <a:off x="1027535" y="4330014"/>
                <a:ext cx="936104" cy="299312"/>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Điện áp</a:t>
                </a:r>
                <a:endParaRPr sz="1200">
                  <a:solidFill>
                    <a:srgbClr val="000000"/>
                  </a:solidFill>
                  <a:latin typeface="Arial"/>
                  <a:ea typeface="Arial"/>
                  <a:cs typeface="Arial"/>
                  <a:sym typeface="Arial"/>
                </a:endParaRPr>
              </a:p>
            </p:txBody>
          </p:sp>
          <p:sp>
            <p:nvSpPr>
              <p:cNvPr id="2798" name="Google Shape;2798;p146"/>
              <p:cNvSpPr txBox="1"/>
              <p:nvPr/>
            </p:nvSpPr>
            <p:spPr>
              <a:xfrm>
                <a:off x="4798454" y="4330014"/>
                <a:ext cx="936104" cy="299312"/>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Điện áp</a:t>
                </a:r>
                <a:endParaRPr sz="1200">
                  <a:solidFill>
                    <a:srgbClr val="000000"/>
                  </a:solidFill>
                  <a:latin typeface="Arial"/>
                  <a:ea typeface="Arial"/>
                  <a:cs typeface="Arial"/>
                  <a:sym typeface="Arial"/>
                </a:endParaRPr>
              </a:p>
            </p:txBody>
          </p:sp>
          <p:sp>
            <p:nvSpPr>
              <p:cNvPr id="2799" name="Google Shape;2799;p146"/>
              <p:cNvSpPr txBox="1"/>
              <p:nvPr/>
            </p:nvSpPr>
            <p:spPr>
              <a:xfrm>
                <a:off x="3837337" y="5723229"/>
                <a:ext cx="936104" cy="299312"/>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Thời gian</a:t>
                </a:r>
                <a:endParaRPr sz="1200">
                  <a:solidFill>
                    <a:srgbClr val="000000"/>
                  </a:solidFill>
                  <a:latin typeface="Arial"/>
                  <a:ea typeface="Arial"/>
                  <a:cs typeface="Arial"/>
                  <a:sym typeface="Arial"/>
                </a:endParaRPr>
              </a:p>
            </p:txBody>
          </p:sp>
          <p:sp>
            <p:nvSpPr>
              <p:cNvPr id="2800" name="Google Shape;2800;p146"/>
              <p:cNvSpPr txBox="1"/>
              <p:nvPr/>
            </p:nvSpPr>
            <p:spPr>
              <a:xfrm>
                <a:off x="7615582" y="5150276"/>
                <a:ext cx="936104" cy="299312"/>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Thời gian</a:t>
                </a:r>
                <a:endParaRPr sz="1200">
                  <a:solidFill>
                    <a:srgbClr val="000000"/>
                  </a:solidFill>
                  <a:latin typeface="Arial"/>
                  <a:ea typeface="Arial"/>
                  <a:cs typeface="Arial"/>
                  <a:sym typeface="Arial"/>
                </a:endParaRPr>
              </a:p>
            </p:txBody>
          </p:sp>
          <p:sp>
            <p:nvSpPr>
              <p:cNvPr id="2801" name="Google Shape;2801;p146"/>
              <p:cNvSpPr txBox="1"/>
              <p:nvPr/>
            </p:nvSpPr>
            <p:spPr>
              <a:xfrm>
                <a:off x="3087111" y="5833372"/>
                <a:ext cx="477204" cy="332569"/>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400">
                    <a:solidFill>
                      <a:srgbClr val="FF0000"/>
                    </a:solidFill>
                    <a:latin typeface="Arial"/>
                    <a:ea typeface="Arial"/>
                    <a:cs typeface="Arial"/>
                    <a:sym typeface="Arial"/>
                  </a:rPr>
                  <a:t>DC</a:t>
                </a:r>
                <a:endParaRPr sz="1400">
                  <a:solidFill>
                    <a:srgbClr val="FF0000"/>
                  </a:solidFill>
                  <a:latin typeface="Arial"/>
                  <a:ea typeface="Arial"/>
                  <a:cs typeface="Arial"/>
                  <a:sym typeface="Arial"/>
                </a:endParaRPr>
              </a:p>
            </p:txBody>
          </p:sp>
          <p:sp>
            <p:nvSpPr>
              <p:cNvPr id="2802" name="Google Shape;2802;p146"/>
              <p:cNvSpPr txBox="1"/>
              <p:nvPr/>
            </p:nvSpPr>
            <p:spPr>
              <a:xfrm>
                <a:off x="6971704" y="5833372"/>
                <a:ext cx="498855" cy="332569"/>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400">
                    <a:solidFill>
                      <a:srgbClr val="FF0000"/>
                    </a:solidFill>
                    <a:latin typeface="Arial"/>
                    <a:ea typeface="Arial"/>
                    <a:cs typeface="Arial"/>
                    <a:sym typeface="Arial"/>
                  </a:rPr>
                  <a:t>AC</a:t>
                </a:r>
                <a:endParaRPr sz="1400">
                  <a:solidFill>
                    <a:srgbClr val="FF0000"/>
                  </a:solidFill>
                  <a:latin typeface="Arial"/>
                  <a:ea typeface="Arial"/>
                  <a:cs typeface="Arial"/>
                  <a:sym typeface="Arial"/>
                </a:endParaRPr>
              </a:p>
            </p:txBody>
          </p:sp>
        </p:gr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807"/>
        <p:cNvGrpSpPr/>
        <p:nvPr/>
      </p:nvGrpSpPr>
      <p:grpSpPr>
        <a:xfrm>
          <a:off x="0" y="0"/>
          <a:ext cx="0" cy="0"/>
          <a:chOff x="0" y="0"/>
          <a:chExt cx="0" cy="0"/>
        </a:xfrm>
      </p:grpSpPr>
      <p:sp>
        <p:nvSpPr>
          <p:cNvPr id="2808" name="Google Shape;2808;p147"/>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Tần số và Chu kỳ</a:t>
            </a:r>
            <a:endParaRPr sz="2400" b="1">
              <a:solidFill>
                <a:srgbClr val="0C0C0C"/>
              </a:solidFill>
              <a:latin typeface="Arial"/>
              <a:ea typeface="Arial"/>
              <a:cs typeface="Arial"/>
              <a:sym typeface="Arial"/>
            </a:endParaRPr>
          </a:p>
        </p:txBody>
      </p:sp>
      <p:sp>
        <p:nvSpPr>
          <p:cNvPr id="2809" name="Google Shape;2809;p147"/>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810" name="Google Shape;2810;p147"/>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Tần số</a:t>
            </a:r>
            <a:endParaRPr sz="1400">
              <a:solidFill>
                <a:schemeClr val="dk1"/>
              </a:solidFill>
              <a:latin typeface="Arial"/>
              <a:ea typeface="Arial"/>
              <a:cs typeface="Arial"/>
              <a:sym typeface="Arial"/>
            </a:endParaRPr>
          </a:p>
        </p:txBody>
      </p:sp>
      <p:sp>
        <p:nvSpPr>
          <p:cNvPr id="2811" name="Google Shape;2811;p147"/>
          <p:cNvSpPr/>
          <p:nvPr/>
        </p:nvSpPr>
        <p:spPr>
          <a:xfrm>
            <a:off x="712182" y="2174873"/>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Số lần sóng chạy không tắt dao động trong một giây (đơn vị: Héc, Hz)</a:t>
            </a:r>
            <a:endParaRPr/>
          </a:p>
        </p:txBody>
      </p:sp>
      <p:sp>
        <p:nvSpPr>
          <p:cNvPr id="2812" name="Google Shape;2812;p147"/>
          <p:cNvSpPr/>
          <p:nvPr/>
        </p:nvSpPr>
        <p:spPr>
          <a:xfrm>
            <a:off x="580388" y="2588509"/>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Chu kỳ </a:t>
            </a:r>
            <a:endParaRPr/>
          </a:p>
        </p:txBody>
      </p:sp>
      <p:sp>
        <p:nvSpPr>
          <p:cNvPr id="2813" name="Google Shape;2813;p147"/>
          <p:cNvSpPr/>
          <p:nvPr/>
        </p:nvSpPr>
        <p:spPr>
          <a:xfrm>
            <a:off x="712182" y="2818845"/>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Thời gian để sóng chạy không tắt lặp lại một lần</a:t>
            </a:r>
            <a:endParaRPr sz="1300">
              <a:solidFill>
                <a:srgbClr val="262626"/>
              </a:solidFill>
              <a:latin typeface="Arial"/>
              <a:ea typeface="Arial"/>
              <a:cs typeface="Arial"/>
              <a:sym typeface="Arial"/>
            </a:endParaRPr>
          </a:p>
        </p:txBody>
      </p:sp>
      <p:sp>
        <p:nvSpPr>
          <p:cNvPr id="2814" name="Google Shape;2814;p147"/>
          <p:cNvSpPr/>
          <p:nvPr/>
        </p:nvSpPr>
        <p:spPr>
          <a:xfrm>
            <a:off x="580388" y="531304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Chu kỳ xung </a:t>
            </a:r>
            <a:endParaRPr/>
          </a:p>
        </p:txBody>
      </p:sp>
      <p:sp>
        <p:nvSpPr>
          <p:cNvPr id="2815" name="Google Shape;2815;p147"/>
          <p:cNvSpPr txBox="1"/>
          <p:nvPr/>
        </p:nvSpPr>
        <p:spPr>
          <a:xfrm>
            <a:off x="712182" y="5601644"/>
            <a:ext cx="2381538" cy="695511"/>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816" name="Google Shape;2816;p147"/>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4.1. </a:t>
            </a:r>
            <a:r>
              <a:rPr lang="en-US" sz="1800" b="1" dirty="0" err="1">
                <a:solidFill>
                  <a:schemeClr val="tx1"/>
                </a:solidFill>
                <a:latin typeface="Arial"/>
                <a:ea typeface="Arial"/>
                <a:cs typeface="Arial"/>
                <a:sym typeface="Arial"/>
              </a:rPr>
              <a:t>Nội</a:t>
            </a:r>
            <a:r>
              <a:rPr lang="en-US" sz="1800" b="1" dirty="0">
                <a:solidFill>
                  <a:schemeClr val="tx1"/>
                </a:solidFill>
                <a:latin typeface="Arial"/>
                <a:ea typeface="Arial"/>
                <a:cs typeface="Arial"/>
                <a:sym typeface="Arial"/>
              </a:rPr>
              <a:t> dung </a:t>
            </a:r>
            <a:r>
              <a:rPr lang="en-US" sz="1800" b="1" dirty="0" err="1">
                <a:solidFill>
                  <a:schemeClr val="tx1"/>
                </a:solidFill>
                <a:latin typeface="Arial"/>
                <a:ea typeface="Arial"/>
                <a:cs typeface="Arial"/>
                <a:sym typeface="Arial"/>
              </a:rPr>
              <a:t>cơ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bản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về</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học</a:t>
            </a:r>
            <a:endParaRPr sz="1800" b="1" dirty="0">
              <a:solidFill>
                <a:schemeClr val="tx1"/>
              </a:solidFill>
              <a:latin typeface="Arial"/>
              <a:ea typeface="Arial"/>
              <a:cs typeface="Arial"/>
              <a:sym typeface="Arial"/>
            </a:endParaRPr>
          </a:p>
        </p:txBody>
      </p:sp>
      <p:grpSp>
        <p:nvGrpSpPr>
          <p:cNvPr id="2817" name="Google Shape;2817;p147"/>
          <p:cNvGrpSpPr/>
          <p:nvPr/>
        </p:nvGrpSpPr>
        <p:grpSpPr>
          <a:xfrm>
            <a:off x="1359539" y="3313454"/>
            <a:ext cx="6666226" cy="1643607"/>
            <a:chOff x="11674793" y="2485534"/>
            <a:chExt cx="9711497" cy="2394441"/>
          </a:xfrm>
        </p:grpSpPr>
        <p:sp>
          <p:nvSpPr>
            <p:cNvPr id="2818" name="Google Shape;2818;p147"/>
            <p:cNvSpPr/>
            <p:nvPr/>
          </p:nvSpPr>
          <p:spPr>
            <a:xfrm>
              <a:off x="17658349" y="3571875"/>
              <a:ext cx="1655763" cy="649288"/>
            </a:xfrm>
            <a:prstGeom prst="rect">
              <a:avLst/>
            </a:pr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Arial"/>
                <a:ea typeface="Arial"/>
                <a:cs typeface="Arial"/>
                <a:sym typeface="Arial"/>
              </a:endParaRPr>
            </a:p>
          </p:txBody>
        </p:sp>
        <p:graphicFrame>
          <p:nvGraphicFramePr>
            <p:cNvPr id="2819" name="Google Shape;2819;p147"/>
            <p:cNvGraphicFramePr/>
            <p:nvPr/>
          </p:nvGraphicFramePr>
          <p:xfrm>
            <a:off x="11674793" y="2781300"/>
            <a:ext cx="5400675" cy="2098675"/>
          </p:xfrm>
          <a:graphic>
            <a:graphicData uri="http://schemas.openxmlformats.org/presentationml/2006/ole">
              <mc:AlternateContent xmlns:mc="http://schemas.openxmlformats.org/markup-compatibility/2006">
                <mc:Choice xmlns:v="urn:schemas-microsoft-com:vml" Requires="v">
                  <p:oleObj r:id="rId4" imgW="5400675" imgH="2098675" progId="Visio.Drawing.6">
                    <p:embed/>
                  </p:oleObj>
                </mc:Choice>
                <mc:Fallback>
                  <p:oleObj r:id="rId4" imgW="5400675" imgH="2098675" progId="Visio.Drawing.6">
                    <p:embed/>
                    <p:pic>
                      <p:nvPicPr>
                        <p:cNvPr id="2819" name="Google Shape;2819;p147"/>
                        <p:cNvPicPr preferRelativeResize="0"/>
                        <p:nvPr/>
                      </p:nvPicPr>
                      <p:blipFill rotWithShape="1">
                        <a:blip r:embed="rId5">
                          <a:alphaModFix/>
                        </a:blip>
                        <a:srcRect/>
                        <a:stretch/>
                      </p:blipFill>
                      <p:spPr>
                        <a:xfrm>
                          <a:off x="11674793" y="2781300"/>
                          <a:ext cx="5400675" cy="2098675"/>
                        </a:xfrm>
                        <a:prstGeom prst="rect">
                          <a:avLst/>
                        </a:prstGeom>
                        <a:noFill/>
                        <a:ln>
                          <a:noFill/>
                        </a:ln>
                      </p:spPr>
                    </p:pic>
                  </p:oleObj>
                </mc:Fallback>
              </mc:AlternateContent>
            </a:graphicData>
          </a:graphic>
        </p:graphicFrame>
        <p:pic>
          <p:nvPicPr>
            <p:cNvPr id="2820" name="Google Shape;2820;p147"/>
            <p:cNvPicPr preferRelativeResize="0"/>
            <p:nvPr/>
          </p:nvPicPr>
          <p:blipFill rotWithShape="1">
            <a:blip r:embed="rId6">
              <a:alphaModFix/>
            </a:blip>
            <a:srcRect/>
            <a:stretch/>
          </p:blipFill>
          <p:spPr>
            <a:xfrm>
              <a:off x="17782174" y="3616326"/>
              <a:ext cx="1404938" cy="558800"/>
            </a:xfrm>
            <a:prstGeom prst="rect">
              <a:avLst/>
            </a:prstGeom>
            <a:noFill/>
            <a:ln>
              <a:noFill/>
            </a:ln>
          </p:spPr>
        </p:pic>
        <p:sp>
          <p:nvSpPr>
            <p:cNvPr id="2821" name="Google Shape;2821;p147"/>
            <p:cNvSpPr/>
            <p:nvPr/>
          </p:nvSpPr>
          <p:spPr>
            <a:xfrm>
              <a:off x="19194203" y="2485534"/>
              <a:ext cx="2192087" cy="773903"/>
            </a:xfrm>
            <a:prstGeom prst="wedgeRoundRectCallout">
              <a:avLst>
                <a:gd name="adj1" fmla="val -47172"/>
                <a:gd name="adj2" fmla="val 75240"/>
                <a:gd name="adj3" fmla="val 16667"/>
              </a:avLst>
            </a:prstGeom>
            <a:solidFill>
              <a:srgbClr val="D8D8D8"/>
            </a:solidFill>
            <a:ln w="9525" cap="flat" cmpd="sng">
              <a:solidFill>
                <a:srgbClr val="BFBFBF"/>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Mối quan hệ giữa tần số và chu kỳ</a:t>
              </a:r>
              <a:endParaRPr/>
            </a:p>
          </p:txBody>
        </p:sp>
        <p:sp>
          <p:nvSpPr>
            <p:cNvPr id="2822" name="Google Shape;2822;p147"/>
            <p:cNvSpPr txBox="1"/>
            <p:nvPr/>
          </p:nvSpPr>
          <p:spPr>
            <a:xfrm>
              <a:off x="14146636" y="3234135"/>
              <a:ext cx="3240186" cy="246222"/>
            </a:xfrm>
            <a:prstGeom prst="rect">
              <a:avLst/>
            </a:prstGeom>
            <a:solidFill>
              <a:schemeClr val="lt1"/>
            </a:solid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1000">
                  <a:solidFill>
                    <a:srgbClr val="000000"/>
                  </a:solidFill>
                  <a:latin typeface="Arial"/>
                  <a:ea typeface="Arial"/>
                  <a:cs typeface="Arial"/>
                  <a:sym typeface="Arial"/>
                </a:rPr>
                <a:t>Dao động mỗi giây một lần = 1 Hz</a:t>
              </a:r>
              <a:endParaRPr/>
            </a:p>
          </p:txBody>
        </p:sp>
        <p:sp>
          <p:nvSpPr>
            <p:cNvPr id="2823" name="Google Shape;2823;p147"/>
            <p:cNvSpPr txBox="1"/>
            <p:nvPr/>
          </p:nvSpPr>
          <p:spPr>
            <a:xfrm>
              <a:off x="14146636" y="3776213"/>
              <a:ext cx="3356872" cy="307777"/>
            </a:xfrm>
            <a:prstGeom prst="rect">
              <a:avLst/>
            </a:prstGeom>
            <a:solidFill>
              <a:schemeClr val="lt1"/>
            </a:solid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1000">
                  <a:solidFill>
                    <a:srgbClr val="000000"/>
                  </a:solidFill>
                  <a:latin typeface="Arial"/>
                  <a:ea typeface="Arial"/>
                  <a:cs typeface="Arial"/>
                  <a:sym typeface="Arial"/>
                </a:rPr>
                <a:t>Dao động mỗi giây hai lần = 2 Hz</a:t>
              </a:r>
              <a:endParaRPr/>
            </a:p>
          </p:txBody>
        </p:sp>
        <p:sp>
          <p:nvSpPr>
            <p:cNvPr id="2824" name="Google Shape;2824;p147"/>
            <p:cNvSpPr txBox="1"/>
            <p:nvPr/>
          </p:nvSpPr>
          <p:spPr>
            <a:xfrm>
              <a:off x="14146636" y="4550550"/>
              <a:ext cx="4082328" cy="307777"/>
            </a:xfrm>
            <a:prstGeom prst="rect">
              <a:avLst/>
            </a:prstGeom>
            <a:solidFill>
              <a:schemeClr val="lt1"/>
            </a:solid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1000">
                  <a:solidFill>
                    <a:srgbClr val="000000"/>
                  </a:solidFill>
                  <a:latin typeface="Arial"/>
                  <a:ea typeface="Arial"/>
                  <a:cs typeface="Arial"/>
                  <a:sym typeface="Arial"/>
                </a:rPr>
                <a:t>Dao động mỗi giây một nghìn lần = 1 kHz</a:t>
              </a:r>
              <a:endParaRPr/>
            </a:p>
          </p:txBody>
        </p:sp>
        <p:sp>
          <p:nvSpPr>
            <p:cNvPr id="2825" name="Google Shape;2825;p147"/>
            <p:cNvSpPr txBox="1"/>
            <p:nvPr/>
          </p:nvSpPr>
          <p:spPr>
            <a:xfrm>
              <a:off x="12466360" y="2781300"/>
              <a:ext cx="864096" cy="276999"/>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1 giây</a:t>
              </a:r>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830"/>
        <p:cNvGrpSpPr/>
        <p:nvPr/>
      </p:nvGrpSpPr>
      <p:grpSpPr>
        <a:xfrm>
          <a:off x="0" y="0"/>
          <a:ext cx="0" cy="0"/>
          <a:chOff x="0" y="0"/>
          <a:chExt cx="0" cy="0"/>
        </a:xfrm>
      </p:grpSpPr>
      <p:sp>
        <p:nvSpPr>
          <p:cNvPr id="2831" name="Google Shape;2831;p148"/>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Định luật cơ bản về mạch điện</a:t>
            </a:r>
            <a:endParaRPr/>
          </a:p>
        </p:txBody>
      </p:sp>
      <p:sp>
        <p:nvSpPr>
          <p:cNvPr id="2832" name="Google Shape;2832;p148"/>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833" name="Google Shape;2833;p148"/>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Định luật Ôm </a:t>
            </a:r>
            <a:endParaRPr/>
          </a:p>
        </p:txBody>
      </p:sp>
      <p:sp>
        <p:nvSpPr>
          <p:cNvPr id="2834" name="Google Shape;2834;p148"/>
          <p:cNvSpPr/>
          <p:nvPr/>
        </p:nvSpPr>
        <p:spPr>
          <a:xfrm>
            <a:off x="712182" y="2174873"/>
            <a:ext cx="8487381" cy="848128"/>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Định luật Ôm chỉ ra mối quan hệ giữa điện áp của dòng một chiều và cường độ dòng điện chạy qua mạch. Định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luật định nghĩa rằng </a:t>
            </a:r>
            <a:r>
              <a:rPr lang="en-US" sz="1300" b="1">
                <a:solidFill>
                  <a:srgbClr val="0070C0"/>
                </a:solidFill>
                <a:latin typeface="Arial"/>
                <a:ea typeface="Arial"/>
                <a:cs typeface="Arial"/>
                <a:sym typeface="Arial"/>
              </a:rPr>
              <a:t>“cường độ dòng điện chạy qua mạch điện tỷ lệ thuận với lực điện động và tỷ lệ nghịch với điện trở”.</a:t>
            </a:r>
            <a:endParaRPr/>
          </a:p>
        </p:txBody>
      </p:sp>
      <p:sp>
        <p:nvSpPr>
          <p:cNvPr id="2835" name="Google Shape;2835;p148"/>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4.1. </a:t>
            </a:r>
            <a:r>
              <a:rPr lang="en-US" sz="1800" b="1" dirty="0" err="1">
                <a:solidFill>
                  <a:schemeClr val="tx1"/>
                </a:solidFill>
                <a:latin typeface="Arial"/>
                <a:ea typeface="Arial"/>
                <a:cs typeface="Arial"/>
                <a:sym typeface="Arial"/>
              </a:rPr>
              <a:t>Nội</a:t>
            </a:r>
            <a:r>
              <a:rPr lang="en-US" sz="1800" b="1" dirty="0">
                <a:solidFill>
                  <a:schemeClr val="tx1"/>
                </a:solidFill>
                <a:latin typeface="Arial"/>
                <a:ea typeface="Arial"/>
                <a:cs typeface="Arial"/>
                <a:sym typeface="Arial"/>
              </a:rPr>
              <a:t> dung </a:t>
            </a:r>
            <a:r>
              <a:rPr lang="en-US" sz="1800" b="1" dirty="0" err="1">
                <a:solidFill>
                  <a:schemeClr val="tx1"/>
                </a:solidFill>
                <a:latin typeface="Arial"/>
                <a:ea typeface="Arial"/>
                <a:cs typeface="Arial"/>
                <a:sym typeface="Arial"/>
              </a:rPr>
              <a:t>cơ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bản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về</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học</a:t>
            </a:r>
            <a:endParaRPr sz="1800" b="1" dirty="0">
              <a:solidFill>
                <a:schemeClr val="tx1"/>
              </a:solidFill>
              <a:latin typeface="Arial"/>
              <a:ea typeface="Arial"/>
              <a:cs typeface="Arial"/>
              <a:sym typeface="Arial"/>
            </a:endParaRPr>
          </a:p>
        </p:txBody>
      </p:sp>
      <p:grpSp>
        <p:nvGrpSpPr>
          <p:cNvPr id="2836" name="Google Shape;2836;p148"/>
          <p:cNvGrpSpPr/>
          <p:nvPr/>
        </p:nvGrpSpPr>
        <p:grpSpPr>
          <a:xfrm>
            <a:off x="1076963" y="3429000"/>
            <a:ext cx="6706870" cy="1825625"/>
            <a:chOff x="1699235" y="3707512"/>
            <a:chExt cx="6706870" cy="1825625"/>
          </a:xfrm>
        </p:grpSpPr>
        <p:grpSp>
          <p:nvGrpSpPr>
            <p:cNvPr id="2837" name="Google Shape;2837;p148"/>
            <p:cNvGrpSpPr/>
            <p:nvPr/>
          </p:nvGrpSpPr>
          <p:grpSpPr>
            <a:xfrm>
              <a:off x="1699235" y="3707512"/>
              <a:ext cx="5022883" cy="1825625"/>
              <a:chOff x="10827995" y="3356992"/>
              <a:chExt cx="5022883" cy="1825625"/>
            </a:xfrm>
          </p:grpSpPr>
          <p:graphicFrame>
            <p:nvGraphicFramePr>
              <p:cNvPr id="2838" name="Google Shape;2838;p148"/>
              <p:cNvGraphicFramePr/>
              <p:nvPr/>
            </p:nvGraphicFramePr>
            <p:xfrm>
              <a:off x="12037696" y="3356992"/>
              <a:ext cx="3167063" cy="1825625"/>
            </p:xfrm>
            <a:graphic>
              <a:graphicData uri="http://schemas.openxmlformats.org/presentationml/2006/ole">
                <mc:AlternateContent xmlns:mc="http://schemas.openxmlformats.org/markup-compatibility/2006">
                  <mc:Choice xmlns:v="urn:schemas-microsoft-com:vml" Requires="v">
                    <p:oleObj r:id="rId3" imgW="3167063" imgH="1825625" progId="Visio.Drawing.6">
                      <p:embed/>
                    </p:oleObj>
                  </mc:Choice>
                  <mc:Fallback>
                    <p:oleObj r:id="rId3" imgW="3167063" imgH="1825625" progId="Visio.Drawing.6">
                      <p:embed/>
                      <p:pic>
                        <p:nvPicPr>
                          <p:cNvPr id="2838" name="Google Shape;2838;p148"/>
                          <p:cNvPicPr preferRelativeResize="0"/>
                          <p:nvPr/>
                        </p:nvPicPr>
                        <p:blipFill rotWithShape="1">
                          <a:blip r:embed="rId4">
                            <a:alphaModFix/>
                          </a:blip>
                          <a:srcRect/>
                          <a:stretch/>
                        </p:blipFill>
                        <p:spPr>
                          <a:xfrm>
                            <a:off x="12037696" y="3356992"/>
                            <a:ext cx="3167063" cy="1825625"/>
                          </a:xfrm>
                          <a:prstGeom prst="rect">
                            <a:avLst/>
                          </a:prstGeom>
                          <a:noFill/>
                          <a:ln>
                            <a:noFill/>
                          </a:ln>
                        </p:spPr>
                      </p:pic>
                    </p:oleObj>
                  </mc:Fallback>
                </mc:AlternateContent>
              </a:graphicData>
            </a:graphic>
          </p:graphicFrame>
          <p:sp>
            <p:nvSpPr>
              <p:cNvPr id="2839" name="Google Shape;2839;p148"/>
              <p:cNvSpPr txBox="1"/>
              <p:nvPr/>
            </p:nvSpPr>
            <p:spPr>
              <a:xfrm>
                <a:off x="12756858" y="3356992"/>
                <a:ext cx="1800200" cy="30777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Cường độ dòng điện I [A]</a:t>
                </a:r>
                <a:endParaRPr/>
              </a:p>
            </p:txBody>
          </p:sp>
          <p:sp>
            <p:nvSpPr>
              <p:cNvPr id="2840" name="Google Shape;2840;p148"/>
              <p:cNvSpPr txBox="1"/>
              <p:nvPr/>
            </p:nvSpPr>
            <p:spPr>
              <a:xfrm>
                <a:off x="10827995" y="4149080"/>
                <a:ext cx="1800200" cy="307777"/>
              </a:xfrm>
              <a:prstGeom prst="rect">
                <a:avLst/>
              </a:prstGeom>
              <a:solidFill>
                <a:schemeClr val="lt1"/>
              </a:solidFill>
              <a:ln>
                <a:noFill/>
              </a:ln>
            </p:spPr>
            <p:txBody>
              <a:bodyPr spcFirstLastPara="1" wrap="square" lIns="0" tIns="45700" rIns="0" bIns="45700" anchor="t" anchorCtr="0">
                <a:spAutoFit/>
              </a:bodyPr>
              <a:lstStyle/>
              <a:p>
                <a:pPr marL="0" marR="0" lvl="0" indent="0" algn="r" rtl="0">
                  <a:spcBef>
                    <a:spcPts val="0"/>
                  </a:spcBef>
                  <a:spcAft>
                    <a:spcPts val="0"/>
                  </a:spcAft>
                  <a:buNone/>
                </a:pPr>
                <a:r>
                  <a:rPr lang="en-US" sz="1000">
                    <a:solidFill>
                      <a:srgbClr val="000000"/>
                    </a:solidFill>
                    <a:latin typeface="Arial"/>
                    <a:ea typeface="Arial"/>
                    <a:cs typeface="Arial"/>
                    <a:sym typeface="Arial"/>
                  </a:rPr>
                  <a:t>Lực điện động</a:t>
                </a:r>
                <a:endParaRPr/>
              </a:p>
            </p:txBody>
          </p:sp>
          <p:sp>
            <p:nvSpPr>
              <p:cNvPr id="2841" name="Google Shape;2841;p148"/>
              <p:cNvSpPr txBox="1"/>
              <p:nvPr/>
            </p:nvSpPr>
            <p:spPr>
              <a:xfrm>
                <a:off x="14706936" y="4148261"/>
                <a:ext cx="1143942" cy="246221"/>
              </a:xfrm>
              <a:prstGeom prst="rect">
                <a:avLst/>
              </a:prstGeom>
              <a:solidFill>
                <a:schemeClr val="lt1"/>
              </a:solid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1000">
                    <a:solidFill>
                      <a:srgbClr val="000000"/>
                    </a:solidFill>
                    <a:latin typeface="Arial"/>
                    <a:ea typeface="Arial"/>
                    <a:cs typeface="Arial"/>
                    <a:sym typeface="Arial"/>
                  </a:rPr>
                  <a:t>Điện trở</a:t>
                </a:r>
                <a:endParaRPr/>
              </a:p>
            </p:txBody>
          </p:sp>
        </p:grpSp>
        <p:pic>
          <p:nvPicPr>
            <p:cNvPr id="2842" name="Google Shape;2842;p148"/>
            <p:cNvPicPr preferRelativeResize="0"/>
            <p:nvPr/>
          </p:nvPicPr>
          <p:blipFill rotWithShape="1">
            <a:blip r:embed="rId5">
              <a:alphaModFix/>
            </a:blip>
            <a:srcRect/>
            <a:stretch/>
          </p:blipFill>
          <p:spPr>
            <a:xfrm>
              <a:off x="6550316" y="4537065"/>
              <a:ext cx="914400" cy="265112"/>
            </a:xfrm>
            <a:prstGeom prst="rect">
              <a:avLst/>
            </a:prstGeom>
            <a:noFill/>
            <a:ln>
              <a:noFill/>
            </a:ln>
          </p:spPr>
        </p:pic>
        <p:pic>
          <p:nvPicPr>
            <p:cNvPr id="2843" name="Google Shape;2843;p148"/>
            <p:cNvPicPr preferRelativeResize="0"/>
            <p:nvPr/>
          </p:nvPicPr>
          <p:blipFill rotWithShape="1">
            <a:blip r:embed="rId6">
              <a:alphaModFix/>
            </a:blip>
            <a:srcRect/>
            <a:stretch/>
          </p:blipFill>
          <p:spPr>
            <a:xfrm>
              <a:off x="7774280" y="4362440"/>
              <a:ext cx="631825" cy="614362"/>
            </a:xfrm>
            <a:prstGeom prst="rect">
              <a:avLst/>
            </a:prstGeom>
            <a:noFill/>
            <a:ln>
              <a:noFill/>
            </a:ln>
          </p:spPr>
        </p:pic>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848"/>
        <p:cNvGrpSpPr/>
        <p:nvPr/>
      </p:nvGrpSpPr>
      <p:grpSpPr>
        <a:xfrm>
          <a:off x="0" y="0"/>
          <a:ext cx="0" cy="0"/>
          <a:chOff x="0" y="0"/>
          <a:chExt cx="0" cy="0"/>
        </a:xfrm>
      </p:grpSpPr>
      <p:sp>
        <p:nvSpPr>
          <p:cNvPr id="2849" name="Google Shape;2849;p149"/>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Định luật Kirchhoff</a:t>
            </a:r>
            <a:endParaRPr/>
          </a:p>
        </p:txBody>
      </p:sp>
      <p:sp>
        <p:nvSpPr>
          <p:cNvPr id="2850" name="Google Shape;2850;p149"/>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851" name="Google Shape;2851;p149"/>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Định luật Ôm </a:t>
            </a:r>
            <a:endParaRPr/>
          </a:p>
        </p:txBody>
      </p:sp>
      <p:sp>
        <p:nvSpPr>
          <p:cNvPr id="2852" name="Google Shape;2852;p149"/>
          <p:cNvSpPr/>
          <p:nvPr/>
        </p:nvSpPr>
        <p:spPr>
          <a:xfrm>
            <a:off x="712182" y="2174873"/>
            <a:ext cx="8487381" cy="648074"/>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b="1">
                <a:solidFill>
                  <a:srgbClr val="262626"/>
                </a:solidFill>
                <a:latin typeface="Arial"/>
                <a:ea typeface="Arial"/>
                <a:cs typeface="Arial"/>
                <a:sym typeface="Arial"/>
              </a:rPr>
              <a:t>Định luật số 1: </a:t>
            </a:r>
            <a:r>
              <a:rPr lang="en-US" sz="1300">
                <a:solidFill>
                  <a:srgbClr val="262626"/>
                </a:solidFill>
                <a:latin typeface="Arial"/>
                <a:ea typeface="Arial"/>
                <a:cs typeface="Arial"/>
                <a:sym typeface="Arial"/>
              </a:rPr>
              <a:t>Tổng dòng điện đi vào bằng tổng dòng điện đi ra</a:t>
            </a:r>
            <a:endParaRPr sz="1300">
              <a:solidFill>
                <a:srgbClr val="262626"/>
              </a:solidFill>
              <a:latin typeface="Arial"/>
              <a:ea typeface="Arial"/>
              <a:cs typeface="Arial"/>
              <a:sym typeface="Arial"/>
            </a:endParaRPr>
          </a:p>
          <a:p>
            <a:pPr marL="182563" marR="0" lvl="0" indent="-182563" algn="l" rtl="0">
              <a:spcBef>
                <a:spcPts val="800"/>
              </a:spcBef>
              <a:spcAft>
                <a:spcPts val="0"/>
              </a:spcAft>
              <a:buClr>
                <a:srgbClr val="193EB0"/>
              </a:buClr>
              <a:buSzPts val="1300"/>
              <a:buFont typeface="Arial"/>
              <a:buChar char="‣"/>
            </a:pPr>
            <a:r>
              <a:rPr lang="en-US" sz="1300" b="1">
                <a:solidFill>
                  <a:srgbClr val="262626"/>
                </a:solidFill>
                <a:latin typeface="Arial"/>
                <a:ea typeface="Arial"/>
                <a:cs typeface="Arial"/>
                <a:sym typeface="Arial"/>
              </a:rPr>
              <a:t>Định luật số 2: </a:t>
            </a:r>
            <a:r>
              <a:rPr lang="en-US" sz="1300">
                <a:solidFill>
                  <a:srgbClr val="262626"/>
                </a:solidFill>
                <a:latin typeface="Arial"/>
                <a:ea typeface="Arial"/>
                <a:cs typeface="Arial"/>
                <a:sym typeface="Arial"/>
              </a:rPr>
              <a:t>Tổng điện áp nguồn của mạch bằng tổng sụt áp tiêu thụ</a:t>
            </a:r>
            <a:endParaRPr sz="1300">
              <a:solidFill>
                <a:srgbClr val="262626"/>
              </a:solidFill>
              <a:latin typeface="Arial"/>
              <a:ea typeface="Arial"/>
              <a:cs typeface="Arial"/>
              <a:sym typeface="Arial"/>
            </a:endParaRPr>
          </a:p>
        </p:txBody>
      </p:sp>
      <p:sp>
        <p:nvSpPr>
          <p:cNvPr id="2853" name="Google Shape;2853;p149"/>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4.1. </a:t>
            </a:r>
            <a:r>
              <a:rPr lang="en-US" sz="1800" b="1" dirty="0" err="1">
                <a:solidFill>
                  <a:schemeClr val="tx1"/>
                </a:solidFill>
                <a:latin typeface="Arial"/>
                <a:ea typeface="Arial"/>
                <a:cs typeface="Arial"/>
                <a:sym typeface="Arial"/>
              </a:rPr>
              <a:t>Nội</a:t>
            </a:r>
            <a:r>
              <a:rPr lang="en-US" sz="1800" b="1" dirty="0">
                <a:solidFill>
                  <a:schemeClr val="tx1"/>
                </a:solidFill>
                <a:latin typeface="Arial"/>
                <a:ea typeface="Arial"/>
                <a:cs typeface="Arial"/>
                <a:sym typeface="Arial"/>
              </a:rPr>
              <a:t> dung </a:t>
            </a:r>
            <a:r>
              <a:rPr lang="en-US" sz="1800" b="1" dirty="0" err="1">
                <a:solidFill>
                  <a:schemeClr val="tx1"/>
                </a:solidFill>
                <a:latin typeface="Arial"/>
                <a:ea typeface="Arial"/>
                <a:cs typeface="Arial"/>
                <a:sym typeface="Arial"/>
              </a:rPr>
              <a:t>cơ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bản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về</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học</a:t>
            </a:r>
            <a:endParaRPr sz="1800" b="1" dirty="0">
              <a:solidFill>
                <a:schemeClr val="tx1"/>
              </a:solidFill>
              <a:latin typeface="Arial"/>
              <a:ea typeface="Arial"/>
              <a:cs typeface="Arial"/>
              <a:sym typeface="Arial"/>
            </a:endParaRPr>
          </a:p>
        </p:txBody>
      </p:sp>
      <p:pic>
        <p:nvPicPr>
          <p:cNvPr id="2854" name="Google Shape;2854;p149"/>
          <p:cNvPicPr preferRelativeResize="0"/>
          <p:nvPr/>
        </p:nvPicPr>
        <p:blipFill rotWithShape="1">
          <a:blip r:embed="rId3">
            <a:alphaModFix/>
          </a:blip>
          <a:srcRect/>
          <a:stretch/>
        </p:blipFill>
        <p:spPr>
          <a:xfrm>
            <a:off x="1902459" y="2895634"/>
            <a:ext cx="6006277" cy="3368006"/>
          </a:xfrm>
          <a:prstGeom prst="rect">
            <a:avLst/>
          </a:prstGeom>
          <a:noFill/>
          <a:ln>
            <a:noFill/>
          </a:ln>
        </p:spPr>
      </p:pic>
      <p:sp>
        <p:nvSpPr>
          <p:cNvPr id="2855" name="Google Shape;2855;p149"/>
          <p:cNvSpPr txBox="1"/>
          <p:nvPr/>
        </p:nvSpPr>
        <p:spPr>
          <a:xfrm>
            <a:off x="1674803" y="5832913"/>
            <a:ext cx="3230794" cy="30777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400">
                <a:solidFill>
                  <a:srgbClr val="000000"/>
                </a:solidFill>
                <a:latin typeface="Arial"/>
                <a:ea typeface="Arial"/>
                <a:cs typeface="Arial"/>
                <a:sym typeface="Arial"/>
              </a:rPr>
              <a:t>Định luật Kirchhoff 1</a:t>
            </a:r>
            <a:endParaRPr/>
          </a:p>
        </p:txBody>
      </p:sp>
      <p:sp>
        <p:nvSpPr>
          <p:cNvPr id="2856" name="Google Shape;2856;p149"/>
          <p:cNvSpPr txBox="1"/>
          <p:nvPr/>
        </p:nvSpPr>
        <p:spPr>
          <a:xfrm>
            <a:off x="5133253" y="5852629"/>
            <a:ext cx="2600314" cy="30777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400">
                <a:solidFill>
                  <a:srgbClr val="000000"/>
                </a:solidFill>
                <a:latin typeface="Arial"/>
                <a:ea typeface="Arial"/>
                <a:cs typeface="Arial"/>
                <a:sym typeface="Arial"/>
              </a:rPr>
              <a:t>Định luật Kirchhoff 2</a:t>
            </a:r>
            <a:endParaRPr/>
          </a:p>
        </p:txBody>
      </p:sp>
      <p:sp>
        <p:nvSpPr>
          <p:cNvPr id="2857" name="Google Shape;2857;p149"/>
          <p:cNvSpPr txBox="1"/>
          <p:nvPr/>
        </p:nvSpPr>
        <p:spPr>
          <a:xfrm>
            <a:off x="5624188" y="4964578"/>
            <a:ext cx="809222" cy="769441"/>
          </a:xfrm>
          <a:prstGeom prst="rect">
            <a:avLst/>
          </a:prstGeom>
          <a:solidFill>
            <a:schemeClr val="lt1"/>
          </a:solid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1100">
                <a:solidFill>
                  <a:srgbClr val="000000"/>
                </a:solidFill>
                <a:latin typeface="Arial"/>
                <a:ea typeface="Arial"/>
                <a:cs typeface="Arial"/>
                <a:sym typeface="Arial"/>
              </a:rPr>
              <a:t>Lực điện động</a:t>
            </a:r>
            <a:endParaRPr/>
          </a:p>
          <a:p>
            <a:pPr marL="0" marR="0" lvl="0" indent="0" algn="l" rtl="0">
              <a:spcBef>
                <a:spcPts val="0"/>
              </a:spcBef>
              <a:spcAft>
                <a:spcPts val="0"/>
              </a:spcAft>
              <a:buNone/>
            </a:pPr>
            <a:endParaRPr sz="1100">
              <a:solidFill>
                <a:srgbClr val="000000"/>
              </a:solidFill>
              <a:latin typeface="Arial"/>
              <a:ea typeface="Arial"/>
              <a:cs typeface="Arial"/>
              <a:sym typeface="Arial"/>
            </a:endParaRPr>
          </a:p>
          <a:p>
            <a:pPr marL="0" marR="0" lvl="0" indent="0" algn="l" rtl="0">
              <a:spcBef>
                <a:spcPts val="0"/>
              </a:spcBef>
              <a:spcAft>
                <a:spcPts val="0"/>
              </a:spcAft>
              <a:buNone/>
            </a:pPr>
            <a:endParaRPr sz="1100">
              <a:solidFill>
                <a:srgbClr val="000000"/>
              </a:solidFill>
              <a:latin typeface="Arial"/>
              <a:ea typeface="Arial"/>
              <a:cs typeface="Arial"/>
              <a:sym typeface="Arial"/>
            </a:endParaRPr>
          </a:p>
        </p:txBody>
      </p:sp>
      <p:sp>
        <p:nvSpPr>
          <p:cNvPr id="2858" name="Google Shape;2858;p149"/>
          <p:cNvSpPr txBox="1"/>
          <p:nvPr/>
        </p:nvSpPr>
        <p:spPr>
          <a:xfrm>
            <a:off x="6812262" y="5127562"/>
            <a:ext cx="717622" cy="400110"/>
          </a:xfrm>
          <a:prstGeom prst="rect">
            <a:avLst/>
          </a:prstGeom>
          <a:solidFill>
            <a:schemeClr val="lt1"/>
          </a:solid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1000">
                <a:solidFill>
                  <a:srgbClr val="000000"/>
                </a:solidFill>
                <a:latin typeface="Arial"/>
                <a:ea typeface="Arial"/>
                <a:cs typeface="Arial"/>
                <a:sym typeface="Arial"/>
              </a:rPr>
              <a:t>Sụt áp</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750">
          <a:extLst>
            <a:ext uri="{FF2B5EF4-FFF2-40B4-BE49-F238E27FC236}">
              <a16:creationId xmlns:a16="http://schemas.microsoft.com/office/drawing/2014/main" id="{D72F7409-447A-E9D1-E9CF-28D61965948B}"/>
            </a:ext>
          </a:extLst>
        </p:cNvPr>
        <p:cNvGrpSpPr/>
        <p:nvPr/>
      </p:nvGrpSpPr>
      <p:grpSpPr>
        <a:xfrm>
          <a:off x="0" y="0"/>
          <a:ext cx="0" cy="0"/>
          <a:chOff x="0" y="0"/>
          <a:chExt cx="0" cy="0"/>
        </a:xfrm>
      </p:grpSpPr>
      <p:grpSp>
        <p:nvGrpSpPr>
          <p:cNvPr id="2751" name="Google Shape;2751;p144">
            <a:extLst>
              <a:ext uri="{FF2B5EF4-FFF2-40B4-BE49-F238E27FC236}">
                <a16:creationId xmlns:a16="http://schemas.microsoft.com/office/drawing/2014/main" id="{9721145E-8D77-7426-9D79-27999768D75B}"/>
              </a:ext>
            </a:extLst>
          </p:cNvPr>
          <p:cNvGrpSpPr/>
          <p:nvPr/>
        </p:nvGrpSpPr>
        <p:grpSpPr>
          <a:xfrm>
            <a:off x="990000" y="2748477"/>
            <a:ext cx="8344500" cy="2322355"/>
            <a:chOff x="990000" y="2748477"/>
            <a:chExt cx="8344500" cy="2322355"/>
          </a:xfrm>
        </p:grpSpPr>
        <p:sp>
          <p:nvSpPr>
            <p:cNvPr id="2752" name="Google Shape;2752;p144">
              <a:extLst>
                <a:ext uri="{FF2B5EF4-FFF2-40B4-BE49-F238E27FC236}">
                  <a16:creationId xmlns:a16="http://schemas.microsoft.com/office/drawing/2014/main" id="{DC28027D-3797-17E2-836B-F4CC83C47C97}"/>
                </a:ext>
              </a:extLst>
            </p:cNvPr>
            <p:cNvSpPr/>
            <p:nvPr/>
          </p:nvSpPr>
          <p:spPr>
            <a:xfrm>
              <a:off x="990000" y="3038807"/>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Mạch &amp; Linh kiện cơ bản</a:t>
              </a:r>
              <a:endParaRPr sz="3600" b="1">
                <a:solidFill>
                  <a:schemeClr val="dk1"/>
                </a:solidFill>
                <a:latin typeface="Arial"/>
                <a:ea typeface="Arial"/>
                <a:cs typeface="Arial"/>
                <a:sym typeface="Arial"/>
              </a:endParaRPr>
            </a:p>
          </p:txBody>
        </p:sp>
        <p:sp>
          <p:nvSpPr>
            <p:cNvPr id="2753" name="Google Shape;2753;p144">
              <a:extLst>
                <a:ext uri="{FF2B5EF4-FFF2-40B4-BE49-F238E27FC236}">
                  <a16:creationId xmlns:a16="http://schemas.microsoft.com/office/drawing/2014/main" id="{065968E1-E4C3-72CD-EC74-1C7F910880C7}"/>
                </a:ext>
              </a:extLst>
            </p:cNvPr>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a:t>
              </a:r>
              <a:endParaRPr dirty="0"/>
            </a:p>
          </p:txBody>
        </p:sp>
        <p:sp>
          <p:nvSpPr>
            <p:cNvPr id="2754" name="Google Shape;2754;p144">
              <a:extLst>
                <a:ext uri="{FF2B5EF4-FFF2-40B4-BE49-F238E27FC236}">
                  <a16:creationId xmlns:a16="http://schemas.microsoft.com/office/drawing/2014/main" id="{B0D494CC-2735-3406-0D80-960EE669CF6B}"/>
                </a:ext>
              </a:extLst>
            </p:cNvPr>
            <p:cNvSpPr/>
            <p:nvPr/>
          </p:nvSpPr>
          <p:spPr>
            <a:xfrm>
              <a:off x="1054112" y="3983355"/>
              <a:ext cx="5373676" cy="1087477"/>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chemeClr val="bg1">
                      <a:lumMod val="65000"/>
                    </a:schemeClr>
                  </a:solidFill>
                  <a:latin typeface="Arial"/>
                  <a:ea typeface="Arial"/>
                  <a:cs typeface="Arial"/>
                  <a:sym typeface="Arial"/>
                </a:rPr>
                <a:t>3.1. </a:t>
              </a:r>
              <a:r>
                <a:rPr lang="en-US" sz="1800" dirty="0" err="1">
                  <a:solidFill>
                    <a:schemeClr val="bg1">
                      <a:lumMod val="65000"/>
                    </a:schemeClr>
                  </a:solidFill>
                  <a:latin typeface="Arial"/>
                  <a:ea typeface="Arial"/>
                  <a:cs typeface="Arial"/>
                  <a:sym typeface="Arial"/>
                </a:rPr>
                <a:t>Nội</a:t>
              </a:r>
              <a:r>
                <a:rPr lang="en-US" sz="1800" dirty="0">
                  <a:solidFill>
                    <a:schemeClr val="bg1">
                      <a:lumMod val="65000"/>
                    </a:schemeClr>
                  </a:solidFill>
                  <a:latin typeface="Arial"/>
                  <a:ea typeface="Arial"/>
                  <a:cs typeface="Arial"/>
                  <a:sym typeface="Arial"/>
                </a:rPr>
                <a:t> dung </a:t>
              </a:r>
              <a:r>
                <a:rPr lang="en-US" sz="1800" dirty="0" err="1">
                  <a:solidFill>
                    <a:schemeClr val="bg1">
                      <a:lumMod val="65000"/>
                    </a:schemeClr>
                  </a:solidFill>
                  <a:latin typeface="Arial"/>
                  <a:ea typeface="Arial"/>
                  <a:cs typeface="Arial"/>
                  <a:sym typeface="Arial"/>
                </a:rPr>
                <a:t>cơ</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bản</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về</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điện</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tử</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học</a:t>
              </a:r>
              <a:endParaRPr dirty="0">
                <a:solidFill>
                  <a:schemeClr val="bg1">
                    <a:lumMod val="6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latin typeface="Arial"/>
                  <a:ea typeface="Arial"/>
                  <a:cs typeface="Arial"/>
                  <a:sym typeface="Arial"/>
                </a:rPr>
                <a:t>3.2. Các </a:t>
              </a:r>
              <a:r>
                <a:rPr lang="en-US" sz="1800" dirty="0" err="1">
                  <a:solidFill>
                    <a:schemeClr val="tx1"/>
                  </a:solidFill>
                  <a:latin typeface="Arial"/>
                  <a:ea typeface="Arial"/>
                  <a:cs typeface="Arial"/>
                  <a:sym typeface="Arial"/>
                </a:rPr>
                <a:t>loại</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linh</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kiện</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điện</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tử</a:t>
              </a:r>
              <a:endParaRPr sz="1800" dirty="0">
                <a:solidFill>
                  <a:schemeClr val="tx1"/>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3.3. </a:t>
              </a:r>
              <a:r>
                <a:rPr lang="en-US" sz="1800" dirty="0" err="1">
                  <a:solidFill>
                    <a:srgbClr val="A6A6A6"/>
                  </a:solidFill>
                  <a:latin typeface="Arial"/>
                  <a:ea typeface="Arial"/>
                  <a:cs typeface="Arial"/>
                  <a:sym typeface="Arial"/>
                </a:rPr>
                <a:t>Diễn</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giải</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sơ</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đồ</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mạch</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điện</a:t>
              </a:r>
              <a:r>
                <a:rPr lang="en-US" sz="1800" dirty="0">
                  <a:solidFill>
                    <a:srgbClr val="A6A6A6"/>
                  </a:solidFill>
                  <a:latin typeface="Arial"/>
                  <a:ea typeface="Arial"/>
                  <a:cs typeface="Arial"/>
                  <a:sym typeface="Arial"/>
                </a:rPr>
                <a:t> </a:t>
              </a:r>
              <a:endParaRPr sz="1800" dirty="0">
                <a:solidFill>
                  <a:srgbClr val="A6A6A6"/>
                </a:solidFill>
                <a:latin typeface="Arial"/>
                <a:ea typeface="Arial"/>
                <a:cs typeface="Arial"/>
                <a:sym typeface="Arial"/>
              </a:endParaRPr>
            </a:p>
          </p:txBody>
        </p:sp>
      </p:grpSp>
    </p:spTree>
    <p:extLst>
      <p:ext uri="{BB962C8B-B14F-4D97-AF65-F5344CB8AC3E}">
        <p14:creationId xmlns:p14="http://schemas.microsoft.com/office/powerpoint/2010/main" val="3873181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872"/>
        <p:cNvGrpSpPr/>
        <p:nvPr/>
      </p:nvGrpSpPr>
      <p:grpSpPr>
        <a:xfrm>
          <a:off x="0" y="0"/>
          <a:ext cx="0" cy="0"/>
          <a:chOff x="0" y="0"/>
          <a:chExt cx="0" cy="0"/>
        </a:xfrm>
      </p:grpSpPr>
      <p:sp>
        <p:nvSpPr>
          <p:cNvPr id="2873" name="Google Shape;2873;p151"/>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Các </a:t>
            </a:r>
            <a:r>
              <a:rPr lang="en-US" sz="2400" b="1" dirty="0" err="1">
                <a:solidFill>
                  <a:srgbClr val="0C0C0C"/>
                </a:solidFill>
                <a:latin typeface="Arial"/>
                <a:ea typeface="Arial"/>
                <a:cs typeface="Arial"/>
                <a:sym typeface="Arial"/>
              </a:rPr>
              <a:t>loại</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kiện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điện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tử</a:t>
            </a:r>
            <a:endParaRPr sz="2400" b="1" dirty="0">
              <a:solidFill>
                <a:srgbClr val="0C0C0C"/>
              </a:solidFill>
              <a:latin typeface="Arial"/>
              <a:ea typeface="Arial"/>
              <a:cs typeface="Arial"/>
              <a:sym typeface="Arial"/>
            </a:endParaRPr>
          </a:p>
        </p:txBody>
      </p:sp>
      <p:sp>
        <p:nvSpPr>
          <p:cNvPr id="2875" name="Google Shape;2875;p151"/>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linh kiện chủ động</a:t>
            </a:r>
            <a:endParaRPr sz="1400">
              <a:solidFill>
                <a:schemeClr val="dk1"/>
              </a:solidFill>
              <a:latin typeface="Arial"/>
              <a:ea typeface="Arial"/>
              <a:cs typeface="Arial"/>
              <a:sym typeface="Arial"/>
            </a:endParaRPr>
          </a:p>
        </p:txBody>
      </p:sp>
      <p:sp>
        <p:nvSpPr>
          <p:cNvPr id="2876" name="Google Shape;2876;p151"/>
          <p:cNvSpPr/>
          <p:nvPr/>
        </p:nvSpPr>
        <p:spPr>
          <a:xfrm>
            <a:off x="712182" y="2174873"/>
            <a:ext cx="8487381"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Bao gồm đầu vào và đầu ra, chính điện năng tạo nên mối quan hệ giữa đầu vào và đầu ra. Ví dụ như transistor, Mạch tích hợp, điốt, mạch khuếch đại thuật toán.</a:t>
            </a:r>
            <a:endParaRPr/>
          </a:p>
        </p:txBody>
      </p:sp>
      <p:sp>
        <p:nvSpPr>
          <p:cNvPr id="2877" name="Google Shape;2877;p151"/>
          <p:cNvSpPr/>
          <p:nvPr/>
        </p:nvSpPr>
        <p:spPr>
          <a:xfrm>
            <a:off x="580388" y="2812029"/>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linh kiện thụ động</a:t>
            </a:r>
            <a:endParaRPr sz="1400">
              <a:solidFill>
                <a:schemeClr val="dk1"/>
              </a:solidFill>
              <a:latin typeface="Arial"/>
              <a:ea typeface="Arial"/>
              <a:cs typeface="Arial"/>
              <a:sym typeface="Arial"/>
            </a:endParaRPr>
          </a:p>
        </p:txBody>
      </p:sp>
      <p:sp>
        <p:nvSpPr>
          <p:cNvPr id="2878" name="Google Shape;2878;p151"/>
          <p:cNvSpPr/>
          <p:nvPr/>
        </p:nvSpPr>
        <p:spPr>
          <a:xfrm>
            <a:off x="712182" y="3042365"/>
            <a:ext cx="8487381" cy="648074"/>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Những linh kiện này không thể tự hoạt động nhưng có thể được kích hoạt khi ghép nối với thiết bị đang hoạt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động. Ví dụ như điện trở, cuộn cảm, tụ điện </a:t>
            </a:r>
            <a:endParaRPr/>
          </a:p>
        </p:txBody>
      </p:sp>
      <p:sp>
        <p:nvSpPr>
          <p:cNvPr id="2879" name="Google Shape;2879;p151"/>
          <p:cNvSpPr/>
          <p:nvPr/>
        </p:nvSpPr>
        <p:spPr>
          <a:xfrm>
            <a:off x="580388" y="3681912"/>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linh kiện phụ</a:t>
            </a:r>
            <a:endParaRPr sz="1400">
              <a:solidFill>
                <a:schemeClr val="dk1"/>
              </a:solidFill>
              <a:latin typeface="Arial"/>
              <a:ea typeface="Arial"/>
              <a:cs typeface="Arial"/>
              <a:sym typeface="Arial"/>
            </a:endParaRPr>
          </a:p>
        </p:txBody>
      </p:sp>
      <p:sp>
        <p:nvSpPr>
          <p:cNvPr id="2880" name="Google Shape;2880;p151"/>
          <p:cNvSpPr/>
          <p:nvPr/>
        </p:nvSpPr>
        <p:spPr>
          <a:xfrm>
            <a:off x="712182" y="3912248"/>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dirty="0" err="1">
                <a:solidFill>
                  <a:srgbClr val="262626"/>
                </a:solidFill>
                <a:latin typeface="Arial"/>
                <a:ea typeface="Arial"/>
                <a:cs typeface="Arial"/>
                <a:sym typeface="Arial"/>
              </a:rPr>
              <a:t>Dùng</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để</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kết</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nối</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và</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cố</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định</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thiết</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bị</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Ví</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dụ</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như</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đầu</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nối</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bo</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mạch</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thiết</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bị</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đầu</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cuối</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công</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tắc</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cuộn</a:t>
            </a:r>
            <a:r>
              <a:rPr lang="en-US" sz="1300" dirty="0">
                <a:solidFill>
                  <a:srgbClr val="262626"/>
                </a:solidFill>
                <a:latin typeface="Arial"/>
                <a:ea typeface="Arial"/>
                <a:cs typeface="Arial"/>
                <a:sym typeface="Arial"/>
              </a:rPr>
              <a:t> </a:t>
            </a:r>
            <a:r>
              <a:rPr lang="en-US" sz="1300" dirty="0" err="1">
                <a:solidFill>
                  <a:srgbClr val="262626"/>
                </a:solidFill>
                <a:latin typeface="Arial"/>
                <a:ea typeface="Arial"/>
                <a:cs typeface="Arial"/>
                <a:sym typeface="Arial"/>
              </a:rPr>
              <a:t>dây</a:t>
            </a:r>
            <a:r>
              <a:rPr lang="en-US" sz="1300" dirty="0">
                <a:solidFill>
                  <a:srgbClr val="262626"/>
                </a:solidFill>
                <a:latin typeface="Arial"/>
                <a:ea typeface="Arial"/>
                <a:cs typeface="Arial"/>
                <a:sym typeface="Arial"/>
              </a:rPr>
              <a:t>, v.v.</a:t>
            </a:r>
            <a:endParaRPr dirty="0"/>
          </a:p>
        </p:txBody>
      </p:sp>
      <p:sp>
        <p:nvSpPr>
          <p:cNvPr id="2881" name="Google Shape;2881;p151"/>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bg1"/>
                </a:solidFill>
                <a:latin typeface="Arial"/>
                <a:ea typeface="Arial"/>
                <a:cs typeface="Arial"/>
                <a:sym typeface="Arial"/>
              </a:rPr>
              <a:t>4.2. </a:t>
            </a: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886"/>
        <p:cNvGrpSpPr/>
        <p:nvPr/>
      </p:nvGrpSpPr>
      <p:grpSpPr>
        <a:xfrm>
          <a:off x="0" y="0"/>
          <a:ext cx="0" cy="0"/>
          <a:chOff x="0" y="0"/>
          <a:chExt cx="0" cy="0"/>
        </a:xfrm>
      </p:grpSpPr>
      <p:sp>
        <p:nvSpPr>
          <p:cNvPr id="2887" name="Google Shape;2887;p152"/>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grpSp>
        <p:nvGrpSpPr>
          <p:cNvPr id="2888" name="Google Shape;2888;p152"/>
          <p:cNvGrpSpPr/>
          <p:nvPr/>
        </p:nvGrpSpPr>
        <p:grpSpPr>
          <a:xfrm>
            <a:off x="580388" y="1521738"/>
            <a:ext cx="8619175" cy="775593"/>
            <a:chOff x="580388" y="1521738"/>
            <a:chExt cx="8619175" cy="775593"/>
          </a:xfrm>
        </p:grpSpPr>
        <p:sp>
          <p:nvSpPr>
            <p:cNvPr id="2889" name="Google Shape;2889;p152"/>
            <p:cNvSpPr/>
            <p:nvPr/>
          </p:nvSpPr>
          <p:spPr>
            <a:xfrm>
              <a:off x="712182" y="1751850"/>
              <a:ext cx="8487381"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Mặc dù một số linh kiện giống nhau nhưng có rất nhiều loại với nhiều đặc điểm khác nhau. Do vậy, để sử dụng  thì cần hiểu rõ về những đặc điểm đó.</a:t>
              </a:r>
              <a:endParaRPr/>
            </a:p>
          </p:txBody>
        </p:sp>
        <p:sp>
          <p:nvSpPr>
            <p:cNvPr id="2890" name="Google Shape;2890;p152"/>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loại linh kiện</a:t>
              </a:r>
              <a:endParaRPr sz="1400">
                <a:solidFill>
                  <a:schemeClr val="dk1"/>
                </a:solidFill>
                <a:latin typeface="Arial"/>
                <a:ea typeface="Arial"/>
                <a:cs typeface="Arial"/>
                <a:sym typeface="Arial"/>
              </a:endParaRPr>
            </a:p>
          </p:txBody>
        </p:sp>
      </p:grpSp>
      <p:grpSp>
        <p:nvGrpSpPr>
          <p:cNvPr id="2891" name="Google Shape;2891;p152"/>
          <p:cNvGrpSpPr/>
          <p:nvPr/>
        </p:nvGrpSpPr>
        <p:grpSpPr>
          <a:xfrm>
            <a:off x="580388" y="2370765"/>
            <a:ext cx="8656602" cy="575539"/>
            <a:chOff x="580388" y="2395498"/>
            <a:chExt cx="8656602" cy="575539"/>
          </a:xfrm>
        </p:grpSpPr>
        <p:sp>
          <p:nvSpPr>
            <p:cNvPr id="2892" name="Google Shape;2892;p152"/>
            <p:cNvSpPr/>
            <p:nvPr/>
          </p:nvSpPr>
          <p:spPr>
            <a:xfrm>
              <a:off x="712182" y="2625610"/>
              <a:ext cx="8524808"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Do mỗi linh kiện có một tiêu chuẩn riêng, về cơ bản cần nắm rõ và xử lý tiêu chuẩn một cách khéo léo.</a:t>
              </a:r>
              <a:endParaRPr/>
            </a:p>
          </p:txBody>
        </p:sp>
        <p:sp>
          <p:nvSpPr>
            <p:cNvPr id="2893" name="Google Shape;2893;p152"/>
            <p:cNvSpPr/>
            <p:nvPr/>
          </p:nvSpPr>
          <p:spPr>
            <a:xfrm>
              <a:off x="580388" y="239549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Tiêu chuẩn linh kiện</a:t>
              </a:r>
              <a:endParaRPr sz="1400">
                <a:solidFill>
                  <a:schemeClr val="dk1"/>
                </a:solidFill>
                <a:latin typeface="Arial"/>
                <a:ea typeface="Arial"/>
                <a:cs typeface="Arial"/>
                <a:sym typeface="Arial"/>
              </a:endParaRPr>
            </a:p>
          </p:txBody>
        </p:sp>
      </p:grpSp>
      <p:grpSp>
        <p:nvGrpSpPr>
          <p:cNvPr id="2894" name="Google Shape;2894;p152"/>
          <p:cNvGrpSpPr/>
          <p:nvPr/>
        </p:nvGrpSpPr>
        <p:grpSpPr>
          <a:xfrm>
            <a:off x="580388" y="2987322"/>
            <a:ext cx="8619175" cy="575539"/>
            <a:chOff x="580388" y="3213977"/>
            <a:chExt cx="8619175" cy="575539"/>
          </a:xfrm>
        </p:grpSpPr>
        <p:sp>
          <p:nvSpPr>
            <p:cNvPr id="2895" name="Google Shape;2895;p152"/>
            <p:cNvSpPr/>
            <p:nvPr/>
          </p:nvSpPr>
          <p:spPr>
            <a:xfrm>
              <a:off x="712182" y="3444089"/>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Mỗi linh kiện có một mức định mức cực đại, do vậy cần sử dụng trong phạm vi định mức đó.</a:t>
              </a:r>
              <a:endParaRPr/>
            </a:p>
          </p:txBody>
        </p:sp>
        <p:sp>
          <p:nvSpPr>
            <p:cNvPr id="2896" name="Google Shape;2896;p152"/>
            <p:cNvSpPr/>
            <p:nvPr/>
          </p:nvSpPr>
          <p:spPr>
            <a:xfrm>
              <a:off x="580388" y="321397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Định mức cực đại</a:t>
              </a:r>
              <a:endParaRPr sz="1400">
                <a:solidFill>
                  <a:schemeClr val="dk1"/>
                </a:solidFill>
                <a:latin typeface="Arial"/>
                <a:ea typeface="Arial"/>
                <a:cs typeface="Arial"/>
                <a:sym typeface="Arial"/>
              </a:endParaRPr>
            </a:p>
          </p:txBody>
        </p:sp>
      </p:grpSp>
      <p:grpSp>
        <p:nvGrpSpPr>
          <p:cNvPr id="2897" name="Google Shape;2897;p152"/>
          <p:cNvGrpSpPr/>
          <p:nvPr/>
        </p:nvGrpSpPr>
        <p:grpSpPr>
          <a:xfrm>
            <a:off x="580388" y="3636295"/>
            <a:ext cx="8765090" cy="775593"/>
            <a:chOff x="580388" y="3861969"/>
            <a:chExt cx="8765090" cy="775593"/>
          </a:xfrm>
        </p:grpSpPr>
        <p:sp>
          <p:nvSpPr>
            <p:cNvPr id="2898" name="Google Shape;2898;p152"/>
            <p:cNvSpPr/>
            <p:nvPr/>
          </p:nvSpPr>
          <p:spPr>
            <a:xfrm>
              <a:off x="712182" y="4092081"/>
              <a:ext cx="8633296"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Ngay cả khi cùng một loại thì các linh kiện vẫn có kích thước khác nhau, do vậy, cần xác định kích thước sau khi hiểu rõ các đặc điểm.</a:t>
              </a:r>
              <a:endParaRPr/>
            </a:p>
          </p:txBody>
        </p:sp>
        <p:sp>
          <p:nvSpPr>
            <p:cNvPr id="2899" name="Google Shape;2899;p152"/>
            <p:cNvSpPr/>
            <p:nvPr/>
          </p:nvSpPr>
          <p:spPr>
            <a:xfrm>
              <a:off x="580388" y="3861969"/>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Hình thức và kích thước</a:t>
              </a:r>
              <a:endParaRPr/>
            </a:p>
          </p:txBody>
        </p:sp>
      </p:grpSp>
      <p:grpSp>
        <p:nvGrpSpPr>
          <p:cNvPr id="2900" name="Google Shape;2900;p152"/>
          <p:cNvGrpSpPr/>
          <p:nvPr/>
        </p:nvGrpSpPr>
        <p:grpSpPr>
          <a:xfrm>
            <a:off x="580387" y="4482964"/>
            <a:ext cx="8619175" cy="775593"/>
            <a:chOff x="580388" y="4516314"/>
            <a:chExt cx="8619175" cy="775593"/>
          </a:xfrm>
        </p:grpSpPr>
        <p:sp>
          <p:nvSpPr>
            <p:cNvPr id="2901" name="Google Shape;2901;p152"/>
            <p:cNvSpPr/>
            <p:nvPr/>
          </p:nvSpPr>
          <p:spPr>
            <a:xfrm>
              <a:off x="712182" y="4746426"/>
              <a:ext cx="8487381"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Hầu hết các linh kiện điện tử đều tỏa nhiệt trong quá trình hoạt động, do vậy đối với những linh kiện chịu cường độ dòng điện cao, cần xem xét các giải pháp về nhiệt.</a:t>
              </a:r>
              <a:endParaRPr/>
            </a:p>
          </p:txBody>
        </p:sp>
        <p:sp>
          <p:nvSpPr>
            <p:cNvPr id="2902" name="Google Shape;2902;p152"/>
            <p:cNvSpPr/>
            <p:nvPr/>
          </p:nvSpPr>
          <p:spPr>
            <a:xfrm>
              <a:off x="580388" y="4516314"/>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Cân nhắc về nhiệt lượng</a:t>
              </a:r>
              <a:endParaRPr/>
            </a:p>
          </p:txBody>
        </p:sp>
      </p:grpSp>
      <p:sp>
        <p:nvSpPr>
          <p:cNvPr id="2903" name="Google Shape;2903;p152"/>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4.2. </a:t>
            </a: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908"/>
        <p:cNvGrpSpPr/>
        <p:nvPr/>
      </p:nvGrpSpPr>
      <p:grpSpPr>
        <a:xfrm>
          <a:off x="0" y="0"/>
          <a:ext cx="0" cy="0"/>
          <a:chOff x="0" y="0"/>
          <a:chExt cx="0" cy="0"/>
        </a:xfrm>
      </p:grpSpPr>
      <p:sp>
        <p:nvSpPr>
          <p:cNvPr id="2909" name="Google Shape;2909;p153"/>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Điện trở</a:t>
            </a:r>
            <a:endParaRPr sz="2400" b="1">
              <a:solidFill>
                <a:srgbClr val="0C0C0C"/>
              </a:solidFill>
              <a:latin typeface="Arial"/>
              <a:ea typeface="Arial"/>
              <a:cs typeface="Arial"/>
              <a:sym typeface="Arial"/>
            </a:endParaRPr>
          </a:p>
        </p:txBody>
      </p:sp>
      <p:sp>
        <p:nvSpPr>
          <p:cNvPr id="2910" name="Google Shape;2910;p153"/>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911" name="Google Shape;2911;p153"/>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loại điện trở</a:t>
            </a:r>
            <a:endParaRPr sz="1400">
              <a:solidFill>
                <a:schemeClr val="dk1"/>
              </a:solidFill>
              <a:latin typeface="Arial"/>
              <a:ea typeface="Arial"/>
              <a:cs typeface="Arial"/>
              <a:sym typeface="Arial"/>
            </a:endParaRPr>
          </a:p>
        </p:txBody>
      </p:sp>
      <p:sp>
        <p:nvSpPr>
          <p:cNvPr id="2912" name="Google Shape;2912;p153"/>
          <p:cNvSpPr/>
          <p:nvPr/>
        </p:nvSpPr>
        <p:spPr>
          <a:xfrm>
            <a:off x="712182" y="2174873"/>
            <a:ext cx="8487381" cy="648074"/>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Có điện trở cố định và biến trở, phân loại theo chức năng của điện trở. Khi nói tới điện trở, thường đề cập tới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điện trở cố định</a:t>
            </a:r>
            <a:endParaRPr/>
          </a:p>
        </p:txBody>
      </p:sp>
      <p:sp>
        <p:nvSpPr>
          <p:cNvPr id="2913" name="Google Shape;2913;p153"/>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4.2. </a:t>
            </a: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grpSp>
        <p:nvGrpSpPr>
          <p:cNvPr id="2914" name="Google Shape;2914;p153"/>
          <p:cNvGrpSpPr/>
          <p:nvPr/>
        </p:nvGrpSpPr>
        <p:grpSpPr>
          <a:xfrm>
            <a:off x="836392" y="3429000"/>
            <a:ext cx="7559675" cy="1328271"/>
            <a:chOff x="11783187" y="3308859"/>
            <a:chExt cx="7559675" cy="1328271"/>
          </a:xfrm>
        </p:grpSpPr>
        <p:pic>
          <p:nvPicPr>
            <p:cNvPr id="2915" name="Google Shape;2915;p153"/>
            <p:cNvPicPr preferRelativeResize="0"/>
            <p:nvPr/>
          </p:nvPicPr>
          <p:blipFill rotWithShape="1">
            <a:blip r:embed="rId3">
              <a:alphaModFix/>
            </a:blip>
            <a:srcRect/>
            <a:stretch/>
          </p:blipFill>
          <p:spPr>
            <a:xfrm>
              <a:off x="11783187" y="3962908"/>
              <a:ext cx="1081088" cy="203200"/>
            </a:xfrm>
            <a:prstGeom prst="rect">
              <a:avLst/>
            </a:prstGeom>
            <a:noFill/>
            <a:ln>
              <a:noFill/>
            </a:ln>
          </p:spPr>
        </p:pic>
        <p:pic>
          <p:nvPicPr>
            <p:cNvPr id="2916" name="Google Shape;2916;p153"/>
            <p:cNvPicPr preferRelativeResize="0"/>
            <p:nvPr/>
          </p:nvPicPr>
          <p:blipFill rotWithShape="1">
            <a:blip r:embed="rId4">
              <a:alphaModFix/>
            </a:blip>
            <a:srcRect/>
            <a:stretch/>
          </p:blipFill>
          <p:spPr>
            <a:xfrm>
              <a:off x="13631037" y="3673984"/>
              <a:ext cx="1079500" cy="485775"/>
            </a:xfrm>
            <a:prstGeom prst="rect">
              <a:avLst/>
            </a:prstGeom>
            <a:noFill/>
            <a:ln>
              <a:noFill/>
            </a:ln>
          </p:spPr>
        </p:pic>
        <p:sp>
          <p:nvSpPr>
            <p:cNvPr id="2917" name="Google Shape;2917;p153"/>
            <p:cNvSpPr txBox="1"/>
            <p:nvPr/>
          </p:nvSpPr>
          <p:spPr>
            <a:xfrm>
              <a:off x="11897332" y="4467853"/>
              <a:ext cx="852798" cy="169277"/>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100">
                  <a:solidFill>
                    <a:srgbClr val="000000"/>
                  </a:solidFill>
                  <a:latin typeface="Arial"/>
                  <a:ea typeface="Arial"/>
                  <a:cs typeface="Arial"/>
                  <a:sym typeface="Arial"/>
                </a:rPr>
                <a:t>Điện trở cố định</a:t>
              </a:r>
              <a:endParaRPr/>
            </a:p>
          </p:txBody>
        </p:sp>
        <p:sp>
          <p:nvSpPr>
            <p:cNvPr id="2918" name="Google Shape;2918;p153"/>
            <p:cNvSpPr txBox="1"/>
            <p:nvPr/>
          </p:nvSpPr>
          <p:spPr>
            <a:xfrm>
              <a:off x="13672039" y="4467853"/>
              <a:ext cx="1043554" cy="169277"/>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100">
                  <a:solidFill>
                    <a:srgbClr val="000000"/>
                  </a:solidFill>
                  <a:latin typeface="Arial"/>
                  <a:ea typeface="Arial"/>
                  <a:cs typeface="Arial"/>
                  <a:sym typeface="Arial"/>
                </a:rPr>
                <a:t>Biến trở</a:t>
              </a:r>
              <a:endParaRPr/>
            </a:p>
          </p:txBody>
        </p:sp>
        <p:pic>
          <p:nvPicPr>
            <p:cNvPr id="2919" name="Google Shape;2919;p153" descr="1-3"/>
            <p:cNvPicPr preferRelativeResize="0"/>
            <p:nvPr/>
          </p:nvPicPr>
          <p:blipFill rotWithShape="1">
            <a:blip r:embed="rId5">
              <a:alphaModFix/>
            </a:blip>
            <a:srcRect/>
            <a:stretch/>
          </p:blipFill>
          <p:spPr>
            <a:xfrm>
              <a:off x="15094712" y="3308859"/>
              <a:ext cx="4248150" cy="1031875"/>
            </a:xfrm>
            <a:prstGeom prst="rect">
              <a:avLst/>
            </a:prstGeom>
            <a:noFill/>
            <a:ln>
              <a:noFill/>
            </a:ln>
          </p:spPr>
        </p:pic>
        <p:sp>
          <p:nvSpPr>
            <p:cNvPr id="2920" name="Google Shape;2920;p153"/>
            <p:cNvSpPr txBox="1"/>
            <p:nvPr/>
          </p:nvSpPr>
          <p:spPr>
            <a:xfrm>
              <a:off x="16887571" y="4467853"/>
              <a:ext cx="864019" cy="169277"/>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100">
                  <a:solidFill>
                    <a:srgbClr val="000000"/>
                  </a:solidFill>
                  <a:latin typeface="Arial"/>
                  <a:ea typeface="Arial"/>
                  <a:cs typeface="Arial"/>
                  <a:sym typeface="Arial"/>
                </a:rPr>
                <a:t>Điện trở mảng</a:t>
              </a:r>
              <a:endParaRPr/>
            </a:p>
          </p:txBody>
        </p:sp>
        <p:sp>
          <p:nvSpPr>
            <p:cNvPr id="2921" name="Google Shape;2921;p153"/>
            <p:cNvSpPr txBox="1"/>
            <p:nvPr/>
          </p:nvSpPr>
          <p:spPr>
            <a:xfrm>
              <a:off x="18300178" y="3349170"/>
              <a:ext cx="300692" cy="182491"/>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a:solidFill>
                    <a:srgbClr val="000000"/>
                  </a:solidFill>
                  <a:latin typeface="Arial"/>
                  <a:ea typeface="Arial"/>
                  <a:cs typeface="Arial"/>
                  <a:sym typeface="Arial"/>
                </a:rPr>
                <a:t>Loại</a:t>
              </a:r>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926"/>
        <p:cNvGrpSpPr/>
        <p:nvPr/>
      </p:nvGrpSpPr>
      <p:grpSpPr>
        <a:xfrm>
          <a:off x="0" y="0"/>
          <a:ext cx="0" cy="0"/>
          <a:chOff x="0" y="0"/>
          <a:chExt cx="0" cy="0"/>
        </a:xfrm>
      </p:grpSpPr>
      <p:sp>
        <p:nvSpPr>
          <p:cNvPr id="2927" name="Google Shape;2927;p154"/>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928" name="Google Shape;2928;p154"/>
          <p:cNvSpPr/>
          <p:nvPr/>
        </p:nvSpPr>
        <p:spPr>
          <a:xfrm>
            <a:off x="712182" y="1751850"/>
            <a:ext cx="8487381" cy="1556014"/>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Điện trở màng cacbon: Giá cả hợp lý và được sử dụng rộng rãi nhất.</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Điện trở màng kim loại: Sử dụng khi cần độ chính xác cao do có độ chính xác cao (0,1 - 0,5%) và đặc tính chịu nhiệt độ tốt.</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Điện trở xi măng: Sử dụng trong mạch điện cần công suất cao.</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Điện trở dây quấn: Sử dụng trong dụng cụ đo lường do có độ ổn định tốt.</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Điện trở mảng: Là một bộ (4 - 10) điện trở. Sử dụng khi cần nhiều điện trở trong một mạch điện như trong mạch số.</a:t>
            </a:r>
            <a:endParaRPr/>
          </a:p>
        </p:txBody>
      </p:sp>
      <p:sp>
        <p:nvSpPr>
          <p:cNvPr id="2929" name="Google Shape;2929;p154"/>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Điện trở cố định</a:t>
            </a:r>
            <a:endParaRPr sz="1400">
              <a:solidFill>
                <a:schemeClr val="dk1"/>
              </a:solidFill>
              <a:latin typeface="Arial"/>
              <a:ea typeface="Arial"/>
              <a:cs typeface="Arial"/>
              <a:sym typeface="Arial"/>
            </a:endParaRPr>
          </a:p>
        </p:txBody>
      </p:sp>
      <p:sp>
        <p:nvSpPr>
          <p:cNvPr id="2930" name="Google Shape;2930;p154"/>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4.2. </a:t>
            </a: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grpSp>
        <p:nvGrpSpPr>
          <p:cNvPr id="2931" name="Google Shape;2931;p154"/>
          <p:cNvGrpSpPr/>
          <p:nvPr/>
        </p:nvGrpSpPr>
        <p:grpSpPr>
          <a:xfrm>
            <a:off x="707304" y="3866998"/>
            <a:ext cx="8501178" cy="1267168"/>
            <a:chOff x="698385" y="3573977"/>
            <a:chExt cx="8501178" cy="1267168"/>
          </a:xfrm>
        </p:grpSpPr>
        <p:pic>
          <p:nvPicPr>
            <p:cNvPr id="2932" name="Google Shape;2932;p154" descr="registor"/>
            <p:cNvPicPr preferRelativeResize="0"/>
            <p:nvPr/>
          </p:nvPicPr>
          <p:blipFill rotWithShape="1">
            <a:blip r:embed="rId3">
              <a:alphaModFix/>
            </a:blip>
            <a:srcRect/>
            <a:stretch/>
          </p:blipFill>
          <p:spPr>
            <a:xfrm>
              <a:off x="703263" y="3573977"/>
              <a:ext cx="1524510" cy="1016340"/>
            </a:xfrm>
            <a:prstGeom prst="rect">
              <a:avLst/>
            </a:prstGeom>
            <a:noFill/>
            <a:ln w="9525" cap="flat" cmpd="sng">
              <a:solidFill>
                <a:srgbClr val="D8D8D8"/>
              </a:solidFill>
              <a:prstDash val="solid"/>
              <a:miter lim="800000"/>
              <a:headEnd type="none" w="sm" len="sm"/>
              <a:tailEnd type="none" w="sm" len="sm"/>
            </a:ln>
          </p:spPr>
        </p:pic>
        <p:pic>
          <p:nvPicPr>
            <p:cNvPr id="2933" name="Google Shape;2933;p154" descr="register3"/>
            <p:cNvPicPr preferRelativeResize="0"/>
            <p:nvPr/>
          </p:nvPicPr>
          <p:blipFill rotWithShape="1">
            <a:blip r:embed="rId4">
              <a:alphaModFix/>
            </a:blip>
            <a:srcRect/>
            <a:stretch/>
          </p:blipFill>
          <p:spPr>
            <a:xfrm>
              <a:off x="7675053" y="3573977"/>
              <a:ext cx="1524510" cy="1016340"/>
            </a:xfrm>
            <a:prstGeom prst="rect">
              <a:avLst/>
            </a:prstGeom>
            <a:noFill/>
            <a:ln w="9525" cap="flat" cmpd="sng">
              <a:solidFill>
                <a:srgbClr val="D8D8D8"/>
              </a:solidFill>
              <a:prstDash val="solid"/>
              <a:miter lim="800000"/>
              <a:headEnd type="none" w="sm" len="sm"/>
              <a:tailEnd type="none" w="sm" len="sm"/>
            </a:ln>
          </p:spPr>
        </p:pic>
        <p:pic>
          <p:nvPicPr>
            <p:cNvPr id="2934" name="Google Shape;2934;p154" descr="http://www.ehtec.com/epart/img/registme.jpg"/>
            <p:cNvPicPr preferRelativeResize="0"/>
            <p:nvPr/>
          </p:nvPicPr>
          <p:blipFill rotWithShape="1">
            <a:blip r:embed="rId5">
              <a:alphaModFix/>
            </a:blip>
            <a:srcRect/>
            <a:stretch/>
          </p:blipFill>
          <p:spPr>
            <a:xfrm>
              <a:off x="2446211" y="3573977"/>
              <a:ext cx="1524510" cy="1016340"/>
            </a:xfrm>
            <a:prstGeom prst="rect">
              <a:avLst/>
            </a:prstGeom>
            <a:noFill/>
            <a:ln w="9525" cap="flat" cmpd="sng">
              <a:solidFill>
                <a:srgbClr val="D8D8D8"/>
              </a:solidFill>
              <a:prstDash val="solid"/>
              <a:miter lim="800000"/>
              <a:headEnd type="none" w="sm" len="sm"/>
              <a:tailEnd type="none" w="sm" len="sm"/>
            </a:ln>
          </p:spPr>
        </p:pic>
        <p:pic>
          <p:nvPicPr>
            <p:cNvPr id="2935" name="Google Shape;2935;p154" descr="http://www.ehtec.com/epart/img/cement.jpg"/>
            <p:cNvPicPr preferRelativeResize="0"/>
            <p:nvPr/>
          </p:nvPicPr>
          <p:blipFill rotWithShape="1">
            <a:blip r:embed="rId6">
              <a:alphaModFix/>
            </a:blip>
            <a:srcRect/>
            <a:stretch/>
          </p:blipFill>
          <p:spPr>
            <a:xfrm>
              <a:off x="4189158" y="3573977"/>
              <a:ext cx="1524510" cy="1016340"/>
            </a:xfrm>
            <a:prstGeom prst="rect">
              <a:avLst/>
            </a:prstGeom>
            <a:noFill/>
            <a:ln w="9525" cap="flat" cmpd="sng">
              <a:solidFill>
                <a:srgbClr val="D8D8D8"/>
              </a:solidFill>
              <a:prstDash val="solid"/>
              <a:miter lim="800000"/>
              <a:headEnd type="none" w="sm" len="sm"/>
              <a:tailEnd type="none" w="sm" len="sm"/>
            </a:ln>
          </p:spPr>
        </p:pic>
        <p:pic>
          <p:nvPicPr>
            <p:cNvPr id="2936" name="Google Shape;2936;p154" descr="http://www.ehtec.com/epart/img/regist2.jpg"/>
            <p:cNvPicPr preferRelativeResize="0"/>
            <p:nvPr/>
          </p:nvPicPr>
          <p:blipFill rotWithShape="1">
            <a:blip r:embed="rId7">
              <a:alphaModFix/>
            </a:blip>
            <a:srcRect/>
            <a:stretch/>
          </p:blipFill>
          <p:spPr>
            <a:xfrm>
              <a:off x="5932105" y="3573977"/>
              <a:ext cx="1524510" cy="1016340"/>
            </a:xfrm>
            <a:prstGeom prst="rect">
              <a:avLst/>
            </a:prstGeom>
            <a:noFill/>
            <a:ln w="9525" cap="flat" cmpd="sng">
              <a:solidFill>
                <a:srgbClr val="D8D8D8"/>
              </a:solidFill>
              <a:prstDash val="solid"/>
              <a:miter lim="800000"/>
              <a:headEnd type="none" w="sm" len="sm"/>
              <a:tailEnd type="none" w="sm" len="sm"/>
            </a:ln>
          </p:spPr>
        </p:pic>
        <p:sp>
          <p:nvSpPr>
            <p:cNvPr id="2937" name="Google Shape;2937;p154"/>
            <p:cNvSpPr txBox="1"/>
            <p:nvPr/>
          </p:nvSpPr>
          <p:spPr>
            <a:xfrm>
              <a:off x="698385" y="4641090"/>
              <a:ext cx="1534266" cy="200055"/>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Điện trở màng cacbon</a:t>
              </a:r>
              <a:endParaRPr sz="1300" b="1">
                <a:solidFill>
                  <a:srgbClr val="000000"/>
                </a:solidFill>
                <a:latin typeface="Arial"/>
                <a:ea typeface="Arial"/>
                <a:cs typeface="Arial"/>
                <a:sym typeface="Arial"/>
              </a:endParaRPr>
            </a:p>
          </p:txBody>
        </p:sp>
        <p:sp>
          <p:nvSpPr>
            <p:cNvPr id="2938" name="Google Shape;2938;p154"/>
            <p:cNvSpPr txBox="1"/>
            <p:nvPr/>
          </p:nvSpPr>
          <p:spPr>
            <a:xfrm>
              <a:off x="2411197" y="4641090"/>
              <a:ext cx="1594539" cy="200055"/>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Điện trở màng kim loại</a:t>
              </a:r>
              <a:endParaRPr sz="1300" b="1">
                <a:solidFill>
                  <a:srgbClr val="000000"/>
                </a:solidFill>
                <a:latin typeface="Arial"/>
                <a:ea typeface="Arial"/>
                <a:cs typeface="Arial"/>
                <a:sym typeface="Arial"/>
              </a:endParaRPr>
            </a:p>
          </p:txBody>
        </p:sp>
        <p:sp>
          <p:nvSpPr>
            <p:cNvPr id="2939" name="Google Shape;2939;p154"/>
            <p:cNvSpPr txBox="1"/>
            <p:nvPr/>
          </p:nvSpPr>
          <p:spPr>
            <a:xfrm>
              <a:off x="4355698" y="4641090"/>
              <a:ext cx="1179811" cy="200055"/>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Điện trở xi măng</a:t>
              </a:r>
              <a:endParaRPr sz="1300" b="1">
                <a:solidFill>
                  <a:srgbClr val="000000"/>
                </a:solidFill>
                <a:latin typeface="Arial"/>
                <a:ea typeface="Arial"/>
                <a:cs typeface="Arial"/>
                <a:sym typeface="Arial"/>
              </a:endParaRPr>
            </a:p>
          </p:txBody>
        </p:sp>
        <p:sp>
          <p:nvSpPr>
            <p:cNvPr id="2940" name="Google Shape;2940;p154"/>
            <p:cNvSpPr txBox="1"/>
            <p:nvPr/>
          </p:nvSpPr>
          <p:spPr>
            <a:xfrm>
              <a:off x="6066914" y="4641090"/>
              <a:ext cx="1254894" cy="200055"/>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Điện trở dây quấn</a:t>
              </a:r>
              <a:endParaRPr sz="1300" b="1">
                <a:solidFill>
                  <a:srgbClr val="000000"/>
                </a:solidFill>
                <a:latin typeface="Arial"/>
                <a:ea typeface="Arial"/>
                <a:cs typeface="Arial"/>
                <a:sym typeface="Arial"/>
              </a:endParaRPr>
            </a:p>
          </p:txBody>
        </p:sp>
        <p:sp>
          <p:nvSpPr>
            <p:cNvPr id="2941" name="Google Shape;2941;p154"/>
            <p:cNvSpPr txBox="1"/>
            <p:nvPr/>
          </p:nvSpPr>
          <p:spPr>
            <a:xfrm>
              <a:off x="7929957" y="4641090"/>
              <a:ext cx="1014701" cy="200055"/>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Điện trở mảng</a:t>
              </a:r>
              <a:endParaRPr sz="1300" b="1">
                <a:solidFill>
                  <a:srgbClr val="000000"/>
                </a:solidFill>
                <a:latin typeface="Arial"/>
                <a:ea typeface="Arial"/>
                <a:cs typeface="Arial"/>
                <a:sym typeface="Arial"/>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946"/>
        <p:cNvGrpSpPr/>
        <p:nvPr/>
      </p:nvGrpSpPr>
      <p:grpSpPr>
        <a:xfrm>
          <a:off x="0" y="0"/>
          <a:ext cx="0" cy="0"/>
          <a:chOff x="0" y="0"/>
          <a:chExt cx="0" cy="0"/>
        </a:xfrm>
      </p:grpSpPr>
      <p:sp>
        <p:nvSpPr>
          <p:cNvPr id="2947" name="Google Shape;2947;p155"/>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948" name="Google Shape;2948;p155"/>
          <p:cNvSpPr/>
          <p:nvPr/>
        </p:nvSpPr>
        <p:spPr>
          <a:xfrm>
            <a:off x="712182" y="1751850"/>
            <a:ext cx="8487381" cy="1150775"/>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Biến trở giúp thay đổi giá trị điện trở trong một phạm vi nhất định.</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Biến trở núm xoay: đặt các trục ra ngoài và đổi thành tay cầm.</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Chiết áp tinh chỉnh: quay bởi một driver hoặc các công cụ khác, dùng khi không di chuyển sau khi được thay đổi. Sử dụng chủ yếu để điều chỉnh hiệu suất.</a:t>
            </a:r>
            <a:endParaRPr/>
          </a:p>
        </p:txBody>
      </p:sp>
      <p:sp>
        <p:nvSpPr>
          <p:cNvPr id="2949" name="Google Shape;2949;p155"/>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Biến trở</a:t>
            </a:r>
            <a:endParaRPr sz="1400">
              <a:solidFill>
                <a:schemeClr val="dk1"/>
              </a:solidFill>
              <a:latin typeface="Arial"/>
              <a:ea typeface="Arial"/>
              <a:cs typeface="Arial"/>
              <a:sym typeface="Arial"/>
            </a:endParaRPr>
          </a:p>
        </p:txBody>
      </p:sp>
      <p:sp>
        <p:nvSpPr>
          <p:cNvPr id="2950" name="Google Shape;2950;p155"/>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4.2. </a:t>
            </a: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grpSp>
        <p:nvGrpSpPr>
          <p:cNvPr id="2951" name="Google Shape;2951;p155"/>
          <p:cNvGrpSpPr/>
          <p:nvPr/>
        </p:nvGrpSpPr>
        <p:grpSpPr>
          <a:xfrm>
            <a:off x="1544470" y="3544999"/>
            <a:ext cx="6813883" cy="1684354"/>
            <a:chOff x="1872864" y="2985892"/>
            <a:chExt cx="6522464" cy="1743210"/>
          </a:xfrm>
        </p:grpSpPr>
        <p:pic>
          <p:nvPicPr>
            <p:cNvPr id="2952" name="Google Shape;2952;p155" descr="volume"/>
            <p:cNvPicPr preferRelativeResize="0"/>
            <p:nvPr/>
          </p:nvPicPr>
          <p:blipFill rotWithShape="1">
            <a:blip r:embed="rId3">
              <a:alphaModFix/>
            </a:blip>
            <a:srcRect/>
            <a:stretch/>
          </p:blipFill>
          <p:spPr>
            <a:xfrm>
              <a:off x="1872864" y="2985892"/>
              <a:ext cx="2009775" cy="1457325"/>
            </a:xfrm>
            <a:prstGeom prst="rect">
              <a:avLst/>
            </a:prstGeom>
            <a:noFill/>
            <a:ln w="9525" cap="flat" cmpd="sng">
              <a:solidFill>
                <a:srgbClr val="D8D8D8"/>
              </a:solidFill>
              <a:prstDash val="solid"/>
              <a:miter lim="800000"/>
              <a:headEnd type="none" w="sm" len="sm"/>
              <a:tailEnd type="none" w="sm" len="sm"/>
            </a:ln>
          </p:spPr>
        </p:pic>
        <p:pic>
          <p:nvPicPr>
            <p:cNvPr id="2953" name="Google Shape;2953;p155" descr="volume2"/>
            <p:cNvPicPr preferRelativeResize="0"/>
            <p:nvPr/>
          </p:nvPicPr>
          <p:blipFill rotWithShape="1">
            <a:blip r:embed="rId4">
              <a:alphaModFix/>
            </a:blip>
            <a:srcRect/>
            <a:stretch/>
          </p:blipFill>
          <p:spPr>
            <a:xfrm>
              <a:off x="4432928" y="2985892"/>
              <a:ext cx="3962400" cy="1457324"/>
            </a:xfrm>
            <a:prstGeom prst="rect">
              <a:avLst/>
            </a:prstGeom>
            <a:noFill/>
            <a:ln w="9525" cap="flat" cmpd="sng">
              <a:solidFill>
                <a:srgbClr val="D8D8D8"/>
              </a:solidFill>
              <a:prstDash val="solid"/>
              <a:miter lim="800000"/>
              <a:headEnd type="none" w="sm" len="sm"/>
              <a:tailEnd type="none" w="sm" len="sm"/>
            </a:ln>
          </p:spPr>
        </p:pic>
        <p:sp>
          <p:nvSpPr>
            <p:cNvPr id="2954" name="Google Shape;2954;p155"/>
            <p:cNvSpPr txBox="1"/>
            <p:nvPr/>
          </p:nvSpPr>
          <p:spPr>
            <a:xfrm>
              <a:off x="2237800" y="4529047"/>
              <a:ext cx="1279902" cy="200055"/>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Biến trở núm xoay</a:t>
              </a:r>
              <a:endParaRPr sz="1300" b="1">
                <a:solidFill>
                  <a:srgbClr val="000000"/>
                </a:solidFill>
                <a:latin typeface="Arial"/>
                <a:ea typeface="Arial"/>
                <a:cs typeface="Arial"/>
                <a:sym typeface="Arial"/>
              </a:endParaRPr>
            </a:p>
          </p:txBody>
        </p:sp>
        <p:sp>
          <p:nvSpPr>
            <p:cNvPr id="2955" name="Google Shape;2955;p155"/>
            <p:cNvSpPr txBox="1"/>
            <p:nvPr/>
          </p:nvSpPr>
          <p:spPr>
            <a:xfrm>
              <a:off x="5760679" y="4529047"/>
              <a:ext cx="1306896" cy="200055"/>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Chiết áp tinh chỉnh</a:t>
              </a:r>
              <a:endParaRPr sz="1300" b="1">
                <a:solidFill>
                  <a:srgbClr val="000000"/>
                </a:solidFill>
                <a:latin typeface="Arial"/>
                <a:ea typeface="Arial"/>
                <a:cs typeface="Arial"/>
                <a:sym typeface="Arial"/>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960"/>
        <p:cNvGrpSpPr/>
        <p:nvPr/>
      </p:nvGrpSpPr>
      <p:grpSpPr>
        <a:xfrm>
          <a:off x="0" y="0"/>
          <a:ext cx="0" cy="0"/>
          <a:chOff x="0" y="0"/>
          <a:chExt cx="0" cy="0"/>
        </a:xfrm>
      </p:grpSpPr>
      <p:sp>
        <p:nvSpPr>
          <p:cNvPr id="2961" name="Google Shape;2961;p156"/>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962" name="Google Shape;2962;p156"/>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Điện trở và mã màu</a:t>
            </a:r>
            <a:endParaRPr sz="1400">
              <a:solidFill>
                <a:schemeClr val="dk1"/>
              </a:solidFill>
              <a:latin typeface="Arial"/>
              <a:ea typeface="Arial"/>
              <a:cs typeface="Arial"/>
              <a:sym typeface="Arial"/>
            </a:endParaRPr>
          </a:p>
        </p:txBody>
      </p:sp>
      <p:sp>
        <p:nvSpPr>
          <p:cNvPr id="2963" name="Google Shape;2963;p156"/>
          <p:cNvSpPr/>
          <p:nvPr/>
        </p:nvSpPr>
        <p:spPr>
          <a:xfrm>
            <a:off x="712182" y="4631066"/>
            <a:ext cx="8487381" cy="345427"/>
          </a:xfrm>
          <a:prstGeom prst="rect">
            <a:avLst/>
          </a:prstGeom>
          <a:noFill/>
          <a:ln>
            <a:noFill/>
          </a:ln>
        </p:spPr>
        <p:txBody>
          <a:bodyPr spcFirstLastPara="1" wrap="square" lIns="0" tIns="71975" rIns="143950" bIns="71975" anchor="t" anchorCtr="0">
            <a:spAutoFit/>
          </a:bodyPr>
          <a:lstStyle/>
          <a:p>
            <a:pPr marL="0" marR="0" lvl="1" indent="0" algn="l" rtl="0">
              <a:spcBef>
                <a:spcPts val="0"/>
              </a:spcBef>
              <a:spcAft>
                <a:spcPts val="0"/>
              </a:spcAft>
              <a:buClr>
                <a:srgbClr val="CC00FF"/>
              </a:buClr>
              <a:buSzPts val="1300"/>
              <a:buFont typeface="Arial"/>
              <a:buNone/>
            </a:pPr>
            <a:r>
              <a:rPr lang="en-US" sz="1300" b="1" i="0" u="none" strike="noStrike" cap="none">
                <a:solidFill>
                  <a:srgbClr val="262626"/>
                </a:solidFill>
                <a:latin typeface="Arial"/>
                <a:ea typeface="Arial"/>
                <a:cs typeface="Arial"/>
                <a:sym typeface="Arial"/>
              </a:rPr>
              <a:t>1000 Ω= 10</a:t>
            </a:r>
            <a:r>
              <a:rPr lang="en-US" sz="1300" b="1" i="0" u="none" strike="noStrike" cap="none" baseline="30000">
                <a:solidFill>
                  <a:srgbClr val="262626"/>
                </a:solidFill>
                <a:latin typeface="Arial"/>
                <a:ea typeface="Arial"/>
                <a:cs typeface="Arial"/>
                <a:sym typeface="Arial"/>
              </a:rPr>
              <a:t>3</a:t>
            </a:r>
            <a:r>
              <a:rPr lang="en-US" sz="1300" b="1" i="0" u="none" strike="noStrike" cap="none">
                <a:solidFill>
                  <a:srgbClr val="262626"/>
                </a:solidFill>
                <a:latin typeface="Arial"/>
                <a:ea typeface="Arial"/>
                <a:cs typeface="Arial"/>
                <a:sym typeface="Arial"/>
              </a:rPr>
              <a:t> = 1kΩ 	1000,000 Ω= 10</a:t>
            </a:r>
            <a:r>
              <a:rPr lang="en-US" sz="1300" b="1" i="0" u="none" strike="noStrike" cap="none" baseline="30000">
                <a:solidFill>
                  <a:srgbClr val="262626"/>
                </a:solidFill>
                <a:latin typeface="Arial"/>
                <a:ea typeface="Arial"/>
                <a:cs typeface="Arial"/>
                <a:sym typeface="Arial"/>
              </a:rPr>
              <a:t>6</a:t>
            </a:r>
            <a:r>
              <a:rPr lang="en-US" sz="1300" b="1" i="0" u="none" strike="noStrike" cap="none">
                <a:solidFill>
                  <a:srgbClr val="262626"/>
                </a:solidFill>
                <a:latin typeface="Arial"/>
                <a:ea typeface="Arial"/>
                <a:cs typeface="Arial"/>
                <a:sym typeface="Arial"/>
              </a:rPr>
              <a:t> = 1MΩ</a:t>
            </a:r>
            <a:endParaRPr sz="1300" b="1" i="0" u="none" strike="noStrike" cap="none">
              <a:solidFill>
                <a:srgbClr val="262626"/>
              </a:solidFill>
              <a:latin typeface="Arial"/>
              <a:ea typeface="Arial"/>
              <a:cs typeface="Arial"/>
              <a:sym typeface="Arial"/>
            </a:endParaRPr>
          </a:p>
        </p:txBody>
      </p:sp>
      <p:sp>
        <p:nvSpPr>
          <p:cNvPr id="2964" name="Google Shape;2964;p156"/>
          <p:cNvSpPr/>
          <p:nvPr/>
        </p:nvSpPr>
        <p:spPr>
          <a:xfrm>
            <a:off x="580388" y="4400954"/>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Đơn vị điện trở: (Ôm)</a:t>
            </a:r>
            <a:endParaRPr/>
          </a:p>
        </p:txBody>
      </p:sp>
      <p:grpSp>
        <p:nvGrpSpPr>
          <p:cNvPr id="2965" name="Google Shape;2965;p156"/>
          <p:cNvGrpSpPr/>
          <p:nvPr/>
        </p:nvGrpSpPr>
        <p:grpSpPr>
          <a:xfrm>
            <a:off x="712182" y="4976493"/>
            <a:ext cx="6979589" cy="1150810"/>
            <a:chOff x="712182" y="5073442"/>
            <a:chExt cx="6979589" cy="1150810"/>
          </a:xfrm>
        </p:grpSpPr>
        <p:sp>
          <p:nvSpPr>
            <p:cNvPr id="2966" name="Google Shape;2966;p156"/>
            <p:cNvSpPr/>
            <p:nvPr/>
          </p:nvSpPr>
          <p:spPr>
            <a:xfrm>
              <a:off x="712182" y="5134339"/>
              <a:ext cx="290279" cy="223667"/>
            </a:xfrm>
            <a:prstGeom prst="roundRect">
              <a:avLst>
                <a:gd name="adj" fmla="val 16667"/>
              </a:avLst>
            </a:prstGeom>
            <a:solidFill>
              <a:srgbClr val="193EB0"/>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000" b="1">
                  <a:solidFill>
                    <a:schemeClr val="lt1"/>
                  </a:solidFill>
                  <a:latin typeface="Arial"/>
                  <a:ea typeface="Arial"/>
                  <a:cs typeface="Arial"/>
                  <a:sym typeface="Arial"/>
                </a:rPr>
                <a:t>VD</a:t>
              </a:r>
              <a:endParaRPr sz="1000" b="1">
                <a:solidFill>
                  <a:schemeClr val="lt1"/>
                </a:solidFill>
                <a:latin typeface="Arial"/>
                <a:ea typeface="Arial"/>
                <a:cs typeface="Arial"/>
                <a:sym typeface="Arial"/>
              </a:endParaRPr>
            </a:p>
          </p:txBody>
        </p:sp>
        <p:sp>
          <p:nvSpPr>
            <p:cNvPr id="2967" name="Google Shape;2967;p156"/>
            <p:cNvSpPr/>
            <p:nvPr/>
          </p:nvSpPr>
          <p:spPr>
            <a:xfrm>
              <a:off x="1087680" y="5073442"/>
              <a:ext cx="6604091" cy="1150810"/>
            </a:xfrm>
            <a:prstGeom prst="rect">
              <a:avLst/>
            </a:prstGeom>
            <a:noFill/>
            <a:ln>
              <a:noFill/>
            </a:ln>
          </p:spPr>
          <p:txBody>
            <a:bodyPr spcFirstLastPara="1" wrap="square" lIns="0" tIns="72000" rIns="144000" bIns="72000" anchor="t" anchorCtr="0">
              <a:spAutoFit/>
            </a:bodyPr>
            <a:lstStyle/>
            <a:p>
              <a:pPr marL="0" marR="0" lvl="1" indent="0" algn="l" rtl="0">
                <a:spcBef>
                  <a:spcPts val="0"/>
                </a:spcBef>
                <a:spcAft>
                  <a:spcPts val="0"/>
                </a:spcAft>
                <a:buClr>
                  <a:srgbClr val="CC00FF"/>
                </a:buClr>
                <a:buSzPts val="1300"/>
                <a:buFont typeface="Arial"/>
                <a:buNone/>
              </a:pPr>
              <a:r>
                <a:rPr lang="en-US" sz="1300" b="0" i="0" u="none" strike="noStrike" cap="none">
                  <a:solidFill>
                    <a:srgbClr val="262626"/>
                  </a:solidFill>
                  <a:latin typeface="Arial"/>
                  <a:ea typeface="Arial"/>
                  <a:cs typeface="Arial"/>
                  <a:sym typeface="Arial"/>
                </a:rPr>
                <a:t>(Ví dụ 1) Nâu, Đen, Đỏ, Vàng đậm: 10100 = 1000() = 1 (K) (Sai số 5% )</a:t>
              </a:r>
              <a:endParaRPr/>
            </a:p>
            <a:p>
              <a:pPr marL="0" marR="0" lvl="1" indent="0" algn="l" rtl="0">
                <a:spcBef>
                  <a:spcPts val="800"/>
                </a:spcBef>
                <a:spcAft>
                  <a:spcPts val="0"/>
                </a:spcAft>
                <a:buClr>
                  <a:srgbClr val="CC00FF"/>
                </a:buClr>
                <a:buSzPts val="1300"/>
                <a:buFont typeface="Arial"/>
                <a:buNone/>
              </a:pPr>
              <a:r>
                <a:rPr lang="en-US" sz="1300" b="0" i="0" u="none" strike="noStrike" cap="none">
                  <a:solidFill>
                    <a:srgbClr val="262626"/>
                  </a:solidFill>
                  <a:latin typeface="Arial"/>
                  <a:ea typeface="Arial"/>
                  <a:cs typeface="Arial"/>
                  <a:sym typeface="Arial"/>
                </a:rPr>
                <a:t>(Ví dụ 2) Vàng, Tím, Cam, Vàng đậm: 47103 = 47 k (Sai số 5%)</a:t>
              </a:r>
              <a:endParaRPr/>
            </a:p>
            <a:p>
              <a:pPr marL="0" marR="0" lvl="1" indent="0" algn="l" rtl="0">
                <a:spcBef>
                  <a:spcPts val="800"/>
                </a:spcBef>
                <a:spcAft>
                  <a:spcPts val="0"/>
                </a:spcAft>
                <a:buClr>
                  <a:srgbClr val="CC00FF"/>
                </a:buClr>
                <a:buSzPts val="1300"/>
                <a:buFont typeface="Arial"/>
                <a:buNone/>
              </a:pPr>
              <a:r>
                <a:rPr lang="en-US" sz="1300" b="0" i="0" u="none" strike="noStrike" cap="none">
                  <a:solidFill>
                    <a:srgbClr val="262626"/>
                  </a:solidFill>
                  <a:latin typeface="Arial"/>
                  <a:ea typeface="Arial"/>
                  <a:cs typeface="Arial"/>
                  <a:sym typeface="Arial"/>
                </a:rPr>
                <a:t>(Ví dụ 3) Cam, Cam, Vàng, Vàng đậm: 33104 = 330 k (Sai số 5%)  </a:t>
              </a:r>
              <a:br>
                <a:rPr lang="en-US" sz="1300" b="0" i="0" u="none" strike="noStrike" cap="none">
                  <a:solidFill>
                    <a:srgbClr val="262626"/>
                  </a:solidFill>
                  <a:latin typeface="Arial"/>
                  <a:ea typeface="Arial"/>
                  <a:cs typeface="Arial"/>
                  <a:sym typeface="Arial"/>
                </a:rPr>
              </a:br>
              <a:r>
                <a:rPr lang="en-US" sz="1300" b="0" i="0" u="none" strike="noStrike" cap="none">
                  <a:solidFill>
                    <a:srgbClr val="262626"/>
                  </a:solidFill>
                  <a:latin typeface="Arial"/>
                  <a:ea typeface="Arial"/>
                  <a:cs typeface="Arial"/>
                  <a:sym typeface="Arial"/>
                </a:rPr>
                <a:t>(Ví dụ 4) Vàng, Xanh lá, Nâu, Bạc: 45101 = 450 (Sai số 10%)</a:t>
              </a:r>
              <a:endParaRPr/>
            </a:p>
          </p:txBody>
        </p:sp>
      </p:grpSp>
      <p:sp>
        <p:nvSpPr>
          <p:cNvPr id="2968" name="Google Shape;2968;p156"/>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lt1"/>
                </a:solidFill>
                <a:latin typeface="Arial"/>
                <a:ea typeface="Arial"/>
                <a:cs typeface="Arial"/>
                <a:sym typeface="Arial"/>
              </a:rPr>
              <a:t>4.2. </a:t>
            </a: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graphicFrame>
        <p:nvGraphicFramePr>
          <p:cNvPr id="2969" name="Google Shape;2969;p156"/>
          <p:cNvGraphicFramePr/>
          <p:nvPr>
            <p:extLst>
              <p:ext uri="{D42A27DB-BD31-4B8C-83A1-F6EECF244321}">
                <p14:modId xmlns:p14="http://schemas.microsoft.com/office/powerpoint/2010/main" val="2018817549"/>
              </p:ext>
            </p:extLst>
          </p:nvPr>
        </p:nvGraphicFramePr>
        <p:xfrm>
          <a:off x="1276350" y="1881980"/>
          <a:ext cx="7353300" cy="575175"/>
        </p:xfrm>
        <a:graphic>
          <a:graphicData uri="http://schemas.openxmlformats.org/drawingml/2006/table">
            <a:tbl>
              <a:tblPr>
                <a:noFill/>
              </a:tblPr>
              <a:tblGrid>
                <a:gridCol w="735025">
                  <a:extLst>
                    <a:ext uri="{9D8B030D-6E8A-4147-A177-3AD203B41FA5}">
                      <a16:colId xmlns:a16="http://schemas.microsoft.com/office/drawing/2014/main" val="20000"/>
                    </a:ext>
                  </a:extLst>
                </a:gridCol>
                <a:gridCol w="7350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gridCol w="735025">
                  <a:extLst>
                    <a:ext uri="{9D8B030D-6E8A-4147-A177-3AD203B41FA5}">
                      <a16:colId xmlns:a16="http://schemas.microsoft.com/office/drawing/2014/main" val="20003"/>
                    </a:ext>
                  </a:extLst>
                </a:gridCol>
                <a:gridCol w="735000">
                  <a:extLst>
                    <a:ext uri="{9D8B030D-6E8A-4147-A177-3AD203B41FA5}">
                      <a16:colId xmlns:a16="http://schemas.microsoft.com/office/drawing/2014/main" val="20004"/>
                    </a:ext>
                  </a:extLst>
                </a:gridCol>
                <a:gridCol w="735025">
                  <a:extLst>
                    <a:ext uri="{9D8B030D-6E8A-4147-A177-3AD203B41FA5}">
                      <a16:colId xmlns:a16="http://schemas.microsoft.com/office/drawing/2014/main" val="20005"/>
                    </a:ext>
                  </a:extLst>
                </a:gridCol>
                <a:gridCol w="735000">
                  <a:extLst>
                    <a:ext uri="{9D8B030D-6E8A-4147-A177-3AD203B41FA5}">
                      <a16:colId xmlns:a16="http://schemas.microsoft.com/office/drawing/2014/main" val="20006"/>
                    </a:ext>
                  </a:extLst>
                </a:gridCol>
                <a:gridCol w="736600">
                  <a:extLst>
                    <a:ext uri="{9D8B030D-6E8A-4147-A177-3AD203B41FA5}">
                      <a16:colId xmlns:a16="http://schemas.microsoft.com/office/drawing/2014/main" val="20007"/>
                    </a:ext>
                  </a:extLst>
                </a:gridCol>
                <a:gridCol w="735025">
                  <a:extLst>
                    <a:ext uri="{9D8B030D-6E8A-4147-A177-3AD203B41FA5}">
                      <a16:colId xmlns:a16="http://schemas.microsoft.com/office/drawing/2014/main" val="20008"/>
                    </a:ext>
                  </a:extLst>
                </a:gridCol>
                <a:gridCol w="735000">
                  <a:extLst>
                    <a:ext uri="{9D8B030D-6E8A-4147-A177-3AD203B41FA5}">
                      <a16:colId xmlns:a16="http://schemas.microsoft.com/office/drawing/2014/main" val="20009"/>
                    </a:ext>
                  </a:extLst>
                </a:gridCol>
              </a:tblGrid>
              <a:tr h="324000">
                <a:tc>
                  <a:txBody>
                    <a:bodyPr/>
                    <a:lstStyle/>
                    <a:p>
                      <a:pPr marL="0" marR="0" lvl="0" indent="0" algn="ctr" rtl="0">
                        <a:lnSpc>
                          <a:spcPct val="100000"/>
                        </a:lnSpc>
                        <a:spcBef>
                          <a:spcPts val="0"/>
                        </a:spcBef>
                        <a:spcAft>
                          <a:spcPts val="0"/>
                        </a:spcAft>
                        <a:buClr>
                          <a:schemeClr val="dk1"/>
                        </a:buClr>
                        <a:buSzPts val="1400"/>
                        <a:buFont typeface="Noto Sans Symbols"/>
                        <a:buNone/>
                      </a:pPr>
                      <a:endParaRPr sz="1400" b="0" i="0" u="none" strike="noStrike" cap="none" dirty="0">
                        <a:ln>
                          <a:solidFill>
                            <a:schemeClr val="tx1"/>
                          </a:solidFill>
                        </a:ln>
                        <a:solidFill>
                          <a:schemeClr val="tx1"/>
                        </a:solidFill>
                        <a:latin typeface="Arial"/>
                        <a:ea typeface="Arial"/>
                        <a:cs typeface="Arial"/>
                        <a:sym typeface="Arial"/>
                      </a:endParaRPr>
                    </a:p>
                  </a:txBody>
                  <a:tcPr marL="91450" marR="91450" marT="0" marB="0">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chemeClr val="tx1"/>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996600"/>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FF3300"/>
                    </a:solidFill>
                  </a:tcPr>
                </a:tc>
                <a:tc>
                  <a:txBody>
                    <a:bodyPr/>
                    <a:lstStyle/>
                    <a:p>
                      <a:pPr marL="0" marR="0" lvl="0" indent="0" algn="l" rtl="0">
                        <a:lnSpc>
                          <a:spcPct val="100000"/>
                        </a:lnSpc>
                        <a:spcBef>
                          <a:spcPts val="0"/>
                        </a:spcBef>
                        <a:spcAft>
                          <a:spcPts val="0"/>
                        </a:spcAft>
                        <a:buClr>
                          <a:schemeClr val="dk1"/>
                        </a:buClr>
                        <a:buSzPts val="900"/>
                        <a:buFont typeface="Noto Sans Symbols"/>
                        <a:buNone/>
                      </a:pPr>
                      <a:endParaRPr sz="900" b="0" i="0" u="none" strike="noStrike" cap="none">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FF9933"/>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66"/>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00CC00"/>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dirty="0">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0070C0"/>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dirty="0">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dirty="0">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solidFill>
                      <a:schemeClr val="accent3">
                        <a:lumMod val="75000"/>
                      </a:schemeClr>
                    </a:solidFill>
                  </a:tcPr>
                </a:tc>
                <a:tc>
                  <a:txBody>
                    <a:bodyPr/>
                    <a:lstStyle/>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a:solidFill>
                          <a:schemeClr val="accent2"/>
                        </a:solidFill>
                        <a:latin typeface="Arial"/>
                        <a:ea typeface="Arial"/>
                        <a:cs typeface="Arial"/>
                        <a:sym typeface="Arial"/>
                      </a:endParaRPr>
                    </a:p>
                  </a:txBody>
                  <a:tcPr marL="91450" marR="91450" marT="0" marB="0">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33CC"/>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0"/>
                  </a:ext>
                </a:extLst>
              </a:tr>
              <a:tr h="251175">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0</a:t>
                      </a:r>
                      <a:endParaRPr/>
                    </a:p>
                  </a:txBody>
                  <a:tcPr marL="91450" marR="91450" marT="0" marB="0">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1</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2</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3</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4</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5</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6</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7</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a:solidFill>
                            <a:srgbClr val="FF0000"/>
                          </a:solidFill>
                          <a:latin typeface="Arial"/>
                          <a:ea typeface="Arial"/>
                          <a:cs typeface="Arial"/>
                          <a:sym typeface="Arial"/>
                        </a:rPr>
                        <a:t>8</a:t>
                      </a:r>
                      <a:endParaRPr/>
                    </a:p>
                  </a:txBody>
                  <a:tcPr marL="91450" marR="91450" marT="0" marB="0">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Noto Sans Symbols"/>
                        <a:buNone/>
                      </a:pPr>
                      <a:r>
                        <a:rPr lang="en-US" sz="1600" b="0" u="none" strike="noStrike" cap="none" dirty="0">
                          <a:solidFill>
                            <a:srgbClr val="FF0000"/>
                          </a:solidFill>
                          <a:latin typeface="Arial"/>
                          <a:ea typeface="Arial"/>
                          <a:cs typeface="Arial"/>
                          <a:sym typeface="Arial"/>
                        </a:rPr>
                        <a:t>9</a:t>
                      </a:r>
                      <a:endParaRPr dirty="0"/>
                    </a:p>
                  </a:txBody>
                  <a:tcPr marL="91450" marR="91450" marT="0" marB="0">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2970" name="Google Shape;2970;p156"/>
          <p:cNvGrpSpPr/>
          <p:nvPr/>
        </p:nvGrpSpPr>
        <p:grpSpPr>
          <a:xfrm>
            <a:off x="1276350" y="2457165"/>
            <a:ext cx="7350126" cy="1716256"/>
            <a:chOff x="1276350" y="2597820"/>
            <a:chExt cx="7350126" cy="1716256"/>
          </a:xfrm>
        </p:grpSpPr>
        <p:sp>
          <p:nvSpPr>
            <p:cNvPr id="2971" name="Google Shape;2971;p156"/>
            <p:cNvSpPr/>
            <p:nvPr/>
          </p:nvSpPr>
          <p:spPr>
            <a:xfrm>
              <a:off x="1276350" y="2597820"/>
              <a:ext cx="7350126" cy="1716256"/>
            </a:xfrm>
            <a:prstGeom prst="rect">
              <a:avLst/>
            </a:prstGeom>
            <a:solidFill>
              <a:srgbClr val="F8F8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972" name="Google Shape;2972;p156"/>
            <p:cNvGrpSpPr/>
            <p:nvPr/>
          </p:nvGrpSpPr>
          <p:grpSpPr>
            <a:xfrm>
              <a:off x="1715547" y="2719740"/>
              <a:ext cx="6471730" cy="1550285"/>
              <a:chOff x="1416488" y="3373704"/>
              <a:chExt cx="6471730" cy="1550285"/>
            </a:xfrm>
          </p:grpSpPr>
          <p:grpSp>
            <p:nvGrpSpPr>
              <p:cNvPr id="2973" name="Google Shape;2973;p156"/>
              <p:cNvGrpSpPr/>
              <p:nvPr/>
            </p:nvGrpSpPr>
            <p:grpSpPr>
              <a:xfrm>
                <a:off x="1416488" y="3373704"/>
                <a:ext cx="3599489" cy="1550285"/>
                <a:chOff x="1416488" y="3373704"/>
                <a:chExt cx="3599489" cy="1550285"/>
              </a:xfrm>
            </p:grpSpPr>
            <p:pic>
              <p:nvPicPr>
                <p:cNvPr id="2974" name="Google Shape;2974;p156" descr="img25.gif"/>
                <p:cNvPicPr preferRelativeResize="0"/>
                <p:nvPr/>
              </p:nvPicPr>
              <p:blipFill rotWithShape="1">
                <a:blip r:embed="rId3">
                  <a:alphaModFix/>
                </a:blip>
                <a:srcRect t="4889" r="51520"/>
                <a:stretch/>
              </p:blipFill>
              <p:spPr>
                <a:xfrm>
                  <a:off x="1416488" y="3373704"/>
                  <a:ext cx="2338603" cy="1550285"/>
                </a:xfrm>
                <a:prstGeom prst="rect">
                  <a:avLst/>
                </a:prstGeom>
                <a:noFill/>
                <a:ln>
                  <a:noFill/>
                </a:ln>
              </p:spPr>
            </p:pic>
            <p:sp>
              <p:nvSpPr>
                <p:cNvPr id="2975" name="Google Shape;2975;p156"/>
                <p:cNvSpPr/>
                <p:nvPr/>
              </p:nvSpPr>
              <p:spPr>
                <a:xfrm>
                  <a:off x="2363560" y="3887375"/>
                  <a:ext cx="2026664" cy="257369"/>
                </a:xfrm>
                <a:prstGeom prst="rect">
                  <a:avLst/>
                </a:prstGeom>
                <a:solidFill>
                  <a:srgbClr val="F8F8F8"/>
                </a:solidFill>
                <a:ln>
                  <a:noFill/>
                </a:ln>
              </p:spPr>
              <p:txBody>
                <a:bodyPr spcFirstLastPara="1" wrap="square" lIns="0" tIns="36000" rIns="0" bIns="36000" anchor="t" anchorCtr="0">
                  <a:spAutoFit/>
                </a:bodyPr>
                <a:lstStyle/>
                <a:p>
                  <a:pPr marL="0" marR="0" lvl="0" indent="0" algn="l" rtl="0">
                    <a:spcBef>
                      <a:spcPts val="0"/>
                    </a:spcBef>
                    <a:spcAft>
                      <a:spcPts val="0"/>
                    </a:spcAft>
                    <a:buNone/>
                  </a:pPr>
                  <a:r>
                    <a:rPr lang="en-US" sz="1200">
                      <a:solidFill>
                        <a:srgbClr val="000000"/>
                      </a:solidFill>
                      <a:latin typeface="Arial"/>
                      <a:ea typeface="Arial"/>
                      <a:cs typeface="Arial"/>
                      <a:sym typeface="Arial"/>
                    </a:rPr>
                    <a:t>Vạch màu thứ 4 (sai số)</a:t>
                  </a:r>
                  <a:endParaRPr/>
                </a:p>
              </p:txBody>
            </p:sp>
            <p:sp>
              <p:nvSpPr>
                <p:cNvPr id="2976" name="Google Shape;2976;p156"/>
                <p:cNvSpPr/>
                <p:nvPr/>
              </p:nvSpPr>
              <p:spPr>
                <a:xfrm>
                  <a:off x="2359560" y="4412077"/>
                  <a:ext cx="2656417" cy="257369"/>
                </a:xfrm>
                <a:prstGeom prst="rect">
                  <a:avLst/>
                </a:prstGeom>
                <a:solidFill>
                  <a:srgbClr val="F8F8F8"/>
                </a:solidFill>
                <a:ln>
                  <a:noFill/>
                </a:ln>
              </p:spPr>
              <p:txBody>
                <a:bodyPr spcFirstLastPara="1" wrap="square" lIns="0" tIns="36000" rIns="0" bIns="36000" anchor="t" anchorCtr="0">
                  <a:spAutoFit/>
                </a:bodyPr>
                <a:lstStyle/>
                <a:p>
                  <a:pPr marL="0" marR="0" lvl="0" indent="0" algn="l" rtl="0">
                    <a:spcBef>
                      <a:spcPts val="0"/>
                    </a:spcBef>
                    <a:spcAft>
                      <a:spcPts val="0"/>
                    </a:spcAft>
                    <a:buNone/>
                  </a:pPr>
                  <a:r>
                    <a:rPr lang="en-US" sz="1200">
                      <a:solidFill>
                        <a:srgbClr val="000000"/>
                      </a:solidFill>
                      <a:latin typeface="Arial"/>
                      <a:ea typeface="Arial"/>
                      <a:cs typeface="Arial"/>
                      <a:sym typeface="Arial"/>
                    </a:rPr>
                    <a:t>Vạch màu thứ 2 (số thứ hai)</a:t>
                  </a:r>
                  <a:endParaRPr/>
                </a:p>
              </p:txBody>
            </p:sp>
            <p:sp>
              <p:nvSpPr>
                <p:cNvPr id="2977" name="Google Shape;2977;p156"/>
                <p:cNvSpPr/>
                <p:nvPr/>
              </p:nvSpPr>
              <p:spPr>
                <a:xfrm>
                  <a:off x="2359560" y="4144745"/>
                  <a:ext cx="2501627" cy="257369"/>
                </a:xfrm>
                <a:prstGeom prst="rect">
                  <a:avLst/>
                </a:prstGeom>
                <a:solidFill>
                  <a:srgbClr val="F8F8F8"/>
                </a:solidFill>
                <a:ln>
                  <a:noFill/>
                </a:ln>
              </p:spPr>
              <p:txBody>
                <a:bodyPr spcFirstLastPara="1" wrap="square" lIns="0" tIns="36000" rIns="0" bIns="36000" anchor="t" anchorCtr="0">
                  <a:spAutoFit/>
                </a:bodyPr>
                <a:lstStyle/>
                <a:p>
                  <a:pPr marL="0" marR="0" lvl="0" indent="0" algn="l" rtl="0">
                    <a:spcBef>
                      <a:spcPts val="0"/>
                    </a:spcBef>
                    <a:spcAft>
                      <a:spcPts val="0"/>
                    </a:spcAft>
                    <a:buNone/>
                  </a:pPr>
                  <a:r>
                    <a:rPr lang="en-US" sz="1200">
                      <a:solidFill>
                        <a:srgbClr val="000000"/>
                      </a:solidFill>
                      <a:latin typeface="Arial"/>
                      <a:ea typeface="Arial"/>
                      <a:cs typeface="Arial"/>
                      <a:sym typeface="Arial"/>
                    </a:rPr>
                    <a:t>Vạch màu thứ 3 (Phép nhân = số nhân)</a:t>
                  </a:r>
                  <a:endParaRPr/>
                </a:p>
              </p:txBody>
            </p:sp>
            <p:sp>
              <p:nvSpPr>
                <p:cNvPr id="2978" name="Google Shape;2978;p156"/>
                <p:cNvSpPr/>
                <p:nvPr/>
              </p:nvSpPr>
              <p:spPr>
                <a:xfrm>
                  <a:off x="2359560" y="4658298"/>
                  <a:ext cx="2656417" cy="257369"/>
                </a:xfrm>
                <a:prstGeom prst="rect">
                  <a:avLst/>
                </a:prstGeom>
                <a:solidFill>
                  <a:srgbClr val="F8F8F8"/>
                </a:solidFill>
                <a:ln>
                  <a:noFill/>
                </a:ln>
              </p:spPr>
              <p:txBody>
                <a:bodyPr spcFirstLastPara="1" wrap="square" lIns="0" tIns="36000" rIns="0" bIns="36000" anchor="t" anchorCtr="0">
                  <a:spAutoFit/>
                </a:bodyPr>
                <a:lstStyle/>
                <a:p>
                  <a:pPr marL="0" marR="0" lvl="0" indent="0" algn="l" rtl="0">
                    <a:spcBef>
                      <a:spcPts val="0"/>
                    </a:spcBef>
                    <a:spcAft>
                      <a:spcPts val="0"/>
                    </a:spcAft>
                    <a:buNone/>
                  </a:pPr>
                  <a:r>
                    <a:rPr lang="en-US" sz="1200">
                      <a:solidFill>
                        <a:srgbClr val="000000"/>
                      </a:solidFill>
                      <a:latin typeface="Arial"/>
                      <a:ea typeface="Arial"/>
                      <a:cs typeface="Arial"/>
                      <a:sym typeface="Arial"/>
                    </a:rPr>
                    <a:t>Vạch màu thứ 1 (dải màu thứ nhất)</a:t>
                  </a:r>
                  <a:endParaRPr/>
                </a:p>
              </p:txBody>
            </p:sp>
          </p:grpSp>
          <p:grpSp>
            <p:nvGrpSpPr>
              <p:cNvPr id="2979" name="Google Shape;2979;p156"/>
              <p:cNvGrpSpPr/>
              <p:nvPr/>
            </p:nvGrpSpPr>
            <p:grpSpPr>
              <a:xfrm>
                <a:off x="5300386" y="3373704"/>
                <a:ext cx="2587832" cy="1550285"/>
                <a:chOff x="5300386" y="3373704"/>
                <a:chExt cx="2587832" cy="1550285"/>
              </a:xfrm>
            </p:grpSpPr>
            <p:pic>
              <p:nvPicPr>
                <p:cNvPr id="2980" name="Google Shape;2980;p156" descr="img25.gif"/>
                <p:cNvPicPr preferRelativeResize="0"/>
                <p:nvPr/>
              </p:nvPicPr>
              <p:blipFill rotWithShape="1">
                <a:blip r:embed="rId3">
                  <a:alphaModFix/>
                </a:blip>
                <a:srcRect l="51520" t="4889"/>
                <a:stretch/>
              </p:blipFill>
              <p:spPr>
                <a:xfrm>
                  <a:off x="5417820" y="3373704"/>
                  <a:ext cx="2338603" cy="1550285"/>
                </a:xfrm>
                <a:prstGeom prst="rect">
                  <a:avLst/>
                </a:prstGeom>
                <a:noFill/>
                <a:ln>
                  <a:noFill/>
                </a:ln>
              </p:spPr>
            </p:pic>
            <p:sp>
              <p:nvSpPr>
                <p:cNvPr id="2981" name="Google Shape;2981;p156"/>
                <p:cNvSpPr/>
                <p:nvPr/>
              </p:nvSpPr>
              <p:spPr>
                <a:xfrm>
                  <a:off x="5300386" y="4024063"/>
                  <a:ext cx="2587832" cy="626701"/>
                </a:xfrm>
                <a:prstGeom prst="rect">
                  <a:avLst/>
                </a:prstGeom>
                <a:solidFill>
                  <a:srgbClr val="F8F8F8"/>
                </a:solidFill>
                <a:ln>
                  <a:noFill/>
                </a:ln>
              </p:spPr>
              <p:txBody>
                <a:bodyPr spcFirstLastPara="1" wrap="square" lIns="0" tIns="36000" rIns="0" bIns="3600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(Nếu không phân biệt được mặt trước và mặt sau của dải màu, hãy tìm màu vàng hoặc bạc để phân biệt)</a:t>
                  </a:r>
                  <a:endParaRPr/>
                </a:p>
              </p:txBody>
            </p:sp>
          </p:grpSp>
        </p:gr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986"/>
        <p:cNvGrpSpPr/>
        <p:nvPr/>
      </p:nvGrpSpPr>
      <p:grpSpPr>
        <a:xfrm>
          <a:off x="0" y="0"/>
          <a:ext cx="0" cy="0"/>
          <a:chOff x="0" y="0"/>
          <a:chExt cx="0" cy="0"/>
        </a:xfrm>
      </p:grpSpPr>
      <p:sp>
        <p:nvSpPr>
          <p:cNvPr id="2987" name="Google Shape;2987;p157"/>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
        <p:nvSpPr>
          <p:cNvPr id="2988" name="Google Shape;2988;p157"/>
          <p:cNvSpPr/>
          <p:nvPr/>
        </p:nvSpPr>
        <p:spPr>
          <a:xfrm>
            <a:off x="8674461" y="480778"/>
            <a:ext cx="793539" cy="24622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00" b="1" dirty="0">
                <a:solidFill>
                  <a:srgbClr val="D8D8D8"/>
                </a:solidFill>
                <a:latin typeface="Arial"/>
                <a:ea typeface="Arial"/>
                <a:cs typeface="Arial"/>
                <a:sym typeface="Arial"/>
              </a:rPr>
              <a:t> </a:t>
            </a:r>
            <a:endParaRPr dirty="0"/>
          </a:p>
        </p:txBody>
      </p:sp>
      <p:sp>
        <p:nvSpPr>
          <p:cNvPr id="2989" name="Google Shape;2989;p157"/>
          <p:cNvSpPr/>
          <p:nvPr/>
        </p:nvSpPr>
        <p:spPr>
          <a:xfrm>
            <a:off x="712182" y="1751850"/>
            <a:ext cx="8487381"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Điện trở duy trì mạch điện hoạt động ổn định bằng cách cản trở dòng điện chạy qua, là một trong những linh kiện quan trọng trong mạch điện. </a:t>
            </a:r>
            <a:endParaRPr/>
          </a:p>
        </p:txBody>
      </p:sp>
      <p:sp>
        <p:nvSpPr>
          <p:cNvPr id="2990" name="Google Shape;2990;p157"/>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Chức năng và công dụng của điện trở</a:t>
            </a:r>
            <a:endParaRPr sz="1400">
              <a:solidFill>
                <a:schemeClr val="dk1"/>
              </a:solidFill>
              <a:latin typeface="Arial"/>
              <a:ea typeface="Arial"/>
              <a:cs typeface="Arial"/>
              <a:sym typeface="Arial"/>
            </a:endParaRPr>
          </a:p>
        </p:txBody>
      </p:sp>
      <p:grpSp>
        <p:nvGrpSpPr>
          <p:cNvPr id="2991" name="Google Shape;2991;p157"/>
          <p:cNvGrpSpPr/>
          <p:nvPr/>
        </p:nvGrpSpPr>
        <p:grpSpPr>
          <a:xfrm>
            <a:off x="2208248" y="4509894"/>
            <a:ext cx="5363453" cy="1478097"/>
            <a:chOff x="2218340" y="4602480"/>
            <a:chExt cx="5363453" cy="1478097"/>
          </a:xfrm>
        </p:grpSpPr>
        <p:sp>
          <p:nvSpPr>
            <p:cNvPr id="2992" name="Google Shape;2992;p157"/>
            <p:cNvSpPr txBox="1"/>
            <p:nvPr/>
          </p:nvSpPr>
          <p:spPr>
            <a:xfrm>
              <a:off x="3202520" y="4845264"/>
              <a:ext cx="1646733" cy="338554"/>
            </a:xfrm>
            <a:prstGeom prst="rect">
              <a:avLst/>
            </a:prstGeom>
            <a:blipFill rotWithShape="1">
              <a:blip r:embed="rId3">
                <a:alphaModFix/>
              </a:blip>
              <a:stretch>
                <a:fillRect l="-36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993" name="Google Shape;2993;p157"/>
            <p:cNvSpPr txBox="1"/>
            <p:nvPr/>
          </p:nvSpPr>
          <p:spPr>
            <a:xfrm>
              <a:off x="2218340" y="5349957"/>
              <a:ext cx="2630913" cy="606063"/>
            </a:xfrm>
            <a:prstGeom prst="rect">
              <a:avLst/>
            </a:prstGeom>
            <a:blipFill rotWithShape="1">
              <a:blip r:embed="rId4">
                <a:alphaModFix/>
              </a:blip>
              <a:stretch>
                <a:fillRect l="-23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994" name="Google Shape;2994;p157"/>
            <p:cNvSpPr/>
            <p:nvPr/>
          </p:nvSpPr>
          <p:spPr>
            <a:xfrm>
              <a:off x="5258892" y="4602480"/>
              <a:ext cx="2322901" cy="602561"/>
            </a:xfrm>
            <a:prstGeom prst="wedgeRoundRectCallout">
              <a:avLst>
                <a:gd name="adj1" fmla="val -60493"/>
                <a:gd name="adj2" fmla="val 20218"/>
                <a:gd name="adj3" fmla="val 16667"/>
              </a:avLst>
            </a:prstGeom>
            <a:solidFill>
              <a:srgbClr val="D8D8D8"/>
            </a:solidFill>
            <a:ln w="9525" cap="flat" cmpd="sng">
              <a:solidFill>
                <a:srgbClr val="BFBFBF"/>
              </a:solidFill>
              <a:prstDash val="solid"/>
              <a:round/>
              <a:headEnd type="none" w="sm" len="sm"/>
              <a:tailEnd type="none" w="sm" len="sm"/>
            </a:ln>
          </p:spPr>
          <p:txBody>
            <a:bodyPr spcFirstLastPara="1" wrap="square" lIns="90000" tIns="0" rIns="90000" bIns="0" anchor="ctr" anchorCtr="0">
              <a:noAutofit/>
            </a:bodyPr>
            <a:lstStyle/>
            <a:p>
              <a:pPr marL="0" marR="0" lvl="0" indent="0" algn="ctr" rtl="0">
                <a:spcBef>
                  <a:spcPts val="0"/>
                </a:spcBef>
                <a:spcAft>
                  <a:spcPts val="0"/>
                </a:spcAft>
                <a:buNone/>
              </a:pPr>
              <a:r>
                <a:rPr lang="en-US" sz="1300">
                  <a:solidFill>
                    <a:srgbClr val="000000"/>
                  </a:solidFill>
                  <a:latin typeface="Arial"/>
                  <a:ea typeface="Arial"/>
                  <a:cs typeface="Arial"/>
                  <a:sym typeface="Arial"/>
                </a:rPr>
                <a:t>Điện áp ở cả hai mặt điện trở </a:t>
              </a:r>
              <a:endParaRPr/>
            </a:p>
          </p:txBody>
        </p:sp>
        <p:sp>
          <p:nvSpPr>
            <p:cNvPr id="2995" name="Google Shape;2995;p157"/>
            <p:cNvSpPr/>
            <p:nvPr/>
          </p:nvSpPr>
          <p:spPr>
            <a:xfrm>
              <a:off x="5258891" y="5345145"/>
              <a:ext cx="2322901" cy="735432"/>
            </a:xfrm>
            <a:prstGeom prst="wedgeRoundRectCallout">
              <a:avLst>
                <a:gd name="adj1" fmla="val -60532"/>
                <a:gd name="adj2" fmla="val -21779"/>
                <a:gd name="adj3" fmla="val 16667"/>
              </a:avLst>
            </a:prstGeom>
            <a:solidFill>
              <a:srgbClr val="D8D8D8"/>
            </a:solidFill>
            <a:ln w="9525" cap="flat" cmpd="sng">
              <a:solidFill>
                <a:srgbClr val="BFBFBF"/>
              </a:solidFill>
              <a:prstDash val="solid"/>
              <a:round/>
              <a:headEnd type="none" w="sm" len="sm"/>
              <a:tailEnd type="none" w="sm" len="sm"/>
            </a:ln>
          </p:spPr>
          <p:txBody>
            <a:bodyPr spcFirstLastPara="1" wrap="square" lIns="90000" tIns="0" rIns="90000" bIns="0" anchor="ctr" anchorCtr="0">
              <a:noAutofit/>
            </a:bodyPr>
            <a:lstStyle/>
            <a:p>
              <a:pPr marL="0" marR="0" lvl="0" indent="0" algn="l" rtl="0">
                <a:spcBef>
                  <a:spcPts val="0"/>
                </a:spcBef>
                <a:spcAft>
                  <a:spcPts val="0"/>
                </a:spcAft>
                <a:buNone/>
              </a:pPr>
              <a:r>
                <a:rPr lang="en-US" sz="1300">
                  <a:solidFill>
                    <a:srgbClr val="000000"/>
                  </a:solidFill>
                  <a:latin typeface="Arial"/>
                  <a:ea typeface="Arial"/>
                  <a:cs typeface="Arial"/>
                  <a:sym typeface="Arial"/>
                </a:rPr>
                <a:t>Giá trị điện trở </a:t>
              </a:r>
              <a:endParaRPr/>
            </a:p>
            <a:p>
              <a:pPr marL="0" marR="0" lvl="0" indent="0" algn="l" rtl="0">
                <a:spcBef>
                  <a:spcPts val="0"/>
                </a:spcBef>
                <a:spcAft>
                  <a:spcPts val="0"/>
                </a:spcAft>
                <a:buNone/>
              </a:pPr>
              <a:r>
                <a:rPr lang="en-US" sz="1300">
                  <a:solidFill>
                    <a:srgbClr val="000000"/>
                  </a:solidFill>
                  <a:latin typeface="Arial"/>
                  <a:ea typeface="Arial"/>
                  <a:cs typeface="Arial"/>
                  <a:sym typeface="Arial"/>
                </a:rPr>
                <a:t>khi dòng điện (        ) đi </a:t>
              </a:r>
              <a:endParaRPr/>
            </a:p>
            <a:p>
              <a:pPr marL="0" marR="0" lvl="0" indent="0" algn="l" rtl="0">
                <a:spcBef>
                  <a:spcPts val="0"/>
                </a:spcBef>
                <a:spcAft>
                  <a:spcPts val="0"/>
                </a:spcAft>
                <a:buNone/>
              </a:pPr>
              <a:r>
                <a:rPr lang="en-US" sz="1300">
                  <a:solidFill>
                    <a:srgbClr val="000000"/>
                  </a:solidFill>
                  <a:latin typeface="Arial"/>
                  <a:ea typeface="Arial"/>
                  <a:cs typeface="Arial"/>
                  <a:sym typeface="Arial"/>
                </a:rPr>
                <a:t>qua đèn LED là 15 [mA] </a:t>
              </a:r>
              <a:endParaRPr/>
            </a:p>
          </p:txBody>
        </p:sp>
      </p:grpSp>
      <p:grpSp>
        <p:nvGrpSpPr>
          <p:cNvPr id="2996" name="Google Shape;2996;p157"/>
          <p:cNvGrpSpPr/>
          <p:nvPr/>
        </p:nvGrpSpPr>
        <p:grpSpPr>
          <a:xfrm>
            <a:off x="1227974" y="2554287"/>
            <a:ext cx="7570165" cy="1620979"/>
            <a:chOff x="2043814" y="3355786"/>
            <a:chExt cx="6114256" cy="1309229"/>
          </a:xfrm>
        </p:grpSpPr>
        <p:sp>
          <p:nvSpPr>
            <p:cNvPr id="2997" name="Google Shape;2997;p157"/>
            <p:cNvSpPr txBox="1"/>
            <p:nvPr/>
          </p:nvSpPr>
          <p:spPr>
            <a:xfrm>
              <a:off x="2108318" y="4472658"/>
              <a:ext cx="959432" cy="161580"/>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Không phát sáng </a:t>
              </a:r>
              <a:endParaRPr/>
            </a:p>
          </p:txBody>
        </p:sp>
        <p:sp>
          <p:nvSpPr>
            <p:cNvPr id="2998" name="Google Shape;2998;p157"/>
            <p:cNvSpPr txBox="1"/>
            <p:nvPr/>
          </p:nvSpPr>
          <p:spPr>
            <a:xfrm>
              <a:off x="3980947" y="4503435"/>
              <a:ext cx="1453959" cy="161580"/>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Dòng điện đi qua quá lớn </a:t>
              </a:r>
              <a:endParaRPr/>
            </a:p>
          </p:txBody>
        </p:sp>
        <p:sp>
          <p:nvSpPr>
            <p:cNvPr id="2999" name="Google Shape;2999;p157"/>
            <p:cNvSpPr txBox="1"/>
            <p:nvPr/>
          </p:nvSpPr>
          <p:spPr>
            <a:xfrm>
              <a:off x="6376012" y="4503435"/>
              <a:ext cx="1704408" cy="161580"/>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Trạng thái hoạt động lý tưởng </a:t>
              </a:r>
              <a:endParaRPr/>
            </a:p>
          </p:txBody>
        </p:sp>
        <p:pic>
          <p:nvPicPr>
            <p:cNvPr id="3000" name="Google Shape;3000;p157"/>
            <p:cNvPicPr preferRelativeResize="0"/>
            <p:nvPr/>
          </p:nvPicPr>
          <p:blipFill rotWithShape="1">
            <a:blip r:embed="rId5">
              <a:alphaModFix/>
            </a:blip>
            <a:srcRect/>
            <a:stretch/>
          </p:blipFill>
          <p:spPr>
            <a:xfrm>
              <a:off x="2043814" y="3355786"/>
              <a:ext cx="1073727" cy="919306"/>
            </a:xfrm>
            <a:prstGeom prst="rect">
              <a:avLst/>
            </a:prstGeom>
            <a:noFill/>
            <a:ln>
              <a:noFill/>
            </a:ln>
          </p:spPr>
        </p:pic>
        <p:pic>
          <p:nvPicPr>
            <p:cNvPr id="3001" name="Google Shape;3001;p157"/>
            <p:cNvPicPr preferRelativeResize="0"/>
            <p:nvPr/>
          </p:nvPicPr>
          <p:blipFill rotWithShape="1">
            <a:blip r:embed="rId6">
              <a:alphaModFix/>
            </a:blip>
            <a:srcRect/>
            <a:stretch/>
          </p:blipFill>
          <p:spPr>
            <a:xfrm>
              <a:off x="3742439" y="3355786"/>
              <a:ext cx="1930977" cy="1026103"/>
            </a:xfrm>
            <a:prstGeom prst="rect">
              <a:avLst/>
            </a:prstGeom>
            <a:noFill/>
            <a:ln>
              <a:noFill/>
            </a:ln>
          </p:spPr>
        </p:pic>
        <p:pic>
          <p:nvPicPr>
            <p:cNvPr id="3002" name="Google Shape;3002;p157"/>
            <p:cNvPicPr preferRelativeResize="0"/>
            <p:nvPr/>
          </p:nvPicPr>
          <p:blipFill rotWithShape="1">
            <a:blip r:embed="rId7">
              <a:alphaModFix/>
            </a:blip>
            <a:srcRect/>
            <a:stretch/>
          </p:blipFill>
          <p:spPr>
            <a:xfrm>
              <a:off x="6231422" y="3355786"/>
              <a:ext cx="1926648" cy="1023216"/>
            </a:xfrm>
            <a:prstGeom prst="rect">
              <a:avLst/>
            </a:prstGeom>
            <a:noFill/>
            <a:ln>
              <a:noFill/>
            </a:ln>
          </p:spPr>
        </p:pic>
        <p:sp>
          <p:nvSpPr>
            <p:cNvPr id="3003" name="Google Shape;3003;p157"/>
            <p:cNvSpPr txBox="1"/>
            <p:nvPr/>
          </p:nvSpPr>
          <p:spPr>
            <a:xfrm>
              <a:off x="2378004" y="3393143"/>
              <a:ext cx="505404" cy="276999"/>
            </a:xfrm>
            <a:prstGeom prst="rect">
              <a:avLst/>
            </a:prstGeom>
            <a:solidFill>
              <a:schemeClr val="lt1"/>
            </a:solid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900" b="0">
                  <a:solidFill>
                    <a:srgbClr val="000000"/>
                  </a:solidFill>
                  <a:latin typeface="Arial"/>
                  <a:ea typeface="Arial"/>
                  <a:cs typeface="Arial"/>
                  <a:sym typeface="Arial"/>
                </a:rPr>
                <a:t>Dry Cell </a:t>
              </a:r>
              <a:br>
                <a:rPr lang="en-US" sz="900" b="0">
                  <a:solidFill>
                    <a:srgbClr val="000000"/>
                  </a:solidFill>
                  <a:latin typeface="Arial"/>
                  <a:ea typeface="Arial"/>
                  <a:cs typeface="Arial"/>
                  <a:sym typeface="Arial"/>
                </a:rPr>
              </a:br>
              <a:r>
                <a:rPr lang="en-US" sz="900" b="0">
                  <a:solidFill>
                    <a:srgbClr val="000000"/>
                  </a:solidFill>
                  <a:latin typeface="Arial"/>
                  <a:ea typeface="Arial"/>
                  <a:cs typeface="Arial"/>
                  <a:sym typeface="Arial"/>
                </a:rPr>
                <a:t>1.5V</a:t>
              </a:r>
              <a:endParaRPr sz="900" b="0">
                <a:solidFill>
                  <a:srgbClr val="000000"/>
                </a:solidFill>
                <a:latin typeface="Arial"/>
                <a:ea typeface="Arial"/>
                <a:cs typeface="Arial"/>
                <a:sym typeface="Arial"/>
              </a:endParaRPr>
            </a:p>
          </p:txBody>
        </p:sp>
        <p:sp>
          <p:nvSpPr>
            <p:cNvPr id="3004" name="Google Shape;3004;p157"/>
            <p:cNvSpPr txBox="1"/>
            <p:nvPr/>
          </p:nvSpPr>
          <p:spPr>
            <a:xfrm>
              <a:off x="4040882" y="3393143"/>
              <a:ext cx="505404" cy="276999"/>
            </a:xfrm>
            <a:prstGeom prst="rect">
              <a:avLst/>
            </a:prstGeom>
            <a:solidFill>
              <a:schemeClr val="lt1"/>
            </a:solid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900" b="0">
                  <a:solidFill>
                    <a:srgbClr val="000000"/>
                  </a:solidFill>
                  <a:latin typeface="Arial"/>
                  <a:ea typeface="Arial"/>
                  <a:cs typeface="Arial"/>
                  <a:sym typeface="Arial"/>
                </a:rPr>
                <a:t>Dry Cell </a:t>
              </a:r>
              <a:br>
                <a:rPr lang="en-US" sz="900" b="0">
                  <a:solidFill>
                    <a:srgbClr val="000000"/>
                  </a:solidFill>
                  <a:latin typeface="Arial"/>
                  <a:ea typeface="Arial"/>
                  <a:cs typeface="Arial"/>
                  <a:sym typeface="Arial"/>
                </a:rPr>
              </a:br>
              <a:r>
                <a:rPr lang="en-US" sz="900" b="0">
                  <a:solidFill>
                    <a:srgbClr val="000000"/>
                  </a:solidFill>
                  <a:latin typeface="Arial"/>
                  <a:ea typeface="Arial"/>
                  <a:cs typeface="Arial"/>
                  <a:sym typeface="Arial"/>
                </a:rPr>
                <a:t>1.5V</a:t>
              </a:r>
              <a:endParaRPr sz="900" b="0">
                <a:solidFill>
                  <a:srgbClr val="000000"/>
                </a:solidFill>
                <a:latin typeface="Arial"/>
                <a:ea typeface="Arial"/>
                <a:cs typeface="Arial"/>
                <a:sym typeface="Arial"/>
              </a:endParaRPr>
            </a:p>
          </p:txBody>
        </p:sp>
        <p:sp>
          <p:nvSpPr>
            <p:cNvPr id="3005" name="Google Shape;3005;p157"/>
            <p:cNvSpPr txBox="1"/>
            <p:nvPr/>
          </p:nvSpPr>
          <p:spPr>
            <a:xfrm>
              <a:off x="4922995" y="3393143"/>
              <a:ext cx="505404" cy="276999"/>
            </a:xfrm>
            <a:prstGeom prst="rect">
              <a:avLst/>
            </a:prstGeom>
            <a:solidFill>
              <a:schemeClr val="lt1"/>
            </a:solid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900" b="0">
                  <a:solidFill>
                    <a:srgbClr val="000000"/>
                  </a:solidFill>
                  <a:latin typeface="Arial"/>
                  <a:ea typeface="Arial"/>
                  <a:cs typeface="Arial"/>
                  <a:sym typeface="Arial"/>
                </a:rPr>
                <a:t>Dry Cell </a:t>
              </a:r>
              <a:br>
                <a:rPr lang="en-US" sz="900" b="0">
                  <a:solidFill>
                    <a:srgbClr val="000000"/>
                  </a:solidFill>
                  <a:latin typeface="Arial"/>
                  <a:ea typeface="Arial"/>
                  <a:cs typeface="Arial"/>
                  <a:sym typeface="Arial"/>
                </a:rPr>
              </a:br>
              <a:r>
                <a:rPr lang="en-US" sz="900" b="0">
                  <a:solidFill>
                    <a:srgbClr val="000000"/>
                  </a:solidFill>
                  <a:latin typeface="Arial"/>
                  <a:ea typeface="Arial"/>
                  <a:cs typeface="Arial"/>
                  <a:sym typeface="Arial"/>
                </a:rPr>
                <a:t>1.5V</a:t>
              </a:r>
              <a:endParaRPr sz="900" b="0">
                <a:solidFill>
                  <a:srgbClr val="000000"/>
                </a:solidFill>
                <a:latin typeface="Arial"/>
                <a:ea typeface="Arial"/>
                <a:cs typeface="Arial"/>
                <a:sym typeface="Arial"/>
              </a:endParaRPr>
            </a:p>
          </p:txBody>
        </p:sp>
        <p:sp>
          <p:nvSpPr>
            <p:cNvPr id="3006" name="Google Shape;3006;p157"/>
            <p:cNvSpPr txBox="1"/>
            <p:nvPr/>
          </p:nvSpPr>
          <p:spPr>
            <a:xfrm>
              <a:off x="6515858" y="3393143"/>
              <a:ext cx="505404" cy="276999"/>
            </a:xfrm>
            <a:prstGeom prst="rect">
              <a:avLst/>
            </a:prstGeom>
            <a:solidFill>
              <a:schemeClr val="lt1"/>
            </a:solid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900" b="0">
                  <a:solidFill>
                    <a:srgbClr val="000000"/>
                  </a:solidFill>
                  <a:latin typeface="Arial"/>
                  <a:ea typeface="Arial"/>
                  <a:cs typeface="Arial"/>
                  <a:sym typeface="Arial"/>
                </a:rPr>
                <a:t>Dry Cell </a:t>
              </a:r>
              <a:br>
                <a:rPr lang="en-US" sz="900" b="0">
                  <a:solidFill>
                    <a:srgbClr val="000000"/>
                  </a:solidFill>
                  <a:latin typeface="Arial"/>
                  <a:ea typeface="Arial"/>
                  <a:cs typeface="Arial"/>
                  <a:sym typeface="Arial"/>
                </a:rPr>
              </a:br>
              <a:r>
                <a:rPr lang="en-US" sz="900" b="0">
                  <a:solidFill>
                    <a:srgbClr val="000000"/>
                  </a:solidFill>
                  <a:latin typeface="Arial"/>
                  <a:ea typeface="Arial"/>
                  <a:cs typeface="Arial"/>
                  <a:sym typeface="Arial"/>
                </a:rPr>
                <a:t>1.5V</a:t>
              </a:r>
              <a:endParaRPr sz="900" b="0">
                <a:solidFill>
                  <a:srgbClr val="000000"/>
                </a:solidFill>
                <a:latin typeface="Arial"/>
                <a:ea typeface="Arial"/>
                <a:cs typeface="Arial"/>
                <a:sym typeface="Arial"/>
              </a:endParaRPr>
            </a:p>
          </p:txBody>
        </p:sp>
        <p:sp>
          <p:nvSpPr>
            <p:cNvPr id="3007" name="Google Shape;3007;p157"/>
            <p:cNvSpPr txBox="1"/>
            <p:nvPr/>
          </p:nvSpPr>
          <p:spPr>
            <a:xfrm>
              <a:off x="7397971" y="3393143"/>
              <a:ext cx="505404" cy="276999"/>
            </a:xfrm>
            <a:prstGeom prst="rect">
              <a:avLst/>
            </a:prstGeom>
            <a:solidFill>
              <a:schemeClr val="lt1"/>
            </a:solid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900" b="0">
                  <a:solidFill>
                    <a:srgbClr val="000000"/>
                  </a:solidFill>
                  <a:latin typeface="Arial"/>
                  <a:ea typeface="Arial"/>
                  <a:cs typeface="Arial"/>
                  <a:sym typeface="Arial"/>
                </a:rPr>
                <a:t>Dry Cell </a:t>
              </a:r>
              <a:br>
                <a:rPr lang="en-US" sz="900" b="0">
                  <a:solidFill>
                    <a:srgbClr val="000000"/>
                  </a:solidFill>
                  <a:latin typeface="Arial"/>
                  <a:ea typeface="Arial"/>
                  <a:cs typeface="Arial"/>
                  <a:sym typeface="Arial"/>
                </a:rPr>
              </a:br>
              <a:r>
                <a:rPr lang="en-US" sz="900" b="0">
                  <a:solidFill>
                    <a:srgbClr val="000000"/>
                  </a:solidFill>
                  <a:latin typeface="Arial"/>
                  <a:ea typeface="Arial"/>
                  <a:cs typeface="Arial"/>
                  <a:sym typeface="Arial"/>
                </a:rPr>
                <a:t>1.5V</a:t>
              </a:r>
              <a:endParaRPr sz="900" b="0">
                <a:solidFill>
                  <a:srgbClr val="000000"/>
                </a:solidFill>
                <a:latin typeface="Arial"/>
                <a:ea typeface="Arial"/>
                <a:cs typeface="Arial"/>
                <a:sym typeface="Arial"/>
              </a:endParaRPr>
            </a:p>
          </p:txBody>
        </p:sp>
        <p:sp>
          <p:nvSpPr>
            <p:cNvPr id="3008" name="Google Shape;3008;p157"/>
            <p:cNvSpPr txBox="1"/>
            <p:nvPr/>
          </p:nvSpPr>
          <p:spPr>
            <a:xfrm>
              <a:off x="7588917" y="4017380"/>
              <a:ext cx="314458" cy="161583"/>
            </a:xfrm>
            <a:prstGeom prst="rect">
              <a:avLst/>
            </a:prstGeom>
            <a:solidFill>
              <a:schemeClr val="lt1"/>
            </a:solid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050" b="0" i="1">
                  <a:solidFill>
                    <a:srgbClr val="000000"/>
                  </a:solidFill>
                  <a:latin typeface="Arial"/>
                  <a:ea typeface="Arial"/>
                  <a:cs typeface="Arial"/>
                  <a:sym typeface="Arial"/>
                </a:rPr>
                <a:t>R</a:t>
              </a:r>
              <a:endParaRPr sz="1050" b="0" i="1">
                <a:solidFill>
                  <a:srgbClr val="000000"/>
                </a:solidFill>
                <a:latin typeface="Arial"/>
                <a:ea typeface="Arial"/>
                <a:cs typeface="Arial"/>
                <a:sym typeface="Arial"/>
              </a:endParaRPr>
            </a:p>
          </p:txBody>
        </p:sp>
      </p:grpSp>
      <p:sp>
        <p:nvSpPr>
          <p:cNvPr id="3009" name="Google Shape;3009;p157"/>
          <p:cNvSpPr/>
          <p:nvPr/>
        </p:nvSpPr>
        <p:spPr>
          <a:xfrm>
            <a:off x="712182" y="2354581"/>
            <a:ext cx="8478462" cy="1958340"/>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10" name="Google Shape;3010;p157"/>
          <p:cNvPicPr preferRelativeResize="0"/>
          <p:nvPr/>
        </p:nvPicPr>
        <p:blipFill rotWithShape="1">
          <a:blip r:embed="rId8">
            <a:alphaModFix/>
          </a:blip>
          <a:srcRect/>
          <a:stretch/>
        </p:blipFill>
        <p:spPr>
          <a:xfrm>
            <a:off x="6477901" y="5516026"/>
            <a:ext cx="305662" cy="208498"/>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9">
            <a:extLst>
              <a:ext uri="{FF2B5EF4-FFF2-40B4-BE49-F238E27FC236}">
                <a16:creationId xmlns:a16="http://schemas.microsoft.com/office/drawing/2014/main" id="{A723081D-DCA1-49DA-BB70-16D9367DD572}"/>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04</a:t>
            </a:r>
          </a:p>
        </p:txBody>
      </p:sp>
      <p:sp>
        <p:nvSpPr>
          <p:cNvPr id="3" name="직사각형 10">
            <a:extLst>
              <a:ext uri="{FF2B5EF4-FFF2-40B4-BE49-F238E27FC236}">
                <a16:creationId xmlns:a16="http://schemas.microsoft.com/office/drawing/2014/main" id="{32E4E54E-F85D-483F-BFE5-DAFB483554D3}"/>
              </a:ext>
            </a:extLst>
          </p:cNvPr>
          <p:cNvSpPr/>
          <p:nvPr/>
        </p:nvSpPr>
        <p:spPr>
          <a:xfrm>
            <a:off x="712182" y="2154251"/>
            <a:ext cx="8487381" cy="345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vi-VN" altLang="ko-KR" sz="1300" dirty="0">
                <a:solidFill>
                  <a:schemeClr val="tx1">
                    <a:lumMod val="85000"/>
                    <a:lumOff val="15000"/>
                  </a:schemeClr>
                </a:solidFill>
                <a:latin typeface="SamsungOne-400" panose="020B0503030303020204" pitchFamily="34" charset="0"/>
                <a:ea typeface="SamsungOne-400" panose="020B0503030303020204" pitchFamily="34" charset="0"/>
              </a:rPr>
              <a:t>Công suất tiêu thụ phải nhỏ hơn một nửa công suất định mức</a:t>
            </a:r>
            <a:endPar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endParaRPr>
          </a:p>
        </p:txBody>
      </p:sp>
      <p:sp>
        <p:nvSpPr>
          <p:cNvPr id="4" name="직사각형 11">
            <a:extLst>
              <a:ext uri="{FF2B5EF4-FFF2-40B4-BE49-F238E27FC236}">
                <a16:creationId xmlns:a16="http://schemas.microsoft.com/office/drawing/2014/main" id="{CD08A5E7-4488-46D4-9257-0EF03363BF92}"/>
              </a:ext>
            </a:extLst>
          </p:cNvPr>
          <p:cNvSpPr/>
          <p:nvPr/>
        </p:nvSpPr>
        <p:spPr>
          <a:xfrm>
            <a:off x="580388" y="1521738"/>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400" panose="020B0503030303020204" pitchFamily="34" charset="0"/>
                <a:ea typeface="SamsungOne-400" panose="020B0503030303020204" pitchFamily="34" charset="0"/>
              </a:rPr>
              <a:t>Công suất định mức được tính bằng công thức sau</a:t>
            </a:r>
          </a:p>
        </p:txBody>
      </p:sp>
      <mc:AlternateContent xmlns:mc="http://schemas.openxmlformats.org/markup-compatibility/2006" xmlns:a14="http://schemas.microsoft.com/office/drawing/2010/main">
        <mc:Choice Requires="a14">
          <p:sp>
            <p:nvSpPr>
              <p:cNvPr id="5" name="Object 122">
                <a:extLst>
                  <a:ext uri="{FF2B5EF4-FFF2-40B4-BE49-F238E27FC236}">
                    <a16:creationId xmlns:a16="http://schemas.microsoft.com/office/drawing/2014/main" id="{1750152C-613B-4DDE-9714-B728F2B53CC0}"/>
                  </a:ext>
                </a:extLst>
              </p:cNvPr>
              <p:cNvSpPr txBox="1"/>
              <p:nvPr/>
            </p:nvSpPr>
            <p:spPr bwMode="auto">
              <a:xfrm>
                <a:off x="712182" y="1830937"/>
                <a:ext cx="1472904" cy="307777"/>
              </a:xfrm>
              <a:prstGeom prst="rect">
                <a:avLst/>
              </a:prstGeom>
              <a:solidFill>
                <a:srgbClr val="F2F2F2"/>
              </a:solidFill>
            </p:spPr>
            <p:txBody>
              <a:bodyPr wrap="none" lIns="0" rIns="0" rtlCol="0">
                <a:spAutoFit/>
                <a:scene3d>
                  <a:camera prst="orthographicFront"/>
                  <a:lightRig rig="threePt" dir="t"/>
                </a:scene3d>
                <a:sp3d>
                  <a:bevelT w="0" h="6350"/>
                  <a:bevelB w="0" h="0"/>
                </a:sp3d>
              </a:bodyPr>
              <a:lstStyle>
                <a:defPPr>
                  <a:defRPr lang="en-US"/>
                </a:defPPr>
                <a:lvl1pPr lvl="0">
                  <a:defRPr sz="1400" i="1">
                    <a:solidFill>
                      <a:srgbClr val="000000"/>
                    </a:solidFill>
                    <a:latin typeface="Cambria Math" panose="02040503050406030204" pitchFamily="18" charset="0"/>
                    <a:ea typeface="SamsungOne-400" panose="020B0503030303020204" pitchFamily="34" charset="0"/>
                  </a:defRPr>
                </a:lvl1pPr>
              </a:lstStyle>
              <a:p>
                <a:pPr/>
                <a14:m>
                  <m:oMathPara xmlns:m="http://schemas.openxmlformats.org/officeDocument/2006/math">
                    <m:oMathParaPr>
                      <m:jc m:val="centerGroup"/>
                    </m:oMathParaPr>
                    <m:oMath xmlns:m="http://schemas.openxmlformats.org/officeDocument/2006/math">
                      <m:r>
                        <a:rPr lang="ko-KR" altLang="en-US">
                          <a:latin typeface="Cambria Math" panose="02040503050406030204" pitchFamily="18" charset="0"/>
                        </a:rPr>
                        <m:t>𝑃</m:t>
                      </m:r>
                      <m:r>
                        <a:rPr lang="ko-KR" altLang="en-US">
                          <a:latin typeface="Cambria Math" panose="02040503050406030204" pitchFamily="18" charset="0"/>
                        </a:rPr>
                        <m:t>[</m:t>
                      </m:r>
                      <m:r>
                        <m:rPr>
                          <m:sty m:val="p"/>
                        </m:rPr>
                        <a:rPr lang="ko-KR" altLang="en-US" i="0">
                          <a:latin typeface="Cambria Math" panose="02040503050406030204" pitchFamily="18" charset="0"/>
                        </a:rPr>
                        <m:t>W</m:t>
                      </m:r>
                      <m:r>
                        <a:rPr lang="ko-KR" altLang="en-US">
                          <a:latin typeface="Cambria Math" panose="02040503050406030204" pitchFamily="18" charset="0"/>
                        </a:rPr>
                        <m:t>]=</m:t>
                      </m:r>
                      <m:r>
                        <a:rPr lang="ko-KR" altLang="en-US">
                          <a:latin typeface="Cambria Math" panose="02040503050406030204" pitchFamily="18" charset="0"/>
                        </a:rPr>
                        <m:t>𝑉</m:t>
                      </m:r>
                      <m:r>
                        <a:rPr lang="ko-KR" altLang="en-US">
                          <a:latin typeface="Cambria Math" panose="02040503050406030204" pitchFamily="18" charset="0"/>
                        </a:rPr>
                        <m:t>[</m:t>
                      </m:r>
                      <m:r>
                        <m:rPr>
                          <m:sty m:val="p"/>
                        </m:rPr>
                        <a:rPr lang="ko-KR" altLang="en-US" i="0">
                          <a:latin typeface="Cambria Math" panose="02040503050406030204" pitchFamily="18" charset="0"/>
                        </a:rPr>
                        <m:t>V</m:t>
                      </m:r>
                      <m:r>
                        <a:rPr lang="ko-KR" altLang="en-US">
                          <a:latin typeface="Cambria Math" panose="02040503050406030204" pitchFamily="18" charset="0"/>
                        </a:rPr>
                        <m:t>]⋅</m:t>
                      </m:r>
                      <m:r>
                        <a:rPr lang="ko-KR" altLang="en-US">
                          <a:latin typeface="Cambria Math" panose="02040503050406030204" pitchFamily="18" charset="0"/>
                        </a:rPr>
                        <m:t>𝐼</m:t>
                      </m:r>
                      <m:r>
                        <a:rPr lang="ko-KR" altLang="en-US">
                          <a:latin typeface="Cambria Math" panose="02040503050406030204" pitchFamily="18" charset="0"/>
                        </a:rPr>
                        <m:t>[</m:t>
                      </m:r>
                      <m:r>
                        <m:rPr>
                          <m:sty m:val="p"/>
                        </m:rPr>
                        <a:rPr lang="ko-KR" altLang="en-US" i="0">
                          <a:latin typeface="Cambria Math" panose="02040503050406030204" pitchFamily="18" charset="0"/>
                        </a:rPr>
                        <m:t>A</m:t>
                      </m:r>
                      <m:r>
                        <a:rPr lang="ko-KR" altLang="en-US">
                          <a:latin typeface="Cambria Math" panose="02040503050406030204" pitchFamily="18" charset="0"/>
                        </a:rPr>
                        <m:t>]</m:t>
                      </m:r>
                    </m:oMath>
                  </m:oMathPara>
                </a14:m>
                <a:endParaRPr lang="ko-KR" altLang="en-US" sz="1600" dirty="0"/>
              </a:p>
            </p:txBody>
          </p:sp>
        </mc:Choice>
        <mc:Fallback xmlns="">
          <p:sp>
            <p:nvSpPr>
              <p:cNvPr id="5" name="Object 122">
                <a:extLst>
                  <a:ext uri="{FF2B5EF4-FFF2-40B4-BE49-F238E27FC236}">
                    <a16:creationId xmlns:a16="http://schemas.microsoft.com/office/drawing/2014/main" xmlns="" xmlns:a14="http://schemas.microsoft.com/office/drawing/2010/main" id="{1750152C-613B-4DDE-9714-B728F2B53CC0}"/>
                  </a:ext>
                </a:extLst>
              </p:cNvPr>
              <p:cNvSpPr txBox="1">
                <a:spLocks noRot="1" noChangeAspect="1" noMove="1" noResize="1" noEditPoints="1" noAdjustHandles="1" noChangeArrowheads="1" noChangeShapeType="1" noTextEdit="1"/>
              </p:cNvSpPr>
              <p:nvPr/>
            </p:nvSpPr>
            <p:spPr bwMode="auto">
              <a:xfrm>
                <a:off x="712182" y="1830937"/>
                <a:ext cx="1472904" cy="307777"/>
              </a:xfrm>
              <a:prstGeom prst="rect">
                <a:avLst/>
              </a:prstGeom>
              <a:blipFill rotWithShape="0">
                <a:blip r:embed="rId5"/>
                <a:stretch>
                  <a:fillRect/>
                </a:stretch>
              </a:blipFill>
            </p:spPr>
            <p:txBody>
              <a:bodyPr/>
              <a:lstStyle/>
              <a:p>
                <a:r>
                  <a:rPr lang="ko-KR" altLang="en-US">
                    <a:noFill/>
                  </a:rPr>
                  <a:t> </a:t>
                </a:r>
              </a:p>
            </p:txBody>
          </p:sp>
        </mc:Fallback>
      </mc:AlternateContent>
      <p:sp>
        <p:nvSpPr>
          <p:cNvPr id="6" name="직사각형 37">
            <a:extLst>
              <a:ext uri="{FF2B5EF4-FFF2-40B4-BE49-F238E27FC236}">
                <a16:creationId xmlns:a16="http://schemas.microsoft.com/office/drawing/2014/main" id="{8DC7972E-1DB8-4AC8-8ED7-EBC6E6E9C312}"/>
              </a:ext>
            </a:extLst>
          </p:cNvPr>
          <p:cNvSpPr/>
          <p:nvPr/>
        </p:nvSpPr>
        <p:spPr>
          <a:xfrm>
            <a:off x="580388" y="2550284"/>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400" panose="020B0503030303020204" pitchFamily="34" charset="0"/>
                <a:ea typeface="SamsungOne-400" panose="020B0503030303020204" pitchFamily="34" charset="0"/>
              </a:rPr>
              <a:t>Cách tính điện trở khi mắc nối tiếp và song song </a:t>
            </a:r>
          </a:p>
        </p:txBody>
      </p:sp>
      <p:sp>
        <p:nvSpPr>
          <p:cNvPr id="7" name="직사각형 58">
            <a:extLst>
              <a:ext uri="{FF2B5EF4-FFF2-40B4-BE49-F238E27FC236}">
                <a16:creationId xmlns:a16="http://schemas.microsoft.com/office/drawing/2014/main" id="{09D71185-E202-475E-8CB2-07CC04EA3753}"/>
              </a:ext>
            </a:extLst>
          </p:cNvPr>
          <p:cNvSpPr/>
          <p:nvPr/>
        </p:nvSpPr>
        <p:spPr>
          <a:xfrm>
            <a:off x="712182" y="5508543"/>
            <a:ext cx="8487381" cy="648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Đối với kết nối nối tiếp, điện trở càng cao thì điện trở kết hợp càng lớn.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Đối với kết nối song song, điện trở càng cao thì điện trở kết hợp càng nhỏ.</a:t>
            </a:r>
          </a:p>
        </p:txBody>
      </p:sp>
      <p:sp>
        <p:nvSpPr>
          <p:cNvPr id="10" name="직사각형 9">
            <a:extLst>
              <a:ext uri="{FF2B5EF4-FFF2-40B4-BE49-F238E27FC236}">
                <a16:creationId xmlns:a16="http://schemas.microsoft.com/office/drawing/2014/main" id="{55B58EA3-CF4E-49BB-82D7-A12C0C9FA3BA}"/>
              </a:ext>
            </a:extLst>
          </p:cNvPr>
          <p:cNvSpPr/>
          <p:nvPr/>
        </p:nvSpPr>
        <p:spPr>
          <a:xfrm>
            <a:off x="712182" y="2853472"/>
            <a:ext cx="8478462" cy="2511008"/>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8" name="그룹 27"/>
          <p:cNvGrpSpPr/>
          <p:nvPr/>
        </p:nvGrpSpPr>
        <p:grpSpPr>
          <a:xfrm>
            <a:off x="2009116" y="2983591"/>
            <a:ext cx="6204904" cy="2262166"/>
            <a:chOff x="2405356" y="2892151"/>
            <a:chExt cx="6204904" cy="2262166"/>
          </a:xfrm>
        </p:grpSpPr>
        <mc:AlternateContent xmlns:mc="http://schemas.openxmlformats.org/markup-compatibility/2006" xmlns:a14="http://schemas.microsoft.com/office/drawing/2010/main">
          <mc:Choice Requires="a14">
            <p:graphicFrame>
              <p:nvGraphicFramePr>
                <p:cNvPr id="11" name="Object 815">
                  <a:extLst>
                    <a:ext uri="{FF2B5EF4-FFF2-40B4-BE49-F238E27FC236}">
                      <a16:creationId xmlns:a16="http://schemas.microsoft.com/office/drawing/2014/main" id="{948866D3-630A-4B9C-9D94-8278645EBB13}"/>
                    </a:ext>
                  </a:extLst>
                </p:cNvPr>
                <p:cNvGraphicFramePr>
                  <a:graphicFrameLocks noChangeAspect="1"/>
                </p:cNvGraphicFramePr>
                <p:nvPr/>
              </p:nvGraphicFramePr>
              <p:xfrm>
                <a:off x="2611538" y="3807176"/>
                <a:ext cx="1869126" cy="815684"/>
              </p:xfrm>
              <a:graphic>
                <a:graphicData uri="http://schemas.openxmlformats.org/presentationml/2006/ole">
                  <mc:AlternateContent>
                    <mc:Choice xmlns:v="urn:schemas-microsoft-com:vml" Requires="v">
                      <p:oleObj name="Visio" r:id="rId6" imgW="1482406" imgH="649863" progId="Visio.Drawing.6">
                        <p:embed/>
                      </p:oleObj>
                    </mc:Choice>
                    <mc:Fallback>
                      <p:oleObj name="Visio" r:id="rId6" imgW="1482406" imgH="649863" progId="Visio.Drawing.6">
                        <p:embed/>
                        <p:pic>
                          <p:nvPicPr>
                            <p:cNvPr id="11" name="Object 815">
                              <a:extLst>
                                <a:ext uri="{FF2B5EF4-FFF2-40B4-BE49-F238E27FC236}">
                                  <a16:creationId xmlns:a16="http://schemas.microsoft.com/office/drawing/2014/main" id="{948866D3-630A-4B9C-9D94-8278645EBB13}"/>
                                </a:ext>
                              </a:extLst>
                            </p:cNvPr>
                            <p:cNvPicPr>
                              <a:picLocks noChangeAspect="1" noChangeArrowheads="1"/>
                            </p:cNvPicPr>
                            <p:nvPr/>
                          </p:nvPicPr>
                          <p:blipFill>
                            <a:blip r:embed="rId7">
                              <a:extLst>
                                <a:ext uri="{28A0092B-C50C-407E-A947-70E740481C1C}">
                                  <a14:useLocalDpi val="0"/>
                                </a:ext>
                              </a:extLst>
                            </a:blip>
                            <a:srcRect/>
                            <a:stretch>
                              <a:fillRect/>
                            </a:stretch>
                          </p:blipFill>
                          <p:spPr bwMode="auto">
                            <a:xfrm>
                              <a:off x="2611538" y="3807176"/>
                              <a:ext cx="1869126" cy="815684"/>
                            </a:xfrm>
                            <a:prstGeom prst="rect">
                              <a:avLst/>
                            </a:prstGeom>
                            <a:noFill/>
                          </p:spPr>
                        </p:pic>
                      </p:oleObj>
                    </mc:Fallback>
                  </mc:AlternateContent>
                </a:graphicData>
              </a:graphic>
            </p:graphicFrame>
          </mc:Choice>
          <mc:Fallback xmlns="">
            <p:graphicFrame>
              <p:nvGraphicFramePr>
                <p:cNvPr id="11" name="Object 815">
                  <a:extLst>
                    <a:ext uri="{FF2B5EF4-FFF2-40B4-BE49-F238E27FC236}">
                      <a16:creationId xmlns:a16="http://schemas.microsoft.com/office/drawing/2014/main" xmlns="" id="{948866D3-630A-4B9C-9D94-8278645EBB13}"/>
                    </a:ext>
                  </a:extLst>
                </p:cNvPr>
                <p:cNvGraphicFramePr>
                  <a:graphicFrameLocks noChangeAspect="1"/>
                </p:cNvGraphicFramePr>
                <p:nvPr>
                  <p:extLst>
                    <p:ext uri="{D42A27DB-BD31-4B8C-83A1-F6EECF244321}">
                      <p14:modId xmlns:p14="http://schemas.microsoft.com/office/powerpoint/2010/main" val="2625207903"/>
                    </p:ext>
                  </p:extLst>
                </p:nvPr>
              </p:nvGraphicFramePr>
              <p:xfrm>
                <a:off x="2611538" y="3807176"/>
                <a:ext cx="1869126" cy="815684"/>
              </p:xfrm>
              <a:graphic>
                <a:graphicData uri="http://schemas.openxmlformats.org/presentationml/2006/ole">
                  <mc:AlternateContent>
                    <mc:Choice xmlns:v="urn:schemas-microsoft-com:vml" Requires="v">
                      <p:oleObj spid="_x0000_s18442" name="Visio" r:id="rId8" imgW="1482406" imgH="649863" progId="Visio.Drawing.6">
                        <p:embed/>
                      </p:oleObj>
                    </mc:Choice>
                    <mc:Fallback>
                      <p:oleObj name="Visio" r:id="rId8" imgW="1482406" imgH="649863"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11538" y="3807176"/>
                              <a:ext cx="1869126" cy="815684"/>
                            </a:xfrm>
                            <a:prstGeom prst="rect">
                              <a:avLst/>
                            </a:prstGeom>
                            <a:noFill/>
                          </p:spPr>
                        </p:pic>
                      </p:oleObj>
                    </mc:Fallback>
                  </mc:AlternateContent>
                </a:graphicData>
              </a:graphic>
            </p:graphicFrame>
          </mc:Fallback>
        </mc:AlternateContent>
        <p:sp>
          <p:nvSpPr>
            <p:cNvPr id="12" name="Text Box 120">
              <a:extLst>
                <a:ext uri="{FF2B5EF4-FFF2-40B4-BE49-F238E27FC236}">
                  <a16:creationId xmlns:a16="http://schemas.microsoft.com/office/drawing/2014/main" id="{B86937D3-D891-4A9B-8A14-68030B3D551C}"/>
                </a:ext>
              </a:extLst>
            </p:cNvPr>
            <p:cNvSpPr txBox="1">
              <a:spLocks noChangeArrowheads="1"/>
            </p:cNvSpPr>
            <p:nvPr/>
          </p:nvSpPr>
          <p:spPr bwMode="auto">
            <a:xfrm>
              <a:off x="2853828" y="2907651"/>
              <a:ext cx="1457308" cy="292388"/>
            </a:xfrm>
            <a:prstGeom prst="rect">
              <a:avLst/>
            </a:prstGeom>
            <a:solidFill>
              <a:schemeClr val="bg1"/>
            </a:solidFill>
          </p:spPr>
          <p:txBody>
            <a:bodyPr wrap="square" lIns="0" r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r>
                <a:rPr lang="en-US" altLang="ko-KR" sz="1300" b="1" dirty="0">
                  <a:latin typeface="SamsungOne-400" panose="020B0503030303020204" pitchFamily="34" charset="0"/>
                  <a:ea typeface="SamsungOne-400" panose="020B0503030303020204" pitchFamily="34" charset="0"/>
                </a:rPr>
                <a:t>Mắc nối tiếp</a:t>
              </a:r>
            </a:p>
          </p:txBody>
        </p:sp>
        <mc:AlternateContent xmlns:mc="http://schemas.openxmlformats.org/markup-compatibility/2006" xmlns:a14="http://schemas.microsoft.com/office/drawing/2010/main">
          <mc:Choice Requires="a14">
            <p:sp>
              <p:nvSpPr>
                <p:cNvPr id="13" name="Object 122">
                  <a:extLst>
                    <a:ext uri="{FF2B5EF4-FFF2-40B4-BE49-F238E27FC236}">
                      <a16:creationId xmlns:a16="http://schemas.microsoft.com/office/drawing/2014/main" id="{ED237ECC-E09C-4417-9DFD-4178CE6CA96E}"/>
                    </a:ext>
                  </a:extLst>
                </p:cNvPr>
                <p:cNvSpPr txBox="1"/>
                <p:nvPr/>
              </p:nvSpPr>
              <p:spPr bwMode="auto">
                <a:xfrm>
                  <a:off x="2609414" y="3263561"/>
                  <a:ext cx="1904367" cy="307777"/>
                </a:xfrm>
                <a:prstGeom prst="rect">
                  <a:avLst/>
                </a:prstGeom>
                <a:solidFill>
                  <a:srgbClr val="F2F2F2"/>
                </a:solidFill>
              </p:spPr>
              <p:txBody>
                <a:bodyPr wrap="none" lIns="0" rIns="0" rtlCol="0">
                  <a:spAutoFit/>
                  <a:scene3d>
                    <a:camera prst="orthographicFront"/>
                    <a:lightRig rig="threePt" dir="t"/>
                  </a:scene3d>
                  <a:sp3d>
                    <a:bevelT w="0" h="6350"/>
                    <a:bevelB w="0" h="0"/>
                  </a:sp3d>
                </a:bodyPr>
                <a:lstStyle>
                  <a:defPPr>
                    <a:defRPr lang="en-US"/>
                  </a:defPPr>
                  <a:lvl1pPr lvl="0">
                    <a:defRPr sz="1400" i="1">
                      <a:solidFill>
                        <a:srgbClr val="000000"/>
                      </a:solidFill>
                      <a:latin typeface="Cambria Math" panose="02040503050406030204" pitchFamily="18" charset="0"/>
                      <a:ea typeface="SamsungOne-400" panose="020B0503030303020204" pitchFamily="34" charset="0"/>
                    </a:defRPr>
                  </a:lvl1pPr>
                </a:lstStyle>
                <a:p>
                  <a:pPr/>
                  <a14:m>
                    <m:oMathPara xmlns:m="http://schemas.openxmlformats.org/officeDocument/2006/math">
                      <m:oMathParaPr>
                        <m:jc m:val="centerGroup"/>
                      </m:oMathParaPr>
                      <m:oMath xmlns:m="http://schemas.openxmlformats.org/officeDocument/2006/math">
                        <m:r>
                          <a:rPr lang="ko-KR" altLang="en-US">
                            <a:latin typeface="Cambria Math" panose="02040503050406030204" pitchFamily="18" charset="0"/>
                          </a:rPr>
                          <m:t>𝑅</m:t>
                        </m:r>
                        <m:r>
                          <a:rPr lang="ko-KR" altLang="en-US">
                            <a:latin typeface="Cambria Math" panose="02040503050406030204" pitchFamily="18" charset="0"/>
                          </a:rPr>
                          <m:t>=</m:t>
                        </m:r>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1</m:t>
                            </m:r>
                          </m:sub>
                        </m:sSub>
                        <m:r>
                          <a:rPr lang="ko-KR" altLang="en-US">
                            <a:latin typeface="Cambria Math" panose="02040503050406030204" pitchFamily="18" charset="0"/>
                          </a:rPr>
                          <m:t>+</m:t>
                        </m:r>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2</m:t>
                            </m:r>
                          </m:sub>
                        </m:sSub>
                        <m:r>
                          <a:rPr lang="ko-KR" altLang="en-US">
                            <a:latin typeface="Cambria Math" panose="02040503050406030204" pitchFamily="18" charset="0"/>
                          </a:rPr>
                          <m:t>+</m:t>
                        </m:r>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3</m:t>
                            </m:r>
                          </m:sub>
                        </m:sSub>
                        <m:r>
                          <a:rPr lang="ko-KR" altLang="en-US">
                            <a:latin typeface="Cambria Math" panose="02040503050406030204" pitchFamily="18" charset="0"/>
                          </a:rPr>
                          <m:t>+......</m:t>
                        </m:r>
                      </m:oMath>
                    </m:oMathPara>
                  </a14:m>
                  <a:endParaRPr lang="ko-KR" altLang="en-US" dirty="0"/>
                </a:p>
              </p:txBody>
            </p:sp>
          </mc:Choice>
          <mc:Fallback xmlns="">
            <p:sp>
              <p:nvSpPr>
                <p:cNvPr id="13" name="Object 122">
                  <a:extLst>
                    <a:ext uri="{FF2B5EF4-FFF2-40B4-BE49-F238E27FC236}">
                      <a16:creationId xmlns:a16="http://schemas.microsoft.com/office/drawing/2014/main" xmlns:a14="http://schemas.microsoft.com/office/drawing/2010/main" xmlns="" id="{ED237ECC-E09C-4417-9DFD-4178CE6CA96E}"/>
                    </a:ext>
                  </a:extLst>
                </p:cNvPr>
                <p:cNvSpPr txBox="1">
                  <a:spLocks noRot="1" noChangeAspect="1" noMove="1" noResize="1" noEditPoints="1" noAdjustHandles="1" noChangeArrowheads="1" noChangeShapeType="1" noTextEdit="1"/>
                </p:cNvSpPr>
                <p:nvPr/>
              </p:nvSpPr>
              <p:spPr bwMode="auto">
                <a:xfrm>
                  <a:off x="2609414" y="3263561"/>
                  <a:ext cx="1904367" cy="307777"/>
                </a:xfrm>
                <a:prstGeom prst="rect">
                  <a:avLst/>
                </a:prstGeom>
                <a:blipFill rotWithShape="0">
                  <a:blip r:embed="rId10"/>
                  <a:stretch>
                    <a:fillRect/>
                  </a:stretch>
                </a:blipFill>
              </p:spPr>
              <p:txBody>
                <a:bodyPr/>
                <a:lstStyle/>
                <a:p>
                  <a:r>
                    <a:rPr lang="ko-KR" altLang="en-US">
                      <a:noFill/>
                    </a:rPr>
                    <a:t> </a:t>
                  </a:r>
                </a:p>
              </p:txBody>
            </p:sp>
          </mc:Fallback>
        </mc:AlternateContent>
        <p:sp>
          <p:nvSpPr>
            <p:cNvPr id="14" name="Text Box 120">
              <a:extLst>
                <a:ext uri="{FF2B5EF4-FFF2-40B4-BE49-F238E27FC236}">
                  <a16:creationId xmlns:a16="http://schemas.microsoft.com/office/drawing/2014/main" id="{FB550034-3A2D-4EA0-85A4-DBFDD84365C7}"/>
                </a:ext>
              </a:extLst>
            </p:cNvPr>
            <p:cNvSpPr txBox="1">
              <a:spLocks noChangeArrowheads="1"/>
            </p:cNvSpPr>
            <p:nvPr/>
          </p:nvSpPr>
          <p:spPr bwMode="auto">
            <a:xfrm>
              <a:off x="3405762" y="4424948"/>
              <a:ext cx="291448" cy="200055"/>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r>
                <a:rPr lang="en-US" altLang="ko-KR" sz="1300" i="1" dirty="0">
                  <a:latin typeface="SamsungOne-400" panose="020B0503030303020204" pitchFamily="34" charset="0"/>
                  <a:ea typeface="SamsungOne-400" panose="020B0503030303020204" pitchFamily="34" charset="0"/>
                </a:rPr>
                <a:t>R</a:t>
              </a:r>
            </a:p>
          </p:txBody>
        </p:sp>
        <mc:AlternateContent xmlns:mc="http://schemas.openxmlformats.org/markup-compatibility/2006" xmlns:a14="http://schemas.microsoft.com/office/drawing/2010/main">
          <mc:Choice Requires="a14">
            <p:sp>
              <p:nvSpPr>
                <p:cNvPr id="15" name="Text Box 120">
                  <a:extLst>
                    <a:ext uri="{FF2B5EF4-FFF2-40B4-BE49-F238E27FC236}">
                      <a16:creationId xmlns:a16="http://schemas.microsoft.com/office/drawing/2014/main" id="{84DA26C6-B131-4055-A831-4E48A6AFCE9E}"/>
                    </a:ext>
                  </a:extLst>
                </p:cNvPr>
                <p:cNvSpPr txBox="1">
                  <a:spLocks noChangeArrowheads="1"/>
                </p:cNvSpPr>
                <p:nvPr/>
              </p:nvSpPr>
              <p:spPr bwMode="auto">
                <a:xfrm>
                  <a:off x="2555694" y="3846805"/>
                  <a:ext cx="912656" cy="200055"/>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300" i="1" dirty="0" smtClean="0">
                                <a:solidFill>
                                  <a:schemeClr val="tx1"/>
                                </a:solidFill>
                                <a:latin typeface="Cambria Math" panose="02040503050406030204" pitchFamily="18" charset="0"/>
                              </a:rPr>
                            </m:ctrlPr>
                          </m:sSubPr>
                          <m:e>
                            <m:r>
                              <a:rPr lang="en-US" altLang="ko-KR" sz="1300" i="1" dirty="0" smtClean="0">
                                <a:solidFill>
                                  <a:schemeClr val="tx1"/>
                                </a:solidFill>
                                <a:latin typeface="Cambria Math" panose="02040503050406030204" pitchFamily="18" charset="0"/>
                              </a:rPr>
                              <m:t>𝑅</m:t>
                            </m:r>
                          </m:e>
                          <m:sub>
                            <m:r>
                              <a:rPr lang="en-US" altLang="ko-KR" sz="1300" i="1" dirty="0" smtClean="0">
                                <a:solidFill>
                                  <a:schemeClr val="tx1"/>
                                </a:solidFill>
                                <a:latin typeface="Cambria Math" panose="02040503050406030204" pitchFamily="18" charset="0"/>
                              </a:rPr>
                              <m:t>1</m:t>
                            </m:r>
                          </m:sub>
                        </m:sSub>
                        <m:r>
                          <a:rPr lang="en-US" altLang="ko-KR" sz="1300" i="1" dirty="0" smtClean="0">
                            <a:solidFill>
                              <a:schemeClr val="tx1"/>
                            </a:solidFill>
                            <a:latin typeface="Cambria Math" panose="02040503050406030204" pitchFamily="18" charset="0"/>
                          </a:rPr>
                          <m:t>=10</m:t>
                        </m:r>
                        <m:d>
                          <m:dPr>
                            <m:begChr m:val="["/>
                            <m:endChr m:val="]"/>
                            <m:ctrlPr>
                              <a:rPr lang="en-US" altLang="ko-KR" sz="1300" i="1" dirty="0" smtClean="0">
                                <a:solidFill>
                                  <a:schemeClr val="tx1"/>
                                </a:solidFill>
                                <a:latin typeface="Cambria Math" panose="02040503050406030204" pitchFamily="18" charset="0"/>
                              </a:rPr>
                            </m:ctrlPr>
                          </m:dPr>
                          <m:e>
                            <m:r>
                              <a:rPr lang="en-US" altLang="ko-KR" sz="1300" i="1" dirty="0" smtClean="0">
                                <a:solidFill>
                                  <a:schemeClr val="tx1"/>
                                </a:solidFill>
                                <a:latin typeface="Cambria Math" panose="02040503050406030204" pitchFamily="18" charset="0"/>
                              </a:rPr>
                              <m:t>𝛺</m:t>
                            </m:r>
                          </m:e>
                        </m:d>
                      </m:oMath>
                    </m:oMathPara>
                  </a14:m>
                  <a:endParaRPr lang="en-US" altLang="ko-KR" sz="1300" i="1" dirty="0">
                    <a:solidFill>
                      <a:schemeClr val="tx1"/>
                    </a:solidFill>
                    <a:latin typeface="SamsungOne-400" panose="020B0503030303020204" pitchFamily="34" charset="0"/>
                    <a:ea typeface="SamsungOne-400" panose="020B0503030303020204" pitchFamily="34" charset="0"/>
                  </a:endParaRPr>
                </a:p>
              </p:txBody>
            </p:sp>
          </mc:Choice>
          <mc:Fallback xmlns="">
            <p:sp>
              <p:nvSpPr>
                <p:cNvPr id="15" name="Text Box 120">
                  <a:extLst>
                    <a:ext uri="{FF2B5EF4-FFF2-40B4-BE49-F238E27FC236}">
                      <a16:creationId xmlns:a16="http://schemas.microsoft.com/office/drawing/2014/main" xmlns:a14="http://schemas.microsoft.com/office/drawing/2010/main" xmlns="" id="{84DA26C6-B131-4055-A831-4E48A6AFCE9E}"/>
                    </a:ext>
                  </a:extLst>
                </p:cNvPr>
                <p:cNvSpPr txBox="1">
                  <a:spLocks noRot="1" noChangeAspect="1" noMove="1" noResize="1" noEditPoints="1" noAdjustHandles="1" noChangeArrowheads="1" noChangeShapeType="1" noTextEdit="1"/>
                </p:cNvSpPr>
                <p:nvPr/>
              </p:nvSpPr>
              <p:spPr bwMode="auto">
                <a:xfrm>
                  <a:off x="2555694" y="3846805"/>
                  <a:ext cx="912656" cy="200055"/>
                </a:xfrm>
                <a:prstGeom prst="rect">
                  <a:avLst/>
                </a:prstGeom>
                <a:blipFill rotWithShape="0">
                  <a:blip r:embed="rId11"/>
                  <a:stretch>
                    <a:fillRect b="-303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Text Box 120">
                  <a:extLst>
                    <a:ext uri="{FF2B5EF4-FFF2-40B4-BE49-F238E27FC236}">
                      <a16:creationId xmlns:a16="http://schemas.microsoft.com/office/drawing/2014/main" id="{C6251C7C-9FBE-4763-A0F1-6B262E6B2884}"/>
                    </a:ext>
                  </a:extLst>
                </p:cNvPr>
                <p:cNvSpPr txBox="1">
                  <a:spLocks noChangeArrowheads="1"/>
                </p:cNvSpPr>
                <p:nvPr/>
              </p:nvSpPr>
              <p:spPr bwMode="auto">
                <a:xfrm>
                  <a:off x="3623852" y="3846805"/>
                  <a:ext cx="912656" cy="200055"/>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300" i="1" dirty="0" smtClean="0">
                                <a:solidFill>
                                  <a:schemeClr val="tx1"/>
                                </a:solidFill>
                                <a:latin typeface="Cambria Math" panose="02040503050406030204" pitchFamily="18" charset="0"/>
                              </a:rPr>
                            </m:ctrlPr>
                          </m:sSubPr>
                          <m:e>
                            <m:r>
                              <a:rPr lang="en-US" altLang="ko-KR" sz="1300" i="1" dirty="0" smtClean="0">
                                <a:solidFill>
                                  <a:schemeClr val="tx1"/>
                                </a:solidFill>
                                <a:latin typeface="Cambria Math" panose="02040503050406030204" pitchFamily="18" charset="0"/>
                              </a:rPr>
                              <m:t>𝑅</m:t>
                            </m:r>
                          </m:e>
                          <m:sub>
                            <m:r>
                              <a:rPr lang="en-US" altLang="ko-KR" sz="1300" i="1" dirty="0" smtClean="0">
                                <a:solidFill>
                                  <a:schemeClr val="tx1"/>
                                </a:solidFill>
                                <a:latin typeface="Cambria Math" panose="02040503050406030204" pitchFamily="18" charset="0"/>
                              </a:rPr>
                              <m:t>2</m:t>
                            </m:r>
                          </m:sub>
                        </m:sSub>
                        <m:r>
                          <a:rPr lang="en-US" altLang="ko-KR" sz="1300" i="1" dirty="0" smtClean="0">
                            <a:solidFill>
                              <a:schemeClr val="tx1"/>
                            </a:solidFill>
                            <a:latin typeface="Cambria Math" panose="02040503050406030204" pitchFamily="18" charset="0"/>
                          </a:rPr>
                          <m:t>=40</m:t>
                        </m:r>
                        <m:d>
                          <m:dPr>
                            <m:begChr m:val="["/>
                            <m:endChr m:val="]"/>
                            <m:ctrlPr>
                              <a:rPr lang="en-US" altLang="ko-KR" sz="1300" i="1" dirty="0" smtClean="0">
                                <a:solidFill>
                                  <a:schemeClr val="tx1"/>
                                </a:solidFill>
                                <a:latin typeface="Cambria Math" panose="02040503050406030204" pitchFamily="18" charset="0"/>
                              </a:rPr>
                            </m:ctrlPr>
                          </m:dPr>
                          <m:e>
                            <m:r>
                              <a:rPr lang="en-US" altLang="ko-KR" sz="1300" i="1" dirty="0" smtClean="0">
                                <a:solidFill>
                                  <a:schemeClr val="tx1"/>
                                </a:solidFill>
                                <a:latin typeface="Cambria Math" panose="02040503050406030204" pitchFamily="18" charset="0"/>
                              </a:rPr>
                              <m:t>𝛺</m:t>
                            </m:r>
                          </m:e>
                        </m:d>
                      </m:oMath>
                    </m:oMathPara>
                  </a14:m>
                  <a:endParaRPr lang="en-US" altLang="ko-KR" sz="1300" i="1" dirty="0">
                    <a:solidFill>
                      <a:schemeClr val="tx1"/>
                    </a:solidFill>
                    <a:latin typeface="SamsungOne-400" panose="020B0503030303020204" pitchFamily="34" charset="0"/>
                    <a:ea typeface="SamsungOne-400" panose="020B0503030303020204" pitchFamily="34" charset="0"/>
                  </a:endParaRPr>
                </a:p>
              </p:txBody>
            </p:sp>
          </mc:Choice>
          <mc:Fallback xmlns="">
            <p:sp>
              <p:nvSpPr>
                <p:cNvPr id="16" name="Text Box 120">
                  <a:extLst>
                    <a:ext uri="{FF2B5EF4-FFF2-40B4-BE49-F238E27FC236}">
                      <a16:creationId xmlns:a16="http://schemas.microsoft.com/office/drawing/2014/main" xmlns:a14="http://schemas.microsoft.com/office/drawing/2010/main" xmlns="" id="{C6251C7C-9FBE-4763-A0F1-6B262E6B2884}"/>
                    </a:ext>
                  </a:extLst>
                </p:cNvPr>
                <p:cNvSpPr txBox="1">
                  <a:spLocks noRot="1" noChangeAspect="1" noMove="1" noResize="1" noEditPoints="1" noAdjustHandles="1" noChangeArrowheads="1" noChangeShapeType="1" noTextEdit="1"/>
                </p:cNvSpPr>
                <p:nvPr/>
              </p:nvSpPr>
              <p:spPr bwMode="auto">
                <a:xfrm>
                  <a:off x="3623852" y="3846805"/>
                  <a:ext cx="912656" cy="200055"/>
                </a:xfrm>
                <a:prstGeom prst="rect">
                  <a:avLst/>
                </a:prstGeom>
                <a:blipFill rotWithShape="0">
                  <a:blip r:embed="rId12"/>
                  <a:stretch>
                    <a:fillRect b="-303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Object 825">
                  <a:extLst>
                    <a:ext uri="{FF2B5EF4-FFF2-40B4-BE49-F238E27FC236}">
                      <a16:creationId xmlns:a16="http://schemas.microsoft.com/office/drawing/2014/main" id="{0DEBE2F3-1B87-4B11-86F0-FCD8A60A46AC}"/>
                    </a:ext>
                  </a:extLst>
                </p:cNvPr>
                <p:cNvSpPr txBox="1"/>
                <p:nvPr/>
              </p:nvSpPr>
              <p:spPr bwMode="auto">
                <a:xfrm>
                  <a:off x="7239971" y="4705350"/>
                  <a:ext cx="1006062" cy="35856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ko-KR" altLang="en-US" sz="1400" i="1">
                            <a:solidFill>
                              <a:srgbClr val="000000"/>
                            </a:solidFill>
                            <a:latin typeface="Cambria Math" panose="02040503050406030204" pitchFamily="18" charset="0"/>
                          </a:rPr>
                          <m:t>𝑅</m:t>
                        </m:r>
                        <m:r>
                          <a:rPr lang="ko-KR" altLang="en-US" sz="1400" i="1">
                            <a:solidFill>
                              <a:srgbClr val="000000"/>
                            </a:solidFill>
                            <a:latin typeface="Cambria Math" panose="02040503050406030204" pitchFamily="18" charset="0"/>
                          </a:rPr>
                          <m:t>=8[</m:t>
                        </m:r>
                        <m:r>
                          <m:rPr>
                            <m:sty m:val="p"/>
                          </m:rPr>
                          <a:rPr lang="ko-KR" altLang="en-US" sz="1400" i="1">
                            <a:solidFill>
                              <a:srgbClr val="000000"/>
                            </a:solidFill>
                            <a:latin typeface="Cambria Math" panose="02040503050406030204" pitchFamily="18" charset="0"/>
                          </a:rPr>
                          <m:t>Ω</m:t>
                        </m:r>
                        <m:r>
                          <a:rPr lang="ko-KR" altLang="en-US" sz="1400" i="1">
                            <a:solidFill>
                              <a:srgbClr val="000000"/>
                            </a:solidFill>
                            <a:latin typeface="Cambria Math" panose="02040503050406030204" pitchFamily="18" charset="0"/>
                          </a:rPr>
                          <m:t>]</m:t>
                        </m:r>
                      </m:oMath>
                    </m:oMathPara>
                  </a14:m>
                  <a:endParaRPr lang="ko-KR" altLang="en-US" sz="1400" dirty="0">
                    <a:latin typeface="SamsungOne-400" panose="020B0503030303020204" pitchFamily="34" charset="0"/>
                  </a:endParaRPr>
                </a:p>
              </p:txBody>
            </p:sp>
          </mc:Choice>
          <mc:Fallback xmlns="">
            <p:sp>
              <p:nvSpPr>
                <p:cNvPr id="17" name="Object 825">
                  <a:extLst>
                    <a:ext uri="{FF2B5EF4-FFF2-40B4-BE49-F238E27FC236}">
                      <a16:creationId xmlns:a16="http://schemas.microsoft.com/office/drawing/2014/main" xmlns:a14="http://schemas.microsoft.com/office/drawing/2010/main" xmlns="" id="{0DEBE2F3-1B87-4B11-86F0-FCD8A60A46AC}"/>
                    </a:ext>
                  </a:extLst>
                </p:cNvPr>
                <p:cNvSpPr txBox="1">
                  <a:spLocks noRot="1" noChangeAspect="1" noMove="1" noResize="1" noEditPoints="1" noAdjustHandles="1" noChangeArrowheads="1" noChangeShapeType="1" noTextEdit="1"/>
                </p:cNvSpPr>
                <p:nvPr/>
              </p:nvSpPr>
              <p:spPr bwMode="auto">
                <a:xfrm>
                  <a:off x="7239971" y="4705350"/>
                  <a:ext cx="1006062" cy="358561"/>
                </a:xfrm>
                <a:prstGeom prst="rect">
                  <a:avLst/>
                </a:prstGeom>
                <a:blipFill rotWithShape="0">
                  <a:blip r:embed="rId1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Object 122">
                  <a:extLst>
                    <a:ext uri="{FF2B5EF4-FFF2-40B4-BE49-F238E27FC236}">
                      <a16:creationId xmlns:a16="http://schemas.microsoft.com/office/drawing/2014/main" id="{705D0524-F468-44CB-B59F-DEAE21D97893}"/>
                    </a:ext>
                  </a:extLst>
                </p:cNvPr>
                <p:cNvSpPr txBox="1"/>
                <p:nvPr/>
              </p:nvSpPr>
              <p:spPr bwMode="auto">
                <a:xfrm>
                  <a:off x="5592246" y="3222791"/>
                  <a:ext cx="1934312" cy="533351"/>
                </a:xfrm>
                <a:prstGeom prst="rect">
                  <a:avLst/>
                </a:prstGeom>
                <a:solidFill>
                  <a:srgbClr val="F2F2F2"/>
                </a:solidFill>
              </p:spPr>
              <p:txBody>
                <a:bodyPr wrap="none" lIns="0" rIns="0" rtlCol="0">
                  <a:spAutoFit/>
                  <a:scene3d>
                    <a:camera prst="orthographicFront"/>
                    <a:lightRig rig="threePt" dir="t"/>
                  </a:scene3d>
                  <a:sp3d>
                    <a:bevelT w="0" h="6350"/>
                    <a:bevelB w="0" h="0"/>
                  </a:sp3d>
                </a:bodyPr>
                <a:lstStyle>
                  <a:defPPr>
                    <a:defRPr lang="en-US"/>
                  </a:defPPr>
                  <a:lvl1pPr lvl="0">
                    <a:defRPr sz="1400" i="1">
                      <a:solidFill>
                        <a:srgbClr val="000000"/>
                      </a:solidFill>
                      <a:latin typeface="Cambria Math" panose="02040503050406030204" pitchFamily="18" charset="0"/>
                      <a:ea typeface="SamsungOne-400" panose="020B0503030303020204" pitchFamily="34" charset="0"/>
                    </a:defRPr>
                  </a:lvl1pPr>
                </a:lstStyle>
                <a:p>
                  <a:pPr/>
                  <a14:m>
                    <m:oMathPara xmlns:m="http://schemas.openxmlformats.org/officeDocument/2006/math">
                      <m:oMathParaPr>
                        <m:jc m:val="centerGroup"/>
                      </m:oMathParaPr>
                      <m:oMath xmlns:m="http://schemas.openxmlformats.org/officeDocument/2006/math">
                        <m:f>
                          <m:fPr>
                            <m:ctrlPr>
                              <a:rPr lang="ko-KR" altLang="en-US" i="1">
                                <a:latin typeface="Cambria Math" panose="02040503050406030204" pitchFamily="18" charset="0"/>
                              </a:rPr>
                            </m:ctrlPr>
                          </m:fPr>
                          <m:num>
                            <m:r>
                              <a:rPr lang="ko-KR" altLang="en-US">
                                <a:latin typeface="Cambria Math" panose="02040503050406030204" pitchFamily="18" charset="0"/>
                              </a:rPr>
                              <m:t>1</m:t>
                            </m:r>
                          </m:num>
                          <m:den>
                            <m:r>
                              <a:rPr lang="ko-KR" altLang="en-US">
                                <a:latin typeface="Cambria Math" panose="02040503050406030204" pitchFamily="18" charset="0"/>
                              </a:rPr>
                              <m:t>𝑅</m:t>
                            </m:r>
                          </m:den>
                        </m:f>
                        <m:r>
                          <a:rPr lang="ko-KR" altLang="en-US">
                            <a:latin typeface="Cambria Math" panose="02040503050406030204" pitchFamily="18" charset="0"/>
                          </a:rPr>
                          <m:t>=</m:t>
                        </m:r>
                        <m:f>
                          <m:fPr>
                            <m:ctrlPr>
                              <a:rPr lang="ko-KR" altLang="en-US" i="1">
                                <a:latin typeface="Cambria Math" panose="02040503050406030204" pitchFamily="18" charset="0"/>
                              </a:rPr>
                            </m:ctrlPr>
                          </m:fPr>
                          <m:num>
                            <m:r>
                              <a:rPr lang="ko-KR" altLang="en-US">
                                <a:latin typeface="Cambria Math" panose="02040503050406030204" pitchFamily="18" charset="0"/>
                              </a:rPr>
                              <m:t>1</m:t>
                            </m:r>
                          </m:num>
                          <m:den>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1</m:t>
                                </m:r>
                              </m:sub>
                            </m:sSub>
                          </m:den>
                        </m:f>
                        <m:r>
                          <a:rPr lang="ko-KR" altLang="en-US">
                            <a:latin typeface="Cambria Math" panose="02040503050406030204" pitchFamily="18" charset="0"/>
                          </a:rPr>
                          <m:t>+</m:t>
                        </m:r>
                        <m:f>
                          <m:fPr>
                            <m:ctrlPr>
                              <a:rPr lang="ko-KR" altLang="en-US" i="1">
                                <a:latin typeface="Cambria Math" panose="02040503050406030204" pitchFamily="18" charset="0"/>
                              </a:rPr>
                            </m:ctrlPr>
                          </m:fPr>
                          <m:num>
                            <m:r>
                              <a:rPr lang="ko-KR" altLang="en-US">
                                <a:latin typeface="Cambria Math" panose="02040503050406030204" pitchFamily="18" charset="0"/>
                              </a:rPr>
                              <m:t>1</m:t>
                            </m:r>
                          </m:num>
                          <m:den>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2</m:t>
                                </m:r>
                              </m:sub>
                            </m:sSub>
                          </m:den>
                        </m:f>
                        <m:r>
                          <a:rPr lang="ko-KR" altLang="en-US">
                            <a:latin typeface="Cambria Math" panose="02040503050406030204" pitchFamily="18" charset="0"/>
                          </a:rPr>
                          <m:t>+</m:t>
                        </m:r>
                        <m:f>
                          <m:fPr>
                            <m:ctrlPr>
                              <a:rPr lang="ko-KR" altLang="en-US" i="1">
                                <a:latin typeface="Cambria Math" panose="02040503050406030204" pitchFamily="18" charset="0"/>
                              </a:rPr>
                            </m:ctrlPr>
                          </m:fPr>
                          <m:num>
                            <m:r>
                              <a:rPr lang="ko-KR" altLang="en-US">
                                <a:latin typeface="Cambria Math" panose="02040503050406030204" pitchFamily="18" charset="0"/>
                              </a:rPr>
                              <m:t>1</m:t>
                            </m:r>
                          </m:num>
                          <m:den>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3</m:t>
                                </m:r>
                              </m:sub>
                            </m:sSub>
                          </m:den>
                        </m:f>
                        <m:r>
                          <a:rPr lang="ko-KR" altLang="en-US">
                            <a:latin typeface="Cambria Math" panose="02040503050406030204" pitchFamily="18" charset="0"/>
                          </a:rPr>
                          <m:t>+......</m:t>
                        </m:r>
                      </m:oMath>
                    </m:oMathPara>
                  </a14:m>
                  <a:endParaRPr lang="ko-KR" altLang="en-US" dirty="0"/>
                </a:p>
              </p:txBody>
            </p:sp>
          </mc:Choice>
          <mc:Fallback xmlns="">
            <p:sp>
              <p:nvSpPr>
                <p:cNvPr id="18" name="Object 122">
                  <a:extLst>
                    <a:ext uri="{FF2B5EF4-FFF2-40B4-BE49-F238E27FC236}">
                      <a16:creationId xmlns:a16="http://schemas.microsoft.com/office/drawing/2014/main" xmlns:a14="http://schemas.microsoft.com/office/drawing/2010/main" xmlns="" id="{705D0524-F468-44CB-B59F-DEAE21D97893}"/>
                    </a:ext>
                  </a:extLst>
                </p:cNvPr>
                <p:cNvSpPr txBox="1">
                  <a:spLocks noRot="1" noChangeAspect="1" noMove="1" noResize="1" noEditPoints="1" noAdjustHandles="1" noChangeArrowheads="1" noChangeShapeType="1" noTextEdit="1"/>
                </p:cNvSpPr>
                <p:nvPr/>
              </p:nvSpPr>
              <p:spPr bwMode="auto">
                <a:xfrm>
                  <a:off x="5592246" y="3222791"/>
                  <a:ext cx="1934312" cy="533351"/>
                </a:xfrm>
                <a:prstGeom prst="rect">
                  <a:avLst/>
                </a:prstGeom>
                <a:blipFill rotWithShape="0">
                  <a:blip r:embed="rId1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Object 122">
                  <a:extLst>
                    <a:ext uri="{FF2B5EF4-FFF2-40B4-BE49-F238E27FC236}">
                      <a16:creationId xmlns:a16="http://schemas.microsoft.com/office/drawing/2014/main" id="{1C6640B0-CC8E-4271-8558-876DA9982935}"/>
                    </a:ext>
                  </a:extLst>
                </p:cNvPr>
                <p:cNvSpPr txBox="1"/>
                <p:nvPr/>
              </p:nvSpPr>
              <p:spPr bwMode="auto">
                <a:xfrm>
                  <a:off x="7270919" y="4029038"/>
                  <a:ext cx="1339341" cy="497059"/>
                </a:xfrm>
                <a:prstGeom prst="rect">
                  <a:avLst/>
                </a:prstGeom>
                <a:solidFill>
                  <a:srgbClr val="F2F2F2"/>
                </a:solidFill>
              </p:spPr>
              <p:txBody>
                <a:bodyPr wrap="none" lIns="0" rIns="0" rtlCol="0">
                  <a:spAutoFit/>
                  <a:scene3d>
                    <a:camera prst="orthographicFront"/>
                    <a:lightRig rig="threePt" dir="t"/>
                  </a:scene3d>
                  <a:sp3d>
                    <a:bevelT w="0" h="6350"/>
                    <a:bevelB w="0" h="0"/>
                  </a:sp3d>
                </a:bodyPr>
                <a:lstStyle>
                  <a:defPPr>
                    <a:defRPr lang="en-US"/>
                  </a:defPPr>
                  <a:lvl1pPr lvl="0">
                    <a:defRPr sz="1400" i="1">
                      <a:solidFill>
                        <a:srgbClr val="000000"/>
                      </a:solidFill>
                      <a:latin typeface="Cambria Math" panose="02040503050406030204" pitchFamily="18" charset="0"/>
                      <a:ea typeface="SamsungOne-400" panose="020B0503030303020204" pitchFamily="34" charset="0"/>
                    </a:defRPr>
                  </a:lvl1pPr>
                </a:lstStyle>
                <a:p>
                  <a:pPr/>
                  <a14:m>
                    <m:oMathPara xmlns:m="http://schemas.openxmlformats.org/officeDocument/2006/math">
                      <m:oMathParaPr>
                        <m:jc m:val="centerGroup"/>
                      </m:oMathParaPr>
                      <m:oMath xmlns:m="http://schemas.openxmlformats.org/officeDocument/2006/math">
                        <m:f>
                          <m:fPr>
                            <m:ctrlPr>
                              <a:rPr lang="ko-KR" altLang="en-US" i="1">
                                <a:latin typeface="Cambria Math" panose="02040503050406030204" pitchFamily="18" charset="0"/>
                              </a:rPr>
                            </m:ctrlPr>
                          </m:fPr>
                          <m:num>
                            <m:r>
                              <a:rPr lang="ko-KR" altLang="en-US">
                                <a:latin typeface="Cambria Math" panose="02040503050406030204" pitchFamily="18" charset="0"/>
                              </a:rPr>
                              <m:t>1</m:t>
                            </m:r>
                          </m:num>
                          <m:den>
                            <m:r>
                              <a:rPr lang="ko-KR" altLang="en-US">
                                <a:latin typeface="Cambria Math" panose="02040503050406030204" pitchFamily="18" charset="0"/>
                              </a:rPr>
                              <m:t>𝑅</m:t>
                            </m:r>
                          </m:den>
                        </m:f>
                        <m:r>
                          <a:rPr lang="ko-KR" altLang="en-US">
                            <a:latin typeface="Cambria Math" panose="02040503050406030204" pitchFamily="18" charset="0"/>
                          </a:rPr>
                          <m:t>=</m:t>
                        </m:r>
                        <m:f>
                          <m:fPr>
                            <m:ctrlPr>
                              <a:rPr lang="ko-KR" altLang="en-US" i="1">
                                <a:latin typeface="Cambria Math" panose="02040503050406030204" pitchFamily="18" charset="0"/>
                              </a:rPr>
                            </m:ctrlPr>
                          </m:fPr>
                          <m:num>
                            <m:r>
                              <a:rPr lang="ko-KR" altLang="en-US">
                                <a:latin typeface="Cambria Math" panose="02040503050406030204" pitchFamily="18" charset="0"/>
                              </a:rPr>
                              <m:t>1</m:t>
                            </m:r>
                          </m:num>
                          <m:den>
                            <m:r>
                              <a:rPr lang="ko-KR" altLang="en-US">
                                <a:latin typeface="Cambria Math" panose="02040503050406030204" pitchFamily="18" charset="0"/>
                              </a:rPr>
                              <m:t>10</m:t>
                            </m:r>
                          </m:den>
                        </m:f>
                        <m:r>
                          <a:rPr lang="ko-KR" altLang="en-US">
                            <a:latin typeface="Cambria Math" panose="02040503050406030204" pitchFamily="18" charset="0"/>
                          </a:rPr>
                          <m:t>+</m:t>
                        </m:r>
                        <m:f>
                          <m:fPr>
                            <m:ctrlPr>
                              <a:rPr lang="ko-KR" altLang="en-US" i="1">
                                <a:latin typeface="Cambria Math" panose="02040503050406030204" pitchFamily="18" charset="0"/>
                              </a:rPr>
                            </m:ctrlPr>
                          </m:fPr>
                          <m:num>
                            <m:r>
                              <a:rPr lang="ko-KR" altLang="en-US">
                                <a:latin typeface="Cambria Math" panose="02040503050406030204" pitchFamily="18" charset="0"/>
                              </a:rPr>
                              <m:t>1</m:t>
                            </m:r>
                          </m:num>
                          <m:den>
                            <m:r>
                              <a:rPr lang="ko-KR" altLang="en-US">
                                <a:latin typeface="Cambria Math" panose="02040503050406030204" pitchFamily="18" charset="0"/>
                              </a:rPr>
                              <m:t>40</m:t>
                            </m:r>
                          </m:den>
                        </m:f>
                        <m:r>
                          <a:rPr lang="ko-KR" altLang="en-US">
                            <a:latin typeface="Cambria Math" panose="02040503050406030204" pitchFamily="18" charset="0"/>
                          </a:rPr>
                          <m:t>=</m:t>
                        </m:r>
                        <m:f>
                          <m:fPr>
                            <m:ctrlPr>
                              <a:rPr lang="ko-KR" altLang="en-US" i="1">
                                <a:latin typeface="Cambria Math" panose="02040503050406030204" pitchFamily="18" charset="0"/>
                              </a:rPr>
                            </m:ctrlPr>
                          </m:fPr>
                          <m:num>
                            <m:r>
                              <a:rPr lang="ko-KR" altLang="en-US">
                                <a:latin typeface="Cambria Math" panose="02040503050406030204" pitchFamily="18" charset="0"/>
                              </a:rPr>
                              <m:t>1</m:t>
                            </m:r>
                          </m:num>
                          <m:den>
                            <m:r>
                              <a:rPr lang="ko-KR" altLang="en-US">
                                <a:latin typeface="Cambria Math" panose="02040503050406030204" pitchFamily="18" charset="0"/>
                              </a:rPr>
                              <m:t>8</m:t>
                            </m:r>
                          </m:den>
                        </m:f>
                      </m:oMath>
                    </m:oMathPara>
                  </a14:m>
                  <a:endParaRPr lang="ko-KR" altLang="en-US" dirty="0"/>
                </a:p>
              </p:txBody>
            </p:sp>
          </mc:Choice>
          <mc:Fallback xmlns="">
            <p:sp>
              <p:nvSpPr>
                <p:cNvPr id="19" name="Object 122">
                  <a:extLst>
                    <a:ext uri="{FF2B5EF4-FFF2-40B4-BE49-F238E27FC236}">
                      <a16:creationId xmlns:a16="http://schemas.microsoft.com/office/drawing/2014/main" xmlns:a14="http://schemas.microsoft.com/office/drawing/2010/main" xmlns="" id="{1C6640B0-CC8E-4271-8558-876DA9982935}"/>
                    </a:ext>
                  </a:extLst>
                </p:cNvPr>
                <p:cNvSpPr txBox="1">
                  <a:spLocks noRot="1" noChangeAspect="1" noMove="1" noResize="1" noEditPoints="1" noAdjustHandles="1" noChangeArrowheads="1" noChangeShapeType="1" noTextEdit="1"/>
                </p:cNvSpPr>
                <p:nvPr/>
              </p:nvSpPr>
              <p:spPr bwMode="auto">
                <a:xfrm>
                  <a:off x="7270919" y="4029038"/>
                  <a:ext cx="1339341" cy="497059"/>
                </a:xfrm>
                <a:prstGeom prst="rect">
                  <a:avLst/>
                </a:prstGeom>
                <a:blipFill rotWithShape="0">
                  <a:blip r:embed="rId15"/>
                  <a:stretch>
                    <a:fillRect/>
                  </a:stretch>
                </a:blipFill>
              </p:spPr>
              <p:txBody>
                <a:bodyPr/>
                <a:lstStyle/>
                <a:p>
                  <a:r>
                    <a:rPr lang="ko-KR" altLang="en-US">
                      <a:noFill/>
                    </a:rPr>
                    <a:t> </a:t>
                  </a:r>
                </a:p>
              </p:txBody>
            </p:sp>
          </mc:Fallback>
        </mc:AlternateContent>
        <p:sp>
          <p:nvSpPr>
            <p:cNvPr id="20" name="Text Box 121">
              <a:extLst>
                <a:ext uri="{FF2B5EF4-FFF2-40B4-BE49-F238E27FC236}">
                  <a16:creationId xmlns:a16="http://schemas.microsoft.com/office/drawing/2014/main" id="{98B6F263-BE23-4121-9512-E245F7EB2E01}"/>
                </a:ext>
              </a:extLst>
            </p:cNvPr>
            <p:cNvSpPr txBox="1">
              <a:spLocks noChangeArrowheads="1"/>
            </p:cNvSpPr>
            <p:nvPr/>
          </p:nvSpPr>
          <p:spPr bwMode="auto">
            <a:xfrm>
              <a:off x="5535101" y="2892151"/>
              <a:ext cx="1859805" cy="292388"/>
            </a:xfrm>
            <a:prstGeom prst="rect">
              <a:avLst/>
            </a:prstGeom>
            <a:solidFill>
              <a:schemeClr val="bg1"/>
            </a:solidFill>
          </p:spPr>
          <p:txBody>
            <a:bodyPr wrap="square" lIns="0" r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r>
                <a:rPr lang="en-US" altLang="ko-KR" sz="1300" b="1" dirty="0">
                  <a:latin typeface="SamsungOne-400" panose="020B0503030303020204" pitchFamily="34" charset="0"/>
                  <a:ea typeface="SamsungOne-400" panose="020B0503030303020204" pitchFamily="34" charset="0"/>
                </a:rPr>
                <a:t>Mắc song song</a:t>
              </a:r>
            </a:p>
          </p:txBody>
        </p:sp>
        <p:grpSp>
          <p:nvGrpSpPr>
            <p:cNvPr id="21" name="Group 7">
              <a:extLst>
                <a:ext uri="{FF2B5EF4-FFF2-40B4-BE49-F238E27FC236}">
                  <a16:creationId xmlns:a16="http://schemas.microsoft.com/office/drawing/2014/main" id="{EA42EA0A-F6EA-B242-A4B1-F6B8A12736EB}"/>
                </a:ext>
              </a:extLst>
            </p:cNvPr>
            <p:cNvGrpSpPr/>
            <p:nvPr/>
          </p:nvGrpSpPr>
          <p:grpSpPr>
            <a:xfrm>
              <a:off x="5823916" y="3907888"/>
              <a:ext cx="912656" cy="1212859"/>
              <a:chOff x="6071889" y="3582424"/>
              <a:chExt cx="912656" cy="1212859"/>
            </a:xfrm>
          </p:grpSpPr>
          <p:sp>
            <p:nvSpPr>
              <p:cNvPr id="23" name="Text Box 120">
                <a:extLst>
                  <a:ext uri="{FF2B5EF4-FFF2-40B4-BE49-F238E27FC236}">
                    <a16:creationId xmlns:a16="http://schemas.microsoft.com/office/drawing/2014/main" id="{0734C603-B6DB-42DF-95EC-D59758C05564}"/>
                  </a:ext>
                </a:extLst>
              </p:cNvPr>
              <p:cNvSpPr txBox="1">
                <a:spLocks noChangeArrowheads="1"/>
              </p:cNvSpPr>
              <p:nvPr/>
            </p:nvSpPr>
            <p:spPr bwMode="auto">
              <a:xfrm>
                <a:off x="6382682" y="4595228"/>
                <a:ext cx="291448" cy="200055"/>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endParaRPr lang="en-US" altLang="ko-KR" sz="1300" i="1" dirty="0">
                  <a:latin typeface="SamsungOne-400" panose="020B0503030303020204" pitchFamily="34" charset="0"/>
                  <a:ea typeface="SamsungOne-400" panose="020B0503030303020204" pitchFamily="34" charset="0"/>
                </a:endParaRPr>
              </a:p>
            </p:txBody>
          </p:sp>
          <mc:AlternateContent xmlns:mc="http://schemas.openxmlformats.org/markup-compatibility/2006" xmlns:a14="http://schemas.microsoft.com/office/drawing/2010/main">
            <mc:Choice Requires="a14">
              <p:sp>
                <p:nvSpPr>
                  <p:cNvPr id="24" name="Text Box 120">
                    <a:extLst>
                      <a:ext uri="{FF2B5EF4-FFF2-40B4-BE49-F238E27FC236}">
                        <a16:creationId xmlns:a16="http://schemas.microsoft.com/office/drawing/2014/main" id="{519D209A-637F-413E-AFEC-B2FA5F8B65AB}"/>
                      </a:ext>
                    </a:extLst>
                  </p:cNvPr>
                  <p:cNvSpPr txBox="1">
                    <a:spLocks noChangeArrowheads="1"/>
                  </p:cNvSpPr>
                  <p:nvPr/>
                </p:nvSpPr>
                <p:spPr bwMode="auto">
                  <a:xfrm>
                    <a:off x="6071889" y="3582424"/>
                    <a:ext cx="912656" cy="200055"/>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
                        </m:oMathParaPr>
                        <m:oMath xmlns:m="http://schemas.openxmlformats.org/officeDocument/2006/math">
                          <m:sSub>
                            <m:sSubPr>
                              <m:ctrlPr>
                                <a:rPr lang="en-US" altLang="ko-KR" sz="1300" i="1" dirty="0" smtClean="0">
                                  <a:solidFill>
                                    <a:schemeClr val="tx1"/>
                                  </a:solidFill>
                                  <a:latin typeface="Cambria Math" panose="02040503050406030204" pitchFamily="18" charset="0"/>
                                </a:rPr>
                              </m:ctrlPr>
                            </m:sSubPr>
                            <m:e>
                              <m:r>
                                <a:rPr lang="en-US" altLang="ko-KR" sz="1300" i="1" dirty="0" smtClean="0">
                                  <a:solidFill>
                                    <a:schemeClr val="tx1"/>
                                  </a:solidFill>
                                  <a:latin typeface="Cambria Math" panose="02040503050406030204" pitchFamily="18" charset="0"/>
                                </a:rPr>
                                <m:t>𝑅</m:t>
                              </m:r>
                            </m:e>
                            <m:sub>
                              <m:r>
                                <a:rPr lang="en-US" altLang="ko-KR" sz="1300" i="1" dirty="0" smtClean="0">
                                  <a:solidFill>
                                    <a:schemeClr val="tx1"/>
                                  </a:solidFill>
                                  <a:latin typeface="Cambria Math" panose="02040503050406030204" pitchFamily="18" charset="0"/>
                                </a:rPr>
                                <m:t>1</m:t>
                              </m:r>
                            </m:sub>
                          </m:sSub>
                          <m:r>
                            <a:rPr lang="en-US" altLang="ko-KR" sz="1300" i="1" dirty="0" smtClean="0">
                              <a:solidFill>
                                <a:schemeClr val="tx1"/>
                              </a:solidFill>
                              <a:latin typeface="Cambria Math" panose="02040503050406030204" pitchFamily="18" charset="0"/>
                            </a:rPr>
                            <m:t>=10</m:t>
                          </m:r>
                          <m:d>
                            <m:dPr>
                              <m:begChr m:val="["/>
                              <m:endChr m:val="]"/>
                              <m:ctrlPr>
                                <a:rPr lang="en-US" altLang="ko-KR" sz="1300" i="1" dirty="0" smtClean="0">
                                  <a:solidFill>
                                    <a:schemeClr val="tx1"/>
                                  </a:solidFill>
                                  <a:latin typeface="Cambria Math" panose="02040503050406030204" pitchFamily="18" charset="0"/>
                                </a:rPr>
                              </m:ctrlPr>
                            </m:dPr>
                            <m:e>
                              <m:r>
                                <a:rPr lang="en-US" altLang="ko-KR" sz="1300" i="1" dirty="0" smtClean="0">
                                  <a:solidFill>
                                    <a:schemeClr val="tx1"/>
                                  </a:solidFill>
                                  <a:latin typeface="Cambria Math" panose="02040503050406030204" pitchFamily="18" charset="0"/>
                                </a:rPr>
                                <m:t>𝛺</m:t>
                              </m:r>
                            </m:e>
                          </m:d>
                        </m:oMath>
                      </m:oMathPara>
                    </a14:m>
                    <a:endParaRPr lang="en-US" altLang="ko-KR" sz="1300" i="1" dirty="0">
                      <a:solidFill>
                        <a:schemeClr val="tx1"/>
                      </a:solidFill>
                      <a:latin typeface="SamsungOne-400" panose="020B0503030303020204" pitchFamily="34" charset="0"/>
                      <a:ea typeface="SamsungOne-400" panose="020B0503030303020204" pitchFamily="34" charset="0"/>
                    </a:endParaRPr>
                  </a:p>
                </p:txBody>
              </p:sp>
            </mc:Choice>
            <mc:Fallback xmlns="">
              <p:sp>
                <p:nvSpPr>
                  <p:cNvPr id="57" name="Text Box 120">
                    <a:extLst>
                      <a:ext uri="{FF2B5EF4-FFF2-40B4-BE49-F238E27FC236}">
                        <a16:creationId xmlns:a16="http://schemas.microsoft.com/office/drawing/2014/main" id="{519D209A-637F-413E-AFEC-B2FA5F8B65AB}"/>
                      </a:ext>
                    </a:extLst>
                  </p:cNvPr>
                  <p:cNvSpPr txBox="1">
                    <a:spLocks noRot="1" noChangeAspect="1" noMove="1" noResize="1" noEditPoints="1" noAdjustHandles="1" noChangeArrowheads="1" noChangeShapeType="1" noTextEdit="1"/>
                  </p:cNvSpPr>
                  <p:nvPr/>
                </p:nvSpPr>
                <p:spPr bwMode="auto">
                  <a:xfrm>
                    <a:off x="6071889" y="3582424"/>
                    <a:ext cx="912656" cy="200055"/>
                  </a:xfrm>
                  <a:prstGeom prst="rect">
                    <a:avLst/>
                  </a:prstGeom>
                  <a:blipFill>
                    <a:blip r:embed="rId20"/>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5" name="Text Box 120">
                    <a:extLst>
                      <a:ext uri="{FF2B5EF4-FFF2-40B4-BE49-F238E27FC236}">
                        <a16:creationId xmlns:a16="http://schemas.microsoft.com/office/drawing/2014/main" id="{C5EB2410-FBBD-4986-9CF7-525A360E86B0}"/>
                      </a:ext>
                    </a:extLst>
                  </p:cNvPr>
                  <p:cNvSpPr txBox="1">
                    <a:spLocks noChangeArrowheads="1"/>
                  </p:cNvSpPr>
                  <p:nvPr/>
                </p:nvSpPr>
                <p:spPr bwMode="auto">
                  <a:xfrm>
                    <a:off x="6071889" y="4053395"/>
                    <a:ext cx="912656" cy="200055"/>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
                        </m:oMathParaPr>
                        <m:oMath xmlns:m="http://schemas.openxmlformats.org/officeDocument/2006/math">
                          <m:sSub>
                            <m:sSubPr>
                              <m:ctrlPr>
                                <a:rPr lang="en-US" altLang="ko-KR" sz="1300" i="1" dirty="0" smtClean="0">
                                  <a:solidFill>
                                    <a:schemeClr val="tx1"/>
                                  </a:solidFill>
                                  <a:latin typeface="Cambria Math" panose="02040503050406030204" pitchFamily="18" charset="0"/>
                                </a:rPr>
                              </m:ctrlPr>
                            </m:sSubPr>
                            <m:e>
                              <m:r>
                                <a:rPr lang="en-US" altLang="ko-KR" sz="1300" i="1" dirty="0" smtClean="0">
                                  <a:solidFill>
                                    <a:schemeClr val="tx1"/>
                                  </a:solidFill>
                                  <a:latin typeface="Cambria Math" panose="02040503050406030204" pitchFamily="18" charset="0"/>
                                </a:rPr>
                                <m:t>𝑅</m:t>
                              </m:r>
                            </m:e>
                            <m:sub>
                              <m:r>
                                <a:rPr lang="en-US" altLang="ko-KR" sz="1300" i="1" dirty="0" smtClean="0">
                                  <a:solidFill>
                                    <a:schemeClr val="tx1"/>
                                  </a:solidFill>
                                  <a:latin typeface="Cambria Math" panose="02040503050406030204" pitchFamily="18" charset="0"/>
                                </a:rPr>
                                <m:t>2</m:t>
                              </m:r>
                            </m:sub>
                          </m:sSub>
                          <m:r>
                            <a:rPr lang="en-US" altLang="ko-KR" sz="1300" i="1" dirty="0" smtClean="0">
                              <a:solidFill>
                                <a:schemeClr val="tx1"/>
                              </a:solidFill>
                              <a:latin typeface="Cambria Math" panose="02040503050406030204" pitchFamily="18" charset="0"/>
                            </a:rPr>
                            <m:t>=40</m:t>
                          </m:r>
                          <m:d>
                            <m:dPr>
                              <m:begChr m:val="["/>
                              <m:endChr m:val="]"/>
                              <m:ctrlPr>
                                <a:rPr lang="en-US" altLang="ko-KR" sz="1300" i="1" dirty="0" smtClean="0">
                                  <a:solidFill>
                                    <a:schemeClr val="tx1"/>
                                  </a:solidFill>
                                  <a:latin typeface="Cambria Math" panose="02040503050406030204" pitchFamily="18" charset="0"/>
                                </a:rPr>
                              </m:ctrlPr>
                            </m:dPr>
                            <m:e>
                              <m:r>
                                <a:rPr lang="en-US" altLang="ko-KR" sz="1300" i="1" dirty="0" smtClean="0">
                                  <a:solidFill>
                                    <a:schemeClr val="tx1"/>
                                  </a:solidFill>
                                  <a:latin typeface="Cambria Math" panose="02040503050406030204" pitchFamily="18" charset="0"/>
                                </a:rPr>
                                <m:t>𝛺</m:t>
                              </m:r>
                            </m:e>
                          </m:d>
                        </m:oMath>
                      </m:oMathPara>
                    </a14:m>
                    <a:endParaRPr lang="en-US" altLang="ko-KR" sz="1300" i="1" dirty="0">
                      <a:solidFill>
                        <a:schemeClr val="tx1"/>
                      </a:solidFill>
                      <a:latin typeface="SamsungOne-400" panose="020B0503030303020204" pitchFamily="34" charset="0"/>
                      <a:ea typeface="SamsungOne-400" panose="020B0503030303020204" pitchFamily="34" charset="0"/>
                    </a:endParaRPr>
                  </a:p>
                </p:txBody>
              </p:sp>
            </mc:Choice>
            <mc:Fallback xmlns="">
              <p:sp>
                <p:nvSpPr>
                  <p:cNvPr id="58" name="Text Box 120">
                    <a:extLst>
                      <a:ext uri="{FF2B5EF4-FFF2-40B4-BE49-F238E27FC236}">
                        <a16:creationId xmlns:a16="http://schemas.microsoft.com/office/drawing/2014/main" id="{C5EB2410-FBBD-4986-9CF7-525A360E86B0}"/>
                      </a:ext>
                    </a:extLst>
                  </p:cNvPr>
                  <p:cNvSpPr txBox="1">
                    <a:spLocks noRot="1" noChangeAspect="1" noMove="1" noResize="1" noEditPoints="1" noAdjustHandles="1" noChangeArrowheads="1" noChangeShapeType="1" noTextEdit="1"/>
                  </p:cNvSpPr>
                  <p:nvPr/>
                </p:nvSpPr>
                <p:spPr bwMode="auto">
                  <a:xfrm>
                    <a:off x="6071889" y="4053395"/>
                    <a:ext cx="912656" cy="200055"/>
                  </a:xfrm>
                  <a:prstGeom prst="rect">
                    <a:avLst/>
                  </a:prstGeom>
                  <a:blipFill>
                    <a:blip r:embed="rId21"/>
                    <a:stretch>
                      <a:fillRect/>
                    </a:stretch>
                  </a:blipFill>
                </p:spPr>
                <p:txBody>
                  <a:bodyPr/>
                  <a:lstStyle/>
                  <a:p>
                    <a:r>
                      <a:rPr lang="en-KR">
                        <a:noFill/>
                      </a:rPr>
                      <a:t> </a:t>
                    </a:r>
                  </a:p>
                </p:txBody>
              </p:sp>
            </mc:Fallback>
          </mc:AlternateContent>
        </p:grpSp>
        <mc:AlternateContent xmlns:mc="http://schemas.openxmlformats.org/markup-compatibility/2006" xmlns:a14="http://schemas.microsoft.com/office/drawing/2010/main">
          <mc:Choice Requires="a14">
            <p:sp>
              <p:nvSpPr>
                <p:cNvPr id="26" name="Object 122">
                  <a:extLst>
                    <a:ext uri="{FF2B5EF4-FFF2-40B4-BE49-F238E27FC236}">
                      <a16:creationId xmlns:a16="http://schemas.microsoft.com/office/drawing/2014/main" id="{67DCD018-4D38-E448-8426-CF2DE6D58DCE}"/>
                    </a:ext>
                  </a:extLst>
                </p:cNvPr>
                <p:cNvSpPr txBox="1"/>
                <p:nvPr/>
              </p:nvSpPr>
              <p:spPr bwMode="auto">
                <a:xfrm>
                  <a:off x="2405356" y="4810807"/>
                  <a:ext cx="1379032" cy="307777"/>
                </a:xfrm>
                <a:prstGeom prst="rect">
                  <a:avLst/>
                </a:prstGeom>
                <a:solidFill>
                  <a:srgbClr val="F2F2F2"/>
                </a:solidFill>
              </p:spPr>
              <p:txBody>
                <a:bodyPr wrap="none" lIns="0" rIns="0" rtlCol="0">
                  <a:spAutoFit/>
                  <a:scene3d>
                    <a:camera prst="orthographicFront"/>
                    <a:lightRig rig="threePt" dir="t"/>
                  </a:scene3d>
                  <a:sp3d>
                    <a:bevelT w="0" h="6350"/>
                    <a:bevelB w="0" h="0"/>
                  </a:sp3d>
                </a:bodyPr>
                <a:lstStyle>
                  <a:defPPr>
                    <a:defRPr lang="en-US"/>
                  </a:defPPr>
                  <a:lvl1pPr lvl="0">
                    <a:defRPr sz="1400" i="1">
                      <a:solidFill>
                        <a:srgbClr val="000000"/>
                      </a:solidFill>
                      <a:latin typeface="Cambria Math" panose="02040503050406030204" pitchFamily="18" charset="0"/>
                      <a:ea typeface="SamsungOne-400" panose="020B0503030303020204" pitchFamily="34" charset="0"/>
                    </a:defRPr>
                  </a:lvl1pPr>
                </a:lstStyle>
                <a:p>
                  <a14:m>
                    <m:oMath xmlns:m="http://schemas.openxmlformats.org/officeDocument/2006/math">
                      <m:r>
                        <a:rPr lang="ko-KR" altLang="en-US" smtClean="0">
                          <a:latin typeface="Cambria Math" panose="02040503050406030204" pitchFamily="18" charset="0"/>
                        </a:rPr>
                        <m:t>𝑅</m:t>
                      </m:r>
                      <m:r>
                        <a:rPr lang="ko-KR" altLang="en-US" smtClean="0">
                          <a:latin typeface="Cambria Math" panose="02040503050406030204" pitchFamily="18" charset="0"/>
                        </a:rPr>
                        <m:t>=</m:t>
                      </m:r>
                      <m:r>
                        <a:rPr lang="en-US" altLang="ko-KR" b="0" i="1" smtClean="0">
                          <a:latin typeface="Cambria Math" panose="02040503050406030204" pitchFamily="18" charset="0"/>
                        </a:rPr>
                        <m:t>10</m:t>
                      </m:r>
                      <m:r>
                        <a:rPr lang="ko-KR" altLang="en-US">
                          <a:latin typeface="Cambria Math" panose="02040503050406030204" pitchFamily="18" charset="0"/>
                        </a:rPr>
                        <m:t>+</m:t>
                      </m:r>
                      <m:r>
                        <a:rPr lang="en-US" altLang="ko-KR" b="0" i="1" smtClean="0">
                          <a:latin typeface="Cambria Math" panose="02040503050406030204" pitchFamily="18" charset="0"/>
                        </a:rPr>
                        <m:t>40</m:t>
                      </m:r>
                    </m:oMath>
                  </a14:m>
                  <a:r>
                    <a:rPr lang="en-US" altLang="ko-KR" i="0" dirty="0"/>
                    <a:t> = 50</a:t>
                  </a:r>
                  <a:endParaRPr lang="ko-KR" altLang="en-US" i="0" dirty="0"/>
                </a:p>
              </p:txBody>
            </p:sp>
          </mc:Choice>
          <mc:Fallback xmlns="">
            <p:sp>
              <p:nvSpPr>
                <p:cNvPr id="26" name="Object 122">
                  <a:extLst>
                    <a:ext uri="{FF2B5EF4-FFF2-40B4-BE49-F238E27FC236}">
                      <a16:creationId xmlns:a16="http://schemas.microsoft.com/office/drawing/2014/main" xmlns:a14="http://schemas.microsoft.com/office/drawing/2010/main" xmlns="" id="{67DCD018-4D38-E448-8426-CF2DE6D58DCE}"/>
                    </a:ext>
                  </a:extLst>
                </p:cNvPr>
                <p:cNvSpPr txBox="1">
                  <a:spLocks noRot="1" noChangeAspect="1" noMove="1" noResize="1" noEditPoints="1" noAdjustHandles="1" noChangeArrowheads="1" noChangeShapeType="1" noTextEdit="1"/>
                </p:cNvSpPr>
                <p:nvPr/>
              </p:nvSpPr>
              <p:spPr bwMode="auto">
                <a:xfrm>
                  <a:off x="2405356" y="4810807"/>
                  <a:ext cx="1379032" cy="307777"/>
                </a:xfrm>
                <a:prstGeom prst="rect">
                  <a:avLst/>
                </a:prstGeom>
                <a:blipFill rotWithShape="0">
                  <a:blip r:embed="rId22"/>
                  <a:stretch>
                    <a:fillRect l="-88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7" name="Object 825">
                  <a:extLst>
                    <a:ext uri="{FF2B5EF4-FFF2-40B4-BE49-F238E27FC236}">
                      <a16:creationId xmlns:a16="http://schemas.microsoft.com/office/drawing/2014/main" id="{DD1C2473-A15D-1345-850D-E7C066CE3FFB}"/>
                    </a:ext>
                  </a:extLst>
                </p:cNvPr>
                <p:cNvSpPr txBox="1"/>
                <p:nvPr/>
              </p:nvSpPr>
              <p:spPr bwMode="auto">
                <a:xfrm>
                  <a:off x="3843260" y="4795756"/>
                  <a:ext cx="1006062" cy="35856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ko-KR" altLang="en-US" sz="1400" i="1" smtClean="0">
                            <a:solidFill>
                              <a:srgbClr val="000000"/>
                            </a:solidFill>
                            <a:latin typeface="Cambria Math" panose="02040503050406030204" pitchFamily="18" charset="0"/>
                          </a:rPr>
                          <m:t>𝑅</m:t>
                        </m:r>
                        <m:r>
                          <a:rPr lang="ko-KR" altLang="en-US" sz="1400" i="1" smtClean="0">
                            <a:solidFill>
                              <a:srgbClr val="000000"/>
                            </a:solidFill>
                            <a:latin typeface="Cambria Math" panose="02040503050406030204" pitchFamily="18" charset="0"/>
                          </a:rPr>
                          <m:t>=50[</m:t>
                        </m:r>
                        <m:r>
                          <m:rPr>
                            <m:sty m:val="p"/>
                          </m:rPr>
                          <a:rPr lang="ko-KR" altLang="en-US" sz="1400" i="1">
                            <a:solidFill>
                              <a:srgbClr val="000000"/>
                            </a:solidFill>
                            <a:latin typeface="Cambria Math" panose="02040503050406030204" pitchFamily="18" charset="0"/>
                          </a:rPr>
                          <m:t>Ω</m:t>
                        </m:r>
                        <m:r>
                          <a:rPr lang="ko-KR" altLang="en-US" sz="1400" i="1">
                            <a:solidFill>
                              <a:srgbClr val="000000"/>
                            </a:solidFill>
                            <a:latin typeface="Cambria Math" panose="02040503050406030204" pitchFamily="18" charset="0"/>
                          </a:rPr>
                          <m:t>]</m:t>
                        </m:r>
                      </m:oMath>
                    </m:oMathPara>
                  </a14:m>
                  <a:endParaRPr lang="ko-KR" altLang="en-US" sz="1400" dirty="0">
                    <a:latin typeface="SamsungOne-400" panose="020B0503030303020204" pitchFamily="34" charset="0"/>
                  </a:endParaRPr>
                </a:p>
              </p:txBody>
            </p:sp>
          </mc:Choice>
          <mc:Fallback xmlns="">
            <p:sp>
              <p:nvSpPr>
                <p:cNvPr id="27" name="Object 825">
                  <a:extLst>
                    <a:ext uri="{FF2B5EF4-FFF2-40B4-BE49-F238E27FC236}">
                      <a16:creationId xmlns:a16="http://schemas.microsoft.com/office/drawing/2014/main" xmlns:a14="http://schemas.microsoft.com/office/drawing/2010/main" xmlns="" id="{DD1C2473-A15D-1345-850D-E7C066CE3FFB}"/>
                    </a:ext>
                  </a:extLst>
                </p:cNvPr>
                <p:cNvSpPr txBox="1">
                  <a:spLocks noRot="1" noChangeAspect="1" noMove="1" noResize="1" noEditPoints="1" noAdjustHandles="1" noChangeArrowheads="1" noChangeShapeType="1" noTextEdit="1"/>
                </p:cNvSpPr>
                <p:nvPr/>
              </p:nvSpPr>
              <p:spPr bwMode="auto">
                <a:xfrm>
                  <a:off x="3843260" y="4795756"/>
                  <a:ext cx="1006062" cy="358561"/>
                </a:xfrm>
                <a:prstGeom prst="rect">
                  <a:avLst/>
                </a:prstGeom>
                <a:blipFill rotWithShape="0">
                  <a:blip r:embed="rId23"/>
                  <a:stretch>
                    <a:fillRect/>
                  </a:stretch>
                </a:blipFill>
              </p:spPr>
              <p:txBody>
                <a:bodyPr/>
                <a:lstStyle/>
                <a:p>
                  <a:r>
                    <a:rPr lang="ko-KR" altLang="en-US">
                      <a:noFill/>
                    </a:rPr>
                    <a:t> </a:t>
                  </a:r>
                </a:p>
              </p:txBody>
            </p:sp>
          </mc:Fallback>
        </mc:AlternateContent>
      </p:grpSp>
      <p:sp>
        <p:nvSpPr>
          <p:cNvPr id="29" name="Google Shape;2968;p156">
            <a:extLst>
              <a:ext uri="{FF2B5EF4-FFF2-40B4-BE49-F238E27FC236}">
                <a16:creationId xmlns:a16="http://schemas.microsoft.com/office/drawing/2014/main" id="{E50B8C11-FFAF-314D-BB08-17D12C59BEF3}"/>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297740711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046"/>
        <p:cNvGrpSpPr/>
        <p:nvPr/>
      </p:nvGrpSpPr>
      <p:grpSpPr>
        <a:xfrm>
          <a:off x="0" y="0"/>
          <a:ext cx="0" cy="0"/>
          <a:chOff x="0" y="0"/>
          <a:chExt cx="0" cy="0"/>
        </a:xfrm>
      </p:grpSpPr>
      <p:sp>
        <p:nvSpPr>
          <p:cNvPr id="3047" name="Google Shape;3047;p159"/>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Tụ điện</a:t>
            </a:r>
            <a:endParaRPr sz="2400" b="1">
              <a:solidFill>
                <a:srgbClr val="0C0C0C"/>
              </a:solidFill>
              <a:latin typeface="Arial"/>
              <a:ea typeface="Arial"/>
              <a:cs typeface="Arial"/>
              <a:sym typeface="Arial"/>
            </a:endParaRPr>
          </a:p>
        </p:txBody>
      </p:sp>
      <p:sp>
        <p:nvSpPr>
          <p:cNvPr id="3049" name="Google Shape;3049;p159"/>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Chức năng của tụ điện </a:t>
            </a:r>
            <a:endParaRPr/>
          </a:p>
        </p:txBody>
      </p:sp>
      <p:sp>
        <p:nvSpPr>
          <p:cNvPr id="3050" name="Google Shape;3050;p159"/>
          <p:cNvSpPr/>
          <p:nvPr/>
        </p:nvSpPr>
        <p:spPr>
          <a:xfrm>
            <a:off x="712182" y="2174873"/>
            <a:ext cx="8487381" cy="648074"/>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Bộ tích để lưu trữ hoặc phát điện.</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Không cho dòng một chiều đi qua.</a:t>
            </a:r>
            <a:endParaRPr/>
          </a:p>
        </p:txBody>
      </p:sp>
      <p:sp>
        <p:nvSpPr>
          <p:cNvPr id="3051" name="Google Shape;3051;p159"/>
          <p:cNvSpPr/>
          <p:nvPr/>
        </p:nvSpPr>
        <p:spPr>
          <a:xfrm>
            <a:off x="580388" y="294021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Đơn vị của tụ điện: [ F ] </a:t>
            </a:r>
            <a:endParaRPr/>
          </a:p>
        </p:txBody>
      </p:sp>
      <p:sp>
        <p:nvSpPr>
          <p:cNvPr id="3052" name="Google Shape;3052;p159"/>
          <p:cNvSpPr/>
          <p:nvPr/>
        </p:nvSpPr>
        <p:spPr>
          <a:xfrm>
            <a:off x="712182" y="3258376"/>
            <a:ext cx="2222211" cy="307777"/>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 name="Google Shape;3441;p182">
            <a:extLst>
              <a:ext uri="{FF2B5EF4-FFF2-40B4-BE49-F238E27FC236}">
                <a16:creationId xmlns:a16="http://schemas.microsoft.com/office/drawing/2014/main" id="{4E483F46-094F-A52B-84EC-CC4CAECDDEA0}"/>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058"/>
        <p:cNvGrpSpPr/>
        <p:nvPr/>
      </p:nvGrpSpPr>
      <p:grpSpPr>
        <a:xfrm>
          <a:off x="0" y="0"/>
          <a:ext cx="0" cy="0"/>
          <a:chOff x="0" y="0"/>
          <a:chExt cx="0" cy="0"/>
        </a:xfrm>
      </p:grpSpPr>
      <p:sp>
        <p:nvSpPr>
          <p:cNvPr id="3059" name="Google Shape;3059;p160"/>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Công dụng chính của tụ điện</a:t>
            </a:r>
            <a:endParaRPr sz="2400" b="1">
              <a:solidFill>
                <a:srgbClr val="0C0C0C"/>
              </a:solidFill>
              <a:latin typeface="Arial"/>
              <a:ea typeface="Arial"/>
              <a:cs typeface="Arial"/>
              <a:sym typeface="Arial"/>
            </a:endParaRPr>
          </a:p>
        </p:txBody>
      </p:sp>
      <p:sp>
        <p:nvSpPr>
          <p:cNvPr id="3061" name="Google Shape;3061;p160"/>
          <p:cNvSpPr/>
          <p:nvPr/>
        </p:nvSpPr>
        <p:spPr>
          <a:xfrm>
            <a:off x="580388" y="189119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Cấu tạo điốt và mạch chỉnh lưu để chuyển dòng xoay chiều thành dòng một chiều. </a:t>
            </a:r>
            <a:endParaRPr/>
          </a:p>
        </p:txBody>
      </p:sp>
      <p:sp>
        <p:nvSpPr>
          <p:cNvPr id="3062" name="Google Shape;3062;p160"/>
          <p:cNvSpPr/>
          <p:nvPr/>
        </p:nvSpPr>
        <p:spPr>
          <a:xfrm>
            <a:off x="580388" y="294625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Tạo độ trễ thời gian bằng các xung khi sạc tụ điện.</a:t>
            </a:r>
            <a:endParaRPr/>
          </a:p>
        </p:txBody>
      </p:sp>
      <p:sp>
        <p:nvSpPr>
          <p:cNvPr id="3063" name="Google Shape;3063;p160"/>
          <p:cNvSpPr/>
          <p:nvPr/>
        </p:nvSpPr>
        <p:spPr>
          <a:xfrm>
            <a:off x="580388" y="4053286"/>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dirty="0" err="1">
                <a:solidFill>
                  <a:schemeClr val="dk1"/>
                </a:solidFill>
                <a:latin typeface="Arial"/>
                <a:ea typeface="Arial"/>
                <a:cs typeface="Arial"/>
                <a:sym typeface="Arial"/>
              </a:rPr>
              <a:t>Được</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cấu</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hình</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với</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điện</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trở</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giúp</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tách</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tín</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hiệu</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tần</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số</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thấp</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từ</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nhiều</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tín</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hiệu</a:t>
            </a:r>
            <a:r>
              <a:rPr lang="en-US" sz="1400" dirty="0">
                <a:solidFill>
                  <a:schemeClr val="dk1"/>
                </a:solidFill>
                <a:latin typeface="Arial"/>
                <a:ea typeface="Arial"/>
                <a:cs typeface="Arial"/>
                <a:sym typeface="Arial"/>
              </a:rPr>
              <a:t>.</a:t>
            </a:r>
            <a:endParaRPr dirty="0"/>
          </a:p>
        </p:txBody>
      </p:sp>
      <p:sp>
        <p:nvSpPr>
          <p:cNvPr id="3064" name="Google Shape;3064;p160"/>
          <p:cNvSpPr/>
          <p:nvPr/>
        </p:nvSpPr>
        <p:spPr>
          <a:xfrm>
            <a:off x="580388" y="522228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Được cấu hình với điện trở giúp tách tín hiệu tần số cao từ nhiều tín hiệu.</a:t>
            </a:r>
            <a:endParaRPr/>
          </a:p>
        </p:txBody>
      </p:sp>
      <p:grpSp>
        <p:nvGrpSpPr>
          <p:cNvPr id="3065" name="Google Shape;3065;p160"/>
          <p:cNvGrpSpPr/>
          <p:nvPr/>
        </p:nvGrpSpPr>
        <p:grpSpPr>
          <a:xfrm>
            <a:off x="3099929" y="2159696"/>
            <a:ext cx="3038005" cy="733507"/>
            <a:chOff x="3099929" y="2213036"/>
            <a:chExt cx="3038005" cy="733507"/>
          </a:xfrm>
        </p:grpSpPr>
        <p:graphicFrame>
          <p:nvGraphicFramePr>
            <p:cNvPr id="3066" name="Google Shape;3066;p160"/>
            <p:cNvGraphicFramePr/>
            <p:nvPr/>
          </p:nvGraphicFramePr>
          <p:xfrm>
            <a:off x="3099929" y="2213036"/>
            <a:ext cx="3038005" cy="733507"/>
          </p:xfrm>
          <a:graphic>
            <a:graphicData uri="http://schemas.openxmlformats.org/presentationml/2006/ole">
              <mc:AlternateContent xmlns:mc="http://schemas.openxmlformats.org/markup-compatibility/2006">
                <mc:Choice xmlns:v="urn:schemas-microsoft-com:vml" Requires="v">
                  <p:oleObj r:id="rId3" imgW="3038005" imgH="733507" progId="Visio.Drawing.11">
                    <p:embed/>
                  </p:oleObj>
                </mc:Choice>
                <mc:Fallback>
                  <p:oleObj r:id="rId3" imgW="3038005" imgH="733507" progId="Visio.Drawing.11">
                    <p:embed/>
                    <p:pic>
                      <p:nvPicPr>
                        <p:cNvPr id="3066" name="Google Shape;3066;p160"/>
                        <p:cNvPicPr preferRelativeResize="0"/>
                        <p:nvPr/>
                      </p:nvPicPr>
                      <p:blipFill rotWithShape="1">
                        <a:blip r:embed="rId4">
                          <a:alphaModFix/>
                        </a:blip>
                        <a:srcRect/>
                        <a:stretch/>
                      </p:blipFill>
                      <p:spPr>
                        <a:xfrm>
                          <a:off x="3099929" y="2213036"/>
                          <a:ext cx="3038005" cy="733507"/>
                        </a:xfrm>
                        <a:prstGeom prst="rect">
                          <a:avLst/>
                        </a:prstGeom>
                        <a:noFill/>
                        <a:ln>
                          <a:noFill/>
                        </a:ln>
                      </p:spPr>
                    </p:pic>
                  </p:oleObj>
                </mc:Fallback>
              </mc:AlternateContent>
            </a:graphicData>
          </a:graphic>
        </p:graphicFrame>
        <p:sp>
          <p:nvSpPr>
            <p:cNvPr id="3067" name="Google Shape;3067;p160"/>
            <p:cNvSpPr txBox="1"/>
            <p:nvPr/>
          </p:nvSpPr>
          <p:spPr>
            <a:xfrm>
              <a:off x="4084353" y="2254148"/>
              <a:ext cx="1069155" cy="15388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Smoothing Circuit</a:t>
              </a:r>
              <a:endParaRPr/>
            </a:p>
          </p:txBody>
        </p:sp>
      </p:grpSp>
      <p:grpSp>
        <p:nvGrpSpPr>
          <p:cNvPr id="3068" name="Google Shape;3068;p160"/>
          <p:cNvGrpSpPr/>
          <p:nvPr/>
        </p:nvGrpSpPr>
        <p:grpSpPr>
          <a:xfrm>
            <a:off x="2903530" y="3214757"/>
            <a:ext cx="3492191" cy="785474"/>
            <a:chOff x="2903530" y="3268097"/>
            <a:chExt cx="3492191" cy="785474"/>
          </a:xfrm>
        </p:grpSpPr>
        <p:graphicFrame>
          <p:nvGraphicFramePr>
            <p:cNvPr id="3069" name="Google Shape;3069;p160"/>
            <p:cNvGraphicFramePr/>
            <p:nvPr/>
          </p:nvGraphicFramePr>
          <p:xfrm>
            <a:off x="2903530" y="3268097"/>
            <a:ext cx="3492191" cy="785474"/>
          </p:xfrm>
          <a:graphic>
            <a:graphicData uri="http://schemas.openxmlformats.org/presentationml/2006/ole">
              <mc:AlternateContent xmlns:mc="http://schemas.openxmlformats.org/markup-compatibility/2006">
                <mc:Choice xmlns:v="urn:schemas-microsoft-com:vml" Requires="v">
                  <p:oleObj r:id="rId5" imgW="3492191" imgH="785474" progId="Visio.Drawing.11">
                    <p:embed/>
                  </p:oleObj>
                </mc:Choice>
                <mc:Fallback>
                  <p:oleObj r:id="rId5" imgW="3492191" imgH="785474" progId="Visio.Drawing.11">
                    <p:embed/>
                    <p:pic>
                      <p:nvPicPr>
                        <p:cNvPr id="3069" name="Google Shape;3069;p160"/>
                        <p:cNvPicPr preferRelativeResize="0"/>
                        <p:nvPr/>
                      </p:nvPicPr>
                      <p:blipFill rotWithShape="1">
                        <a:blip r:embed="rId6">
                          <a:alphaModFix/>
                        </a:blip>
                        <a:srcRect/>
                        <a:stretch/>
                      </p:blipFill>
                      <p:spPr>
                        <a:xfrm>
                          <a:off x="2903530" y="3268097"/>
                          <a:ext cx="3492191" cy="785474"/>
                        </a:xfrm>
                        <a:prstGeom prst="rect">
                          <a:avLst/>
                        </a:prstGeom>
                        <a:noFill/>
                        <a:ln>
                          <a:noFill/>
                        </a:ln>
                      </p:spPr>
                    </p:pic>
                  </p:oleObj>
                </mc:Fallback>
              </mc:AlternateContent>
            </a:graphicData>
          </a:graphic>
        </p:graphicFrame>
        <p:sp>
          <p:nvSpPr>
            <p:cNvPr id="3070" name="Google Shape;3070;p160"/>
            <p:cNvSpPr txBox="1"/>
            <p:nvPr/>
          </p:nvSpPr>
          <p:spPr>
            <a:xfrm>
              <a:off x="4084353" y="3315391"/>
              <a:ext cx="1069155" cy="15388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Timer Circuit</a:t>
              </a:r>
              <a:endParaRPr/>
            </a:p>
          </p:txBody>
        </p:sp>
        <p:sp>
          <p:nvSpPr>
            <p:cNvPr id="3071" name="Google Shape;3071;p160"/>
            <p:cNvSpPr txBox="1"/>
            <p:nvPr/>
          </p:nvSpPr>
          <p:spPr>
            <a:xfrm>
              <a:off x="4554220" y="3601568"/>
              <a:ext cx="411480" cy="276999"/>
            </a:xfrm>
            <a:prstGeom prst="rect">
              <a:avLst/>
            </a:prstGeom>
            <a:solidFill>
              <a:srgbClr val="FFFF99"/>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
                  <a:solidFill>
                    <a:srgbClr val="000000"/>
                  </a:solidFill>
                  <a:latin typeface="Arial"/>
                  <a:ea typeface="Arial"/>
                  <a:cs typeface="Arial"/>
                  <a:sym typeface="Arial"/>
                </a:rPr>
                <a:t>Waveform Shaping Circuit</a:t>
              </a:r>
              <a:endParaRPr/>
            </a:p>
          </p:txBody>
        </p:sp>
        <p:sp>
          <p:nvSpPr>
            <p:cNvPr id="3072" name="Google Shape;3072;p160"/>
            <p:cNvSpPr txBox="1"/>
            <p:nvPr/>
          </p:nvSpPr>
          <p:spPr>
            <a:xfrm>
              <a:off x="5608320" y="3445181"/>
              <a:ext cx="657708" cy="123111"/>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00">
                  <a:solidFill>
                    <a:srgbClr val="000000"/>
                  </a:solidFill>
                  <a:latin typeface="Arial"/>
                  <a:ea typeface="Arial"/>
                  <a:cs typeface="Arial"/>
                  <a:sym typeface="Arial"/>
                </a:rPr>
                <a:t>Timer Lag</a:t>
              </a:r>
              <a:endParaRPr/>
            </a:p>
          </p:txBody>
        </p:sp>
      </p:grpSp>
      <p:grpSp>
        <p:nvGrpSpPr>
          <p:cNvPr id="3073" name="Google Shape;3073;p160"/>
          <p:cNvGrpSpPr/>
          <p:nvPr/>
        </p:nvGrpSpPr>
        <p:grpSpPr>
          <a:xfrm>
            <a:off x="3013865" y="4321785"/>
            <a:ext cx="3492189" cy="847448"/>
            <a:chOff x="3013865" y="4375125"/>
            <a:chExt cx="3492189" cy="847448"/>
          </a:xfrm>
        </p:grpSpPr>
        <p:graphicFrame>
          <p:nvGraphicFramePr>
            <p:cNvPr id="3074" name="Google Shape;3074;p160"/>
            <p:cNvGraphicFramePr/>
            <p:nvPr/>
          </p:nvGraphicFramePr>
          <p:xfrm>
            <a:off x="3013865" y="4375125"/>
            <a:ext cx="3492189" cy="847448"/>
          </p:xfrm>
          <a:graphic>
            <a:graphicData uri="http://schemas.openxmlformats.org/presentationml/2006/ole">
              <mc:AlternateContent xmlns:mc="http://schemas.openxmlformats.org/markup-compatibility/2006">
                <mc:Choice xmlns:v="urn:schemas-microsoft-com:vml" Requires="v">
                  <p:oleObj r:id="rId7" imgW="3492189" imgH="847448" progId="Visio.Drawing.11">
                    <p:embed/>
                  </p:oleObj>
                </mc:Choice>
                <mc:Fallback>
                  <p:oleObj r:id="rId7" imgW="3492189" imgH="847448" progId="Visio.Drawing.11">
                    <p:embed/>
                    <p:pic>
                      <p:nvPicPr>
                        <p:cNvPr id="3074" name="Google Shape;3074;p160"/>
                        <p:cNvPicPr preferRelativeResize="0"/>
                        <p:nvPr/>
                      </p:nvPicPr>
                      <p:blipFill rotWithShape="1">
                        <a:blip r:embed="rId8">
                          <a:alphaModFix/>
                        </a:blip>
                        <a:srcRect/>
                        <a:stretch/>
                      </p:blipFill>
                      <p:spPr>
                        <a:xfrm>
                          <a:off x="3013865" y="4375125"/>
                          <a:ext cx="3492189" cy="847448"/>
                        </a:xfrm>
                        <a:prstGeom prst="rect">
                          <a:avLst/>
                        </a:prstGeom>
                        <a:noFill/>
                        <a:ln>
                          <a:noFill/>
                        </a:ln>
                      </p:spPr>
                    </p:pic>
                  </p:oleObj>
                </mc:Fallback>
              </mc:AlternateContent>
            </a:graphicData>
          </a:graphic>
        </p:graphicFrame>
        <p:sp>
          <p:nvSpPr>
            <p:cNvPr id="3075" name="Google Shape;3075;p160"/>
            <p:cNvSpPr txBox="1"/>
            <p:nvPr/>
          </p:nvSpPr>
          <p:spPr>
            <a:xfrm>
              <a:off x="4094922" y="4437593"/>
              <a:ext cx="1069155" cy="15388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Low-pass Filter</a:t>
              </a:r>
              <a:endParaRPr/>
            </a:p>
          </p:txBody>
        </p:sp>
      </p:grpSp>
      <p:grpSp>
        <p:nvGrpSpPr>
          <p:cNvPr id="3076" name="Google Shape;3076;p160"/>
          <p:cNvGrpSpPr/>
          <p:nvPr/>
        </p:nvGrpSpPr>
        <p:grpSpPr>
          <a:xfrm>
            <a:off x="2977562" y="5490789"/>
            <a:ext cx="3427519" cy="869005"/>
            <a:chOff x="2977562" y="5544129"/>
            <a:chExt cx="3427519" cy="869005"/>
          </a:xfrm>
        </p:grpSpPr>
        <p:graphicFrame>
          <p:nvGraphicFramePr>
            <p:cNvPr id="3077" name="Google Shape;3077;p160"/>
            <p:cNvGraphicFramePr/>
            <p:nvPr/>
          </p:nvGraphicFramePr>
          <p:xfrm>
            <a:off x="2977562" y="5544129"/>
            <a:ext cx="3427519" cy="869005"/>
          </p:xfrm>
          <a:graphic>
            <a:graphicData uri="http://schemas.openxmlformats.org/presentationml/2006/ole">
              <mc:AlternateContent xmlns:mc="http://schemas.openxmlformats.org/markup-compatibility/2006">
                <mc:Choice xmlns:v="urn:schemas-microsoft-com:vml" Requires="v">
                  <p:oleObj r:id="rId9" imgW="3427519" imgH="869005" progId="Visio.Drawing.11">
                    <p:embed/>
                  </p:oleObj>
                </mc:Choice>
                <mc:Fallback>
                  <p:oleObj r:id="rId9" imgW="3427519" imgH="869005" progId="Visio.Drawing.11">
                    <p:embed/>
                    <p:pic>
                      <p:nvPicPr>
                        <p:cNvPr id="3077" name="Google Shape;3077;p160"/>
                        <p:cNvPicPr preferRelativeResize="0"/>
                        <p:nvPr/>
                      </p:nvPicPr>
                      <p:blipFill rotWithShape="1">
                        <a:blip r:embed="rId10">
                          <a:alphaModFix/>
                        </a:blip>
                        <a:srcRect/>
                        <a:stretch/>
                      </p:blipFill>
                      <p:spPr>
                        <a:xfrm>
                          <a:off x="2977562" y="5544129"/>
                          <a:ext cx="3427519" cy="869005"/>
                        </a:xfrm>
                        <a:prstGeom prst="rect">
                          <a:avLst/>
                        </a:prstGeom>
                        <a:noFill/>
                        <a:ln>
                          <a:noFill/>
                        </a:ln>
                      </p:spPr>
                    </p:pic>
                  </p:oleObj>
                </mc:Fallback>
              </mc:AlternateContent>
            </a:graphicData>
          </a:graphic>
        </p:graphicFrame>
        <p:sp>
          <p:nvSpPr>
            <p:cNvPr id="3078" name="Google Shape;3078;p160"/>
            <p:cNvSpPr txBox="1"/>
            <p:nvPr/>
          </p:nvSpPr>
          <p:spPr>
            <a:xfrm>
              <a:off x="4094922" y="5605372"/>
              <a:ext cx="1069155" cy="15388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High-pass Filter</a:t>
              </a:r>
              <a:endParaRPr/>
            </a:p>
          </p:txBody>
        </p:sp>
      </p:grpSp>
      <p:sp>
        <p:nvSpPr>
          <p:cNvPr id="2" name="Google Shape;3441;p182">
            <a:extLst>
              <a:ext uri="{FF2B5EF4-FFF2-40B4-BE49-F238E27FC236}">
                <a16:creationId xmlns:a16="http://schemas.microsoft.com/office/drawing/2014/main" id="{852D381B-FDB7-D06B-1B8B-9CDD139720A7}"/>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084"/>
        <p:cNvGrpSpPr/>
        <p:nvPr/>
      </p:nvGrpSpPr>
      <p:grpSpPr>
        <a:xfrm>
          <a:off x="0" y="0"/>
          <a:ext cx="0" cy="0"/>
          <a:chOff x="0" y="0"/>
          <a:chExt cx="0" cy="0"/>
        </a:xfrm>
      </p:grpSpPr>
      <p:sp>
        <p:nvSpPr>
          <p:cNvPr id="3085" name="Google Shape;3085;p161"/>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Tụ điện</a:t>
            </a:r>
            <a:endParaRPr sz="2400" b="1">
              <a:solidFill>
                <a:srgbClr val="0C0C0C"/>
              </a:solidFill>
              <a:latin typeface="Arial"/>
              <a:ea typeface="Arial"/>
              <a:cs typeface="Arial"/>
              <a:sym typeface="Arial"/>
            </a:endParaRPr>
          </a:p>
        </p:txBody>
      </p:sp>
      <p:sp>
        <p:nvSpPr>
          <p:cNvPr id="3087" name="Google Shape;3087;p161"/>
          <p:cNvSpPr/>
          <p:nvPr/>
        </p:nvSpPr>
        <p:spPr>
          <a:xfrm>
            <a:off x="580388" y="187595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loại tụ điện </a:t>
            </a:r>
            <a:endParaRPr/>
          </a:p>
        </p:txBody>
      </p:sp>
      <p:sp>
        <p:nvSpPr>
          <p:cNvPr id="3088" name="Google Shape;3088;p161"/>
          <p:cNvSpPr/>
          <p:nvPr/>
        </p:nvSpPr>
        <p:spPr>
          <a:xfrm>
            <a:off x="712182" y="2106293"/>
            <a:ext cx="8487381" cy="2664010"/>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Tụ hóa</a:t>
            </a:r>
            <a:endParaRPr sz="1300">
              <a:solidFill>
                <a:srgbClr val="262626"/>
              </a:solidFill>
              <a:latin typeface="Arial"/>
              <a:ea typeface="Arial"/>
              <a:cs typeface="Arial"/>
              <a:sym typeface="Arial"/>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điện áp định mức (2 V đến 500 V) và điện dung tương đối lớn (0,1 μF đến 15.000 μF).</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tính phân cực ± và đầu dài hơn trong hai đầu là cực dương.</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Dùng làm bộ lọc nhiễu nguồn trong mạch một chiều hoặc làm mạch nối trong mạch xoay chiều.</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Tụ điện tantan</a:t>
            </a:r>
            <a:endParaRPr sz="1300">
              <a:solidFill>
                <a:srgbClr val="262626"/>
              </a:solidFill>
              <a:latin typeface="Arial"/>
              <a:ea typeface="Arial"/>
              <a:cs typeface="Arial"/>
              <a:sym typeface="Arial"/>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điện áp định mức (3 V đến 35 V) và điện dung tương đối lớn (0,1 μF đến 220 μF).</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tính phân cực ± và đầu dài hơn trong hai đầu là cực dương. </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Do các đặc tính về tần số (DC đến 10 MHz) tốt hơn so với tụ hóa nên thường được dùng làm bộ giới hạn biên độ nhiễu, mạch rẽ, mạch nối và bộ lọc nhiễu nguồn.</a:t>
            </a:r>
            <a:endParaRPr/>
          </a:p>
        </p:txBody>
      </p:sp>
      <p:grpSp>
        <p:nvGrpSpPr>
          <p:cNvPr id="3089" name="Google Shape;3089;p161"/>
          <p:cNvGrpSpPr/>
          <p:nvPr/>
        </p:nvGrpSpPr>
        <p:grpSpPr>
          <a:xfrm>
            <a:off x="2806152" y="4846149"/>
            <a:ext cx="4299445" cy="1408913"/>
            <a:chOff x="2944635" y="4952179"/>
            <a:chExt cx="4299445" cy="1408913"/>
          </a:xfrm>
        </p:grpSpPr>
        <p:pic>
          <p:nvPicPr>
            <p:cNvPr id="3090" name="Google Shape;3090;p161" descr="http://www.ehtec.com/epart/img/tantalum.gif"/>
            <p:cNvPicPr preferRelativeResize="0"/>
            <p:nvPr/>
          </p:nvPicPr>
          <p:blipFill rotWithShape="1">
            <a:blip r:embed="rId3">
              <a:alphaModFix/>
            </a:blip>
            <a:srcRect/>
            <a:stretch/>
          </p:blipFill>
          <p:spPr>
            <a:xfrm>
              <a:off x="5464316" y="4952180"/>
              <a:ext cx="1779764" cy="1064510"/>
            </a:xfrm>
            <a:prstGeom prst="rect">
              <a:avLst/>
            </a:prstGeom>
            <a:noFill/>
            <a:ln w="9525" cap="flat" cmpd="sng">
              <a:solidFill>
                <a:srgbClr val="D8D8D8"/>
              </a:solidFill>
              <a:prstDash val="solid"/>
              <a:miter lim="800000"/>
              <a:headEnd type="none" w="sm" len="sm"/>
              <a:tailEnd type="none" w="sm" len="sm"/>
            </a:ln>
          </p:spPr>
        </p:pic>
        <p:sp>
          <p:nvSpPr>
            <p:cNvPr id="3091" name="Google Shape;3091;p161"/>
            <p:cNvSpPr txBox="1"/>
            <p:nvPr/>
          </p:nvSpPr>
          <p:spPr>
            <a:xfrm>
              <a:off x="2944635" y="6068704"/>
              <a:ext cx="1647907"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Tụ hóa</a:t>
              </a:r>
              <a:endParaRPr sz="1300" b="1">
                <a:solidFill>
                  <a:srgbClr val="000000"/>
                </a:solidFill>
                <a:latin typeface="Arial"/>
                <a:ea typeface="Arial"/>
                <a:cs typeface="Arial"/>
                <a:sym typeface="Arial"/>
              </a:endParaRPr>
            </a:p>
          </p:txBody>
        </p:sp>
        <p:sp>
          <p:nvSpPr>
            <p:cNvPr id="3092" name="Google Shape;3092;p161"/>
            <p:cNvSpPr txBox="1"/>
            <p:nvPr/>
          </p:nvSpPr>
          <p:spPr>
            <a:xfrm>
              <a:off x="5645339" y="6068704"/>
              <a:ext cx="1417718"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Tụ điện tantan</a:t>
              </a:r>
              <a:endParaRPr sz="1300" b="1">
                <a:solidFill>
                  <a:srgbClr val="000000"/>
                </a:solidFill>
                <a:latin typeface="Arial"/>
                <a:ea typeface="Arial"/>
                <a:cs typeface="Arial"/>
                <a:sym typeface="Arial"/>
              </a:endParaRPr>
            </a:p>
          </p:txBody>
        </p:sp>
        <p:pic>
          <p:nvPicPr>
            <p:cNvPr id="3093" name="Google Shape;3093;p161" descr="denkaicon"/>
            <p:cNvPicPr preferRelativeResize="0"/>
            <p:nvPr/>
          </p:nvPicPr>
          <p:blipFill rotWithShape="1">
            <a:blip r:embed="rId4">
              <a:alphaModFix/>
            </a:blip>
            <a:srcRect/>
            <a:stretch/>
          </p:blipFill>
          <p:spPr>
            <a:xfrm>
              <a:off x="2944635" y="4952179"/>
              <a:ext cx="1627543" cy="1061439"/>
            </a:xfrm>
            <a:prstGeom prst="rect">
              <a:avLst/>
            </a:prstGeom>
            <a:noFill/>
            <a:ln w="9525" cap="flat" cmpd="sng">
              <a:solidFill>
                <a:srgbClr val="D8D8D8"/>
              </a:solidFill>
              <a:prstDash val="solid"/>
              <a:miter lim="800000"/>
              <a:headEnd type="none" w="sm" len="sm"/>
              <a:tailEnd type="none" w="sm" len="sm"/>
            </a:ln>
          </p:spPr>
        </p:pic>
      </p:grpSp>
      <p:sp>
        <p:nvSpPr>
          <p:cNvPr id="2" name="Google Shape;3441;p182">
            <a:extLst>
              <a:ext uri="{FF2B5EF4-FFF2-40B4-BE49-F238E27FC236}">
                <a16:creationId xmlns:a16="http://schemas.microsoft.com/office/drawing/2014/main" id="{64B232FA-29A3-E9A1-3DBC-C6F6C721971E}"/>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099"/>
        <p:cNvGrpSpPr/>
        <p:nvPr/>
      </p:nvGrpSpPr>
      <p:grpSpPr>
        <a:xfrm>
          <a:off x="0" y="0"/>
          <a:ext cx="0" cy="0"/>
          <a:chOff x="0" y="0"/>
          <a:chExt cx="0" cy="0"/>
        </a:xfrm>
      </p:grpSpPr>
      <p:sp>
        <p:nvSpPr>
          <p:cNvPr id="3101" name="Google Shape;3101;p162"/>
          <p:cNvSpPr/>
          <p:nvPr/>
        </p:nvSpPr>
        <p:spPr>
          <a:xfrm>
            <a:off x="712182" y="1751850"/>
            <a:ext cx="8487381" cy="185866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Tụ điện gốm</a:t>
            </a:r>
            <a:endParaRPr sz="1300">
              <a:solidFill>
                <a:srgbClr val="262626"/>
              </a:solidFill>
              <a:latin typeface="Arial"/>
              <a:ea typeface="Arial"/>
              <a:cs typeface="Arial"/>
              <a:sym typeface="Arial"/>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điện áp định mức (25 V đến 3 kV) và điện dung tương đối nhỏ (pF đến μF). </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Không phân cực và có sai số cho phép lớn (± 10%, ± 20%). </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Sử dụng như một mạch rẽ tần số cao, điều chỉnh và bộ lọc tần số cao.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Tụ biến thiên </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một trục ở bên ngoài và có thể vận hành bằng tay cầm. Chủ yếu được sử dụng để điều chỉnh vô tuyến.</a:t>
            </a:r>
            <a:endParaRPr/>
          </a:p>
        </p:txBody>
      </p:sp>
      <p:sp>
        <p:nvSpPr>
          <p:cNvPr id="3102" name="Google Shape;3102;p162"/>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loại tụ điện (Tiếp theo)</a:t>
            </a:r>
            <a:endParaRPr/>
          </a:p>
        </p:txBody>
      </p:sp>
      <p:grpSp>
        <p:nvGrpSpPr>
          <p:cNvPr id="3103" name="Google Shape;3103;p162"/>
          <p:cNvGrpSpPr/>
          <p:nvPr/>
        </p:nvGrpSpPr>
        <p:grpSpPr>
          <a:xfrm>
            <a:off x="1173247" y="4257675"/>
            <a:ext cx="7556332" cy="1974246"/>
            <a:chOff x="778856" y="5080479"/>
            <a:chExt cx="7556332" cy="1974246"/>
          </a:xfrm>
        </p:grpSpPr>
        <p:pic>
          <p:nvPicPr>
            <p:cNvPr id="3104" name="Google Shape;3104;p162" descr="http://www.ehtec.com/epart/img/celamiccon.jpg"/>
            <p:cNvPicPr preferRelativeResize="0"/>
            <p:nvPr/>
          </p:nvPicPr>
          <p:blipFill rotWithShape="1">
            <a:blip r:embed="rId3">
              <a:alphaModFix/>
            </a:blip>
            <a:srcRect/>
            <a:stretch/>
          </p:blipFill>
          <p:spPr>
            <a:xfrm>
              <a:off x="778856" y="5247282"/>
              <a:ext cx="2023122" cy="1457229"/>
            </a:xfrm>
            <a:prstGeom prst="rect">
              <a:avLst/>
            </a:prstGeom>
            <a:noFill/>
            <a:ln w="9525" cap="flat" cmpd="sng">
              <a:solidFill>
                <a:srgbClr val="D8D8D8"/>
              </a:solidFill>
              <a:prstDash val="solid"/>
              <a:miter lim="800000"/>
              <a:headEnd type="none" w="sm" len="sm"/>
              <a:tailEnd type="none" w="sm" len="sm"/>
            </a:ln>
          </p:spPr>
        </p:pic>
        <p:pic>
          <p:nvPicPr>
            <p:cNvPr id="3105" name="Google Shape;3105;p162" descr="http://www.ehtec.com/epart/img/airvaricon.gif"/>
            <p:cNvPicPr preferRelativeResize="0"/>
            <p:nvPr/>
          </p:nvPicPr>
          <p:blipFill rotWithShape="1">
            <a:blip r:embed="rId4">
              <a:alphaModFix/>
            </a:blip>
            <a:srcRect/>
            <a:stretch/>
          </p:blipFill>
          <p:spPr>
            <a:xfrm>
              <a:off x="3576404" y="5267341"/>
              <a:ext cx="2261399" cy="1437170"/>
            </a:xfrm>
            <a:prstGeom prst="rect">
              <a:avLst/>
            </a:prstGeom>
            <a:noFill/>
            <a:ln w="9525" cap="flat" cmpd="sng">
              <a:solidFill>
                <a:srgbClr val="D8D8D8"/>
              </a:solidFill>
              <a:prstDash val="solid"/>
              <a:miter lim="800000"/>
              <a:headEnd type="none" w="sm" len="sm"/>
              <a:tailEnd type="none" w="sm" len="sm"/>
            </a:ln>
          </p:spPr>
        </p:pic>
        <p:pic>
          <p:nvPicPr>
            <p:cNvPr id="3106" name="Google Shape;3106;p162" descr="í¸ë¦¬ë¨¸ ì½ë´ìì ëí ì´ë¯¸ì§ ê²ìê²°ê³¼"/>
            <p:cNvPicPr preferRelativeResize="0"/>
            <p:nvPr/>
          </p:nvPicPr>
          <p:blipFill rotWithShape="1">
            <a:blip r:embed="rId5">
              <a:alphaModFix/>
            </a:blip>
            <a:srcRect/>
            <a:stretch/>
          </p:blipFill>
          <p:spPr>
            <a:xfrm>
              <a:off x="6612230" y="5080479"/>
              <a:ext cx="1722958" cy="1624032"/>
            </a:xfrm>
            <a:prstGeom prst="rect">
              <a:avLst/>
            </a:prstGeom>
            <a:noFill/>
            <a:ln w="9525" cap="flat" cmpd="sng">
              <a:solidFill>
                <a:srgbClr val="D8D8D8"/>
              </a:solidFill>
              <a:prstDash val="solid"/>
              <a:miter lim="800000"/>
              <a:headEnd type="none" w="sm" len="sm"/>
              <a:tailEnd type="none" w="sm" len="sm"/>
            </a:ln>
          </p:spPr>
        </p:pic>
        <p:sp>
          <p:nvSpPr>
            <p:cNvPr id="3107" name="Google Shape;3107;p162"/>
            <p:cNvSpPr txBox="1"/>
            <p:nvPr/>
          </p:nvSpPr>
          <p:spPr>
            <a:xfrm>
              <a:off x="907343" y="6762337"/>
              <a:ext cx="1766148"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Tụ điện gốm</a:t>
              </a:r>
              <a:endParaRPr sz="1300" b="1">
                <a:solidFill>
                  <a:srgbClr val="000000"/>
                </a:solidFill>
                <a:latin typeface="Arial"/>
                <a:ea typeface="Arial"/>
                <a:cs typeface="Arial"/>
                <a:sym typeface="Arial"/>
              </a:endParaRPr>
            </a:p>
          </p:txBody>
        </p:sp>
        <p:sp>
          <p:nvSpPr>
            <p:cNvPr id="3108" name="Google Shape;3108;p162"/>
            <p:cNvSpPr txBox="1"/>
            <p:nvPr/>
          </p:nvSpPr>
          <p:spPr>
            <a:xfrm>
              <a:off x="3666134" y="6762337"/>
              <a:ext cx="2092218"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Tụ không khí biến thiên</a:t>
              </a:r>
              <a:endParaRPr sz="1300" b="1">
                <a:solidFill>
                  <a:srgbClr val="000000"/>
                </a:solidFill>
                <a:latin typeface="Arial"/>
                <a:ea typeface="Arial"/>
                <a:cs typeface="Arial"/>
                <a:sym typeface="Arial"/>
              </a:endParaRPr>
            </a:p>
          </p:txBody>
        </p:sp>
        <p:sp>
          <p:nvSpPr>
            <p:cNvPr id="3109" name="Google Shape;3109;p162"/>
            <p:cNvSpPr txBox="1"/>
            <p:nvPr/>
          </p:nvSpPr>
          <p:spPr>
            <a:xfrm>
              <a:off x="6750995" y="6762337"/>
              <a:ext cx="1450422"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Tụ điện tinh chỉnh</a:t>
              </a:r>
              <a:endParaRPr sz="1300" b="1">
                <a:solidFill>
                  <a:srgbClr val="000000"/>
                </a:solidFill>
                <a:latin typeface="Arial"/>
                <a:ea typeface="Arial"/>
                <a:cs typeface="Arial"/>
                <a:sym typeface="Arial"/>
              </a:endParaRPr>
            </a:p>
          </p:txBody>
        </p:sp>
      </p:grpSp>
      <p:sp>
        <p:nvSpPr>
          <p:cNvPr id="2" name="Google Shape;3441;p182">
            <a:extLst>
              <a:ext uri="{FF2B5EF4-FFF2-40B4-BE49-F238E27FC236}">
                <a16:creationId xmlns:a16="http://schemas.microsoft.com/office/drawing/2014/main" id="{6C762BFC-0580-7568-8749-28952C75B081}"/>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3115"/>
        <p:cNvGrpSpPr/>
        <p:nvPr/>
      </p:nvGrpSpPr>
      <p:grpSpPr>
        <a:xfrm>
          <a:off x="0" y="0"/>
          <a:ext cx="0" cy="0"/>
          <a:chOff x="0" y="0"/>
          <a:chExt cx="0" cy="0"/>
        </a:xfrm>
      </p:grpSpPr>
      <p:sp>
        <p:nvSpPr>
          <p:cNvPr id="3117" name="Google Shape;3117;p163"/>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Tụ điện gốm (Tiếp theo)  </a:t>
            </a:r>
            <a:endParaRPr/>
          </a:p>
        </p:txBody>
      </p:sp>
      <p:grpSp>
        <p:nvGrpSpPr>
          <p:cNvPr id="3118" name="Google Shape;3118;p163"/>
          <p:cNvGrpSpPr/>
          <p:nvPr/>
        </p:nvGrpSpPr>
        <p:grpSpPr>
          <a:xfrm>
            <a:off x="839638" y="1941474"/>
            <a:ext cx="7534925" cy="897397"/>
            <a:chOff x="917695" y="1952625"/>
            <a:chExt cx="7534925" cy="897397"/>
          </a:xfrm>
        </p:grpSpPr>
        <p:pic>
          <p:nvPicPr>
            <p:cNvPr id="3119" name="Google Shape;3119;p163" descr="img59.gif"/>
            <p:cNvPicPr preferRelativeResize="0"/>
            <p:nvPr/>
          </p:nvPicPr>
          <p:blipFill rotWithShape="1">
            <a:blip r:embed="rId3">
              <a:alphaModFix/>
            </a:blip>
            <a:srcRect/>
            <a:stretch/>
          </p:blipFill>
          <p:spPr>
            <a:xfrm>
              <a:off x="917695" y="1952625"/>
              <a:ext cx="511674" cy="897397"/>
            </a:xfrm>
            <a:prstGeom prst="rect">
              <a:avLst/>
            </a:prstGeom>
            <a:noFill/>
            <a:ln>
              <a:noFill/>
            </a:ln>
          </p:spPr>
        </p:pic>
        <p:pic>
          <p:nvPicPr>
            <p:cNvPr id="3120" name="Google Shape;3120;p163" descr="img60.gif"/>
            <p:cNvPicPr preferRelativeResize="0"/>
            <p:nvPr/>
          </p:nvPicPr>
          <p:blipFill rotWithShape="1">
            <a:blip r:embed="rId4">
              <a:alphaModFix/>
            </a:blip>
            <a:srcRect/>
            <a:stretch/>
          </p:blipFill>
          <p:spPr>
            <a:xfrm>
              <a:off x="4951413" y="1952625"/>
              <a:ext cx="527417" cy="897397"/>
            </a:xfrm>
            <a:prstGeom prst="rect">
              <a:avLst/>
            </a:prstGeom>
            <a:noFill/>
            <a:ln>
              <a:noFill/>
            </a:ln>
          </p:spPr>
        </p:pic>
        <p:sp>
          <p:nvSpPr>
            <p:cNvPr id="3121" name="Google Shape;3121;p163"/>
            <p:cNvSpPr txBox="1"/>
            <p:nvPr/>
          </p:nvSpPr>
          <p:spPr>
            <a:xfrm>
              <a:off x="1511504" y="2074745"/>
              <a:ext cx="2763965" cy="430887"/>
            </a:xfrm>
            <a:prstGeom prst="rect">
              <a:avLst/>
            </a:prstGeom>
            <a:blipFill rotWithShape="1">
              <a:blip r:embed="rId5">
                <a:alphaModFix/>
              </a:blip>
              <a:stretch>
                <a:fillRect l="-43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latin typeface="Calibri"/>
                  <a:ea typeface="Calibri"/>
                  <a:cs typeface="Calibri"/>
                  <a:sym typeface="Calibri"/>
                </a:rPr>
                <a:t> </a:t>
              </a:r>
              <a:endParaRPr dirty="0"/>
            </a:p>
          </p:txBody>
        </p:sp>
        <p:sp>
          <p:nvSpPr>
            <p:cNvPr id="3122" name="Google Shape;3122;p163"/>
            <p:cNvSpPr txBox="1"/>
            <p:nvPr/>
          </p:nvSpPr>
          <p:spPr>
            <a:xfrm>
              <a:off x="5688655" y="2074745"/>
              <a:ext cx="2763965" cy="595228"/>
            </a:xfrm>
            <a:prstGeom prst="rect">
              <a:avLst/>
            </a:prstGeom>
            <a:blipFill rotWithShape="1">
              <a:blip r:embed="rId6">
                <a:alphaModFix/>
              </a:blip>
              <a:stretch>
                <a:fillRect l="-21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graphicFrame>
        <p:nvGraphicFramePr>
          <p:cNvPr id="3124" name="Google Shape;3124;p163"/>
          <p:cNvGraphicFramePr/>
          <p:nvPr/>
        </p:nvGraphicFramePr>
        <p:xfrm>
          <a:off x="574562" y="3296597"/>
          <a:ext cx="8630850" cy="2387370"/>
        </p:xfrm>
        <a:graphic>
          <a:graphicData uri="http://schemas.openxmlformats.org/drawingml/2006/table">
            <a:tbl>
              <a:tblPr>
                <a:noFill/>
              </a:tblPr>
              <a:tblGrid>
                <a:gridCol w="2876950">
                  <a:extLst>
                    <a:ext uri="{9D8B030D-6E8A-4147-A177-3AD203B41FA5}">
                      <a16:colId xmlns:a16="http://schemas.microsoft.com/office/drawing/2014/main" val="20000"/>
                    </a:ext>
                  </a:extLst>
                </a:gridCol>
                <a:gridCol w="2876950">
                  <a:extLst>
                    <a:ext uri="{9D8B030D-6E8A-4147-A177-3AD203B41FA5}">
                      <a16:colId xmlns:a16="http://schemas.microsoft.com/office/drawing/2014/main" val="20001"/>
                    </a:ext>
                  </a:extLst>
                </a:gridCol>
                <a:gridCol w="2876950">
                  <a:extLst>
                    <a:ext uri="{9D8B030D-6E8A-4147-A177-3AD203B41FA5}">
                      <a16:colId xmlns:a16="http://schemas.microsoft.com/office/drawing/2014/main" val="20002"/>
                    </a:ext>
                  </a:extLst>
                </a:gridCol>
              </a:tblGrid>
              <a:tr h="250850">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Ký hiệu</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Giá trị chuyển đổi</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Đơn vị</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101</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100</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pF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102</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0,001</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103</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0,01</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104</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0,1</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223</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0,022</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333</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0,033</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473</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0,047</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7"/>
                  </a:ext>
                </a:extLst>
              </a:tr>
              <a:tr h="2371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474</a:t>
                      </a:r>
                      <a:endParaRPr/>
                    </a:p>
                  </a:txBody>
                  <a:tcPr marL="90000" marR="90000" marT="32725" marB="32725"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0,47</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μF</a:t>
                      </a:r>
                      <a:endParaRPr/>
                    </a:p>
                  </a:txBody>
                  <a:tcPr marL="90000" marR="90000" marT="32725" marB="3272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2" name="Google Shape;3441;p182">
            <a:extLst>
              <a:ext uri="{FF2B5EF4-FFF2-40B4-BE49-F238E27FC236}">
                <a16:creationId xmlns:a16="http://schemas.microsoft.com/office/drawing/2014/main" id="{CFC1A311-4552-AFCD-4DD5-02EB672F07F0}"/>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129"/>
        <p:cNvGrpSpPr/>
        <p:nvPr/>
      </p:nvGrpSpPr>
      <p:grpSpPr>
        <a:xfrm>
          <a:off x="0" y="0"/>
          <a:ext cx="0" cy="0"/>
          <a:chOff x="0" y="0"/>
          <a:chExt cx="0" cy="0"/>
        </a:xfrm>
      </p:grpSpPr>
      <p:sp>
        <p:nvSpPr>
          <p:cNvPr id="3130" name="Google Shape;3130;p164"/>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Điốt</a:t>
            </a:r>
            <a:endParaRPr sz="2400" b="1">
              <a:solidFill>
                <a:srgbClr val="0C0C0C"/>
              </a:solidFill>
              <a:latin typeface="Arial"/>
              <a:ea typeface="Arial"/>
              <a:cs typeface="Arial"/>
              <a:sym typeface="Arial"/>
            </a:endParaRPr>
          </a:p>
        </p:txBody>
      </p:sp>
      <p:sp>
        <p:nvSpPr>
          <p:cNvPr id="3132" name="Google Shape;3132;p164"/>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Chức năng và các loại điốt </a:t>
            </a:r>
            <a:endParaRPr/>
          </a:p>
        </p:txBody>
      </p:sp>
      <p:sp>
        <p:nvSpPr>
          <p:cNvPr id="3133" name="Google Shape;3133;p164"/>
          <p:cNvSpPr/>
          <p:nvPr/>
        </p:nvSpPr>
        <p:spPr>
          <a:xfrm>
            <a:off x="712182" y="2174873"/>
            <a:ext cx="8487381" cy="648074"/>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Hiệu úng chỉnh lưu: Dòng điện chỉ chạy theo chiều thuận (cực dương -&gt; cực âm) và trong trường hợp ngược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chiều, hầu như không có dòng điện chạy qua (hiệu ứng chuyển đổi dòng xoay chiều thành dòng một chiều).</a:t>
            </a:r>
            <a:endParaRPr/>
          </a:p>
        </p:txBody>
      </p:sp>
      <p:sp>
        <p:nvSpPr>
          <p:cNvPr id="3134" name="Google Shape;3134;p164"/>
          <p:cNvSpPr/>
          <p:nvPr/>
        </p:nvSpPr>
        <p:spPr>
          <a:xfrm>
            <a:off x="580388" y="3856162"/>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Đặc điểm của phân cực thuận và phân cực ngược</a:t>
            </a:r>
            <a:endParaRPr sz="1400">
              <a:solidFill>
                <a:schemeClr val="dk1"/>
              </a:solidFill>
              <a:latin typeface="Arial"/>
              <a:ea typeface="Arial"/>
              <a:cs typeface="Arial"/>
              <a:sym typeface="Arial"/>
            </a:endParaRPr>
          </a:p>
        </p:txBody>
      </p:sp>
      <p:grpSp>
        <p:nvGrpSpPr>
          <p:cNvPr id="3135" name="Google Shape;3135;p164"/>
          <p:cNvGrpSpPr/>
          <p:nvPr/>
        </p:nvGrpSpPr>
        <p:grpSpPr>
          <a:xfrm>
            <a:off x="3684896" y="2798445"/>
            <a:ext cx="2284104" cy="936625"/>
            <a:chOff x="3684896" y="2752725"/>
            <a:chExt cx="2284104" cy="936625"/>
          </a:xfrm>
        </p:grpSpPr>
        <p:graphicFrame>
          <p:nvGraphicFramePr>
            <p:cNvPr id="3136" name="Google Shape;3136;p164"/>
            <p:cNvGraphicFramePr/>
            <p:nvPr/>
          </p:nvGraphicFramePr>
          <p:xfrm>
            <a:off x="3937000" y="2752725"/>
            <a:ext cx="2032000" cy="936625"/>
          </p:xfrm>
          <a:graphic>
            <a:graphicData uri="http://schemas.openxmlformats.org/presentationml/2006/ole">
              <mc:AlternateContent xmlns:mc="http://schemas.openxmlformats.org/markup-compatibility/2006">
                <mc:Choice xmlns:v="urn:schemas-microsoft-com:vml" Requires="v">
                  <p:oleObj r:id="rId3" imgW="2032000" imgH="936625" progId="Visio.Drawing.5">
                    <p:embed/>
                  </p:oleObj>
                </mc:Choice>
                <mc:Fallback>
                  <p:oleObj r:id="rId3" imgW="2032000" imgH="936625" progId="Visio.Drawing.5">
                    <p:embed/>
                    <p:pic>
                      <p:nvPicPr>
                        <p:cNvPr id="3136" name="Google Shape;3136;p164"/>
                        <p:cNvPicPr preferRelativeResize="0"/>
                        <p:nvPr/>
                      </p:nvPicPr>
                      <p:blipFill rotWithShape="1">
                        <a:blip r:embed="rId4">
                          <a:alphaModFix/>
                        </a:blip>
                        <a:srcRect/>
                        <a:stretch/>
                      </p:blipFill>
                      <p:spPr>
                        <a:xfrm>
                          <a:off x="3937000" y="2752725"/>
                          <a:ext cx="2032000" cy="936625"/>
                        </a:xfrm>
                        <a:prstGeom prst="rect">
                          <a:avLst/>
                        </a:prstGeom>
                        <a:noFill/>
                        <a:ln>
                          <a:noFill/>
                        </a:ln>
                      </p:spPr>
                    </p:pic>
                  </p:oleObj>
                </mc:Fallback>
              </mc:AlternateContent>
            </a:graphicData>
          </a:graphic>
        </p:graphicFrame>
        <p:sp>
          <p:nvSpPr>
            <p:cNvPr id="3137" name="Google Shape;3137;p164"/>
            <p:cNvSpPr txBox="1"/>
            <p:nvPr/>
          </p:nvSpPr>
          <p:spPr>
            <a:xfrm>
              <a:off x="3684896" y="3307050"/>
              <a:ext cx="860743"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Cực dương</a:t>
              </a:r>
              <a:endParaRPr/>
            </a:p>
          </p:txBody>
        </p:sp>
        <p:sp>
          <p:nvSpPr>
            <p:cNvPr id="3138" name="Google Shape;3138;p164"/>
            <p:cNvSpPr txBox="1"/>
            <p:nvPr/>
          </p:nvSpPr>
          <p:spPr>
            <a:xfrm>
              <a:off x="5311002" y="3307050"/>
              <a:ext cx="65799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Cực âm</a:t>
              </a:r>
              <a:endParaRPr sz="1200">
                <a:solidFill>
                  <a:srgbClr val="000000"/>
                </a:solidFill>
                <a:latin typeface="Arial"/>
                <a:ea typeface="Arial"/>
                <a:cs typeface="Arial"/>
                <a:sym typeface="Arial"/>
              </a:endParaRPr>
            </a:p>
          </p:txBody>
        </p:sp>
        <p:sp>
          <p:nvSpPr>
            <p:cNvPr id="3139" name="Google Shape;3139;p164"/>
            <p:cNvSpPr txBox="1"/>
            <p:nvPr/>
          </p:nvSpPr>
          <p:spPr>
            <a:xfrm>
              <a:off x="3684896" y="2767333"/>
              <a:ext cx="860743"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Cực dương</a:t>
              </a:r>
              <a:endParaRPr/>
            </a:p>
          </p:txBody>
        </p:sp>
        <p:sp>
          <p:nvSpPr>
            <p:cNvPr id="3140" name="Google Shape;3140;p164"/>
            <p:cNvSpPr txBox="1"/>
            <p:nvPr/>
          </p:nvSpPr>
          <p:spPr>
            <a:xfrm>
              <a:off x="5311002" y="2767333"/>
              <a:ext cx="65799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Cực âm</a:t>
              </a:r>
              <a:endParaRPr sz="1200">
                <a:solidFill>
                  <a:srgbClr val="000000"/>
                </a:solidFill>
                <a:latin typeface="Arial"/>
                <a:ea typeface="Arial"/>
                <a:cs typeface="Arial"/>
                <a:sym typeface="Arial"/>
              </a:endParaRPr>
            </a:p>
          </p:txBody>
        </p:sp>
        <p:sp>
          <p:nvSpPr>
            <p:cNvPr id="3141" name="Google Shape;3141;p164"/>
            <p:cNvSpPr txBox="1"/>
            <p:nvPr/>
          </p:nvSpPr>
          <p:spPr>
            <a:xfrm>
              <a:off x="4693898" y="2866298"/>
              <a:ext cx="206237" cy="200055"/>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00">
                  <a:solidFill>
                    <a:srgbClr val="000000"/>
                  </a:solidFill>
                  <a:latin typeface="Arial"/>
                  <a:ea typeface="Arial"/>
                  <a:cs typeface="Arial"/>
                  <a:sym typeface="Arial"/>
                </a:rPr>
                <a:t>P</a:t>
              </a:r>
              <a:endParaRPr/>
            </a:p>
          </p:txBody>
        </p:sp>
        <p:sp>
          <p:nvSpPr>
            <p:cNvPr id="3142" name="Google Shape;3142;p164"/>
            <p:cNvSpPr txBox="1"/>
            <p:nvPr/>
          </p:nvSpPr>
          <p:spPr>
            <a:xfrm>
              <a:off x="5002691" y="2866298"/>
              <a:ext cx="206237" cy="200055"/>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00">
                  <a:solidFill>
                    <a:srgbClr val="000000"/>
                  </a:solidFill>
                  <a:latin typeface="Arial"/>
                  <a:ea typeface="Arial"/>
                  <a:cs typeface="Arial"/>
                  <a:sym typeface="Arial"/>
                </a:rPr>
                <a:t>N</a:t>
              </a:r>
              <a:endParaRPr/>
            </a:p>
          </p:txBody>
        </p:sp>
      </p:grpSp>
      <p:pic>
        <p:nvPicPr>
          <p:cNvPr id="3144" name="Google Shape;3144;p164"/>
          <p:cNvPicPr preferRelativeResize="0"/>
          <p:nvPr/>
        </p:nvPicPr>
        <p:blipFill rotWithShape="1">
          <a:blip r:embed="rId5">
            <a:alphaModFix/>
          </a:blip>
          <a:srcRect/>
          <a:stretch/>
        </p:blipFill>
        <p:spPr>
          <a:xfrm>
            <a:off x="710395" y="4192698"/>
            <a:ext cx="8744589" cy="2225995"/>
          </a:xfrm>
          <a:prstGeom prst="rect">
            <a:avLst/>
          </a:prstGeom>
          <a:noFill/>
          <a:ln>
            <a:noFill/>
          </a:ln>
        </p:spPr>
      </p:pic>
      <p:sp>
        <p:nvSpPr>
          <p:cNvPr id="2" name="Google Shape;3441;p182">
            <a:extLst>
              <a:ext uri="{FF2B5EF4-FFF2-40B4-BE49-F238E27FC236}">
                <a16:creationId xmlns:a16="http://schemas.microsoft.com/office/drawing/2014/main" id="{D56DCDD0-5042-6823-9E6F-6B312359EDB7}"/>
              </a:ext>
            </a:extLst>
          </p:cNvPr>
          <p:cNvSpPr/>
          <p:nvPr/>
        </p:nvSpPr>
        <p:spPr>
          <a:xfrm>
            <a:off x="568528" y="5972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3149"/>
        <p:cNvGrpSpPr/>
        <p:nvPr/>
      </p:nvGrpSpPr>
      <p:grpSpPr>
        <a:xfrm>
          <a:off x="0" y="0"/>
          <a:ext cx="0" cy="0"/>
          <a:chOff x="0" y="0"/>
          <a:chExt cx="0" cy="0"/>
        </a:xfrm>
      </p:grpSpPr>
      <p:sp>
        <p:nvSpPr>
          <p:cNvPr id="3151" name="Google Shape;3151;p165"/>
          <p:cNvSpPr/>
          <p:nvPr/>
        </p:nvSpPr>
        <p:spPr>
          <a:xfrm>
            <a:off x="712182" y="1698510"/>
            <a:ext cx="8602299" cy="2864065"/>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Điốt vạn năng</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Là loại điốt cơ bản nhất và được phân loại thành điốt germanium và điốt silicon. Sử dụng cho hầu hết các ứng dụng (phát hiện, chỉnh lưu, chuyển mạch, v.v.) và độ sụt áp thuận khoảng 0,7 [V].</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Điốt rào cản schottky</a:t>
            </a:r>
            <a:endParaRPr sz="1300">
              <a:solidFill>
                <a:srgbClr val="262626"/>
              </a:solidFill>
              <a:latin typeface="Arial"/>
              <a:ea typeface="Arial"/>
              <a:cs typeface="Arial"/>
              <a:sym typeface="Arial"/>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Sử dụng để chuyển mạch tốc độ cao, trong bộ trộn vi sóng, v.v. và có đặc điểm là độ sụt áp thuận rất thấp ở mức 0,2 [V].</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Điốt PIN </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Là một cấu trúc chuyển tiếp PN đặc biệt để chuyển mạch cao tần.</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Điốt zener</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Khi điện áp vượt quá một mức điện áp nhất định, dòng điện ngược chiều chạy qua nhanh, do vậy điốt được sử dụng  cho mạch có điện áp không đổi hoặc điện áp chuẩn.</a:t>
            </a:r>
            <a:endParaRPr/>
          </a:p>
        </p:txBody>
      </p:sp>
      <p:sp>
        <p:nvSpPr>
          <p:cNvPr id="3152" name="Google Shape;3152;p165"/>
          <p:cNvSpPr/>
          <p:nvPr/>
        </p:nvSpPr>
        <p:spPr>
          <a:xfrm>
            <a:off x="580388" y="146839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loại điốt</a:t>
            </a:r>
            <a:endParaRPr sz="1400">
              <a:solidFill>
                <a:schemeClr val="dk1"/>
              </a:solidFill>
              <a:latin typeface="Arial"/>
              <a:ea typeface="Arial"/>
              <a:cs typeface="Arial"/>
              <a:sym typeface="Arial"/>
            </a:endParaRPr>
          </a:p>
        </p:txBody>
      </p:sp>
      <p:graphicFrame>
        <p:nvGraphicFramePr>
          <p:cNvPr id="3154" name="Google Shape;3154;p165"/>
          <p:cNvGraphicFramePr/>
          <p:nvPr/>
        </p:nvGraphicFramePr>
        <p:xfrm>
          <a:off x="2506980" y="4655950"/>
          <a:ext cx="4793000" cy="1515375"/>
        </p:xfrm>
        <a:graphic>
          <a:graphicData uri="http://schemas.openxmlformats.org/drawingml/2006/table">
            <a:tbl>
              <a:tblPr>
                <a:noFill/>
              </a:tblPr>
              <a:tblGrid>
                <a:gridCol w="1767850">
                  <a:extLst>
                    <a:ext uri="{9D8B030D-6E8A-4147-A177-3AD203B41FA5}">
                      <a16:colId xmlns:a16="http://schemas.microsoft.com/office/drawing/2014/main" val="20000"/>
                    </a:ext>
                  </a:extLst>
                </a:gridCol>
                <a:gridCol w="3025150">
                  <a:extLst>
                    <a:ext uri="{9D8B030D-6E8A-4147-A177-3AD203B41FA5}">
                      <a16:colId xmlns:a16="http://schemas.microsoft.com/office/drawing/2014/main" val="20001"/>
                    </a:ext>
                  </a:extLst>
                </a:gridCol>
              </a:tblGrid>
              <a:tr h="1515375">
                <a:tc>
                  <a:txBody>
                    <a:bodyPr/>
                    <a:lstStyle/>
                    <a:p>
                      <a:pPr marL="0" marR="0" lvl="0" indent="0" algn="l" rtl="0">
                        <a:lnSpc>
                          <a:spcPct val="100000"/>
                        </a:lnSpc>
                        <a:spcBef>
                          <a:spcPts val="0"/>
                        </a:spcBef>
                        <a:spcAft>
                          <a:spcPts val="0"/>
                        </a:spcAft>
                        <a:buClr>
                          <a:schemeClr val="dk1"/>
                        </a:buClr>
                        <a:buSzPts val="1100"/>
                        <a:buFont typeface="Noto Sans Symbols"/>
                        <a:buNone/>
                      </a:pPr>
                      <a:endParaRPr sz="1100" b="0" i="0" u="none" strike="noStrike" cap="none">
                        <a:solidFill>
                          <a:srgbClr val="1429A0"/>
                        </a:solidFill>
                        <a:latin typeface="Arial"/>
                        <a:ea typeface="Arial"/>
                        <a:cs typeface="Arial"/>
                        <a:sym typeface="Arial"/>
                      </a:endParaRPr>
                    </a:p>
                  </a:txBody>
                  <a:tcPr marL="91450" marR="91450" marT="37775" marB="37775">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182563" marR="0" lvl="0" indent="-136525" algn="just" rtl="0">
                        <a:lnSpc>
                          <a:spcPct val="100000"/>
                        </a:lnSpc>
                        <a:spcBef>
                          <a:spcPts val="0"/>
                        </a:spcBef>
                        <a:spcAft>
                          <a:spcPts val="0"/>
                        </a:spcAft>
                        <a:buClr>
                          <a:srgbClr val="1429A0"/>
                        </a:buClr>
                        <a:buSzPts val="1300"/>
                        <a:buFont typeface="Arial"/>
                        <a:buChar char="•"/>
                      </a:pPr>
                      <a:r>
                        <a:rPr lang="en-US" sz="1300" u="none" strike="noStrike" cap="none">
                          <a:solidFill>
                            <a:srgbClr val="1429A0"/>
                          </a:solidFill>
                          <a:latin typeface="Arial"/>
                          <a:ea typeface="Arial"/>
                          <a:cs typeface="Arial"/>
                          <a:sym typeface="Arial"/>
                        </a:rPr>
                        <a:t>Điốt germanium vạn năng</a:t>
                      </a:r>
                      <a:endParaRPr sz="1300" u="none" strike="noStrike" cap="none">
                        <a:solidFill>
                          <a:srgbClr val="1429A0"/>
                        </a:solidFill>
                        <a:latin typeface="Arial"/>
                        <a:ea typeface="Arial"/>
                        <a:cs typeface="Arial"/>
                        <a:sym typeface="Arial"/>
                      </a:endParaRPr>
                    </a:p>
                    <a:p>
                      <a:pPr marL="182563" marR="0" lvl="0" indent="-136525" algn="just" rtl="0">
                        <a:lnSpc>
                          <a:spcPct val="100000"/>
                        </a:lnSpc>
                        <a:spcBef>
                          <a:spcPts val="0"/>
                        </a:spcBef>
                        <a:spcAft>
                          <a:spcPts val="0"/>
                        </a:spcAft>
                        <a:buClr>
                          <a:srgbClr val="1429A0"/>
                        </a:buClr>
                        <a:buSzPts val="1300"/>
                        <a:buFont typeface="Arial"/>
                        <a:buChar char="•"/>
                      </a:pPr>
                      <a:r>
                        <a:rPr lang="en-US" sz="1300" u="none" strike="noStrike" cap="none">
                          <a:solidFill>
                            <a:srgbClr val="1429A0"/>
                          </a:solidFill>
                          <a:latin typeface="Arial"/>
                          <a:ea typeface="Arial"/>
                          <a:cs typeface="Arial"/>
                          <a:sym typeface="Arial"/>
                        </a:rPr>
                        <a:t>Điốt germanium vạn năng </a:t>
                      </a:r>
                      <a:endParaRPr/>
                    </a:p>
                    <a:p>
                      <a:pPr marL="182563" marR="0" lvl="0" indent="-136525" algn="just" rtl="0">
                        <a:lnSpc>
                          <a:spcPct val="100000"/>
                        </a:lnSpc>
                        <a:spcBef>
                          <a:spcPts val="0"/>
                        </a:spcBef>
                        <a:spcAft>
                          <a:spcPts val="0"/>
                        </a:spcAft>
                        <a:buClr>
                          <a:srgbClr val="1429A0"/>
                        </a:buClr>
                        <a:buSzPts val="1300"/>
                        <a:buFont typeface="Arial"/>
                        <a:buChar char="•"/>
                      </a:pPr>
                      <a:r>
                        <a:rPr lang="en-US" sz="1300" u="none" strike="noStrike" cap="none">
                          <a:solidFill>
                            <a:srgbClr val="1429A0"/>
                          </a:solidFill>
                          <a:latin typeface="Arial"/>
                          <a:ea typeface="Arial"/>
                          <a:cs typeface="Arial"/>
                          <a:sym typeface="Arial"/>
                        </a:rPr>
                        <a:t>Điốt silicon vạn năng</a:t>
                      </a:r>
                      <a:endParaRPr sz="1300" u="none" strike="noStrike" cap="none">
                        <a:solidFill>
                          <a:srgbClr val="1429A0"/>
                        </a:solidFill>
                        <a:latin typeface="Arial"/>
                        <a:ea typeface="Arial"/>
                        <a:cs typeface="Arial"/>
                        <a:sym typeface="Arial"/>
                      </a:endParaRPr>
                    </a:p>
                    <a:p>
                      <a:pPr marL="182563" marR="0" lvl="0" indent="-136525" algn="just" rtl="0">
                        <a:lnSpc>
                          <a:spcPct val="100000"/>
                        </a:lnSpc>
                        <a:spcBef>
                          <a:spcPts val="0"/>
                        </a:spcBef>
                        <a:spcAft>
                          <a:spcPts val="0"/>
                        </a:spcAft>
                        <a:buClr>
                          <a:srgbClr val="1429A0"/>
                        </a:buClr>
                        <a:buSzPts val="1300"/>
                        <a:buFont typeface="Arial"/>
                        <a:buChar char="•"/>
                      </a:pPr>
                      <a:r>
                        <a:rPr lang="en-US" sz="1300" u="none" strike="noStrike" cap="none">
                          <a:solidFill>
                            <a:srgbClr val="1429A0"/>
                          </a:solidFill>
                          <a:latin typeface="Arial"/>
                          <a:ea typeface="Arial"/>
                          <a:cs typeface="Arial"/>
                          <a:sym typeface="Arial"/>
                        </a:rPr>
                        <a:t>Điốt rào cản schottky</a:t>
                      </a:r>
                      <a:endParaRPr sz="1300" u="none" strike="noStrike" cap="none">
                        <a:solidFill>
                          <a:srgbClr val="1429A0"/>
                        </a:solidFill>
                        <a:latin typeface="Arial"/>
                        <a:ea typeface="Arial"/>
                        <a:cs typeface="Arial"/>
                        <a:sym typeface="Arial"/>
                      </a:endParaRPr>
                    </a:p>
                    <a:p>
                      <a:pPr marL="182563" marR="0" lvl="0" indent="-136525" algn="just" rtl="0">
                        <a:lnSpc>
                          <a:spcPct val="100000"/>
                        </a:lnSpc>
                        <a:spcBef>
                          <a:spcPts val="0"/>
                        </a:spcBef>
                        <a:spcAft>
                          <a:spcPts val="0"/>
                        </a:spcAft>
                        <a:buClr>
                          <a:srgbClr val="1429A0"/>
                        </a:buClr>
                        <a:buSzPts val="1300"/>
                        <a:buFont typeface="Arial"/>
                        <a:buChar char="•"/>
                      </a:pPr>
                      <a:r>
                        <a:rPr lang="en-US" sz="1300" u="none" strike="noStrike" cap="none">
                          <a:solidFill>
                            <a:srgbClr val="1429A0"/>
                          </a:solidFill>
                          <a:latin typeface="Arial"/>
                          <a:ea typeface="Arial"/>
                          <a:cs typeface="Arial"/>
                          <a:sym typeface="Arial"/>
                        </a:rPr>
                        <a:t>Điốt zener</a:t>
                      </a:r>
                      <a:endParaRPr sz="1300" u="none" strike="noStrike" cap="none">
                        <a:solidFill>
                          <a:srgbClr val="1429A0"/>
                        </a:solidFill>
                        <a:latin typeface="Arial"/>
                        <a:ea typeface="Arial"/>
                        <a:cs typeface="Arial"/>
                        <a:sym typeface="Arial"/>
                      </a:endParaRPr>
                    </a:p>
                    <a:p>
                      <a:pPr marL="182563" marR="0" lvl="0" indent="-136525" algn="just" rtl="0">
                        <a:lnSpc>
                          <a:spcPct val="100000"/>
                        </a:lnSpc>
                        <a:spcBef>
                          <a:spcPts val="0"/>
                        </a:spcBef>
                        <a:spcAft>
                          <a:spcPts val="0"/>
                        </a:spcAft>
                        <a:buClr>
                          <a:srgbClr val="1429A0"/>
                        </a:buClr>
                        <a:buSzPts val="1300"/>
                        <a:buFont typeface="Arial"/>
                        <a:buChar char="•"/>
                      </a:pPr>
                      <a:r>
                        <a:rPr lang="en-US" sz="1300" u="none" strike="noStrike" cap="none">
                          <a:solidFill>
                            <a:srgbClr val="1429A0"/>
                          </a:solidFill>
                          <a:latin typeface="Arial"/>
                          <a:ea typeface="Arial"/>
                          <a:cs typeface="Arial"/>
                          <a:sym typeface="Arial"/>
                        </a:rPr>
                        <a:t>Điốt Zener</a:t>
                      </a:r>
                      <a:endParaRPr/>
                    </a:p>
                  </a:txBody>
                  <a:tcPr marL="90000" marR="90000" marT="38675" marB="38675"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3155" name="Google Shape;3155;p165"/>
          <p:cNvPicPr preferRelativeResize="0"/>
          <p:nvPr/>
        </p:nvPicPr>
        <p:blipFill rotWithShape="1">
          <a:blip r:embed="rId3">
            <a:alphaModFix/>
          </a:blip>
          <a:srcRect/>
          <a:stretch/>
        </p:blipFill>
        <p:spPr>
          <a:xfrm>
            <a:off x="2506980" y="4658592"/>
            <a:ext cx="1767840" cy="1497223"/>
          </a:xfrm>
          <a:prstGeom prst="rect">
            <a:avLst/>
          </a:prstGeom>
          <a:noFill/>
          <a:ln>
            <a:noFill/>
          </a:ln>
        </p:spPr>
      </p:pic>
      <p:sp>
        <p:nvSpPr>
          <p:cNvPr id="2" name="Google Shape;3441;p182">
            <a:extLst>
              <a:ext uri="{FF2B5EF4-FFF2-40B4-BE49-F238E27FC236}">
                <a16:creationId xmlns:a16="http://schemas.microsoft.com/office/drawing/2014/main" id="{30FD0CB3-6B80-8816-0CCC-93DEFC4E6D9A}"/>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160"/>
        <p:cNvGrpSpPr/>
        <p:nvPr/>
      </p:nvGrpSpPr>
      <p:grpSpPr>
        <a:xfrm>
          <a:off x="0" y="0"/>
          <a:ext cx="0" cy="0"/>
          <a:chOff x="0" y="0"/>
          <a:chExt cx="0" cy="0"/>
        </a:xfrm>
      </p:grpSpPr>
      <p:sp>
        <p:nvSpPr>
          <p:cNvPr id="3161" name="Google Shape;3161;p166"/>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Transistor</a:t>
            </a:r>
            <a:endParaRPr/>
          </a:p>
        </p:txBody>
      </p:sp>
      <p:sp>
        <p:nvSpPr>
          <p:cNvPr id="3163" name="Google Shape;3163;p166"/>
          <p:cNvSpPr/>
          <p:nvPr/>
        </p:nvSpPr>
        <p:spPr>
          <a:xfrm>
            <a:off x="580388" y="189119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Mô tả hoạt động của transistor</a:t>
            </a:r>
            <a:endParaRPr/>
          </a:p>
        </p:txBody>
      </p:sp>
      <p:sp>
        <p:nvSpPr>
          <p:cNvPr id="3164" name="Google Shape;3164;p166"/>
          <p:cNvSpPr/>
          <p:nvPr/>
        </p:nvSpPr>
        <p:spPr>
          <a:xfrm>
            <a:off x="712182" y="3620210"/>
            <a:ext cx="8487381" cy="95072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Điều khiển van nước bằng một lực nhỏ (nhập tín hiệu từ cực gốc). Rất nhiều nước từ vòi chảy ra và kiểm soát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lượng nước (dòng điện qua cực thu).</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Các transistor có vai trò khuếch đại (tín hiệu analog) và chuyển mạch (tín hiệu digital).</a:t>
            </a:r>
            <a:endParaRPr/>
          </a:p>
        </p:txBody>
      </p:sp>
      <p:sp>
        <p:nvSpPr>
          <p:cNvPr id="3165" name="Google Shape;3165;p166"/>
          <p:cNvSpPr/>
          <p:nvPr/>
        </p:nvSpPr>
        <p:spPr>
          <a:xfrm>
            <a:off x="580388" y="4566811"/>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loại bóng bán dẫn</a:t>
            </a:r>
            <a:endParaRPr sz="1400">
              <a:solidFill>
                <a:schemeClr val="dk1"/>
              </a:solidFill>
              <a:latin typeface="Arial"/>
              <a:ea typeface="Arial"/>
              <a:cs typeface="Arial"/>
              <a:sym typeface="Arial"/>
            </a:endParaRPr>
          </a:p>
        </p:txBody>
      </p:sp>
      <p:grpSp>
        <p:nvGrpSpPr>
          <p:cNvPr id="3166" name="Google Shape;3166;p166"/>
          <p:cNvGrpSpPr/>
          <p:nvPr/>
        </p:nvGrpSpPr>
        <p:grpSpPr>
          <a:xfrm>
            <a:off x="2207930" y="2106640"/>
            <a:ext cx="6466531" cy="1455710"/>
            <a:chOff x="2207930" y="2159980"/>
            <a:chExt cx="6466531" cy="1455710"/>
          </a:xfrm>
        </p:grpSpPr>
        <p:graphicFrame>
          <p:nvGraphicFramePr>
            <p:cNvPr id="3167" name="Google Shape;3167;p166"/>
            <p:cNvGraphicFramePr/>
            <p:nvPr/>
          </p:nvGraphicFramePr>
          <p:xfrm>
            <a:off x="2324100" y="2285365"/>
            <a:ext cx="4456113" cy="1330325"/>
          </p:xfrm>
          <a:graphic>
            <a:graphicData uri="http://schemas.openxmlformats.org/presentationml/2006/ole">
              <mc:AlternateContent xmlns:mc="http://schemas.openxmlformats.org/markup-compatibility/2006">
                <mc:Choice xmlns:v="urn:schemas-microsoft-com:vml" Requires="v">
                  <p:oleObj r:id="rId3" imgW="4456113" imgH="1330325" progId="Visio.Drawing.5">
                    <p:embed/>
                  </p:oleObj>
                </mc:Choice>
                <mc:Fallback>
                  <p:oleObj r:id="rId3" imgW="4456113" imgH="1330325" progId="Visio.Drawing.5">
                    <p:embed/>
                    <p:pic>
                      <p:nvPicPr>
                        <p:cNvPr id="3167" name="Google Shape;3167;p166"/>
                        <p:cNvPicPr preferRelativeResize="0"/>
                        <p:nvPr/>
                      </p:nvPicPr>
                      <p:blipFill rotWithShape="1">
                        <a:blip r:embed="rId4">
                          <a:alphaModFix/>
                        </a:blip>
                        <a:srcRect/>
                        <a:stretch/>
                      </p:blipFill>
                      <p:spPr>
                        <a:xfrm>
                          <a:off x="2324100" y="2285365"/>
                          <a:ext cx="4456113" cy="1330325"/>
                        </a:xfrm>
                        <a:prstGeom prst="rect">
                          <a:avLst/>
                        </a:prstGeom>
                        <a:noFill/>
                        <a:ln>
                          <a:noFill/>
                        </a:ln>
                      </p:spPr>
                    </p:pic>
                  </p:oleObj>
                </mc:Fallback>
              </mc:AlternateContent>
            </a:graphicData>
          </a:graphic>
        </p:graphicFrame>
        <p:sp>
          <p:nvSpPr>
            <p:cNvPr id="3168" name="Google Shape;3168;p166"/>
            <p:cNvSpPr/>
            <p:nvPr/>
          </p:nvSpPr>
          <p:spPr>
            <a:xfrm>
              <a:off x="6896439" y="2159980"/>
              <a:ext cx="1778022" cy="827060"/>
            </a:xfrm>
            <a:prstGeom prst="wedgeRoundRectCallout">
              <a:avLst>
                <a:gd name="adj1" fmla="val -65600"/>
                <a:gd name="adj2" fmla="val 28252"/>
                <a:gd name="adj3" fmla="val 16667"/>
              </a:avLst>
            </a:prstGeom>
            <a:solidFill>
              <a:srgbClr val="D8D8D8"/>
            </a:solidFill>
            <a:ln w="9525" cap="flat" cmpd="sng">
              <a:solidFill>
                <a:srgbClr val="BFBFBF"/>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000000"/>
                  </a:solidFill>
                  <a:latin typeface="Arial"/>
                  <a:ea typeface="Arial"/>
                  <a:cs typeface="Arial"/>
                  <a:sym typeface="Arial"/>
                </a:rPr>
                <a:t>Cực nền (van nước),</a:t>
              </a:r>
              <a:endParaRPr/>
            </a:p>
            <a:p>
              <a:pPr marL="0" marR="0" lvl="0" indent="0" algn="ctr" rtl="0">
                <a:spcBef>
                  <a:spcPts val="0"/>
                </a:spcBef>
                <a:spcAft>
                  <a:spcPts val="0"/>
                </a:spcAft>
                <a:buNone/>
              </a:pPr>
              <a:r>
                <a:rPr lang="en-US" sz="1300">
                  <a:solidFill>
                    <a:srgbClr val="000000"/>
                  </a:solidFill>
                  <a:latin typeface="Arial"/>
                  <a:ea typeface="Arial"/>
                  <a:cs typeface="Arial"/>
                  <a:sym typeface="Arial"/>
                </a:rPr>
                <a:t>Cực thu (vòi nước),</a:t>
              </a:r>
              <a:endParaRPr/>
            </a:p>
            <a:p>
              <a:pPr marL="0" marR="0" lvl="0" indent="0" algn="ctr" rtl="0">
                <a:spcBef>
                  <a:spcPts val="0"/>
                </a:spcBef>
                <a:spcAft>
                  <a:spcPts val="0"/>
                </a:spcAft>
                <a:buNone/>
              </a:pPr>
              <a:r>
                <a:rPr lang="en-US" sz="1300">
                  <a:solidFill>
                    <a:srgbClr val="000000"/>
                  </a:solidFill>
                  <a:latin typeface="Arial"/>
                  <a:ea typeface="Arial"/>
                  <a:cs typeface="Arial"/>
                  <a:sym typeface="Arial"/>
                </a:rPr>
                <a:t>Cực phát (ống nước))</a:t>
              </a:r>
              <a:endParaRPr/>
            </a:p>
          </p:txBody>
        </p:sp>
        <p:sp>
          <p:nvSpPr>
            <p:cNvPr id="3169" name="Google Shape;3169;p166"/>
            <p:cNvSpPr txBox="1"/>
            <p:nvPr/>
          </p:nvSpPr>
          <p:spPr>
            <a:xfrm>
              <a:off x="2207930" y="2563109"/>
              <a:ext cx="77490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B (Cực gốc)</a:t>
              </a:r>
              <a:endParaRPr/>
            </a:p>
          </p:txBody>
        </p:sp>
        <p:sp>
          <p:nvSpPr>
            <p:cNvPr id="3170" name="Google Shape;3170;p166"/>
            <p:cNvSpPr txBox="1"/>
            <p:nvPr/>
          </p:nvSpPr>
          <p:spPr>
            <a:xfrm>
              <a:off x="3531992" y="2378443"/>
              <a:ext cx="89268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dirty="0">
                  <a:solidFill>
                    <a:srgbClr val="000000"/>
                  </a:solidFill>
                  <a:latin typeface="Arial"/>
                  <a:ea typeface="Arial"/>
                  <a:cs typeface="Arial"/>
                  <a:sym typeface="Arial"/>
                </a:rPr>
                <a:t>C (</a:t>
              </a:r>
              <a:r>
                <a:rPr lang="en-US" sz="1200" dirty="0" err="1">
                  <a:solidFill>
                    <a:srgbClr val="000000"/>
                  </a:solidFill>
                  <a:latin typeface="Arial"/>
                  <a:ea typeface="Arial"/>
                  <a:cs typeface="Arial"/>
                  <a:sym typeface="Arial"/>
                </a:rPr>
                <a:t>Cực</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thu</a:t>
              </a:r>
              <a:r>
                <a:rPr lang="en-US" sz="1200" dirty="0">
                  <a:solidFill>
                    <a:srgbClr val="000000"/>
                  </a:solidFill>
                  <a:latin typeface="Arial"/>
                  <a:ea typeface="Arial"/>
                  <a:cs typeface="Arial"/>
                  <a:sym typeface="Arial"/>
                </a:rPr>
                <a:t>)</a:t>
              </a:r>
              <a:endParaRPr dirty="0"/>
            </a:p>
          </p:txBody>
        </p:sp>
        <p:sp>
          <p:nvSpPr>
            <p:cNvPr id="3171" name="Google Shape;3171;p166"/>
            <p:cNvSpPr txBox="1"/>
            <p:nvPr/>
          </p:nvSpPr>
          <p:spPr>
            <a:xfrm>
              <a:off x="3510759" y="3042199"/>
              <a:ext cx="89268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E (Cực phát)</a:t>
              </a:r>
              <a:endParaRPr/>
            </a:p>
          </p:txBody>
        </p:sp>
        <p:sp>
          <p:nvSpPr>
            <p:cNvPr id="3172" name="Google Shape;3172;p166"/>
            <p:cNvSpPr txBox="1"/>
            <p:nvPr/>
          </p:nvSpPr>
          <p:spPr>
            <a:xfrm>
              <a:off x="2881942" y="3210403"/>
              <a:ext cx="892688" cy="36933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Loại NPN</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(2 SC, 2 SD)</a:t>
              </a:r>
              <a:endParaRPr/>
            </a:p>
          </p:txBody>
        </p:sp>
        <p:sp>
          <p:nvSpPr>
            <p:cNvPr id="3173" name="Google Shape;3173;p166"/>
            <p:cNvSpPr txBox="1"/>
            <p:nvPr/>
          </p:nvSpPr>
          <p:spPr>
            <a:xfrm>
              <a:off x="4687083" y="2563109"/>
              <a:ext cx="578606" cy="36933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B (Cực gốc)</a:t>
              </a:r>
              <a:endParaRPr/>
            </a:p>
          </p:txBody>
        </p:sp>
        <p:sp>
          <p:nvSpPr>
            <p:cNvPr id="3174" name="Google Shape;3174;p166"/>
            <p:cNvSpPr txBox="1"/>
            <p:nvPr/>
          </p:nvSpPr>
          <p:spPr>
            <a:xfrm>
              <a:off x="5814843" y="2378443"/>
              <a:ext cx="89268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C (Cực thu)</a:t>
              </a:r>
              <a:endParaRPr/>
            </a:p>
          </p:txBody>
        </p:sp>
        <p:sp>
          <p:nvSpPr>
            <p:cNvPr id="3175" name="Google Shape;3175;p166"/>
            <p:cNvSpPr txBox="1"/>
            <p:nvPr/>
          </p:nvSpPr>
          <p:spPr>
            <a:xfrm>
              <a:off x="5793610" y="3042199"/>
              <a:ext cx="892688"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E (Cực phát)</a:t>
              </a:r>
              <a:endParaRPr/>
            </a:p>
          </p:txBody>
        </p:sp>
        <p:sp>
          <p:nvSpPr>
            <p:cNvPr id="3176" name="Google Shape;3176;p166"/>
            <p:cNvSpPr txBox="1"/>
            <p:nvPr/>
          </p:nvSpPr>
          <p:spPr>
            <a:xfrm>
              <a:off x="5164793" y="3210403"/>
              <a:ext cx="892688" cy="36933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Loại PNP</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(2 SA, 2 SB)</a:t>
              </a:r>
              <a:endParaRPr/>
            </a:p>
          </p:txBody>
        </p:sp>
      </p:grpSp>
      <p:grpSp>
        <p:nvGrpSpPr>
          <p:cNvPr id="3177" name="Google Shape;3177;p166"/>
          <p:cNvGrpSpPr/>
          <p:nvPr/>
        </p:nvGrpSpPr>
        <p:grpSpPr>
          <a:xfrm>
            <a:off x="2113649" y="4772891"/>
            <a:ext cx="5677683" cy="1539471"/>
            <a:chOff x="2114158" y="5107212"/>
            <a:chExt cx="5677683" cy="1379517"/>
          </a:xfrm>
        </p:grpSpPr>
        <p:graphicFrame>
          <p:nvGraphicFramePr>
            <p:cNvPr id="3178" name="Google Shape;3178;p166"/>
            <p:cNvGraphicFramePr/>
            <p:nvPr/>
          </p:nvGraphicFramePr>
          <p:xfrm>
            <a:off x="2114158" y="5107212"/>
            <a:ext cx="5677683" cy="1231033"/>
          </p:xfrm>
          <a:graphic>
            <a:graphicData uri="http://schemas.openxmlformats.org/presentationml/2006/ole">
              <mc:AlternateContent xmlns:mc="http://schemas.openxmlformats.org/markup-compatibility/2006">
                <mc:Choice xmlns:v="urn:schemas-microsoft-com:vml" Requires="v">
                  <p:oleObj r:id="rId5" imgW="5677683" imgH="1231033" progId="Visio.Drawing.5">
                    <p:embed/>
                  </p:oleObj>
                </mc:Choice>
                <mc:Fallback>
                  <p:oleObj r:id="rId5" imgW="5677683" imgH="1231033" progId="Visio.Drawing.5">
                    <p:embed/>
                    <p:pic>
                      <p:nvPicPr>
                        <p:cNvPr id="3178" name="Google Shape;3178;p166"/>
                        <p:cNvPicPr preferRelativeResize="0"/>
                        <p:nvPr/>
                      </p:nvPicPr>
                      <p:blipFill rotWithShape="1">
                        <a:blip r:embed="rId6">
                          <a:alphaModFix/>
                        </a:blip>
                        <a:srcRect/>
                        <a:stretch/>
                      </p:blipFill>
                      <p:spPr>
                        <a:xfrm>
                          <a:off x="2114158" y="5107212"/>
                          <a:ext cx="5677683" cy="1231033"/>
                        </a:xfrm>
                        <a:prstGeom prst="rect">
                          <a:avLst/>
                        </a:prstGeom>
                        <a:noFill/>
                        <a:ln>
                          <a:noFill/>
                        </a:ln>
                      </p:spPr>
                    </p:pic>
                  </p:oleObj>
                </mc:Fallback>
              </mc:AlternateContent>
            </a:graphicData>
          </a:graphic>
        </p:graphicFrame>
        <p:sp>
          <p:nvSpPr>
            <p:cNvPr id="3179" name="Google Shape;3179;p166"/>
            <p:cNvSpPr txBox="1"/>
            <p:nvPr/>
          </p:nvSpPr>
          <p:spPr>
            <a:xfrm>
              <a:off x="4193797" y="5128591"/>
              <a:ext cx="986572"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Transistors</a:t>
              </a:r>
              <a:endParaRPr/>
            </a:p>
          </p:txBody>
        </p:sp>
        <p:sp>
          <p:nvSpPr>
            <p:cNvPr id="3180" name="Google Shape;3180;p166"/>
            <p:cNvSpPr txBox="1"/>
            <p:nvPr/>
          </p:nvSpPr>
          <p:spPr>
            <a:xfrm>
              <a:off x="2748830" y="5594901"/>
              <a:ext cx="1158912" cy="137899"/>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Transistor lưỡng cực</a:t>
              </a:r>
              <a:endParaRPr/>
            </a:p>
          </p:txBody>
        </p:sp>
        <p:sp>
          <p:nvSpPr>
            <p:cNvPr id="3181" name="Google Shape;3181;p166"/>
            <p:cNvSpPr txBox="1"/>
            <p:nvPr/>
          </p:nvSpPr>
          <p:spPr>
            <a:xfrm>
              <a:off x="5488185" y="5594901"/>
              <a:ext cx="1158912" cy="137899"/>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Transistor đơn cực</a:t>
              </a:r>
              <a:endParaRPr/>
            </a:p>
          </p:txBody>
        </p:sp>
        <p:sp>
          <p:nvSpPr>
            <p:cNvPr id="3182" name="Google Shape;3182;p166"/>
            <p:cNvSpPr txBox="1"/>
            <p:nvPr/>
          </p:nvSpPr>
          <p:spPr>
            <a:xfrm>
              <a:off x="2137262" y="6054492"/>
              <a:ext cx="986572" cy="165479"/>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Loại NPN</a:t>
              </a:r>
              <a:endParaRPr/>
            </a:p>
          </p:txBody>
        </p:sp>
        <p:sp>
          <p:nvSpPr>
            <p:cNvPr id="3183" name="Google Shape;3183;p166"/>
            <p:cNvSpPr txBox="1"/>
            <p:nvPr/>
          </p:nvSpPr>
          <p:spPr>
            <a:xfrm>
              <a:off x="3463817" y="6054492"/>
              <a:ext cx="986572" cy="165479"/>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Loại NPN</a:t>
              </a:r>
              <a:endParaRPr/>
            </a:p>
          </p:txBody>
        </p:sp>
        <p:sp>
          <p:nvSpPr>
            <p:cNvPr id="3184" name="Google Shape;3184;p166"/>
            <p:cNvSpPr txBox="1"/>
            <p:nvPr/>
          </p:nvSpPr>
          <p:spPr>
            <a:xfrm>
              <a:off x="4396689" y="5990292"/>
              <a:ext cx="986572" cy="496437"/>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Loại chuyển tiếp</a:t>
              </a:r>
              <a:br>
                <a:rPr lang="en-US" sz="1200" b="1">
                  <a:solidFill>
                    <a:srgbClr val="000000"/>
                  </a:solidFill>
                  <a:latin typeface="Arial"/>
                  <a:ea typeface="Arial"/>
                  <a:cs typeface="Arial"/>
                  <a:sym typeface="Arial"/>
                </a:rPr>
              </a:br>
              <a:r>
                <a:rPr lang="en-US" sz="1200" b="1">
                  <a:solidFill>
                    <a:srgbClr val="000000"/>
                  </a:solidFill>
                  <a:latin typeface="Arial"/>
                  <a:ea typeface="Arial"/>
                  <a:cs typeface="Arial"/>
                  <a:sym typeface="Arial"/>
                </a:rPr>
                <a:t>FET (J-FET)</a:t>
              </a:r>
              <a:endParaRPr/>
            </a:p>
          </p:txBody>
        </p:sp>
        <p:sp>
          <p:nvSpPr>
            <p:cNvPr id="3185" name="Google Shape;3185;p166"/>
            <p:cNvSpPr txBox="1"/>
            <p:nvPr/>
          </p:nvSpPr>
          <p:spPr>
            <a:xfrm>
              <a:off x="5574355" y="5990292"/>
              <a:ext cx="986572" cy="33095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Loại MOS</a:t>
              </a:r>
              <a:br>
                <a:rPr lang="en-US" sz="1200" b="1">
                  <a:solidFill>
                    <a:srgbClr val="000000"/>
                  </a:solidFill>
                  <a:latin typeface="Arial"/>
                  <a:ea typeface="Arial"/>
                  <a:cs typeface="Arial"/>
                  <a:sym typeface="Arial"/>
                </a:rPr>
              </a:br>
              <a:r>
                <a:rPr lang="en-US" sz="1200" b="1">
                  <a:solidFill>
                    <a:srgbClr val="000000"/>
                  </a:solidFill>
                  <a:latin typeface="Arial"/>
                  <a:ea typeface="Arial"/>
                  <a:cs typeface="Arial"/>
                  <a:sym typeface="Arial"/>
                </a:rPr>
                <a:t>FET (J-FET)</a:t>
              </a:r>
              <a:endParaRPr/>
            </a:p>
          </p:txBody>
        </p:sp>
        <p:sp>
          <p:nvSpPr>
            <p:cNvPr id="3186" name="Google Shape;3186;p166"/>
            <p:cNvSpPr txBox="1"/>
            <p:nvPr/>
          </p:nvSpPr>
          <p:spPr>
            <a:xfrm>
              <a:off x="6707531" y="5990292"/>
              <a:ext cx="986572" cy="33095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Loại GaAs</a:t>
              </a:r>
              <a:br>
                <a:rPr lang="en-US" sz="1200" b="1">
                  <a:solidFill>
                    <a:srgbClr val="000000"/>
                  </a:solidFill>
                  <a:latin typeface="Arial"/>
                  <a:ea typeface="Arial"/>
                  <a:cs typeface="Arial"/>
                  <a:sym typeface="Arial"/>
                </a:rPr>
              </a:br>
              <a:r>
                <a:rPr lang="en-US" sz="1200" b="1">
                  <a:solidFill>
                    <a:srgbClr val="000000"/>
                  </a:solidFill>
                  <a:latin typeface="Arial"/>
                  <a:ea typeface="Arial"/>
                  <a:cs typeface="Arial"/>
                  <a:sym typeface="Arial"/>
                </a:rPr>
                <a:t>FET (J-FET)</a:t>
              </a:r>
              <a:endParaRPr/>
            </a:p>
          </p:txBody>
        </p:sp>
      </p:grpSp>
      <p:sp>
        <p:nvSpPr>
          <p:cNvPr id="2" name="Google Shape;3441;p182">
            <a:extLst>
              <a:ext uri="{FF2B5EF4-FFF2-40B4-BE49-F238E27FC236}">
                <a16:creationId xmlns:a16="http://schemas.microsoft.com/office/drawing/2014/main" id="{DB6977A9-D004-80A8-F35E-D7C80904A4CF}"/>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192"/>
        <p:cNvGrpSpPr/>
        <p:nvPr/>
      </p:nvGrpSpPr>
      <p:grpSpPr>
        <a:xfrm>
          <a:off x="0" y="0"/>
          <a:ext cx="0" cy="0"/>
          <a:chOff x="0" y="0"/>
          <a:chExt cx="0" cy="0"/>
        </a:xfrm>
      </p:grpSpPr>
      <p:sp>
        <p:nvSpPr>
          <p:cNvPr id="3194" name="Google Shape;3194;p167"/>
          <p:cNvSpPr/>
          <p:nvPr/>
        </p:nvSpPr>
        <p:spPr>
          <a:xfrm>
            <a:off x="712182" y="1751850"/>
            <a:ext cx="8487381" cy="1550885"/>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b="1">
                <a:solidFill>
                  <a:srgbClr val="262626"/>
                </a:solidFill>
                <a:latin typeface="Arial"/>
                <a:ea typeface="Arial"/>
                <a:cs typeface="Arial"/>
                <a:sym typeface="Arial"/>
              </a:rPr>
              <a:t>Transistor có tín hiệu nhỏ: </a:t>
            </a:r>
            <a:r>
              <a:rPr lang="en-US" sz="1300">
                <a:solidFill>
                  <a:srgbClr val="262626"/>
                </a:solidFill>
                <a:latin typeface="Arial"/>
                <a:ea typeface="Arial"/>
                <a:cs typeface="Arial"/>
                <a:sym typeface="Arial"/>
              </a:rPr>
              <a:t>Là loại xử lý dòng điện tương đối nhỏ (từ 300 [mA] trở xuống). Đây là transistor có dòng điện lớn nhất tại cực thu thấp hơn 500 [mA] và mức tổn hao lớn nhất tại cực thu thấp hơn 1 [W].</a:t>
            </a:r>
            <a:endParaRPr/>
          </a:p>
          <a:p>
            <a:pPr marL="182563" marR="0" lvl="0" indent="-182563" algn="l" rtl="0">
              <a:spcBef>
                <a:spcPts val="800"/>
              </a:spcBef>
              <a:spcAft>
                <a:spcPts val="0"/>
              </a:spcAft>
              <a:buClr>
                <a:srgbClr val="193EB0"/>
              </a:buClr>
              <a:buSzPts val="1300"/>
              <a:buFont typeface="Arial"/>
              <a:buChar char="‣"/>
            </a:pPr>
            <a:r>
              <a:rPr lang="en-US" sz="1300" b="1">
                <a:solidFill>
                  <a:srgbClr val="262626"/>
                </a:solidFill>
                <a:latin typeface="Arial"/>
                <a:ea typeface="Arial"/>
                <a:cs typeface="Arial"/>
                <a:sym typeface="Arial"/>
              </a:rPr>
              <a:t>Transistor có dòng điện cao: </a:t>
            </a:r>
            <a:r>
              <a:rPr lang="en-US" sz="1300">
                <a:solidFill>
                  <a:srgbClr val="262626"/>
                </a:solidFill>
                <a:latin typeface="Arial"/>
                <a:ea typeface="Arial"/>
                <a:cs typeface="Arial"/>
                <a:sym typeface="Arial"/>
              </a:rPr>
              <a:t>PC có nghĩa là lớn hơn 1 [W]. So với các transistor có tín hiệu nhỏ, dòng điện lớn nhất tại cực thu và tổn hao lớn nhất tại cực thu là rất lớn. Nó cũng có kích thước lớn để sinh nhiệt và được bảo vệ bằng kim loại hoặc gắn một tấm tản nhiệt.</a:t>
            </a:r>
            <a:endParaRPr/>
          </a:p>
          <a:p>
            <a:pPr marL="182563" marR="0" lvl="0" indent="-100013" algn="l" rtl="0">
              <a:spcBef>
                <a:spcPts val="800"/>
              </a:spcBef>
              <a:spcAft>
                <a:spcPts val="0"/>
              </a:spcAft>
              <a:buClr>
                <a:srgbClr val="193EB0"/>
              </a:buClr>
              <a:buSzPts val="1300"/>
              <a:buFont typeface="Arial"/>
              <a:buNone/>
            </a:pPr>
            <a:endParaRPr sz="1300" b="1">
              <a:solidFill>
                <a:srgbClr val="262626"/>
              </a:solidFill>
              <a:latin typeface="Arial"/>
              <a:ea typeface="Arial"/>
              <a:cs typeface="Arial"/>
              <a:sym typeface="Arial"/>
            </a:endParaRPr>
          </a:p>
        </p:txBody>
      </p:sp>
      <p:sp>
        <p:nvSpPr>
          <p:cNvPr id="3195" name="Google Shape;3195;p167"/>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Các loại transistor (phân loại theo công suất cho phép)</a:t>
            </a:r>
            <a:endParaRPr/>
          </a:p>
        </p:txBody>
      </p:sp>
      <p:grpSp>
        <p:nvGrpSpPr>
          <p:cNvPr id="3196" name="Google Shape;3196;p167"/>
          <p:cNvGrpSpPr/>
          <p:nvPr/>
        </p:nvGrpSpPr>
        <p:grpSpPr>
          <a:xfrm>
            <a:off x="2163228" y="3429000"/>
            <a:ext cx="5576369" cy="2164439"/>
            <a:chOff x="2271267" y="3818559"/>
            <a:chExt cx="5576369" cy="2164439"/>
          </a:xfrm>
        </p:grpSpPr>
        <p:pic>
          <p:nvPicPr>
            <p:cNvPr id="3197" name="Google Shape;3197;p167" descr="trsmall"/>
            <p:cNvPicPr preferRelativeResize="0"/>
            <p:nvPr/>
          </p:nvPicPr>
          <p:blipFill rotWithShape="1">
            <a:blip r:embed="rId3">
              <a:alphaModFix/>
            </a:blip>
            <a:srcRect/>
            <a:stretch/>
          </p:blipFill>
          <p:spPr>
            <a:xfrm>
              <a:off x="2271267" y="3818559"/>
              <a:ext cx="2211722" cy="1805774"/>
            </a:xfrm>
            <a:prstGeom prst="rect">
              <a:avLst/>
            </a:prstGeom>
            <a:noFill/>
            <a:ln w="9525" cap="flat" cmpd="sng">
              <a:solidFill>
                <a:srgbClr val="D8D8D8"/>
              </a:solidFill>
              <a:prstDash val="solid"/>
              <a:miter lim="800000"/>
              <a:headEnd type="none" w="sm" len="sm"/>
              <a:tailEnd type="none" w="sm" len="sm"/>
            </a:ln>
          </p:spPr>
        </p:pic>
        <p:pic>
          <p:nvPicPr>
            <p:cNvPr id="3198" name="Google Shape;3198;p167" descr="trlarge"/>
            <p:cNvPicPr preferRelativeResize="0"/>
            <p:nvPr/>
          </p:nvPicPr>
          <p:blipFill rotWithShape="1">
            <a:blip r:embed="rId4">
              <a:alphaModFix/>
            </a:blip>
            <a:srcRect/>
            <a:stretch/>
          </p:blipFill>
          <p:spPr>
            <a:xfrm>
              <a:off x="5271427" y="3818559"/>
              <a:ext cx="2576209" cy="1803347"/>
            </a:xfrm>
            <a:prstGeom prst="rect">
              <a:avLst/>
            </a:prstGeom>
            <a:noFill/>
            <a:ln w="9525" cap="flat" cmpd="sng">
              <a:solidFill>
                <a:srgbClr val="D8D8D8"/>
              </a:solidFill>
              <a:prstDash val="solid"/>
              <a:miter lim="800000"/>
              <a:headEnd type="none" w="sm" len="sm"/>
              <a:tailEnd type="none" w="sm" len="sm"/>
            </a:ln>
          </p:spPr>
        </p:pic>
        <p:sp>
          <p:nvSpPr>
            <p:cNvPr id="3199" name="Google Shape;3199;p167"/>
            <p:cNvSpPr txBox="1"/>
            <p:nvPr/>
          </p:nvSpPr>
          <p:spPr>
            <a:xfrm>
              <a:off x="2320109" y="5690610"/>
              <a:ext cx="2114038"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Transistor có tín hiệu nhỏ </a:t>
              </a:r>
              <a:endParaRPr/>
            </a:p>
          </p:txBody>
        </p:sp>
        <p:sp>
          <p:nvSpPr>
            <p:cNvPr id="3200" name="Google Shape;3200;p167"/>
            <p:cNvSpPr txBox="1"/>
            <p:nvPr/>
          </p:nvSpPr>
          <p:spPr>
            <a:xfrm>
              <a:off x="5424486" y="5690610"/>
              <a:ext cx="2270090"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Transistor có dòng điện lớn</a:t>
              </a:r>
              <a:endParaRPr sz="1300" b="1">
                <a:solidFill>
                  <a:srgbClr val="000000"/>
                </a:solidFill>
                <a:latin typeface="Arial"/>
                <a:ea typeface="Arial"/>
                <a:cs typeface="Arial"/>
                <a:sym typeface="Arial"/>
              </a:endParaRPr>
            </a:p>
          </p:txBody>
        </p:sp>
      </p:grpSp>
      <p:sp>
        <p:nvSpPr>
          <p:cNvPr id="2" name="Google Shape;3441;p182">
            <a:extLst>
              <a:ext uri="{FF2B5EF4-FFF2-40B4-BE49-F238E27FC236}">
                <a16:creationId xmlns:a16="http://schemas.microsoft.com/office/drawing/2014/main" id="{86727E11-1594-EF7C-FD93-EACC7C3CB5BD}"/>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3206"/>
        <p:cNvGrpSpPr/>
        <p:nvPr/>
      </p:nvGrpSpPr>
      <p:grpSpPr>
        <a:xfrm>
          <a:off x="0" y="0"/>
          <a:ext cx="0" cy="0"/>
          <a:chOff x="0" y="0"/>
          <a:chExt cx="0" cy="0"/>
        </a:xfrm>
      </p:grpSpPr>
      <p:sp>
        <p:nvSpPr>
          <p:cNvPr id="3208" name="Google Shape;3208;p168"/>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Bảng thông số kỹ thuật của transistor</a:t>
            </a:r>
            <a:endParaRPr/>
          </a:p>
        </p:txBody>
      </p:sp>
      <p:sp>
        <p:nvSpPr>
          <p:cNvPr id="3209" name="Google Shape;3209;p168"/>
          <p:cNvSpPr txBox="1"/>
          <p:nvPr/>
        </p:nvSpPr>
        <p:spPr>
          <a:xfrm>
            <a:off x="6821989" y="1776539"/>
            <a:ext cx="2377574" cy="307777"/>
          </a:xfrm>
          <a:prstGeom prst="rect">
            <a:avLst/>
          </a:prstGeom>
          <a:noFill/>
          <a:ln>
            <a:noFill/>
          </a:ln>
        </p:spPr>
        <p:txBody>
          <a:bodyPr spcFirstLastPara="1" wrap="square" lIns="0" tIns="45700" rIns="0" bIns="45700" anchor="t" anchorCtr="0">
            <a:spAutoFit/>
          </a:bodyPr>
          <a:lstStyle/>
          <a:p>
            <a:pPr marL="0" marR="0" lvl="0" indent="0" algn="r" rtl="0">
              <a:spcBef>
                <a:spcPts val="0"/>
              </a:spcBef>
              <a:spcAft>
                <a:spcPts val="0"/>
              </a:spcAft>
              <a:buNone/>
            </a:pPr>
            <a:r>
              <a:rPr lang="en-US" sz="1400">
                <a:solidFill>
                  <a:srgbClr val="262626"/>
                </a:solidFill>
                <a:latin typeface="Arial"/>
                <a:ea typeface="Arial"/>
                <a:cs typeface="Arial"/>
                <a:sym typeface="Arial"/>
              </a:rPr>
              <a:t>Định mức tối đa (Ta = 25℃) </a:t>
            </a:r>
            <a:endParaRPr/>
          </a:p>
        </p:txBody>
      </p:sp>
      <p:graphicFrame>
        <p:nvGraphicFramePr>
          <p:cNvPr id="3211" name="Google Shape;3211;p168"/>
          <p:cNvGraphicFramePr/>
          <p:nvPr/>
        </p:nvGraphicFramePr>
        <p:xfrm>
          <a:off x="633412" y="2531921"/>
          <a:ext cx="8636000" cy="3223800"/>
        </p:xfrm>
        <a:graphic>
          <a:graphicData uri="http://schemas.openxmlformats.org/drawingml/2006/table">
            <a:tbl>
              <a:tblPr>
                <a:noFill/>
              </a:tblPr>
              <a:tblGrid>
                <a:gridCol w="3292100">
                  <a:extLst>
                    <a:ext uri="{9D8B030D-6E8A-4147-A177-3AD203B41FA5}">
                      <a16:colId xmlns:a16="http://schemas.microsoft.com/office/drawing/2014/main" val="20000"/>
                    </a:ext>
                  </a:extLst>
                </a:gridCol>
                <a:gridCol w="1850700">
                  <a:extLst>
                    <a:ext uri="{9D8B030D-6E8A-4147-A177-3AD203B41FA5}">
                      <a16:colId xmlns:a16="http://schemas.microsoft.com/office/drawing/2014/main" val="20001"/>
                    </a:ext>
                  </a:extLst>
                </a:gridCol>
                <a:gridCol w="1879175">
                  <a:extLst>
                    <a:ext uri="{9D8B030D-6E8A-4147-A177-3AD203B41FA5}">
                      <a16:colId xmlns:a16="http://schemas.microsoft.com/office/drawing/2014/main" val="20002"/>
                    </a:ext>
                  </a:extLst>
                </a:gridCol>
                <a:gridCol w="1614025">
                  <a:extLst>
                    <a:ext uri="{9D8B030D-6E8A-4147-A177-3AD203B41FA5}">
                      <a16:colId xmlns:a16="http://schemas.microsoft.com/office/drawing/2014/main" val="20003"/>
                    </a:ext>
                  </a:extLst>
                </a:gridCol>
              </a:tblGrid>
              <a:tr h="358200">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Loại</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Ký hiệu </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Định mức</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Đơn vị</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Điện áp giữa cực thu-cực gốc</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V</a:t>
                      </a:r>
                      <a:r>
                        <a:rPr lang="en-US" sz="1300" b="0" i="1" u="none" strike="noStrike" cap="none" baseline="-25000">
                          <a:solidFill>
                            <a:srgbClr val="262626"/>
                          </a:solidFill>
                          <a:latin typeface="Arial"/>
                          <a:ea typeface="Arial"/>
                          <a:cs typeface="Arial"/>
                          <a:sym typeface="Arial"/>
                        </a:rPr>
                        <a:t>CBO</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60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V</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Điện áp giữa cực thu-cực phát</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V</a:t>
                      </a:r>
                      <a:r>
                        <a:rPr lang="en-US" sz="1300" b="0" i="1" u="none" strike="noStrike" cap="none" baseline="-25000">
                          <a:solidFill>
                            <a:srgbClr val="262626"/>
                          </a:solidFill>
                          <a:latin typeface="Arial"/>
                          <a:ea typeface="Arial"/>
                          <a:cs typeface="Arial"/>
                          <a:sym typeface="Arial"/>
                        </a:rPr>
                        <a:t>ceo</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50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V</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Điện áp giữa cực phát-cực gốc</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V</a:t>
                      </a:r>
                      <a:r>
                        <a:rPr lang="en-US" sz="1300" b="0" i="1" u="none" strike="noStrike" cap="none" baseline="-25000">
                          <a:solidFill>
                            <a:srgbClr val="262626"/>
                          </a:solidFill>
                          <a:latin typeface="Arial"/>
                          <a:ea typeface="Arial"/>
                          <a:cs typeface="Arial"/>
                          <a:sym typeface="Arial"/>
                        </a:rPr>
                        <a:t>EBO</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5</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V</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Dòng điện tại cực thu</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I</a:t>
                      </a:r>
                      <a:r>
                        <a:rPr lang="en-US" sz="1300" b="0" i="1" u="none" strike="noStrike" cap="none" baseline="-25000">
                          <a:solidFill>
                            <a:srgbClr val="262626"/>
                          </a:solidFill>
                          <a:latin typeface="Arial"/>
                          <a:ea typeface="Arial"/>
                          <a:cs typeface="Arial"/>
                          <a:sym typeface="Arial"/>
                        </a:rPr>
                        <a:t>C</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150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mA</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Dòng điện tại cực gốc</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I</a:t>
                      </a:r>
                      <a:r>
                        <a:rPr lang="en-US" sz="1300" b="0" i="1" u="none" strike="noStrike" cap="none" baseline="-25000">
                          <a:solidFill>
                            <a:srgbClr val="262626"/>
                          </a:solidFill>
                          <a:latin typeface="Arial"/>
                          <a:ea typeface="Arial"/>
                          <a:cs typeface="Arial"/>
                          <a:sym typeface="Arial"/>
                        </a:rPr>
                        <a:t>B</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50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mA</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Tổn hao tại cực thu</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P</a:t>
                      </a:r>
                      <a:r>
                        <a:rPr lang="en-US" sz="1300" b="0" i="1" u="none" strike="noStrike" cap="none" baseline="-25000">
                          <a:solidFill>
                            <a:srgbClr val="262626"/>
                          </a:solidFill>
                          <a:latin typeface="Arial"/>
                          <a:ea typeface="Arial"/>
                          <a:cs typeface="Arial"/>
                          <a:sym typeface="Arial"/>
                        </a:rPr>
                        <a:t>C</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400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mW</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Nhiệt độ chuyển tiếp</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T</a:t>
                      </a:r>
                      <a:r>
                        <a:rPr lang="en-US" sz="1300" b="0" i="1" u="none" strike="noStrike" cap="none" baseline="-25000">
                          <a:solidFill>
                            <a:srgbClr val="262626"/>
                          </a:solidFill>
                          <a:latin typeface="Arial"/>
                          <a:ea typeface="Arial"/>
                          <a:cs typeface="Arial"/>
                          <a:sym typeface="Arial"/>
                        </a:rPr>
                        <a:t>I</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125</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7"/>
                  </a:ext>
                </a:extLst>
              </a:tr>
              <a:tr h="358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Nhiệt độ lưu trữ</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1" u="none" strike="noStrike" cap="none">
                          <a:solidFill>
                            <a:srgbClr val="262626"/>
                          </a:solidFill>
                          <a:latin typeface="Arial"/>
                          <a:ea typeface="Arial"/>
                          <a:cs typeface="Arial"/>
                          <a:sym typeface="Arial"/>
                        </a:rPr>
                        <a:t>T</a:t>
                      </a:r>
                      <a:r>
                        <a:rPr lang="en-US" sz="1300" b="0" i="1" u="none" strike="noStrike" cap="none" baseline="-25000">
                          <a:solidFill>
                            <a:srgbClr val="262626"/>
                          </a:solidFill>
                          <a:latin typeface="Arial"/>
                          <a:ea typeface="Arial"/>
                          <a:cs typeface="Arial"/>
                          <a:sym typeface="Arial"/>
                        </a:rPr>
                        <a:t>stg</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-55 ~ 125</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i="0" u="none" strike="noStrike" cap="none">
                          <a:solidFill>
                            <a:srgbClr val="262626"/>
                          </a:solidFill>
                          <a:latin typeface="Arial"/>
                          <a:ea typeface="Arial"/>
                          <a:cs typeface="Arial"/>
                          <a:sym typeface="Arial"/>
                        </a:rPr>
                        <a:t>℃</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2" name="Google Shape;3441;p182">
            <a:extLst>
              <a:ext uri="{FF2B5EF4-FFF2-40B4-BE49-F238E27FC236}">
                <a16:creationId xmlns:a16="http://schemas.microsoft.com/office/drawing/2014/main" id="{08105F78-29D6-1CF0-5EAF-9623F2618B8B}"/>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216"/>
        <p:cNvGrpSpPr/>
        <p:nvPr/>
      </p:nvGrpSpPr>
      <p:grpSpPr>
        <a:xfrm>
          <a:off x="0" y="0"/>
          <a:ext cx="0" cy="0"/>
          <a:chOff x="0" y="0"/>
          <a:chExt cx="0" cy="0"/>
        </a:xfrm>
      </p:grpSpPr>
      <p:sp>
        <p:nvSpPr>
          <p:cNvPr id="3217" name="Google Shape;3217;p169"/>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Mạch tích hợp (IC)</a:t>
            </a:r>
            <a:endParaRPr/>
          </a:p>
        </p:txBody>
      </p:sp>
      <p:sp>
        <p:nvSpPr>
          <p:cNvPr id="3219" name="Google Shape;3219;p169"/>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Phân loại theo cách đóng gói</a:t>
            </a:r>
            <a:endParaRPr sz="1400">
              <a:solidFill>
                <a:schemeClr val="dk1"/>
              </a:solidFill>
              <a:latin typeface="Arial"/>
              <a:ea typeface="Arial"/>
              <a:cs typeface="Arial"/>
              <a:sym typeface="Arial"/>
            </a:endParaRPr>
          </a:p>
        </p:txBody>
      </p:sp>
      <p:grpSp>
        <p:nvGrpSpPr>
          <p:cNvPr id="3220" name="Google Shape;3220;p169"/>
          <p:cNvGrpSpPr/>
          <p:nvPr/>
        </p:nvGrpSpPr>
        <p:grpSpPr>
          <a:xfrm>
            <a:off x="1664726" y="2600497"/>
            <a:ext cx="6942936" cy="3369032"/>
            <a:chOff x="1718066" y="2496127"/>
            <a:chExt cx="6942936" cy="3369032"/>
          </a:xfrm>
        </p:grpSpPr>
        <p:pic>
          <p:nvPicPr>
            <p:cNvPr id="3221" name="Google Shape;3221;p169" descr="SIP"/>
            <p:cNvPicPr preferRelativeResize="0"/>
            <p:nvPr/>
          </p:nvPicPr>
          <p:blipFill rotWithShape="1">
            <a:blip r:embed="rId3">
              <a:alphaModFix/>
            </a:blip>
            <a:srcRect/>
            <a:stretch/>
          </p:blipFill>
          <p:spPr>
            <a:xfrm>
              <a:off x="1718066" y="2519574"/>
              <a:ext cx="1758484" cy="1141842"/>
            </a:xfrm>
            <a:prstGeom prst="rect">
              <a:avLst/>
            </a:prstGeom>
            <a:noFill/>
            <a:ln>
              <a:noFill/>
            </a:ln>
          </p:spPr>
        </p:pic>
        <p:pic>
          <p:nvPicPr>
            <p:cNvPr id="3222" name="Google Shape;3222;p169" descr="ZIP"/>
            <p:cNvPicPr preferRelativeResize="0"/>
            <p:nvPr/>
          </p:nvPicPr>
          <p:blipFill rotWithShape="1">
            <a:blip r:embed="rId4">
              <a:alphaModFix/>
            </a:blip>
            <a:srcRect/>
            <a:stretch/>
          </p:blipFill>
          <p:spPr>
            <a:xfrm>
              <a:off x="4456833" y="2496127"/>
              <a:ext cx="1453680" cy="1165289"/>
            </a:xfrm>
            <a:prstGeom prst="rect">
              <a:avLst/>
            </a:prstGeom>
            <a:noFill/>
            <a:ln>
              <a:noFill/>
            </a:ln>
          </p:spPr>
        </p:pic>
        <p:pic>
          <p:nvPicPr>
            <p:cNvPr id="3223" name="Google Shape;3223;p169" descr="DIP1"/>
            <p:cNvPicPr preferRelativeResize="0"/>
            <p:nvPr/>
          </p:nvPicPr>
          <p:blipFill rotWithShape="1">
            <a:blip r:embed="rId5">
              <a:alphaModFix/>
            </a:blip>
            <a:srcRect/>
            <a:stretch/>
          </p:blipFill>
          <p:spPr>
            <a:xfrm>
              <a:off x="6890796" y="2543020"/>
              <a:ext cx="1770206" cy="1118396"/>
            </a:xfrm>
            <a:prstGeom prst="rect">
              <a:avLst/>
            </a:prstGeom>
            <a:noFill/>
            <a:ln>
              <a:noFill/>
            </a:ln>
          </p:spPr>
        </p:pic>
        <p:pic>
          <p:nvPicPr>
            <p:cNvPr id="3224" name="Google Shape;3224;p169" descr="SOP"/>
            <p:cNvPicPr preferRelativeResize="0"/>
            <p:nvPr/>
          </p:nvPicPr>
          <p:blipFill rotWithShape="1">
            <a:blip r:embed="rId6">
              <a:alphaModFix/>
            </a:blip>
            <a:srcRect/>
            <a:stretch/>
          </p:blipFill>
          <p:spPr>
            <a:xfrm>
              <a:off x="2914298" y="4276113"/>
              <a:ext cx="1781930" cy="1259073"/>
            </a:xfrm>
            <a:prstGeom prst="rect">
              <a:avLst/>
            </a:prstGeom>
            <a:noFill/>
            <a:ln>
              <a:noFill/>
            </a:ln>
          </p:spPr>
        </p:pic>
        <p:pic>
          <p:nvPicPr>
            <p:cNvPr id="3225" name="Google Shape;3225;p169" descr="QFP"/>
            <p:cNvPicPr preferRelativeResize="0"/>
            <p:nvPr/>
          </p:nvPicPr>
          <p:blipFill rotWithShape="1">
            <a:blip r:embed="rId7">
              <a:alphaModFix/>
            </a:blip>
            <a:srcRect/>
            <a:stretch/>
          </p:blipFill>
          <p:spPr>
            <a:xfrm>
              <a:off x="5607162" y="4440236"/>
              <a:ext cx="1641251" cy="1094950"/>
            </a:xfrm>
            <a:prstGeom prst="rect">
              <a:avLst/>
            </a:prstGeom>
            <a:noFill/>
            <a:ln>
              <a:noFill/>
            </a:ln>
          </p:spPr>
        </p:pic>
        <p:sp>
          <p:nvSpPr>
            <p:cNvPr id="3226" name="Google Shape;3226;p169"/>
            <p:cNvSpPr txBox="1"/>
            <p:nvPr/>
          </p:nvSpPr>
          <p:spPr>
            <a:xfrm>
              <a:off x="2242442" y="3667250"/>
              <a:ext cx="701267"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SIP </a:t>
              </a:r>
              <a:endParaRPr sz="1300" b="1">
                <a:solidFill>
                  <a:srgbClr val="000000"/>
                </a:solidFill>
                <a:latin typeface="Arial"/>
                <a:ea typeface="Arial"/>
                <a:cs typeface="Arial"/>
                <a:sym typeface="Arial"/>
              </a:endParaRPr>
            </a:p>
          </p:txBody>
        </p:sp>
        <p:sp>
          <p:nvSpPr>
            <p:cNvPr id="3227" name="Google Shape;3227;p169"/>
            <p:cNvSpPr txBox="1"/>
            <p:nvPr/>
          </p:nvSpPr>
          <p:spPr>
            <a:xfrm>
              <a:off x="4780394" y="3667250"/>
              <a:ext cx="806558"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ZIP </a:t>
              </a:r>
              <a:endParaRPr sz="1300" b="1">
                <a:solidFill>
                  <a:srgbClr val="000000"/>
                </a:solidFill>
                <a:latin typeface="Arial"/>
                <a:ea typeface="Arial"/>
                <a:cs typeface="Arial"/>
                <a:sym typeface="Arial"/>
              </a:endParaRPr>
            </a:p>
          </p:txBody>
        </p:sp>
        <p:sp>
          <p:nvSpPr>
            <p:cNvPr id="3228" name="Google Shape;3228;p169"/>
            <p:cNvSpPr txBox="1"/>
            <p:nvPr/>
          </p:nvSpPr>
          <p:spPr>
            <a:xfrm>
              <a:off x="7344484" y="3667250"/>
              <a:ext cx="862829"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DIP </a:t>
              </a:r>
              <a:endParaRPr sz="1300" b="1">
                <a:solidFill>
                  <a:srgbClr val="000000"/>
                </a:solidFill>
                <a:latin typeface="Arial"/>
                <a:ea typeface="Arial"/>
                <a:cs typeface="Arial"/>
                <a:sym typeface="Arial"/>
              </a:endParaRPr>
            </a:p>
          </p:txBody>
        </p:sp>
        <p:sp>
          <p:nvSpPr>
            <p:cNvPr id="3229" name="Google Shape;3229;p169"/>
            <p:cNvSpPr txBox="1"/>
            <p:nvPr/>
          </p:nvSpPr>
          <p:spPr>
            <a:xfrm>
              <a:off x="3397809" y="5572771"/>
              <a:ext cx="814908"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SOP </a:t>
              </a:r>
              <a:endParaRPr sz="1300" b="1">
                <a:solidFill>
                  <a:srgbClr val="000000"/>
                </a:solidFill>
                <a:latin typeface="Arial"/>
                <a:ea typeface="Arial"/>
                <a:cs typeface="Arial"/>
                <a:sym typeface="Arial"/>
              </a:endParaRPr>
            </a:p>
          </p:txBody>
        </p:sp>
        <p:sp>
          <p:nvSpPr>
            <p:cNvPr id="3230" name="Google Shape;3230;p169"/>
            <p:cNvSpPr txBox="1"/>
            <p:nvPr/>
          </p:nvSpPr>
          <p:spPr>
            <a:xfrm>
              <a:off x="5971695" y="5572770"/>
              <a:ext cx="919101"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QFP </a:t>
              </a:r>
              <a:endParaRPr sz="1300" b="1">
                <a:solidFill>
                  <a:srgbClr val="000000"/>
                </a:solidFill>
                <a:latin typeface="Arial"/>
                <a:ea typeface="Arial"/>
                <a:cs typeface="Arial"/>
                <a:sym typeface="Arial"/>
              </a:endParaRPr>
            </a:p>
          </p:txBody>
        </p:sp>
      </p:grpSp>
      <p:sp>
        <p:nvSpPr>
          <p:cNvPr id="2" name="Google Shape;3441;p182">
            <a:extLst>
              <a:ext uri="{FF2B5EF4-FFF2-40B4-BE49-F238E27FC236}">
                <a16:creationId xmlns:a16="http://schemas.microsoft.com/office/drawing/2014/main" id="{4D258229-A397-1ADB-07EA-D610CE883686}"/>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3236"/>
        <p:cNvGrpSpPr/>
        <p:nvPr/>
      </p:nvGrpSpPr>
      <p:grpSpPr>
        <a:xfrm>
          <a:off x="0" y="0"/>
          <a:ext cx="0" cy="0"/>
          <a:chOff x="0" y="0"/>
          <a:chExt cx="0" cy="0"/>
        </a:xfrm>
      </p:grpSpPr>
      <p:sp>
        <p:nvSpPr>
          <p:cNvPr id="3238" name="Google Shape;3238;p170"/>
          <p:cNvSpPr/>
          <p:nvPr/>
        </p:nvSpPr>
        <p:spPr>
          <a:xfrm>
            <a:off x="712182" y="1751850"/>
            <a:ext cx="8487381" cy="2161308"/>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Loại</a:t>
            </a:r>
            <a:endParaRPr sz="1300">
              <a:solidFill>
                <a:srgbClr val="262626"/>
              </a:solidFill>
              <a:latin typeface="Arial"/>
              <a:ea typeface="Arial"/>
              <a:cs typeface="Arial"/>
              <a:sym typeface="Arial"/>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SSI (tích hợp cỡ nhỏ) </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MSI (tích hợp cỡ vừa) </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SSI (tích hợp cỡ lớn) </a:t>
            </a:r>
            <a:endParaRPr/>
          </a:p>
          <a:p>
            <a:pPr marL="355600" marR="0" lvl="1" indent="-179387" algn="l" rtl="0">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VLSI (tích hợp cỡ cực lớn)</a:t>
            </a:r>
            <a:endParaRPr/>
          </a:p>
          <a:p>
            <a:pPr marL="182563" marR="0" lvl="0" indent="-182563" algn="l" rtl="0">
              <a:spcBef>
                <a:spcPts val="800"/>
              </a:spcBef>
              <a:spcAft>
                <a:spcPts val="0"/>
              </a:spcAft>
              <a:buClr>
                <a:srgbClr val="193EB0"/>
              </a:buClr>
              <a:buSzPts val="1300"/>
              <a:buFont typeface="Arial"/>
              <a:buChar char="‣"/>
            </a:pPr>
            <a:r>
              <a:rPr lang="en-US" sz="1300" b="1">
                <a:solidFill>
                  <a:srgbClr val="262626"/>
                </a:solidFill>
                <a:latin typeface="Arial"/>
                <a:ea typeface="Arial"/>
                <a:cs typeface="Arial"/>
                <a:sym typeface="Arial"/>
              </a:rPr>
              <a:t>Tốc độ chuyển động</a:t>
            </a:r>
            <a:endParaRPr sz="1300" b="1">
              <a:solidFill>
                <a:srgbClr val="262626"/>
              </a:solidFill>
              <a:latin typeface="Arial"/>
              <a:ea typeface="Arial"/>
              <a:cs typeface="Arial"/>
              <a:sym typeface="Arial"/>
            </a:endParaRPr>
          </a:p>
          <a:p>
            <a:pPr marL="182563" marR="0" lvl="0" indent="-100013" algn="l" rtl="0">
              <a:spcBef>
                <a:spcPts val="800"/>
              </a:spcBef>
              <a:spcAft>
                <a:spcPts val="0"/>
              </a:spcAft>
              <a:buClr>
                <a:srgbClr val="193EB0"/>
              </a:buClr>
              <a:buSzPts val="1300"/>
              <a:buFont typeface="Arial"/>
              <a:buNone/>
            </a:pPr>
            <a:endParaRPr sz="1300">
              <a:solidFill>
                <a:srgbClr val="262626"/>
              </a:solidFill>
              <a:latin typeface="Arial"/>
              <a:ea typeface="Arial"/>
              <a:cs typeface="Arial"/>
              <a:sym typeface="Arial"/>
            </a:endParaRPr>
          </a:p>
        </p:txBody>
      </p:sp>
      <p:sp>
        <p:nvSpPr>
          <p:cNvPr id="3239" name="Google Shape;3239;p170"/>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dirty="0">
                <a:solidFill>
                  <a:schemeClr val="dk1"/>
                </a:solidFill>
                <a:latin typeface="Arial"/>
                <a:ea typeface="Arial"/>
                <a:cs typeface="Arial"/>
                <a:sym typeface="Arial"/>
              </a:rPr>
              <a:t>IC </a:t>
            </a:r>
            <a:r>
              <a:rPr lang="en-US" sz="1400" dirty="0" err="1">
                <a:solidFill>
                  <a:schemeClr val="dk1"/>
                </a:solidFill>
                <a:latin typeface="Arial"/>
                <a:ea typeface="Arial"/>
                <a:cs typeface="Arial"/>
                <a:sym typeface="Arial"/>
              </a:rPr>
              <a:t>số</a:t>
            </a:r>
            <a:endParaRPr dirty="0"/>
          </a:p>
        </p:txBody>
      </p:sp>
      <p:graphicFrame>
        <p:nvGraphicFramePr>
          <p:cNvPr id="3241" name="Google Shape;3241;p170"/>
          <p:cNvGraphicFramePr/>
          <p:nvPr/>
        </p:nvGraphicFramePr>
        <p:xfrm>
          <a:off x="635999" y="3913158"/>
          <a:ext cx="8630850" cy="1669425"/>
        </p:xfrm>
        <a:graphic>
          <a:graphicData uri="http://schemas.openxmlformats.org/drawingml/2006/table">
            <a:tbl>
              <a:tblPr>
                <a:noFill/>
              </a:tblPr>
              <a:tblGrid>
                <a:gridCol w="2876950">
                  <a:extLst>
                    <a:ext uri="{9D8B030D-6E8A-4147-A177-3AD203B41FA5}">
                      <a16:colId xmlns:a16="http://schemas.microsoft.com/office/drawing/2014/main" val="20000"/>
                    </a:ext>
                  </a:extLst>
                </a:gridCol>
                <a:gridCol w="2876950">
                  <a:extLst>
                    <a:ext uri="{9D8B030D-6E8A-4147-A177-3AD203B41FA5}">
                      <a16:colId xmlns:a16="http://schemas.microsoft.com/office/drawing/2014/main" val="20001"/>
                    </a:ext>
                  </a:extLst>
                </a:gridCol>
                <a:gridCol w="2876950">
                  <a:extLst>
                    <a:ext uri="{9D8B030D-6E8A-4147-A177-3AD203B41FA5}">
                      <a16:colId xmlns:a16="http://schemas.microsoft.com/office/drawing/2014/main" val="20002"/>
                    </a:ext>
                  </a:extLst>
                </a:gridCol>
              </a:tblGrid>
              <a:tr h="332200">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Tên loại</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Tốc độ chuyển động</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Ghi chú</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34062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Dòng 74LS</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15ns</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Sản phẩm tiêu chuẩn</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332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Dòng 74ALS</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11 ns</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Loại tốc độ cao tiêu chuẩn</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332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Dòng 74F</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６ns</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Loại đặc biệt tốc độ cao</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33220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Dòng 74AS</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５ns</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Loại đặc biệt tốc độ cao</a:t>
                      </a:r>
                      <a:endParaRPr/>
                    </a:p>
                  </a:txBody>
                  <a:tcPr marL="91450" marR="91450" marT="45725" marB="45725">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 name="Google Shape;3441;p182">
            <a:extLst>
              <a:ext uri="{FF2B5EF4-FFF2-40B4-BE49-F238E27FC236}">
                <a16:creationId xmlns:a16="http://schemas.microsoft.com/office/drawing/2014/main" id="{6A5EC363-AE3E-A058-D325-7960701F763A}"/>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246"/>
        <p:cNvGrpSpPr/>
        <p:nvPr/>
      </p:nvGrpSpPr>
      <p:grpSpPr>
        <a:xfrm>
          <a:off x="0" y="0"/>
          <a:ext cx="0" cy="0"/>
          <a:chOff x="0" y="0"/>
          <a:chExt cx="0" cy="0"/>
        </a:xfrm>
      </p:grpSpPr>
      <p:sp>
        <p:nvSpPr>
          <p:cNvPr id="3248" name="Google Shape;3248;p171"/>
          <p:cNvSpPr/>
          <p:nvPr/>
        </p:nvSpPr>
        <p:spPr>
          <a:xfrm>
            <a:off x="712182" y="1751850"/>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IC có thể lập trình</a:t>
            </a:r>
            <a:endParaRPr sz="1300">
              <a:solidFill>
                <a:srgbClr val="262626"/>
              </a:solidFill>
              <a:latin typeface="Arial"/>
              <a:ea typeface="Arial"/>
              <a:cs typeface="Arial"/>
              <a:sym typeface="Arial"/>
            </a:endParaRPr>
          </a:p>
        </p:txBody>
      </p:sp>
      <p:sp>
        <p:nvSpPr>
          <p:cNvPr id="3249" name="Google Shape;3249;p171"/>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dirty="0">
                <a:solidFill>
                  <a:schemeClr val="dk1"/>
                </a:solidFill>
                <a:latin typeface="Arial"/>
                <a:ea typeface="Arial"/>
                <a:cs typeface="Arial"/>
                <a:sym typeface="Arial"/>
              </a:rPr>
              <a:t>IC </a:t>
            </a:r>
            <a:r>
              <a:rPr lang="en-US" sz="1400" dirty="0" err="1">
                <a:solidFill>
                  <a:schemeClr val="dk1"/>
                </a:solidFill>
                <a:latin typeface="Arial"/>
                <a:ea typeface="Arial"/>
                <a:cs typeface="Arial"/>
                <a:sym typeface="Arial"/>
              </a:rPr>
              <a:t>số</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tiếp</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theo</a:t>
            </a:r>
            <a:r>
              <a:rPr lang="en-US" sz="1400" dirty="0">
                <a:solidFill>
                  <a:schemeClr val="dk1"/>
                </a:solidFill>
                <a:latin typeface="Arial"/>
                <a:ea typeface="Arial"/>
                <a:cs typeface="Arial"/>
                <a:sym typeface="Arial"/>
              </a:rPr>
              <a:t>)</a:t>
            </a:r>
            <a:endParaRPr dirty="0"/>
          </a:p>
        </p:txBody>
      </p:sp>
      <p:grpSp>
        <p:nvGrpSpPr>
          <p:cNvPr id="3250" name="Google Shape;3250;p171"/>
          <p:cNvGrpSpPr/>
          <p:nvPr/>
        </p:nvGrpSpPr>
        <p:grpSpPr>
          <a:xfrm>
            <a:off x="715384" y="2241550"/>
            <a:ext cx="2112026" cy="3904261"/>
            <a:chOff x="715384" y="2241550"/>
            <a:chExt cx="2112026" cy="3904261"/>
          </a:xfrm>
        </p:grpSpPr>
        <p:pic>
          <p:nvPicPr>
            <p:cNvPr id="3251" name="Google Shape;3251;p171" descr="prom"/>
            <p:cNvPicPr preferRelativeResize="0"/>
            <p:nvPr/>
          </p:nvPicPr>
          <p:blipFill rotWithShape="1">
            <a:blip r:embed="rId3">
              <a:alphaModFix/>
            </a:blip>
            <a:srcRect/>
            <a:stretch/>
          </p:blipFill>
          <p:spPr>
            <a:xfrm>
              <a:off x="903767" y="2241550"/>
              <a:ext cx="1735261" cy="1572997"/>
            </a:xfrm>
            <a:prstGeom prst="rect">
              <a:avLst/>
            </a:prstGeom>
            <a:noFill/>
            <a:ln w="9525" cap="flat" cmpd="sng">
              <a:solidFill>
                <a:srgbClr val="D8D8D8"/>
              </a:solidFill>
              <a:prstDash val="solid"/>
              <a:miter lim="800000"/>
              <a:headEnd type="none" w="sm" len="sm"/>
              <a:tailEnd type="none" w="sm" len="sm"/>
            </a:ln>
          </p:spPr>
        </p:pic>
        <p:pic>
          <p:nvPicPr>
            <p:cNvPr id="3252" name="Google Shape;3252;p171" descr="digitalic3"/>
            <p:cNvPicPr preferRelativeResize="0"/>
            <p:nvPr/>
          </p:nvPicPr>
          <p:blipFill rotWithShape="1">
            <a:blip r:embed="rId4">
              <a:alphaModFix/>
            </a:blip>
            <a:srcRect/>
            <a:stretch/>
          </p:blipFill>
          <p:spPr>
            <a:xfrm>
              <a:off x="903767" y="4176650"/>
              <a:ext cx="1735261" cy="1438198"/>
            </a:xfrm>
            <a:prstGeom prst="rect">
              <a:avLst/>
            </a:prstGeom>
            <a:noFill/>
            <a:ln w="9525" cap="flat" cmpd="sng">
              <a:solidFill>
                <a:srgbClr val="D8D8D8"/>
              </a:solidFill>
              <a:prstDash val="solid"/>
              <a:miter lim="800000"/>
              <a:headEnd type="none" w="sm" len="sm"/>
              <a:tailEnd type="none" w="sm" len="sm"/>
            </a:ln>
          </p:spPr>
        </p:pic>
        <p:sp>
          <p:nvSpPr>
            <p:cNvPr id="3253" name="Google Shape;3253;p171"/>
            <p:cNvSpPr txBox="1"/>
            <p:nvPr/>
          </p:nvSpPr>
          <p:spPr>
            <a:xfrm>
              <a:off x="1203285" y="3845519"/>
              <a:ext cx="1141564"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EPROM </a:t>
              </a:r>
              <a:endParaRPr/>
            </a:p>
          </p:txBody>
        </p:sp>
        <p:sp>
          <p:nvSpPr>
            <p:cNvPr id="3254" name="Google Shape;3254;p171"/>
            <p:cNvSpPr txBox="1"/>
            <p:nvPr/>
          </p:nvSpPr>
          <p:spPr>
            <a:xfrm>
              <a:off x="715384" y="5653368"/>
              <a:ext cx="2112026" cy="492443"/>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FPGA(Mảng cổng lập trình được dạng trường) </a:t>
              </a:r>
              <a:endParaRPr/>
            </a:p>
          </p:txBody>
        </p:sp>
      </p:grpSp>
      <p:sp>
        <p:nvSpPr>
          <p:cNvPr id="3255" name="Google Shape;3255;p171"/>
          <p:cNvSpPr/>
          <p:nvPr/>
        </p:nvSpPr>
        <p:spPr>
          <a:xfrm>
            <a:off x="2887980" y="2249186"/>
            <a:ext cx="6580020" cy="3542014"/>
          </a:xfrm>
          <a:prstGeom prst="rect">
            <a:avLst/>
          </a:prstGeom>
          <a:solidFill>
            <a:srgbClr val="F2F2F2"/>
          </a:solidFill>
          <a:ln>
            <a:noFill/>
          </a:ln>
        </p:spPr>
        <p:txBody>
          <a:bodyPr spcFirstLastPara="1" wrap="square" lIns="180000" tIns="72000" rIns="180000" bIns="72000" anchor="ctr" anchorCtr="0">
            <a:noAutofit/>
          </a:bodyPr>
          <a:lstStyle/>
          <a:p>
            <a:pPr marL="0" marR="0" lvl="0" indent="0" algn="just" rtl="0">
              <a:spcBef>
                <a:spcPts val="0"/>
              </a:spcBef>
              <a:spcAft>
                <a:spcPts val="0"/>
              </a:spcAft>
              <a:buNone/>
            </a:pPr>
            <a:r>
              <a:rPr lang="en-US" sz="1300">
                <a:solidFill>
                  <a:schemeClr val="dk1"/>
                </a:solidFill>
                <a:latin typeface="Arial"/>
                <a:ea typeface="Arial"/>
                <a:cs typeface="Arial"/>
                <a:sym typeface="Arial"/>
              </a:rPr>
              <a:t>27C256: 27 là EPROM, C là loại CMOS, 256 là 256 kbit, 32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27C512: 27 là EPROM, C là loại CMOS, 512 là 512 kbit, 64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27C010: 27 là EPROM, C là loại CMOS, 010 là 1 Mbit, 128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27C040: 27 là EPROM, C là loại CMOS, 040 là 4 Mbit, 512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62256: 62 là SRAM, 256 là 256 kbit, 32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68512: 68 là SRAM tiêu thụ điện năng thấp, 512 là 512 kbit, 64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681000: 68 là SRAM, tiêu thụ điện năng thấp, 1000 là 1 Mbit, 128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28C16: 28 là EPROM, C là loại CMOS, 16 là 16 kbit, 2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28C64: 28 là EPROM, C là loại CMOS, 64 là 4 Mbit, 8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29C010: 29 là bộ nhớ Flash, C là loại CMOS, 010 is 1 Mbit, 128 kbyte.</a:t>
            </a:r>
            <a:endParaRPr/>
          </a:p>
          <a:p>
            <a:pPr marL="0" marR="0" lvl="0" indent="0" algn="just" rtl="0">
              <a:spcBef>
                <a:spcPts val="800"/>
              </a:spcBef>
              <a:spcAft>
                <a:spcPts val="0"/>
              </a:spcAft>
              <a:buNone/>
            </a:pPr>
            <a:r>
              <a:rPr lang="en-US" sz="1300">
                <a:solidFill>
                  <a:schemeClr val="dk1"/>
                </a:solidFill>
                <a:latin typeface="Arial"/>
                <a:ea typeface="Arial"/>
                <a:cs typeface="Arial"/>
                <a:sym typeface="Arial"/>
              </a:rPr>
              <a:t>29C040: 29 là bộ nhớ Flash, C là loại CMOS, 040 là 4 Mbit, 512 kbyte.</a:t>
            </a:r>
            <a:endParaRPr/>
          </a:p>
        </p:txBody>
      </p:sp>
      <p:sp>
        <p:nvSpPr>
          <p:cNvPr id="2" name="Google Shape;3441;p182">
            <a:extLst>
              <a:ext uri="{FF2B5EF4-FFF2-40B4-BE49-F238E27FC236}">
                <a16:creationId xmlns:a16="http://schemas.microsoft.com/office/drawing/2014/main" id="{D105627A-90AE-C179-59D7-9C00C802B3E4}"/>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261"/>
        <p:cNvGrpSpPr/>
        <p:nvPr/>
      </p:nvGrpSpPr>
      <p:grpSpPr>
        <a:xfrm>
          <a:off x="0" y="0"/>
          <a:ext cx="0" cy="0"/>
          <a:chOff x="0" y="0"/>
          <a:chExt cx="0" cy="0"/>
        </a:xfrm>
      </p:grpSpPr>
      <p:sp>
        <p:nvSpPr>
          <p:cNvPr id="3263" name="Google Shape;3263;p172"/>
          <p:cNvSpPr/>
          <p:nvPr/>
        </p:nvSpPr>
        <p:spPr>
          <a:xfrm>
            <a:off x="712182" y="1751850"/>
            <a:ext cx="8487381" cy="1853532"/>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OP Amp (Mạch khuếch đại thuật toán)</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Chức năng cơ bản là khuếch đại tuyến tính. OP Amp có chức năng khuếch đại và xuất tín hiệu đầu vào analog với tỷ lệ không đổi. </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Hệ số khuếch đại cao (hơn 105) đến mức có thể coi đây là mạch khuếch đại lý tưởng với tỷ số khuếch đại vô hạn trong  thiết kế mạch. </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Khi xây dựng mạch hồi tiếp dựa theo giả thuyết về hệ số khuếch đại vô hạn này, có thể xác định hệ số khuếch đại chỉ bằng tỷ số điện trở, được gọi là mạch khuếch đại thuật toán.</a:t>
            </a:r>
            <a:endParaRPr/>
          </a:p>
        </p:txBody>
      </p:sp>
      <p:sp>
        <p:nvSpPr>
          <p:cNvPr id="3264" name="Google Shape;3264;p172"/>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dirty="0">
                <a:solidFill>
                  <a:schemeClr val="dk1"/>
                </a:solidFill>
                <a:latin typeface="Arial"/>
                <a:ea typeface="Arial"/>
                <a:cs typeface="Arial"/>
                <a:sym typeface="Arial"/>
              </a:rPr>
              <a:t>IC </a:t>
            </a:r>
            <a:r>
              <a:rPr lang="en-US" sz="1400" dirty="0" err="1">
                <a:solidFill>
                  <a:schemeClr val="dk1"/>
                </a:solidFill>
                <a:latin typeface="Arial"/>
                <a:ea typeface="Arial"/>
                <a:cs typeface="Arial"/>
                <a:sym typeface="Arial"/>
              </a:rPr>
              <a:t>tương</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tự</a:t>
            </a:r>
            <a:endParaRPr dirty="0"/>
          </a:p>
        </p:txBody>
      </p:sp>
      <p:grpSp>
        <p:nvGrpSpPr>
          <p:cNvPr id="3265" name="Google Shape;3265;p172"/>
          <p:cNvGrpSpPr/>
          <p:nvPr/>
        </p:nvGrpSpPr>
        <p:grpSpPr>
          <a:xfrm>
            <a:off x="2343239" y="3820105"/>
            <a:ext cx="5216347" cy="1734606"/>
            <a:chOff x="2115169" y="4256994"/>
            <a:chExt cx="5216347" cy="1734606"/>
          </a:xfrm>
        </p:grpSpPr>
        <p:pic>
          <p:nvPicPr>
            <p:cNvPr id="3266" name="Google Shape;3266;p172" descr="opeamp"/>
            <p:cNvPicPr preferRelativeResize="0"/>
            <p:nvPr/>
          </p:nvPicPr>
          <p:blipFill rotWithShape="1">
            <a:blip r:embed="rId3">
              <a:alphaModFix/>
            </a:blip>
            <a:srcRect/>
            <a:stretch/>
          </p:blipFill>
          <p:spPr>
            <a:xfrm>
              <a:off x="2115169" y="4256994"/>
              <a:ext cx="2037042" cy="1399120"/>
            </a:xfrm>
            <a:prstGeom prst="rect">
              <a:avLst/>
            </a:prstGeom>
            <a:noFill/>
            <a:ln>
              <a:noFill/>
            </a:ln>
          </p:spPr>
        </p:pic>
        <p:graphicFrame>
          <p:nvGraphicFramePr>
            <p:cNvPr id="3267" name="Google Shape;3267;p172"/>
            <p:cNvGraphicFramePr/>
            <p:nvPr/>
          </p:nvGraphicFramePr>
          <p:xfrm>
            <a:off x="5117223" y="4433108"/>
            <a:ext cx="2142710" cy="1046894"/>
          </p:xfrm>
          <a:graphic>
            <a:graphicData uri="http://schemas.openxmlformats.org/presentationml/2006/ole">
              <mc:AlternateContent xmlns:mc="http://schemas.openxmlformats.org/markup-compatibility/2006">
                <mc:Choice xmlns:v="urn:schemas-microsoft-com:vml" Requires="v">
                  <p:oleObj r:id="rId4" imgW="2142710" imgH="1046894" progId="Visio.Drawing.5">
                    <p:embed/>
                  </p:oleObj>
                </mc:Choice>
                <mc:Fallback>
                  <p:oleObj r:id="rId4" imgW="2142710" imgH="1046894" progId="Visio.Drawing.5">
                    <p:embed/>
                    <p:pic>
                      <p:nvPicPr>
                        <p:cNvPr id="3267" name="Google Shape;3267;p172"/>
                        <p:cNvPicPr preferRelativeResize="0"/>
                        <p:nvPr/>
                      </p:nvPicPr>
                      <p:blipFill rotWithShape="1">
                        <a:blip r:embed="rId5">
                          <a:alphaModFix/>
                        </a:blip>
                        <a:srcRect/>
                        <a:stretch/>
                      </p:blipFill>
                      <p:spPr>
                        <a:xfrm>
                          <a:off x="5117223" y="4433108"/>
                          <a:ext cx="2142710" cy="1046894"/>
                        </a:xfrm>
                        <a:prstGeom prst="rect">
                          <a:avLst/>
                        </a:prstGeom>
                        <a:noFill/>
                        <a:ln>
                          <a:noFill/>
                        </a:ln>
                      </p:spPr>
                    </p:pic>
                  </p:oleObj>
                </mc:Fallback>
              </mc:AlternateContent>
            </a:graphicData>
          </a:graphic>
        </p:graphicFrame>
        <p:sp>
          <p:nvSpPr>
            <p:cNvPr id="3268" name="Google Shape;3268;p172"/>
            <p:cNvSpPr txBox="1"/>
            <p:nvPr/>
          </p:nvSpPr>
          <p:spPr>
            <a:xfrm>
              <a:off x="2478372" y="5699212"/>
              <a:ext cx="131063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Hình thức </a:t>
              </a:r>
              <a:endParaRPr/>
            </a:p>
          </p:txBody>
        </p:sp>
        <p:sp>
          <p:nvSpPr>
            <p:cNvPr id="3269" name="Google Shape;3269;p172"/>
            <p:cNvSpPr txBox="1"/>
            <p:nvPr/>
          </p:nvSpPr>
          <p:spPr>
            <a:xfrm>
              <a:off x="5045640" y="5699212"/>
              <a:ext cx="228587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Ký hiệu trong sơ đồ mạch</a:t>
              </a:r>
              <a:endParaRPr/>
            </a:p>
          </p:txBody>
        </p:sp>
      </p:grpSp>
      <p:sp>
        <p:nvSpPr>
          <p:cNvPr id="2" name="Google Shape;3441;p182">
            <a:extLst>
              <a:ext uri="{FF2B5EF4-FFF2-40B4-BE49-F238E27FC236}">
                <a16:creationId xmlns:a16="http://schemas.microsoft.com/office/drawing/2014/main" id="{B6175D19-0E53-033D-2687-0237816C91BD}"/>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291"/>
        <p:cNvGrpSpPr/>
        <p:nvPr/>
      </p:nvGrpSpPr>
      <p:grpSpPr>
        <a:xfrm>
          <a:off x="0" y="0"/>
          <a:ext cx="0" cy="0"/>
          <a:chOff x="0" y="0"/>
          <a:chExt cx="0" cy="0"/>
        </a:xfrm>
      </p:grpSpPr>
      <p:sp>
        <p:nvSpPr>
          <p:cNvPr id="3292" name="Google Shape;3292;p174"/>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Linh kiện bán dẫn liên quan đến sóng ánh sáng</a:t>
            </a:r>
            <a:endParaRPr sz="2400" b="1">
              <a:solidFill>
                <a:srgbClr val="0C0C0C"/>
              </a:solidFill>
              <a:latin typeface="Arial"/>
              <a:ea typeface="Arial"/>
              <a:cs typeface="Arial"/>
              <a:sym typeface="Arial"/>
            </a:endParaRPr>
          </a:p>
        </p:txBody>
      </p:sp>
      <p:sp>
        <p:nvSpPr>
          <p:cNvPr id="3294" name="Google Shape;3294;p174"/>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Điốt phát quang (LED)</a:t>
            </a:r>
            <a:endParaRPr/>
          </a:p>
        </p:txBody>
      </p:sp>
      <p:sp>
        <p:nvSpPr>
          <p:cNvPr id="3295" name="Google Shape;3295;p174"/>
          <p:cNvSpPr/>
          <p:nvPr/>
        </p:nvSpPr>
        <p:spPr>
          <a:xfrm>
            <a:off x="712182" y="2174873"/>
            <a:ext cx="8487381" cy="1048183"/>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Khi trộn một tạp chất cụ thể với một chất bán dẫn, nếu dòng điện thuận đi qua lớp chuyển tiếp PN thì sẽ phát ra ánh sáng có bước sóng cụ thể tùy theo loại tạp chất đó.</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Những màu chính gồm đỏ, lục và vàng. Những năm gần đây, điốt phát quang màu lam đã được phát triển nhằm tạo ra ba màu cơ bản của ánh sáng, từ đó giúp hiển thị hình ảnh đầy đủ màu sắc.</a:t>
            </a:r>
            <a:endParaRPr/>
          </a:p>
        </p:txBody>
      </p:sp>
      <p:grpSp>
        <p:nvGrpSpPr>
          <p:cNvPr id="3297" name="Google Shape;3297;p174"/>
          <p:cNvGrpSpPr/>
          <p:nvPr/>
        </p:nvGrpSpPr>
        <p:grpSpPr>
          <a:xfrm>
            <a:off x="1728153" y="3459480"/>
            <a:ext cx="6448108" cy="2361061"/>
            <a:chOff x="1728153" y="3459480"/>
            <a:chExt cx="6448108" cy="2361061"/>
          </a:xfrm>
        </p:grpSpPr>
        <p:pic>
          <p:nvPicPr>
            <p:cNvPr id="3298" name="Google Shape;3298;p174" descr="ë°ê´ë¤ì´ì¤ëì ëí ì´ë¯¸ì§ ê²ìê²°ê³¼"/>
            <p:cNvPicPr preferRelativeResize="0"/>
            <p:nvPr/>
          </p:nvPicPr>
          <p:blipFill rotWithShape="1">
            <a:blip r:embed="rId3">
              <a:alphaModFix/>
            </a:blip>
            <a:srcRect t="25113"/>
            <a:stretch/>
          </p:blipFill>
          <p:spPr>
            <a:xfrm>
              <a:off x="1728153" y="3602634"/>
              <a:ext cx="6371907" cy="1676746"/>
            </a:xfrm>
            <a:prstGeom prst="rect">
              <a:avLst/>
            </a:prstGeom>
            <a:noFill/>
            <a:ln>
              <a:noFill/>
            </a:ln>
          </p:spPr>
        </p:pic>
        <p:sp>
          <p:nvSpPr>
            <p:cNvPr id="3299" name="Google Shape;3299;p174"/>
            <p:cNvSpPr txBox="1"/>
            <p:nvPr/>
          </p:nvSpPr>
          <p:spPr>
            <a:xfrm>
              <a:off x="3809553" y="5528153"/>
              <a:ext cx="228587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Điốt phát quang (LED)</a:t>
              </a:r>
              <a:endParaRPr/>
            </a:p>
          </p:txBody>
        </p:sp>
        <p:sp>
          <p:nvSpPr>
            <p:cNvPr id="3300" name="Google Shape;3300;p174"/>
            <p:cNvSpPr/>
            <p:nvPr/>
          </p:nvSpPr>
          <p:spPr>
            <a:xfrm>
              <a:off x="1728153" y="3459480"/>
              <a:ext cx="6448108" cy="2011680"/>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 name="Google Shape;3441;p182">
            <a:extLst>
              <a:ext uri="{FF2B5EF4-FFF2-40B4-BE49-F238E27FC236}">
                <a16:creationId xmlns:a16="http://schemas.microsoft.com/office/drawing/2014/main" id="{34AD2906-CFF5-61C4-2E70-ECED4591898A}"/>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305"/>
        <p:cNvGrpSpPr/>
        <p:nvPr/>
      </p:nvGrpSpPr>
      <p:grpSpPr>
        <a:xfrm>
          <a:off x="0" y="0"/>
          <a:ext cx="0" cy="0"/>
          <a:chOff x="0" y="0"/>
          <a:chExt cx="0" cy="0"/>
        </a:xfrm>
      </p:grpSpPr>
      <p:sp>
        <p:nvSpPr>
          <p:cNvPr id="3307" name="Google Shape;3307;p175"/>
          <p:cNvSpPr/>
          <p:nvPr/>
        </p:nvSpPr>
        <p:spPr>
          <a:xfrm>
            <a:off x="712182" y="1698510"/>
            <a:ext cx="8487381"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Đây là một điốt phát quang phát ra ánh sáng có bước sóng hồng ngoại, được sử dụng rộng rãi để truyền tín hiệu trong thiết bị điều khiển từ xa như TV, nhiều kích thước và hình dạng khác nhau.</a:t>
            </a:r>
            <a:endParaRPr/>
          </a:p>
        </p:txBody>
      </p:sp>
      <p:sp>
        <p:nvSpPr>
          <p:cNvPr id="3308" name="Google Shape;3308;p175"/>
          <p:cNvSpPr/>
          <p:nvPr/>
        </p:nvSpPr>
        <p:spPr>
          <a:xfrm>
            <a:off x="580388" y="146839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Điốt phát quang hồng ngoại</a:t>
            </a:r>
            <a:endParaRPr sz="1400">
              <a:solidFill>
                <a:schemeClr val="dk1"/>
              </a:solidFill>
              <a:latin typeface="Arial"/>
              <a:ea typeface="Arial"/>
              <a:cs typeface="Arial"/>
              <a:sym typeface="Arial"/>
            </a:endParaRPr>
          </a:p>
        </p:txBody>
      </p:sp>
      <p:grpSp>
        <p:nvGrpSpPr>
          <p:cNvPr id="3310" name="Google Shape;3310;p175"/>
          <p:cNvGrpSpPr/>
          <p:nvPr/>
        </p:nvGrpSpPr>
        <p:grpSpPr>
          <a:xfrm>
            <a:off x="3812810" y="2415597"/>
            <a:ext cx="2286000" cy="2643858"/>
            <a:chOff x="3812810" y="2468937"/>
            <a:chExt cx="2286000" cy="2643858"/>
          </a:xfrm>
        </p:grpSpPr>
        <p:sp>
          <p:nvSpPr>
            <p:cNvPr id="3311" name="Google Shape;3311;p175"/>
            <p:cNvSpPr txBox="1"/>
            <p:nvPr/>
          </p:nvSpPr>
          <p:spPr>
            <a:xfrm>
              <a:off x="3812810" y="4820407"/>
              <a:ext cx="228587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Điốt phát quang hồng ngoại</a:t>
              </a:r>
              <a:endParaRPr sz="1300" b="1">
                <a:solidFill>
                  <a:srgbClr val="000000"/>
                </a:solidFill>
                <a:latin typeface="Arial"/>
                <a:ea typeface="Arial"/>
                <a:cs typeface="Arial"/>
                <a:sym typeface="Arial"/>
              </a:endParaRPr>
            </a:p>
          </p:txBody>
        </p:sp>
        <p:grpSp>
          <p:nvGrpSpPr>
            <p:cNvPr id="3312" name="Google Shape;3312;p175"/>
            <p:cNvGrpSpPr/>
            <p:nvPr/>
          </p:nvGrpSpPr>
          <p:grpSpPr>
            <a:xfrm>
              <a:off x="3812810" y="2468937"/>
              <a:ext cx="2286000" cy="2316480"/>
              <a:chOff x="3733800" y="2423160"/>
              <a:chExt cx="2286000" cy="2316480"/>
            </a:xfrm>
          </p:grpSpPr>
          <p:pic>
            <p:nvPicPr>
              <p:cNvPr id="3313" name="Google Shape;3313;p175"/>
              <p:cNvPicPr preferRelativeResize="0"/>
              <p:nvPr/>
            </p:nvPicPr>
            <p:blipFill rotWithShape="1">
              <a:blip r:embed="rId3">
                <a:alphaModFix/>
              </a:blip>
              <a:srcRect/>
              <a:stretch/>
            </p:blipFill>
            <p:spPr>
              <a:xfrm>
                <a:off x="4025995" y="2458150"/>
                <a:ext cx="1612805" cy="2272292"/>
              </a:xfrm>
              <a:prstGeom prst="rect">
                <a:avLst/>
              </a:prstGeom>
              <a:noFill/>
              <a:ln>
                <a:noFill/>
              </a:ln>
            </p:spPr>
          </p:pic>
          <p:sp>
            <p:nvSpPr>
              <p:cNvPr id="3314" name="Google Shape;3314;p175"/>
              <p:cNvSpPr/>
              <p:nvPr/>
            </p:nvSpPr>
            <p:spPr>
              <a:xfrm>
                <a:off x="3733800" y="2423160"/>
                <a:ext cx="2286000" cy="2316480"/>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2" name="Google Shape;3441;p182">
            <a:extLst>
              <a:ext uri="{FF2B5EF4-FFF2-40B4-BE49-F238E27FC236}">
                <a16:creationId xmlns:a16="http://schemas.microsoft.com/office/drawing/2014/main" id="{8A3C9070-138B-EFAE-342C-5EB44870A82D}"/>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319"/>
        <p:cNvGrpSpPr/>
        <p:nvPr/>
      </p:nvGrpSpPr>
      <p:grpSpPr>
        <a:xfrm>
          <a:off x="0" y="0"/>
          <a:ext cx="0" cy="0"/>
          <a:chOff x="0" y="0"/>
          <a:chExt cx="0" cy="0"/>
        </a:xfrm>
      </p:grpSpPr>
      <p:sp>
        <p:nvSpPr>
          <p:cNvPr id="3321" name="Google Shape;3321;p176"/>
          <p:cNvSpPr/>
          <p:nvPr/>
        </p:nvSpPr>
        <p:spPr>
          <a:xfrm>
            <a:off x="712182" y="1698510"/>
            <a:ext cx="8487381" cy="213053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 Điốt quang</a:t>
            </a:r>
            <a:endParaRPr/>
          </a:p>
          <a:p>
            <a:pPr marL="285750" marR="0" lvl="0" indent="-285750" algn="l" rtl="0">
              <a:spcBef>
                <a:spcPts val="600"/>
              </a:spcBef>
              <a:spcAft>
                <a:spcPts val="0"/>
              </a:spcAft>
              <a:buClr>
                <a:srgbClr val="193EB0"/>
              </a:buClr>
              <a:buSzPts val="1300"/>
              <a:buFont typeface="Arial"/>
              <a:buChar char="•"/>
            </a:pPr>
            <a:r>
              <a:rPr lang="en-US" sz="1300">
                <a:solidFill>
                  <a:srgbClr val="262626"/>
                </a:solidFill>
                <a:latin typeface="Arial"/>
                <a:ea typeface="Arial"/>
                <a:cs typeface="Arial"/>
                <a:sym typeface="Arial"/>
              </a:rPr>
              <a:t>Khi ánh sáng đi tới lớp chuyển tiếp của điốt quang, dòng điện chạy qua do năng lượng ánh sáng ngược với đèn LED và cường độ dòng điện chạy qua tỷ lệ thuận với cường độ ánh sáng.</a:t>
            </a:r>
            <a:endParaRPr/>
          </a:p>
          <a:p>
            <a:pPr marL="182563" marR="0" lvl="0" indent="-182563" algn="l" rtl="0">
              <a:spcBef>
                <a:spcPts val="600"/>
              </a:spcBef>
              <a:spcAft>
                <a:spcPts val="0"/>
              </a:spcAft>
              <a:buClr>
                <a:srgbClr val="193EB0"/>
              </a:buClr>
              <a:buSzPts val="1300"/>
              <a:buFont typeface="Arial"/>
              <a:buChar char="‣"/>
            </a:pPr>
            <a:r>
              <a:rPr lang="en-US" sz="1300">
                <a:solidFill>
                  <a:srgbClr val="262626"/>
                </a:solidFill>
                <a:latin typeface="Arial"/>
                <a:ea typeface="Arial"/>
                <a:cs typeface="Arial"/>
                <a:sym typeface="Arial"/>
              </a:rPr>
              <a:t>Transistor quang</a:t>
            </a:r>
            <a:endParaRPr/>
          </a:p>
          <a:p>
            <a:pPr marL="285750" marR="0" lvl="0" indent="-285750" algn="l" rtl="0">
              <a:spcBef>
                <a:spcPts val="600"/>
              </a:spcBef>
              <a:spcAft>
                <a:spcPts val="0"/>
              </a:spcAft>
              <a:buClr>
                <a:srgbClr val="193EB0"/>
              </a:buClr>
              <a:buSzPts val="1300"/>
              <a:buFont typeface="Arial"/>
              <a:buChar char="•"/>
            </a:pPr>
            <a:r>
              <a:rPr lang="en-US" sz="1300">
                <a:solidFill>
                  <a:srgbClr val="262626"/>
                </a:solidFill>
                <a:latin typeface="Arial"/>
                <a:ea typeface="Arial"/>
                <a:cs typeface="Arial"/>
                <a:sym typeface="Arial"/>
              </a:rPr>
              <a:t>Linh kiện hoạt động tương tự điốt quang, dòng điện tại cực góp chạy qua khi ánh sáng đi vào cực gốc của transistor.</a:t>
            </a:r>
            <a:endParaRPr/>
          </a:p>
          <a:p>
            <a:pPr marL="182563" marR="0" lvl="0" indent="-182563" algn="l" rtl="0">
              <a:spcBef>
                <a:spcPts val="600"/>
              </a:spcBef>
              <a:spcAft>
                <a:spcPts val="0"/>
              </a:spcAft>
              <a:buClr>
                <a:srgbClr val="193EB0"/>
              </a:buClr>
              <a:buSzPts val="1300"/>
              <a:buFont typeface="Arial"/>
              <a:buChar char="‣"/>
            </a:pPr>
            <a:r>
              <a:rPr lang="en-US" sz="1300">
                <a:solidFill>
                  <a:srgbClr val="262626"/>
                </a:solidFill>
                <a:latin typeface="Arial"/>
                <a:ea typeface="Arial"/>
                <a:cs typeface="Arial"/>
                <a:sym typeface="Arial"/>
              </a:rPr>
              <a:t> Tế bào CDS </a:t>
            </a:r>
            <a:endParaRPr/>
          </a:p>
          <a:p>
            <a:pPr marL="285750" marR="0" lvl="0" indent="-285750" algn="l" rtl="0">
              <a:spcBef>
                <a:spcPts val="600"/>
              </a:spcBef>
              <a:spcAft>
                <a:spcPts val="0"/>
              </a:spcAft>
              <a:buClr>
                <a:srgbClr val="193EB0"/>
              </a:buClr>
              <a:buSzPts val="1300"/>
              <a:buFont typeface="Arial"/>
              <a:buChar char="•"/>
            </a:pPr>
            <a:r>
              <a:rPr lang="en-US" sz="1300">
                <a:solidFill>
                  <a:srgbClr val="262626"/>
                </a:solidFill>
                <a:latin typeface="Arial"/>
                <a:ea typeface="Arial"/>
                <a:cs typeface="Arial"/>
                <a:sym typeface="Arial"/>
              </a:rPr>
              <a:t>Thiết bị CDS tận dụng đặc tính điện trở giảm khi ánh sáng chiếu vào. Độ nhạy tốt nhưng thời gian phản hồi chậm hơn so với điốt quang hoặc transistor quang.</a:t>
            </a:r>
            <a:endParaRPr/>
          </a:p>
        </p:txBody>
      </p:sp>
      <p:sp>
        <p:nvSpPr>
          <p:cNvPr id="3322" name="Google Shape;3322;p176"/>
          <p:cNvSpPr/>
          <p:nvPr/>
        </p:nvSpPr>
        <p:spPr>
          <a:xfrm>
            <a:off x="580388" y="146839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Thiết bị quang điện tử</a:t>
            </a:r>
            <a:endParaRPr sz="1400">
              <a:solidFill>
                <a:schemeClr val="dk1"/>
              </a:solidFill>
              <a:latin typeface="Arial"/>
              <a:ea typeface="Arial"/>
              <a:cs typeface="Arial"/>
              <a:sym typeface="Arial"/>
            </a:endParaRPr>
          </a:p>
        </p:txBody>
      </p:sp>
      <p:grpSp>
        <p:nvGrpSpPr>
          <p:cNvPr id="3323" name="Google Shape;3323;p176"/>
          <p:cNvGrpSpPr/>
          <p:nvPr/>
        </p:nvGrpSpPr>
        <p:grpSpPr>
          <a:xfrm>
            <a:off x="2875606" y="4199547"/>
            <a:ext cx="1674056" cy="2084556"/>
            <a:chOff x="2593666" y="4108107"/>
            <a:chExt cx="1674056" cy="2084556"/>
          </a:xfrm>
        </p:grpSpPr>
        <p:pic>
          <p:nvPicPr>
            <p:cNvPr id="3324" name="Google Shape;3324;p176" descr="photoelec"/>
            <p:cNvPicPr preferRelativeResize="0"/>
            <p:nvPr/>
          </p:nvPicPr>
          <p:blipFill rotWithShape="1">
            <a:blip r:embed="rId3">
              <a:alphaModFix/>
            </a:blip>
            <a:srcRect/>
            <a:stretch/>
          </p:blipFill>
          <p:spPr>
            <a:xfrm>
              <a:off x="2593666" y="4108107"/>
              <a:ext cx="1674056" cy="1764594"/>
            </a:xfrm>
            <a:prstGeom prst="rect">
              <a:avLst/>
            </a:prstGeom>
            <a:noFill/>
            <a:ln w="9525" cap="flat" cmpd="sng">
              <a:solidFill>
                <a:srgbClr val="D8D8D8"/>
              </a:solidFill>
              <a:prstDash val="solid"/>
              <a:miter lim="800000"/>
              <a:headEnd type="none" w="sm" len="sm"/>
              <a:tailEnd type="none" w="sm" len="sm"/>
            </a:ln>
          </p:spPr>
        </p:pic>
        <p:sp>
          <p:nvSpPr>
            <p:cNvPr id="3325" name="Google Shape;3325;p176"/>
            <p:cNvSpPr txBox="1"/>
            <p:nvPr/>
          </p:nvSpPr>
          <p:spPr>
            <a:xfrm>
              <a:off x="2676246" y="5900275"/>
              <a:ext cx="150889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Transistor quang</a:t>
              </a:r>
              <a:endParaRPr sz="1300" b="1">
                <a:solidFill>
                  <a:srgbClr val="000000"/>
                </a:solidFill>
                <a:latin typeface="Arial"/>
                <a:ea typeface="Arial"/>
                <a:cs typeface="Arial"/>
                <a:sym typeface="Arial"/>
              </a:endParaRPr>
            </a:p>
          </p:txBody>
        </p:sp>
      </p:grpSp>
      <p:grpSp>
        <p:nvGrpSpPr>
          <p:cNvPr id="3326" name="Google Shape;3326;p176"/>
          <p:cNvGrpSpPr/>
          <p:nvPr/>
        </p:nvGrpSpPr>
        <p:grpSpPr>
          <a:xfrm>
            <a:off x="4915246" y="4190381"/>
            <a:ext cx="2089114" cy="2093722"/>
            <a:chOff x="5220046" y="4098941"/>
            <a:chExt cx="2089114" cy="2093722"/>
          </a:xfrm>
        </p:grpSpPr>
        <p:pic>
          <p:nvPicPr>
            <p:cNvPr id="3327" name="Google Shape;3327;p176"/>
            <p:cNvPicPr preferRelativeResize="0"/>
            <p:nvPr/>
          </p:nvPicPr>
          <p:blipFill rotWithShape="1">
            <a:blip r:embed="rId4">
              <a:alphaModFix/>
            </a:blip>
            <a:srcRect/>
            <a:stretch/>
          </p:blipFill>
          <p:spPr>
            <a:xfrm>
              <a:off x="5220046" y="4098941"/>
              <a:ext cx="2089114" cy="1757844"/>
            </a:xfrm>
            <a:prstGeom prst="rect">
              <a:avLst/>
            </a:prstGeom>
            <a:noFill/>
            <a:ln w="9525" cap="flat" cmpd="sng">
              <a:solidFill>
                <a:srgbClr val="D8D8D8"/>
              </a:solidFill>
              <a:prstDash val="solid"/>
              <a:miter lim="800000"/>
              <a:headEnd type="none" w="sm" len="sm"/>
              <a:tailEnd type="none" w="sm" len="sm"/>
            </a:ln>
          </p:spPr>
        </p:pic>
        <p:sp>
          <p:nvSpPr>
            <p:cNvPr id="3328" name="Google Shape;3328;p176"/>
            <p:cNvSpPr txBox="1"/>
            <p:nvPr/>
          </p:nvSpPr>
          <p:spPr>
            <a:xfrm>
              <a:off x="5510155" y="5900275"/>
              <a:ext cx="150889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Tế bào Cds </a:t>
              </a:r>
              <a:endParaRPr/>
            </a:p>
          </p:txBody>
        </p:sp>
      </p:grpSp>
      <p:sp>
        <p:nvSpPr>
          <p:cNvPr id="2" name="Google Shape;3441;p182">
            <a:extLst>
              <a:ext uri="{FF2B5EF4-FFF2-40B4-BE49-F238E27FC236}">
                <a16:creationId xmlns:a16="http://schemas.microsoft.com/office/drawing/2014/main" id="{72FE19F6-BF33-DD8E-E88B-62FA13F7CF20}"/>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3334"/>
        <p:cNvGrpSpPr/>
        <p:nvPr/>
      </p:nvGrpSpPr>
      <p:grpSpPr>
        <a:xfrm>
          <a:off x="0" y="0"/>
          <a:ext cx="0" cy="0"/>
          <a:chOff x="0" y="0"/>
          <a:chExt cx="0" cy="0"/>
        </a:xfrm>
      </p:grpSpPr>
      <p:sp>
        <p:nvSpPr>
          <p:cNvPr id="3335" name="Google Shape;3335;p177"/>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Màn hình bảy đoạn</a:t>
            </a:r>
            <a:endParaRPr sz="2400" b="1">
              <a:solidFill>
                <a:srgbClr val="0C0C0C"/>
              </a:solidFill>
              <a:latin typeface="Arial"/>
              <a:ea typeface="Arial"/>
              <a:cs typeface="Arial"/>
              <a:sym typeface="Arial"/>
            </a:endParaRPr>
          </a:p>
        </p:txBody>
      </p:sp>
      <p:sp>
        <p:nvSpPr>
          <p:cNvPr id="3337" name="Google Shape;3337;p177"/>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Thiết bị có bảy đèn LED để hiển thị chữ số và chữ số có thể được hiển thị bằng bảy phần tử.</a:t>
            </a:r>
            <a:endParaRPr/>
          </a:p>
        </p:txBody>
      </p:sp>
      <p:sp>
        <p:nvSpPr>
          <p:cNvPr id="3338" name="Google Shape;3338;p177"/>
          <p:cNvSpPr/>
          <p:nvPr/>
        </p:nvSpPr>
        <p:spPr>
          <a:xfrm>
            <a:off x="712182" y="2174873"/>
            <a:ext cx="8726286" cy="1253368"/>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 Cực dương chung</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Các cực dương của điốt thường được nối với điện áp +5 [V], tức là sử dụng điện áp 0 [V] cho những điốt cần phát sáng.</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Cực âm chung</a:t>
            </a:r>
            <a:endParaRPr sz="1300">
              <a:solidFill>
                <a:srgbClr val="262626"/>
              </a:solidFill>
              <a:latin typeface="Arial"/>
              <a:ea typeface="Arial"/>
              <a:cs typeface="Arial"/>
              <a:sym typeface="Arial"/>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Các cực âm của điốt được nối với điện áp 0 [V], do vậy có thể nối +5 [V] vào những điốt cần phát sáng.</a:t>
            </a:r>
            <a:endParaRPr/>
          </a:p>
        </p:txBody>
      </p:sp>
      <p:grpSp>
        <p:nvGrpSpPr>
          <p:cNvPr id="3339" name="Google Shape;3339;p177"/>
          <p:cNvGrpSpPr/>
          <p:nvPr/>
        </p:nvGrpSpPr>
        <p:grpSpPr>
          <a:xfrm>
            <a:off x="1801094" y="3769954"/>
            <a:ext cx="6302793" cy="2352947"/>
            <a:chOff x="1289386" y="3853774"/>
            <a:chExt cx="6302793" cy="2352947"/>
          </a:xfrm>
        </p:grpSpPr>
        <p:pic>
          <p:nvPicPr>
            <p:cNvPr id="3340" name="Google Shape;3340;p177" descr="http://www.ehtec.com/epart/img/segmentled.jpg"/>
            <p:cNvPicPr preferRelativeResize="0"/>
            <p:nvPr/>
          </p:nvPicPr>
          <p:blipFill rotWithShape="1">
            <a:blip r:embed="rId3">
              <a:alphaModFix/>
            </a:blip>
            <a:srcRect/>
            <a:stretch/>
          </p:blipFill>
          <p:spPr>
            <a:xfrm>
              <a:off x="1289386" y="4038440"/>
              <a:ext cx="3442902" cy="1570019"/>
            </a:xfrm>
            <a:prstGeom prst="rect">
              <a:avLst/>
            </a:prstGeom>
            <a:noFill/>
            <a:ln w="9525" cap="flat" cmpd="sng">
              <a:solidFill>
                <a:srgbClr val="D8D8D8"/>
              </a:solidFill>
              <a:prstDash val="solid"/>
              <a:miter lim="800000"/>
              <a:headEnd type="none" w="sm" len="sm"/>
              <a:tailEnd type="none" w="sm" len="sm"/>
            </a:ln>
          </p:spPr>
        </p:pic>
        <p:sp>
          <p:nvSpPr>
            <p:cNvPr id="3341" name="Google Shape;3341;p177"/>
            <p:cNvSpPr txBox="1"/>
            <p:nvPr/>
          </p:nvSpPr>
          <p:spPr>
            <a:xfrm>
              <a:off x="1861965" y="5714278"/>
              <a:ext cx="2285876" cy="492443"/>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Hình thức của màn hình bảy đoạn</a:t>
              </a:r>
              <a:endParaRPr sz="1300" b="1">
                <a:solidFill>
                  <a:srgbClr val="000000"/>
                </a:solidFill>
                <a:latin typeface="Arial"/>
                <a:ea typeface="Arial"/>
                <a:cs typeface="Arial"/>
                <a:sym typeface="Arial"/>
              </a:endParaRPr>
            </a:p>
          </p:txBody>
        </p:sp>
        <p:grpSp>
          <p:nvGrpSpPr>
            <p:cNvPr id="3342" name="Google Shape;3342;p177"/>
            <p:cNvGrpSpPr/>
            <p:nvPr/>
          </p:nvGrpSpPr>
          <p:grpSpPr>
            <a:xfrm>
              <a:off x="5263397" y="3853774"/>
              <a:ext cx="2328782" cy="2157091"/>
              <a:chOff x="5460944" y="3853774"/>
              <a:chExt cx="2328782" cy="2157091"/>
            </a:xfrm>
          </p:grpSpPr>
          <p:pic>
            <p:nvPicPr>
              <p:cNvPr id="3343" name="Google Shape;3343;p177" descr="img10.gif"/>
              <p:cNvPicPr preferRelativeResize="0"/>
              <p:nvPr/>
            </p:nvPicPr>
            <p:blipFill rotWithShape="1">
              <a:blip r:embed="rId4">
                <a:alphaModFix/>
              </a:blip>
              <a:srcRect/>
              <a:stretch/>
            </p:blipFill>
            <p:spPr>
              <a:xfrm>
                <a:off x="5460944" y="3853774"/>
                <a:ext cx="2328782" cy="2152892"/>
              </a:xfrm>
              <a:prstGeom prst="rect">
                <a:avLst/>
              </a:prstGeom>
              <a:noFill/>
              <a:ln>
                <a:noFill/>
              </a:ln>
            </p:spPr>
          </p:pic>
          <p:sp>
            <p:nvSpPr>
              <p:cNvPr id="3344" name="Google Shape;3344;p177"/>
              <p:cNvSpPr txBox="1"/>
              <p:nvPr/>
            </p:nvSpPr>
            <p:spPr>
              <a:xfrm>
                <a:off x="5680852" y="3853774"/>
                <a:ext cx="988172" cy="184666"/>
              </a:xfrm>
              <a:prstGeom prst="rect">
                <a:avLst/>
              </a:prstGeom>
              <a:solidFill>
                <a:srgbClr val="F8F8F8"/>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 + ) commom</a:t>
                </a:r>
                <a:endParaRPr sz="1200">
                  <a:solidFill>
                    <a:srgbClr val="000000"/>
                  </a:solidFill>
                  <a:latin typeface="Arial"/>
                  <a:ea typeface="Arial"/>
                  <a:cs typeface="Arial"/>
                  <a:sym typeface="Arial"/>
                </a:endParaRPr>
              </a:p>
            </p:txBody>
          </p:sp>
          <p:sp>
            <p:nvSpPr>
              <p:cNvPr id="3345" name="Google Shape;3345;p177"/>
              <p:cNvSpPr txBox="1"/>
              <p:nvPr/>
            </p:nvSpPr>
            <p:spPr>
              <a:xfrm>
                <a:off x="5680852" y="4988689"/>
                <a:ext cx="988172" cy="184666"/>
              </a:xfrm>
              <a:prstGeom prst="rect">
                <a:avLst/>
              </a:prstGeom>
              <a:solidFill>
                <a:srgbClr val="F8F8F8"/>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 - ) commom</a:t>
                </a:r>
                <a:endParaRPr sz="1200">
                  <a:solidFill>
                    <a:srgbClr val="000000"/>
                  </a:solidFill>
                  <a:latin typeface="Arial"/>
                  <a:ea typeface="Arial"/>
                  <a:cs typeface="Arial"/>
                  <a:sym typeface="Arial"/>
                </a:endParaRPr>
              </a:p>
            </p:txBody>
          </p:sp>
          <p:sp>
            <p:nvSpPr>
              <p:cNvPr id="3346" name="Google Shape;3346;p177"/>
              <p:cNvSpPr txBox="1"/>
              <p:nvPr/>
            </p:nvSpPr>
            <p:spPr>
              <a:xfrm>
                <a:off x="5573471" y="4691284"/>
                <a:ext cx="988172" cy="184666"/>
              </a:xfrm>
              <a:prstGeom prst="rect">
                <a:avLst/>
              </a:prstGeom>
              <a:solidFill>
                <a:srgbClr val="F8F8F8"/>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FND507</a:t>
                </a:r>
                <a:endParaRPr/>
              </a:p>
            </p:txBody>
          </p:sp>
          <p:sp>
            <p:nvSpPr>
              <p:cNvPr id="3347" name="Google Shape;3347;p177"/>
              <p:cNvSpPr txBox="1"/>
              <p:nvPr/>
            </p:nvSpPr>
            <p:spPr>
              <a:xfrm>
                <a:off x="5573471" y="5826199"/>
                <a:ext cx="988172" cy="184666"/>
              </a:xfrm>
              <a:prstGeom prst="rect">
                <a:avLst/>
              </a:prstGeom>
              <a:solidFill>
                <a:srgbClr val="F8F8F8"/>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FND500</a:t>
                </a:r>
                <a:endParaRPr/>
              </a:p>
            </p:txBody>
          </p:sp>
          <p:sp>
            <p:nvSpPr>
              <p:cNvPr id="3348" name="Google Shape;3348;p177"/>
              <p:cNvSpPr txBox="1"/>
              <p:nvPr/>
            </p:nvSpPr>
            <p:spPr>
              <a:xfrm>
                <a:off x="5496570" y="4488863"/>
                <a:ext cx="1202934" cy="169277"/>
              </a:xfrm>
              <a:prstGeom prst="rect">
                <a:avLst/>
              </a:prstGeom>
              <a:solidFill>
                <a:srgbClr val="F8F8F8"/>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00">
                    <a:solidFill>
                      <a:srgbClr val="000000"/>
                    </a:solidFill>
                    <a:latin typeface="Arial"/>
                    <a:ea typeface="Arial"/>
                    <a:cs typeface="Arial"/>
                    <a:sym typeface="Arial"/>
                  </a:rPr>
                  <a:t>a b c d e f g</a:t>
                </a:r>
                <a:endParaRPr/>
              </a:p>
            </p:txBody>
          </p:sp>
          <p:sp>
            <p:nvSpPr>
              <p:cNvPr id="3349" name="Google Shape;3349;p177"/>
              <p:cNvSpPr txBox="1"/>
              <p:nvPr/>
            </p:nvSpPr>
            <p:spPr>
              <a:xfrm>
                <a:off x="5496570" y="5652723"/>
                <a:ext cx="1202934" cy="169277"/>
              </a:xfrm>
              <a:prstGeom prst="rect">
                <a:avLst/>
              </a:prstGeom>
              <a:solidFill>
                <a:srgbClr val="F8F8F8"/>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00">
                    <a:solidFill>
                      <a:srgbClr val="000000"/>
                    </a:solidFill>
                    <a:latin typeface="Arial"/>
                    <a:ea typeface="Arial"/>
                    <a:cs typeface="Arial"/>
                    <a:sym typeface="Arial"/>
                  </a:rPr>
                  <a:t>a b c d e f g</a:t>
                </a:r>
                <a:endParaRPr/>
              </a:p>
            </p:txBody>
          </p:sp>
          <p:sp>
            <p:nvSpPr>
              <p:cNvPr id="3350" name="Google Shape;3350;p177"/>
              <p:cNvSpPr txBox="1"/>
              <p:nvPr/>
            </p:nvSpPr>
            <p:spPr>
              <a:xfrm>
                <a:off x="6894576" y="4317673"/>
                <a:ext cx="895150" cy="169277"/>
              </a:xfrm>
              <a:prstGeom prst="rect">
                <a:avLst/>
              </a:prstGeom>
              <a:solidFill>
                <a:srgbClr val="F8F8F8"/>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000000"/>
                    </a:solidFill>
                    <a:latin typeface="Arial"/>
                    <a:ea typeface="Arial"/>
                    <a:cs typeface="Arial"/>
                    <a:sym typeface="Arial"/>
                  </a:rPr>
                  <a:t>g  f com a b</a:t>
                </a:r>
                <a:endParaRPr/>
              </a:p>
            </p:txBody>
          </p:sp>
          <p:sp>
            <p:nvSpPr>
              <p:cNvPr id="3351" name="Google Shape;3351;p177"/>
              <p:cNvSpPr txBox="1"/>
              <p:nvPr/>
            </p:nvSpPr>
            <p:spPr>
              <a:xfrm>
                <a:off x="6865620" y="5537701"/>
                <a:ext cx="924106" cy="169277"/>
              </a:xfrm>
              <a:prstGeom prst="rect">
                <a:avLst/>
              </a:prstGeom>
              <a:solidFill>
                <a:srgbClr val="F8F8F8"/>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000000"/>
                    </a:solidFill>
                    <a:latin typeface="Arial"/>
                    <a:ea typeface="Arial"/>
                    <a:cs typeface="Arial"/>
                    <a:sym typeface="Arial"/>
                  </a:rPr>
                  <a:t>e  d com c  dp</a:t>
                </a:r>
                <a:endParaRPr sz="1100">
                  <a:solidFill>
                    <a:srgbClr val="000000"/>
                  </a:solidFill>
                  <a:latin typeface="Arial"/>
                  <a:ea typeface="Arial"/>
                  <a:cs typeface="Arial"/>
                  <a:sym typeface="Arial"/>
                </a:endParaRPr>
              </a:p>
            </p:txBody>
          </p:sp>
        </p:grpSp>
      </p:grpSp>
      <p:sp>
        <p:nvSpPr>
          <p:cNvPr id="2" name="Google Shape;3441;p182">
            <a:extLst>
              <a:ext uri="{FF2B5EF4-FFF2-40B4-BE49-F238E27FC236}">
                <a16:creationId xmlns:a16="http://schemas.microsoft.com/office/drawing/2014/main" id="{0AB36F18-4FFF-2BC5-B908-6F10190F2B3A}"/>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357"/>
        <p:cNvGrpSpPr/>
        <p:nvPr/>
      </p:nvGrpSpPr>
      <p:grpSpPr>
        <a:xfrm>
          <a:off x="0" y="0"/>
          <a:ext cx="0" cy="0"/>
          <a:chOff x="0" y="0"/>
          <a:chExt cx="0" cy="0"/>
        </a:xfrm>
      </p:grpSpPr>
      <p:sp>
        <p:nvSpPr>
          <p:cNvPr id="3358" name="Google Shape;3358;p178"/>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Màn hình tinh thể lỏng (LCD)</a:t>
            </a:r>
            <a:endParaRPr/>
          </a:p>
        </p:txBody>
      </p:sp>
      <p:sp>
        <p:nvSpPr>
          <p:cNvPr id="3360" name="Google Shape;3360;p178"/>
          <p:cNvSpPr/>
          <p:nvPr/>
        </p:nvSpPr>
        <p:spPr>
          <a:xfrm>
            <a:off x="580388" y="1944537"/>
            <a:ext cx="8619175" cy="646331"/>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Gần đây được sử dụng rất nhiều cho màn hình hiển thị của máy vi tính. LCD có nhiều loại tùy theo kích thước và số lượng của các ký tự hiển thị, và còn phù hợp với mục đích sử dụng. Sản phẩm được sử dụng rộng rãi để hiển thị máy vi tính và thường có thể hiển thị tiếng Anh hoặc tiếng Nhật.</a:t>
            </a:r>
            <a:endParaRPr/>
          </a:p>
        </p:txBody>
      </p:sp>
      <p:grpSp>
        <p:nvGrpSpPr>
          <p:cNvPr id="3362" name="Google Shape;3362;p178"/>
          <p:cNvGrpSpPr/>
          <p:nvPr/>
        </p:nvGrpSpPr>
        <p:grpSpPr>
          <a:xfrm>
            <a:off x="2004060" y="3146214"/>
            <a:ext cx="5890260" cy="2269467"/>
            <a:chOff x="2004060" y="3108114"/>
            <a:chExt cx="5890260" cy="2269467"/>
          </a:xfrm>
        </p:grpSpPr>
        <p:grpSp>
          <p:nvGrpSpPr>
            <p:cNvPr id="3363" name="Google Shape;3363;p178"/>
            <p:cNvGrpSpPr/>
            <p:nvPr/>
          </p:nvGrpSpPr>
          <p:grpSpPr>
            <a:xfrm>
              <a:off x="2376422" y="3307080"/>
              <a:ext cx="4943951" cy="1536653"/>
              <a:chOff x="2167673" y="3521854"/>
              <a:chExt cx="4943951" cy="1536653"/>
            </a:xfrm>
          </p:grpSpPr>
          <p:pic>
            <p:nvPicPr>
              <p:cNvPr id="3364" name="Google Shape;3364;p178" descr="LCDì ëí ì´ë¯¸ì§ ê²ìê²°ê³¼"/>
              <p:cNvPicPr preferRelativeResize="0"/>
              <p:nvPr/>
            </p:nvPicPr>
            <p:blipFill rotWithShape="1">
              <a:blip r:embed="rId3">
                <a:alphaModFix/>
              </a:blip>
              <a:srcRect/>
              <a:stretch/>
            </p:blipFill>
            <p:spPr>
              <a:xfrm>
                <a:off x="2167673" y="3537013"/>
                <a:ext cx="2601600" cy="1483282"/>
              </a:xfrm>
              <a:prstGeom prst="rect">
                <a:avLst/>
              </a:prstGeom>
              <a:noFill/>
              <a:ln>
                <a:noFill/>
              </a:ln>
            </p:spPr>
          </p:pic>
          <p:pic>
            <p:nvPicPr>
              <p:cNvPr id="3365" name="Google Shape;3365;p178" descr="LCDì ëí ì´ë¯¸ì§ ê²ìê²°ê³¼"/>
              <p:cNvPicPr preferRelativeResize="0"/>
              <p:nvPr/>
            </p:nvPicPr>
            <p:blipFill rotWithShape="1">
              <a:blip r:embed="rId4">
                <a:alphaModFix/>
              </a:blip>
              <a:srcRect/>
              <a:stretch/>
            </p:blipFill>
            <p:spPr>
              <a:xfrm>
                <a:off x="4844255" y="3521854"/>
                <a:ext cx="2267369" cy="1536653"/>
              </a:xfrm>
              <a:prstGeom prst="rect">
                <a:avLst/>
              </a:prstGeom>
              <a:noFill/>
              <a:ln>
                <a:noFill/>
              </a:ln>
            </p:spPr>
          </p:pic>
        </p:grpSp>
        <p:sp>
          <p:nvSpPr>
            <p:cNvPr id="3366" name="Google Shape;3366;p178"/>
            <p:cNvSpPr txBox="1"/>
            <p:nvPr/>
          </p:nvSpPr>
          <p:spPr>
            <a:xfrm>
              <a:off x="3835084" y="5085193"/>
              <a:ext cx="228587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Màn hình tinh thể lỏng (LCD)</a:t>
              </a:r>
              <a:endParaRPr/>
            </a:p>
          </p:txBody>
        </p:sp>
        <p:sp>
          <p:nvSpPr>
            <p:cNvPr id="3367" name="Google Shape;3367;p178"/>
            <p:cNvSpPr/>
            <p:nvPr/>
          </p:nvSpPr>
          <p:spPr>
            <a:xfrm>
              <a:off x="2004060" y="3108114"/>
              <a:ext cx="5890260" cy="1909148"/>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 name="Google Shape;3441;p182">
            <a:extLst>
              <a:ext uri="{FF2B5EF4-FFF2-40B4-BE49-F238E27FC236}">
                <a16:creationId xmlns:a16="http://schemas.microsoft.com/office/drawing/2014/main" id="{84487DB6-7505-B59A-5FE7-C864BC85B21F}"/>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3372"/>
        <p:cNvGrpSpPr/>
        <p:nvPr/>
      </p:nvGrpSpPr>
      <p:grpSpPr>
        <a:xfrm>
          <a:off x="0" y="0"/>
          <a:ext cx="0" cy="0"/>
          <a:chOff x="0" y="0"/>
          <a:chExt cx="0" cy="0"/>
        </a:xfrm>
      </p:grpSpPr>
      <p:sp>
        <p:nvSpPr>
          <p:cNvPr id="3373" name="Google Shape;3373;p179"/>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Phần tử cách ly quang và điốt phản quang</a:t>
            </a:r>
            <a:endParaRPr sz="2400" b="1">
              <a:solidFill>
                <a:srgbClr val="0C0C0C"/>
              </a:solidFill>
              <a:latin typeface="Arial"/>
              <a:ea typeface="Arial"/>
              <a:cs typeface="Arial"/>
              <a:sym typeface="Arial"/>
            </a:endParaRPr>
          </a:p>
        </p:txBody>
      </p:sp>
      <p:sp>
        <p:nvSpPr>
          <p:cNvPr id="3375" name="Google Shape;3375;p179"/>
          <p:cNvSpPr/>
          <p:nvPr/>
        </p:nvSpPr>
        <p:spPr>
          <a:xfrm>
            <a:off x="580388" y="189119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Phần tử cách ly quang</a:t>
            </a:r>
            <a:endParaRPr sz="1400">
              <a:solidFill>
                <a:schemeClr val="dk1"/>
              </a:solidFill>
              <a:latin typeface="Arial"/>
              <a:ea typeface="Arial"/>
              <a:cs typeface="Arial"/>
              <a:sym typeface="Arial"/>
            </a:endParaRPr>
          </a:p>
        </p:txBody>
      </p:sp>
      <p:sp>
        <p:nvSpPr>
          <p:cNvPr id="3376" name="Google Shape;3376;p179"/>
          <p:cNvSpPr/>
          <p:nvPr/>
        </p:nvSpPr>
        <p:spPr>
          <a:xfrm>
            <a:off x="712182" y="2121533"/>
            <a:ext cx="8487381"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Thiết bị có điốt phát quang và điốt quang hoặc transitor quang được đặt hướng vào nhau, có tác dụng cách điện máy tính với thiết bị bên ngoài.</a:t>
            </a:r>
            <a:endParaRPr/>
          </a:p>
        </p:txBody>
      </p:sp>
      <p:sp>
        <p:nvSpPr>
          <p:cNvPr id="3377" name="Google Shape;3377;p179"/>
          <p:cNvSpPr/>
          <p:nvPr/>
        </p:nvSpPr>
        <p:spPr>
          <a:xfrm>
            <a:off x="580388" y="2770873"/>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Phần tử cách ly quang CDS</a:t>
            </a:r>
            <a:endParaRPr/>
          </a:p>
        </p:txBody>
      </p:sp>
      <p:sp>
        <p:nvSpPr>
          <p:cNvPr id="3378" name="Google Shape;3378;p179"/>
          <p:cNvSpPr/>
          <p:nvPr/>
        </p:nvSpPr>
        <p:spPr>
          <a:xfrm>
            <a:off x="712182" y="3001209"/>
            <a:ext cx="8487381" cy="345427"/>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Thiết bị CDS và đèn LED được đặt đối diện nhau. Sử dụng khi cần cách điện mạch hồi tiếp hoặc cách điện với thiết bị đúc.</a:t>
            </a:r>
            <a:endParaRPr/>
          </a:p>
        </p:txBody>
      </p:sp>
      <p:sp>
        <p:nvSpPr>
          <p:cNvPr id="3379" name="Google Shape;3379;p179"/>
          <p:cNvSpPr/>
          <p:nvPr/>
        </p:nvSpPr>
        <p:spPr>
          <a:xfrm>
            <a:off x="580388" y="3650549"/>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Điốt phản quang</a:t>
            </a:r>
            <a:endParaRPr sz="1400">
              <a:solidFill>
                <a:schemeClr val="dk1"/>
              </a:solidFill>
              <a:latin typeface="Arial"/>
              <a:ea typeface="Arial"/>
              <a:cs typeface="Arial"/>
              <a:sym typeface="Arial"/>
            </a:endParaRPr>
          </a:p>
        </p:txBody>
      </p:sp>
      <p:sp>
        <p:nvSpPr>
          <p:cNvPr id="3380" name="Google Shape;3380;p179"/>
          <p:cNvSpPr/>
          <p:nvPr/>
        </p:nvSpPr>
        <p:spPr>
          <a:xfrm>
            <a:off x="712182" y="3880885"/>
            <a:ext cx="8487381" cy="94559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Cùng xử lý điốt phát tia hồng ngoại để bảo dưỡng và điốt quang cũng giống trường hợp của phần tử cách ly quang. Tuy nhiên, ánh sáng từ đèn LED không đi vào thiết bị quang điện tử khi đặt chúng cạnh nhau thay vì đối diện nhau. Phần tử này hoạt động bằng cách tiếp nhận ánh sáng bị phản xạ từ một vật thể cần phát hiện, chẳn hạn vật cản đối với thiết bị quang điện tử.</a:t>
            </a:r>
            <a:endParaRPr/>
          </a:p>
        </p:txBody>
      </p:sp>
      <p:grpSp>
        <p:nvGrpSpPr>
          <p:cNvPr id="3381" name="Google Shape;3381;p179"/>
          <p:cNvGrpSpPr/>
          <p:nvPr/>
        </p:nvGrpSpPr>
        <p:grpSpPr>
          <a:xfrm>
            <a:off x="3387865" y="4841368"/>
            <a:ext cx="3127094" cy="1602963"/>
            <a:chOff x="3389453" y="4754214"/>
            <a:chExt cx="3127094" cy="1602963"/>
          </a:xfrm>
        </p:grpSpPr>
        <p:pic>
          <p:nvPicPr>
            <p:cNvPr id="3382" name="Google Shape;3382;p179" descr="photocoupler"/>
            <p:cNvPicPr preferRelativeResize="0"/>
            <p:nvPr/>
          </p:nvPicPr>
          <p:blipFill rotWithShape="1">
            <a:blip r:embed="rId3">
              <a:alphaModFix/>
            </a:blip>
            <a:srcRect/>
            <a:stretch/>
          </p:blipFill>
          <p:spPr>
            <a:xfrm>
              <a:off x="3389453" y="4754214"/>
              <a:ext cx="3127094" cy="1311170"/>
            </a:xfrm>
            <a:prstGeom prst="rect">
              <a:avLst/>
            </a:prstGeom>
            <a:noFill/>
            <a:ln w="9525" cap="flat" cmpd="sng">
              <a:solidFill>
                <a:srgbClr val="D8D8D8"/>
              </a:solidFill>
              <a:prstDash val="solid"/>
              <a:miter lim="800000"/>
              <a:headEnd type="none" w="sm" len="sm"/>
              <a:tailEnd type="none" w="sm" len="sm"/>
            </a:ln>
          </p:spPr>
        </p:pic>
        <p:sp>
          <p:nvSpPr>
            <p:cNvPr id="3383" name="Google Shape;3383;p179"/>
            <p:cNvSpPr txBox="1"/>
            <p:nvPr/>
          </p:nvSpPr>
          <p:spPr>
            <a:xfrm>
              <a:off x="3810062" y="6064789"/>
              <a:ext cx="2285876"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Phần tử cách ly quang</a:t>
              </a:r>
              <a:endParaRPr sz="1300" b="1">
                <a:solidFill>
                  <a:srgbClr val="000000"/>
                </a:solidFill>
                <a:latin typeface="Arial"/>
                <a:ea typeface="Arial"/>
                <a:cs typeface="Arial"/>
                <a:sym typeface="Arial"/>
              </a:endParaRPr>
            </a:p>
          </p:txBody>
        </p:sp>
      </p:grpSp>
      <p:sp>
        <p:nvSpPr>
          <p:cNvPr id="2" name="Google Shape;3441;p182">
            <a:extLst>
              <a:ext uri="{FF2B5EF4-FFF2-40B4-BE49-F238E27FC236}">
                <a16:creationId xmlns:a16="http://schemas.microsoft.com/office/drawing/2014/main" id="{314687F7-993A-D2CE-5047-DC121EAF6236}"/>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3389"/>
        <p:cNvGrpSpPr/>
        <p:nvPr/>
      </p:nvGrpSpPr>
      <p:grpSpPr>
        <a:xfrm>
          <a:off x="0" y="0"/>
          <a:ext cx="0" cy="0"/>
          <a:chOff x="0" y="0"/>
          <a:chExt cx="0" cy="0"/>
        </a:xfrm>
      </p:grpSpPr>
      <p:sp>
        <p:nvSpPr>
          <p:cNvPr id="3390" name="Google Shape;3390;p180"/>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Các thiết bị khác</a:t>
            </a:r>
            <a:endParaRPr sz="2400" b="1">
              <a:solidFill>
                <a:srgbClr val="0C0C0C"/>
              </a:solidFill>
              <a:latin typeface="Arial"/>
              <a:ea typeface="Arial"/>
              <a:cs typeface="Arial"/>
              <a:sym typeface="Arial"/>
            </a:endParaRPr>
          </a:p>
        </p:txBody>
      </p:sp>
      <p:sp>
        <p:nvSpPr>
          <p:cNvPr id="3392" name="Google Shape;3392;p180"/>
          <p:cNvSpPr/>
          <p:nvPr/>
        </p:nvSpPr>
        <p:spPr>
          <a:xfrm>
            <a:off x="580388" y="189119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Thiết bị tạo dao động</a:t>
            </a:r>
            <a:endParaRPr sz="1400">
              <a:solidFill>
                <a:schemeClr val="dk1"/>
              </a:solidFill>
              <a:latin typeface="Arial"/>
              <a:ea typeface="Arial"/>
              <a:cs typeface="Arial"/>
              <a:sym typeface="Arial"/>
            </a:endParaRPr>
          </a:p>
        </p:txBody>
      </p:sp>
      <p:sp>
        <p:nvSpPr>
          <p:cNvPr id="3393" name="Google Shape;3393;p180"/>
          <p:cNvSpPr/>
          <p:nvPr/>
        </p:nvSpPr>
        <p:spPr>
          <a:xfrm>
            <a:off x="712182" y="2121533"/>
            <a:ext cx="8487381" cy="225877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Bộ dao động bằng gốm</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Được sử dụng khi không yêu cầu về độ chính xác của bộ rung bằng thạch anh và giá thành tương đối rẻ</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Bộ rung dạng tinh thể </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Là một thiết bị tạo dao động ổn định, dễ tìm mua với dải tần số rộng và linh hoạt trong cách sử dụng do mạch dao động tương đối đơn giản.</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Bộ dao động dạng tinh thể</a:t>
            </a:r>
            <a:endParaRPr sz="1300">
              <a:solidFill>
                <a:srgbClr val="262626"/>
              </a:solidFill>
              <a:latin typeface="Arial"/>
              <a:ea typeface="Arial"/>
              <a:cs typeface="Arial"/>
              <a:sym typeface="Arial"/>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Gần đây sử dụng một thiết bị kết hợp bộ rung dạng tinh thể và một mạch điện tử. Thiết bị tiện lợi này tích hợp sẵn mạch điện tử để tạo dao động ổn định và xuất ra tín hiệu khi nối với nguồn điện.</a:t>
            </a:r>
            <a:endParaRPr/>
          </a:p>
        </p:txBody>
      </p:sp>
      <p:grpSp>
        <p:nvGrpSpPr>
          <p:cNvPr id="3394" name="Google Shape;3394;p180"/>
          <p:cNvGrpSpPr/>
          <p:nvPr/>
        </p:nvGrpSpPr>
        <p:grpSpPr>
          <a:xfrm>
            <a:off x="1299014" y="4628399"/>
            <a:ext cx="7304796" cy="1519601"/>
            <a:chOff x="1156356" y="4681739"/>
            <a:chExt cx="7304796" cy="1519601"/>
          </a:xfrm>
        </p:grpSpPr>
        <p:pic>
          <p:nvPicPr>
            <p:cNvPr id="3395" name="Google Shape;3395;p180" descr="celalock"/>
            <p:cNvPicPr preferRelativeResize="0"/>
            <p:nvPr/>
          </p:nvPicPr>
          <p:blipFill rotWithShape="1">
            <a:blip r:embed="rId3">
              <a:alphaModFix/>
            </a:blip>
            <a:srcRect/>
            <a:stretch/>
          </p:blipFill>
          <p:spPr>
            <a:xfrm>
              <a:off x="1156356" y="4974476"/>
              <a:ext cx="2685621" cy="886436"/>
            </a:xfrm>
            <a:prstGeom prst="rect">
              <a:avLst/>
            </a:prstGeom>
            <a:noFill/>
            <a:ln w="9525" cap="flat" cmpd="sng">
              <a:solidFill>
                <a:srgbClr val="D8D8D8"/>
              </a:solidFill>
              <a:prstDash val="solid"/>
              <a:miter lim="800000"/>
              <a:headEnd type="none" w="sm" len="sm"/>
              <a:tailEnd type="none" w="sm" len="sm"/>
            </a:ln>
          </p:spPr>
        </p:pic>
        <p:pic>
          <p:nvPicPr>
            <p:cNvPr id="3396" name="Google Shape;3396;p180" descr="http://www.ehtec.com/epart/img/xtal1.jpg"/>
            <p:cNvPicPr preferRelativeResize="0"/>
            <p:nvPr/>
          </p:nvPicPr>
          <p:blipFill rotWithShape="1">
            <a:blip r:embed="rId4">
              <a:alphaModFix/>
            </a:blip>
            <a:srcRect/>
            <a:stretch/>
          </p:blipFill>
          <p:spPr>
            <a:xfrm>
              <a:off x="4208229" y="4770546"/>
              <a:ext cx="2090280" cy="1090366"/>
            </a:xfrm>
            <a:prstGeom prst="rect">
              <a:avLst/>
            </a:prstGeom>
            <a:noFill/>
            <a:ln w="9525" cap="flat" cmpd="sng">
              <a:solidFill>
                <a:srgbClr val="D8D8D8"/>
              </a:solidFill>
              <a:prstDash val="solid"/>
              <a:miter lim="800000"/>
              <a:headEnd type="none" w="sm" len="sm"/>
              <a:tailEnd type="none" w="sm" len="sm"/>
            </a:ln>
          </p:spPr>
        </p:pic>
        <p:pic>
          <p:nvPicPr>
            <p:cNvPr id="3397" name="Google Shape;3397;p180" descr="xtal2"/>
            <p:cNvPicPr preferRelativeResize="0"/>
            <p:nvPr/>
          </p:nvPicPr>
          <p:blipFill rotWithShape="1">
            <a:blip r:embed="rId5">
              <a:alphaModFix/>
            </a:blip>
            <a:srcRect/>
            <a:stretch/>
          </p:blipFill>
          <p:spPr>
            <a:xfrm>
              <a:off x="6664761" y="4681739"/>
              <a:ext cx="1715310" cy="1179173"/>
            </a:xfrm>
            <a:prstGeom prst="rect">
              <a:avLst/>
            </a:prstGeom>
            <a:noFill/>
            <a:ln w="9525" cap="flat" cmpd="sng">
              <a:solidFill>
                <a:srgbClr val="D8D8D8"/>
              </a:solidFill>
              <a:prstDash val="solid"/>
              <a:miter lim="800000"/>
              <a:headEnd type="none" w="sm" len="sm"/>
              <a:tailEnd type="none" w="sm" len="sm"/>
            </a:ln>
          </p:spPr>
        </p:pic>
        <p:sp>
          <p:nvSpPr>
            <p:cNvPr id="3398" name="Google Shape;3398;p180"/>
            <p:cNvSpPr txBox="1"/>
            <p:nvPr/>
          </p:nvSpPr>
          <p:spPr>
            <a:xfrm>
              <a:off x="4314633" y="5908952"/>
              <a:ext cx="1877472"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Bộ rung bằng thạch anh </a:t>
              </a:r>
              <a:endParaRPr/>
            </a:p>
          </p:txBody>
        </p:sp>
        <p:sp>
          <p:nvSpPr>
            <p:cNvPr id="3399" name="Google Shape;3399;p180"/>
            <p:cNvSpPr txBox="1"/>
            <p:nvPr/>
          </p:nvSpPr>
          <p:spPr>
            <a:xfrm>
              <a:off x="1560431" y="5908952"/>
              <a:ext cx="1877472"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Bộ dao động bằng gốm</a:t>
              </a:r>
              <a:endParaRPr sz="1300" b="1">
                <a:solidFill>
                  <a:srgbClr val="000000"/>
                </a:solidFill>
                <a:latin typeface="Arial"/>
                <a:ea typeface="Arial"/>
                <a:cs typeface="Arial"/>
                <a:sym typeface="Arial"/>
              </a:endParaRPr>
            </a:p>
          </p:txBody>
        </p:sp>
        <p:sp>
          <p:nvSpPr>
            <p:cNvPr id="3400" name="Google Shape;3400;p180"/>
            <p:cNvSpPr txBox="1"/>
            <p:nvPr/>
          </p:nvSpPr>
          <p:spPr>
            <a:xfrm>
              <a:off x="6583680" y="5908952"/>
              <a:ext cx="1877472"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Bộ dao động dạng tinh thể</a:t>
              </a:r>
              <a:endParaRPr sz="1300" b="1">
                <a:solidFill>
                  <a:srgbClr val="000000"/>
                </a:solidFill>
                <a:latin typeface="Arial"/>
                <a:ea typeface="Arial"/>
                <a:cs typeface="Arial"/>
                <a:sym typeface="Arial"/>
              </a:endParaRPr>
            </a:p>
          </p:txBody>
        </p:sp>
      </p:grpSp>
      <p:sp>
        <p:nvSpPr>
          <p:cNvPr id="2" name="Google Shape;3441;p182">
            <a:extLst>
              <a:ext uri="{FF2B5EF4-FFF2-40B4-BE49-F238E27FC236}">
                <a16:creationId xmlns:a16="http://schemas.microsoft.com/office/drawing/2014/main" id="{AC0C72D3-055C-5CE9-FC9B-8D01FC43F0E7}"/>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3406"/>
        <p:cNvGrpSpPr/>
        <p:nvPr/>
      </p:nvGrpSpPr>
      <p:grpSpPr>
        <a:xfrm>
          <a:off x="0" y="0"/>
          <a:ext cx="0" cy="0"/>
          <a:chOff x="0" y="0"/>
          <a:chExt cx="0" cy="0"/>
        </a:xfrm>
      </p:grpSpPr>
      <p:sp>
        <p:nvSpPr>
          <p:cNvPr id="3407" name="Google Shape;3407;p181"/>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Linh kiện của thiết bị</a:t>
            </a:r>
            <a:endParaRPr sz="2400" b="1">
              <a:solidFill>
                <a:srgbClr val="0C0C0C"/>
              </a:solidFill>
              <a:latin typeface="Arial"/>
              <a:ea typeface="Arial"/>
              <a:cs typeface="Arial"/>
              <a:sym typeface="Arial"/>
            </a:endParaRPr>
          </a:p>
        </p:txBody>
      </p:sp>
      <p:sp>
        <p:nvSpPr>
          <p:cNvPr id="3409" name="Google Shape;3409;p181"/>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 Các loại công tắc</a:t>
            </a:r>
            <a:endParaRPr sz="1400">
              <a:solidFill>
                <a:schemeClr val="dk1"/>
              </a:solidFill>
              <a:latin typeface="Arial"/>
              <a:ea typeface="Arial"/>
              <a:cs typeface="Arial"/>
              <a:sym typeface="Arial"/>
            </a:endParaRPr>
          </a:p>
        </p:txBody>
      </p:sp>
      <p:grpSp>
        <p:nvGrpSpPr>
          <p:cNvPr id="3410" name="Google Shape;3410;p181"/>
          <p:cNvGrpSpPr/>
          <p:nvPr/>
        </p:nvGrpSpPr>
        <p:grpSpPr>
          <a:xfrm>
            <a:off x="3883312" y="4153761"/>
            <a:ext cx="3392709" cy="2041050"/>
            <a:chOff x="6962718" y="4026835"/>
            <a:chExt cx="2392893" cy="1439562"/>
          </a:xfrm>
        </p:grpSpPr>
        <p:pic>
          <p:nvPicPr>
            <p:cNvPr id="3411" name="Google Shape;3411;p181" descr="digisw"/>
            <p:cNvPicPr preferRelativeResize="0"/>
            <p:nvPr/>
          </p:nvPicPr>
          <p:blipFill rotWithShape="1">
            <a:blip r:embed="rId3">
              <a:alphaModFix/>
            </a:blip>
            <a:srcRect/>
            <a:stretch/>
          </p:blipFill>
          <p:spPr>
            <a:xfrm>
              <a:off x="6962718" y="4026835"/>
              <a:ext cx="2392893" cy="1186523"/>
            </a:xfrm>
            <a:prstGeom prst="rect">
              <a:avLst/>
            </a:prstGeom>
            <a:noFill/>
            <a:ln w="9525" cap="flat" cmpd="sng">
              <a:solidFill>
                <a:srgbClr val="D8D8D8"/>
              </a:solidFill>
              <a:prstDash val="solid"/>
              <a:miter lim="800000"/>
              <a:headEnd type="none" w="sm" len="sm"/>
              <a:tailEnd type="none" w="sm" len="sm"/>
            </a:ln>
          </p:spPr>
        </p:pic>
        <p:sp>
          <p:nvSpPr>
            <p:cNvPr id="3412" name="Google Shape;3412;p181"/>
            <p:cNvSpPr txBox="1"/>
            <p:nvPr/>
          </p:nvSpPr>
          <p:spPr>
            <a:xfrm>
              <a:off x="7616961" y="5260174"/>
              <a:ext cx="1095156" cy="206223"/>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Công tắc số</a:t>
              </a:r>
              <a:endParaRPr sz="1300" b="1">
                <a:solidFill>
                  <a:srgbClr val="000000"/>
                </a:solidFill>
                <a:latin typeface="Arial"/>
                <a:ea typeface="Arial"/>
                <a:cs typeface="Arial"/>
                <a:sym typeface="Arial"/>
              </a:endParaRPr>
            </a:p>
          </p:txBody>
        </p:sp>
      </p:grpSp>
      <p:grpSp>
        <p:nvGrpSpPr>
          <p:cNvPr id="3413" name="Google Shape;3413;p181"/>
          <p:cNvGrpSpPr/>
          <p:nvPr/>
        </p:nvGrpSpPr>
        <p:grpSpPr>
          <a:xfrm>
            <a:off x="7441357" y="2328163"/>
            <a:ext cx="1481664" cy="2155274"/>
            <a:chOff x="5579477" y="3719219"/>
            <a:chExt cx="1214873" cy="1767192"/>
          </a:xfrm>
        </p:grpSpPr>
        <p:pic>
          <p:nvPicPr>
            <p:cNvPr id="3414" name="Google Shape;3414;p181" descr="rotallysw"/>
            <p:cNvPicPr preferRelativeResize="0"/>
            <p:nvPr/>
          </p:nvPicPr>
          <p:blipFill rotWithShape="1">
            <a:blip r:embed="rId4">
              <a:alphaModFix/>
            </a:blip>
            <a:srcRect/>
            <a:stretch/>
          </p:blipFill>
          <p:spPr>
            <a:xfrm>
              <a:off x="5579477" y="3719219"/>
              <a:ext cx="1214873" cy="1494139"/>
            </a:xfrm>
            <a:prstGeom prst="rect">
              <a:avLst/>
            </a:prstGeom>
            <a:noFill/>
            <a:ln w="9525" cap="flat" cmpd="sng">
              <a:solidFill>
                <a:srgbClr val="D8D8D8"/>
              </a:solidFill>
              <a:prstDash val="solid"/>
              <a:miter lim="800000"/>
              <a:headEnd type="none" w="sm" len="sm"/>
              <a:tailEnd type="none" w="sm" len="sm"/>
            </a:ln>
          </p:spPr>
        </p:pic>
        <p:sp>
          <p:nvSpPr>
            <p:cNvPr id="3415" name="Google Shape;3415;p181"/>
            <p:cNvSpPr txBox="1"/>
            <p:nvPr/>
          </p:nvSpPr>
          <p:spPr>
            <a:xfrm>
              <a:off x="5645583" y="5246671"/>
              <a:ext cx="1095156" cy="239740"/>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Công tắc xoay</a:t>
              </a:r>
              <a:endParaRPr sz="1300" b="1">
                <a:solidFill>
                  <a:srgbClr val="000000"/>
                </a:solidFill>
                <a:latin typeface="Arial"/>
                <a:ea typeface="Arial"/>
                <a:cs typeface="Arial"/>
                <a:sym typeface="Arial"/>
              </a:endParaRPr>
            </a:p>
          </p:txBody>
        </p:sp>
      </p:grpSp>
      <p:pic>
        <p:nvPicPr>
          <p:cNvPr id="3416" name="Google Shape;3416;p181" descr="http://www.ehtec.com/epart/img/digitalsw.jpg"/>
          <p:cNvPicPr preferRelativeResize="0"/>
          <p:nvPr/>
        </p:nvPicPr>
        <p:blipFill rotWithShape="1">
          <a:blip r:embed="rId5">
            <a:alphaModFix/>
          </a:blip>
          <a:srcRect/>
          <a:stretch/>
        </p:blipFill>
        <p:spPr>
          <a:xfrm>
            <a:off x="3875793" y="2360085"/>
            <a:ext cx="3381579" cy="1287054"/>
          </a:xfrm>
          <a:prstGeom prst="rect">
            <a:avLst/>
          </a:prstGeom>
          <a:noFill/>
          <a:ln w="9525" cap="flat" cmpd="sng">
            <a:solidFill>
              <a:srgbClr val="D8D8D8"/>
            </a:solidFill>
            <a:prstDash val="solid"/>
            <a:miter lim="800000"/>
            <a:headEnd type="none" w="sm" len="sm"/>
            <a:tailEnd type="none" w="sm" len="sm"/>
          </a:ln>
        </p:spPr>
      </p:pic>
      <p:sp>
        <p:nvSpPr>
          <p:cNvPr id="3417" name="Google Shape;3417;p181"/>
          <p:cNvSpPr txBox="1"/>
          <p:nvPr/>
        </p:nvSpPr>
        <p:spPr>
          <a:xfrm>
            <a:off x="4894564" y="3731840"/>
            <a:ext cx="1345881"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Công tác DIP</a:t>
            </a:r>
            <a:endParaRPr/>
          </a:p>
        </p:txBody>
      </p:sp>
      <p:grpSp>
        <p:nvGrpSpPr>
          <p:cNvPr id="3418" name="Google Shape;3418;p181"/>
          <p:cNvGrpSpPr/>
          <p:nvPr/>
        </p:nvGrpSpPr>
        <p:grpSpPr>
          <a:xfrm>
            <a:off x="684729" y="2328520"/>
            <a:ext cx="3033248" cy="2177567"/>
            <a:chOff x="650552" y="3995647"/>
            <a:chExt cx="2023634" cy="1452766"/>
          </a:xfrm>
        </p:grpSpPr>
        <p:pic>
          <p:nvPicPr>
            <p:cNvPr id="3419" name="Google Shape;3419;p181" descr="http://www.ehtec.com/epart/img/switch.jpg"/>
            <p:cNvPicPr preferRelativeResize="0"/>
            <p:nvPr/>
          </p:nvPicPr>
          <p:blipFill rotWithShape="1">
            <a:blip r:embed="rId6">
              <a:alphaModFix/>
            </a:blip>
            <a:srcRect/>
            <a:stretch/>
          </p:blipFill>
          <p:spPr>
            <a:xfrm>
              <a:off x="681054" y="3995647"/>
              <a:ext cx="1993132" cy="1217711"/>
            </a:xfrm>
            <a:prstGeom prst="rect">
              <a:avLst/>
            </a:prstGeom>
            <a:noFill/>
            <a:ln w="9525" cap="flat" cmpd="sng">
              <a:solidFill>
                <a:srgbClr val="D8D8D8"/>
              </a:solidFill>
              <a:prstDash val="solid"/>
              <a:miter lim="800000"/>
              <a:headEnd type="none" w="sm" len="sm"/>
              <a:tailEnd type="none" w="sm" len="sm"/>
            </a:ln>
          </p:spPr>
        </p:pic>
        <p:sp>
          <p:nvSpPr>
            <p:cNvPr id="3420" name="Google Shape;3420;p181"/>
            <p:cNvSpPr txBox="1"/>
            <p:nvPr/>
          </p:nvSpPr>
          <p:spPr>
            <a:xfrm>
              <a:off x="650552" y="5253346"/>
              <a:ext cx="1993132" cy="195067"/>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Công tắc ngoài</a:t>
              </a:r>
              <a:endParaRPr sz="1300" b="1">
                <a:solidFill>
                  <a:srgbClr val="000000"/>
                </a:solidFill>
                <a:latin typeface="Arial"/>
                <a:ea typeface="Arial"/>
                <a:cs typeface="Arial"/>
                <a:sym typeface="Arial"/>
              </a:endParaRPr>
            </a:p>
          </p:txBody>
        </p:sp>
      </p:grpSp>
      <p:sp>
        <p:nvSpPr>
          <p:cNvPr id="3" name="Google Shape;3441;p182">
            <a:extLst>
              <a:ext uri="{FF2B5EF4-FFF2-40B4-BE49-F238E27FC236}">
                <a16:creationId xmlns:a16="http://schemas.microsoft.com/office/drawing/2014/main" id="{64E17D5D-84A9-FB6E-B7AB-D6BB0BF84996}"/>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3426"/>
        <p:cNvGrpSpPr/>
        <p:nvPr/>
      </p:nvGrpSpPr>
      <p:grpSpPr>
        <a:xfrm>
          <a:off x="0" y="0"/>
          <a:ext cx="0" cy="0"/>
          <a:chOff x="0" y="0"/>
          <a:chExt cx="0" cy="0"/>
        </a:xfrm>
      </p:grpSpPr>
      <p:sp>
        <p:nvSpPr>
          <p:cNvPr id="3428" name="Google Shape;3428;p182"/>
          <p:cNvSpPr/>
          <p:nvPr/>
        </p:nvSpPr>
        <p:spPr>
          <a:xfrm>
            <a:off x="580388" y="1522730"/>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ETC.</a:t>
            </a:r>
            <a:endParaRPr/>
          </a:p>
        </p:txBody>
      </p:sp>
      <p:grpSp>
        <p:nvGrpSpPr>
          <p:cNvPr id="3429" name="Google Shape;3429;p182"/>
          <p:cNvGrpSpPr/>
          <p:nvPr/>
        </p:nvGrpSpPr>
        <p:grpSpPr>
          <a:xfrm>
            <a:off x="666856" y="1932774"/>
            <a:ext cx="3790844" cy="1981038"/>
            <a:chOff x="2492831" y="1753066"/>
            <a:chExt cx="3351029" cy="1751198"/>
          </a:xfrm>
        </p:grpSpPr>
        <p:sp>
          <p:nvSpPr>
            <p:cNvPr id="3430" name="Google Shape;3430;p182"/>
            <p:cNvSpPr txBox="1"/>
            <p:nvPr/>
          </p:nvSpPr>
          <p:spPr>
            <a:xfrm>
              <a:off x="3369356" y="3245799"/>
              <a:ext cx="1597980" cy="258465"/>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dirty="0" err="1">
                  <a:solidFill>
                    <a:srgbClr val="000000"/>
                  </a:solidFill>
                  <a:latin typeface="Arial"/>
                  <a:ea typeface="Arial"/>
                  <a:cs typeface="Arial"/>
                  <a:sym typeface="Arial"/>
                </a:rPr>
                <a:t>Chân</a:t>
              </a:r>
              <a:r>
                <a:rPr lang="en-US" sz="1300" b="1" dirty="0">
                  <a:solidFill>
                    <a:srgbClr val="000000"/>
                  </a:solidFill>
                  <a:latin typeface="Arial"/>
                  <a:ea typeface="Arial"/>
                  <a:cs typeface="Arial"/>
                  <a:sym typeface="Arial"/>
                </a:rPr>
                <a:t> </a:t>
              </a:r>
              <a:r>
                <a:rPr lang="en-US" sz="1300" b="1" dirty="0" err="1">
                  <a:solidFill>
                    <a:srgbClr val="000000"/>
                  </a:solidFill>
                  <a:latin typeface="Arial"/>
                  <a:ea typeface="Arial"/>
                  <a:cs typeface="Arial"/>
                  <a:sym typeface="Arial"/>
                </a:rPr>
                <a:t>cắm</a:t>
              </a:r>
              <a:r>
                <a:rPr lang="en-US" sz="1300" b="1" dirty="0">
                  <a:solidFill>
                    <a:srgbClr val="000000"/>
                  </a:solidFill>
                  <a:latin typeface="Arial"/>
                  <a:ea typeface="Arial"/>
                  <a:cs typeface="Arial"/>
                  <a:sym typeface="Arial"/>
                </a:rPr>
                <a:t> IC</a:t>
              </a:r>
              <a:endParaRPr dirty="0"/>
            </a:p>
          </p:txBody>
        </p:sp>
        <p:pic>
          <p:nvPicPr>
            <p:cNvPr id="3431" name="Google Shape;3431;p182" descr="http://www.ehtec.com/epart/img/icsocket.jpg"/>
            <p:cNvPicPr preferRelativeResize="0"/>
            <p:nvPr/>
          </p:nvPicPr>
          <p:blipFill rotWithShape="1">
            <a:blip r:embed="rId3">
              <a:alphaModFix/>
            </a:blip>
            <a:srcRect/>
            <a:stretch/>
          </p:blipFill>
          <p:spPr>
            <a:xfrm>
              <a:off x="2492831" y="1753066"/>
              <a:ext cx="3351029" cy="1458976"/>
            </a:xfrm>
            <a:prstGeom prst="rect">
              <a:avLst/>
            </a:prstGeom>
            <a:noFill/>
            <a:ln w="9525" cap="flat" cmpd="sng">
              <a:solidFill>
                <a:srgbClr val="D8D8D8"/>
              </a:solidFill>
              <a:prstDash val="solid"/>
              <a:miter lim="800000"/>
              <a:headEnd type="none" w="sm" len="sm"/>
              <a:tailEnd type="none" w="sm" len="sm"/>
            </a:ln>
          </p:spPr>
        </p:pic>
      </p:grpSp>
      <p:grpSp>
        <p:nvGrpSpPr>
          <p:cNvPr id="3432" name="Google Shape;3432;p182"/>
          <p:cNvGrpSpPr/>
          <p:nvPr/>
        </p:nvGrpSpPr>
        <p:grpSpPr>
          <a:xfrm>
            <a:off x="4602924" y="1948924"/>
            <a:ext cx="3823812" cy="1967790"/>
            <a:chOff x="5973320" y="1826488"/>
            <a:chExt cx="3406900" cy="1753241"/>
          </a:xfrm>
        </p:grpSpPr>
        <p:sp>
          <p:nvSpPr>
            <p:cNvPr id="3433" name="Google Shape;3433;p182"/>
            <p:cNvSpPr txBox="1"/>
            <p:nvPr/>
          </p:nvSpPr>
          <p:spPr>
            <a:xfrm>
              <a:off x="6858077" y="3319220"/>
              <a:ext cx="1597980" cy="260509"/>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Bộ hấp thụ nhiệt</a:t>
              </a:r>
              <a:endParaRPr sz="1300" b="1">
                <a:solidFill>
                  <a:srgbClr val="000000"/>
                </a:solidFill>
                <a:latin typeface="Arial"/>
                <a:ea typeface="Arial"/>
                <a:cs typeface="Arial"/>
                <a:sym typeface="Arial"/>
              </a:endParaRPr>
            </a:p>
          </p:txBody>
        </p:sp>
        <p:pic>
          <p:nvPicPr>
            <p:cNvPr id="3434" name="Google Shape;3434;p182" descr="http://www.ehtec.com/epart/img/fin.jpg"/>
            <p:cNvPicPr preferRelativeResize="0"/>
            <p:nvPr/>
          </p:nvPicPr>
          <p:blipFill rotWithShape="1">
            <a:blip r:embed="rId4">
              <a:alphaModFix/>
            </a:blip>
            <a:srcRect/>
            <a:stretch/>
          </p:blipFill>
          <p:spPr>
            <a:xfrm>
              <a:off x="5973320" y="1826488"/>
              <a:ext cx="3406900" cy="1460100"/>
            </a:xfrm>
            <a:prstGeom prst="rect">
              <a:avLst/>
            </a:prstGeom>
            <a:noFill/>
            <a:ln w="9525" cap="flat" cmpd="sng">
              <a:solidFill>
                <a:srgbClr val="D8D8D8"/>
              </a:solidFill>
              <a:prstDash val="solid"/>
              <a:miter lim="800000"/>
              <a:headEnd type="none" w="sm" len="sm"/>
              <a:tailEnd type="none" w="sm" len="sm"/>
            </a:ln>
          </p:spPr>
        </p:pic>
      </p:grpSp>
      <p:grpSp>
        <p:nvGrpSpPr>
          <p:cNvPr id="3435" name="Google Shape;3435;p182"/>
          <p:cNvGrpSpPr/>
          <p:nvPr/>
        </p:nvGrpSpPr>
        <p:grpSpPr>
          <a:xfrm>
            <a:off x="666856" y="4029424"/>
            <a:ext cx="3790844" cy="2070910"/>
            <a:chOff x="2518410" y="3737173"/>
            <a:chExt cx="3347527" cy="1828729"/>
          </a:xfrm>
        </p:grpSpPr>
        <p:sp>
          <p:nvSpPr>
            <p:cNvPr id="3436" name="Google Shape;3436;p182"/>
            <p:cNvSpPr txBox="1"/>
            <p:nvPr/>
          </p:nvSpPr>
          <p:spPr>
            <a:xfrm>
              <a:off x="3394936" y="5307707"/>
              <a:ext cx="1597980" cy="258195"/>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Loa</a:t>
              </a:r>
              <a:endParaRPr/>
            </a:p>
          </p:txBody>
        </p:sp>
        <p:pic>
          <p:nvPicPr>
            <p:cNvPr id="3437" name="Google Shape;3437;p182" descr="speaker1"/>
            <p:cNvPicPr preferRelativeResize="0"/>
            <p:nvPr/>
          </p:nvPicPr>
          <p:blipFill rotWithShape="1">
            <a:blip r:embed="rId5">
              <a:alphaModFix/>
            </a:blip>
            <a:srcRect/>
            <a:stretch/>
          </p:blipFill>
          <p:spPr>
            <a:xfrm>
              <a:off x="2518410" y="3737173"/>
              <a:ext cx="3347527" cy="1513007"/>
            </a:xfrm>
            <a:prstGeom prst="rect">
              <a:avLst/>
            </a:prstGeom>
            <a:noFill/>
            <a:ln w="9525" cap="flat" cmpd="sng">
              <a:solidFill>
                <a:srgbClr val="D8D8D8"/>
              </a:solidFill>
              <a:prstDash val="solid"/>
              <a:miter lim="800000"/>
              <a:headEnd type="none" w="sm" len="sm"/>
              <a:tailEnd type="none" w="sm" len="sm"/>
            </a:ln>
          </p:spPr>
        </p:pic>
      </p:grpSp>
      <p:grpSp>
        <p:nvGrpSpPr>
          <p:cNvPr id="3438" name="Google Shape;3438;p182"/>
          <p:cNvGrpSpPr/>
          <p:nvPr/>
        </p:nvGrpSpPr>
        <p:grpSpPr>
          <a:xfrm>
            <a:off x="4662756" y="4027860"/>
            <a:ext cx="3222603" cy="2069023"/>
            <a:chOff x="5988636" y="3768561"/>
            <a:chExt cx="2819469" cy="1810197"/>
          </a:xfrm>
        </p:grpSpPr>
        <p:sp>
          <p:nvSpPr>
            <p:cNvPr id="3439" name="Google Shape;3439;p182"/>
            <p:cNvSpPr txBox="1"/>
            <p:nvPr/>
          </p:nvSpPr>
          <p:spPr>
            <a:xfrm>
              <a:off x="6599380" y="5322946"/>
              <a:ext cx="1597980" cy="255812"/>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Còi điện tử</a:t>
              </a:r>
              <a:endParaRPr sz="1300" b="1">
                <a:solidFill>
                  <a:srgbClr val="000000"/>
                </a:solidFill>
                <a:latin typeface="Arial"/>
                <a:ea typeface="Arial"/>
                <a:cs typeface="Arial"/>
                <a:sym typeface="Arial"/>
              </a:endParaRPr>
            </a:p>
          </p:txBody>
        </p:sp>
        <p:pic>
          <p:nvPicPr>
            <p:cNvPr id="3440" name="Google Shape;3440;p182" descr="buzzer"/>
            <p:cNvPicPr preferRelativeResize="0"/>
            <p:nvPr/>
          </p:nvPicPr>
          <p:blipFill rotWithShape="1">
            <a:blip r:embed="rId6">
              <a:alphaModFix/>
            </a:blip>
            <a:srcRect/>
            <a:stretch/>
          </p:blipFill>
          <p:spPr>
            <a:xfrm>
              <a:off x="5988636" y="3768561"/>
              <a:ext cx="2819469" cy="1496859"/>
            </a:xfrm>
            <a:prstGeom prst="rect">
              <a:avLst/>
            </a:prstGeom>
            <a:noFill/>
            <a:ln w="9525" cap="flat" cmpd="sng">
              <a:solidFill>
                <a:srgbClr val="D8D8D8"/>
              </a:solidFill>
              <a:prstDash val="solid"/>
              <a:miter lim="800000"/>
              <a:headEnd type="none" w="sm" len="sm"/>
              <a:tailEnd type="none" w="sm" len="sm"/>
            </a:ln>
          </p:spPr>
        </p:pic>
      </p:grpSp>
      <p:sp>
        <p:nvSpPr>
          <p:cNvPr id="3441" name="Google Shape;3441;p182"/>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3.2. Các </a:t>
            </a:r>
            <a:r>
              <a:rPr lang="en-US" sz="1800" b="1" dirty="0" err="1">
                <a:solidFill>
                  <a:schemeClr val="tx1"/>
                </a:solidFill>
                <a:latin typeface="Arial"/>
                <a:ea typeface="Arial"/>
                <a:cs typeface="Arial"/>
                <a:sym typeface="Arial"/>
              </a:rPr>
              <a:t>loại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linh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kiện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tử</a:t>
            </a:r>
            <a:endParaRPr sz="1800" b="1" dirty="0">
              <a:solidFill>
                <a:schemeClr val="tx1"/>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750">
          <a:extLst>
            <a:ext uri="{FF2B5EF4-FFF2-40B4-BE49-F238E27FC236}">
              <a16:creationId xmlns:a16="http://schemas.microsoft.com/office/drawing/2014/main" id="{71C644CD-396F-0E8F-484A-B89CFA14BDE5}"/>
            </a:ext>
          </a:extLst>
        </p:cNvPr>
        <p:cNvGrpSpPr/>
        <p:nvPr/>
      </p:nvGrpSpPr>
      <p:grpSpPr>
        <a:xfrm>
          <a:off x="0" y="0"/>
          <a:ext cx="0" cy="0"/>
          <a:chOff x="0" y="0"/>
          <a:chExt cx="0" cy="0"/>
        </a:xfrm>
      </p:grpSpPr>
      <p:grpSp>
        <p:nvGrpSpPr>
          <p:cNvPr id="2751" name="Google Shape;2751;p144">
            <a:extLst>
              <a:ext uri="{FF2B5EF4-FFF2-40B4-BE49-F238E27FC236}">
                <a16:creationId xmlns:a16="http://schemas.microsoft.com/office/drawing/2014/main" id="{26EABF3B-51B3-12EF-C5A1-5EE8BE0A496F}"/>
              </a:ext>
            </a:extLst>
          </p:cNvPr>
          <p:cNvGrpSpPr/>
          <p:nvPr/>
        </p:nvGrpSpPr>
        <p:grpSpPr>
          <a:xfrm>
            <a:off x="990000" y="2748477"/>
            <a:ext cx="8344500" cy="2322355"/>
            <a:chOff x="990000" y="2748477"/>
            <a:chExt cx="8344500" cy="2322355"/>
          </a:xfrm>
        </p:grpSpPr>
        <p:sp>
          <p:nvSpPr>
            <p:cNvPr id="2752" name="Google Shape;2752;p144">
              <a:extLst>
                <a:ext uri="{FF2B5EF4-FFF2-40B4-BE49-F238E27FC236}">
                  <a16:creationId xmlns:a16="http://schemas.microsoft.com/office/drawing/2014/main" id="{96F19E41-EE5E-340C-079D-7F989C6BD273}"/>
                </a:ext>
              </a:extLst>
            </p:cNvPr>
            <p:cNvSpPr/>
            <p:nvPr/>
          </p:nvSpPr>
          <p:spPr>
            <a:xfrm>
              <a:off x="990000" y="3038807"/>
              <a:ext cx="83445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Mạch &amp; Linh kiện cơ bản</a:t>
              </a:r>
              <a:endParaRPr sz="3600" b="1">
                <a:solidFill>
                  <a:schemeClr val="dk1"/>
                </a:solidFill>
                <a:latin typeface="Arial"/>
                <a:ea typeface="Arial"/>
                <a:cs typeface="Arial"/>
                <a:sym typeface="Arial"/>
              </a:endParaRPr>
            </a:p>
          </p:txBody>
        </p:sp>
        <p:sp>
          <p:nvSpPr>
            <p:cNvPr id="2753" name="Google Shape;2753;p144">
              <a:extLst>
                <a:ext uri="{FF2B5EF4-FFF2-40B4-BE49-F238E27FC236}">
                  <a16:creationId xmlns:a16="http://schemas.microsoft.com/office/drawing/2014/main" id="{664E2365-C5DD-67AD-4412-C485A1AA8ED0}"/>
                </a:ext>
              </a:extLst>
            </p:cNvPr>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a:t>
              </a:r>
              <a:endParaRPr dirty="0"/>
            </a:p>
          </p:txBody>
        </p:sp>
        <p:sp>
          <p:nvSpPr>
            <p:cNvPr id="2754" name="Google Shape;2754;p144">
              <a:extLst>
                <a:ext uri="{FF2B5EF4-FFF2-40B4-BE49-F238E27FC236}">
                  <a16:creationId xmlns:a16="http://schemas.microsoft.com/office/drawing/2014/main" id="{25BE5DBB-C2A1-C5C6-6AC8-C836382F169A}"/>
                </a:ext>
              </a:extLst>
            </p:cNvPr>
            <p:cNvSpPr/>
            <p:nvPr/>
          </p:nvSpPr>
          <p:spPr>
            <a:xfrm>
              <a:off x="1054112" y="3983355"/>
              <a:ext cx="5373676" cy="1087477"/>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chemeClr val="bg1">
                      <a:lumMod val="65000"/>
                    </a:schemeClr>
                  </a:solidFill>
                  <a:latin typeface="Arial"/>
                  <a:ea typeface="Arial"/>
                  <a:cs typeface="Arial"/>
                  <a:sym typeface="Arial"/>
                </a:rPr>
                <a:t>3.1. </a:t>
              </a:r>
              <a:r>
                <a:rPr lang="en-US" sz="1800" dirty="0" err="1">
                  <a:solidFill>
                    <a:schemeClr val="bg1">
                      <a:lumMod val="65000"/>
                    </a:schemeClr>
                  </a:solidFill>
                  <a:latin typeface="Arial"/>
                  <a:ea typeface="Arial"/>
                  <a:cs typeface="Arial"/>
                  <a:sym typeface="Arial"/>
                </a:rPr>
                <a:t>Nội</a:t>
              </a:r>
              <a:r>
                <a:rPr lang="en-US" sz="1800" dirty="0">
                  <a:solidFill>
                    <a:schemeClr val="bg1">
                      <a:lumMod val="65000"/>
                    </a:schemeClr>
                  </a:solidFill>
                  <a:latin typeface="Arial"/>
                  <a:ea typeface="Arial"/>
                  <a:cs typeface="Arial"/>
                  <a:sym typeface="Arial"/>
                </a:rPr>
                <a:t> dung </a:t>
              </a:r>
              <a:r>
                <a:rPr lang="en-US" sz="1800" dirty="0" err="1">
                  <a:solidFill>
                    <a:schemeClr val="bg1">
                      <a:lumMod val="65000"/>
                    </a:schemeClr>
                  </a:solidFill>
                  <a:latin typeface="Arial"/>
                  <a:ea typeface="Arial"/>
                  <a:cs typeface="Arial"/>
                  <a:sym typeface="Arial"/>
                </a:rPr>
                <a:t>cơ</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bản</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về</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điện</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tử</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học</a:t>
              </a:r>
              <a:endParaRPr dirty="0">
                <a:solidFill>
                  <a:schemeClr val="bg1">
                    <a:lumMod val="6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3.2. Các </a:t>
              </a:r>
              <a:r>
                <a:rPr lang="en-US" sz="1800" dirty="0" err="1">
                  <a:solidFill>
                    <a:srgbClr val="A6A6A6"/>
                  </a:solidFill>
                  <a:latin typeface="Arial"/>
                  <a:ea typeface="Arial"/>
                  <a:cs typeface="Arial"/>
                  <a:sym typeface="Arial"/>
                </a:rPr>
                <a:t>loại</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linh</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kiện</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điện</a:t>
              </a:r>
              <a:r>
                <a:rPr lang="en-US" sz="1800" dirty="0">
                  <a:solidFill>
                    <a:srgbClr val="A6A6A6"/>
                  </a:solidFill>
                  <a:latin typeface="Arial"/>
                  <a:ea typeface="Arial"/>
                  <a:cs typeface="Arial"/>
                  <a:sym typeface="Arial"/>
                </a:rPr>
                <a:t> </a:t>
              </a:r>
              <a:r>
                <a:rPr lang="en-US" sz="1800" dirty="0" err="1">
                  <a:solidFill>
                    <a:srgbClr val="A6A6A6"/>
                  </a:solidFill>
                  <a:latin typeface="Arial"/>
                  <a:ea typeface="Arial"/>
                  <a:cs typeface="Arial"/>
                  <a:sym typeface="Arial"/>
                </a:rPr>
                <a:t>tử</a:t>
              </a:r>
              <a:endParaRPr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latin typeface="Arial"/>
                  <a:ea typeface="Arial"/>
                  <a:cs typeface="Arial"/>
                  <a:sym typeface="Arial"/>
                </a:rPr>
                <a:t>3.3. </a:t>
              </a:r>
              <a:r>
                <a:rPr lang="en-US" sz="1800" dirty="0" err="1">
                  <a:solidFill>
                    <a:schemeClr val="tx1"/>
                  </a:solidFill>
                  <a:latin typeface="Arial"/>
                  <a:ea typeface="Arial"/>
                  <a:cs typeface="Arial"/>
                  <a:sym typeface="Arial"/>
                </a:rPr>
                <a:t>Diễn</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giải</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sơ</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đồ</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mạch</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điện</a:t>
              </a:r>
              <a:r>
                <a:rPr lang="en-US" sz="1800" dirty="0">
                  <a:solidFill>
                    <a:schemeClr val="tx1"/>
                  </a:solidFill>
                  <a:latin typeface="Arial"/>
                  <a:ea typeface="Arial"/>
                  <a:cs typeface="Arial"/>
                  <a:sym typeface="Arial"/>
                </a:rPr>
                <a:t> </a:t>
              </a:r>
              <a:endParaRPr sz="1800" dirty="0">
                <a:solidFill>
                  <a:schemeClr val="tx1"/>
                </a:solidFill>
                <a:latin typeface="Arial"/>
                <a:ea typeface="Arial"/>
                <a:cs typeface="Arial"/>
                <a:sym typeface="Arial"/>
              </a:endParaRPr>
            </a:p>
          </p:txBody>
        </p:sp>
      </p:grpSp>
    </p:spTree>
    <p:extLst>
      <p:ext uri="{BB962C8B-B14F-4D97-AF65-F5344CB8AC3E}">
        <p14:creationId xmlns:p14="http://schemas.microsoft.com/office/powerpoint/2010/main" val="153302702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3455"/>
        <p:cNvGrpSpPr/>
        <p:nvPr/>
      </p:nvGrpSpPr>
      <p:grpSpPr>
        <a:xfrm>
          <a:off x="0" y="0"/>
          <a:ext cx="0" cy="0"/>
          <a:chOff x="0" y="0"/>
          <a:chExt cx="0" cy="0"/>
        </a:xfrm>
      </p:grpSpPr>
      <p:sp>
        <p:nvSpPr>
          <p:cNvPr id="3456" name="Google Shape;3456;p184"/>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Các quy tắc cơ bản</a:t>
            </a:r>
            <a:endParaRPr/>
          </a:p>
        </p:txBody>
      </p:sp>
      <p:sp>
        <p:nvSpPr>
          <p:cNvPr id="3457" name="Google Shape;3457;p184"/>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
        <p:nvSpPr>
          <p:cNvPr id="3459" name="Google Shape;3459;p184"/>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Những thành phần cơ bản của sơ đồ mạch</a:t>
            </a:r>
            <a:endParaRPr/>
          </a:p>
        </p:txBody>
      </p:sp>
      <p:sp>
        <p:nvSpPr>
          <p:cNvPr id="3460" name="Google Shape;3460;p184"/>
          <p:cNvSpPr/>
          <p:nvPr/>
        </p:nvSpPr>
        <p:spPr>
          <a:xfrm>
            <a:off x="712182" y="2174873"/>
            <a:ext cx="8487381" cy="95072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 Tên hoặc loại linh kiện: Những linh kiện được sử dụng</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 Đại lượng không đổi của linh kiện bạn đang sử dụng: Đại lượng không đổi của linh kiện</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 Quan hệ kết nối giữa các linh kiện: Cách đấu nối các linh kiện</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3465"/>
        <p:cNvGrpSpPr/>
        <p:nvPr/>
      </p:nvGrpSpPr>
      <p:grpSpPr>
        <a:xfrm>
          <a:off x="0" y="0"/>
          <a:ext cx="0" cy="0"/>
          <a:chOff x="0" y="0"/>
          <a:chExt cx="0" cy="0"/>
        </a:xfrm>
      </p:grpSpPr>
      <p:sp>
        <p:nvSpPr>
          <p:cNvPr id="3466" name="Google Shape;3466;p185"/>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Đấu nối và giao cắt</a:t>
            </a:r>
            <a:endParaRPr sz="2400" b="1">
              <a:solidFill>
                <a:srgbClr val="0C0C0C"/>
              </a:solidFill>
              <a:latin typeface="Arial"/>
              <a:ea typeface="Arial"/>
              <a:cs typeface="Arial"/>
              <a:sym typeface="Arial"/>
            </a:endParaRPr>
          </a:p>
        </p:txBody>
      </p:sp>
      <p:sp>
        <p:nvSpPr>
          <p:cNvPr id="3468" name="Google Shape;3468;p185"/>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Đấu nối và giao cắt</a:t>
            </a:r>
            <a:endParaRPr sz="1400">
              <a:solidFill>
                <a:schemeClr val="dk1"/>
              </a:solidFill>
              <a:latin typeface="Arial"/>
              <a:ea typeface="Arial"/>
              <a:cs typeface="Arial"/>
              <a:sym typeface="Arial"/>
            </a:endParaRPr>
          </a:p>
        </p:txBody>
      </p:sp>
      <p:sp>
        <p:nvSpPr>
          <p:cNvPr id="3469" name="Google Shape;3469;p185"/>
          <p:cNvSpPr/>
          <p:nvPr/>
        </p:nvSpPr>
        <p:spPr>
          <a:xfrm>
            <a:off x="712182" y="2174873"/>
            <a:ext cx="8487381" cy="95072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Mối nối hình chữ T là một điểm đấu nối.</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Nếu có một dấu chấm tại điểm giao cắt, tức đã kết nốt. Không có dấu chấm nghĩa là chưa được kết nối.</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Nếu có hình bán nguyệt tại điểm giao cắt, tức là chưa được kết nối.</a:t>
            </a:r>
            <a:endParaRPr/>
          </a:p>
        </p:txBody>
      </p:sp>
      <p:sp>
        <p:nvSpPr>
          <p:cNvPr id="3471" name="Google Shape;3471;p185"/>
          <p:cNvSpPr/>
          <p:nvPr/>
        </p:nvSpPr>
        <p:spPr>
          <a:xfrm>
            <a:off x="7978170" y="4746945"/>
            <a:ext cx="1383982" cy="7027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472" name="Google Shape;3472;p185"/>
          <p:cNvGrpSpPr/>
          <p:nvPr/>
        </p:nvGrpSpPr>
        <p:grpSpPr>
          <a:xfrm>
            <a:off x="2443813" y="3282668"/>
            <a:ext cx="4993307" cy="2950492"/>
            <a:chOff x="2443813" y="3328388"/>
            <a:chExt cx="4993307" cy="2950492"/>
          </a:xfrm>
        </p:grpSpPr>
        <p:graphicFrame>
          <p:nvGraphicFramePr>
            <p:cNvPr id="3473" name="Google Shape;3473;p185"/>
            <p:cNvGraphicFramePr/>
            <p:nvPr/>
          </p:nvGraphicFramePr>
          <p:xfrm>
            <a:off x="2512270" y="3429000"/>
            <a:ext cx="4878284" cy="2843452"/>
          </p:xfrm>
          <a:graphic>
            <a:graphicData uri="http://schemas.openxmlformats.org/presentationml/2006/ole">
              <mc:AlternateContent xmlns:mc="http://schemas.openxmlformats.org/markup-compatibility/2006">
                <mc:Choice xmlns:v="urn:schemas-microsoft-com:vml" Requires="v">
                  <p:oleObj r:id="rId3" imgW="4878284" imgH="2843452" progId="Visio.Drawing.6">
                    <p:embed/>
                  </p:oleObj>
                </mc:Choice>
                <mc:Fallback>
                  <p:oleObj r:id="rId3" imgW="4878284" imgH="2843452" progId="Visio.Drawing.6">
                    <p:embed/>
                    <p:pic>
                      <p:nvPicPr>
                        <p:cNvPr id="3473" name="Google Shape;3473;p185"/>
                        <p:cNvPicPr preferRelativeResize="0"/>
                        <p:nvPr/>
                      </p:nvPicPr>
                      <p:blipFill rotWithShape="1">
                        <a:blip r:embed="rId4">
                          <a:alphaModFix/>
                        </a:blip>
                        <a:srcRect/>
                        <a:stretch/>
                      </p:blipFill>
                      <p:spPr>
                        <a:xfrm>
                          <a:off x="2512270" y="3429000"/>
                          <a:ext cx="4878284" cy="2843452"/>
                        </a:xfrm>
                        <a:prstGeom prst="rect">
                          <a:avLst/>
                        </a:prstGeom>
                        <a:noFill/>
                        <a:ln>
                          <a:noFill/>
                        </a:ln>
                      </p:spPr>
                    </p:pic>
                  </p:oleObj>
                </mc:Fallback>
              </mc:AlternateContent>
            </a:graphicData>
          </a:graphic>
        </p:graphicFrame>
        <p:sp>
          <p:nvSpPr>
            <p:cNvPr id="3474" name="Google Shape;3474;p185"/>
            <p:cNvSpPr/>
            <p:nvPr/>
          </p:nvSpPr>
          <p:spPr>
            <a:xfrm>
              <a:off x="2802116" y="3590497"/>
              <a:ext cx="937869" cy="359703"/>
            </a:xfrm>
            <a:prstGeom prst="roundRect">
              <a:avLst>
                <a:gd name="adj" fmla="val 11544"/>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T-shape means connected</a:t>
              </a:r>
              <a:endParaRPr sz="1000">
                <a:solidFill>
                  <a:srgbClr val="262626"/>
                </a:solidFill>
                <a:latin typeface="Arial"/>
                <a:ea typeface="Arial"/>
                <a:cs typeface="Arial"/>
                <a:sym typeface="Arial"/>
              </a:endParaRPr>
            </a:p>
          </p:txBody>
        </p:sp>
        <p:sp>
          <p:nvSpPr>
            <p:cNvPr id="3475" name="Google Shape;3475;p185"/>
            <p:cNvSpPr/>
            <p:nvPr/>
          </p:nvSpPr>
          <p:spPr>
            <a:xfrm>
              <a:off x="2631758" y="4630560"/>
              <a:ext cx="857336" cy="195616"/>
            </a:xfrm>
            <a:prstGeom prst="roundRect">
              <a:avLst>
                <a:gd name="adj" fmla="val 0"/>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Ω is omitted</a:t>
              </a:r>
              <a:endParaRPr sz="1000">
                <a:solidFill>
                  <a:srgbClr val="262626"/>
                </a:solidFill>
                <a:latin typeface="Arial"/>
                <a:ea typeface="Arial"/>
                <a:cs typeface="Arial"/>
                <a:sym typeface="Arial"/>
              </a:endParaRPr>
            </a:p>
          </p:txBody>
        </p:sp>
        <p:sp>
          <p:nvSpPr>
            <p:cNvPr id="3476" name="Google Shape;3476;p185"/>
            <p:cNvSpPr/>
            <p:nvPr/>
          </p:nvSpPr>
          <p:spPr>
            <a:xfrm>
              <a:off x="6310312" y="5440876"/>
              <a:ext cx="982796" cy="213711"/>
            </a:xfrm>
            <a:prstGeom prst="roundRect">
              <a:avLst>
                <a:gd name="adj" fmla="val 50000"/>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μF is omitted</a:t>
              </a:r>
              <a:endParaRPr sz="1000">
                <a:solidFill>
                  <a:srgbClr val="262626"/>
                </a:solidFill>
                <a:latin typeface="Arial"/>
                <a:ea typeface="Arial"/>
                <a:cs typeface="Arial"/>
                <a:sym typeface="Arial"/>
              </a:endParaRPr>
            </a:p>
          </p:txBody>
        </p:sp>
        <p:sp>
          <p:nvSpPr>
            <p:cNvPr id="3477" name="Google Shape;3477;p185"/>
            <p:cNvSpPr/>
            <p:nvPr/>
          </p:nvSpPr>
          <p:spPr>
            <a:xfrm>
              <a:off x="5450923" y="5796591"/>
              <a:ext cx="1132181" cy="396485"/>
            </a:xfrm>
            <a:prstGeom prst="roundRect">
              <a:avLst>
                <a:gd name="adj" fmla="val 16667"/>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000">
                  <a:solidFill>
                    <a:srgbClr val="262626"/>
                  </a:solidFill>
                  <a:latin typeface="Arial"/>
                  <a:ea typeface="Arial"/>
                  <a:cs typeface="Arial"/>
                  <a:sym typeface="Arial"/>
                </a:rPr>
                <a:t>The dot is connected.</a:t>
              </a:r>
              <a:endParaRPr sz="1000">
                <a:solidFill>
                  <a:srgbClr val="262626"/>
                </a:solidFill>
                <a:latin typeface="Arial"/>
                <a:ea typeface="Arial"/>
                <a:cs typeface="Arial"/>
                <a:sym typeface="Arial"/>
              </a:endParaRPr>
            </a:p>
          </p:txBody>
        </p:sp>
        <p:sp>
          <p:nvSpPr>
            <p:cNvPr id="3478" name="Google Shape;3478;p185"/>
            <p:cNvSpPr/>
            <p:nvPr/>
          </p:nvSpPr>
          <p:spPr>
            <a:xfrm>
              <a:off x="4343400" y="3429000"/>
              <a:ext cx="116586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9" name="Google Shape;3479;p185"/>
            <p:cNvSpPr/>
            <p:nvPr/>
          </p:nvSpPr>
          <p:spPr>
            <a:xfrm>
              <a:off x="4244340" y="3328388"/>
              <a:ext cx="1262590" cy="609600"/>
            </a:xfrm>
            <a:prstGeom prst="wedgeRoundRectCallout">
              <a:avLst>
                <a:gd name="adj1" fmla="val 45252"/>
                <a:gd name="adj2" fmla="val 76250"/>
                <a:gd name="adj3" fmla="val 16667"/>
              </a:avLst>
            </a:prstGeom>
            <a:solidFill>
              <a:srgbClr val="2F54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Hình bán nguyệt nghĩa là đã giao cắt</a:t>
              </a:r>
              <a:endParaRPr sz="1200" b="1">
                <a:solidFill>
                  <a:schemeClr val="lt1"/>
                </a:solidFill>
                <a:latin typeface="Arial"/>
                <a:ea typeface="Arial"/>
                <a:cs typeface="Arial"/>
                <a:sym typeface="Arial"/>
              </a:endParaRPr>
            </a:p>
          </p:txBody>
        </p:sp>
        <p:sp>
          <p:nvSpPr>
            <p:cNvPr id="3480" name="Google Shape;3480;p185"/>
            <p:cNvSpPr/>
            <p:nvPr/>
          </p:nvSpPr>
          <p:spPr>
            <a:xfrm>
              <a:off x="5334000" y="5734208"/>
              <a:ext cx="1371600" cy="544672"/>
            </a:xfrm>
            <a:prstGeom prst="roundRect">
              <a:avLst>
                <a:gd name="adj" fmla="val 16667"/>
              </a:avLst>
            </a:prstGeom>
            <a:solidFill>
              <a:srgbClr val="2F54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Dấu chấm nghĩa là đã được nối.</a:t>
              </a:r>
              <a:endParaRPr/>
            </a:p>
          </p:txBody>
        </p:sp>
        <p:sp>
          <p:nvSpPr>
            <p:cNvPr id="3481" name="Google Shape;3481;p185"/>
            <p:cNvSpPr/>
            <p:nvPr/>
          </p:nvSpPr>
          <p:spPr>
            <a:xfrm>
              <a:off x="6227763" y="5410200"/>
              <a:ext cx="1209357" cy="259080"/>
            </a:xfrm>
            <a:prstGeom prst="roundRect">
              <a:avLst>
                <a:gd name="adj" fmla="val 50000"/>
              </a:avLst>
            </a:prstGeom>
            <a:solidFill>
              <a:srgbClr val="2F54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μBỏ qua F</a:t>
              </a:r>
              <a:endParaRPr/>
            </a:p>
          </p:txBody>
        </p:sp>
        <p:sp>
          <p:nvSpPr>
            <p:cNvPr id="3482" name="Google Shape;3482;p185"/>
            <p:cNvSpPr/>
            <p:nvPr/>
          </p:nvSpPr>
          <p:spPr>
            <a:xfrm>
              <a:off x="2443813" y="4595407"/>
              <a:ext cx="1209357" cy="259080"/>
            </a:xfrm>
            <a:prstGeom prst="roundRect">
              <a:avLst>
                <a:gd name="adj" fmla="val 50000"/>
              </a:avLst>
            </a:prstGeom>
            <a:solidFill>
              <a:srgbClr val="2F54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Bỏ qua Ω</a:t>
              </a:r>
              <a:endParaRPr/>
            </a:p>
          </p:txBody>
        </p:sp>
        <p:sp>
          <p:nvSpPr>
            <p:cNvPr id="3483" name="Google Shape;3483;p185"/>
            <p:cNvSpPr/>
            <p:nvPr/>
          </p:nvSpPr>
          <p:spPr>
            <a:xfrm>
              <a:off x="2764045" y="3479498"/>
              <a:ext cx="116586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4" name="Google Shape;3484;p185"/>
            <p:cNvSpPr/>
            <p:nvPr/>
          </p:nvSpPr>
          <p:spPr>
            <a:xfrm>
              <a:off x="2677810" y="3343640"/>
              <a:ext cx="1291878" cy="609600"/>
            </a:xfrm>
            <a:prstGeom prst="wedgeRoundRectCallout">
              <a:avLst>
                <a:gd name="adj1" fmla="val 42893"/>
                <a:gd name="adj2" fmla="val 83750"/>
                <a:gd name="adj3" fmla="val 16667"/>
              </a:avLst>
            </a:prstGeom>
            <a:solidFill>
              <a:srgbClr val="2F54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Hình chữ T nghĩa là đã đấu nối</a:t>
              </a:r>
              <a:endParaRPr sz="1200" b="1">
                <a:solidFill>
                  <a:schemeClr val="lt1"/>
                </a:solidFill>
                <a:latin typeface="Arial"/>
                <a:ea typeface="Arial"/>
                <a:cs typeface="Arial"/>
                <a:sym typeface="Arial"/>
              </a:endParaRPr>
            </a:p>
          </p:txBody>
        </p:sp>
      </p:grpSp>
      <p:pic>
        <p:nvPicPr>
          <p:cNvPr id="11265" name="Picture 1">
            <a:extLst>
              <a:ext uri="{FF2B5EF4-FFF2-40B4-BE49-F238E27FC236}">
                <a16:creationId xmlns:a16="http://schemas.microsoft.com/office/drawing/2014/main" id="{6D80CB7D-6025-6449-AC4C-70252CCF25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900" y="3429000"/>
            <a:ext cx="4876800" cy="2832100"/>
          </a:xfrm>
          <a:prstGeom prst="rect">
            <a:avLst/>
          </a:prstGeom>
        </p:spPr>
      </p:pic>
      <p:sp>
        <p:nvSpPr>
          <p:cNvPr id="2" name="Google Shape;3457;p184">
            <a:extLst>
              <a:ext uri="{FF2B5EF4-FFF2-40B4-BE49-F238E27FC236}">
                <a16:creationId xmlns:a16="http://schemas.microsoft.com/office/drawing/2014/main" id="{AB25166D-747F-3F03-9117-B932DE0F9270}"/>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3489"/>
        <p:cNvGrpSpPr/>
        <p:nvPr/>
      </p:nvGrpSpPr>
      <p:grpSpPr>
        <a:xfrm>
          <a:off x="0" y="0"/>
          <a:ext cx="0" cy="0"/>
          <a:chOff x="0" y="0"/>
          <a:chExt cx="0" cy="0"/>
        </a:xfrm>
      </p:grpSpPr>
      <p:sp>
        <p:nvSpPr>
          <p:cNvPr id="3490" name="Google Shape;3490;p186"/>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Những đơn vị cơ bản trên sơ đồ mạch</a:t>
            </a:r>
            <a:endParaRPr/>
          </a:p>
        </p:txBody>
      </p:sp>
      <p:sp>
        <p:nvSpPr>
          <p:cNvPr id="3492" name="Google Shape;3492;p186"/>
          <p:cNvSpPr/>
          <p:nvPr/>
        </p:nvSpPr>
        <p:spPr>
          <a:xfrm>
            <a:off x="580388" y="187595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Những đơn vị cơ bản trên sơ đồ mạch</a:t>
            </a:r>
            <a:endParaRPr/>
          </a:p>
        </p:txBody>
      </p:sp>
      <p:graphicFrame>
        <p:nvGraphicFramePr>
          <p:cNvPr id="3494" name="Google Shape;3494;p186"/>
          <p:cNvGraphicFramePr/>
          <p:nvPr/>
        </p:nvGraphicFramePr>
        <p:xfrm>
          <a:off x="710022" y="2222925"/>
          <a:ext cx="8630825" cy="1829200"/>
        </p:xfrm>
        <a:graphic>
          <a:graphicData uri="http://schemas.openxmlformats.org/drawingml/2006/table">
            <a:tbl>
              <a:tblPr>
                <a:noFill/>
              </a:tblPr>
              <a:tblGrid>
                <a:gridCol w="3112075">
                  <a:extLst>
                    <a:ext uri="{9D8B030D-6E8A-4147-A177-3AD203B41FA5}">
                      <a16:colId xmlns:a16="http://schemas.microsoft.com/office/drawing/2014/main" val="20000"/>
                    </a:ext>
                  </a:extLst>
                </a:gridCol>
                <a:gridCol w="1234275">
                  <a:extLst>
                    <a:ext uri="{9D8B030D-6E8A-4147-A177-3AD203B41FA5}">
                      <a16:colId xmlns:a16="http://schemas.microsoft.com/office/drawing/2014/main" val="20001"/>
                    </a:ext>
                  </a:extLst>
                </a:gridCol>
                <a:gridCol w="1503650">
                  <a:extLst>
                    <a:ext uri="{9D8B030D-6E8A-4147-A177-3AD203B41FA5}">
                      <a16:colId xmlns:a16="http://schemas.microsoft.com/office/drawing/2014/main" val="20002"/>
                    </a:ext>
                  </a:extLst>
                </a:gridCol>
                <a:gridCol w="2780825">
                  <a:extLst>
                    <a:ext uri="{9D8B030D-6E8A-4147-A177-3AD203B41FA5}">
                      <a16:colId xmlns:a16="http://schemas.microsoft.com/office/drawing/2014/main" val="20003"/>
                    </a:ext>
                  </a:extLst>
                </a:gridCol>
              </a:tblGrid>
              <a:tr h="228650">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Đại lượng không đổi</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Ký hiệu</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Ý nghĩa</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Ví dụ khi sử dụng</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2286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Hiệu điện thế</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V</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Vôn</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V，mV，V, kV</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2286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Cường độ dòng điện</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A</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Ampe</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A，mA，A</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2286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Công suất điện</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W</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Watt</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W，mW，W, kW</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2286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Điện trở</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Ω</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Ôm</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Ω，ｋΩ，ＭΩ</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2286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 Độ tự cảm</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Ｈ</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Henry</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H，mH</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2286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Điện dung</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Ｆ</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Farad</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pF(10</a:t>
                      </a:r>
                      <a:r>
                        <a:rPr lang="en-US" sz="1400" b="0" i="0" u="none" strike="noStrike" cap="none" baseline="30000">
                          <a:solidFill>
                            <a:srgbClr val="262626"/>
                          </a:solidFill>
                          <a:latin typeface="Arial"/>
                          <a:ea typeface="Arial"/>
                          <a:cs typeface="Arial"/>
                          <a:sym typeface="Arial"/>
                        </a:rPr>
                        <a:t>-12</a:t>
                      </a:r>
                      <a:r>
                        <a:rPr lang="en-US" sz="1400" b="0" i="0" u="none" strike="noStrike" cap="none">
                          <a:solidFill>
                            <a:srgbClr val="262626"/>
                          </a:solidFill>
                          <a:latin typeface="Arial"/>
                          <a:ea typeface="Arial"/>
                          <a:cs typeface="Arial"/>
                          <a:sym typeface="Arial"/>
                        </a:rPr>
                        <a:t>F)，uF(10</a:t>
                      </a:r>
                      <a:r>
                        <a:rPr lang="en-US" sz="1400" b="0" i="0" u="none" strike="noStrike" cap="none" baseline="30000">
                          <a:solidFill>
                            <a:srgbClr val="262626"/>
                          </a:solidFill>
                          <a:latin typeface="Arial"/>
                          <a:ea typeface="Arial"/>
                          <a:cs typeface="Arial"/>
                          <a:sym typeface="Arial"/>
                        </a:rPr>
                        <a:t>-6</a:t>
                      </a:r>
                      <a:r>
                        <a:rPr lang="en-US" sz="1400" b="0" i="0" u="none" strike="noStrike" cap="none">
                          <a:solidFill>
                            <a:srgbClr val="262626"/>
                          </a:solidFill>
                          <a:latin typeface="Arial"/>
                          <a:ea typeface="Arial"/>
                          <a:cs typeface="Arial"/>
                          <a:sym typeface="Arial"/>
                        </a:rPr>
                        <a:t>F)</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r h="2286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 Tần số</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Hz</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Héc</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Hz，KHz，MHz，GHz</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aphicFrame>
        <p:nvGraphicFramePr>
          <p:cNvPr id="3495" name="Google Shape;3495;p186"/>
          <p:cNvGraphicFramePr/>
          <p:nvPr/>
        </p:nvGraphicFramePr>
        <p:xfrm>
          <a:off x="710022" y="4376677"/>
          <a:ext cx="8630825" cy="1566950"/>
        </p:xfrm>
        <a:graphic>
          <a:graphicData uri="http://schemas.openxmlformats.org/drawingml/2006/table">
            <a:tbl>
              <a:tblPr>
                <a:noFill/>
              </a:tblPr>
              <a:tblGrid>
                <a:gridCol w="1849000">
                  <a:extLst>
                    <a:ext uri="{9D8B030D-6E8A-4147-A177-3AD203B41FA5}">
                      <a16:colId xmlns:a16="http://schemas.microsoft.com/office/drawing/2014/main" val="20000"/>
                    </a:ext>
                  </a:extLst>
                </a:gridCol>
                <a:gridCol w="3741250">
                  <a:extLst>
                    <a:ext uri="{9D8B030D-6E8A-4147-A177-3AD203B41FA5}">
                      <a16:colId xmlns:a16="http://schemas.microsoft.com/office/drawing/2014/main" val="20001"/>
                    </a:ext>
                  </a:extLst>
                </a:gridCol>
                <a:gridCol w="3040575">
                  <a:extLst>
                    <a:ext uri="{9D8B030D-6E8A-4147-A177-3AD203B41FA5}">
                      <a16:colId xmlns:a16="http://schemas.microsoft.com/office/drawing/2014/main" val="20002"/>
                    </a:ext>
                  </a:extLst>
                </a:gridCol>
              </a:tblGrid>
              <a:tr h="223850">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Ký hiệu</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Đơn vị</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Cách đọc</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2238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M</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1000000(=10</a:t>
                      </a:r>
                      <a:r>
                        <a:rPr lang="en-US" sz="1400" b="0" i="0" u="none" strike="noStrike" cap="none" baseline="30000">
                          <a:solidFill>
                            <a:srgbClr val="262626"/>
                          </a:solidFill>
                          <a:latin typeface="Arial"/>
                          <a:ea typeface="Arial"/>
                          <a:cs typeface="Arial"/>
                          <a:sym typeface="Arial"/>
                        </a:rPr>
                        <a:t>6</a:t>
                      </a:r>
                      <a:r>
                        <a:rPr lang="en-US" sz="1400" b="0" i="0" u="none" strike="noStrike" cap="none">
                          <a:solidFill>
                            <a:srgbClr val="262626"/>
                          </a:solidFill>
                          <a:latin typeface="Arial"/>
                          <a:ea typeface="Arial"/>
                          <a:cs typeface="Arial"/>
                          <a:sym typeface="Arial"/>
                        </a:rPr>
                        <a:t> )</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mega</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2238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k</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1000(=10</a:t>
                      </a:r>
                      <a:r>
                        <a:rPr lang="en-US" sz="1400" b="0" i="0" u="none" strike="noStrike" cap="none" baseline="30000">
                          <a:solidFill>
                            <a:srgbClr val="262626"/>
                          </a:solidFill>
                          <a:latin typeface="Arial"/>
                          <a:ea typeface="Arial"/>
                          <a:cs typeface="Arial"/>
                          <a:sym typeface="Arial"/>
                        </a:rPr>
                        <a:t>3</a:t>
                      </a:r>
                      <a:r>
                        <a:rPr lang="en-US" sz="1400" b="0" i="0" u="none" strike="noStrike" cap="none">
                          <a:solidFill>
                            <a:srgbClr val="262626"/>
                          </a:solidFill>
                          <a:latin typeface="Arial"/>
                          <a:ea typeface="Arial"/>
                          <a:cs typeface="Arial"/>
                          <a:sym typeface="Arial"/>
                        </a:rPr>
                        <a:t>) </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kilo</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2238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m</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0,001(=10</a:t>
                      </a:r>
                      <a:r>
                        <a:rPr lang="en-US" sz="1400" b="0" i="0" u="none" strike="noStrike" cap="none" baseline="30000">
                          <a:solidFill>
                            <a:srgbClr val="262626"/>
                          </a:solidFill>
                          <a:latin typeface="Arial"/>
                          <a:ea typeface="Arial"/>
                          <a:cs typeface="Arial"/>
                          <a:sym typeface="Arial"/>
                        </a:rPr>
                        <a:t>-3</a:t>
                      </a:r>
                      <a:r>
                        <a:rPr lang="en-US" sz="1400" b="0" i="0" u="none" strike="noStrike" cap="none">
                          <a:solidFill>
                            <a:srgbClr val="262626"/>
                          </a:solidFill>
                          <a:latin typeface="Arial"/>
                          <a:ea typeface="Arial"/>
                          <a:cs typeface="Arial"/>
                          <a:sym typeface="Arial"/>
                        </a:rPr>
                        <a:t>) </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mili</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2238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μ </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0,000001(=10</a:t>
                      </a:r>
                      <a:r>
                        <a:rPr lang="en-US" sz="1400" b="0" i="0" u="none" strike="noStrike" cap="none" baseline="30000">
                          <a:solidFill>
                            <a:srgbClr val="262626"/>
                          </a:solidFill>
                          <a:latin typeface="Arial"/>
                          <a:ea typeface="Arial"/>
                          <a:cs typeface="Arial"/>
                          <a:sym typeface="Arial"/>
                        </a:rPr>
                        <a:t>-6</a:t>
                      </a:r>
                      <a:r>
                        <a:rPr lang="en-US" sz="1400" b="0" i="0" u="none" strike="noStrike" cap="none">
                          <a:solidFill>
                            <a:srgbClr val="262626"/>
                          </a:solidFill>
                          <a:latin typeface="Arial"/>
                          <a:ea typeface="Arial"/>
                          <a:cs typeface="Arial"/>
                          <a:sym typeface="Arial"/>
                        </a:rPr>
                        <a:t>) </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micro</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2238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n</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0,000000001(=10</a:t>
                      </a:r>
                      <a:r>
                        <a:rPr lang="en-US" sz="1400" b="0" i="0" u="none" strike="noStrike" cap="none" baseline="30000">
                          <a:solidFill>
                            <a:srgbClr val="262626"/>
                          </a:solidFill>
                          <a:latin typeface="Arial"/>
                          <a:ea typeface="Arial"/>
                          <a:cs typeface="Arial"/>
                          <a:sym typeface="Arial"/>
                        </a:rPr>
                        <a:t>-9</a:t>
                      </a:r>
                      <a:r>
                        <a:rPr lang="en-US" sz="1400" b="0" i="0" u="none" strike="noStrike" cap="none">
                          <a:solidFill>
                            <a:srgbClr val="262626"/>
                          </a:solidFill>
                          <a:latin typeface="Arial"/>
                          <a:ea typeface="Arial"/>
                          <a:cs typeface="Arial"/>
                          <a:sym typeface="Arial"/>
                        </a:rPr>
                        <a:t>) </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nano</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223850">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p</a:t>
                      </a:r>
                      <a:endParaRPr/>
                    </a:p>
                  </a:txBody>
                  <a:tcPr marL="91450" marR="9145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0,000000000001(=10</a:t>
                      </a:r>
                      <a:r>
                        <a:rPr lang="en-US" sz="1400" b="0" i="0" u="none" strike="noStrike" cap="none" baseline="30000">
                          <a:solidFill>
                            <a:srgbClr val="262626"/>
                          </a:solidFill>
                          <a:latin typeface="Arial"/>
                          <a:ea typeface="Arial"/>
                          <a:cs typeface="Arial"/>
                          <a:sym typeface="Arial"/>
                        </a:rPr>
                        <a:t>-12</a:t>
                      </a:r>
                      <a:r>
                        <a:rPr lang="en-US" sz="1400" b="0" i="0" u="none" strike="noStrike" cap="none">
                          <a:solidFill>
                            <a:srgbClr val="262626"/>
                          </a:solidFill>
                          <a:latin typeface="Arial"/>
                          <a:ea typeface="Arial"/>
                          <a:cs typeface="Arial"/>
                          <a:sym typeface="Arial"/>
                        </a:rPr>
                        <a:t>) </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i="0" u="none" strike="noStrike" cap="none">
                          <a:solidFill>
                            <a:srgbClr val="262626"/>
                          </a:solidFill>
                          <a:latin typeface="Arial"/>
                          <a:ea typeface="Arial"/>
                          <a:cs typeface="Arial"/>
                          <a:sym typeface="Arial"/>
                        </a:rPr>
                        <a:t>pico</a:t>
                      </a:r>
                      <a:endParaRPr/>
                    </a:p>
                  </a:txBody>
                  <a:tcPr marL="91450" marR="9145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 name="Google Shape;3457;p184">
            <a:extLst>
              <a:ext uri="{FF2B5EF4-FFF2-40B4-BE49-F238E27FC236}">
                <a16:creationId xmlns:a16="http://schemas.microsoft.com/office/drawing/2014/main" id="{149273CA-A503-8EA6-89A8-CA1FC1758B40}"/>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3500"/>
        <p:cNvGrpSpPr/>
        <p:nvPr/>
      </p:nvGrpSpPr>
      <p:grpSpPr>
        <a:xfrm>
          <a:off x="0" y="0"/>
          <a:ext cx="0" cy="0"/>
          <a:chOff x="0" y="0"/>
          <a:chExt cx="0" cy="0"/>
        </a:xfrm>
      </p:grpSpPr>
      <p:sp>
        <p:nvSpPr>
          <p:cNvPr id="3502" name="Google Shape;3502;p187"/>
          <p:cNvSpPr/>
          <p:nvPr/>
        </p:nvSpPr>
        <p:spPr>
          <a:xfrm>
            <a:off x="580388" y="1522730"/>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dirty="0" err="1">
                <a:solidFill>
                  <a:schemeClr val="dk1"/>
                </a:solidFill>
                <a:latin typeface="Arial"/>
                <a:ea typeface="Arial"/>
                <a:cs typeface="Arial"/>
                <a:sym typeface="Arial"/>
              </a:rPr>
              <a:t>Nguồn</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điện</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và</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đất</a:t>
            </a:r>
            <a:endParaRPr sz="1400" dirty="0">
              <a:solidFill>
                <a:schemeClr val="dk1"/>
              </a:solidFill>
              <a:latin typeface="Arial"/>
              <a:ea typeface="Arial"/>
              <a:cs typeface="Arial"/>
              <a:sym typeface="Arial"/>
            </a:endParaRPr>
          </a:p>
        </p:txBody>
      </p:sp>
      <p:sp>
        <p:nvSpPr>
          <p:cNvPr id="3503" name="Google Shape;3503;p187"/>
          <p:cNvSpPr/>
          <p:nvPr/>
        </p:nvSpPr>
        <p:spPr>
          <a:xfrm>
            <a:off x="580388" y="298276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Những thành phần không hiển thị trong sơ đồ mạch</a:t>
            </a:r>
            <a:endParaRPr/>
          </a:p>
        </p:txBody>
      </p:sp>
      <p:sp>
        <p:nvSpPr>
          <p:cNvPr id="3504" name="Google Shape;3504;p187"/>
          <p:cNvSpPr/>
          <p:nvPr/>
        </p:nvSpPr>
        <p:spPr>
          <a:xfrm>
            <a:off x="712182" y="3213103"/>
            <a:ext cx="8487381" cy="185866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Kết nối nguồn điện và mặt đất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Nguồn cấp của IC digital và mặt đất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Sơ đồ lắp và phương pháp đấu dây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Loại linh kiện (tụ điện hoặc điện trở)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Linh kiện thiết bị</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Chức năng hoặc định giờ</a:t>
            </a:r>
            <a:endParaRPr/>
          </a:p>
        </p:txBody>
      </p:sp>
      <p:grpSp>
        <p:nvGrpSpPr>
          <p:cNvPr id="3505" name="Google Shape;3505;p187"/>
          <p:cNvGrpSpPr/>
          <p:nvPr/>
        </p:nvGrpSpPr>
        <p:grpSpPr>
          <a:xfrm>
            <a:off x="712182" y="1871698"/>
            <a:ext cx="4092142" cy="925292"/>
            <a:chOff x="1706230" y="1828666"/>
            <a:chExt cx="4092142" cy="925292"/>
          </a:xfrm>
        </p:grpSpPr>
        <p:sp>
          <p:nvSpPr>
            <p:cNvPr id="3506" name="Google Shape;3506;p187"/>
            <p:cNvSpPr/>
            <p:nvPr/>
          </p:nvSpPr>
          <p:spPr>
            <a:xfrm>
              <a:off x="1706230" y="1828666"/>
              <a:ext cx="4092142" cy="925292"/>
            </a:xfrm>
            <a:prstGeom prst="rect">
              <a:avLst/>
            </a:prstGeom>
            <a:solidFill>
              <a:srgbClr val="F8F8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507" name="Google Shape;3507;p187"/>
            <p:cNvGrpSpPr/>
            <p:nvPr/>
          </p:nvGrpSpPr>
          <p:grpSpPr>
            <a:xfrm>
              <a:off x="2110087" y="1891439"/>
              <a:ext cx="3292721" cy="700222"/>
              <a:chOff x="2088572" y="1828666"/>
              <a:chExt cx="3292721" cy="700222"/>
            </a:xfrm>
          </p:grpSpPr>
          <p:pic>
            <p:nvPicPr>
              <p:cNvPr id="3508" name="Google Shape;3508;p187"/>
              <p:cNvPicPr preferRelativeResize="0"/>
              <p:nvPr/>
            </p:nvPicPr>
            <p:blipFill rotWithShape="1">
              <a:blip r:embed="rId3">
                <a:alphaModFix/>
              </a:blip>
              <a:srcRect/>
              <a:stretch/>
            </p:blipFill>
            <p:spPr>
              <a:xfrm>
                <a:off x="3877293" y="1994702"/>
                <a:ext cx="1504000" cy="493695"/>
              </a:xfrm>
              <a:prstGeom prst="rect">
                <a:avLst/>
              </a:prstGeom>
              <a:noFill/>
              <a:ln>
                <a:noFill/>
              </a:ln>
            </p:spPr>
          </p:pic>
          <p:graphicFrame>
            <p:nvGraphicFramePr>
              <p:cNvPr id="3509" name="Google Shape;3509;p187"/>
              <p:cNvGraphicFramePr/>
              <p:nvPr/>
            </p:nvGraphicFramePr>
            <p:xfrm>
              <a:off x="2088572" y="1828666"/>
              <a:ext cx="1504001" cy="700222"/>
            </p:xfrm>
            <a:graphic>
              <a:graphicData uri="http://schemas.openxmlformats.org/presentationml/2006/ole">
                <mc:AlternateContent xmlns:mc="http://schemas.openxmlformats.org/markup-compatibility/2006">
                  <mc:Choice xmlns:v="urn:schemas-microsoft-com:vml" Requires="v">
                    <p:oleObj r:id="rId4" imgW="1504001" imgH="700222" progId="Visio.Drawing.6">
                      <p:embed/>
                    </p:oleObj>
                  </mc:Choice>
                  <mc:Fallback>
                    <p:oleObj r:id="rId4" imgW="1504001" imgH="700222" progId="Visio.Drawing.6">
                      <p:embed/>
                      <p:pic>
                        <p:nvPicPr>
                          <p:cNvPr id="3509" name="Google Shape;3509;p187"/>
                          <p:cNvPicPr preferRelativeResize="0"/>
                          <p:nvPr/>
                        </p:nvPicPr>
                        <p:blipFill rotWithShape="1">
                          <a:blip r:embed="rId5">
                            <a:alphaModFix/>
                          </a:blip>
                          <a:srcRect/>
                          <a:stretch/>
                        </p:blipFill>
                        <p:spPr>
                          <a:xfrm>
                            <a:off x="2088572" y="1828666"/>
                            <a:ext cx="1504001" cy="700222"/>
                          </a:xfrm>
                          <a:prstGeom prst="rect">
                            <a:avLst/>
                          </a:prstGeom>
                          <a:noFill/>
                          <a:ln>
                            <a:noFill/>
                          </a:ln>
                        </p:spPr>
                      </p:pic>
                    </p:oleObj>
                  </mc:Fallback>
                </mc:AlternateContent>
              </a:graphicData>
            </a:graphic>
          </p:graphicFrame>
        </p:grpSp>
      </p:grpSp>
      <p:pic>
        <p:nvPicPr>
          <p:cNvPr id="12289" name="Picture 1">
            <a:extLst>
              <a:ext uri="{FF2B5EF4-FFF2-40B4-BE49-F238E27FC236}">
                <a16:creationId xmlns:a16="http://schemas.microsoft.com/office/drawing/2014/main" id="{388F77A8-62F0-574B-A147-2C60F9927F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1440" y="1935332"/>
            <a:ext cx="1498600" cy="698500"/>
          </a:xfrm>
          <a:prstGeom prst="rect">
            <a:avLst/>
          </a:prstGeom>
        </p:spPr>
      </p:pic>
      <p:sp>
        <p:nvSpPr>
          <p:cNvPr id="2" name="Google Shape;3457;p184">
            <a:extLst>
              <a:ext uri="{FF2B5EF4-FFF2-40B4-BE49-F238E27FC236}">
                <a16:creationId xmlns:a16="http://schemas.microsoft.com/office/drawing/2014/main" id="{D3CB0C94-5FC2-0CCA-2146-1BC65CF5C44D}"/>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3515"/>
        <p:cNvGrpSpPr/>
        <p:nvPr/>
      </p:nvGrpSpPr>
      <p:grpSpPr>
        <a:xfrm>
          <a:off x="0" y="0"/>
          <a:ext cx="0" cy="0"/>
          <a:chOff x="0" y="0"/>
          <a:chExt cx="0" cy="0"/>
        </a:xfrm>
      </p:grpSpPr>
      <p:sp>
        <p:nvSpPr>
          <p:cNvPr id="3516" name="Google Shape;3516;p188"/>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Cách thiết kế cơ bản mạch transistor</a:t>
            </a:r>
            <a:endParaRPr/>
          </a:p>
        </p:txBody>
      </p:sp>
      <p:sp>
        <p:nvSpPr>
          <p:cNvPr id="3518" name="Google Shape;3518;p188"/>
          <p:cNvSpPr/>
          <p:nvPr/>
        </p:nvSpPr>
        <p:spPr>
          <a:xfrm>
            <a:off x="580388" y="187595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Tiêu chuẩn của transistor</a:t>
            </a:r>
            <a:endParaRPr/>
          </a:p>
        </p:txBody>
      </p:sp>
      <p:sp>
        <p:nvSpPr>
          <p:cNvPr id="3519" name="Google Shape;3519;p188"/>
          <p:cNvSpPr/>
          <p:nvPr/>
        </p:nvSpPr>
        <p:spPr>
          <a:xfrm>
            <a:off x="712182" y="2106293"/>
            <a:ext cx="8487381" cy="2561418"/>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Phối cảnh của điện áp cho phép</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Dựa trên điện áp định mức tối đa (Vceo) giữa cực thu và cực phát, nên sử dụng phối cảnh với điện áp thực nhỏ hơn 1/2.</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Phối cảnh của cường độ dòng điện cho phép</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Không được vượt quá cường độ dòng điện định mức lớn nhấttại cực thu(Ic) và sử dụng ở cường độ dòng điện thực tế nhỏ hơn 1/2.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Phối cảnh của hệ số khuếch đại</a:t>
            </a:r>
            <a:endParaRPr/>
          </a:p>
          <a:p>
            <a:pPr marL="285750" marR="0" lvl="0" indent="-285750"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Hệ số khuếch đại dòng (hfe) của dòng điện một chiều đơn giản là tính số lần đầu ra chính là dòng điện vào, và chỉ dựa vào giá trị nhỏ nhất vì hệ số này ở mỗi transistor lại khác nhau.</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Phối cảnh của băng thông tần số </a:t>
            </a:r>
            <a:endParaRPr/>
          </a:p>
        </p:txBody>
      </p:sp>
      <p:sp>
        <p:nvSpPr>
          <p:cNvPr id="3520" name="Google Shape;3520;p188"/>
          <p:cNvSpPr txBox="1"/>
          <p:nvPr/>
        </p:nvSpPr>
        <p:spPr>
          <a:xfrm>
            <a:off x="1717040" y="4690223"/>
            <a:ext cx="6468746" cy="742837"/>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 name="Google Shape;3457;p184">
            <a:extLst>
              <a:ext uri="{FF2B5EF4-FFF2-40B4-BE49-F238E27FC236}">
                <a16:creationId xmlns:a16="http://schemas.microsoft.com/office/drawing/2014/main" id="{92DED12C-F44B-5781-1416-C89BBB0D86B8}"/>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3526"/>
        <p:cNvGrpSpPr/>
        <p:nvPr/>
      </p:nvGrpSpPr>
      <p:grpSpPr>
        <a:xfrm>
          <a:off x="0" y="0"/>
          <a:ext cx="0" cy="0"/>
          <a:chOff x="0" y="0"/>
          <a:chExt cx="0" cy="0"/>
        </a:xfrm>
      </p:grpSpPr>
      <p:sp>
        <p:nvSpPr>
          <p:cNvPr id="3527" name="Google Shape;3527;p189"/>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Giới thiệu về transitor trong mạch digital</a:t>
            </a:r>
            <a:endParaRPr/>
          </a:p>
        </p:txBody>
      </p:sp>
      <p:sp>
        <p:nvSpPr>
          <p:cNvPr id="3529" name="Google Shape;3529;p189"/>
          <p:cNvSpPr/>
          <p:nvPr/>
        </p:nvSpPr>
        <p:spPr>
          <a:xfrm>
            <a:off x="580388" y="1944537"/>
            <a:ext cx="8619175" cy="1308050"/>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Kiểm soát dòng điện lớn hoặc điện áp cao: Điều khiển màn hình 7 đoạn, vận hành động cơ hoặc rơ-le, bật/tắt nguồn, điều khiển chiếu sáng</a:t>
            </a:r>
            <a:endParaRPr/>
          </a:p>
          <a:p>
            <a:pPr marL="115888" marR="0" lvl="0" indent="-115888" algn="l" rtl="0">
              <a:spcBef>
                <a:spcPts val="600"/>
              </a:spcBef>
              <a:spcAft>
                <a:spcPts val="0"/>
              </a:spcAft>
              <a:buClr>
                <a:schemeClr val="dk1"/>
              </a:buClr>
              <a:buSzPts val="1680"/>
              <a:buFont typeface="Arial"/>
              <a:buChar char="•"/>
            </a:pPr>
            <a:r>
              <a:rPr lang="en-US" sz="1400">
                <a:solidFill>
                  <a:schemeClr val="dk1"/>
                </a:solidFill>
                <a:latin typeface="Arial"/>
                <a:ea typeface="Arial"/>
                <a:cs typeface="Arial"/>
                <a:sym typeface="Arial"/>
              </a:rPr>
              <a:t>Chuyển đổi mức điện áp: Khuếch đại và chuyển đổi tín hiệu của cảm biến quang hoặc micrô </a:t>
            </a:r>
            <a:endParaRPr/>
          </a:p>
          <a:p>
            <a:pPr marL="115888" marR="0" lvl="0" indent="-115888" algn="l" rtl="0">
              <a:spcBef>
                <a:spcPts val="600"/>
              </a:spcBef>
              <a:spcAft>
                <a:spcPts val="0"/>
              </a:spcAft>
              <a:buClr>
                <a:schemeClr val="dk1"/>
              </a:buClr>
              <a:buSzPts val="1680"/>
              <a:buFont typeface="Arial"/>
              <a:buChar char="•"/>
            </a:pPr>
            <a:r>
              <a:rPr lang="en-US" sz="1400">
                <a:solidFill>
                  <a:schemeClr val="dk1"/>
                </a:solidFill>
                <a:latin typeface="Arial"/>
                <a:ea typeface="Arial"/>
                <a:cs typeface="Arial"/>
                <a:sym typeface="Arial"/>
              </a:rPr>
              <a:t>Khuếch đại điện áp một chiều: Khuếch đại tín hiệu đầu vào chuyển đổi A/D và đầu ra cảm biến</a:t>
            </a:r>
            <a:endParaRPr sz="1400">
              <a:solidFill>
                <a:schemeClr val="dk1"/>
              </a:solidFill>
              <a:latin typeface="Arial"/>
              <a:ea typeface="Arial"/>
              <a:cs typeface="Arial"/>
              <a:sym typeface="Arial"/>
            </a:endParaRPr>
          </a:p>
          <a:p>
            <a:pPr marL="115888" marR="0" lvl="0" indent="-115888" algn="l" rtl="0">
              <a:spcBef>
                <a:spcPts val="600"/>
              </a:spcBef>
              <a:spcAft>
                <a:spcPts val="0"/>
              </a:spcAft>
              <a:buClr>
                <a:schemeClr val="dk1"/>
              </a:buClr>
              <a:buSzPts val="1680"/>
              <a:buFont typeface="Arial"/>
              <a:buChar char="•"/>
            </a:pPr>
            <a:r>
              <a:rPr lang="en-US" sz="1400">
                <a:solidFill>
                  <a:schemeClr val="dk1"/>
                </a:solidFill>
                <a:latin typeface="Arial"/>
                <a:ea typeface="Arial"/>
                <a:cs typeface="Arial"/>
                <a:sym typeface="Arial"/>
              </a:rPr>
              <a:t>Kiểm soát tải lớn</a:t>
            </a:r>
            <a:endParaRPr sz="1400">
              <a:solidFill>
                <a:schemeClr val="dk1"/>
              </a:solidFill>
              <a:latin typeface="Arial"/>
              <a:ea typeface="Arial"/>
              <a:cs typeface="Arial"/>
              <a:sym typeface="Arial"/>
            </a:endParaRPr>
          </a:p>
        </p:txBody>
      </p:sp>
      <p:sp>
        <p:nvSpPr>
          <p:cNvPr id="3530" name="Google Shape;3530;p189"/>
          <p:cNvSpPr/>
          <p:nvPr/>
        </p:nvSpPr>
        <p:spPr>
          <a:xfrm>
            <a:off x="712182" y="4861025"/>
            <a:ext cx="8487381" cy="745536"/>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b="1">
                <a:solidFill>
                  <a:srgbClr val="262626"/>
                </a:solidFill>
                <a:latin typeface="Arial"/>
                <a:ea typeface="Arial"/>
                <a:cs typeface="Arial"/>
                <a:sym typeface="Arial"/>
              </a:rPr>
              <a:t> Xác định R1, R2</a:t>
            </a:r>
            <a:br>
              <a:rPr lang="en-US" sz="1300">
                <a:solidFill>
                  <a:srgbClr val="262626"/>
                </a:solidFill>
                <a:latin typeface="Arial"/>
                <a:ea typeface="Arial"/>
                <a:cs typeface="Arial"/>
                <a:sym typeface="Arial"/>
              </a:rPr>
            </a:br>
            <a:r>
              <a:rPr lang="en-US" sz="1300">
                <a:solidFill>
                  <a:srgbClr val="1429A0"/>
                </a:solidFill>
                <a:latin typeface="Arial"/>
                <a:ea typeface="Arial"/>
                <a:cs typeface="Arial"/>
                <a:sym typeface="Arial"/>
              </a:rPr>
              <a:t>Nếu mạch tích hợp dòng tải có 100 [mA], hfe = 100, IB = 1mA và nguồn điện của IC digital là 5 [V], VBE duy trì ở khoảng 0,6 [V], vì thế giới hạn khoảng 4,4 [KΩ], tuy nhiên 3,3 [KΩ] là đủ.</a:t>
            </a:r>
            <a:endParaRPr/>
          </a:p>
        </p:txBody>
      </p:sp>
      <p:grpSp>
        <p:nvGrpSpPr>
          <p:cNvPr id="3531" name="Google Shape;3531;p189"/>
          <p:cNvGrpSpPr/>
          <p:nvPr/>
        </p:nvGrpSpPr>
        <p:grpSpPr>
          <a:xfrm>
            <a:off x="2411027" y="3168686"/>
            <a:ext cx="5082928" cy="1800439"/>
            <a:chOff x="2353089" y="3444619"/>
            <a:chExt cx="5082928" cy="1800439"/>
          </a:xfrm>
        </p:grpSpPr>
        <p:sp>
          <p:nvSpPr>
            <p:cNvPr id="3532" name="Google Shape;3532;p189"/>
            <p:cNvSpPr txBox="1"/>
            <p:nvPr/>
          </p:nvSpPr>
          <p:spPr>
            <a:xfrm>
              <a:off x="5293274" y="4752615"/>
              <a:ext cx="2142743" cy="492443"/>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đầu vào mức thấp (dòng điện vào)</a:t>
              </a:r>
              <a:endParaRPr/>
            </a:p>
          </p:txBody>
        </p:sp>
        <p:sp>
          <p:nvSpPr>
            <p:cNvPr id="3533" name="Google Shape;3533;p189"/>
            <p:cNvSpPr txBox="1"/>
            <p:nvPr/>
          </p:nvSpPr>
          <p:spPr>
            <a:xfrm>
              <a:off x="2353089" y="4752616"/>
              <a:ext cx="2503132"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đầu vào mức cao (dòng điện ra) </a:t>
              </a:r>
              <a:endParaRPr/>
            </a:p>
          </p:txBody>
        </p:sp>
        <p:pic>
          <p:nvPicPr>
            <p:cNvPr id="3534" name="Google Shape;3534;p189"/>
            <p:cNvPicPr preferRelativeResize="0"/>
            <p:nvPr/>
          </p:nvPicPr>
          <p:blipFill rotWithShape="1">
            <a:blip r:embed="rId3">
              <a:alphaModFix/>
            </a:blip>
            <a:srcRect/>
            <a:stretch/>
          </p:blipFill>
          <p:spPr>
            <a:xfrm>
              <a:off x="2701878" y="3451525"/>
              <a:ext cx="4499069" cy="1315273"/>
            </a:xfrm>
            <a:prstGeom prst="rect">
              <a:avLst/>
            </a:prstGeom>
            <a:noFill/>
            <a:ln>
              <a:noFill/>
            </a:ln>
          </p:spPr>
        </p:pic>
        <p:sp>
          <p:nvSpPr>
            <p:cNvPr id="3535" name="Google Shape;3535;p189"/>
            <p:cNvSpPr txBox="1"/>
            <p:nvPr/>
          </p:nvSpPr>
          <p:spPr>
            <a:xfrm>
              <a:off x="2738119" y="4287533"/>
              <a:ext cx="677083"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Digital IC</a:t>
              </a:r>
              <a:endParaRPr/>
            </a:p>
          </p:txBody>
        </p:sp>
        <p:sp>
          <p:nvSpPr>
            <p:cNvPr id="3536" name="Google Shape;3536;p189"/>
            <p:cNvSpPr txBox="1"/>
            <p:nvPr/>
          </p:nvSpPr>
          <p:spPr>
            <a:xfrm>
              <a:off x="4058286" y="3848713"/>
              <a:ext cx="267970" cy="15388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load</a:t>
              </a:r>
              <a:endParaRPr/>
            </a:p>
          </p:txBody>
        </p:sp>
        <p:sp>
          <p:nvSpPr>
            <p:cNvPr id="3537" name="Google Shape;3537;p189"/>
            <p:cNvSpPr txBox="1"/>
            <p:nvPr/>
          </p:nvSpPr>
          <p:spPr>
            <a:xfrm>
              <a:off x="4081781" y="3456957"/>
              <a:ext cx="267970" cy="153888"/>
            </a:xfrm>
            <a:prstGeom prst="rect">
              <a:avLst/>
            </a:prstGeom>
            <a:blipFill rotWithShape="1">
              <a:blip r:embed="rId4">
                <a:alphaModFix/>
              </a:blip>
              <a:stretch>
                <a:fillRect b="-39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38" name="Google Shape;3538;p189"/>
            <p:cNvSpPr txBox="1"/>
            <p:nvPr/>
          </p:nvSpPr>
          <p:spPr>
            <a:xfrm>
              <a:off x="4372609" y="4239313"/>
              <a:ext cx="132716" cy="153888"/>
            </a:xfrm>
            <a:prstGeom prst="rect">
              <a:avLst/>
            </a:prstGeom>
            <a:blipFill rotWithShape="1">
              <a:blip r:embed="rId5">
                <a:alphaModFix/>
              </a:blip>
              <a:stretch>
                <a:fillRect l="-1428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39" name="Google Shape;3539;p189"/>
            <p:cNvSpPr txBox="1"/>
            <p:nvPr/>
          </p:nvSpPr>
          <p:spPr>
            <a:xfrm>
              <a:off x="3631274" y="4181920"/>
              <a:ext cx="132716" cy="153888"/>
            </a:xfrm>
            <a:prstGeom prst="rect">
              <a:avLst/>
            </a:prstGeom>
            <a:blipFill rotWithShape="1">
              <a:blip r:embed="rId6">
                <a:alphaModFix/>
              </a:blip>
              <a:stretch>
                <a:fillRect l="-18180" b="-39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40" name="Google Shape;3540;p189"/>
            <p:cNvSpPr txBox="1"/>
            <p:nvPr/>
          </p:nvSpPr>
          <p:spPr>
            <a:xfrm>
              <a:off x="3631274" y="4490067"/>
              <a:ext cx="132716" cy="153888"/>
            </a:xfrm>
            <a:prstGeom prst="rect">
              <a:avLst/>
            </a:prstGeom>
            <a:blipFill rotWithShape="1">
              <a:blip r:embed="rId7">
                <a:alphaModFix/>
              </a:blip>
              <a:stretch>
                <a:fillRect l="-909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41" name="Google Shape;3541;p189"/>
            <p:cNvSpPr txBox="1"/>
            <p:nvPr/>
          </p:nvSpPr>
          <p:spPr>
            <a:xfrm>
              <a:off x="5504513" y="3868150"/>
              <a:ext cx="677083"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Digital IC</a:t>
              </a:r>
              <a:endParaRPr/>
            </a:p>
          </p:txBody>
        </p:sp>
        <p:sp>
          <p:nvSpPr>
            <p:cNvPr id="3542" name="Google Shape;3542;p189"/>
            <p:cNvSpPr txBox="1"/>
            <p:nvPr/>
          </p:nvSpPr>
          <p:spPr>
            <a:xfrm>
              <a:off x="6836199" y="4232811"/>
              <a:ext cx="267970" cy="15388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latin typeface="Arial"/>
                  <a:ea typeface="Arial"/>
                  <a:cs typeface="Arial"/>
                  <a:sym typeface="Arial"/>
                </a:rPr>
                <a:t>load</a:t>
              </a:r>
              <a:endParaRPr/>
            </a:p>
          </p:txBody>
        </p:sp>
        <p:sp>
          <p:nvSpPr>
            <p:cNvPr id="3543" name="Google Shape;3543;p189"/>
            <p:cNvSpPr txBox="1"/>
            <p:nvPr/>
          </p:nvSpPr>
          <p:spPr>
            <a:xfrm>
              <a:off x="6836199" y="3444619"/>
              <a:ext cx="267970" cy="153888"/>
            </a:xfrm>
            <a:prstGeom prst="rect">
              <a:avLst/>
            </a:prstGeom>
            <a:blipFill rotWithShape="1">
              <a:blip r:embed="rId4">
                <a:alphaModFix/>
              </a:blip>
              <a:stretch>
                <a:fillRect b="-39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44" name="Google Shape;3544;p189"/>
            <p:cNvSpPr txBox="1"/>
            <p:nvPr/>
          </p:nvSpPr>
          <p:spPr>
            <a:xfrm>
              <a:off x="7104169" y="3752841"/>
              <a:ext cx="132716" cy="153888"/>
            </a:xfrm>
            <a:prstGeom prst="rect">
              <a:avLst/>
            </a:prstGeom>
            <a:blipFill rotWithShape="1">
              <a:blip r:embed="rId8">
                <a:alphaModFix/>
              </a:blip>
              <a:stretch>
                <a:fillRect l="-95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45" name="Google Shape;3545;p189"/>
            <p:cNvSpPr txBox="1"/>
            <p:nvPr/>
          </p:nvSpPr>
          <p:spPr>
            <a:xfrm>
              <a:off x="6407254" y="3770057"/>
              <a:ext cx="132716" cy="153888"/>
            </a:xfrm>
            <a:prstGeom prst="rect">
              <a:avLst/>
            </a:prstGeom>
            <a:blipFill rotWithShape="1">
              <a:blip r:embed="rId9">
                <a:alphaModFix/>
              </a:blip>
              <a:stretch>
                <a:fillRect l="-1818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46" name="Google Shape;3546;p189"/>
            <p:cNvSpPr txBox="1"/>
            <p:nvPr/>
          </p:nvSpPr>
          <p:spPr>
            <a:xfrm>
              <a:off x="6407254" y="4058738"/>
              <a:ext cx="132716" cy="153888"/>
            </a:xfrm>
            <a:prstGeom prst="rect">
              <a:avLst/>
            </a:prstGeom>
            <a:blipFill rotWithShape="1">
              <a:blip r:embed="rId7">
                <a:alphaModFix/>
              </a:blip>
              <a:stretch>
                <a:fillRect l="-909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3547" name="Google Shape;3547;p189"/>
          <p:cNvSpPr txBox="1"/>
          <p:nvPr/>
        </p:nvSpPr>
        <p:spPr>
          <a:xfrm>
            <a:off x="3147061" y="5660828"/>
            <a:ext cx="866384" cy="523220"/>
          </a:xfrm>
          <a:prstGeom prst="rect">
            <a:avLst/>
          </a:pr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48" name="Google Shape;3548;p189"/>
          <p:cNvSpPr txBox="1"/>
          <p:nvPr/>
        </p:nvSpPr>
        <p:spPr>
          <a:xfrm>
            <a:off x="4302489" y="5637041"/>
            <a:ext cx="2591648" cy="547007"/>
          </a:xfrm>
          <a:prstGeom prst="rect">
            <a:avLst/>
          </a:pr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 name="Google Shape;3457;p184">
            <a:extLst>
              <a:ext uri="{FF2B5EF4-FFF2-40B4-BE49-F238E27FC236}">
                <a16:creationId xmlns:a16="http://schemas.microsoft.com/office/drawing/2014/main" id="{59942501-4A5F-E5BF-C5D2-26C2D801CEBF}"/>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3554"/>
        <p:cNvGrpSpPr/>
        <p:nvPr/>
      </p:nvGrpSpPr>
      <p:grpSpPr>
        <a:xfrm>
          <a:off x="0" y="0"/>
          <a:ext cx="0" cy="0"/>
          <a:chOff x="0" y="0"/>
          <a:chExt cx="0" cy="0"/>
        </a:xfrm>
      </p:grpSpPr>
      <p:sp>
        <p:nvSpPr>
          <p:cNvPr id="3555" name="Google Shape;3555;p190"/>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Nếu Phụ tải là một cuộn cảm</a:t>
            </a:r>
            <a:endParaRPr/>
          </a:p>
        </p:txBody>
      </p:sp>
      <p:sp>
        <p:nvSpPr>
          <p:cNvPr id="3557" name="Google Shape;3557;p190"/>
          <p:cNvSpPr/>
          <p:nvPr/>
        </p:nvSpPr>
        <p:spPr>
          <a:xfrm>
            <a:off x="580388" y="1944537"/>
            <a:ext cx="8619175" cy="86177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Khi phụ tải do transistor vận hành là một phụ tải cuộn cảm giống như động cơ điện hoặc rơ-le thì cần chú ý tới lực phản điện động. Nói cách khác, khi cấp/ngắt dòng điện của cuộn cảm, ngay lập tức sẽ sinh ra điện áp cao theo chiều ngược lại ở cả hai đầu cuộn cảm cần đặt vào giữa cực thu và cực phát của transistor, do vậy trong một số trường hợp, transistor có thể bị hỏng.</a:t>
            </a:r>
            <a:endParaRPr/>
          </a:p>
        </p:txBody>
      </p:sp>
      <p:grpSp>
        <p:nvGrpSpPr>
          <p:cNvPr id="3559" name="Google Shape;3559;p190"/>
          <p:cNvGrpSpPr/>
          <p:nvPr/>
        </p:nvGrpSpPr>
        <p:grpSpPr>
          <a:xfrm>
            <a:off x="2516618" y="3429000"/>
            <a:ext cx="4869587" cy="2378075"/>
            <a:chOff x="12485267" y="3580826"/>
            <a:chExt cx="4869587" cy="2378075"/>
          </a:xfrm>
        </p:grpSpPr>
        <p:graphicFrame>
          <p:nvGraphicFramePr>
            <p:cNvPr id="3560" name="Google Shape;3560;p190"/>
            <p:cNvGraphicFramePr/>
            <p:nvPr/>
          </p:nvGraphicFramePr>
          <p:xfrm>
            <a:off x="12485267" y="3580826"/>
            <a:ext cx="4324350" cy="2378075"/>
          </p:xfrm>
          <a:graphic>
            <a:graphicData uri="http://schemas.openxmlformats.org/presentationml/2006/ole">
              <mc:AlternateContent xmlns:mc="http://schemas.openxmlformats.org/markup-compatibility/2006">
                <mc:Choice xmlns:v="urn:schemas-microsoft-com:vml" Requires="v">
                  <p:oleObj r:id="rId3" imgW="4324350" imgH="2378075" progId="Visio.Drawing.6">
                    <p:embed/>
                  </p:oleObj>
                </mc:Choice>
                <mc:Fallback>
                  <p:oleObj r:id="rId3" imgW="4324350" imgH="2378075" progId="Visio.Drawing.6">
                    <p:embed/>
                    <p:pic>
                      <p:nvPicPr>
                        <p:cNvPr id="3560" name="Google Shape;3560;p190"/>
                        <p:cNvPicPr preferRelativeResize="0"/>
                        <p:nvPr/>
                      </p:nvPicPr>
                      <p:blipFill rotWithShape="1">
                        <a:blip r:embed="rId4">
                          <a:alphaModFix/>
                        </a:blip>
                        <a:srcRect/>
                        <a:stretch/>
                      </p:blipFill>
                      <p:spPr>
                        <a:xfrm>
                          <a:off x="12485267" y="3580826"/>
                          <a:ext cx="4324350" cy="2378075"/>
                        </a:xfrm>
                        <a:prstGeom prst="rect">
                          <a:avLst/>
                        </a:prstGeom>
                        <a:noFill/>
                        <a:ln>
                          <a:noFill/>
                        </a:ln>
                      </p:spPr>
                    </p:pic>
                  </p:oleObj>
                </mc:Fallback>
              </mc:AlternateContent>
            </a:graphicData>
          </a:graphic>
        </p:graphicFrame>
        <p:sp>
          <p:nvSpPr>
            <p:cNvPr id="3561" name="Google Shape;3561;p190"/>
            <p:cNvSpPr txBox="1"/>
            <p:nvPr/>
          </p:nvSpPr>
          <p:spPr>
            <a:xfrm>
              <a:off x="12654050" y="4934204"/>
              <a:ext cx="1103086" cy="646331"/>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IC digital</a:t>
              </a:r>
              <a:endParaRPr/>
            </a:p>
          </p:txBody>
        </p:sp>
        <p:sp>
          <p:nvSpPr>
            <p:cNvPr id="3562" name="Google Shape;3562;p190"/>
            <p:cNvSpPr txBox="1"/>
            <p:nvPr/>
          </p:nvSpPr>
          <p:spPr>
            <a:xfrm>
              <a:off x="14164711" y="4320794"/>
              <a:ext cx="855361" cy="261610"/>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Phụ tải cuộn cảm</a:t>
              </a:r>
              <a:endParaRPr/>
            </a:p>
          </p:txBody>
        </p:sp>
        <p:sp>
          <p:nvSpPr>
            <p:cNvPr id="3563" name="Google Shape;3563;p190"/>
            <p:cNvSpPr txBox="1"/>
            <p:nvPr/>
          </p:nvSpPr>
          <p:spPr>
            <a:xfrm>
              <a:off x="15841339" y="4019114"/>
              <a:ext cx="1513515" cy="954107"/>
            </a:xfrm>
            <a:prstGeom prst="rect">
              <a:avLst/>
            </a:prstGeom>
            <a:solidFill>
              <a:schemeClr val="lt1"/>
            </a:solidFill>
            <a:ln>
              <a:noFill/>
            </a:ln>
          </p:spPr>
          <p:txBody>
            <a:bodyPr spcFirstLastPara="1" wrap="square" lIns="0" tIns="45700" rIns="0" bIns="45700" anchor="ctr" anchorCtr="0">
              <a:noAutofit/>
            </a:bodyPr>
            <a:lstStyle/>
            <a:p>
              <a:pPr marL="0" marR="0" lvl="0" indent="0" algn="l" rtl="0">
                <a:spcBef>
                  <a:spcPts val="0"/>
                </a:spcBef>
                <a:spcAft>
                  <a:spcPts val="0"/>
                </a:spcAft>
                <a:buNone/>
              </a:pPr>
              <a:r>
                <a:rPr lang="en-US" sz="1100">
                  <a:solidFill>
                    <a:srgbClr val="262626"/>
                  </a:solidFill>
                  <a:latin typeface="Arial"/>
                  <a:ea typeface="Arial"/>
                  <a:cs typeface="Arial"/>
                  <a:sym typeface="Arial"/>
                </a:rPr>
                <a:t>Bổ sung một điốt để hấp thụ lực phản điện động.</a:t>
              </a:r>
              <a:endParaRPr/>
            </a:p>
          </p:txBody>
        </p:sp>
      </p:grpSp>
      <p:pic>
        <p:nvPicPr>
          <p:cNvPr id="13313" name="Picture 1">
            <a:extLst>
              <a:ext uri="{FF2B5EF4-FFF2-40B4-BE49-F238E27FC236}">
                <a16:creationId xmlns:a16="http://schemas.microsoft.com/office/drawing/2014/main" id="{17A92D7F-427B-8E4E-8283-35A8EF8602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4100" y="3568700"/>
            <a:ext cx="4318000" cy="2374900"/>
          </a:xfrm>
          <a:prstGeom prst="rect">
            <a:avLst/>
          </a:prstGeom>
        </p:spPr>
      </p:pic>
      <p:sp>
        <p:nvSpPr>
          <p:cNvPr id="2" name="Google Shape;3457;p184">
            <a:extLst>
              <a:ext uri="{FF2B5EF4-FFF2-40B4-BE49-F238E27FC236}">
                <a16:creationId xmlns:a16="http://schemas.microsoft.com/office/drawing/2014/main" id="{8CC87372-5EC7-69B0-B1D3-650C1E1C0AB4}"/>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3568"/>
        <p:cNvGrpSpPr/>
        <p:nvPr/>
      </p:nvGrpSpPr>
      <p:grpSpPr>
        <a:xfrm>
          <a:off x="0" y="0"/>
          <a:ext cx="0" cy="0"/>
          <a:chOff x="0" y="0"/>
          <a:chExt cx="0" cy="0"/>
        </a:xfrm>
      </p:grpSpPr>
      <p:sp>
        <p:nvSpPr>
          <p:cNvPr id="3569" name="Google Shape;3569;p191"/>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Phương pháp chuyển đổi mức điện áp (mạch thực tế) </a:t>
            </a:r>
            <a:endParaRPr/>
          </a:p>
        </p:txBody>
      </p:sp>
      <p:sp>
        <p:nvSpPr>
          <p:cNvPr id="3571" name="Google Shape;3571;p191"/>
          <p:cNvSpPr/>
          <p:nvPr/>
        </p:nvSpPr>
        <p:spPr>
          <a:xfrm>
            <a:off x="580388" y="1944537"/>
            <a:ext cx="8619175" cy="86177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If the load driven by the transistor is a coil load such as a motor or relay, you should pay attention to the counter electromotive force. That is, when the current of the coil is turned on/off, a high voltage in the opposite direction is instantaneously generated across the coil. This is applied between the collector and emitter of the transistor and damages the transistor.</a:t>
            </a:r>
            <a:endParaRPr/>
          </a:p>
        </p:txBody>
      </p:sp>
      <p:grpSp>
        <p:nvGrpSpPr>
          <p:cNvPr id="3573" name="Google Shape;3573;p191"/>
          <p:cNvGrpSpPr/>
          <p:nvPr/>
        </p:nvGrpSpPr>
        <p:grpSpPr>
          <a:xfrm>
            <a:off x="906586" y="3196350"/>
            <a:ext cx="7584829" cy="2488738"/>
            <a:chOff x="873371" y="3043950"/>
            <a:chExt cx="7584829" cy="2488738"/>
          </a:xfrm>
        </p:grpSpPr>
        <p:pic>
          <p:nvPicPr>
            <p:cNvPr id="3574" name="Google Shape;3574;p191"/>
            <p:cNvPicPr preferRelativeResize="0"/>
            <p:nvPr/>
          </p:nvPicPr>
          <p:blipFill rotWithShape="1">
            <a:blip r:embed="rId3">
              <a:alphaModFix/>
            </a:blip>
            <a:srcRect/>
            <a:stretch/>
          </p:blipFill>
          <p:spPr>
            <a:xfrm>
              <a:off x="1752822" y="3043950"/>
              <a:ext cx="2613025" cy="1889125"/>
            </a:xfrm>
            <a:prstGeom prst="rect">
              <a:avLst/>
            </a:prstGeom>
            <a:noFill/>
            <a:ln>
              <a:noFill/>
            </a:ln>
          </p:spPr>
        </p:pic>
        <p:pic>
          <p:nvPicPr>
            <p:cNvPr id="3575" name="Google Shape;3575;p191"/>
            <p:cNvPicPr preferRelativeResize="0"/>
            <p:nvPr/>
          </p:nvPicPr>
          <p:blipFill rotWithShape="1">
            <a:blip r:embed="rId4">
              <a:alphaModFix/>
            </a:blip>
            <a:srcRect/>
            <a:stretch/>
          </p:blipFill>
          <p:spPr>
            <a:xfrm>
              <a:off x="5403277" y="3175711"/>
              <a:ext cx="2627313" cy="1925638"/>
            </a:xfrm>
            <a:prstGeom prst="rect">
              <a:avLst/>
            </a:prstGeom>
            <a:noFill/>
            <a:ln>
              <a:noFill/>
            </a:ln>
          </p:spPr>
        </p:pic>
        <p:pic>
          <p:nvPicPr>
            <p:cNvPr id="3576" name="Google Shape;3576;p191"/>
            <p:cNvPicPr preferRelativeResize="0"/>
            <p:nvPr/>
          </p:nvPicPr>
          <p:blipFill rotWithShape="1">
            <a:blip r:embed="rId5">
              <a:alphaModFix/>
            </a:blip>
            <a:srcRect/>
            <a:stretch/>
          </p:blipFill>
          <p:spPr>
            <a:xfrm>
              <a:off x="4203605" y="4667963"/>
              <a:ext cx="981075" cy="409575"/>
            </a:xfrm>
            <a:prstGeom prst="rect">
              <a:avLst/>
            </a:prstGeom>
            <a:noFill/>
            <a:ln>
              <a:noFill/>
            </a:ln>
          </p:spPr>
        </p:pic>
        <p:sp>
          <p:nvSpPr>
            <p:cNvPr id="3577" name="Google Shape;3577;p191"/>
            <p:cNvSpPr txBox="1"/>
            <p:nvPr/>
          </p:nvSpPr>
          <p:spPr>
            <a:xfrm>
              <a:off x="3641664" y="3703029"/>
              <a:ext cx="668208" cy="430887"/>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Mạch digital</a:t>
              </a:r>
              <a:endParaRPr/>
            </a:p>
          </p:txBody>
        </p:sp>
        <p:sp>
          <p:nvSpPr>
            <p:cNvPr id="3578" name="Google Shape;3578;p191"/>
            <p:cNvSpPr txBox="1"/>
            <p:nvPr/>
          </p:nvSpPr>
          <p:spPr>
            <a:xfrm>
              <a:off x="7282514" y="3881189"/>
              <a:ext cx="697150" cy="430887"/>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Mạch digital</a:t>
              </a:r>
              <a:endParaRPr/>
            </a:p>
          </p:txBody>
        </p:sp>
        <p:sp>
          <p:nvSpPr>
            <p:cNvPr id="3579" name="Google Shape;3579;p191"/>
            <p:cNvSpPr txBox="1"/>
            <p:nvPr/>
          </p:nvSpPr>
          <p:spPr>
            <a:xfrm>
              <a:off x="1674186" y="4053840"/>
              <a:ext cx="441126" cy="670561"/>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Cảm biến</a:t>
              </a:r>
              <a:endParaRPr/>
            </a:p>
          </p:txBody>
        </p:sp>
        <p:sp>
          <p:nvSpPr>
            <p:cNvPr id="3580" name="Google Shape;3580;p191"/>
            <p:cNvSpPr txBox="1"/>
            <p:nvPr/>
          </p:nvSpPr>
          <p:spPr>
            <a:xfrm>
              <a:off x="5290625" y="4006860"/>
              <a:ext cx="476191" cy="926215"/>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Cảm biến</a:t>
              </a:r>
              <a:endParaRPr/>
            </a:p>
          </p:txBody>
        </p:sp>
        <p:sp>
          <p:nvSpPr>
            <p:cNvPr id="3581" name="Google Shape;3581;p191"/>
            <p:cNvSpPr txBox="1"/>
            <p:nvPr/>
          </p:nvSpPr>
          <p:spPr>
            <a:xfrm>
              <a:off x="873371" y="5271078"/>
              <a:ext cx="3060454" cy="261610"/>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Khi đầu ra cảm biến trên 0,6 [V]</a:t>
              </a:r>
              <a:endParaRPr/>
            </a:p>
          </p:txBody>
        </p:sp>
        <p:sp>
          <p:nvSpPr>
            <p:cNvPr id="3582" name="Google Shape;3582;p191"/>
            <p:cNvSpPr txBox="1"/>
            <p:nvPr/>
          </p:nvSpPr>
          <p:spPr>
            <a:xfrm>
              <a:off x="5397746" y="5271078"/>
              <a:ext cx="3060454" cy="261610"/>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Khi đầu ra cảm biến dưới 0,6 [V]</a:t>
              </a:r>
              <a:endParaRPr/>
            </a:p>
          </p:txBody>
        </p:sp>
      </p:grpSp>
      <p:sp>
        <p:nvSpPr>
          <p:cNvPr id="2" name="Google Shape;3457;p184">
            <a:extLst>
              <a:ext uri="{FF2B5EF4-FFF2-40B4-BE49-F238E27FC236}">
                <a16:creationId xmlns:a16="http://schemas.microsoft.com/office/drawing/2014/main" id="{326A4FF5-A432-4A05-6302-5C040E3A9A9F}"/>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3587"/>
        <p:cNvGrpSpPr/>
        <p:nvPr/>
      </p:nvGrpSpPr>
      <p:grpSpPr>
        <a:xfrm>
          <a:off x="0" y="0"/>
          <a:ext cx="0" cy="0"/>
          <a:chOff x="0" y="0"/>
          <a:chExt cx="0" cy="0"/>
        </a:xfrm>
      </p:grpSpPr>
      <p:sp>
        <p:nvSpPr>
          <p:cNvPr id="3588" name="Google Shape;3588;p192"/>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Hướng dẫn trong Mạch analog</a:t>
            </a:r>
            <a:endParaRPr/>
          </a:p>
        </p:txBody>
      </p:sp>
      <p:sp>
        <p:nvSpPr>
          <p:cNvPr id="3590" name="Google Shape;3590;p192"/>
          <p:cNvSpPr/>
          <p:nvPr/>
        </p:nvSpPr>
        <p:spPr>
          <a:xfrm>
            <a:off x="580388" y="1944537"/>
            <a:ext cx="8619175" cy="1066959"/>
          </a:xfrm>
          <a:prstGeom prst="rect">
            <a:avLst/>
          </a:prstGeom>
          <a:blipFill rotWithShape="1">
            <a:blip r:embed="rId3">
              <a:alphaModFix/>
            </a:blip>
            <a:stretch>
              <a:fillRect l="-14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591" name="Google Shape;3591;p192"/>
          <p:cNvSpPr/>
          <p:nvPr/>
        </p:nvSpPr>
        <p:spPr>
          <a:xfrm>
            <a:off x="712182" y="5008451"/>
            <a:ext cx="8487381" cy="745536"/>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b="1">
                <a:solidFill>
                  <a:schemeClr val="dk1"/>
                </a:solidFill>
                <a:latin typeface="Arial"/>
                <a:ea typeface="Arial"/>
                <a:cs typeface="Arial"/>
                <a:sym typeface="Arial"/>
              </a:rPr>
              <a:t>Xác định điện trở của cực góp</a:t>
            </a:r>
            <a:br>
              <a:rPr lang="en-US" sz="1300" b="1">
                <a:solidFill>
                  <a:schemeClr val="dk1"/>
                </a:solidFill>
                <a:latin typeface="Arial"/>
                <a:ea typeface="Arial"/>
                <a:cs typeface="Arial"/>
                <a:sym typeface="Arial"/>
              </a:rPr>
            </a:br>
            <a:r>
              <a:rPr lang="en-US" sz="1300">
                <a:solidFill>
                  <a:srgbClr val="262626"/>
                </a:solidFill>
                <a:latin typeface="Arial"/>
                <a:ea typeface="Arial"/>
                <a:cs typeface="Arial"/>
                <a:sym typeface="Arial"/>
              </a:rPr>
              <a:t>RC khiến điện áp đầu ra bằng một nửa điện áp nguồn khi không có tín hiệu. Ví dụ, nếu VCC= 5 [V] và IC= 2 [mA] RC = 1,25 k = khoảng  1 k)</a:t>
            </a:r>
            <a:endParaRPr/>
          </a:p>
        </p:txBody>
      </p:sp>
      <p:sp>
        <p:nvSpPr>
          <p:cNvPr id="3592" name="Google Shape;3592;p192"/>
          <p:cNvSpPr txBox="1"/>
          <p:nvPr/>
        </p:nvSpPr>
        <p:spPr>
          <a:xfrm>
            <a:off x="4039776" y="5609133"/>
            <a:ext cx="1823274" cy="576376"/>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nvGrpSpPr>
          <p:cNvPr id="3594" name="Google Shape;3594;p192"/>
          <p:cNvGrpSpPr/>
          <p:nvPr/>
        </p:nvGrpSpPr>
        <p:grpSpPr>
          <a:xfrm>
            <a:off x="3552517" y="2721548"/>
            <a:ext cx="2504402" cy="1414904"/>
            <a:chOff x="4949951" y="2659159"/>
            <a:chExt cx="3296014" cy="1862138"/>
          </a:xfrm>
        </p:grpSpPr>
        <p:pic>
          <p:nvPicPr>
            <p:cNvPr id="3595" name="Google Shape;3595;p192"/>
            <p:cNvPicPr preferRelativeResize="0"/>
            <p:nvPr/>
          </p:nvPicPr>
          <p:blipFill rotWithShape="1">
            <a:blip r:embed="rId5">
              <a:alphaModFix/>
            </a:blip>
            <a:srcRect/>
            <a:stretch/>
          </p:blipFill>
          <p:spPr>
            <a:xfrm>
              <a:off x="4969365" y="2659159"/>
              <a:ext cx="3276600" cy="1862138"/>
            </a:xfrm>
            <a:prstGeom prst="rect">
              <a:avLst/>
            </a:prstGeom>
            <a:noFill/>
            <a:ln>
              <a:noFill/>
            </a:ln>
          </p:spPr>
        </p:pic>
        <p:sp>
          <p:nvSpPr>
            <p:cNvPr id="3596" name="Google Shape;3596;p192"/>
            <p:cNvSpPr/>
            <p:nvPr/>
          </p:nvSpPr>
          <p:spPr>
            <a:xfrm>
              <a:off x="4949951" y="3626009"/>
              <a:ext cx="492263" cy="336550"/>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Đầu vào</a:t>
              </a:r>
              <a:endParaRPr/>
            </a:p>
          </p:txBody>
        </p:sp>
        <p:sp>
          <p:nvSpPr>
            <p:cNvPr id="3597" name="Google Shape;3597;p192"/>
            <p:cNvSpPr/>
            <p:nvPr/>
          </p:nvSpPr>
          <p:spPr>
            <a:xfrm>
              <a:off x="7473696" y="3430330"/>
              <a:ext cx="707136" cy="280610"/>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900">
                  <a:solidFill>
                    <a:srgbClr val="262626"/>
                  </a:solidFill>
                  <a:latin typeface="Arial"/>
                  <a:ea typeface="Arial"/>
                  <a:cs typeface="Arial"/>
                  <a:sym typeface="Arial"/>
                </a:rPr>
                <a:t>Bộ chuyển đổi</a:t>
              </a:r>
              <a:endParaRPr/>
            </a:p>
          </p:txBody>
        </p:sp>
      </p:grpSp>
      <p:pic>
        <p:nvPicPr>
          <p:cNvPr id="3598" name="Google Shape;3598;p192"/>
          <p:cNvPicPr preferRelativeResize="0"/>
          <p:nvPr/>
        </p:nvPicPr>
        <p:blipFill rotWithShape="1">
          <a:blip r:embed="rId6">
            <a:alphaModFix/>
          </a:blip>
          <a:srcRect/>
          <a:stretch/>
        </p:blipFill>
        <p:spPr>
          <a:xfrm>
            <a:off x="3040150" y="4229103"/>
            <a:ext cx="3822523" cy="262151"/>
          </a:xfrm>
          <a:prstGeom prst="rect">
            <a:avLst/>
          </a:prstGeom>
          <a:noFill/>
          <a:ln>
            <a:noFill/>
          </a:ln>
        </p:spPr>
      </p:pic>
      <p:sp>
        <p:nvSpPr>
          <p:cNvPr id="2" name="Google Shape;3457;p184">
            <a:extLst>
              <a:ext uri="{FF2B5EF4-FFF2-40B4-BE49-F238E27FC236}">
                <a16:creationId xmlns:a16="http://schemas.microsoft.com/office/drawing/2014/main" id="{16BDDFAD-28AF-0F22-1FAD-40DB4C63834F}"/>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32E4E54E-F85D-483F-BFE5-DAFB483554D3}"/>
              </a:ext>
            </a:extLst>
          </p:cNvPr>
          <p:cNvSpPr/>
          <p:nvPr/>
        </p:nvSpPr>
        <p:spPr>
          <a:xfrm>
            <a:off x="712182" y="1751850"/>
            <a:ext cx="8487381" cy="848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Khi khuếch đại tín hiệu AC, tụ ghép phải độc lập với điện áp DC. Ngoài ra, tần số tối thiểu fc của tín hiệu đầu vào phải có trở kháng đủ không đáng kể </a:t>
            </a:r>
          </a:p>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Trở kháng đầu vào </a:t>
            </a:r>
            <a:r>
              <a:rPr lang="en-US" altLang="ko-KR" sz="1300" i="1" dirty="0">
                <a:solidFill>
                  <a:schemeClr val="tx1">
                    <a:lumMod val="85000"/>
                    <a:lumOff val="15000"/>
                  </a:schemeClr>
                </a:solidFill>
                <a:latin typeface="SamsungOne-400" panose="020B0503030303020204" pitchFamily="34" charset="0"/>
                <a:ea typeface="SamsungOne-400" panose="020B0503030303020204" pitchFamily="34" charset="0"/>
              </a:rPr>
              <a:t>R</a:t>
            </a:r>
            <a:r>
              <a:rPr lang="en-US" altLang="ko-KR" sz="1300" i="1" baseline="-25000" dirty="0">
                <a:solidFill>
                  <a:schemeClr val="tx1">
                    <a:lumMod val="85000"/>
                    <a:lumOff val="15000"/>
                  </a:schemeClr>
                </a:solidFill>
                <a:latin typeface="SamsungOne-400" panose="020B0503030303020204" pitchFamily="34" charset="0"/>
                <a:ea typeface="SamsungOne-400" panose="020B0503030303020204" pitchFamily="34" charset="0"/>
              </a:rPr>
              <a:t>in</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a:t>
            </a:r>
            <a:r>
              <a:rPr lang="en-US" altLang="ko-KR" sz="1300" i="1" dirty="0">
                <a:solidFill>
                  <a:schemeClr val="tx1">
                    <a:lumMod val="85000"/>
                    <a:lumOff val="15000"/>
                  </a:schemeClr>
                </a:solidFill>
                <a:latin typeface="SamsungOne-400" panose="020B0503030303020204" pitchFamily="34" charset="0"/>
                <a:ea typeface="SamsungOne-400" panose="020B0503030303020204" pitchFamily="34" charset="0"/>
              </a:rPr>
              <a:t>R</a:t>
            </a:r>
            <a:r>
              <a:rPr lang="en-US" altLang="ko-KR" sz="1300" baseline="-25000" dirty="0">
                <a:solidFill>
                  <a:schemeClr val="tx1">
                    <a:lumMod val="85000"/>
                    <a:lumOff val="15000"/>
                  </a:schemeClr>
                </a:solidFill>
                <a:latin typeface="SamsungOne-400" panose="020B0503030303020204" pitchFamily="34" charset="0"/>
                <a:ea typeface="SamsungOne-400" panose="020B0503030303020204" pitchFamily="34" charset="0"/>
              </a:rPr>
              <a:t>1</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a:t>
            </a:r>
            <a:r>
              <a:rPr lang="en-US" altLang="ko-KR" sz="1300" i="1" dirty="0">
                <a:solidFill>
                  <a:schemeClr val="tx1">
                    <a:lumMod val="85000"/>
                    <a:lumOff val="15000"/>
                  </a:schemeClr>
                </a:solidFill>
                <a:latin typeface="SamsungOne-400" panose="020B0503030303020204" pitchFamily="34" charset="0"/>
                <a:ea typeface="SamsungOne-400" panose="020B0503030303020204" pitchFamily="34" charset="0"/>
              </a:rPr>
              <a:t>R</a:t>
            </a:r>
            <a:r>
              <a:rPr lang="en-US" altLang="ko-KR" sz="1300" baseline="-25000" dirty="0">
                <a:solidFill>
                  <a:schemeClr val="tx1">
                    <a:lumMod val="85000"/>
                    <a:lumOff val="15000"/>
                  </a:schemeClr>
                </a:solidFill>
                <a:latin typeface="SamsungOne-400" panose="020B0503030303020204" pitchFamily="34" charset="0"/>
                <a:ea typeface="SamsungOne-400" panose="020B0503030303020204" pitchFamily="34" charset="0"/>
              </a:rPr>
              <a:t>2</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 Ví dụ, nếu </a:t>
            </a:r>
            <a:r>
              <a:rPr lang="en-US" altLang="ko-KR" sz="1300" i="1" dirty="0">
                <a:solidFill>
                  <a:schemeClr val="tx1">
                    <a:lumMod val="85000"/>
                    <a:lumOff val="15000"/>
                  </a:schemeClr>
                </a:solidFill>
                <a:latin typeface="SamsungOne-400" panose="020B0503030303020204" pitchFamily="34" charset="0"/>
                <a:ea typeface="SamsungOne-400" panose="020B0503030303020204" pitchFamily="34" charset="0"/>
              </a:rPr>
              <a:t>f</a:t>
            </a:r>
            <a:r>
              <a:rPr lang="en-US" altLang="ko-KR" sz="1300" i="1" baseline="-25000" dirty="0">
                <a:solidFill>
                  <a:schemeClr val="tx1">
                    <a:lumMod val="85000"/>
                    <a:lumOff val="15000"/>
                  </a:schemeClr>
                </a:solidFill>
                <a:latin typeface="SamsungOne-400" panose="020B0503030303020204" pitchFamily="34" charset="0"/>
                <a:ea typeface="SamsungOne-400" panose="020B0503030303020204" pitchFamily="34" charset="0"/>
              </a:rPr>
              <a:t>c</a:t>
            </a:r>
            <a:r>
              <a:rPr lang="ko-KR" altLang="en-US" sz="1300" dirty="0">
                <a:solidFill>
                  <a:schemeClr val="tx1">
                    <a:lumMod val="85000"/>
                    <a:lumOff val="15000"/>
                  </a:schemeClr>
                </a:solidFill>
                <a:latin typeface="SamsungOne-400" panose="020B0503030303020204" pitchFamily="34" charset="0"/>
                <a:ea typeface="KoPub돋움체 Bold" panose="02020603020101020101" pitchFamily="18" charset="-127"/>
              </a:rPr>
              <a:t> </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=20Hz, </a:t>
            </a:r>
            <a:r>
              <a:rPr lang="en-US" altLang="ko-KR" sz="1300" i="1" dirty="0" err="1">
                <a:solidFill>
                  <a:schemeClr val="tx1">
                    <a:lumMod val="85000"/>
                    <a:lumOff val="15000"/>
                  </a:schemeClr>
                </a:solidFill>
                <a:latin typeface="SamsungOne-400" panose="020B0503030303020204" pitchFamily="34" charset="0"/>
                <a:ea typeface="SamsungOne-400" panose="020B0503030303020204" pitchFamily="34" charset="0"/>
              </a:rPr>
              <a:t>C</a:t>
            </a:r>
            <a:r>
              <a:rPr lang="en-US" altLang="ko-KR" sz="1300" i="1" baseline="-25000" dirty="0" err="1">
                <a:solidFill>
                  <a:schemeClr val="tx1">
                    <a:lumMod val="85000"/>
                    <a:lumOff val="15000"/>
                  </a:schemeClr>
                </a:solidFill>
                <a:latin typeface="SamsungOne-400" panose="020B0503030303020204" pitchFamily="34" charset="0"/>
                <a:ea typeface="SamsungOne-400" panose="020B0503030303020204" pitchFamily="34" charset="0"/>
              </a:rPr>
              <a:t>in</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&gt;2</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sym typeface="Symbol" pitchFamily="18" charset="2"/>
              </a:rPr>
              <a:t>F</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 nên sẽ sử dung trong khoảng 4.7</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sym typeface="Symbol" pitchFamily="18" charset="2"/>
              </a:rPr>
              <a:t>F</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CD08A5E7-4488-46D4-9257-0EF03363BF92}"/>
                  </a:ext>
                </a:extLst>
              </p:cNvPr>
              <p:cNvSpPr/>
              <p:nvPr/>
            </p:nvSpPr>
            <p:spPr>
              <a:xfrm>
                <a:off x="580388" y="1521738"/>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pPr>
                <a:r>
                  <a:rPr lang="en-US" altLang="ko-KR" sz="1400" dirty="0">
                    <a:solidFill>
                      <a:schemeClr val="tx1"/>
                    </a:solidFill>
                    <a:latin typeface="SamsungOne-400" panose="020B0503030303020204" pitchFamily="34" charset="0"/>
                    <a:ea typeface="SamsungOne-400" panose="020B0503030303020204" pitchFamily="34" charset="0"/>
                  </a:rPr>
                  <a:t> Xác định dung lượng tụ ghép (</a:t>
                </a:r>
                <a14:m>
                  <m:oMath xmlns:m="http://schemas.openxmlformats.org/officeDocument/2006/math">
                    <m:sSub>
                      <m:sSubPr>
                        <m:ctrlPr>
                          <a:rPr lang="en-US" altLang="ko-KR" sz="1400" i="1" smtClean="0">
                            <a:solidFill>
                              <a:schemeClr val="tx1"/>
                            </a:solidFill>
                            <a:latin typeface="Cambria Math" panose="02040503050406030204" pitchFamily="18" charset="0"/>
                          </a:rPr>
                        </m:ctrlPr>
                      </m:sSubPr>
                      <m:e>
                        <m:r>
                          <a:rPr lang="en-US" altLang="ko-KR" sz="1400" i="1" smtClean="0">
                            <a:solidFill>
                              <a:schemeClr val="tx1"/>
                            </a:solidFill>
                            <a:latin typeface="Cambria Math" panose="02040503050406030204" pitchFamily="18" charset="0"/>
                          </a:rPr>
                          <m:t>𝐶</m:t>
                        </m:r>
                      </m:e>
                      <m:sub>
                        <m:r>
                          <a:rPr lang="en-US" altLang="ko-KR" sz="1400" i="1" smtClean="0">
                            <a:solidFill>
                              <a:schemeClr val="tx1"/>
                            </a:solidFill>
                            <a:latin typeface="Cambria Math" panose="02040503050406030204" pitchFamily="18" charset="0"/>
                          </a:rPr>
                          <m:t>𝑖𝑛</m:t>
                        </m:r>
                      </m:sub>
                    </m:sSub>
                  </m:oMath>
                </a14:m>
                <a:r>
                  <a:rPr lang="en-US" altLang="ko-KR" sz="1400" dirty="0">
                    <a:solidFill>
                      <a:schemeClr val="tx1"/>
                    </a:solidFill>
                    <a:latin typeface="SamsungOne-400" panose="020B0503030303020204" pitchFamily="34" charset="0"/>
                    <a:ea typeface="SamsungOne-400" panose="020B0503030303020204" pitchFamily="34" charset="0"/>
                  </a:rPr>
                  <a:t>)</a:t>
                </a:r>
              </a:p>
            </p:txBody>
          </p:sp>
        </mc:Choice>
        <mc:Fallback xmlns="">
          <p:sp>
            <p:nvSpPr>
              <p:cNvPr id="12" name="직사각형 11">
                <a:extLst>
                  <a:ext uri="{FF2B5EF4-FFF2-40B4-BE49-F238E27FC236}">
                    <a16:creationId xmlns:a16="http://schemas.microsoft.com/office/drawing/2014/main" id="{CD08A5E7-4488-46D4-9257-0EF03363BF92}"/>
                  </a:ext>
                </a:extLst>
              </p:cNvPr>
              <p:cNvSpPr>
                <a:spLocks noRot="1" noChangeAspect="1" noMove="1" noResize="1" noEditPoints="1" noAdjustHandles="1" noChangeArrowheads="1" noChangeShapeType="1" noTextEdit="1"/>
              </p:cNvSpPr>
              <p:nvPr/>
            </p:nvSpPr>
            <p:spPr>
              <a:xfrm>
                <a:off x="580388" y="1521738"/>
                <a:ext cx="8619175" cy="215444"/>
              </a:xfrm>
              <a:prstGeom prst="rect">
                <a:avLst/>
              </a:prstGeom>
              <a:blipFill>
                <a:blip r:embed="rId4"/>
                <a:stretch>
                  <a:fillRect l="-141" b="-285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6">
                <a:extLst>
                  <a:ext uri="{FF2B5EF4-FFF2-40B4-BE49-F238E27FC236}">
                    <a16:creationId xmlns:a16="http://schemas.microsoft.com/office/drawing/2014/main" id="{1F8AA63D-8509-4728-B67E-D852D364C3E8}"/>
                  </a:ext>
                </a:extLst>
              </p:cNvPr>
              <p:cNvSpPr txBox="1"/>
              <p:nvPr/>
            </p:nvSpPr>
            <p:spPr bwMode="auto">
              <a:xfrm>
                <a:off x="4137661" y="2713319"/>
                <a:ext cx="1627504" cy="596510"/>
              </a:xfrm>
              <a:prstGeom prst="rect">
                <a:avLst/>
              </a:prstGeom>
              <a:solidFill>
                <a:srgbClr val="F2F2F2"/>
              </a:solidFill>
            </p:spPr>
            <p:txBody>
              <a:bodyPr wrap="none" lIns="0" rIns="0" rtlCol="0" anchor="ctr">
                <a:noAutofit/>
                <a:scene3d>
                  <a:camera prst="orthographicFront"/>
                  <a:lightRig rig="threePt" dir="t"/>
                </a:scene3d>
                <a:sp3d>
                  <a:bevelT w="0" h="6350"/>
                  <a:bevelB w="0" h="0"/>
                </a:sp3d>
              </a:bodyPr>
              <a:lstStyle>
                <a:defPPr>
                  <a:defRPr lang="en-US"/>
                </a:defPPr>
                <a:lvl1pPr lvl="0">
                  <a:defRPr sz="1300" i="1">
                    <a:solidFill>
                      <a:srgbClr val="000000"/>
                    </a:solidFill>
                    <a:latin typeface="Cambria Math" panose="02040503050406030204" pitchFamily="18" charset="0"/>
                    <a:ea typeface="SamsungOne-400" panose="020B0503030303020204" pitchFamily="34" charset="0"/>
                  </a:defRPr>
                </a:lvl1pPr>
              </a:lstStyle>
              <a:p>
                <a:pPr/>
                <a14:m>
                  <m:oMathPara xmlns:m="http://schemas.openxmlformats.org/officeDocument/2006/math">
                    <m:oMathParaPr>
                      <m:jc m:val="center"/>
                    </m:oMathParaPr>
                    <m:oMath xmlns:m="http://schemas.openxmlformats.org/officeDocument/2006/math">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𝑓</m:t>
                          </m:r>
                        </m:e>
                        <m:sub>
                          <m:r>
                            <a:rPr lang="ko-KR" altLang="en-US" sz="1600">
                              <a:latin typeface="Cambria Math" panose="02040503050406030204" pitchFamily="18" charset="0"/>
                            </a:rPr>
                            <m:t>𝑐</m:t>
                          </m:r>
                        </m:sub>
                      </m:sSub>
                      <m:r>
                        <a:rPr lang="ko-KR" altLang="en-US" sz="1600">
                          <a:latin typeface="Cambria Math" panose="02040503050406030204" pitchFamily="18" charset="0"/>
                        </a:rPr>
                        <m:t>&gt;</m:t>
                      </m:r>
                      <m:f>
                        <m:fPr>
                          <m:ctrlPr>
                            <a:rPr lang="ko-KR" altLang="en-US" sz="1600" i="1">
                              <a:latin typeface="Cambria Math" panose="02040503050406030204" pitchFamily="18" charset="0"/>
                            </a:rPr>
                          </m:ctrlPr>
                        </m:fPr>
                        <m:num>
                          <m:r>
                            <a:rPr lang="ko-KR" altLang="en-US" sz="1600">
                              <a:latin typeface="Cambria Math" panose="02040503050406030204" pitchFamily="18" charset="0"/>
                            </a:rPr>
                            <m:t>1</m:t>
                          </m:r>
                        </m:num>
                        <m:den>
                          <m:r>
                            <a:rPr lang="ko-KR" altLang="en-US" sz="1600">
                              <a:latin typeface="Cambria Math" panose="02040503050406030204" pitchFamily="18" charset="0"/>
                            </a:rPr>
                            <m:t>2</m:t>
                          </m:r>
                          <m:r>
                            <a:rPr lang="ko-KR" altLang="en-US" sz="1600">
                              <a:latin typeface="Cambria Math" panose="02040503050406030204" pitchFamily="18" charset="0"/>
                            </a:rPr>
                            <m:t>𝜋</m:t>
                          </m:r>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𝑅</m:t>
                              </m:r>
                            </m:e>
                            <m:sub>
                              <m:r>
                                <a:rPr lang="ko-KR" altLang="en-US" sz="1600">
                                  <a:latin typeface="Cambria Math" panose="02040503050406030204" pitchFamily="18" charset="0"/>
                                </a:rPr>
                                <m:t>𝑖𝑛</m:t>
                              </m:r>
                            </m:sub>
                          </m:sSub>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𝐶</m:t>
                              </m:r>
                            </m:e>
                            <m:sub>
                              <m:r>
                                <a:rPr lang="ko-KR" altLang="en-US" sz="1600">
                                  <a:latin typeface="Cambria Math" panose="02040503050406030204" pitchFamily="18" charset="0"/>
                                </a:rPr>
                                <m:t>𝑖𝑛</m:t>
                              </m:r>
                            </m:sub>
                          </m:sSub>
                        </m:den>
                      </m:f>
                    </m:oMath>
                  </m:oMathPara>
                </a14:m>
                <a:endParaRPr lang="ko-KR" altLang="en-US" sz="1600" dirty="0"/>
              </a:p>
            </p:txBody>
          </p:sp>
        </mc:Choice>
        <mc:Fallback xmlns="">
          <p:sp>
            <p:nvSpPr>
              <p:cNvPr id="13" name="Object 6">
                <a:extLst>
                  <a:ext uri="{FF2B5EF4-FFF2-40B4-BE49-F238E27FC236}">
                    <a16:creationId xmlns:a16="http://schemas.microsoft.com/office/drawing/2014/main" xmlns="" xmlns:a14="http://schemas.microsoft.com/office/drawing/2010/main" id="{1F8AA63D-8509-4728-B67E-D852D364C3E8}"/>
                  </a:ext>
                </a:extLst>
              </p:cNvPr>
              <p:cNvSpPr txBox="1">
                <a:spLocks noRot="1" noChangeAspect="1" noMove="1" noResize="1" noEditPoints="1" noAdjustHandles="1" noChangeArrowheads="1" noChangeShapeType="1" noTextEdit="1"/>
              </p:cNvSpPr>
              <p:nvPr/>
            </p:nvSpPr>
            <p:spPr bwMode="auto">
              <a:xfrm>
                <a:off x="4137661" y="2713319"/>
                <a:ext cx="1627504" cy="596510"/>
              </a:xfrm>
              <a:prstGeom prst="rect">
                <a:avLst/>
              </a:prstGeom>
              <a:blipFill rotWithShape="0">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3" name="Object 8">
                <a:extLst>
                  <a:ext uri="{FF2B5EF4-FFF2-40B4-BE49-F238E27FC236}">
                    <a16:creationId xmlns:a16="http://schemas.microsoft.com/office/drawing/2014/main" id="{F01F2EF2-86F3-402C-931B-6E7A9C91CA12}"/>
                  </a:ext>
                </a:extLst>
              </p:cNvPr>
              <p:cNvSpPr txBox="1"/>
              <p:nvPr/>
            </p:nvSpPr>
            <p:spPr bwMode="auto">
              <a:xfrm>
                <a:off x="4137661" y="4232834"/>
                <a:ext cx="1627504" cy="659585"/>
              </a:xfrm>
              <a:prstGeom prst="rect">
                <a:avLst/>
              </a:prstGeom>
              <a:solidFill>
                <a:srgbClr val="F2F2F2"/>
              </a:solidFill>
            </p:spPr>
            <p:txBody>
              <a:bodyPr wrap="none" lIns="0" rIns="0" rtlCol="0" anchor="ctr">
                <a:noAutofit/>
                <a:scene3d>
                  <a:camera prst="orthographicFront"/>
                  <a:lightRig rig="threePt" dir="t"/>
                </a:scene3d>
                <a:sp3d>
                  <a:bevelT w="0" h="6350"/>
                  <a:bevelB w="0" h="0"/>
                </a:sp3d>
              </a:bodyPr>
              <a:lstStyle>
                <a:defPPr>
                  <a:defRPr lang="ko-KR"/>
                </a:defPPr>
                <a:lvl1pPr lvl="0">
                  <a:defRPr sz="1600" i="1">
                    <a:solidFill>
                      <a:srgbClr val="000000"/>
                    </a:solidFill>
                    <a:latin typeface="Cambria Math" panose="02040503050406030204" pitchFamily="18" charset="0"/>
                    <a:ea typeface="SamsungOne-400" panose="020B05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ko-KR" altLang="en-US" i="1">
                              <a:latin typeface="Cambria Math" panose="02040503050406030204" pitchFamily="18" charset="0"/>
                            </a:rPr>
                          </m:ctrlPr>
                        </m:sSubPr>
                        <m:e>
                          <m:r>
                            <a:rPr lang="ko-KR" altLang="en-US">
                              <a:latin typeface="Cambria Math" panose="02040503050406030204" pitchFamily="18" charset="0"/>
                            </a:rPr>
                            <m:t>𝐶</m:t>
                          </m:r>
                        </m:e>
                        <m:sub>
                          <m:r>
                            <a:rPr lang="ko-KR" altLang="en-US">
                              <a:latin typeface="Cambria Math" panose="02040503050406030204" pitchFamily="18" charset="0"/>
                            </a:rPr>
                            <m:t>𝑒</m:t>
                          </m:r>
                        </m:sub>
                      </m:sSub>
                      <m:r>
                        <a:rPr lang="ko-KR" altLang="en-US">
                          <a:latin typeface="Cambria Math" panose="02040503050406030204" pitchFamily="18" charset="0"/>
                        </a:rPr>
                        <m:t>&gt;</m:t>
                      </m:r>
                      <m:f>
                        <m:fPr>
                          <m:ctrlPr>
                            <a:rPr lang="ko-KR" altLang="en-US" i="1">
                              <a:latin typeface="Cambria Math" panose="02040503050406030204" pitchFamily="18" charset="0"/>
                            </a:rPr>
                          </m:ctrlPr>
                        </m:fPr>
                        <m:num>
                          <m:r>
                            <a:rPr lang="ko-KR" altLang="en-US">
                              <a:latin typeface="Cambria Math" panose="02040503050406030204" pitchFamily="18" charset="0"/>
                            </a:rPr>
                            <m:t>1</m:t>
                          </m:r>
                        </m:num>
                        <m:den>
                          <m:r>
                            <a:rPr lang="ko-KR" altLang="en-US">
                              <a:latin typeface="Cambria Math" panose="02040503050406030204" pitchFamily="18" charset="0"/>
                            </a:rPr>
                            <m:t>2</m:t>
                          </m:r>
                          <m:r>
                            <a:rPr lang="ko-KR" altLang="en-US">
                              <a:latin typeface="Cambria Math" panose="02040503050406030204" pitchFamily="18" charset="0"/>
                            </a:rPr>
                            <m:t>𝜋</m:t>
                          </m:r>
                          <m:sSub>
                            <m:sSubPr>
                              <m:ctrlPr>
                                <a:rPr lang="ko-KR" altLang="en-US" i="1">
                                  <a:latin typeface="Cambria Math" panose="02040503050406030204" pitchFamily="18" charset="0"/>
                                </a:rPr>
                              </m:ctrlPr>
                            </m:sSubPr>
                            <m:e>
                              <m:r>
                                <a:rPr lang="ko-KR" altLang="en-US">
                                  <a:latin typeface="Cambria Math" panose="02040503050406030204" pitchFamily="18" charset="0"/>
                                </a:rPr>
                                <m:t>𝑓</m:t>
                              </m:r>
                            </m:e>
                            <m:sub>
                              <m:r>
                                <a:rPr lang="ko-KR" altLang="en-US">
                                  <a:latin typeface="Cambria Math" panose="02040503050406030204" pitchFamily="18" charset="0"/>
                                </a:rPr>
                                <m:t>𝑐</m:t>
                              </m:r>
                            </m:sub>
                          </m:sSub>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𝑒</m:t>
                              </m:r>
                            </m:sub>
                          </m:sSub>
                        </m:den>
                      </m:f>
                    </m:oMath>
                  </m:oMathPara>
                </a14:m>
                <a:endParaRPr lang="ko-KR" altLang="en-US" dirty="0"/>
              </a:p>
            </p:txBody>
          </p:sp>
        </mc:Choice>
        <mc:Fallback xmlns="">
          <p:sp>
            <p:nvSpPr>
              <p:cNvPr id="23" name="Object 8">
                <a:extLst>
                  <a:ext uri="{FF2B5EF4-FFF2-40B4-BE49-F238E27FC236}">
                    <a16:creationId xmlns:a16="http://schemas.microsoft.com/office/drawing/2014/main" xmlns="" xmlns:a14="http://schemas.microsoft.com/office/drawing/2010/main" id="{F01F2EF2-86F3-402C-931B-6E7A9C91CA12}"/>
                  </a:ext>
                </a:extLst>
              </p:cNvPr>
              <p:cNvSpPr txBox="1">
                <a:spLocks noRot="1" noChangeAspect="1" noMove="1" noResize="1" noEditPoints="1" noAdjustHandles="1" noChangeArrowheads="1" noChangeShapeType="1" noTextEdit="1"/>
              </p:cNvSpPr>
              <p:nvPr/>
            </p:nvSpPr>
            <p:spPr bwMode="auto">
              <a:xfrm>
                <a:off x="4137661" y="4232834"/>
                <a:ext cx="1627504" cy="659585"/>
              </a:xfrm>
              <a:prstGeom prst="rect">
                <a:avLst/>
              </a:prstGeom>
              <a:blipFill rotWithShape="0">
                <a:blip r:embed="rId6"/>
                <a:stretch>
                  <a:fillRect/>
                </a:stretch>
              </a:blipFill>
            </p:spPr>
            <p:txBody>
              <a:bodyPr/>
              <a:lstStyle/>
              <a:p>
                <a:r>
                  <a:rPr lang="ko-KR" altLang="en-US">
                    <a:noFill/>
                  </a:rPr>
                  <a:t> </a:t>
                </a:r>
              </a:p>
            </p:txBody>
          </p:sp>
        </mc:Fallback>
      </mc:AlternateContent>
      <p:sp>
        <p:nvSpPr>
          <p:cNvPr id="24" name="Text Box 10">
            <a:extLst>
              <a:ext uri="{FF2B5EF4-FFF2-40B4-BE49-F238E27FC236}">
                <a16:creationId xmlns:a16="http://schemas.microsoft.com/office/drawing/2014/main" id="{B054A452-2911-4BBA-8A71-7CD080605E50}"/>
              </a:ext>
            </a:extLst>
          </p:cNvPr>
          <p:cNvSpPr txBox="1">
            <a:spLocks noChangeArrowheads="1"/>
          </p:cNvSpPr>
          <p:nvPr/>
        </p:nvSpPr>
        <p:spPr bwMode="auto">
          <a:xfrm>
            <a:off x="710023" y="5031956"/>
            <a:ext cx="8487381" cy="360850"/>
          </a:xfrm>
          <a:prstGeom prst="rect">
            <a:avLst/>
          </a:prstGeom>
          <a:solidFill>
            <a:srgbClr val="ECEFF6"/>
          </a:solidFill>
          <a:ln>
            <a:solidFill>
              <a:schemeClr val="bg1">
                <a:lumMod val="85000"/>
              </a:schemeClr>
            </a:solidFill>
          </a:ln>
        </p:spPr>
        <p:txBody>
          <a:bodyPr wrap="square" lIns="180000" tIns="72000" rIns="180000" bIns="72000">
            <a:spAutoFit/>
            <a:scene3d>
              <a:camera prst="orthographicFront"/>
              <a:lightRig rig="threePt" dir="t"/>
            </a:scene3d>
            <a:sp3d>
              <a:bevelT w="0" h="6350"/>
            </a:sp3d>
          </a:bodyPr>
          <a:lstStyle>
            <a:defPPr>
              <a:defRPr lang="ko-KR"/>
            </a:defPPr>
            <a:lvl1pPr algn="just">
              <a:spcAft>
                <a:spcPts val="0"/>
              </a:spcAft>
              <a:defRPr sz="1300">
                <a:latin typeface="SamsungOne-400" panose="020B0503030303020204" pitchFamily="34" charset="0"/>
                <a:ea typeface="SamsungOne-400" panose="020B0503030303020204" pitchFamily="34" charset="0"/>
                <a:cs typeface="Tahoma" panose="020B0604030504040204" pitchFamily="34" charset="0"/>
              </a:defRPr>
            </a:lvl1pPr>
            <a:lvl2pPr marL="742950" indent="-285750" eaLnBrk="0" hangingPunct="0">
              <a:defRPr kumimoji="1" sz="2400">
                <a:solidFill>
                  <a:schemeClr val="tx1"/>
                </a:solidFill>
                <a:latin typeface="굴림" pitchFamily="50" charset="-127"/>
                <a:ea typeface="굴림" pitchFamily="50" charset="-127"/>
              </a:defRPr>
            </a:lvl2pPr>
            <a:lvl3pPr marL="1143000" indent="-228600" eaLnBrk="0" hangingPunct="0">
              <a:defRPr kumimoji="1" sz="2400">
                <a:solidFill>
                  <a:schemeClr val="tx1"/>
                </a:solidFill>
                <a:latin typeface="굴림" pitchFamily="50" charset="-127"/>
                <a:ea typeface="굴림" pitchFamily="50" charset="-127"/>
              </a:defRPr>
            </a:lvl3pPr>
            <a:lvl4pPr marL="1600200" indent="-228600" eaLnBrk="0" hangingPunct="0">
              <a:defRPr kumimoji="1" sz="2400">
                <a:solidFill>
                  <a:schemeClr val="tx1"/>
                </a:solidFill>
                <a:latin typeface="굴림" pitchFamily="50" charset="-127"/>
                <a:ea typeface="굴림" pitchFamily="50" charset="-127"/>
              </a:defRPr>
            </a:lvl4pPr>
            <a:lvl5pPr marL="2057400" indent="-228600" eaLnBrk="0" hangingPunct="0">
              <a:defRPr kumimoji="1" sz="2400">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2400">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2400">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2400">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2400">
                <a:solidFill>
                  <a:schemeClr val="tx1"/>
                </a:solidFill>
                <a:latin typeface="굴림" pitchFamily="50" charset="-127"/>
                <a:ea typeface="굴림" pitchFamily="50" charset="-127"/>
              </a:defRPr>
            </a:lvl9pPr>
          </a:lstStyle>
          <a:p>
            <a:pPr lvl="0" algn="ctr">
              <a:spcAft>
                <a:spcPct val="0"/>
              </a:spcAft>
              <a:defRPr/>
            </a:pPr>
            <a:r>
              <a:rPr lang="en-US" altLang="ko-KR" sz="1400" b="1" dirty="0">
                <a:solidFill>
                  <a:schemeClr val="tx1">
                    <a:lumMod val="85000"/>
                    <a:lumOff val="15000"/>
                  </a:schemeClr>
                </a:solidFill>
              </a:rPr>
              <a:t>Không sử dung </a:t>
            </a:r>
            <a:r>
              <a:rPr lang="en-US" altLang="ko-KR" sz="1400" b="1" i="1" dirty="0" err="1">
                <a:solidFill>
                  <a:schemeClr val="tx1">
                    <a:lumMod val="85000"/>
                    <a:lumOff val="15000"/>
                  </a:schemeClr>
                </a:solidFill>
              </a:rPr>
              <a:t>C</a:t>
            </a:r>
            <a:r>
              <a:rPr lang="en-US" altLang="ko-KR" sz="1400" b="1" i="1" baseline="-25000" dirty="0" err="1">
                <a:solidFill>
                  <a:schemeClr val="tx1">
                    <a:lumMod val="85000"/>
                    <a:lumOff val="15000"/>
                  </a:schemeClr>
                </a:solidFill>
              </a:rPr>
              <a:t>in</a:t>
            </a:r>
            <a:r>
              <a:rPr lang="en-US" altLang="ko-KR" sz="1400" b="1" dirty="0">
                <a:solidFill>
                  <a:schemeClr val="tx1">
                    <a:lumMod val="85000"/>
                    <a:lumOff val="15000"/>
                  </a:schemeClr>
                </a:solidFill>
              </a:rPr>
              <a:t> và </a:t>
            </a:r>
            <a:r>
              <a:rPr lang="en-US" altLang="ko-KR" sz="1400" b="1" i="1" dirty="0">
                <a:solidFill>
                  <a:schemeClr val="tx1">
                    <a:lumMod val="85000"/>
                    <a:lumOff val="15000"/>
                  </a:schemeClr>
                </a:solidFill>
              </a:rPr>
              <a:t>C</a:t>
            </a:r>
            <a:r>
              <a:rPr lang="en-US" altLang="ko-KR" sz="1400" b="1" i="1" baseline="-25000" dirty="0">
                <a:solidFill>
                  <a:schemeClr val="tx1">
                    <a:lumMod val="85000"/>
                    <a:lumOff val="15000"/>
                  </a:schemeClr>
                </a:solidFill>
              </a:rPr>
              <a:t>e</a:t>
            </a:r>
            <a:r>
              <a:rPr lang="en-US" altLang="ko-KR" sz="1400" b="1" dirty="0">
                <a:solidFill>
                  <a:schemeClr val="tx1">
                    <a:lumMod val="85000"/>
                    <a:lumOff val="15000"/>
                  </a:schemeClr>
                </a:solidFill>
              </a:rPr>
              <a:t> cho bộ khuếch đại DC</a:t>
            </a:r>
            <a:endParaRPr lang="ko-KR" altLang="en-US" sz="1400" b="1" dirty="0">
              <a:solidFill>
                <a:schemeClr val="tx1">
                  <a:lumMod val="85000"/>
                  <a:lumOff val="15000"/>
                </a:schemeClr>
              </a:solidFill>
              <a:ea typeface="굴림" pitchFamily="50" charset="-127"/>
            </a:endParaRPr>
          </a:p>
        </p:txBody>
      </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CF224E8C-978B-4675-9918-466BAE097054}"/>
                  </a:ext>
                </a:extLst>
              </p:cNvPr>
              <p:cNvSpPr/>
              <p:nvPr/>
            </p:nvSpPr>
            <p:spPr>
              <a:xfrm>
                <a:off x="712182" y="3672685"/>
                <a:ext cx="8487381" cy="5454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solidFill>
                    <a:latin typeface="SamsungOne 400" panose="020B0503030303020204" pitchFamily="34" charset="0"/>
                    <a:ea typeface="SamsungOne 400" panose="020B0503030303020204" pitchFamily="34" charset="0"/>
                  </a:rPr>
                  <a:t>Tụ điện này </a:t>
                </a:r>
                <a:r>
                  <a:rPr lang="vi-VN" altLang="ko-KR" sz="1300" dirty="0">
                    <a:solidFill>
                      <a:schemeClr val="tx1"/>
                    </a:solidFill>
                    <a:latin typeface="SamsungOne 400" panose="020B0503030303020204" pitchFamily="34" charset="0"/>
                    <a:ea typeface="SamsungOne 400" panose="020B0503030303020204" pitchFamily="34" charset="0"/>
                  </a:rPr>
                  <a:t>hường được sử dụng để loại bỏ các dao động tần số cao, nhiễu hoặc sóng nhiễu từ các mạch điện, </a:t>
                </a:r>
                <a:r>
                  <a:rPr lang="en-US" altLang="ko-KR" sz="1300" dirty="0">
                    <a:solidFill>
                      <a:schemeClr val="tx1"/>
                    </a:solidFill>
                    <a:latin typeface="SamsungOne 400" panose="020B0503030303020204" pitchFamily="34" charset="0"/>
                    <a:ea typeface="SamsungOne 400" panose="020B0503030303020204" pitchFamily="34" charset="0"/>
                  </a:rPr>
                  <a:t>và nó được tính theo công thức sau. Ví dụ, khi </a:t>
                </a:r>
                <a14:m>
                  <m:oMath xmlns:m="http://schemas.openxmlformats.org/officeDocument/2006/math">
                    <m:sSub>
                      <m:sSubPr>
                        <m:ctrlPr>
                          <a:rPr lang="en-US" altLang="ko-KR" sz="1200" i="1" dirty="0" smtClean="0">
                            <a:solidFill>
                              <a:schemeClr val="tx1"/>
                            </a:solidFill>
                            <a:latin typeface="Cambria Math" panose="02040503050406030204" pitchFamily="18" charset="0"/>
                          </a:rPr>
                        </m:ctrlPr>
                      </m:sSubPr>
                      <m:e>
                        <m:r>
                          <a:rPr lang="en-US" altLang="ko-KR" sz="1200" i="1" dirty="0" smtClean="0">
                            <a:solidFill>
                              <a:schemeClr val="tx1"/>
                            </a:solidFill>
                            <a:latin typeface="Cambria Math" panose="02040503050406030204" pitchFamily="18" charset="0"/>
                          </a:rPr>
                          <m:t>𝐶</m:t>
                        </m:r>
                      </m:e>
                      <m:sub>
                        <m:r>
                          <a:rPr lang="en-US" altLang="ko-KR" sz="1200" i="1" dirty="0" smtClean="0">
                            <a:solidFill>
                              <a:schemeClr val="tx1"/>
                            </a:solidFill>
                            <a:latin typeface="Cambria Math" panose="02040503050406030204" pitchFamily="18" charset="0"/>
                          </a:rPr>
                          <m:t>𝑒</m:t>
                        </m:r>
                      </m:sub>
                    </m:sSub>
                    <m:r>
                      <a:rPr lang="en-US" altLang="ko-KR" sz="1200" i="1" dirty="0" smtClean="0">
                        <a:solidFill>
                          <a:schemeClr val="tx1"/>
                        </a:solidFill>
                        <a:latin typeface="Cambria Math" panose="02040503050406030204" pitchFamily="18" charset="0"/>
                      </a:rPr>
                      <m:t> </m:t>
                    </m:r>
                  </m:oMath>
                </a14:m>
                <a:r>
                  <a:rPr lang="en-US" altLang="ko-KR" sz="1300" dirty="0">
                    <a:solidFill>
                      <a:schemeClr val="tx1"/>
                    </a:solidFill>
                    <a:latin typeface="SamsungOne 400" panose="020B0503030303020204" pitchFamily="34" charset="0"/>
                    <a:ea typeface="SamsungOne 400" panose="020B0503030303020204" pitchFamily="34" charset="0"/>
                  </a:rPr>
                  <a:t>&gt;40</a:t>
                </a:r>
                <a:r>
                  <a:rPr lang="en-US" altLang="ko-KR" sz="1300" dirty="0">
                    <a:solidFill>
                      <a:schemeClr val="tx1"/>
                    </a:solidFill>
                    <a:latin typeface="SamsungOne 400" panose="020B0503030303020204" pitchFamily="34" charset="0"/>
                    <a:ea typeface="SamsungOne 400" panose="020B0503030303020204" pitchFamily="34" charset="0"/>
                    <a:sym typeface="Symbol" pitchFamily="18" charset="2"/>
                  </a:rPr>
                  <a:t>F</a:t>
                </a:r>
                <a:r>
                  <a:rPr lang="en-US" altLang="ko-KR" sz="1300" dirty="0">
                    <a:solidFill>
                      <a:schemeClr val="tx1"/>
                    </a:solidFill>
                    <a:latin typeface="SamsungOne 400" panose="020B0503030303020204" pitchFamily="34" charset="0"/>
                    <a:ea typeface="SamsungOne 400" panose="020B0503030303020204" pitchFamily="34" charset="0"/>
                  </a:rPr>
                  <a:t>, thì có thể sử dụng 100</a:t>
                </a:r>
                <a:r>
                  <a:rPr lang="en-US" altLang="ko-KR" sz="1300" dirty="0">
                    <a:solidFill>
                      <a:schemeClr val="tx1"/>
                    </a:solidFill>
                    <a:latin typeface="SamsungOne 400" panose="020B0503030303020204" pitchFamily="34" charset="0"/>
                    <a:ea typeface="SamsungOne 400" panose="020B0503030303020204" pitchFamily="34" charset="0"/>
                    <a:sym typeface="Symbol" pitchFamily="18" charset="2"/>
                  </a:rPr>
                  <a:t>F</a:t>
                </a:r>
                <a:r>
                  <a:rPr lang="en-US" altLang="ko-KR" sz="1300" dirty="0">
                    <a:solidFill>
                      <a:schemeClr val="tx1"/>
                    </a:solidFill>
                    <a:latin typeface="SamsungOne 400" panose="020B0503030303020204" pitchFamily="34" charset="0"/>
                    <a:ea typeface="SamsungOne 400" panose="020B0503030303020204" pitchFamily="34" charset="0"/>
                  </a:rPr>
                  <a:t> .</a:t>
                </a:r>
              </a:p>
            </p:txBody>
          </p:sp>
        </mc:Choice>
        <mc:Fallback xmlns="">
          <p:sp>
            <p:nvSpPr>
              <p:cNvPr id="15" name="직사각형 14">
                <a:extLst>
                  <a:ext uri="{FF2B5EF4-FFF2-40B4-BE49-F238E27FC236}">
                    <a16:creationId xmlns:a16="http://schemas.microsoft.com/office/drawing/2014/main" id="{CF224E8C-978B-4675-9918-466BAE097054}"/>
                  </a:ext>
                </a:extLst>
              </p:cNvPr>
              <p:cNvSpPr>
                <a:spLocks noRot="1" noChangeAspect="1" noMove="1" noResize="1" noEditPoints="1" noAdjustHandles="1" noChangeArrowheads="1" noChangeShapeType="1" noTextEdit="1"/>
              </p:cNvSpPr>
              <p:nvPr/>
            </p:nvSpPr>
            <p:spPr>
              <a:xfrm>
                <a:off x="712182" y="3672685"/>
                <a:ext cx="8487381" cy="545481"/>
              </a:xfrm>
              <a:prstGeom prst="rect">
                <a:avLst/>
              </a:prstGeom>
              <a:blipFill>
                <a:blip r:embed="rId7"/>
                <a:stretch>
                  <a:fillRect l="-7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직사각형 15">
                <a:extLst>
                  <a:ext uri="{FF2B5EF4-FFF2-40B4-BE49-F238E27FC236}">
                    <a16:creationId xmlns:a16="http://schemas.microsoft.com/office/drawing/2014/main" id="{5EC2AAA4-B3C7-478D-B05A-F6872DA07626}"/>
                  </a:ext>
                </a:extLst>
              </p:cNvPr>
              <p:cNvSpPr/>
              <p:nvPr/>
            </p:nvSpPr>
            <p:spPr>
              <a:xfrm>
                <a:off x="580388" y="3442573"/>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pPr>
                <a:r>
                  <a:rPr lang="en-US" altLang="ko-KR" dirty="0">
                    <a:solidFill>
                      <a:schemeClr val="tx1"/>
                    </a:solidFill>
                    <a:latin typeface="SamsungOne 400" panose="020B0503030303020204" pitchFamily="34" charset="0"/>
                    <a:ea typeface="SamsungOne 400" panose="020B0503030303020204" pitchFamily="34" charset="0"/>
                  </a:rPr>
                  <a:t>Xác định tụ điện </a:t>
                </a:r>
                <a:r>
                  <a:rPr lang="en-US" altLang="ko-KR" sz="1400" dirty="0">
                    <a:solidFill>
                      <a:schemeClr val="tx1"/>
                    </a:solidFill>
                    <a:latin typeface="SamsungOne 400" panose="020B0503030303020204" pitchFamily="34" charset="0"/>
                    <a:ea typeface="SamsungOne 400" panose="020B0503030303020204" pitchFamily="34" charset="0"/>
                  </a:rPr>
                  <a:t>bypass hay còn gọi là tụ lọc  (</a:t>
                </a:r>
                <a14:m>
                  <m:oMath xmlns:m="http://schemas.openxmlformats.org/officeDocument/2006/math">
                    <m:sSub>
                      <m:sSubPr>
                        <m:ctrlPr>
                          <a:rPr lang="en-US" altLang="ko-KR" sz="1400" i="1" dirty="0" smtClean="0">
                            <a:solidFill>
                              <a:schemeClr val="tx1"/>
                            </a:solidFill>
                            <a:latin typeface="Cambria Math" panose="02040503050406030204" pitchFamily="18" charset="0"/>
                          </a:rPr>
                        </m:ctrlPr>
                      </m:sSubPr>
                      <m:e>
                        <m:r>
                          <a:rPr lang="en-US" altLang="ko-KR" sz="1400" i="1" dirty="0" smtClean="0">
                            <a:solidFill>
                              <a:schemeClr val="tx1"/>
                            </a:solidFill>
                            <a:latin typeface="Cambria Math" panose="02040503050406030204" pitchFamily="18" charset="0"/>
                          </a:rPr>
                          <m:t>𝐶</m:t>
                        </m:r>
                      </m:e>
                      <m:sub>
                        <m:r>
                          <a:rPr lang="en-US" altLang="ko-KR" sz="1400" i="1" dirty="0" smtClean="0">
                            <a:solidFill>
                              <a:schemeClr val="tx1"/>
                            </a:solidFill>
                            <a:latin typeface="Cambria Math" panose="02040503050406030204" pitchFamily="18" charset="0"/>
                          </a:rPr>
                          <m:t>𝑒</m:t>
                        </m:r>
                      </m:sub>
                    </m:sSub>
                  </m:oMath>
                </a14:m>
                <a:r>
                  <a:rPr lang="en-US" altLang="ko-KR" sz="1400" dirty="0">
                    <a:solidFill>
                      <a:schemeClr val="tx1"/>
                    </a:solidFill>
                    <a:latin typeface="SamsungOne 400" panose="020B0503030303020204" pitchFamily="34" charset="0"/>
                    <a:ea typeface="SamsungOne 400" panose="020B0503030303020204" pitchFamily="34" charset="0"/>
                  </a:rPr>
                  <a:t>)</a:t>
                </a:r>
              </a:p>
            </p:txBody>
          </p:sp>
        </mc:Choice>
        <mc:Fallback xmlns="">
          <p:sp>
            <p:nvSpPr>
              <p:cNvPr id="16" name="직사각형 15">
                <a:extLst>
                  <a:ext uri="{FF2B5EF4-FFF2-40B4-BE49-F238E27FC236}">
                    <a16:creationId xmlns:a16="http://schemas.microsoft.com/office/drawing/2014/main" id="{5EC2AAA4-B3C7-478D-B05A-F6872DA07626}"/>
                  </a:ext>
                </a:extLst>
              </p:cNvPr>
              <p:cNvSpPr>
                <a:spLocks noRot="1" noChangeAspect="1" noMove="1" noResize="1" noEditPoints="1" noAdjustHandles="1" noChangeArrowheads="1" noChangeShapeType="1" noTextEdit="1"/>
              </p:cNvSpPr>
              <p:nvPr/>
            </p:nvSpPr>
            <p:spPr>
              <a:xfrm>
                <a:off x="580388" y="3442573"/>
                <a:ext cx="8619175" cy="215444"/>
              </a:xfrm>
              <a:prstGeom prst="rect">
                <a:avLst/>
              </a:prstGeom>
              <a:blipFill>
                <a:blip r:embed="rId8"/>
                <a:stretch>
                  <a:fillRect l="-141" b="-2857"/>
                </a:stretch>
              </a:blipFill>
              <a:ln>
                <a:noFill/>
              </a:ln>
            </p:spPr>
            <p:txBody>
              <a:bodyPr/>
              <a:lstStyle/>
              <a:p>
                <a:r>
                  <a:rPr lang="en-US">
                    <a:noFill/>
                  </a:rPr>
                  <a:t> </a:t>
                </a:r>
              </a:p>
            </p:txBody>
          </p:sp>
        </mc:Fallback>
      </mc:AlternateContent>
      <p:sp>
        <p:nvSpPr>
          <p:cNvPr id="2" name="Google Shape;3457;p184">
            <a:extLst>
              <a:ext uri="{FF2B5EF4-FFF2-40B4-BE49-F238E27FC236}">
                <a16:creationId xmlns:a16="http://schemas.microsoft.com/office/drawing/2014/main" id="{54E49AEE-DB33-A075-7B05-1EB3F3124227}"/>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extLst>
      <p:ext uri="{BB962C8B-B14F-4D97-AF65-F5344CB8AC3E}">
        <p14:creationId xmlns:p14="http://schemas.microsoft.com/office/powerpoint/2010/main" val="332378684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3617"/>
        <p:cNvGrpSpPr/>
        <p:nvPr/>
      </p:nvGrpSpPr>
      <p:grpSpPr>
        <a:xfrm>
          <a:off x="0" y="0"/>
          <a:ext cx="0" cy="0"/>
          <a:chOff x="0" y="0"/>
          <a:chExt cx="0" cy="0"/>
        </a:xfrm>
      </p:grpSpPr>
      <p:sp>
        <p:nvSpPr>
          <p:cNvPr id="3619" name="Google Shape;3619;p194"/>
          <p:cNvSpPr/>
          <p:nvPr/>
        </p:nvSpPr>
        <p:spPr>
          <a:xfrm>
            <a:off x="712182" y="1751850"/>
            <a:ext cx="8487381" cy="1150775"/>
          </a:xfrm>
          <a:prstGeom prst="rect">
            <a:avLst/>
          </a:prstGeom>
          <a:noFill/>
          <a:ln>
            <a:noFill/>
          </a:ln>
        </p:spPr>
        <p:txBody>
          <a:bodyPr spcFirstLastPara="1" wrap="square" lIns="0" tIns="71975" rIns="143950" bIns="71975" anchor="t" anchorCtr="0">
            <a:spAutoFit/>
          </a:bodyPr>
          <a:lstStyle/>
          <a:p>
            <a:pPr marL="182526" marR="0" lvl="1" indent="-182526" algn="l" rtl="0">
              <a:spcBef>
                <a:spcPts val="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Những điểm cơ bản về mạch khuếch đại thuật toán</a:t>
            </a:r>
            <a:endParaRPr/>
          </a:p>
          <a:p>
            <a:pPr marL="285750" marR="0" lvl="1" indent="-285750" algn="l" rtl="0">
              <a:spcBef>
                <a:spcPts val="80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Mạch có hai đầu vào vi sai, một đầu ra và hai chân cấp nguồn. Hoạt động cơ bản là khuếch đại và hiển thị độ chênh lệch điện áp giữa hai cực đầu vào.</a:t>
            </a:r>
            <a:endParaRPr/>
          </a:p>
          <a:p>
            <a:pPr marL="0" marR="0" lvl="1" indent="0" algn="l" rtl="0">
              <a:spcBef>
                <a:spcPts val="800"/>
              </a:spcBef>
              <a:spcAft>
                <a:spcPts val="0"/>
              </a:spcAft>
              <a:buNone/>
            </a:pPr>
            <a:endParaRPr sz="1300" b="0" i="0" u="none" strike="noStrike" cap="none">
              <a:solidFill>
                <a:srgbClr val="262626"/>
              </a:solidFill>
              <a:latin typeface="Arial"/>
              <a:ea typeface="Arial"/>
              <a:cs typeface="Arial"/>
              <a:sym typeface="Arial"/>
            </a:endParaRPr>
          </a:p>
        </p:txBody>
      </p:sp>
      <p:sp>
        <p:nvSpPr>
          <p:cNvPr id="3620" name="Google Shape;3620;p194"/>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Thiết kế cơ bản của mạch khuếch đại thuật toán</a:t>
            </a:r>
            <a:endParaRPr/>
          </a:p>
        </p:txBody>
      </p:sp>
      <p:sp>
        <p:nvSpPr>
          <p:cNvPr id="3621" name="Google Shape;3621;p194"/>
          <p:cNvSpPr txBox="1"/>
          <p:nvPr/>
        </p:nvSpPr>
        <p:spPr>
          <a:xfrm>
            <a:off x="710023" y="4904117"/>
            <a:ext cx="8487381" cy="576293"/>
          </a:xfrm>
          <a:prstGeom prst="rect">
            <a:avLst/>
          </a:prstGeom>
          <a:solidFill>
            <a:srgbClr val="ECEFF6"/>
          </a:solidFill>
          <a:ln w="9525" cap="flat" cmpd="sng">
            <a:solidFill>
              <a:srgbClr val="D8D8D8"/>
            </a:solidFill>
            <a:prstDash val="solid"/>
            <a:round/>
            <a:headEnd type="none" w="sm" len="sm"/>
            <a:tailEnd type="none" w="sm" len="sm"/>
          </a:ln>
        </p:spPr>
        <p:txBody>
          <a:bodyPr spcFirstLastPara="1" wrap="square" lIns="180000" tIns="72000" rIns="180000" bIns="72000" anchor="t" anchorCtr="0">
            <a:spAutoFit/>
          </a:bodyPr>
          <a:lstStyle/>
          <a:p>
            <a:pPr marL="0" marR="0" lvl="0" indent="0" algn="ctr" rtl="0">
              <a:spcBef>
                <a:spcPts val="0"/>
              </a:spcBef>
              <a:spcAft>
                <a:spcPts val="0"/>
              </a:spcAft>
              <a:buNone/>
            </a:pPr>
            <a:r>
              <a:rPr lang="en-US" sz="1400" b="1">
                <a:solidFill>
                  <a:srgbClr val="262626"/>
                </a:solidFill>
                <a:latin typeface="Arial"/>
                <a:ea typeface="Arial"/>
                <a:cs typeface="Arial"/>
                <a:sym typeface="Arial"/>
              </a:rPr>
              <a:t>Ưu điểm lớn là độ khuếch đại gần như vô hạn.</a:t>
            </a:r>
            <a:endParaRPr/>
          </a:p>
          <a:p>
            <a:pPr marL="0" marR="0" lvl="0" indent="0" algn="ctr" rtl="0">
              <a:spcBef>
                <a:spcPts val="0"/>
              </a:spcBef>
              <a:spcAft>
                <a:spcPts val="0"/>
              </a:spcAft>
              <a:buNone/>
            </a:pPr>
            <a:r>
              <a:rPr lang="en-US" sz="1400" b="1">
                <a:solidFill>
                  <a:srgbClr val="262626"/>
                </a:solidFill>
                <a:latin typeface="Arial"/>
                <a:ea typeface="Arial"/>
                <a:cs typeface="Arial"/>
                <a:sym typeface="Arial"/>
              </a:rPr>
              <a:t>Sử dụng mạch hồi tiếp âm để vận hành một bộ khuếch đại thực.</a:t>
            </a:r>
            <a:endParaRPr/>
          </a:p>
        </p:txBody>
      </p:sp>
      <p:sp>
        <p:nvSpPr>
          <p:cNvPr id="3622" name="Google Shape;3622;p194"/>
          <p:cNvSpPr txBox="1"/>
          <p:nvPr/>
        </p:nvSpPr>
        <p:spPr>
          <a:xfrm>
            <a:off x="3422773" y="4382966"/>
            <a:ext cx="3060454"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Ký hiệu bộ khuếch đại thuật toán</a:t>
            </a:r>
            <a:endParaRPr sz="1300" b="1">
              <a:solidFill>
                <a:srgbClr val="000000"/>
              </a:solidFill>
              <a:latin typeface="Arial"/>
              <a:ea typeface="Arial"/>
              <a:cs typeface="Arial"/>
              <a:sym typeface="Arial"/>
            </a:endParaRPr>
          </a:p>
        </p:txBody>
      </p:sp>
      <p:sp>
        <p:nvSpPr>
          <p:cNvPr id="3623" name="Google Shape;3623;p194"/>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a:solidFill>
                  <a:schemeClr val="lt1"/>
                </a:solidFill>
                <a:latin typeface="Arial"/>
                <a:ea typeface="Arial"/>
                <a:cs typeface="Arial"/>
                <a:sym typeface="Arial"/>
              </a:rPr>
              <a:t>4.3. Diễn giải sơ đồ mạch điện  </a:t>
            </a:r>
            <a:endParaRPr/>
          </a:p>
        </p:txBody>
      </p:sp>
      <p:grpSp>
        <p:nvGrpSpPr>
          <p:cNvPr id="3624" name="Google Shape;3624;p194"/>
          <p:cNvGrpSpPr/>
          <p:nvPr/>
        </p:nvGrpSpPr>
        <p:grpSpPr>
          <a:xfrm>
            <a:off x="2991611" y="2734661"/>
            <a:ext cx="3919602" cy="1370050"/>
            <a:chOff x="12636247" y="3162022"/>
            <a:chExt cx="3919602" cy="1370050"/>
          </a:xfrm>
        </p:grpSpPr>
        <p:pic>
          <p:nvPicPr>
            <p:cNvPr id="3625" name="Google Shape;3625;p194"/>
            <p:cNvPicPr preferRelativeResize="0"/>
            <p:nvPr/>
          </p:nvPicPr>
          <p:blipFill rotWithShape="1">
            <a:blip r:embed="rId3">
              <a:alphaModFix/>
            </a:blip>
            <a:srcRect/>
            <a:stretch/>
          </p:blipFill>
          <p:spPr>
            <a:xfrm>
              <a:off x="13291142" y="3162022"/>
              <a:ext cx="2735263" cy="1343025"/>
            </a:xfrm>
            <a:prstGeom prst="rect">
              <a:avLst/>
            </a:prstGeom>
            <a:noFill/>
            <a:ln>
              <a:noFill/>
            </a:ln>
          </p:spPr>
        </p:pic>
        <p:sp>
          <p:nvSpPr>
            <p:cNvPr id="3626" name="Google Shape;3626;p194"/>
            <p:cNvSpPr txBox="1"/>
            <p:nvPr/>
          </p:nvSpPr>
          <p:spPr>
            <a:xfrm>
              <a:off x="15620972" y="3710402"/>
              <a:ext cx="934877" cy="29238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62626"/>
                </a:buClr>
                <a:buSzPts val="1300"/>
                <a:buFont typeface="Arial"/>
                <a:buNone/>
              </a:pPr>
              <a:r>
                <a:rPr lang="en-US" sz="1300">
                  <a:solidFill>
                    <a:srgbClr val="262626"/>
                  </a:solidFill>
                  <a:latin typeface="Arial"/>
                  <a:ea typeface="Arial"/>
                  <a:cs typeface="Arial"/>
                  <a:sym typeface="Arial"/>
                </a:rPr>
                <a:t>Đầu ra</a:t>
              </a:r>
              <a:endParaRPr/>
            </a:p>
          </p:txBody>
        </p:sp>
        <p:sp>
          <p:nvSpPr>
            <p:cNvPr id="3627" name="Google Shape;3627;p194"/>
            <p:cNvSpPr txBox="1"/>
            <p:nvPr/>
          </p:nvSpPr>
          <p:spPr>
            <a:xfrm>
              <a:off x="14763320" y="3218517"/>
              <a:ext cx="1060515" cy="29238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62626"/>
                </a:buClr>
                <a:buSzPts val="1300"/>
                <a:buFont typeface="Arial"/>
                <a:buNone/>
              </a:pPr>
              <a:r>
                <a:rPr lang="en-US" sz="1300">
                  <a:solidFill>
                    <a:srgbClr val="262626"/>
                  </a:solidFill>
                  <a:latin typeface="Arial"/>
                  <a:ea typeface="Arial"/>
                  <a:cs typeface="Arial"/>
                  <a:sym typeface="Arial"/>
                </a:rPr>
                <a:t>V nguồn +</a:t>
              </a:r>
              <a:endParaRPr/>
            </a:p>
          </p:txBody>
        </p:sp>
        <p:sp>
          <p:nvSpPr>
            <p:cNvPr id="3628" name="Google Shape;3628;p194"/>
            <p:cNvSpPr txBox="1"/>
            <p:nvPr/>
          </p:nvSpPr>
          <p:spPr>
            <a:xfrm>
              <a:off x="14734974" y="4224295"/>
              <a:ext cx="1060515"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62626"/>
                </a:buClr>
                <a:buSzPts val="1300"/>
                <a:buFont typeface="Arial"/>
                <a:buNone/>
              </a:pPr>
              <a:r>
                <a:rPr lang="en-US" sz="1300">
                  <a:solidFill>
                    <a:srgbClr val="262626"/>
                  </a:solidFill>
                  <a:latin typeface="Arial"/>
                  <a:ea typeface="Arial"/>
                  <a:cs typeface="Arial"/>
                  <a:sym typeface="Arial"/>
                </a:rPr>
                <a:t>V nguồn -</a:t>
              </a:r>
              <a:endParaRPr/>
            </a:p>
          </p:txBody>
        </p:sp>
        <p:sp>
          <p:nvSpPr>
            <p:cNvPr id="3629" name="Google Shape;3629;p194"/>
            <p:cNvSpPr txBox="1"/>
            <p:nvPr/>
          </p:nvSpPr>
          <p:spPr>
            <a:xfrm>
              <a:off x="12636247" y="3583499"/>
              <a:ext cx="1126134" cy="492443"/>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262626"/>
                </a:buClr>
                <a:buSzPts val="1300"/>
                <a:buFont typeface="Arial"/>
                <a:buNone/>
              </a:pPr>
              <a:r>
                <a:rPr lang="en-US" sz="1300">
                  <a:solidFill>
                    <a:srgbClr val="262626"/>
                  </a:solidFill>
                  <a:latin typeface="Arial"/>
                  <a:ea typeface="Arial"/>
                  <a:cs typeface="Arial"/>
                  <a:sym typeface="Arial"/>
                </a:rPr>
                <a:t>Đầu vào vi sai</a:t>
              </a:r>
              <a:endParaRPr/>
            </a:p>
          </p:txBody>
        </p:sp>
      </p:grpSp>
      <p:sp>
        <p:nvSpPr>
          <p:cNvPr id="2" name="Google Shape;3457;p184">
            <a:extLst>
              <a:ext uri="{FF2B5EF4-FFF2-40B4-BE49-F238E27FC236}">
                <a16:creationId xmlns:a16="http://schemas.microsoft.com/office/drawing/2014/main" id="{C1CF8641-8246-9F9E-F3D7-DBD04361C95F}"/>
              </a:ext>
            </a:extLst>
          </p:cNvPr>
          <p:cNvSpPr/>
          <p:nvPr/>
        </p:nvSpPr>
        <p:spPr>
          <a:xfrm>
            <a:off x="568528" y="5972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32E4E54E-F85D-483F-BFE5-DAFB483554D3}"/>
              </a:ext>
            </a:extLst>
          </p:cNvPr>
          <p:cNvSpPr/>
          <p:nvPr/>
        </p:nvSpPr>
        <p:spPr>
          <a:xfrm>
            <a:off x="712182" y="1751850"/>
            <a:ext cx="8487381" cy="104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lvl="1" indent="-182526">
              <a:spcAft>
                <a:spcPts val="800"/>
              </a:spcAft>
              <a:buClr>
                <a:srgbClr val="193EB0"/>
              </a:buClr>
              <a:buSzPct val="80000"/>
              <a:buFont typeface="SamsungOne 400" panose="020B0503030303020204" pitchFamily="34" charset="0"/>
              <a:buChar char="‣"/>
            </a:pPr>
            <a:r>
              <a:rPr lang="vi-VN" altLang="ko-KR" sz="1300" dirty="0">
                <a:solidFill>
                  <a:schemeClr val="tx1">
                    <a:lumMod val="85000"/>
                    <a:lumOff val="15000"/>
                  </a:schemeClr>
                </a:solidFill>
                <a:latin typeface="SamsungOne-400" panose="020B0503030303020204" pitchFamily="34" charset="0"/>
                <a:ea typeface="SamsungOne-400" panose="020B0503030303020204" pitchFamily="34" charset="0"/>
              </a:rPr>
              <a:t>Bộ so sánh phát hiện sự khác biệt giữa hai điện áp đầu vào và đầu ra với một trong hai đầu ra lớn hơn hoặc nhỏ hơn. Khi sử dụng bộ khuếch đại hoạt động làm bộ so sánh, hãy sử dụng phản hồi thuận thay vì phản hồi ngược.</a:t>
            </a:r>
          </a:p>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 Nếu V +&gt; V-, đầu ra được bão hoà theo hướng (+), và nếu V + &lt;V-, đầu ra bão hoà theo hướng (-).</a:t>
            </a:r>
          </a:p>
        </p:txBody>
      </p:sp>
      <p:sp>
        <p:nvSpPr>
          <p:cNvPr id="12" name="직사각형 11">
            <a:extLst>
              <a:ext uri="{FF2B5EF4-FFF2-40B4-BE49-F238E27FC236}">
                <a16:creationId xmlns:a16="http://schemas.microsoft.com/office/drawing/2014/main" id="{CD08A5E7-4488-46D4-9257-0EF03363BF92}"/>
              </a:ext>
            </a:extLst>
          </p:cNvPr>
          <p:cNvSpPr/>
          <p:nvPr/>
        </p:nvSpPr>
        <p:spPr>
          <a:xfrm>
            <a:off x="580388" y="1521738"/>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pPr>
            <a:r>
              <a:rPr lang="en-US" altLang="ko-KR" sz="1400" dirty="0">
                <a:solidFill>
                  <a:schemeClr val="tx1"/>
                </a:solidFill>
                <a:latin typeface="SamsungOne-400" panose="020B0503030303020204" pitchFamily="34" charset="0"/>
                <a:ea typeface="SamsungOne-400" panose="020B0503030303020204" pitchFamily="34" charset="0"/>
              </a:rPr>
              <a:t>Bộ so sánh</a:t>
            </a:r>
          </a:p>
        </p:txBody>
      </p:sp>
      <p:sp>
        <p:nvSpPr>
          <p:cNvPr id="22" name="직사각형 21">
            <a:extLst>
              <a:ext uri="{FF2B5EF4-FFF2-40B4-BE49-F238E27FC236}">
                <a16:creationId xmlns:a16="http://schemas.microsoft.com/office/drawing/2014/main" id="{F972645C-B7CE-4CFA-A0C8-66472014437B}"/>
              </a:ext>
            </a:extLst>
          </p:cNvPr>
          <p:cNvSpPr/>
          <p:nvPr/>
        </p:nvSpPr>
        <p:spPr>
          <a:xfrm>
            <a:off x="712182" y="4078490"/>
            <a:ext cx="8487381" cy="5454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lvl="1" indent="-182526">
              <a:spcAft>
                <a:spcPts val="800"/>
              </a:spcAft>
              <a:buClr>
                <a:srgbClr val="193EB0"/>
              </a:buClr>
              <a:buSzPct val="80000"/>
              <a:buFont typeface="SamsungOne 400" panose="020B0503030303020204" pitchFamily="34" charset="0"/>
              <a:buChar char="‣"/>
            </a:pPr>
            <a:r>
              <a:rPr lang="vi-VN" altLang="ko-KR" sz="1300" dirty="0">
                <a:solidFill>
                  <a:schemeClr val="tx1">
                    <a:lumMod val="85000"/>
                    <a:lumOff val="15000"/>
                  </a:schemeClr>
                </a:solidFill>
                <a:latin typeface="SamsungOne-400" panose="020B0503030303020204" pitchFamily="34" charset="0"/>
                <a:ea typeface="SamsungOne-400" panose="020B0503030303020204" pitchFamily="34" charset="0"/>
              </a:rPr>
              <a:t>Bộ khuếch đại nghịch là mạch thực hiện mạch phản hồi âm cơ bản. Nó được gọi là bộ khuếch đại nghịch vì đầu ra bị đảo ngược cực tính</a:t>
            </a: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a:t>
            </a:r>
          </a:p>
        </p:txBody>
      </p:sp>
      <p:sp>
        <p:nvSpPr>
          <p:cNvPr id="23" name="직사각형 22">
            <a:extLst>
              <a:ext uri="{FF2B5EF4-FFF2-40B4-BE49-F238E27FC236}">
                <a16:creationId xmlns:a16="http://schemas.microsoft.com/office/drawing/2014/main" id="{B6BBD238-C932-4143-8ABD-753FEFA1059C}"/>
              </a:ext>
            </a:extLst>
          </p:cNvPr>
          <p:cNvSpPr/>
          <p:nvPr/>
        </p:nvSpPr>
        <p:spPr>
          <a:xfrm>
            <a:off x="580388" y="3848378"/>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pPr>
            <a:r>
              <a:rPr lang="en-US" altLang="ko-KR" sz="1400" dirty="0">
                <a:solidFill>
                  <a:schemeClr val="tx1"/>
                </a:solidFill>
                <a:latin typeface="SamsungOne-400" panose="020B0503030303020204" pitchFamily="34" charset="0"/>
                <a:ea typeface="SamsungOne-400" panose="020B0503030303020204" pitchFamily="34" charset="0"/>
              </a:rPr>
              <a:t>Bộ khuếch đại nghịch</a:t>
            </a:r>
          </a:p>
        </p:txBody>
      </p:sp>
      <p:grpSp>
        <p:nvGrpSpPr>
          <p:cNvPr id="5" name="그룹 4">
            <a:extLst>
              <a:ext uri="{FF2B5EF4-FFF2-40B4-BE49-F238E27FC236}">
                <a16:creationId xmlns:a16="http://schemas.microsoft.com/office/drawing/2014/main" id="{DC38CFC1-F88A-44B9-BB6E-583597F1B789}"/>
              </a:ext>
            </a:extLst>
          </p:cNvPr>
          <p:cNvGrpSpPr/>
          <p:nvPr/>
        </p:nvGrpSpPr>
        <p:grpSpPr>
          <a:xfrm>
            <a:off x="3690602" y="2761302"/>
            <a:ext cx="2737185" cy="889000"/>
            <a:chOff x="3690602" y="2761302"/>
            <a:chExt cx="2737185" cy="889000"/>
          </a:xfrm>
        </p:grpSpPr>
        <mc:AlternateContent xmlns:mc="http://schemas.openxmlformats.org/markup-compatibility/2006" xmlns:a14="http://schemas.microsoft.com/office/drawing/2010/main">
          <mc:Choice Requires="a14">
            <p:graphicFrame>
              <p:nvGraphicFramePr>
                <p:cNvPr id="21" name="Object 8">
                  <a:extLst>
                    <a:ext uri="{FF2B5EF4-FFF2-40B4-BE49-F238E27FC236}">
                      <a16:creationId xmlns:a16="http://schemas.microsoft.com/office/drawing/2014/main" id="{94098935-C70F-4C1C-AFD2-3CE1539B1BCB}"/>
                    </a:ext>
                  </a:extLst>
                </p:cNvPr>
                <p:cNvGraphicFramePr>
                  <a:graphicFrameLocks noChangeAspect="1"/>
                </p:cNvGraphicFramePr>
                <p:nvPr/>
              </p:nvGraphicFramePr>
              <p:xfrm>
                <a:off x="3721082" y="2761302"/>
                <a:ext cx="2519363" cy="889000"/>
              </p:xfrm>
              <a:graphic>
                <a:graphicData uri="http://schemas.openxmlformats.org/presentationml/2006/ole">
                  <mc:AlternateContent>
                    <mc:Choice xmlns:v="urn:schemas-microsoft-com:vml" Requires="v">
                      <p:oleObj name="Visio" r:id="rId4" imgW="1645121" imgH="577989" progId="Visio.Drawing.6">
                        <p:embed/>
                      </p:oleObj>
                    </mc:Choice>
                    <mc:Fallback>
                      <p:oleObj name="Visio" r:id="rId4" imgW="1645121" imgH="577989" progId="Visio.Drawing.6">
                        <p:embed/>
                        <p:pic>
                          <p:nvPicPr>
                            <p:cNvPr id="21" name="Object 8">
                              <a:extLst>
                                <a:ext uri="{FF2B5EF4-FFF2-40B4-BE49-F238E27FC236}">
                                  <a16:creationId xmlns:a16="http://schemas.microsoft.com/office/drawing/2014/main" id="{94098935-C70F-4C1C-AFD2-3CE1539B1BCB}"/>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3721082" y="2761302"/>
                              <a:ext cx="2519363" cy="889000"/>
                            </a:xfrm>
                            <a:prstGeom prst="rect">
                              <a:avLst/>
                            </a:prstGeom>
                            <a:noFill/>
                          </p:spPr>
                        </p:pic>
                      </p:oleObj>
                    </mc:Fallback>
                  </mc:AlternateContent>
                </a:graphicData>
              </a:graphic>
            </p:graphicFrame>
          </mc:Choice>
          <mc:Fallback xmlns="">
            <p:graphicFrame>
              <p:nvGraphicFramePr>
                <p:cNvPr id="21" name="Object 8">
                  <a:extLst>
                    <a:ext uri="{FF2B5EF4-FFF2-40B4-BE49-F238E27FC236}">
                      <a16:creationId xmlns:a16="http://schemas.microsoft.com/office/drawing/2014/main" id="{94098935-C70F-4C1C-AFD2-3CE1539B1BCB}"/>
                    </a:ext>
                  </a:extLst>
                </p:cNvPr>
                <p:cNvGraphicFramePr>
                  <a:graphicFrameLocks noChangeAspect="1"/>
                </p:cNvGraphicFramePr>
                <p:nvPr>
                  <p:extLst>
                    <p:ext uri="{D42A27DB-BD31-4B8C-83A1-F6EECF244321}">
                      <p14:modId xmlns:p14="http://schemas.microsoft.com/office/powerpoint/2010/main" val="4247902894"/>
                    </p:ext>
                  </p:extLst>
                </p:nvPr>
              </p:nvGraphicFramePr>
              <p:xfrm>
                <a:off x="3721082" y="2761302"/>
                <a:ext cx="2519363" cy="889000"/>
              </p:xfrm>
              <a:graphic>
                <a:graphicData uri="http://schemas.openxmlformats.org/presentationml/2006/ole">
                  <mc:AlternateContent>
                    <mc:Choice xmlns:v="urn:schemas-microsoft-com:vml" Requires="v">
                      <p:oleObj spid="_x0000_s14338" name="Visio" r:id="rId7" imgW="1645121" imgH="577989" progId="Visio.Drawing.6">
                        <p:embed/>
                      </p:oleObj>
                    </mc:Choice>
                    <mc:Fallback>
                      <p:oleObj name="Visio" r:id="rId7" imgW="1645121" imgH="577989" progId="Visio.Drawing.6">
                        <p:embed/>
                        <p:pic>
                          <p:nvPicPr>
                            <p:cNvPr id="1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1082" y="2761302"/>
                              <a:ext cx="2519363" cy="889000"/>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29" name="Text Box 120">
                  <a:extLst>
                    <a:ext uri="{FF2B5EF4-FFF2-40B4-BE49-F238E27FC236}">
                      <a16:creationId xmlns:a16="http://schemas.microsoft.com/office/drawing/2014/main" id="{9628119B-5514-4394-957C-95642C87B0CA}"/>
                    </a:ext>
                  </a:extLst>
                </p:cNvPr>
                <p:cNvSpPr txBox="1">
                  <a:spLocks noChangeArrowheads="1"/>
                </p:cNvSpPr>
                <p:nvPr/>
              </p:nvSpPr>
              <p:spPr bwMode="auto">
                <a:xfrm>
                  <a:off x="3690602" y="2854846"/>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0" dirty="0" smtClean="0">
                                <a:solidFill>
                                  <a:schemeClr val="tx1"/>
                                </a:solidFill>
                                <a:latin typeface="Cambria Math" panose="02040503050406030204" pitchFamily="18" charset="0"/>
                              </a:rPr>
                              <m:t>−</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29" name="Text Box 120">
                  <a:extLst>
                    <a:ext uri="{FF2B5EF4-FFF2-40B4-BE49-F238E27FC236}">
                      <a16:creationId xmlns:a16="http://schemas.microsoft.com/office/drawing/2014/main" id="{9628119B-5514-4394-957C-95642C87B0CA}"/>
                    </a:ext>
                  </a:extLst>
                </p:cNvPr>
                <p:cNvSpPr txBox="1">
                  <a:spLocks noRot="1" noChangeAspect="1" noMove="1" noResize="1" noEditPoints="1" noAdjustHandles="1" noChangeArrowheads="1" noChangeShapeType="1" noTextEdit="1"/>
                </p:cNvSpPr>
                <p:nvPr/>
              </p:nvSpPr>
              <p:spPr bwMode="auto">
                <a:xfrm>
                  <a:off x="3690602" y="2854846"/>
                  <a:ext cx="311170" cy="246221"/>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0" name="Text Box 120">
                  <a:extLst>
                    <a:ext uri="{FF2B5EF4-FFF2-40B4-BE49-F238E27FC236}">
                      <a16:creationId xmlns:a16="http://schemas.microsoft.com/office/drawing/2014/main" id="{1FA365DE-3699-42C5-8120-2C6363EB539D}"/>
                    </a:ext>
                  </a:extLst>
                </p:cNvPr>
                <p:cNvSpPr txBox="1">
                  <a:spLocks noChangeArrowheads="1"/>
                </p:cNvSpPr>
                <p:nvPr/>
              </p:nvSpPr>
              <p:spPr bwMode="auto">
                <a:xfrm>
                  <a:off x="3690602" y="3286442"/>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0" dirty="0" smtClean="0">
                                <a:solidFill>
                                  <a:schemeClr val="tx1"/>
                                </a:solidFill>
                                <a:latin typeface="Cambria Math" panose="02040503050406030204" pitchFamily="18" charset="0"/>
                              </a:rPr>
                              <m:t>+</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0" name="Text Box 120">
                  <a:extLst>
                    <a:ext uri="{FF2B5EF4-FFF2-40B4-BE49-F238E27FC236}">
                      <a16:creationId xmlns:a16="http://schemas.microsoft.com/office/drawing/2014/main" id="{1FA365DE-3699-42C5-8120-2C6363EB539D}"/>
                    </a:ext>
                  </a:extLst>
                </p:cNvPr>
                <p:cNvSpPr txBox="1">
                  <a:spLocks noRot="1" noChangeAspect="1" noMove="1" noResize="1" noEditPoints="1" noAdjustHandles="1" noChangeArrowheads="1" noChangeShapeType="1" noTextEdit="1"/>
                </p:cNvSpPr>
                <p:nvPr/>
              </p:nvSpPr>
              <p:spPr bwMode="auto">
                <a:xfrm>
                  <a:off x="3690602" y="3286442"/>
                  <a:ext cx="311170" cy="246221"/>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Text Box 120">
                  <a:extLst>
                    <a:ext uri="{FF2B5EF4-FFF2-40B4-BE49-F238E27FC236}">
                      <a16:creationId xmlns:a16="http://schemas.microsoft.com/office/drawing/2014/main" id="{847CF87E-12BF-4EB7-895F-EBFBAB5DDBB8}"/>
                    </a:ext>
                  </a:extLst>
                </p:cNvPr>
                <p:cNvSpPr txBox="1">
                  <a:spLocks noChangeArrowheads="1"/>
                </p:cNvSpPr>
                <p:nvPr/>
              </p:nvSpPr>
              <p:spPr bwMode="auto">
                <a:xfrm>
                  <a:off x="5929274" y="3056584"/>
                  <a:ext cx="498513"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1" dirty="0" smtClean="0">
                                <a:solidFill>
                                  <a:schemeClr val="tx1"/>
                                </a:solidFill>
                                <a:latin typeface="Cambria Math" panose="02040503050406030204" pitchFamily="18" charset="0"/>
                              </a:rPr>
                              <m:t>𝑜𝑢𝑡</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1" name="Text Box 120">
                  <a:extLst>
                    <a:ext uri="{FF2B5EF4-FFF2-40B4-BE49-F238E27FC236}">
                      <a16:creationId xmlns:a16="http://schemas.microsoft.com/office/drawing/2014/main" id="{847CF87E-12BF-4EB7-895F-EBFBAB5DDBB8}"/>
                    </a:ext>
                  </a:extLst>
                </p:cNvPr>
                <p:cNvSpPr txBox="1">
                  <a:spLocks noRot="1" noChangeAspect="1" noMove="1" noResize="1" noEditPoints="1" noAdjustHandles="1" noChangeArrowheads="1" noChangeShapeType="1" noTextEdit="1"/>
                </p:cNvSpPr>
                <p:nvPr/>
              </p:nvSpPr>
              <p:spPr bwMode="auto">
                <a:xfrm>
                  <a:off x="5929274" y="3056584"/>
                  <a:ext cx="498513" cy="246221"/>
                </a:xfrm>
                <a:prstGeom prst="rect">
                  <a:avLst/>
                </a:prstGeom>
                <a:blipFill>
                  <a:blip r:embed="rId11"/>
                  <a:stretch>
                    <a:fillRect/>
                  </a:stretch>
                </a:blipFill>
              </p:spPr>
              <p:txBody>
                <a:bodyPr/>
                <a:lstStyle/>
                <a:p>
                  <a:r>
                    <a:rPr lang="ko-KR" altLang="en-US">
                      <a:noFill/>
                    </a:rPr>
                    <a:t> </a:t>
                  </a:r>
                </a:p>
              </p:txBody>
            </p:sp>
          </mc:Fallback>
        </mc:AlternateContent>
      </p:grpSp>
      <p:grpSp>
        <p:nvGrpSpPr>
          <p:cNvPr id="4" name="그룹 3">
            <a:extLst>
              <a:ext uri="{FF2B5EF4-FFF2-40B4-BE49-F238E27FC236}">
                <a16:creationId xmlns:a16="http://schemas.microsoft.com/office/drawing/2014/main" id="{3AE086A9-1D7F-4396-9A5F-6F02091A0DF1}"/>
              </a:ext>
            </a:extLst>
          </p:cNvPr>
          <p:cNvGrpSpPr/>
          <p:nvPr/>
        </p:nvGrpSpPr>
        <p:grpSpPr>
          <a:xfrm>
            <a:off x="2683007" y="4800703"/>
            <a:ext cx="4595512" cy="1023037"/>
            <a:chOff x="2792640" y="4738460"/>
            <a:chExt cx="4595512" cy="1023037"/>
          </a:xfrm>
        </p:grpSpPr>
        <p:grpSp>
          <p:nvGrpSpPr>
            <p:cNvPr id="25" name="그룹 24">
              <a:extLst>
                <a:ext uri="{FF2B5EF4-FFF2-40B4-BE49-F238E27FC236}">
                  <a16:creationId xmlns:a16="http://schemas.microsoft.com/office/drawing/2014/main" id="{FED60B15-7AD0-4E53-9C7E-3556C8DC0FE1}"/>
                </a:ext>
              </a:extLst>
            </p:cNvPr>
            <p:cNvGrpSpPr/>
            <p:nvPr/>
          </p:nvGrpSpPr>
          <p:grpSpPr>
            <a:xfrm>
              <a:off x="3054710" y="4811131"/>
              <a:ext cx="4333442" cy="950366"/>
              <a:chOff x="2793836" y="4717761"/>
              <a:chExt cx="5041125" cy="1105568"/>
            </a:xfrm>
          </p:grpSpPr>
          <mc:AlternateContent xmlns:mc="http://schemas.openxmlformats.org/markup-compatibility/2006" xmlns:a14="http://schemas.microsoft.com/office/drawing/2010/main">
            <mc:Choice Requires="a14">
              <p:graphicFrame>
                <p:nvGraphicFramePr>
                  <p:cNvPr id="27" name="Object 11">
                    <a:extLst>
                      <a:ext uri="{FF2B5EF4-FFF2-40B4-BE49-F238E27FC236}">
                        <a16:creationId xmlns:a16="http://schemas.microsoft.com/office/drawing/2014/main" id="{64A61A51-2477-46CC-84FB-47AC39456068}"/>
                      </a:ext>
                    </a:extLst>
                  </p:cNvPr>
                  <p:cNvGraphicFramePr>
                    <a:graphicFrameLocks noChangeAspect="1"/>
                  </p:cNvGraphicFramePr>
                  <p:nvPr/>
                </p:nvGraphicFramePr>
                <p:xfrm>
                  <a:off x="2793836" y="4717761"/>
                  <a:ext cx="2669751" cy="1105568"/>
                </p:xfrm>
                <a:graphic>
                  <a:graphicData uri="http://schemas.openxmlformats.org/presentationml/2006/ole">
                    <mc:AlternateContent>
                      <mc:Choice xmlns:v="urn:schemas-microsoft-com:vml" Requires="v">
                        <p:oleObj name="Visio" r:id="rId12" imgW="1810812" imgH="925393" progId="Visio.Drawing.11">
                          <p:embed/>
                        </p:oleObj>
                      </mc:Choice>
                      <mc:Fallback>
                        <p:oleObj name="Visio" r:id="rId12" imgW="1810812" imgH="925393" progId="Visio.Drawing.11">
                          <p:embed/>
                          <p:pic>
                            <p:nvPicPr>
                              <p:cNvPr id="27" name="Object 11">
                                <a:extLst>
                                  <a:ext uri="{FF2B5EF4-FFF2-40B4-BE49-F238E27FC236}">
                                    <a16:creationId xmlns:a16="http://schemas.microsoft.com/office/drawing/2014/main" id="{64A61A51-2477-46CC-84FB-47AC39456068}"/>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2793836" y="4717761"/>
                                <a:ext cx="2669751" cy="1105568"/>
                              </a:xfrm>
                              <a:prstGeom prst="rect">
                                <a:avLst/>
                              </a:prstGeom>
                              <a:noFill/>
                            </p:spPr>
                          </p:pic>
                        </p:oleObj>
                      </mc:Fallback>
                    </mc:AlternateContent>
                  </a:graphicData>
                </a:graphic>
              </p:graphicFrame>
            </mc:Choice>
            <mc:Fallback xmlns="">
              <p:graphicFrame>
                <p:nvGraphicFramePr>
                  <p:cNvPr id="27" name="Object 11">
                    <a:extLst>
                      <a:ext uri="{FF2B5EF4-FFF2-40B4-BE49-F238E27FC236}">
                        <a16:creationId xmlns:a16="http://schemas.microsoft.com/office/drawing/2014/main" xmlns="" xmlns:a14="http://schemas.microsoft.com/office/drawing/2010/main" id="{64A61A51-2477-46CC-84FB-47AC39456068}"/>
                      </a:ext>
                    </a:extLst>
                  </p:cNvPr>
                  <p:cNvGraphicFramePr>
                    <a:graphicFrameLocks noChangeAspect="1"/>
                  </p:cNvGraphicFramePr>
                  <p:nvPr>
                    <p:extLst>
                      <p:ext uri="{D42A27DB-BD31-4B8C-83A1-F6EECF244321}">
                        <p14:modId xmlns:p14="http://schemas.microsoft.com/office/powerpoint/2010/main" val="2753426421"/>
                      </p:ext>
                    </p:extLst>
                  </p:nvPr>
                </p:nvGraphicFramePr>
                <p:xfrm>
                  <a:off x="2793836" y="4717761"/>
                  <a:ext cx="2669751" cy="1105568"/>
                </p:xfrm>
                <a:graphic>
                  <a:graphicData uri="http://schemas.openxmlformats.org/presentationml/2006/ole">
                    <mc:AlternateContent>
                      <mc:Choice xmlns:v="urn:schemas-microsoft-com:vml" Requires="v">
                        <p:oleObj spid="_x0000_s11323" name="Visio" r:id="rId13" imgW="1810812" imgH="925393" progId="Visio.Drawing.11">
                          <p:embed/>
                        </p:oleObj>
                      </mc:Choice>
                      <mc:Fallback>
                        <p:oleObj name="Visio" r:id="rId13" imgW="1810812" imgH="925393" progId="Visio.Drawing.11">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93836" y="4717761"/>
                                <a:ext cx="2669751" cy="1105568"/>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28" name="Object 14">
                    <a:extLst>
                      <a:ext uri="{FF2B5EF4-FFF2-40B4-BE49-F238E27FC236}">
                        <a16:creationId xmlns:a16="http://schemas.microsoft.com/office/drawing/2014/main" id="{8117D499-3A14-45FE-9972-6151B6CD97D4}"/>
                      </a:ext>
                    </a:extLst>
                  </p:cNvPr>
                  <p:cNvSpPr txBox="1"/>
                  <p:nvPr/>
                </p:nvSpPr>
                <p:spPr bwMode="auto">
                  <a:xfrm>
                    <a:off x="5924314" y="4961069"/>
                    <a:ext cx="1910647" cy="584647"/>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en-US"/>
                    </a:defPPr>
                    <a:lvl1pPr lvl="0" algn="ctr">
                      <a:defRPr sz="1100">
                        <a:latin typeface="Cambria Math" panose="02040503050406030204" pitchFamily="18" charset="0"/>
                        <a:ea typeface="SamsungOne 700" panose="020B0803030303020204" pitchFamily="34" charset="0"/>
                      </a:defRPr>
                    </a:lvl1pPr>
                  </a:lstStyle>
                  <a:p>
                    <a:pPr/>
                    <a14:m>
                      <m:oMathPara xmlns:m="http://schemas.openxmlformats.org/officeDocument/2006/math">
                        <m:oMathParaPr>
                          <m:jc m:val="left"/>
                        </m:oMathParaPr>
                        <m:oMath xmlns:m="http://schemas.openxmlformats.org/officeDocument/2006/math">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𝐴</m:t>
                              </m:r>
                            </m:e>
                            <m:sub>
                              <m:r>
                                <a:rPr lang="ko-KR" altLang="en-US" sz="1600">
                                  <a:latin typeface="Cambria Math" panose="02040503050406030204" pitchFamily="18" charset="0"/>
                                </a:rPr>
                                <m:t>𝑉</m:t>
                              </m:r>
                            </m:sub>
                          </m:sSub>
                          <m:r>
                            <a:rPr lang="ko-KR" altLang="en-US" sz="1600">
                              <a:latin typeface="Cambria Math" panose="02040503050406030204" pitchFamily="18" charset="0"/>
                            </a:rPr>
                            <m:t>=</m:t>
                          </m:r>
                          <m:f>
                            <m:fPr>
                              <m:ctrlPr>
                                <a:rPr lang="ko-KR" altLang="en-US" sz="1600" i="1">
                                  <a:latin typeface="Cambria Math" panose="02040503050406030204" pitchFamily="18" charset="0"/>
                                </a:rPr>
                              </m:ctrlPr>
                            </m:fPr>
                            <m:num>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𝑉</m:t>
                                  </m:r>
                                </m:e>
                                <m:sub>
                                  <m:r>
                                    <a:rPr lang="ko-KR" altLang="en-US" sz="1600">
                                      <a:latin typeface="Cambria Math" panose="02040503050406030204" pitchFamily="18" charset="0"/>
                                    </a:rPr>
                                    <m:t>𝑜</m:t>
                                  </m:r>
                                </m:sub>
                              </m:sSub>
                            </m:num>
                            <m:den>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𝑉</m:t>
                                  </m:r>
                                </m:e>
                                <m:sub>
                                  <m:r>
                                    <a:rPr lang="ko-KR" altLang="en-US" sz="1600">
                                      <a:latin typeface="Cambria Math" panose="02040503050406030204" pitchFamily="18" charset="0"/>
                                    </a:rPr>
                                    <m:t>𝑖</m:t>
                                  </m:r>
                                </m:sub>
                              </m:sSub>
                            </m:den>
                          </m:f>
                          <m:r>
                            <a:rPr lang="ko-KR" altLang="en-US" sz="1600">
                              <a:latin typeface="Cambria Math" panose="02040503050406030204" pitchFamily="18" charset="0"/>
                            </a:rPr>
                            <m:t>=−</m:t>
                          </m:r>
                          <m:f>
                            <m:fPr>
                              <m:ctrlPr>
                                <a:rPr lang="ko-KR" altLang="en-US" sz="1600" i="1">
                                  <a:latin typeface="Cambria Math" panose="02040503050406030204" pitchFamily="18" charset="0"/>
                                </a:rPr>
                              </m:ctrlPr>
                            </m:fPr>
                            <m:num>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𝑅</m:t>
                                  </m:r>
                                </m:e>
                                <m:sub>
                                  <m:r>
                                    <a:rPr lang="ko-KR" altLang="en-US" sz="1600">
                                      <a:latin typeface="Cambria Math" panose="02040503050406030204" pitchFamily="18" charset="0"/>
                                    </a:rPr>
                                    <m:t>2</m:t>
                                  </m:r>
                                </m:sub>
                              </m:sSub>
                            </m:num>
                            <m:den>
                              <m:sSub>
                                <m:sSubPr>
                                  <m:ctrlPr>
                                    <a:rPr lang="ko-KR" altLang="en-US" sz="1600" i="1">
                                      <a:latin typeface="Cambria Math" panose="02040503050406030204" pitchFamily="18" charset="0"/>
                                    </a:rPr>
                                  </m:ctrlPr>
                                </m:sSubPr>
                                <m:e>
                                  <m:r>
                                    <a:rPr lang="ko-KR" altLang="en-US" sz="1600">
                                      <a:latin typeface="Cambria Math" panose="02040503050406030204" pitchFamily="18" charset="0"/>
                                    </a:rPr>
                                    <m:t>𝑅</m:t>
                                  </m:r>
                                </m:e>
                                <m:sub>
                                  <m:r>
                                    <a:rPr lang="ko-KR" altLang="en-US" sz="1600">
                                      <a:latin typeface="Cambria Math" panose="02040503050406030204" pitchFamily="18" charset="0"/>
                                    </a:rPr>
                                    <m:t>1</m:t>
                                  </m:r>
                                </m:sub>
                              </m:sSub>
                            </m:den>
                          </m:f>
                        </m:oMath>
                      </m:oMathPara>
                    </a14:m>
                    <a:endParaRPr lang="ko-KR" altLang="en-US" sz="1600" dirty="0"/>
                  </a:p>
                </p:txBody>
              </p:sp>
            </mc:Choice>
            <mc:Fallback xmlns="">
              <p:sp>
                <p:nvSpPr>
                  <p:cNvPr id="28" name="Object 14">
                    <a:extLst>
                      <a:ext uri="{FF2B5EF4-FFF2-40B4-BE49-F238E27FC236}">
                        <a16:creationId xmlns:a16="http://schemas.microsoft.com/office/drawing/2014/main" xmlns="" xmlns:a14="http://schemas.microsoft.com/office/drawing/2010/main" id="{8117D499-3A14-45FE-9972-6151B6CD97D4}"/>
                      </a:ext>
                    </a:extLst>
                  </p:cNvPr>
                  <p:cNvSpPr txBox="1">
                    <a:spLocks noRot="1" noChangeAspect="1" noMove="1" noResize="1" noEditPoints="1" noAdjustHandles="1" noChangeArrowheads="1" noChangeShapeType="1" noTextEdit="1"/>
                  </p:cNvSpPr>
                  <p:nvPr/>
                </p:nvSpPr>
                <p:spPr bwMode="auto">
                  <a:xfrm>
                    <a:off x="5924314" y="4961069"/>
                    <a:ext cx="1910647" cy="584647"/>
                  </a:xfrm>
                  <a:prstGeom prst="rect">
                    <a:avLst/>
                  </a:prstGeom>
                  <a:blipFill rotWithShape="0">
                    <a:blip r:embed="rId15"/>
                    <a:stretch>
                      <a:fillRect l="-1115" b="-1220"/>
                    </a:stretch>
                  </a:blipFill>
                </p:spPr>
                <p:txBody>
                  <a:bodyPr/>
                  <a:lstStyle/>
                  <a:p>
                    <a:r>
                      <a:rPr lang="ko-KR" altLang="en-US">
                        <a:noFill/>
                      </a:rPr>
                      <a:t> </a:t>
                    </a:r>
                  </a:p>
                </p:txBody>
              </p:sp>
            </mc:Fallback>
          </mc:AlternateContent>
        </p:grpSp>
        <mc:AlternateContent xmlns:mc="http://schemas.openxmlformats.org/markup-compatibility/2006" xmlns:a14="http://schemas.microsoft.com/office/drawing/2010/main">
          <mc:Choice Requires="a14">
            <p:sp>
              <p:nvSpPr>
                <p:cNvPr id="32" name="Text Box 120">
                  <a:extLst>
                    <a:ext uri="{FF2B5EF4-FFF2-40B4-BE49-F238E27FC236}">
                      <a16:creationId xmlns:a16="http://schemas.microsoft.com/office/drawing/2014/main" id="{EC0E62BC-9D94-4AB0-8CA7-D25826ED7DF2}"/>
                    </a:ext>
                  </a:extLst>
                </p:cNvPr>
                <p:cNvSpPr txBox="1">
                  <a:spLocks noChangeArrowheads="1"/>
                </p:cNvSpPr>
                <p:nvPr/>
              </p:nvSpPr>
              <p:spPr bwMode="auto">
                <a:xfrm>
                  <a:off x="4304593" y="4738460"/>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𝑅</m:t>
                            </m:r>
                          </m:e>
                          <m:sub>
                            <m:r>
                              <a:rPr lang="en-US" altLang="ko-KR" sz="1600" b="0" i="0" dirty="0" smtClean="0">
                                <a:solidFill>
                                  <a:schemeClr val="tx1"/>
                                </a:solidFill>
                                <a:latin typeface="Cambria Math" panose="02040503050406030204" pitchFamily="18" charset="0"/>
                              </a:rPr>
                              <m:t>2</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2" name="Text Box 120">
                  <a:extLst>
                    <a:ext uri="{FF2B5EF4-FFF2-40B4-BE49-F238E27FC236}">
                      <a16:creationId xmlns:a16="http://schemas.microsoft.com/office/drawing/2014/main" id="{EC0E62BC-9D94-4AB0-8CA7-D25826ED7DF2}"/>
                    </a:ext>
                  </a:extLst>
                </p:cNvPr>
                <p:cNvSpPr txBox="1">
                  <a:spLocks noRot="1" noChangeAspect="1" noMove="1" noResize="1" noEditPoints="1" noAdjustHandles="1" noChangeArrowheads="1" noChangeShapeType="1" noTextEdit="1"/>
                </p:cNvSpPr>
                <p:nvPr/>
              </p:nvSpPr>
              <p:spPr bwMode="auto">
                <a:xfrm>
                  <a:off x="4304593" y="4738460"/>
                  <a:ext cx="311170" cy="246221"/>
                </a:xfrm>
                <a:prstGeom prst="rect">
                  <a:avLst/>
                </a:prstGeom>
                <a:blipFill>
                  <a:blip r:embed="rId1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3" name="Text Box 120">
                  <a:extLst>
                    <a:ext uri="{FF2B5EF4-FFF2-40B4-BE49-F238E27FC236}">
                      <a16:creationId xmlns:a16="http://schemas.microsoft.com/office/drawing/2014/main" id="{1A64B816-4CFD-4CF5-93A6-9FBD85655661}"/>
                    </a:ext>
                  </a:extLst>
                </p:cNvPr>
                <p:cNvSpPr txBox="1">
                  <a:spLocks noChangeArrowheads="1"/>
                </p:cNvSpPr>
                <p:nvPr/>
              </p:nvSpPr>
              <p:spPr bwMode="auto">
                <a:xfrm>
                  <a:off x="5090396" y="5148461"/>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1" dirty="0" smtClean="0">
                                <a:solidFill>
                                  <a:schemeClr val="tx1"/>
                                </a:solidFill>
                                <a:latin typeface="Cambria Math" panose="02040503050406030204" pitchFamily="18" charset="0"/>
                              </a:rPr>
                              <m:t>𝑜</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3" name="Text Box 120">
                  <a:extLst>
                    <a:ext uri="{FF2B5EF4-FFF2-40B4-BE49-F238E27FC236}">
                      <a16:creationId xmlns:a16="http://schemas.microsoft.com/office/drawing/2014/main" xmlns="" xmlns:a14="http://schemas.microsoft.com/office/drawing/2010/main" id="{1A64B816-4CFD-4CF5-93A6-9FBD85655661}"/>
                    </a:ext>
                  </a:extLst>
                </p:cNvPr>
                <p:cNvSpPr txBox="1">
                  <a:spLocks noRot="1" noChangeAspect="1" noMove="1" noResize="1" noEditPoints="1" noAdjustHandles="1" noChangeArrowheads="1" noChangeShapeType="1" noTextEdit="1"/>
                </p:cNvSpPr>
                <p:nvPr/>
              </p:nvSpPr>
              <p:spPr bwMode="auto">
                <a:xfrm>
                  <a:off x="5090396" y="5148461"/>
                  <a:ext cx="311170" cy="246221"/>
                </a:xfrm>
                <a:prstGeom prst="rect">
                  <a:avLst/>
                </a:prstGeom>
                <a:blipFill rotWithShape="0">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5" name="Text Box 120">
                  <a:extLst>
                    <a:ext uri="{FF2B5EF4-FFF2-40B4-BE49-F238E27FC236}">
                      <a16:creationId xmlns:a16="http://schemas.microsoft.com/office/drawing/2014/main" id="{B37833A0-BA48-4B56-9495-5CB7E7B0163A}"/>
                    </a:ext>
                  </a:extLst>
                </p:cNvPr>
                <p:cNvSpPr txBox="1">
                  <a:spLocks noChangeArrowheads="1"/>
                </p:cNvSpPr>
                <p:nvPr/>
              </p:nvSpPr>
              <p:spPr bwMode="auto">
                <a:xfrm>
                  <a:off x="2792640" y="5163204"/>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1" dirty="0" smtClean="0">
                                <a:solidFill>
                                  <a:schemeClr val="tx1"/>
                                </a:solidFill>
                                <a:latin typeface="Cambria Math" panose="02040503050406030204" pitchFamily="18" charset="0"/>
                              </a:rPr>
                              <m:t>𝑖</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5" name="Text Box 120">
                  <a:extLst>
                    <a:ext uri="{FF2B5EF4-FFF2-40B4-BE49-F238E27FC236}">
                      <a16:creationId xmlns:a16="http://schemas.microsoft.com/office/drawing/2014/main" xmlns="" xmlns:a14="http://schemas.microsoft.com/office/drawing/2010/main" id="{B37833A0-BA48-4B56-9495-5CB7E7B0163A}"/>
                    </a:ext>
                  </a:extLst>
                </p:cNvPr>
                <p:cNvSpPr txBox="1">
                  <a:spLocks noRot="1" noChangeAspect="1" noMove="1" noResize="1" noEditPoints="1" noAdjustHandles="1" noChangeArrowheads="1" noChangeShapeType="1" noTextEdit="1"/>
                </p:cNvSpPr>
                <p:nvPr/>
              </p:nvSpPr>
              <p:spPr bwMode="auto">
                <a:xfrm>
                  <a:off x="2792640" y="5163204"/>
                  <a:ext cx="311170" cy="246221"/>
                </a:xfrm>
                <a:prstGeom prst="rect">
                  <a:avLst/>
                </a:prstGeom>
                <a:blipFill rotWithShape="0">
                  <a:blip r:embed="rId1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6" name="Text Box 120">
                  <a:extLst>
                    <a:ext uri="{FF2B5EF4-FFF2-40B4-BE49-F238E27FC236}">
                      <a16:creationId xmlns:a16="http://schemas.microsoft.com/office/drawing/2014/main" id="{5C468AA1-86B1-488E-8B0D-E78F87538923}"/>
                    </a:ext>
                  </a:extLst>
                </p:cNvPr>
                <p:cNvSpPr txBox="1">
                  <a:spLocks noChangeArrowheads="1"/>
                </p:cNvSpPr>
                <p:nvPr/>
              </p:nvSpPr>
              <p:spPr bwMode="auto">
                <a:xfrm>
                  <a:off x="3438961" y="5090041"/>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𝑅</m:t>
                            </m:r>
                          </m:e>
                          <m:sub>
                            <m:r>
                              <a:rPr lang="en-US" altLang="ko-KR" sz="1600" b="0" i="0" dirty="0" smtClean="0">
                                <a:solidFill>
                                  <a:schemeClr val="tx1"/>
                                </a:solidFill>
                                <a:latin typeface="Cambria Math" panose="02040503050406030204" pitchFamily="18" charset="0"/>
                              </a:rPr>
                              <m:t>1</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6" name="Text Box 120">
                  <a:extLst>
                    <a:ext uri="{FF2B5EF4-FFF2-40B4-BE49-F238E27FC236}">
                      <a16:creationId xmlns:a16="http://schemas.microsoft.com/office/drawing/2014/main" id="{5C468AA1-86B1-488E-8B0D-E78F87538923}"/>
                    </a:ext>
                  </a:extLst>
                </p:cNvPr>
                <p:cNvSpPr txBox="1">
                  <a:spLocks noRot="1" noChangeAspect="1" noMove="1" noResize="1" noEditPoints="1" noAdjustHandles="1" noChangeArrowheads="1" noChangeShapeType="1" noTextEdit="1"/>
                </p:cNvSpPr>
                <p:nvPr/>
              </p:nvSpPr>
              <p:spPr bwMode="auto">
                <a:xfrm>
                  <a:off x="3438961" y="5090041"/>
                  <a:ext cx="311170" cy="246221"/>
                </a:xfrm>
                <a:prstGeom prst="rect">
                  <a:avLst/>
                </a:prstGeom>
                <a:blipFill>
                  <a:blip r:embed="rId19"/>
                  <a:stretch>
                    <a:fillRect/>
                  </a:stretch>
                </a:blipFill>
              </p:spPr>
              <p:txBody>
                <a:bodyPr/>
                <a:lstStyle/>
                <a:p>
                  <a:r>
                    <a:rPr lang="ko-KR" altLang="en-US">
                      <a:noFill/>
                    </a:rPr>
                    <a:t> </a:t>
                  </a:r>
                </a:p>
              </p:txBody>
            </p:sp>
          </mc:Fallback>
        </mc:AlternateContent>
      </p:grpSp>
      <p:sp>
        <p:nvSpPr>
          <p:cNvPr id="2" name="Google Shape;3457;p184">
            <a:extLst>
              <a:ext uri="{FF2B5EF4-FFF2-40B4-BE49-F238E27FC236}">
                <a16:creationId xmlns:a16="http://schemas.microsoft.com/office/drawing/2014/main" id="{E5557295-9249-97F2-016F-37760FBDF22B}"/>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extLst>
      <p:ext uri="{BB962C8B-B14F-4D97-AF65-F5344CB8AC3E}">
        <p14:creationId xmlns:p14="http://schemas.microsoft.com/office/powerpoint/2010/main" val="22566852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32E4E54E-F85D-483F-BFE5-DAFB483554D3}"/>
              </a:ext>
            </a:extLst>
          </p:cNvPr>
          <p:cNvSpPr/>
          <p:nvPr/>
        </p:nvSpPr>
        <p:spPr>
          <a:xfrm>
            <a:off x="712182" y="1751850"/>
            <a:ext cx="8487381" cy="5454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Bộ khuếch đại không đảo thực hiện </a:t>
            </a:r>
            <a:r>
              <a:rPr lang="vi-VN" altLang="ko-KR" sz="1300" dirty="0">
                <a:solidFill>
                  <a:schemeClr val="tx1">
                    <a:lumMod val="85000"/>
                    <a:lumOff val="15000"/>
                  </a:schemeClr>
                </a:solidFill>
                <a:latin typeface="SamsungOne-400" panose="020B0503030303020204" pitchFamily="34" charset="0"/>
                <a:ea typeface="SamsungOne-400" panose="020B0503030303020204" pitchFamily="34" charset="0"/>
              </a:rPr>
              <a:t>khuếch đại theo một mức độ khuếch đại được thiết lập mà không có điện áp đảo ngược</a:t>
            </a:r>
            <a:endPar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endParaRPr>
          </a:p>
        </p:txBody>
      </p:sp>
      <p:sp>
        <p:nvSpPr>
          <p:cNvPr id="12" name="직사각형 11">
            <a:extLst>
              <a:ext uri="{FF2B5EF4-FFF2-40B4-BE49-F238E27FC236}">
                <a16:creationId xmlns:a16="http://schemas.microsoft.com/office/drawing/2014/main" id="{CD08A5E7-4488-46D4-9257-0EF03363BF92}"/>
              </a:ext>
            </a:extLst>
          </p:cNvPr>
          <p:cNvSpPr/>
          <p:nvPr/>
        </p:nvSpPr>
        <p:spPr>
          <a:xfrm>
            <a:off x="580388" y="1521738"/>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pPr>
            <a:r>
              <a:rPr lang="en-US" altLang="ko-KR" sz="1400" dirty="0">
                <a:solidFill>
                  <a:schemeClr val="tx1"/>
                </a:solidFill>
                <a:latin typeface="SamsungOne-400" panose="020B0503030303020204" pitchFamily="34" charset="0"/>
                <a:ea typeface="SamsungOne-400" panose="020B0503030303020204" pitchFamily="34" charset="0"/>
              </a:rPr>
              <a:t>Bộ khuếch đại không đảo</a:t>
            </a:r>
          </a:p>
        </p:txBody>
      </p:sp>
      <p:sp>
        <p:nvSpPr>
          <p:cNvPr id="22" name="직사각형 21">
            <a:extLst>
              <a:ext uri="{FF2B5EF4-FFF2-40B4-BE49-F238E27FC236}">
                <a16:creationId xmlns:a16="http://schemas.microsoft.com/office/drawing/2014/main" id="{F972645C-B7CE-4CFA-A0C8-66472014437B}"/>
              </a:ext>
            </a:extLst>
          </p:cNvPr>
          <p:cNvSpPr/>
          <p:nvPr/>
        </p:nvSpPr>
        <p:spPr>
          <a:xfrm>
            <a:off x="712182" y="3903681"/>
            <a:ext cx="8487381" cy="1150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The voltage follower is a very simple circuit that outputs the input voltage as it is. This is very simple, but it plays an important role in system design </a:t>
            </a:r>
          </a:p>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The purpose of using this circuit is mostly for impedance transformation and circuit isolation.</a:t>
            </a:r>
          </a:p>
          <a:p>
            <a:pPr marL="182526" lvl="1" indent="-182526">
              <a:spcAft>
                <a:spcPts val="800"/>
              </a:spcAft>
              <a:buClr>
                <a:srgbClr val="193EB0"/>
              </a:buClr>
              <a:buSzPct val="80000"/>
              <a:buFont typeface="SamsungOne 400" panose="020B0503030303020204" pitchFamily="34" charset="0"/>
              <a:buChar char="‣"/>
            </a:pPr>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rPr>
              <a:t>Mục đích sử dụng mạch này chủ yếu là để biến đổi trở kháng và cách ly mạch.</a:t>
            </a:r>
          </a:p>
        </p:txBody>
      </p:sp>
      <p:sp>
        <p:nvSpPr>
          <p:cNvPr id="23" name="직사각형 22">
            <a:extLst>
              <a:ext uri="{FF2B5EF4-FFF2-40B4-BE49-F238E27FC236}">
                <a16:creationId xmlns:a16="http://schemas.microsoft.com/office/drawing/2014/main" id="{B6BBD238-C932-4143-8ABD-753FEFA1059C}"/>
              </a:ext>
            </a:extLst>
          </p:cNvPr>
          <p:cNvSpPr/>
          <p:nvPr/>
        </p:nvSpPr>
        <p:spPr>
          <a:xfrm>
            <a:off x="580388" y="3673569"/>
            <a:ext cx="861917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pPr>
            <a:r>
              <a:rPr lang="en-US" altLang="ko-KR" sz="1400" dirty="0">
                <a:solidFill>
                  <a:schemeClr val="tx1"/>
                </a:solidFill>
                <a:latin typeface="SamsungOne-400" panose="020B0503030303020204" pitchFamily="34" charset="0"/>
                <a:ea typeface="SamsungOne-400" panose="020B0503030303020204" pitchFamily="34" charset="0"/>
              </a:rPr>
              <a:t>Bộ theo dõi điện áp</a:t>
            </a:r>
          </a:p>
        </p:txBody>
      </p:sp>
      <p:grpSp>
        <p:nvGrpSpPr>
          <p:cNvPr id="5" name="그룹 4">
            <a:extLst>
              <a:ext uri="{FF2B5EF4-FFF2-40B4-BE49-F238E27FC236}">
                <a16:creationId xmlns:a16="http://schemas.microsoft.com/office/drawing/2014/main" id="{3935CF2F-36EE-4E09-BBF2-2A2204A02626}"/>
              </a:ext>
            </a:extLst>
          </p:cNvPr>
          <p:cNvGrpSpPr/>
          <p:nvPr/>
        </p:nvGrpSpPr>
        <p:grpSpPr>
          <a:xfrm>
            <a:off x="2817321" y="2151147"/>
            <a:ext cx="4268183" cy="1233545"/>
            <a:chOff x="2596576" y="2151147"/>
            <a:chExt cx="4268183" cy="1233545"/>
          </a:xfrm>
        </p:grpSpPr>
        <mc:AlternateContent xmlns:mc="http://schemas.openxmlformats.org/markup-compatibility/2006" xmlns:a14="http://schemas.microsoft.com/office/drawing/2010/main">
          <mc:Choice Requires="a14">
            <p:graphicFrame>
              <p:nvGraphicFramePr>
                <p:cNvPr id="20" name="Object 6">
                  <a:extLst>
                    <a:ext uri="{FF2B5EF4-FFF2-40B4-BE49-F238E27FC236}">
                      <a16:creationId xmlns:a16="http://schemas.microsoft.com/office/drawing/2014/main" id="{89F4760F-60F6-4F5D-9743-559E8A67AF31}"/>
                    </a:ext>
                  </a:extLst>
                </p:cNvPr>
                <p:cNvGraphicFramePr>
                  <a:graphicFrameLocks noChangeAspect="1"/>
                </p:cNvGraphicFramePr>
                <p:nvPr/>
              </p:nvGraphicFramePr>
              <p:xfrm>
                <a:off x="2596576" y="2165815"/>
                <a:ext cx="2231803" cy="1218877"/>
              </p:xfrm>
              <a:graphic>
                <a:graphicData uri="http://schemas.openxmlformats.org/presentationml/2006/ole">
                  <mc:AlternateContent>
                    <mc:Choice xmlns:v="urn:schemas-microsoft-com:vml" Requires="v">
                      <p:oleObj name="Visio" r:id="rId4" imgW="1634927" imgH="893414" progId="Visio.Drawing.11">
                        <p:embed/>
                      </p:oleObj>
                    </mc:Choice>
                    <mc:Fallback>
                      <p:oleObj name="Visio" r:id="rId4" imgW="1634927" imgH="893414" progId="Visio.Drawing.11">
                        <p:embed/>
                        <p:pic>
                          <p:nvPicPr>
                            <p:cNvPr id="20" name="Object 6">
                              <a:extLst>
                                <a:ext uri="{FF2B5EF4-FFF2-40B4-BE49-F238E27FC236}">
                                  <a16:creationId xmlns:a16="http://schemas.microsoft.com/office/drawing/2014/main" id="{89F4760F-60F6-4F5D-9743-559E8A67AF31}"/>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2596576" y="2165815"/>
                              <a:ext cx="2231803" cy="1218877"/>
                            </a:xfrm>
                            <a:prstGeom prst="rect">
                              <a:avLst/>
                            </a:prstGeom>
                            <a:noFill/>
                          </p:spPr>
                        </p:pic>
                      </p:oleObj>
                    </mc:Fallback>
                  </mc:AlternateContent>
                </a:graphicData>
              </a:graphic>
            </p:graphicFrame>
          </mc:Choice>
          <mc:Fallback xmlns="">
            <p:graphicFrame>
              <p:nvGraphicFramePr>
                <p:cNvPr id="20" name="Object 6">
                  <a:extLst>
                    <a:ext uri="{FF2B5EF4-FFF2-40B4-BE49-F238E27FC236}">
                      <a16:creationId xmlns:a16="http://schemas.microsoft.com/office/drawing/2014/main" id="{89F4760F-60F6-4F5D-9743-559E8A67AF31}"/>
                    </a:ext>
                  </a:extLst>
                </p:cNvPr>
                <p:cNvGraphicFramePr>
                  <a:graphicFrameLocks noChangeAspect="1"/>
                </p:cNvGraphicFramePr>
                <p:nvPr>
                  <p:extLst>
                    <p:ext uri="{D42A27DB-BD31-4B8C-83A1-F6EECF244321}">
                      <p14:modId xmlns:p14="http://schemas.microsoft.com/office/powerpoint/2010/main" val="2551918012"/>
                    </p:ext>
                  </p:extLst>
                </p:nvPr>
              </p:nvGraphicFramePr>
              <p:xfrm>
                <a:off x="2596576" y="2165815"/>
                <a:ext cx="2231803" cy="1218877"/>
              </p:xfrm>
              <a:graphic>
                <a:graphicData uri="http://schemas.openxmlformats.org/presentationml/2006/ole">
                  <mc:AlternateContent>
                    <mc:Choice xmlns:v="urn:schemas-microsoft-com:vml" Requires="v">
                      <p:oleObj spid="_x0000_s15362" name="Visio" r:id="rId7" imgW="1634927" imgH="893414" progId="Visio.Drawing.11">
                        <p:embed/>
                      </p:oleObj>
                    </mc:Choice>
                    <mc:Fallback>
                      <p:oleObj name="Visio" r:id="rId7" imgW="1634927" imgH="893414" progId="Visio.Drawing.11">
                        <p:embed/>
                        <p:pic>
                          <p:nvPicPr>
                            <p:cNvPr id="2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6576" y="2165815"/>
                              <a:ext cx="2231803" cy="1218877"/>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24" name="Object 8">
                  <a:extLst>
                    <a:ext uri="{FF2B5EF4-FFF2-40B4-BE49-F238E27FC236}">
                      <a16:creationId xmlns:a16="http://schemas.microsoft.com/office/drawing/2014/main" id="{9AFBC7F2-813E-4428-9384-14FCA7607D95}"/>
                    </a:ext>
                  </a:extLst>
                </p:cNvPr>
                <p:cNvSpPr txBox="1"/>
                <p:nvPr/>
              </p:nvSpPr>
              <p:spPr bwMode="auto">
                <a:xfrm>
                  <a:off x="5275848" y="2617788"/>
                  <a:ext cx="1588911" cy="502573"/>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en-US"/>
                  </a:defPPr>
                  <a:lvl1pPr lvl="0" algn="ctr">
                    <a:defRPr sz="1600">
                      <a:latin typeface="Cambria Math" panose="02040503050406030204" pitchFamily="18" charset="0"/>
                      <a:ea typeface="SamsungOne 700" panose="020B0803030303020204" pitchFamily="34" charset="0"/>
                    </a:defRPr>
                  </a:lvl1pPr>
                </a:lstStyle>
                <a:p>
                  <a:pPr/>
                  <a14:m>
                    <m:oMathPara xmlns:m="http://schemas.openxmlformats.org/officeDocument/2006/math">
                      <m:oMathParaPr>
                        <m:jc m:val="left"/>
                      </m:oMathParaPr>
                      <m:oMath xmlns:m="http://schemas.openxmlformats.org/officeDocument/2006/math">
                        <m:sSub>
                          <m:sSubPr>
                            <m:ctrlPr>
                              <a:rPr lang="ko-KR" altLang="en-US" i="1">
                                <a:latin typeface="Cambria Math" panose="02040503050406030204" pitchFamily="18" charset="0"/>
                              </a:rPr>
                            </m:ctrlPr>
                          </m:sSubPr>
                          <m:e>
                            <m:r>
                              <a:rPr lang="ko-KR" altLang="en-US">
                                <a:latin typeface="Cambria Math" panose="02040503050406030204" pitchFamily="18" charset="0"/>
                              </a:rPr>
                              <m:t>𝐴</m:t>
                            </m:r>
                          </m:e>
                          <m:sub>
                            <m:r>
                              <a:rPr lang="ko-KR" altLang="en-US">
                                <a:latin typeface="Cambria Math" panose="02040503050406030204" pitchFamily="18" charset="0"/>
                              </a:rPr>
                              <m:t>𝑉</m:t>
                            </m:r>
                          </m:sub>
                        </m:sSub>
                        <m:r>
                          <a:rPr lang="ko-KR" altLang="en-US">
                            <a:latin typeface="Cambria Math" panose="02040503050406030204" pitchFamily="18" charset="0"/>
                          </a:rPr>
                          <m:t>=</m:t>
                        </m:r>
                        <m:f>
                          <m:fPr>
                            <m:ctrlPr>
                              <a:rPr lang="ko-KR" altLang="en-US" i="1">
                                <a:latin typeface="Cambria Math" panose="02040503050406030204" pitchFamily="18" charset="0"/>
                              </a:rPr>
                            </m:ctrlPr>
                          </m:fPr>
                          <m:num>
                            <m:sSub>
                              <m:sSubPr>
                                <m:ctrlPr>
                                  <a:rPr lang="ko-KR" altLang="en-US" i="1">
                                    <a:latin typeface="Cambria Math" panose="02040503050406030204" pitchFamily="18" charset="0"/>
                                  </a:rPr>
                                </m:ctrlPr>
                              </m:sSubPr>
                              <m:e>
                                <m:r>
                                  <a:rPr lang="ko-KR" altLang="en-US">
                                    <a:latin typeface="Cambria Math" panose="02040503050406030204" pitchFamily="18" charset="0"/>
                                  </a:rPr>
                                  <m:t>𝑉</m:t>
                                </m:r>
                              </m:e>
                              <m:sub>
                                <m:r>
                                  <a:rPr lang="ko-KR" altLang="en-US">
                                    <a:latin typeface="Cambria Math" panose="02040503050406030204" pitchFamily="18" charset="0"/>
                                  </a:rPr>
                                  <m:t>𝑜</m:t>
                                </m:r>
                              </m:sub>
                            </m:sSub>
                          </m:num>
                          <m:den>
                            <m:sSub>
                              <m:sSubPr>
                                <m:ctrlPr>
                                  <a:rPr lang="ko-KR" altLang="en-US" i="1">
                                    <a:latin typeface="Cambria Math" panose="02040503050406030204" pitchFamily="18" charset="0"/>
                                  </a:rPr>
                                </m:ctrlPr>
                              </m:sSubPr>
                              <m:e>
                                <m:r>
                                  <a:rPr lang="ko-KR" altLang="en-US">
                                    <a:latin typeface="Cambria Math" panose="02040503050406030204" pitchFamily="18" charset="0"/>
                                  </a:rPr>
                                  <m:t>𝑉</m:t>
                                </m:r>
                              </m:e>
                              <m:sub>
                                <m:r>
                                  <a:rPr lang="ko-KR" altLang="en-US">
                                    <a:latin typeface="Cambria Math" panose="02040503050406030204" pitchFamily="18" charset="0"/>
                                  </a:rPr>
                                  <m:t>𝑖</m:t>
                                </m:r>
                              </m:sub>
                            </m:sSub>
                          </m:den>
                        </m:f>
                        <m:r>
                          <a:rPr lang="ko-KR" altLang="en-US">
                            <a:latin typeface="Cambria Math" panose="02040503050406030204" pitchFamily="18" charset="0"/>
                          </a:rPr>
                          <m:t>=1+</m:t>
                        </m:r>
                        <m:f>
                          <m:fPr>
                            <m:ctrlPr>
                              <a:rPr lang="ko-KR" altLang="en-US" i="1">
                                <a:latin typeface="Cambria Math" panose="02040503050406030204" pitchFamily="18" charset="0"/>
                              </a:rPr>
                            </m:ctrlPr>
                          </m:fPr>
                          <m:num>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2</m:t>
                                </m:r>
                              </m:sub>
                            </m:sSub>
                          </m:num>
                          <m:den>
                            <m:sSub>
                              <m:sSubPr>
                                <m:ctrlPr>
                                  <a:rPr lang="ko-KR" altLang="en-US" i="1">
                                    <a:latin typeface="Cambria Math" panose="02040503050406030204" pitchFamily="18" charset="0"/>
                                  </a:rPr>
                                </m:ctrlPr>
                              </m:sSubPr>
                              <m:e>
                                <m:r>
                                  <a:rPr lang="ko-KR" altLang="en-US">
                                    <a:latin typeface="Cambria Math" panose="02040503050406030204" pitchFamily="18" charset="0"/>
                                  </a:rPr>
                                  <m:t>𝑅</m:t>
                                </m:r>
                              </m:e>
                              <m:sub>
                                <m:r>
                                  <a:rPr lang="ko-KR" altLang="en-US">
                                    <a:latin typeface="Cambria Math" panose="02040503050406030204" pitchFamily="18" charset="0"/>
                                  </a:rPr>
                                  <m:t>1</m:t>
                                </m:r>
                              </m:sub>
                            </m:sSub>
                          </m:den>
                        </m:f>
                      </m:oMath>
                    </m:oMathPara>
                  </a14:m>
                  <a:endParaRPr lang="ko-KR" altLang="en-US" dirty="0"/>
                </a:p>
              </p:txBody>
            </p:sp>
          </mc:Choice>
          <mc:Fallback xmlns="">
            <p:sp>
              <p:nvSpPr>
                <p:cNvPr id="24" name="Object 8">
                  <a:extLst>
                    <a:ext uri="{FF2B5EF4-FFF2-40B4-BE49-F238E27FC236}">
                      <a16:creationId xmlns:a16="http://schemas.microsoft.com/office/drawing/2014/main" id="{9AFBC7F2-813E-4428-9384-14FCA7607D95}"/>
                    </a:ext>
                  </a:extLst>
                </p:cNvPr>
                <p:cNvSpPr txBox="1">
                  <a:spLocks noRot="1" noChangeAspect="1" noMove="1" noResize="1" noEditPoints="1" noAdjustHandles="1" noChangeArrowheads="1" noChangeShapeType="1" noTextEdit="1"/>
                </p:cNvSpPr>
                <p:nvPr/>
              </p:nvSpPr>
              <p:spPr bwMode="auto">
                <a:xfrm>
                  <a:off x="5275848" y="2617788"/>
                  <a:ext cx="1588911" cy="502573"/>
                </a:xfrm>
                <a:prstGeom prst="rect">
                  <a:avLst/>
                </a:prstGeom>
                <a:blipFill>
                  <a:blip r:embed="rId9"/>
                  <a:stretch>
                    <a:fillRect l="-1154" b="-120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6" name="Text Box 120">
                  <a:extLst>
                    <a:ext uri="{FF2B5EF4-FFF2-40B4-BE49-F238E27FC236}">
                      <a16:creationId xmlns:a16="http://schemas.microsoft.com/office/drawing/2014/main" id="{068871EA-BDB6-4D5B-A184-FB98D1EB2234}"/>
                    </a:ext>
                  </a:extLst>
                </p:cNvPr>
                <p:cNvSpPr txBox="1">
                  <a:spLocks noChangeArrowheads="1"/>
                </p:cNvSpPr>
                <p:nvPr/>
              </p:nvSpPr>
              <p:spPr bwMode="auto">
                <a:xfrm>
                  <a:off x="3640876" y="2151147"/>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𝑅</m:t>
                            </m:r>
                          </m:e>
                          <m:sub>
                            <m:r>
                              <a:rPr lang="en-US" altLang="ko-KR" sz="1600" b="0" i="0" dirty="0" smtClean="0">
                                <a:solidFill>
                                  <a:schemeClr val="tx1"/>
                                </a:solidFill>
                                <a:latin typeface="Cambria Math" panose="02040503050406030204" pitchFamily="18" charset="0"/>
                              </a:rPr>
                              <m:t>2</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26" name="Text Box 120">
                  <a:extLst>
                    <a:ext uri="{FF2B5EF4-FFF2-40B4-BE49-F238E27FC236}">
                      <a16:creationId xmlns:a16="http://schemas.microsoft.com/office/drawing/2014/main" id="{068871EA-BDB6-4D5B-A184-FB98D1EB2234}"/>
                    </a:ext>
                  </a:extLst>
                </p:cNvPr>
                <p:cNvSpPr txBox="1">
                  <a:spLocks noRot="1" noChangeAspect="1" noMove="1" noResize="1" noEditPoints="1" noAdjustHandles="1" noChangeArrowheads="1" noChangeShapeType="1" noTextEdit="1"/>
                </p:cNvSpPr>
                <p:nvPr/>
              </p:nvSpPr>
              <p:spPr bwMode="auto">
                <a:xfrm>
                  <a:off x="3640876" y="2151147"/>
                  <a:ext cx="311170" cy="246221"/>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4" name="Text Box 120">
                  <a:extLst>
                    <a:ext uri="{FF2B5EF4-FFF2-40B4-BE49-F238E27FC236}">
                      <a16:creationId xmlns:a16="http://schemas.microsoft.com/office/drawing/2014/main" id="{19B12D9A-0274-47C7-AE01-BF5FA6DD7DDC}"/>
                    </a:ext>
                  </a:extLst>
                </p:cNvPr>
                <p:cNvSpPr txBox="1">
                  <a:spLocks noChangeArrowheads="1"/>
                </p:cNvSpPr>
                <p:nvPr/>
              </p:nvSpPr>
              <p:spPr bwMode="auto">
                <a:xfrm>
                  <a:off x="2860588" y="2513329"/>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𝑅</m:t>
                            </m:r>
                          </m:e>
                          <m:sub>
                            <m:r>
                              <a:rPr lang="en-US" altLang="ko-KR" sz="1600" b="0" i="0" dirty="0" smtClean="0">
                                <a:solidFill>
                                  <a:schemeClr val="tx1"/>
                                </a:solidFill>
                                <a:latin typeface="Cambria Math" panose="02040503050406030204" pitchFamily="18" charset="0"/>
                              </a:rPr>
                              <m:t>1</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4" name="Text Box 120">
                  <a:extLst>
                    <a:ext uri="{FF2B5EF4-FFF2-40B4-BE49-F238E27FC236}">
                      <a16:creationId xmlns:a16="http://schemas.microsoft.com/office/drawing/2014/main" id="{19B12D9A-0274-47C7-AE01-BF5FA6DD7DDC}"/>
                    </a:ext>
                  </a:extLst>
                </p:cNvPr>
                <p:cNvSpPr txBox="1">
                  <a:spLocks noRot="1" noChangeAspect="1" noMove="1" noResize="1" noEditPoints="1" noAdjustHandles="1" noChangeArrowheads="1" noChangeShapeType="1" noTextEdit="1"/>
                </p:cNvSpPr>
                <p:nvPr/>
              </p:nvSpPr>
              <p:spPr bwMode="auto">
                <a:xfrm>
                  <a:off x="2860588" y="2513329"/>
                  <a:ext cx="311170" cy="246221"/>
                </a:xfrm>
                <a:prstGeom prst="rect">
                  <a:avLst/>
                </a:prstGeom>
                <a:blipFill>
                  <a:blip r:embed="rId1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6" name="Text Box 120">
                  <a:extLst>
                    <a:ext uri="{FF2B5EF4-FFF2-40B4-BE49-F238E27FC236}">
                      <a16:creationId xmlns:a16="http://schemas.microsoft.com/office/drawing/2014/main" id="{F15FF67D-A2F5-4366-959D-A9D17E329947}"/>
                    </a:ext>
                  </a:extLst>
                </p:cNvPr>
                <p:cNvSpPr txBox="1">
                  <a:spLocks noChangeArrowheads="1"/>
                </p:cNvSpPr>
                <p:nvPr/>
              </p:nvSpPr>
              <p:spPr bwMode="auto">
                <a:xfrm>
                  <a:off x="4655720" y="2886511"/>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1" dirty="0" smtClean="0">
                                <a:solidFill>
                                  <a:schemeClr val="tx1"/>
                                </a:solidFill>
                                <a:latin typeface="Cambria Math" panose="02040503050406030204" pitchFamily="18" charset="0"/>
                              </a:rPr>
                              <m:t>𝑜</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6" name="Text Box 120">
                  <a:extLst>
                    <a:ext uri="{FF2B5EF4-FFF2-40B4-BE49-F238E27FC236}">
                      <a16:creationId xmlns:a16="http://schemas.microsoft.com/office/drawing/2014/main" id="{F15FF67D-A2F5-4366-959D-A9D17E329947}"/>
                    </a:ext>
                  </a:extLst>
                </p:cNvPr>
                <p:cNvSpPr txBox="1">
                  <a:spLocks noRot="1" noChangeAspect="1" noMove="1" noResize="1" noEditPoints="1" noAdjustHandles="1" noChangeArrowheads="1" noChangeShapeType="1" noTextEdit="1"/>
                </p:cNvSpPr>
                <p:nvPr/>
              </p:nvSpPr>
              <p:spPr bwMode="auto">
                <a:xfrm>
                  <a:off x="4655720" y="2886511"/>
                  <a:ext cx="311170" cy="246221"/>
                </a:xfrm>
                <a:prstGeom prst="rect">
                  <a:avLst/>
                </a:prstGeom>
                <a:blipFill>
                  <a:blip r:embed="rId1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7" name="Text Box 120">
                  <a:extLst>
                    <a:ext uri="{FF2B5EF4-FFF2-40B4-BE49-F238E27FC236}">
                      <a16:creationId xmlns:a16="http://schemas.microsoft.com/office/drawing/2014/main" id="{DCD2B82B-6739-4085-84C0-AF3DE35F3175}"/>
                    </a:ext>
                  </a:extLst>
                </p:cNvPr>
                <p:cNvSpPr txBox="1">
                  <a:spLocks noChangeArrowheads="1"/>
                </p:cNvSpPr>
                <p:nvPr/>
              </p:nvSpPr>
              <p:spPr bwMode="auto">
                <a:xfrm>
                  <a:off x="2829234" y="3063017"/>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1" dirty="0" smtClean="0">
                                <a:solidFill>
                                  <a:schemeClr val="tx1"/>
                                </a:solidFill>
                                <a:latin typeface="Cambria Math" panose="02040503050406030204" pitchFamily="18" charset="0"/>
                              </a:rPr>
                              <m:t>𝑖</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37" name="Text Box 120">
                  <a:extLst>
                    <a:ext uri="{FF2B5EF4-FFF2-40B4-BE49-F238E27FC236}">
                      <a16:creationId xmlns:a16="http://schemas.microsoft.com/office/drawing/2014/main" id="{DCD2B82B-6739-4085-84C0-AF3DE35F3175}"/>
                    </a:ext>
                  </a:extLst>
                </p:cNvPr>
                <p:cNvSpPr txBox="1">
                  <a:spLocks noRot="1" noChangeAspect="1" noMove="1" noResize="1" noEditPoints="1" noAdjustHandles="1" noChangeArrowheads="1" noChangeShapeType="1" noTextEdit="1"/>
                </p:cNvSpPr>
                <p:nvPr/>
              </p:nvSpPr>
              <p:spPr bwMode="auto">
                <a:xfrm>
                  <a:off x="2829234" y="3063017"/>
                  <a:ext cx="311170" cy="246221"/>
                </a:xfrm>
                <a:prstGeom prst="rect">
                  <a:avLst/>
                </a:prstGeom>
                <a:blipFill>
                  <a:blip r:embed="rId13"/>
                  <a:stretch>
                    <a:fillRect/>
                  </a:stretch>
                </a:blipFill>
              </p:spPr>
              <p:txBody>
                <a:bodyPr/>
                <a:lstStyle/>
                <a:p>
                  <a:r>
                    <a:rPr lang="ko-KR" altLang="en-US">
                      <a:noFill/>
                    </a:rPr>
                    <a:t> </a:t>
                  </a:r>
                </a:p>
              </p:txBody>
            </p:sp>
          </mc:Fallback>
        </mc:AlternateContent>
      </p:grpSp>
      <p:grpSp>
        <p:nvGrpSpPr>
          <p:cNvPr id="8" name="그룹 7">
            <a:extLst>
              <a:ext uri="{FF2B5EF4-FFF2-40B4-BE49-F238E27FC236}">
                <a16:creationId xmlns:a16="http://schemas.microsoft.com/office/drawing/2014/main" id="{361C1032-B82A-4CE8-B120-DB9581EBD7A9}"/>
              </a:ext>
            </a:extLst>
          </p:cNvPr>
          <p:cNvGrpSpPr/>
          <p:nvPr/>
        </p:nvGrpSpPr>
        <p:grpSpPr>
          <a:xfrm>
            <a:off x="2484796" y="4865735"/>
            <a:ext cx="4355315" cy="1284072"/>
            <a:chOff x="2042626" y="5207207"/>
            <a:chExt cx="4355315" cy="1284072"/>
          </a:xfrm>
        </p:grpSpPr>
        <p:grpSp>
          <p:nvGrpSpPr>
            <p:cNvPr id="38" name="그룹 37">
              <a:extLst>
                <a:ext uri="{FF2B5EF4-FFF2-40B4-BE49-F238E27FC236}">
                  <a16:creationId xmlns:a16="http://schemas.microsoft.com/office/drawing/2014/main" id="{D1793F34-BE60-4E64-86F0-FF107C0808C0}"/>
                </a:ext>
              </a:extLst>
            </p:cNvPr>
            <p:cNvGrpSpPr/>
            <p:nvPr/>
          </p:nvGrpSpPr>
          <p:grpSpPr>
            <a:xfrm>
              <a:off x="2042626" y="5207207"/>
              <a:ext cx="4355315" cy="1284072"/>
              <a:chOff x="1994366" y="5117717"/>
              <a:chExt cx="4355315" cy="1284072"/>
            </a:xfrm>
          </p:grpSpPr>
          <mc:AlternateContent xmlns:mc="http://schemas.openxmlformats.org/markup-compatibility/2006" xmlns:a14="http://schemas.microsoft.com/office/drawing/2010/main">
            <mc:Choice Requires="a14">
              <p:graphicFrame>
                <p:nvGraphicFramePr>
                  <p:cNvPr id="39" name="Object 10">
                    <a:extLst>
                      <a:ext uri="{FF2B5EF4-FFF2-40B4-BE49-F238E27FC236}">
                        <a16:creationId xmlns:a16="http://schemas.microsoft.com/office/drawing/2014/main" id="{8DBCDBCB-6851-4A77-A605-98B8ACBC2622}"/>
                      </a:ext>
                    </a:extLst>
                  </p:cNvPr>
                  <p:cNvGraphicFramePr>
                    <a:graphicFrameLocks noChangeAspect="1"/>
                  </p:cNvGraphicFramePr>
                  <p:nvPr/>
                </p:nvGraphicFramePr>
                <p:xfrm>
                  <a:off x="1994366" y="5117717"/>
                  <a:ext cx="2759279" cy="1284072"/>
                </p:xfrm>
                <a:graphic>
                  <a:graphicData uri="http://schemas.openxmlformats.org/presentationml/2006/ole">
                    <mc:AlternateContent>
                      <mc:Choice xmlns:v="urn:schemas-microsoft-com:vml" Requires="v">
                        <p:oleObj name="Visio" r:id="rId14" imgW="1512354" imgH="703769" progId="Visio.Drawing.6">
                          <p:embed/>
                        </p:oleObj>
                      </mc:Choice>
                      <mc:Fallback>
                        <p:oleObj name="Visio" r:id="rId14" imgW="1512354" imgH="703769" progId="Visio.Drawing.6">
                          <p:embed/>
                          <p:pic>
                            <p:nvPicPr>
                              <p:cNvPr id="39" name="Object 10">
                                <a:extLst>
                                  <a:ext uri="{FF2B5EF4-FFF2-40B4-BE49-F238E27FC236}">
                                    <a16:creationId xmlns:a16="http://schemas.microsoft.com/office/drawing/2014/main" id="{8DBCDBCB-6851-4A77-A605-98B8ACBC2622}"/>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1994366" y="5117717"/>
                                <a:ext cx="2759279" cy="1284072"/>
                              </a:xfrm>
                              <a:prstGeom prst="rect">
                                <a:avLst/>
                              </a:prstGeom>
                              <a:noFill/>
                            </p:spPr>
                          </p:pic>
                        </p:oleObj>
                      </mc:Fallback>
                    </mc:AlternateContent>
                  </a:graphicData>
                </a:graphic>
              </p:graphicFrame>
            </mc:Choice>
            <mc:Fallback xmlns="">
              <p:graphicFrame>
                <p:nvGraphicFramePr>
                  <p:cNvPr id="39" name="Object 10">
                    <a:extLst>
                      <a:ext uri="{FF2B5EF4-FFF2-40B4-BE49-F238E27FC236}">
                        <a16:creationId xmlns:a16="http://schemas.microsoft.com/office/drawing/2014/main" xmlns="" xmlns:a14="http://schemas.microsoft.com/office/drawing/2010/main" id="{8DBCDBCB-6851-4A77-A605-98B8ACBC2622}"/>
                      </a:ext>
                    </a:extLst>
                  </p:cNvPr>
                  <p:cNvGraphicFramePr>
                    <a:graphicFrameLocks noChangeAspect="1"/>
                  </p:cNvGraphicFramePr>
                  <p:nvPr>
                    <p:extLst>
                      <p:ext uri="{D42A27DB-BD31-4B8C-83A1-F6EECF244321}">
                        <p14:modId xmlns:p14="http://schemas.microsoft.com/office/powerpoint/2010/main" val="3663487236"/>
                      </p:ext>
                    </p:extLst>
                  </p:nvPr>
                </p:nvGraphicFramePr>
                <p:xfrm>
                  <a:off x="1994366" y="5117717"/>
                  <a:ext cx="2759279" cy="1284072"/>
                </p:xfrm>
                <a:graphic>
                  <a:graphicData uri="http://schemas.openxmlformats.org/presentationml/2006/ole">
                    <mc:AlternateContent>
                      <mc:Choice xmlns:v="urn:schemas-microsoft-com:vml" Requires="v">
                        <p:oleObj spid="_x0000_s12345" name="Visio" r:id="rId15" imgW="1512354" imgH="703769" progId="Visio.Drawing.6">
                          <p:embed/>
                        </p:oleObj>
                      </mc:Choice>
                      <mc:Fallback>
                        <p:oleObj name="Visio" r:id="rId15" imgW="1512354" imgH="703769" progId="Visio.Drawing.6">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94366" y="5117717"/>
                                <a:ext cx="2759279" cy="1284072"/>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41" name="Object 12">
                    <a:extLst>
                      <a:ext uri="{FF2B5EF4-FFF2-40B4-BE49-F238E27FC236}">
                        <a16:creationId xmlns:a16="http://schemas.microsoft.com/office/drawing/2014/main" id="{3C6CA076-5DF6-4260-8569-68A845E9CB54}"/>
                      </a:ext>
                    </a:extLst>
                  </p:cNvPr>
                  <p:cNvSpPr txBox="1"/>
                  <p:nvPr/>
                </p:nvSpPr>
                <p:spPr bwMode="auto">
                  <a:xfrm>
                    <a:off x="5135561" y="5711467"/>
                    <a:ext cx="1214120" cy="502573"/>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en-US"/>
                    </a:defPPr>
                    <a:lvl1pPr lvl="0" algn="ctr">
                      <a:defRPr sz="1600">
                        <a:latin typeface="Cambria Math" panose="02040503050406030204" pitchFamily="18" charset="0"/>
                        <a:ea typeface="SamsungOne 700" panose="020B0803030303020204" pitchFamily="34" charset="0"/>
                      </a:defRPr>
                    </a:lvl1pPr>
                  </a:lstStyle>
                  <a:p>
                    <a:pPr/>
                    <a14:m>
                      <m:oMathPara xmlns:m="http://schemas.openxmlformats.org/officeDocument/2006/math">
                        <m:oMathParaPr>
                          <m:jc m:val="left"/>
                        </m:oMathParaPr>
                        <m:oMath xmlns:m="http://schemas.openxmlformats.org/officeDocument/2006/math">
                          <m:sSub>
                            <m:sSubPr>
                              <m:ctrlPr>
                                <a:rPr lang="ko-KR" altLang="en-US" i="1">
                                  <a:latin typeface="Cambria Math" panose="02040503050406030204" pitchFamily="18" charset="0"/>
                                </a:rPr>
                              </m:ctrlPr>
                            </m:sSubPr>
                            <m:e>
                              <m:r>
                                <a:rPr lang="ko-KR" altLang="en-US">
                                  <a:latin typeface="Cambria Math" panose="02040503050406030204" pitchFamily="18" charset="0"/>
                                </a:rPr>
                                <m:t>𝐴</m:t>
                              </m:r>
                            </m:e>
                            <m:sub>
                              <m:r>
                                <a:rPr lang="ko-KR" altLang="en-US">
                                  <a:latin typeface="Cambria Math" panose="02040503050406030204" pitchFamily="18" charset="0"/>
                                </a:rPr>
                                <m:t>𝑉</m:t>
                              </m:r>
                            </m:sub>
                          </m:sSub>
                          <m:r>
                            <a:rPr lang="ko-KR" altLang="en-US">
                              <a:latin typeface="Cambria Math" panose="02040503050406030204" pitchFamily="18" charset="0"/>
                            </a:rPr>
                            <m:t>=</m:t>
                          </m:r>
                          <m:f>
                            <m:fPr>
                              <m:ctrlPr>
                                <a:rPr lang="ko-KR" altLang="en-US" i="1">
                                  <a:latin typeface="Cambria Math" panose="02040503050406030204" pitchFamily="18" charset="0"/>
                                </a:rPr>
                              </m:ctrlPr>
                            </m:fPr>
                            <m:num>
                              <m:sSub>
                                <m:sSubPr>
                                  <m:ctrlPr>
                                    <a:rPr lang="ko-KR" altLang="en-US" i="1">
                                      <a:latin typeface="Cambria Math" panose="02040503050406030204" pitchFamily="18" charset="0"/>
                                    </a:rPr>
                                  </m:ctrlPr>
                                </m:sSubPr>
                                <m:e>
                                  <m:r>
                                    <a:rPr lang="ko-KR" altLang="en-US">
                                      <a:latin typeface="Cambria Math" panose="02040503050406030204" pitchFamily="18" charset="0"/>
                                    </a:rPr>
                                    <m:t>𝑉</m:t>
                                  </m:r>
                                </m:e>
                                <m:sub>
                                  <m:r>
                                    <a:rPr lang="ko-KR" altLang="en-US">
                                      <a:latin typeface="Cambria Math" panose="02040503050406030204" pitchFamily="18" charset="0"/>
                                    </a:rPr>
                                    <m:t>𝑜</m:t>
                                  </m:r>
                                </m:sub>
                              </m:sSub>
                            </m:num>
                            <m:den>
                              <m:sSub>
                                <m:sSubPr>
                                  <m:ctrlPr>
                                    <a:rPr lang="ko-KR" altLang="en-US" i="1">
                                      <a:latin typeface="Cambria Math" panose="02040503050406030204" pitchFamily="18" charset="0"/>
                                    </a:rPr>
                                  </m:ctrlPr>
                                </m:sSubPr>
                                <m:e>
                                  <m:r>
                                    <a:rPr lang="ko-KR" altLang="en-US">
                                      <a:latin typeface="Cambria Math" panose="02040503050406030204" pitchFamily="18" charset="0"/>
                                    </a:rPr>
                                    <m:t>𝑉</m:t>
                                  </m:r>
                                </m:e>
                                <m:sub>
                                  <m:r>
                                    <a:rPr lang="ko-KR" altLang="en-US">
                                      <a:latin typeface="Cambria Math" panose="02040503050406030204" pitchFamily="18" charset="0"/>
                                    </a:rPr>
                                    <m:t>𝑖</m:t>
                                  </m:r>
                                </m:sub>
                              </m:sSub>
                            </m:den>
                          </m:f>
                          <m:r>
                            <a:rPr lang="ko-KR" altLang="en-US">
                              <a:latin typeface="Cambria Math" panose="02040503050406030204" pitchFamily="18" charset="0"/>
                            </a:rPr>
                            <m:t>=1</m:t>
                          </m:r>
                        </m:oMath>
                      </m:oMathPara>
                    </a14:m>
                    <a:endParaRPr lang="ko-KR" altLang="en-US" dirty="0"/>
                  </a:p>
                </p:txBody>
              </p:sp>
            </mc:Choice>
            <mc:Fallback xmlns="">
              <p:sp>
                <p:nvSpPr>
                  <p:cNvPr id="41" name="Object 12">
                    <a:extLst>
                      <a:ext uri="{FF2B5EF4-FFF2-40B4-BE49-F238E27FC236}">
                        <a16:creationId xmlns:a16="http://schemas.microsoft.com/office/drawing/2014/main" xmlns="" xmlns:a14="http://schemas.microsoft.com/office/drawing/2010/main" id="{3C6CA076-5DF6-4260-8569-68A845E9CB54}"/>
                      </a:ext>
                    </a:extLst>
                  </p:cNvPr>
                  <p:cNvSpPr txBox="1">
                    <a:spLocks noRot="1" noChangeAspect="1" noMove="1" noResize="1" noEditPoints="1" noAdjustHandles="1" noChangeArrowheads="1" noChangeShapeType="1" noTextEdit="1"/>
                  </p:cNvSpPr>
                  <p:nvPr/>
                </p:nvSpPr>
                <p:spPr bwMode="auto">
                  <a:xfrm>
                    <a:off x="5135561" y="5711467"/>
                    <a:ext cx="1214120" cy="502573"/>
                  </a:xfrm>
                  <a:prstGeom prst="rect">
                    <a:avLst/>
                  </a:prstGeom>
                  <a:blipFill rotWithShape="0">
                    <a:blip r:embed="rId17"/>
                    <a:stretch>
                      <a:fillRect l="-1508" b="-1220"/>
                    </a:stretch>
                  </a:blipFill>
                </p:spPr>
                <p:txBody>
                  <a:bodyPr/>
                  <a:lstStyle/>
                  <a:p>
                    <a:r>
                      <a:rPr lang="ko-KR" altLang="en-US">
                        <a:noFill/>
                      </a:rPr>
                      <a:t> </a:t>
                    </a:r>
                  </a:p>
                </p:txBody>
              </p:sp>
            </mc:Fallback>
          </mc:AlternateContent>
        </p:grpSp>
        <mc:AlternateContent xmlns:mc="http://schemas.openxmlformats.org/markup-compatibility/2006" xmlns:a14="http://schemas.microsoft.com/office/drawing/2010/main">
          <mc:Choice Requires="a14">
            <p:sp>
              <p:nvSpPr>
                <p:cNvPr id="42" name="Text Box 120">
                  <a:extLst>
                    <a:ext uri="{FF2B5EF4-FFF2-40B4-BE49-F238E27FC236}">
                      <a16:creationId xmlns:a16="http://schemas.microsoft.com/office/drawing/2014/main" id="{7266A27F-4A7D-4C7A-A9F0-66E6BEC4D07C}"/>
                    </a:ext>
                  </a:extLst>
                </p:cNvPr>
                <p:cNvSpPr txBox="1">
                  <a:spLocks noChangeArrowheads="1"/>
                </p:cNvSpPr>
                <p:nvPr/>
              </p:nvSpPr>
              <p:spPr bwMode="auto">
                <a:xfrm>
                  <a:off x="4535243" y="5942781"/>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1" dirty="0" smtClean="0">
                                <a:solidFill>
                                  <a:schemeClr val="tx1"/>
                                </a:solidFill>
                                <a:latin typeface="Cambria Math" panose="02040503050406030204" pitchFamily="18" charset="0"/>
                              </a:rPr>
                              <m:t>𝑜</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42" name="Text Box 120">
                  <a:extLst>
                    <a:ext uri="{FF2B5EF4-FFF2-40B4-BE49-F238E27FC236}">
                      <a16:creationId xmlns:a16="http://schemas.microsoft.com/office/drawing/2014/main" xmlns="" xmlns:a14="http://schemas.microsoft.com/office/drawing/2010/main" id="{7266A27F-4A7D-4C7A-A9F0-66E6BEC4D07C}"/>
                    </a:ext>
                  </a:extLst>
                </p:cNvPr>
                <p:cNvSpPr txBox="1">
                  <a:spLocks noRot="1" noChangeAspect="1" noMove="1" noResize="1" noEditPoints="1" noAdjustHandles="1" noChangeArrowheads="1" noChangeShapeType="1" noTextEdit="1"/>
                </p:cNvSpPr>
                <p:nvPr/>
              </p:nvSpPr>
              <p:spPr bwMode="auto">
                <a:xfrm>
                  <a:off x="4535243" y="5942781"/>
                  <a:ext cx="311170" cy="246221"/>
                </a:xfrm>
                <a:prstGeom prst="rect">
                  <a:avLst/>
                </a:prstGeom>
                <a:blipFill rotWithShape="0">
                  <a:blip r:embed="rId18"/>
                  <a:stretch>
                    <a:fillRect b="-25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3" name="Text Box 120">
                  <a:extLst>
                    <a:ext uri="{FF2B5EF4-FFF2-40B4-BE49-F238E27FC236}">
                      <a16:creationId xmlns:a16="http://schemas.microsoft.com/office/drawing/2014/main" id="{8F5959D8-B267-4312-8D78-9C0FD8303AE0}"/>
                    </a:ext>
                  </a:extLst>
                </p:cNvPr>
                <p:cNvSpPr txBox="1">
                  <a:spLocks noChangeArrowheads="1"/>
                </p:cNvSpPr>
                <p:nvPr/>
              </p:nvSpPr>
              <p:spPr bwMode="auto">
                <a:xfrm>
                  <a:off x="2433799" y="6168671"/>
                  <a:ext cx="311170" cy="246221"/>
                </a:xfrm>
                <a:prstGeom prst="rect">
                  <a:avLst/>
                </a:prstGeom>
                <a:solidFill>
                  <a:schemeClr val="bg1"/>
                </a:solidFill>
              </p:spPr>
              <p:txBody>
                <a:bodyPr wrap="square" lIns="0" tIns="0" rIns="0" b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100">
                      <a:solidFill>
                        <a:srgbClr val="000000"/>
                      </a:solidFill>
                      <a:latin typeface="SamsungOne 700" panose="020B0803030303020204" pitchFamily="34" charset="0"/>
                      <a:ea typeface="SamsungOne 700" panose="020B08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ko-KR" sz="1600" i="1" dirty="0" smtClean="0">
                                <a:solidFill>
                                  <a:schemeClr val="tx1"/>
                                </a:solidFill>
                                <a:latin typeface="Cambria Math" panose="02040503050406030204" pitchFamily="18" charset="0"/>
                              </a:rPr>
                            </m:ctrlPr>
                          </m:sSubPr>
                          <m:e>
                            <m:r>
                              <a:rPr lang="en-US" altLang="ko-KR" sz="1600" i="1" dirty="0" smtClean="0">
                                <a:solidFill>
                                  <a:schemeClr val="tx1"/>
                                </a:solidFill>
                                <a:latin typeface="Cambria Math" panose="02040503050406030204" pitchFamily="18" charset="0"/>
                              </a:rPr>
                              <m:t>𝑉</m:t>
                            </m:r>
                          </m:e>
                          <m:sub>
                            <m:r>
                              <a:rPr lang="en-US" altLang="ko-KR" sz="1600" i="1" dirty="0" smtClean="0">
                                <a:solidFill>
                                  <a:schemeClr val="tx1"/>
                                </a:solidFill>
                                <a:latin typeface="Cambria Math" panose="02040503050406030204" pitchFamily="18" charset="0"/>
                              </a:rPr>
                              <m:t>𝑖</m:t>
                            </m:r>
                          </m:sub>
                        </m:sSub>
                      </m:oMath>
                    </m:oMathPara>
                  </a14:m>
                  <a:endParaRPr lang="en-US" altLang="ko-KR" sz="1600" dirty="0">
                    <a:solidFill>
                      <a:schemeClr val="tx1"/>
                    </a:solidFill>
                    <a:latin typeface="SamsungOne-400" panose="020B0503030303020204" pitchFamily="34" charset="0"/>
                    <a:ea typeface="SamsungOne-400" panose="020B0503030303020204" pitchFamily="34" charset="0"/>
                  </a:endParaRPr>
                </a:p>
              </p:txBody>
            </p:sp>
          </mc:Choice>
          <mc:Fallback xmlns="">
            <p:sp>
              <p:nvSpPr>
                <p:cNvPr id="43" name="Text Box 120">
                  <a:extLst>
                    <a:ext uri="{FF2B5EF4-FFF2-40B4-BE49-F238E27FC236}">
                      <a16:creationId xmlns:a16="http://schemas.microsoft.com/office/drawing/2014/main" xmlns="" xmlns:a14="http://schemas.microsoft.com/office/drawing/2010/main" id="{8F5959D8-B267-4312-8D78-9C0FD8303AE0}"/>
                    </a:ext>
                  </a:extLst>
                </p:cNvPr>
                <p:cNvSpPr txBox="1">
                  <a:spLocks noRot="1" noChangeAspect="1" noMove="1" noResize="1" noEditPoints="1" noAdjustHandles="1" noChangeArrowheads="1" noChangeShapeType="1" noTextEdit="1"/>
                </p:cNvSpPr>
                <p:nvPr/>
              </p:nvSpPr>
              <p:spPr bwMode="auto">
                <a:xfrm>
                  <a:off x="2433799" y="6168671"/>
                  <a:ext cx="311170" cy="246221"/>
                </a:xfrm>
                <a:prstGeom prst="rect">
                  <a:avLst/>
                </a:prstGeom>
                <a:blipFill rotWithShape="0">
                  <a:blip r:embed="rId19"/>
                  <a:stretch>
                    <a:fillRect b="-2500"/>
                  </a:stretch>
                </a:blipFill>
              </p:spPr>
              <p:txBody>
                <a:bodyPr/>
                <a:lstStyle/>
                <a:p>
                  <a:r>
                    <a:rPr lang="ko-KR" altLang="en-US">
                      <a:noFill/>
                    </a:rPr>
                    <a:t> </a:t>
                  </a:r>
                </a:p>
              </p:txBody>
            </p:sp>
          </mc:Fallback>
        </mc:AlternateContent>
      </p:grpSp>
      <p:sp>
        <p:nvSpPr>
          <p:cNvPr id="2" name="Google Shape;3457;p184">
            <a:extLst>
              <a:ext uri="{FF2B5EF4-FFF2-40B4-BE49-F238E27FC236}">
                <a16:creationId xmlns:a16="http://schemas.microsoft.com/office/drawing/2014/main" id="{A119E872-99AA-FB96-5ADF-B72061F574A4}"/>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extLst>
      <p:ext uri="{BB962C8B-B14F-4D97-AF65-F5344CB8AC3E}">
        <p14:creationId xmlns:p14="http://schemas.microsoft.com/office/powerpoint/2010/main" val="1832078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3682"/>
        <p:cNvGrpSpPr/>
        <p:nvPr/>
      </p:nvGrpSpPr>
      <p:grpSpPr>
        <a:xfrm>
          <a:off x="0" y="0"/>
          <a:ext cx="0" cy="0"/>
          <a:chOff x="0" y="0"/>
          <a:chExt cx="0" cy="0"/>
        </a:xfrm>
      </p:grpSpPr>
      <p:sp>
        <p:nvSpPr>
          <p:cNvPr id="3684" name="Google Shape;3684;p197"/>
          <p:cNvSpPr/>
          <p:nvPr/>
        </p:nvSpPr>
        <p:spPr>
          <a:xfrm>
            <a:off x="712182" y="1751850"/>
            <a:ext cx="8487381" cy="950721"/>
          </a:xfrm>
          <a:prstGeom prst="rect">
            <a:avLst/>
          </a:prstGeom>
          <a:noFill/>
          <a:ln>
            <a:noFill/>
          </a:ln>
        </p:spPr>
        <p:txBody>
          <a:bodyPr spcFirstLastPara="1" wrap="square" lIns="0" tIns="71975" rIns="143950" bIns="71975" anchor="t" anchorCtr="0">
            <a:spAutoFit/>
          </a:bodyPr>
          <a:lstStyle/>
          <a:p>
            <a:pPr marL="182526" marR="0" lvl="1" indent="-182526" algn="l" rtl="0">
              <a:spcBef>
                <a:spcPts val="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Mạch khuếch đại tín hiệu dưới 10 KHz trong dòng điện một chiều.</a:t>
            </a:r>
            <a:endParaRPr/>
          </a:p>
          <a:p>
            <a:pPr marL="182526" marR="0" lvl="1" indent="-182526" algn="l" rtl="0">
              <a:spcBef>
                <a:spcPts val="80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Mạch này được sử dụng để khuếch đại điện áp siêu nhỏ như tín hiệu cảm biến để chuyển đổi A/D hoặc để </a:t>
            </a:r>
            <a:endParaRPr/>
          </a:p>
          <a:p>
            <a:pPr marL="182526" marR="0" lvl="1" indent="-182526" algn="l" rtl="0">
              <a:spcBef>
                <a:spcPts val="80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khuếch đại điện áp được phát hiện trong các mạch digital.</a:t>
            </a:r>
            <a:endParaRPr/>
          </a:p>
        </p:txBody>
      </p:sp>
      <p:sp>
        <p:nvSpPr>
          <p:cNvPr id="3685" name="Google Shape;3685;p197"/>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Bộ khuếch đại âm tần</a:t>
            </a:r>
            <a:endParaRPr sz="1400">
              <a:solidFill>
                <a:schemeClr val="dk1"/>
              </a:solidFill>
              <a:latin typeface="Arial"/>
              <a:ea typeface="Arial"/>
              <a:cs typeface="Arial"/>
              <a:sym typeface="Arial"/>
            </a:endParaRPr>
          </a:p>
        </p:txBody>
      </p:sp>
      <p:sp>
        <p:nvSpPr>
          <p:cNvPr id="3686" name="Google Shape;3686;p197"/>
          <p:cNvSpPr/>
          <p:nvPr/>
        </p:nvSpPr>
        <p:spPr>
          <a:xfrm>
            <a:off x="712182" y="4665309"/>
            <a:ext cx="4239231" cy="1253368"/>
          </a:xfrm>
          <a:prstGeom prst="rect">
            <a:avLst/>
          </a:prstGeom>
          <a:noFill/>
          <a:ln>
            <a:noFill/>
          </a:ln>
        </p:spPr>
        <p:txBody>
          <a:bodyPr spcFirstLastPara="1" wrap="square" lIns="0" tIns="71975" rIns="143950" bIns="71975" anchor="t" anchorCtr="0">
            <a:spAutoFit/>
          </a:bodyPr>
          <a:lstStyle/>
          <a:p>
            <a:pPr marL="182526" marR="0" lvl="1" indent="-182526" algn="l" rtl="0">
              <a:spcBef>
                <a:spcPts val="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Dải điện áp nguồn</a:t>
            </a:r>
            <a:endParaRPr/>
          </a:p>
          <a:p>
            <a:pPr marL="182526" marR="0" lvl="1" indent="-182526" algn="l" rtl="0">
              <a:spcBef>
                <a:spcPts val="80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Băng thông độ lợi</a:t>
            </a:r>
            <a:endParaRPr/>
          </a:p>
          <a:p>
            <a:pPr marL="182526" marR="0" lvl="1" indent="-182526" algn="l" rtl="0">
              <a:spcBef>
                <a:spcPts val="80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Biên điện áp đầu ra</a:t>
            </a:r>
            <a:endParaRPr/>
          </a:p>
          <a:p>
            <a:pPr marL="182526" marR="0" lvl="1" indent="-182526" algn="l" rtl="0">
              <a:spcBef>
                <a:spcPts val="80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Có thể dùng làm bộ nguồn đơn không?</a:t>
            </a:r>
            <a:endParaRPr/>
          </a:p>
        </p:txBody>
      </p:sp>
      <p:sp>
        <p:nvSpPr>
          <p:cNvPr id="3687" name="Google Shape;3687;p197"/>
          <p:cNvSpPr/>
          <p:nvPr/>
        </p:nvSpPr>
        <p:spPr>
          <a:xfrm>
            <a:off x="580389" y="4429197"/>
            <a:ext cx="4371024"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Thông số kỹ thuật của mạch khuếch đại thuật toán </a:t>
            </a:r>
            <a:endParaRPr/>
          </a:p>
        </p:txBody>
      </p:sp>
      <p:grpSp>
        <p:nvGrpSpPr>
          <p:cNvPr id="3688" name="Google Shape;3688;p197"/>
          <p:cNvGrpSpPr/>
          <p:nvPr/>
        </p:nvGrpSpPr>
        <p:grpSpPr>
          <a:xfrm>
            <a:off x="909482" y="2737307"/>
            <a:ext cx="4837607" cy="1383625"/>
            <a:chOff x="912953" y="2788136"/>
            <a:chExt cx="4837607" cy="1383625"/>
          </a:xfrm>
        </p:grpSpPr>
        <p:grpSp>
          <p:nvGrpSpPr>
            <p:cNvPr id="3689" name="Google Shape;3689;p197"/>
            <p:cNvGrpSpPr/>
            <p:nvPr/>
          </p:nvGrpSpPr>
          <p:grpSpPr>
            <a:xfrm>
              <a:off x="912953" y="2792889"/>
              <a:ext cx="4837607" cy="1378872"/>
              <a:chOff x="2521534" y="2779712"/>
              <a:chExt cx="6694604" cy="1908175"/>
            </a:xfrm>
          </p:grpSpPr>
          <p:pic>
            <p:nvPicPr>
              <p:cNvPr id="3690" name="Google Shape;3690;p197"/>
              <p:cNvPicPr preferRelativeResize="0"/>
              <p:nvPr/>
            </p:nvPicPr>
            <p:blipFill rotWithShape="1">
              <a:blip r:embed="rId3">
                <a:alphaModFix/>
              </a:blip>
              <a:srcRect/>
              <a:stretch/>
            </p:blipFill>
            <p:spPr>
              <a:xfrm>
                <a:off x="2521534" y="2779712"/>
                <a:ext cx="3538537" cy="1908175"/>
              </a:xfrm>
              <a:prstGeom prst="rect">
                <a:avLst/>
              </a:prstGeom>
              <a:noFill/>
              <a:ln>
                <a:noFill/>
              </a:ln>
            </p:spPr>
          </p:pic>
          <p:sp>
            <p:nvSpPr>
              <p:cNvPr id="3691" name="Google Shape;3691;p197"/>
              <p:cNvSpPr txBox="1"/>
              <p:nvPr/>
            </p:nvSpPr>
            <p:spPr>
              <a:xfrm>
                <a:off x="6671262" y="3132752"/>
                <a:ext cx="2038713" cy="340737"/>
              </a:xfrm>
              <a:prstGeom prst="rect">
                <a:avLst/>
              </a:prstGeom>
              <a:blipFill rotWithShape="1">
                <a:blip r:embed="rId4">
                  <a:alphaModFix/>
                </a:blip>
                <a:stretch>
                  <a:fillRect l="-828" b="-24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92" name="Google Shape;3692;p197"/>
              <p:cNvSpPr txBox="1"/>
              <p:nvPr/>
            </p:nvSpPr>
            <p:spPr>
              <a:xfrm>
                <a:off x="6671262" y="3765627"/>
                <a:ext cx="2544876" cy="693720"/>
              </a:xfrm>
              <a:prstGeom prst="rect">
                <a:avLst/>
              </a:prstGeom>
              <a:blipFill rotWithShape="1">
                <a:blip r:embed="rId5">
                  <a:alphaModFix/>
                </a:blip>
                <a:stretch>
                  <a:fillRect l="-996" b="-121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sp>
          <p:nvSpPr>
            <p:cNvPr id="3693" name="Google Shape;3693;p197"/>
            <p:cNvSpPr txBox="1"/>
            <p:nvPr/>
          </p:nvSpPr>
          <p:spPr>
            <a:xfrm>
              <a:off x="1307397" y="3171110"/>
              <a:ext cx="311170" cy="246221"/>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94" name="Google Shape;3694;p197"/>
            <p:cNvSpPr txBox="1"/>
            <p:nvPr/>
          </p:nvSpPr>
          <p:spPr>
            <a:xfrm>
              <a:off x="1539045" y="3527307"/>
              <a:ext cx="311170" cy="246221"/>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95" name="Google Shape;3695;p197"/>
            <p:cNvSpPr txBox="1"/>
            <p:nvPr/>
          </p:nvSpPr>
          <p:spPr>
            <a:xfrm>
              <a:off x="1880279" y="2788136"/>
              <a:ext cx="311170" cy="246221"/>
            </a:xfrm>
            <a:prstGeom prst="rect">
              <a:avLst/>
            </a:prstGeom>
            <a:blipFill rotWithShape="1">
              <a:blip r:embed="rId8">
                <a:alphaModFix/>
              </a:blip>
              <a:stretch>
                <a:fillRect b="-24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96" name="Google Shape;3696;p197"/>
            <p:cNvSpPr txBox="1"/>
            <p:nvPr/>
          </p:nvSpPr>
          <p:spPr>
            <a:xfrm>
              <a:off x="2765901" y="2788136"/>
              <a:ext cx="311170" cy="246221"/>
            </a:xfrm>
            <a:prstGeom prst="rect">
              <a:avLst/>
            </a:prstGeom>
            <a:blipFill rotWithShape="1">
              <a:blip r:embed="rId9">
                <a:alphaModFix/>
              </a:blip>
              <a:stretch>
                <a:fillRect b="-24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97" name="Google Shape;3697;p197"/>
            <p:cNvSpPr txBox="1"/>
            <p:nvPr/>
          </p:nvSpPr>
          <p:spPr>
            <a:xfrm>
              <a:off x="996227" y="3714951"/>
              <a:ext cx="311170" cy="246221"/>
            </a:xfrm>
            <a:prstGeom prst="rect">
              <a:avLst/>
            </a:prstGeom>
            <a:blipFill rotWithShape="1">
              <a:blip r:embed="rId10">
                <a:alphaModFix/>
              </a:blip>
              <a:stretch>
                <a:fillRect b="-24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98" name="Google Shape;3698;p197"/>
            <p:cNvSpPr txBox="1"/>
            <p:nvPr/>
          </p:nvSpPr>
          <p:spPr>
            <a:xfrm>
              <a:off x="3249168" y="3509748"/>
              <a:ext cx="373177" cy="246221"/>
            </a:xfrm>
            <a:prstGeom prst="rect">
              <a:avLst/>
            </a:prstGeom>
            <a:blipFill rotWithShape="1">
              <a:blip r:embed="rId11">
                <a:alphaModFix/>
              </a:blip>
              <a:stretch>
                <a:fillRect l="-655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99" name="Google Shape;3699;p197"/>
            <p:cNvSpPr txBox="1"/>
            <p:nvPr/>
          </p:nvSpPr>
          <p:spPr>
            <a:xfrm>
              <a:off x="2304287" y="3171109"/>
              <a:ext cx="461613" cy="246221"/>
            </a:xfrm>
            <a:prstGeom prst="rect">
              <a:avLst/>
            </a:pr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pic>
        <p:nvPicPr>
          <p:cNvPr id="3700" name="Google Shape;3700;p197" descr="g2-41"/>
          <p:cNvPicPr preferRelativeResize="0"/>
          <p:nvPr/>
        </p:nvPicPr>
        <p:blipFill rotWithShape="1">
          <a:blip r:embed="rId13">
            <a:alphaModFix/>
          </a:blip>
          <a:srcRect/>
          <a:stretch/>
        </p:blipFill>
        <p:spPr>
          <a:xfrm>
            <a:off x="5955089" y="2737307"/>
            <a:ext cx="3183551" cy="3056833"/>
          </a:xfrm>
          <a:prstGeom prst="rect">
            <a:avLst/>
          </a:prstGeom>
          <a:noFill/>
          <a:ln w="9525" cap="flat" cmpd="sng">
            <a:solidFill>
              <a:srgbClr val="D8D8D8"/>
            </a:solidFill>
            <a:prstDash val="solid"/>
            <a:miter lim="800000"/>
            <a:headEnd type="none" w="sm" len="sm"/>
            <a:tailEnd type="none" w="sm" len="sm"/>
          </a:ln>
        </p:spPr>
      </p:pic>
      <p:sp>
        <p:nvSpPr>
          <p:cNvPr id="2" name="Google Shape;3457;p184">
            <a:extLst>
              <a:ext uri="{FF2B5EF4-FFF2-40B4-BE49-F238E27FC236}">
                <a16:creationId xmlns:a16="http://schemas.microsoft.com/office/drawing/2014/main" id="{9FD09216-9759-F1C7-E739-3292786F6B99}"/>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3706"/>
        <p:cNvGrpSpPr/>
        <p:nvPr/>
      </p:nvGrpSpPr>
      <p:grpSpPr>
        <a:xfrm>
          <a:off x="0" y="0"/>
          <a:ext cx="0" cy="0"/>
          <a:chOff x="0" y="0"/>
          <a:chExt cx="0" cy="0"/>
        </a:xfrm>
      </p:grpSpPr>
      <p:sp>
        <p:nvSpPr>
          <p:cNvPr id="3707" name="Google Shape;3707;p198"/>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Thiết kế cơ bản của mạch digital</a:t>
            </a:r>
            <a:endParaRPr/>
          </a:p>
        </p:txBody>
      </p:sp>
      <p:sp>
        <p:nvSpPr>
          <p:cNvPr id="3709" name="Google Shape;3709;p198"/>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Chốt dữ liệu</a:t>
            </a:r>
            <a:endParaRPr sz="1400">
              <a:solidFill>
                <a:schemeClr val="dk1"/>
              </a:solidFill>
              <a:latin typeface="Arial"/>
              <a:ea typeface="Arial"/>
              <a:cs typeface="Arial"/>
              <a:sym typeface="Arial"/>
            </a:endParaRPr>
          </a:p>
        </p:txBody>
      </p:sp>
      <p:sp>
        <p:nvSpPr>
          <p:cNvPr id="3710" name="Google Shape;3710;p198"/>
          <p:cNvSpPr/>
          <p:nvPr/>
        </p:nvSpPr>
        <p:spPr>
          <a:xfrm>
            <a:off x="712182" y="2174873"/>
            <a:ext cx="8487381" cy="545481"/>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Khi máy vi tính xuất ra dữ liệu theo lệnh xuất, dữ liệu chỉ thực sự được xuất ra trong một thời điểm. Mạch khóa được sử dụng để duy trì trạng thái đầu ra này. Để thực hiện điều này, sử dụng các IC như flip-flop D hoặc chốt.</a:t>
            </a:r>
            <a:endParaRPr/>
          </a:p>
        </p:txBody>
      </p:sp>
      <p:grpSp>
        <p:nvGrpSpPr>
          <p:cNvPr id="3711" name="Google Shape;3711;p198"/>
          <p:cNvGrpSpPr/>
          <p:nvPr/>
        </p:nvGrpSpPr>
        <p:grpSpPr>
          <a:xfrm>
            <a:off x="2570311" y="3067368"/>
            <a:ext cx="4602823" cy="2741223"/>
            <a:chOff x="2570311" y="2935288"/>
            <a:chExt cx="4602823" cy="2741223"/>
          </a:xfrm>
        </p:grpSpPr>
        <p:grpSp>
          <p:nvGrpSpPr>
            <p:cNvPr id="3712" name="Google Shape;3712;p198"/>
            <p:cNvGrpSpPr/>
            <p:nvPr/>
          </p:nvGrpSpPr>
          <p:grpSpPr>
            <a:xfrm>
              <a:off x="2570311" y="3079074"/>
              <a:ext cx="1912789" cy="2597437"/>
              <a:chOff x="2153876" y="3079074"/>
              <a:chExt cx="1912789" cy="2597437"/>
            </a:xfrm>
          </p:grpSpPr>
          <p:sp>
            <p:nvSpPr>
              <p:cNvPr id="3713" name="Google Shape;3713;p198"/>
              <p:cNvSpPr txBox="1"/>
              <p:nvPr/>
            </p:nvSpPr>
            <p:spPr>
              <a:xfrm>
                <a:off x="2384794" y="5384123"/>
                <a:ext cx="1681871"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74HC74(D flip flop)</a:t>
                </a:r>
                <a:endParaRPr sz="1300" b="1">
                  <a:solidFill>
                    <a:srgbClr val="000000"/>
                  </a:solidFill>
                  <a:latin typeface="Arial"/>
                  <a:ea typeface="Arial"/>
                  <a:cs typeface="Arial"/>
                  <a:sym typeface="Arial"/>
                </a:endParaRPr>
              </a:p>
            </p:txBody>
          </p:sp>
          <p:graphicFrame>
            <p:nvGraphicFramePr>
              <p:cNvPr id="3714" name="Google Shape;3714;p198"/>
              <p:cNvGraphicFramePr/>
              <p:nvPr/>
            </p:nvGraphicFramePr>
            <p:xfrm>
              <a:off x="2153876" y="3079074"/>
              <a:ext cx="1843087" cy="1990725"/>
            </p:xfrm>
            <a:graphic>
              <a:graphicData uri="http://schemas.openxmlformats.org/presentationml/2006/ole">
                <mc:AlternateContent xmlns:mc="http://schemas.openxmlformats.org/markup-compatibility/2006">
                  <mc:Choice xmlns:v="urn:schemas-microsoft-com:vml" Requires="v">
                    <p:oleObj r:id="rId3" imgW="1843087" imgH="1990725" progId="Visio.Drawing.11">
                      <p:embed/>
                    </p:oleObj>
                  </mc:Choice>
                  <mc:Fallback>
                    <p:oleObj r:id="rId3" imgW="1843087" imgH="1990725" progId="Visio.Drawing.11">
                      <p:embed/>
                      <p:pic>
                        <p:nvPicPr>
                          <p:cNvPr id="3714" name="Google Shape;3714;p198"/>
                          <p:cNvPicPr preferRelativeResize="0"/>
                          <p:nvPr/>
                        </p:nvPicPr>
                        <p:blipFill rotWithShape="1">
                          <a:blip r:embed="rId4">
                            <a:alphaModFix/>
                          </a:blip>
                          <a:srcRect/>
                          <a:stretch/>
                        </p:blipFill>
                        <p:spPr>
                          <a:xfrm>
                            <a:off x="2153876" y="3079074"/>
                            <a:ext cx="1843087" cy="1990725"/>
                          </a:xfrm>
                          <a:prstGeom prst="rect">
                            <a:avLst/>
                          </a:prstGeom>
                          <a:noFill/>
                          <a:ln>
                            <a:noFill/>
                          </a:ln>
                        </p:spPr>
                      </p:pic>
                    </p:oleObj>
                  </mc:Fallback>
                </mc:AlternateContent>
              </a:graphicData>
            </a:graphic>
          </p:graphicFrame>
        </p:grpSp>
        <p:grpSp>
          <p:nvGrpSpPr>
            <p:cNvPr id="3715" name="Google Shape;3715;p198"/>
            <p:cNvGrpSpPr/>
            <p:nvPr/>
          </p:nvGrpSpPr>
          <p:grpSpPr>
            <a:xfrm>
              <a:off x="5100320" y="2935288"/>
              <a:ext cx="2072814" cy="2741223"/>
              <a:chOff x="5577840" y="2935288"/>
              <a:chExt cx="2072814" cy="2741223"/>
            </a:xfrm>
          </p:grpSpPr>
          <p:graphicFrame>
            <p:nvGraphicFramePr>
              <p:cNvPr id="3716" name="Google Shape;3716;p198"/>
              <p:cNvGraphicFramePr/>
              <p:nvPr/>
            </p:nvGraphicFramePr>
            <p:xfrm>
              <a:off x="5654675" y="2935288"/>
              <a:ext cx="1919288" cy="2376487"/>
            </p:xfrm>
            <a:graphic>
              <a:graphicData uri="http://schemas.openxmlformats.org/presentationml/2006/ole">
                <mc:AlternateContent xmlns:mc="http://schemas.openxmlformats.org/markup-compatibility/2006">
                  <mc:Choice xmlns:v="urn:schemas-microsoft-com:vml" Requires="v">
                    <p:oleObj r:id="rId5" imgW="1919288" imgH="2376487" progId="Visio.Drawing.11">
                      <p:embed/>
                    </p:oleObj>
                  </mc:Choice>
                  <mc:Fallback>
                    <p:oleObj r:id="rId5" imgW="1919288" imgH="2376487" progId="Visio.Drawing.11">
                      <p:embed/>
                      <p:pic>
                        <p:nvPicPr>
                          <p:cNvPr id="3716" name="Google Shape;3716;p198"/>
                          <p:cNvPicPr preferRelativeResize="0"/>
                          <p:nvPr/>
                        </p:nvPicPr>
                        <p:blipFill rotWithShape="1">
                          <a:blip r:embed="rId6">
                            <a:alphaModFix/>
                          </a:blip>
                          <a:srcRect/>
                          <a:stretch/>
                        </p:blipFill>
                        <p:spPr>
                          <a:xfrm>
                            <a:off x="5654675" y="2935288"/>
                            <a:ext cx="1919288" cy="2376487"/>
                          </a:xfrm>
                          <a:prstGeom prst="rect">
                            <a:avLst/>
                          </a:prstGeom>
                          <a:noFill/>
                          <a:ln>
                            <a:noFill/>
                          </a:ln>
                        </p:spPr>
                      </p:pic>
                    </p:oleObj>
                  </mc:Fallback>
                </mc:AlternateContent>
              </a:graphicData>
            </a:graphic>
          </p:graphicFrame>
          <p:sp>
            <p:nvSpPr>
              <p:cNvPr id="3717" name="Google Shape;3717;p198"/>
              <p:cNvSpPr txBox="1"/>
              <p:nvPr/>
            </p:nvSpPr>
            <p:spPr>
              <a:xfrm>
                <a:off x="5577840" y="5384123"/>
                <a:ext cx="2072814"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bus latch driver(74HC574)</a:t>
                </a:r>
                <a:endParaRPr sz="1300" b="1">
                  <a:solidFill>
                    <a:srgbClr val="000000"/>
                  </a:solidFill>
                  <a:latin typeface="Arial"/>
                  <a:ea typeface="Arial"/>
                  <a:cs typeface="Arial"/>
                  <a:sym typeface="Arial"/>
                </a:endParaRPr>
              </a:p>
            </p:txBody>
          </p:sp>
        </p:grpSp>
      </p:grpSp>
      <p:sp>
        <p:nvSpPr>
          <p:cNvPr id="2" name="Google Shape;3457;p184">
            <a:extLst>
              <a:ext uri="{FF2B5EF4-FFF2-40B4-BE49-F238E27FC236}">
                <a16:creationId xmlns:a16="http://schemas.microsoft.com/office/drawing/2014/main" id="{124457E9-10E4-EBDA-0CBD-B9B885FC31F0}"/>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3723"/>
        <p:cNvGrpSpPr/>
        <p:nvPr/>
      </p:nvGrpSpPr>
      <p:grpSpPr>
        <a:xfrm>
          <a:off x="0" y="0"/>
          <a:ext cx="0" cy="0"/>
          <a:chOff x="0" y="0"/>
          <a:chExt cx="0" cy="0"/>
        </a:xfrm>
      </p:grpSpPr>
      <p:sp>
        <p:nvSpPr>
          <p:cNvPr id="3725" name="Google Shape;3725;p199"/>
          <p:cNvSpPr/>
          <p:nvPr/>
        </p:nvSpPr>
        <p:spPr>
          <a:xfrm>
            <a:off x="580388" y="152173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Chốt dữ liệu</a:t>
            </a:r>
            <a:endParaRPr sz="1400">
              <a:solidFill>
                <a:schemeClr val="dk1"/>
              </a:solidFill>
              <a:latin typeface="Arial"/>
              <a:ea typeface="Arial"/>
              <a:cs typeface="Arial"/>
              <a:sym typeface="Arial"/>
            </a:endParaRPr>
          </a:p>
        </p:txBody>
      </p:sp>
      <p:graphicFrame>
        <p:nvGraphicFramePr>
          <p:cNvPr id="3726" name="Google Shape;3726;p199"/>
          <p:cNvGraphicFramePr/>
          <p:nvPr/>
        </p:nvGraphicFramePr>
        <p:xfrm>
          <a:off x="1371067" y="2056883"/>
          <a:ext cx="2906434" cy="1270000"/>
        </p:xfrm>
        <a:graphic>
          <a:graphicData uri="http://schemas.openxmlformats.org/presentationml/2006/ole">
            <mc:AlternateContent xmlns:mc="http://schemas.openxmlformats.org/markup-compatibility/2006">
              <mc:Choice xmlns:v="urn:schemas-microsoft-com:vml" Requires="v">
                <p:oleObj r:id="rId3" imgW="2906434" imgH="1270000" progId="Visio.Drawing.6">
                  <p:embed/>
                </p:oleObj>
              </mc:Choice>
              <mc:Fallback>
                <p:oleObj r:id="rId3" imgW="2906434" imgH="1270000" progId="Visio.Drawing.6">
                  <p:embed/>
                  <p:pic>
                    <p:nvPicPr>
                      <p:cNvPr id="3726" name="Google Shape;3726;p199"/>
                      <p:cNvPicPr preferRelativeResize="0"/>
                      <p:nvPr/>
                    </p:nvPicPr>
                    <p:blipFill rotWithShape="1">
                      <a:blip r:embed="rId4">
                        <a:alphaModFix/>
                      </a:blip>
                      <a:srcRect/>
                      <a:stretch/>
                    </p:blipFill>
                    <p:spPr>
                      <a:xfrm>
                        <a:off x="1371067" y="2056883"/>
                        <a:ext cx="2906434" cy="1270000"/>
                      </a:xfrm>
                      <a:prstGeom prst="rect">
                        <a:avLst/>
                      </a:prstGeom>
                      <a:noFill/>
                      <a:ln>
                        <a:noFill/>
                      </a:ln>
                    </p:spPr>
                  </p:pic>
                </p:oleObj>
              </mc:Fallback>
            </mc:AlternateContent>
          </a:graphicData>
        </a:graphic>
      </p:graphicFrame>
      <p:graphicFrame>
        <p:nvGraphicFramePr>
          <p:cNvPr id="3727" name="Google Shape;3727;p199"/>
          <p:cNvGraphicFramePr/>
          <p:nvPr/>
        </p:nvGraphicFramePr>
        <p:xfrm>
          <a:off x="5047498" y="2063233"/>
          <a:ext cx="2971960" cy="1289050"/>
        </p:xfrm>
        <a:graphic>
          <a:graphicData uri="http://schemas.openxmlformats.org/presentationml/2006/ole">
            <mc:AlternateContent xmlns:mc="http://schemas.openxmlformats.org/markup-compatibility/2006">
              <mc:Choice xmlns:v="urn:schemas-microsoft-com:vml" Requires="v">
                <p:oleObj r:id="rId5" imgW="2971960" imgH="1289050" progId="Visio.Drawing.6">
                  <p:embed/>
                </p:oleObj>
              </mc:Choice>
              <mc:Fallback>
                <p:oleObj r:id="rId5" imgW="2971960" imgH="1289050" progId="Visio.Drawing.6">
                  <p:embed/>
                  <p:pic>
                    <p:nvPicPr>
                      <p:cNvPr id="3727" name="Google Shape;3727;p199"/>
                      <p:cNvPicPr preferRelativeResize="0"/>
                      <p:nvPr/>
                    </p:nvPicPr>
                    <p:blipFill rotWithShape="1">
                      <a:blip r:embed="rId6">
                        <a:alphaModFix/>
                      </a:blip>
                      <a:srcRect/>
                      <a:stretch/>
                    </p:blipFill>
                    <p:spPr>
                      <a:xfrm>
                        <a:off x="5047498" y="2063233"/>
                        <a:ext cx="2971960" cy="1289050"/>
                      </a:xfrm>
                      <a:prstGeom prst="rect">
                        <a:avLst/>
                      </a:prstGeom>
                      <a:noFill/>
                      <a:ln>
                        <a:noFill/>
                      </a:ln>
                    </p:spPr>
                  </p:pic>
                </p:oleObj>
              </mc:Fallback>
            </mc:AlternateContent>
          </a:graphicData>
        </a:graphic>
      </p:graphicFrame>
      <p:sp>
        <p:nvSpPr>
          <p:cNvPr id="3728" name="Google Shape;3728;p199"/>
          <p:cNvSpPr txBox="1"/>
          <p:nvPr/>
        </p:nvSpPr>
        <p:spPr>
          <a:xfrm>
            <a:off x="3648011" y="3526895"/>
            <a:ext cx="2606804"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000000"/>
                </a:solidFill>
                <a:latin typeface="Arial"/>
                <a:ea typeface="Arial"/>
                <a:cs typeface="Arial"/>
                <a:sym typeface="Arial"/>
              </a:rPr>
              <a:t>Sơ đồ định thời của mạch khóa</a:t>
            </a:r>
            <a:endParaRPr/>
          </a:p>
        </p:txBody>
      </p:sp>
      <p:sp>
        <p:nvSpPr>
          <p:cNvPr id="3729" name="Google Shape;3729;p199"/>
          <p:cNvSpPr txBox="1"/>
          <p:nvPr/>
        </p:nvSpPr>
        <p:spPr>
          <a:xfrm>
            <a:off x="2383603" y="2890618"/>
            <a:ext cx="1635760" cy="461665"/>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300">
                <a:solidFill>
                  <a:srgbClr val="262626"/>
                </a:solidFill>
                <a:latin typeface="Arial"/>
                <a:ea typeface="Arial"/>
                <a:cs typeface="Arial"/>
                <a:sym typeface="Arial"/>
              </a:rPr>
              <a:t>Ổn định, có thể lưu trữ bình thường</a:t>
            </a:r>
            <a:endParaRPr/>
          </a:p>
        </p:txBody>
      </p:sp>
      <p:sp>
        <p:nvSpPr>
          <p:cNvPr id="3730" name="Google Shape;3730;p199"/>
          <p:cNvSpPr txBox="1"/>
          <p:nvPr/>
        </p:nvSpPr>
        <p:spPr>
          <a:xfrm>
            <a:off x="5863484" y="2890618"/>
            <a:ext cx="2155974" cy="430887"/>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300">
                <a:solidFill>
                  <a:srgbClr val="262626"/>
                </a:solidFill>
                <a:latin typeface="Arial"/>
                <a:ea typeface="Arial"/>
                <a:cs typeface="Arial"/>
                <a:sym typeface="Arial"/>
              </a:rPr>
              <a:t>Không ổn định, không rõ liệu có thể lưu trữ được hay không.</a:t>
            </a:r>
            <a:endParaRPr/>
          </a:p>
        </p:txBody>
      </p:sp>
      <p:sp>
        <p:nvSpPr>
          <p:cNvPr id="3731" name="Google Shape;3731;p199"/>
          <p:cNvSpPr/>
          <p:nvPr/>
        </p:nvSpPr>
        <p:spPr>
          <a:xfrm>
            <a:off x="712182" y="4208030"/>
            <a:ext cx="8487381" cy="745536"/>
          </a:xfrm>
          <a:prstGeom prst="rect">
            <a:avLst/>
          </a:prstGeom>
          <a:noFill/>
          <a:ln>
            <a:noFill/>
          </a:ln>
        </p:spPr>
        <p:txBody>
          <a:bodyPr spcFirstLastPara="1" wrap="square" lIns="0" tIns="71975" rIns="143950" bIns="71975" anchor="t" anchorCtr="0">
            <a:spAutoFit/>
          </a:bodyPr>
          <a:lstStyle/>
          <a:p>
            <a:pPr marL="182526" marR="0" lvl="1" indent="-182526" algn="l" rtl="0">
              <a:spcBef>
                <a:spcPts val="0"/>
              </a:spcBef>
              <a:spcAft>
                <a:spcPts val="0"/>
              </a:spcAft>
              <a:buClr>
                <a:srgbClr val="193EB0"/>
              </a:buClr>
              <a:buSzPts val="1040"/>
              <a:buFont typeface="Arial"/>
              <a:buChar char="‣"/>
            </a:pPr>
            <a:r>
              <a:rPr lang="en-US" sz="1300" b="0" i="0" u="none" strike="noStrike" cap="none">
                <a:solidFill>
                  <a:srgbClr val="262626"/>
                </a:solidFill>
                <a:latin typeface="Arial"/>
                <a:ea typeface="Arial"/>
                <a:cs typeface="Arial"/>
                <a:sym typeface="Arial"/>
              </a:rPr>
              <a:t>Tử logic âm thường dành cho các tín hiệu xung nhịp do sự khác biệt về biên chống nhiễu ở các mạch tích hợp (IC) digital. Trong trường hợp IC digital toàn diện, biên chống nhiễu của linh kiện mức cao rất lớn nên xung nhịp của tín hiệu quan trọng thường được duy trì ở mức cao để ngăn sự phản ứng nhạy cảm với nhiễu.</a:t>
            </a:r>
            <a:endParaRPr/>
          </a:p>
        </p:txBody>
      </p:sp>
      <p:sp>
        <p:nvSpPr>
          <p:cNvPr id="3732" name="Google Shape;3732;p199"/>
          <p:cNvSpPr/>
          <p:nvPr/>
        </p:nvSpPr>
        <p:spPr>
          <a:xfrm>
            <a:off x="580388" y="3977918"/>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Tử logic dương và Tử logic âm</a:t>
            </a:r>
            <a:endParaRPr/>
          </a:p>
        </p:txBody>
      </p:sp>
      <p:sp>
        <p:nvSpPr>
          <p:cNvPr id="3734" name="Google Shape;3734;p199"/>
          <p:cNvSpPr/>
          <p:nvPr/>
        </p:nvSpPr>
        <p:spPr>
          <a:xfrm>
            <a:off x="712182" y="1849424"/>
            <a:ext cx="8478462" cy="1602436"/>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735" name="Google Shape;3735;p199"/>
          <p:cNvGraphicFramePr/>
          <p:nvPr/>
        </p:nvGraphicFramePr>
        <p:xfrm>
          <a:off x="704849" y="5060445"/>
          <a:ext cx="8636025" cy="997425"/>
        </p:xfrm>
        <a:graphic>
          <a:graphicData uri="http://schemas.openxmlformats.org/drawingml/2006/table">
            <a:tbl>
              <a:tblPr>
                <a:noFill/>
              </a:tblPr>
              <a:tblGrid>
                <a:gridCol w="2878675">
                  <a:extLst>
                    <a:ext uri="{9D8B030D-6E8A-4147-A177-3AD203B41FA5}">
                      <a16:colId xmlns:a16="http://schemas.microsoft.com/office/drawing/2014/main" val="20000"/>
                    </a:ext>
                  </a:extLst>
                </a:gridCol>
                <a:gridCol w="2878675">
                  <a:extLst>
                    <a:ext uri="{9D8B030D-6E8A-4147-A177-3AD203B41FA5}">
                      <a16:colId xmlns:a16="http://schemas.microsoft.com/office/drawing/2014/main" val="20001"/>
                    </a:ext>
                  </a:extLst>
                </a:gridCol>
                <a:gridCol w="2878675">
                  <a:extLst>
                    <a:ext uri="{9D8B030D-6E8A-4147-A177-3AD203B41FA5}">
                      <a16:colId xmlns:a16="http://schemas.microsoft.com/office/drawing/2014/main" val="20002"/>
                    </a:ext>
                  </a:extLst>
                </a:gridCol>
              </a:tblGrid>
              <a:tr h="332475">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Mức điện áp</a:t>
                      </a:r>
                      <a:endParaRPr/>
                    </a:p>
                  </a:txBody>
                  <a:tcPr marL="91450" marR="91450" marT="41550" marB="415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Tử logic dương</a:t>
                      </a:r>
                      <a:endParaRPr/>
                    </a:p>
                  </a:txBody>
                  <a:tcPr marL="91450" marR="91450" marT="41550" marB="4155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Tử logic âm</a:t>
                      </a:r>
                      <a:endParaRPr/>
                    </a:p>
                  </a:txBody>
                  <a:tcPr marL="91450" marR="91450" marT="41550" marB="415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3324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+5 [V]</a:t>
                      </a:r>
                      <a:endParaRPr/>
                    </a:p>
                  </a:txBody>
                  <a:tcPr marL="91450" marR="91450" marT="41550" marB="415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HIGH=1</a:t>
                      </a:r>
                      <a:endParaRPr/>
                    </a:p>
                  </a:txBody>
                  <a:tcPr marL="91450" marR="91450" marT="41550" marB="4155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HIGH=0</a:t>
                      </a:r>
                      <a:endParaRPr/>
                    </a:p>
                  </a:txBody>
                  <a:tcPr marL="91450" marR="91450" marT="41550" marB="415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3324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 [V]</a:t>
                      </a:r>
                      <a:endParaRPr/>
                    </a:p>
                  </a:txBody>
                  <a:tcPr marL="91450" marR="91450" marT="41550" marB="4155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LOW=0</a:t>
                      </a:r>
                      <a:endParaRPr/>
                    </a:p>
                  </a:txBody>
                  <a:tcPr marL="91450" marR="91450" marT="41550" marB="4155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LOW=1</a:t>
                      </a:r>
                      <a:endParaRPr/>
                    </a:p>
                  </a:txBody>
                  <a:tcPr marL="91450" marR="91450" marT="41550" marB="4155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 name="Google Shape;3457;p184">
            <a:extLst>
              <a:ext uri="{FF2B5EF4-FFF2-40B4-BE49-F238E27FC236}">
                <a16:creationId xmlns:a16="http://schemas.microsoft.com/office/drawing/2014/main" id="{086E8B5E-29F6-52C0-55FF-5D95FD007AE5}"/>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3740"/>
        <p:cNvGrpSpPr/>
        <p:nvPr/>
      </p:nvGrpSpPr>
      <p:grpSpPr>
        <a:xfrm>
          <a:off x="0" y="0"/>
          <a:ext cx="0" cy="0"/>
          <a:chOff x="0" y="0"/>
          <a:chExt cx="0" cy="0"/>
        </a:xfrm>
      </p:grpSpPr>
      <p:sp>
        <p:nvSpPr>
          <p:cNvPr id="3742" name="Google Shape;3742;p200"/>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err="1">
                <a:solidFill>
                  <a:srgbClr val="0C0C0C"/>
                </a:solidFill>
                <a:latin typeface="Arial"/>
                <a:ea typeface="Arial"/>
                <a:cs typeface="Arial"/>
                <a:sym typeface="Arial"/>
              </a:rPr>
              <a:t>Hoạt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động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IC </a:t>
            </a:r>
            <a:r>
              <a:rPr lang="en-US" sz="2400" b="1" dirty="0" err="1">
                <a:solidFill>
                  <a:srgbClr val="0C0C0C"/>
                </a:solidFill>
                <a:latin typeface="Arial"/>
                <a:ea typeface="Arial"/>
                <a:cs typeface="Arial"/>
                <a:sym typeface="Arial"/>
              </a:rPr>
              <a:t>giải</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mã</a:t>
            </a:r>
            <a:endParaRPr sz="2400" b="1" dirty="0">
              <a:solidFill>
                <a:srgbClr val="0C0C0C"/>
              </a:solidFill>
              <a:latin typeface="Arial"/>
              <a:ea typeface="Arial"/>
              <a:cs typeface="Arial"/>
              <a:sym typeface="Arial"/>
            </a:endParaRPr>
          </a:p>
        </p:txBody>
      </p:sp>
      <p:sp>
        <p:nvSpPr>
          <p:cNvPr id="3743" name="Google Shape;3743;p200"/>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dirty="0" err="1">
                <a:solidFill>
                  <a:schemeClr val="dk1"/>
                </a:solidFill>
                <a:latin typeface="Arial"/>
                <a:ea typeface="Arial"/>
                <a:cs typeface="Arial"/>
                <a:sym typeface="Arial"/>
              </a:rPr>
              <a:t>Giới</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thiệu</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sử</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dụng</a:t>
            </a:r>
            <a:r>
              <a:rPr lang="en-US" sz="1400" dirty="0">
                <a:solidFill>
                  <a:schemeClr val="dk1"/>
                </a:solidFill>
                <a:latin typeface="Arial"/>
                <a:ea typeface="Arial"/>
                <a:cs typeface="Arial"/>
                <a:sym typeface="Arial"/>
              </a:rPr>
              <a:t> IC </a:t>
            </a:r>
            <a:r>
              <a:rPr lang="en-US" sz="1400" dirty="0" err="1">
                <a:solidFill>
                  <a:schemeClr val="dk1"/>
                </a:solidFill>
                <a:latin typeface="Arial"/>
                <a:ea typeface="Arial"/>
                <a:cs typeface="Arial"/>
                <a:sym typeface="Arial"/>
              </a:rPr>
              <a:t>giải</a:t>
            </a:r>
            <a:r>
              <a:rPr lang="en-US" sz="1400" dirty="0">
                <a:solidFill>
                  <a:schemeClr val="dk1"/>
                </a:solidFill>
                <a:latin typeface="Arial"/>
                <a:ea typeface="Arial"/>
                <a:cs typeface="Arial"/>
                <a:sym typeface="Arial"/>
              </a:rPr>
              <a:t> </a:t>
            </a:r>
            <a:r>
              <a:rPr lang="en-US" sz="1400" dirty="0" err="1">
                <a:solidFill>
                  <a:schemeClr val="dk1"/>
                </a:solidFill>
                <a:latin typeface="Arial"/>
                <a:ea typeface="Arial"/>
                <a:cs typeface="Arial"/>
                <a:sym typeface="Arial"/>
              </a:rPr>
              <a:t>mã</a:t>
            </a:r>
            <a:endParaRPr sz="1400" dirty="0">
              <a:solidFill>
                <a:schemeClr val="dk1"/>
              </a:solidFill>
              <a:latin typeface="Arial"/>
              <a:ea typeface="Arial"/>
              <a:cs typeface="Arial"/>
              <a:sym typeface="Arial"/>
            </a:endParaRPr>
          </a:p>
        </p:txBody>
      </p:sp>
      <p:sp>
        <p:nvSpPr>
          <p:cNvPr id="3744" name="Google Shape;3744;p200"/>
          <p:cNvSpPr/>
          <p:nvPr/>
        </p:nvSpPr>
        <p:spPr>
          <a:xfrm>
            <a:off x="712182" y="2174873"/>
            <a:ext cx="8487381" cy="648074"/>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Chức năng Enable cho phép toàn quyền kiểm soát các chân O. </a:t>
            </a:r>
            <a:endParaRPr/>
          </a:p>
          <a:p>
            <a:pPr marL="182563" marR="0" lvl="0" indent="-182563" algn="l" rtl="0">
              <a:spcBef>
                <a:spcPts val="800"/>
              </a:spcBef>
              <a:spcAft>
                <a:spcPts val="0"/>
              </a:spcAft>
              <a:buClr>
                <a:srgbClr val="193EB0"/>
              </a:buClr>
              <a:buSzPts val="1300"/>
              <a:buFont typeface="Arial"/>
              <a:buChar char="‣"/>
            </a:pPr>
            <a:r>
              <a:rPr lang="en-US" sz="1300">
                <a:solidFill>
                  <a:srgbClr val="262626"/>
                </a:solidFill>
                <a:latin typeface="Arial"/>
                <a:ea typeface="Arial"/>
                <a:cs typeface="Arial"/>
                <a:sym typeface="Arial"/>
              </a:rPr>
              <a:t>Một ví dụ là bộ giải mã địa chỉ thiết bị ngoại vi của máy vi tính.</a:t>
            </a:r>
            <a:endParaRPr/>
          </a:p>
        </p:txBody>
      </p:sp>
      <p:sp>
        <p:nvSpPr>
          <p:cNvPr id="3745" name="Google Shape;3745;p200"/>
          <p:cNvSpPr txBox="1"/>
          <p:nvPr/>
        </p:nvSpPr>
        <p:spPr>
          <a:xfrm>
            <a:off x="4691826" y="2970544"/>
            <a:ext cx="2871852" cy="338554"/>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600" b="1">
                <a:solidFill>
                  <a:srgbClr val="262626"/>
                </a:solidFill>
                <a:latin typeface="Arial"/>
                <a:ea typeface="Arial"/>
                <a:cs typeface="Arial"/>
                <a:sym typeface="Arial"/>
              </a:rPr>
              <a:t>Bảng chân trị của 74138 IC</a:t>
            </a:r>
            <a:endParaRPr/>
          </a:p>
        </p:txBody>
      </p:sp>
      <p:grpSp>
        <p:nvGrpSpPr>
          <p:cNvPr id="3746" name="Google Shape;3746;p200"/>
          <p:cNvGrpSpPr/>
          <p:nvPr/>
        </p:nvGrpSpPr>
        <p:grpSpPr>
          <a:xfrm>
            <a:off x="663996" y="3838852"/>
            <a:ext cx="2250658" cy="2309978"/>
            <a:chOff x="506381" y="3536697"/>
            <a:chExt cx="2250658" cy="2309978"/>
          </a:xfrm>
        </p:grpSpPr>
        <p:pic>
          <p:nvPicPr>
            <p:cNvPr id="3747" name="Google Shape;3747;p200"/>
            <p:cNvPicPr preferRelativeResize="0"/>
            <p:nvPr/>
          </p:nvPicPr>
          <p:blipFill rotWithShape="1">
            <a:blip r:embed="rId3">
              <a:alphaModFix/>
            </a:blip>
            <a:srcRect/>
            <a:stretch/>
          </p:blipFill>
          <p:spPr>
            <a:xfrm>
              <a:off x="748858" y="3907849"/>
              <a:ext cx="1635847" cy="1938826"/>
            </a:xfrm>
            <a:prstGeom prst="rect">
              <a:avLst/>
            </a:prstGeom>
            <a:noFill/>
            <a:ln>
              <a:noFill/>
            </a:ln>
          </p:spPr>
        </p:pic>
        <p:sp>
          <p:nvSpPr>
            <p:cNvPr id="3748" name="Google Shape;3748;p200"/>
            <p:cNvSpPr txBox="1"/>
            <p:nvPr/>
          </p:nvSpPr>
          <p:spPr>
            <a:xfrm>
              <a:off x="665882" y="3536697"/>
              <a:ext cx="1933543" cy="292388"/>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262626"/>
                  </a:solidFill>
                  <a:latin typeface="Arial"/>
                  <a:ea typeface="Arial"/>
                  <a:cs typeface="Arial"/>
                  <a:sym typeface="Arial"/>
                </a:rPr>
                <a:t>IC của bộ giải mã 74138</a:t>
              </a:r>
              <a:endParaRPr/>
            </a:p>
          </p:txBody>
        </p:sp>
        <p:sp>
          <p:nvSpPr>
            <p:cNvPr id="3749" name="Google Shape;3749;p200"/>
            <p:cNvSpPr txBox="1"/>
            <p:nvPr/>
          </p:nvSpPr>
          <p:spPr>
            <a:xfrm rot="-5400000">
              <a:off x="1195591" y="4731068"/>
              <a:ext cx="874124" cy="292388"/>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262626"/>
                  </a:solidFill>
                  <a:latin typeface="Arial"/>
                  <a:ea typeface="Arial"/>
                  <a:cs typeface="Arial"/>
                  <a:sym typeface="Arial"/>
                </a:rPr>
                <a:t>74138</a:t>
              </a:r>
              <a:endParaRPr sz="1300" b="1">
                <a:solidFill>
                  <a:srgbClr val="262626"/>
                </a:solidFill>
                <a:latin typeface="Arial"/>
                <a:ea typeface="Arial"/>
                <a:cs typeface="Arial"/>
                <a:sym typeface="Arial"/>
              </a:endParaRPr>
            </a:p>
          </p:txBody>
        </p:sp>
        <p:sp>
          <p:nvSpPr>
            <p:cNvPr id="3750" name="Google Shape;3750;p200"/>
            <p:cNvSpPr txBox="1"/>
            <p:nvPr/>
          </p:nvSpPr>
          <p:spPr>
            <a:xfrm>
              <a:off x="738317" y="3907849"/>
              <a:ext cx="251544" cy="69249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262626"/>
                  </a:solidFill>
                  <a:latin typeface="Arial"/>
                  <a:ea typeface="Arial"/>
                  <a:cs typeface="Arial"/>
                  <a:sym typeface="Arial"/>
                </a:rPr>
                <a:t>A</a:t>
              </a:r>
              <a:endParaRPr/>
            </a:p>
            <a:p>
              <a:pPr marL="0" marR="0" lvl="0" indent="0" algn="ctr" rtl="0">
                <a:spcBef>
                  <a:spcPts val="0"/>
                </a:spcBef>
                <a:spcAft>
                  <a:spcPts val="0"/>
                </a:spcAft>
                <a:buNone/>
              </a:pPr>
              <a:r>
                <a:rPr lang="en-US" sz="1300" b="1">
                  <a:solidFill>
                    <a:srgbClr val="262626"/>
                  </a:solidFill>
                  <a:latin typeface="Arial"/>
                  <a:ea typeface="Arial"/>
                  <a:cs typeface="Arial"/>
                  <a:sym typeface="Arial"/>
                </a:rPr>
                <a:t>B</a:t>
              </a:r>
              <a:endParaRPr/>
            </a:p>
            <a:p>
              <a:pPr marL="0" marR="0" lvl="0" indent="0" algn="ctr" rtl="0">
                <a:spcBef>
                  <a:spcPts val="0"/>
                </a:spcBef>
                <a:spcAft>
                  <a:spcPts val="0"/>
                </a:spcAft>
                <a:buNone/>
              </a:pPr>
              <a:r>
                <a:rPr lang="en-US" sz="1300" b="1">
                  <a:solidFill>
                    <a:srgbClr val="262626"/>
                  </a:solidFill>
                  <a:latin typeface="Arial"/>
                  <a:ea typeface="Arial"/>
                  <a:cs typeface="Arial"/>
                  <a:sym typeface="Arial"/>
                </a:rPr>
                <a:t>C</a:t>
              </a:r>
              <a:endParaRPr sz="1300" b="1">
                <a:solidFill>
                  <a:srgbClr val="262626"/>
                </a:solidFill>
                <a:latin typeface="Arial"/>
                <a:ea typeface="Arial"/>
                <a:cs typeface="Arial"/>
                <a:sym typeface="Arial"/>
              </a:endParaRPr>
            </a:p>
          </p:txBody>
        </p:sp>
        <p:sp>
          <p:nvSpPr>
            <p:cNvPr id="3751" name="Google Shape;3751;p200"/>
            <p:cNvSpPr txBox="1"/>
            <p:nvPr/>
          </p:nvSpPr>
          <p:spPr>
            <a:xfrm>
              <a:off x="506381" y="4877262"/>
              <a:ext cx="484953" cy="692497"/>
            </a:xfrm>
            <a:prstGeom prst="rect">
              <a:avLst/>
            </a:prstGeom>
            <a:solidFill>
              <a:schemeClr val="lt1"/>
            </a:solidFill>
            <a:ln>
              <a:noFill/>
            </a:ln>
          </p:spPr>
          <p:txBody>
            <a:bodyPr spcFirstLastPara="1" wrap="square" lIns="0" tIns="45700" rIns="0" bIns="45700" anchor="t" anchorCtr="0">
              <a:spAutoFit/>
            </a:bodyPr>
            <a:lstStyle/>
            <a:p>
              <a:pPr marL="0" marR="0" lvl="0" indent="0" algn="r" rtl="0">
                <a:spcBef>
                  <a:spcPts val="0"/>
                </a:spcBef>
                <a:spcAft>
                  <a:spcPts val="0"/>
                </a:spcAft>
                <a:buNone/>
              </a:pPr>
              <a:r>
                <a:rPr lang="en-US" sz="1300" b="1">
                  <a:solidFill>
                    <a:srgbClr val="262626"/>
                  </a:solidFill>
                  <a:latin typeface="Arial"/>
                  <a:ea typeface="Arial"/>
                  <a:cs typeface="Arial"/>
                  <a:sym typeface="Arial"/>
                </a:rPr>
                <a:t>G2A</a:t>
              </a:r>
              <a:endParaRPr/>
            </a:p>
            <a:p>
              <a:pPr marL="0" marR="0" lvl="0" indent="0" algn="r" rtl="0">
                <a:spcBef>
                  <a:spcPts val="0"/>
                </a:spcBef>
                <a:spcAft>
                  <a:spcPts val="0"/>
                </a:spcAft>
                <a:buNone/>
              </a:pPr>
              <a:r>
                <a:rPr lang="en-US" sz="1300" b="1">
                  <a:solidFill>
                    <a:srgbClr val="262626"/>
                  </a:solidFill>
                  <a:latin typeface="Arial"/>
                  <a:ea typeface="Arial"/>
                  <a:cs typeface="Arial"/>
                  <a:sym typeface="Arial"/>
                </a:rPr>
                <a:t>G2B</a:t>
              </a:r>
              <a:endParaRPr/>
            </a:p>
            <a:p>
              <a:pPr marL="0" marR="0" lvl="0" indent="0" algn="r" rtl="0">
                <a:spcBef>
                  <a:spcPts val="0"/>
                </a:spcBef>
                <a:spcAft>
                  <a:spcPts val="0"/>
                </a:spcAft>
                <a:buNone/>
              </a:pPr>
              <a:r>
                <a:rPr lang="en-US" sz="1300" b="1">
                  <a:solidFill>
                    <a:srgbClr val="262626"/>
                  </a:solidFill>
                  <a:latin typeface="Arial"/>
                  <a:ea typeface="Arial"/>
                  <a:cs typeface="Arial"/>
                  <a:sym typeface="Arial"/>
                </a:rPr>
                <a:t>G1</a:t>
              </a:r>
              <a:endParaRPr sz="1300" b="1">
                <a:solidFill>
                  <a:srgbClr val="262626"/>
                </a:solidFill>
                <a:latin typeface="Arial"/>
                <a:ea typeface="Arial"/>
                <a:cs typeface="Arial"/>
                <a:sym typeface="Arial"/>
              </a:endParaRPr>
            </a:p>
          </p:txBody>
        </p:sp>
        <p:sp>
          <p:nvSpPr>
            <p:cNvPr id="3752" name="Google Shape;3752;p200"/>
            <p:cNvSpPr txBox="1"/>
            <p:nvPr/>
          </p:nvSpPr>
          <p:spPr>
            <a:xfrm>
              <a:off x="2272086" y="3907849"/>
              <a:ext cx="484953" cy="1919693"/>
            </a:xfrm>
            <a:prstGeom prst="rect">
              <a:avLst/>
            </a:prstGeom>
            <a:blipFill rotWithShape="1">
              <a:blip r:embed="rId4">
                <a:alphaModFix/>
              </a:blip>
              <a:stretch>
                <a:fillRect l="-253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grpSp>
      <p:graphicFrame>
        <p:nvGraphicFramePr>
          <p:cNvPr id="3754" name="Google Shape;3754;p200"/>
          <p:cNvGraphicFramePr/>
          <p:nvPr/>
        </p:nvGraphicFramePr>
        <p:xfrm>
          <a:off x="2914654" y="3370735"/>
          <a:ext cx="6426350" cy="2804160"/>
        </p:xfrm>
        <a:graphic>
          <a:graphicData uri="http://schemas.openxmlformats.org/drawingml/2006/table">
            <a:tbl>
              <a:tblPr firstRow="1" bandRow="1">
                <a:noFill/>
              </a:tblPr>
              <a:tblGrid>
                <a:gridCol w="459025">
                  <a:extLst>
                    <a:ext uri="{9D8B030D-6E8A-4147-A177-3AD203B41FA5}">
                      <a16:colId xmlns:a16="http://schemas.microsoft.com/office/drawing/2014/main" val="20000"/>
                    </a:ext>
                  </a:extLst>
                </a:gridCol>
                <a:gridCol w="459025">
                  <a:extLst>
                    <a:ext uri="{9D8B030D-6E8A-4147-A177-3AD203B41FA5}">
                      <a16:colId xmlns:a16="http://schemas.microsoft.com/office/drawing/2014/main" val="20001"/>
                    </a:ext>
                  </a:extLst>
                </a:gridCol>
                <a:gridCol w="459025">
                  <a:extLst>
                    <a:ext uri="{9D8B030D-6E8A-4147-A177-3AD203B41FA5}">
                      <a16:colId xmlns:a16="http://schemas.microsoft.com/office/drawing/2014/main" val="20002"/>
                    </a:ext>
                  </a:extLst>
                </a:gridCol>
                <a:gridCol w="459025">
                  <a:extLst>
                    <a:ext uri="{9D8B030D-6E8A-4147-A177-3AD203B41FA5}">
                      <a16:colId xmlns:a16="http://schemas.microsoft.com/office/drawing/2014/main" val="20003"/>
                    </a:ext>
                  </a:extLst>
                </a:gridCol>
                <a:gridCol w="459025">
                  <a:extLst>
                    <a:ext uri="{9D8B030D-6E8A-4147-A177-3AD203B41FA5}">
                      <a16:colId xmlns:a16="http://schemas.microsoft.com/office/drawing/2014/main" val="20004"/>
                    </a:ext>
                  </a:extLst>
                </a:gridCol>
                <a:gridCol w="459025">
                  <a:extLst>
                    <a:ext uri="{9D8B030D-6E8A-4147-A177-3AD203B41FA5}">
                      <a16:colId xmlns:a16="http://schemas.microsoft.com/office/drawing/2014/main" val="20005"/>
                    </a:ext>
                  </a:extLst>
                </a:gridCol>
                <a:gridCol w="459025">
                  <a:extLst>
                    <a:ext uri="{9D8B030D-6E8A-4147-A177-3AD203B41FA5}">
                      <a16:colId xmlns:a16="http://schemas.microsoft.com/office/drawing/2014/main" val="20006"/>
                    </a:ext>
                  </a:extLst>
                </a:gridCol>
                <a:gridCol w="459025">
                  <a:extLst>
                    <a:ext uri="{9D8B030D-6E8A-4147-A177-3AD203B41FA5}">
                      <a16:colId xmlns:a16="http://schemas.microsoft.com/office/drawing/2014/main" val="20007"/>
                    </a:ext>
                  </a:extLst>
                </a:gridCol>
                <a:gridCol w="459025">
                  <a:extLst>
                    <a:ext uri="{9D8B030D-6E8A-4147-A177-3AD203B41FA5}">
                      <a16:colId xmlns:a16="http://schemas.microsoft.com/office/drawing/2014/main" val="20008"/>
                    </a:ext>
                  </a:extLst>
                </a:gridCol>
                <a:gridCol w="459025">
                  <a:extLst>
                    <a:ext uri="{9D8B030D-6E8A-4147-A177-3AD203B41FA5}">
                      <a16:colId xmlns:a16="http://schemas.microsoft.com/office/drawing/2014/main" val="20009"/>
                    </a:ext>
                  </a:extLst>
                </a:gridCol>
                <a:gridCol w="459025">
                  <a:extLst>
                    <a:ext uri="{9D8B030D-6E8A-4147-A177-3AD203B41FA5}">
                      <a16:colId xmlns:a16="http://schemas.microsoft.com/office/drawing/2014/main" val="20010"/>
                    </a:ext>
                  </a:extLst>
                </a:gridCol>
                <a:gridCol w="459025">
                  <a:extLst>
                    <a:ext uri="{9D8B030D-6E8A-4147-A177-3AD203B41FA5}">
                      <a16:colId xmlns:a16="http://schemas.microsoft.com/office/drawing/2014/main" val="20011"/>
                    </a:ext>
                  </a:extLst>
                </a:gridCol>
                <a:gridCol w="459025">
                  <a:extLst>
                    <a:ext uri="{9D8B030D-6E8A-4147-A177-3AD203B41FA5}">
                      <a16:colId xmlns:a16="http://schemas.microsoft.com/office/drawing/2014/main" val="20012"/>
                    </a:ext>
                  </a:extLst>
                </a:gridCol>
                <a:gridCol w="459025">
                  <a:extLst>
                    <a:ext uri="{9D8B030D-6E8A-4147-A177-3AD203B41FA5}">
                      <a16:colId xmlns:a16="http://schemas.microsoft.com/office/drawing/2014/main" val="20013"/>
                    </a:ext>
                  </a:extLst>
                </a:gridCol>
              </a:tblGrid>
              <a:tr h="182925">
                <a:tc gridSpan="6">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Đầu vào</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rowSpan="2" gridSpan="8">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Tín hiệu đầu ra</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rowSpan="2" hMerge="1">
                  <a:txBody>
                    <a:bodyPr/>
                    <a:lstStyle/>
                    <a:p>
                      <a:endParaRPr lang="x-none"/>
                    </a:p>
                  </a:txBody>
                  <a:tcPr/>
                </a:tc>
                <a:tc rowSpan="2" hMerge="1">
                  <a:txBody>
                    <a:bodyPr/>
                    <a:lstStyle/>
                    <a:p>
                      <a:endParaRPr lang="x-none"/>
                    </a:p>
                  </a:txBody>
                  <a:tcPr/>
                </a:tc>
                <a:tc rowSpan="2" hMerge="1">
                  <a:txBody>
                    <a:bodyPr/>
                    <a:lstStyle/>
                    <a:p>
                      <a:endParaRPr lang="x-none"/>
                    </a:p>
                  </a:txBody>
                  <a:tcPr/>
                </a:tc>
                <a:tc rowSpan="2" hMerge="1">
                  <a:txBody>
                    <a:bodyPr/>
                    <a:lstStyle/>
                    <a:p>
                      <a:endParaRPr lang="x-none"/>
                    </a:p>
                  </a:txBody>
                  <a:tcPr/>
                </a:tc>
                <a:tc rowSpan="2" hMerge="1">
                  <a:txBody>
                    <a:bodyPr/>
                    <a:lstStyle/>
                    <a:p>
                      <a:endParaRPr lang="x-none"/>
                    </a:p>
                  </a:txBody>
                  <a:tcPr/>
                </a:tc>
                <a:tc rowSpan="2" hMerge="1">
                  <a:txBody>
                    <a:bodyPr/>
                    <a:lstStyle/>
                    <a:p>
                      <a:endParaRPr lang="x-none"/>
                    </a:p>
                  </a:txBody>
                  <a:tcPr/>
                </a:tc>
                <a:tc rowSpan="2" hMerge="1">
                  <a:txBody>
                    <a:bodyPr/>
                    <a:lstStyle/>
                    <a:p>
                      <a:endParaRPr lang="x-none"/>
                    </a:p>
                  </a:txBody>
                  <a:tcPr/>
                </a:tc>
                <a:extLst>
                  <a:ext uri="{0D108BD9-81ED-4DB2-BD59-A6C34878D82A}">
                    <a16:rowId xmlns:a16="http://schemas.microsoft.com/office/drawing/2014/main" val="10000"/>
                  </a:ext>
                </a:extLst>
              </a:tr>
              <a:tr h="182925">
                <a:tc gridSpan="3">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Select</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hMerge="1">
                  <a:txBody>
                    <a:bodyPr/>
                    <a:lstStyle/>
                    <a:p>
                      <a:endParaRPr lang="x-none"/>
                    </a:p>
                  </a:txBody>
                  <a:tcPr/>
                </a:tc>
                <a:tc hMerge="1">
                  <a:txBody>
                    <a:bodyPr/>
                    <a:lstStyle/>
                    <a:p>
                      <a:endParaRPr lang="x-none"/>
                    </a:p>
                  </a:txBody>
                  <a:tcPr/>
                </a:tc>
                <a:tc gridSpan="3">
                  <a:txBody>
                    <a:bodyPr/>
                    <a:lstStyle/>
                    <a:p>
                      <a:pPr marL="0" marR="0" lvl="0" indent="0" algn="ctr" rtl="0">
                        <a:lnSpc>
                          <a:spcPct val="100000"/>
                        </a:lnSpc>
                        <a:spcBef>
                          <a:spcPts val="0"/>
                        </a:spcBef>
                        <a:spcAft>
                          <a:spcPts val="0"/>
                        </a:spcAft>
                        <a:buClr>
                          <a:srgbClr val="262626"/>
                        </a:buClr>
                        <a:buSzPts val="1400"/>
                        <a:buFont typeface="Noto Sans Symbols"/>
                        <a:buNone/>
                      </a:pPr>
                      <a:r>
                        <a:rPr lang="en-US" sz="1400" b="0" u="none" strike="noStrike" cap="none">
                          <a:solidFill>
                            <a:srgbClr val="262626"/>
                          </a:solidFill>
                          <a:latin typeface="Arial"/>
                          <a:ea typeface="Arial"/>
                          <a:cs typeface="Arial"/>
                          <a:sym typeface="Arial"/>
                        </a:rPr>
                        <a:t>Enable</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D8D8"/>
                    </a:solidFill>
                  </a:tcPr>
                </a:tc>
                <a:tc hMerge="1">
                  <a:txBody>
                    <a:bodyPr/>
                    <a:lstStyle/>
                    <a:p>
                      <a:endParaRPr lang="x-none"/>
                    </a:p>
                  </a:txBody>
                  <a:tcPr/>
                </a:tc>
                <a:tc hMerge="1">
                  <a:txBody>
                    <a:bodyPr/>
                    <a:lstStyle/>
                    <a:p>
                      <a:endParaRPr lang="x-none"/>
                    </a:p>
                  </a:txBody>
                  <a:tcPr/>
                </a:tc>
                <a:tc gridSpan="8" vMerge="1">
                  <a:txBody>
                    <a:bodyPr/>
                    <a:lstStyle/>
                    <a:p>
                      <a:endParaRPr lang="x-none"/>
                    </a:p>
                  </a:txBody>
                  <a:tcPr/>
                </a:tc>
                <a:tc hMerge="1" vMerge="1">
                  <a:txBody>
                    <a:bodyPr/>
                    <a:lstStyle/>
                    <a:p>
                      <a:endParaRPr lang="x-none"/>
                    </a:p>
                  </a:txBody>
                  <a:tcPr/>
                </a:tc>
                <a:tc hMerge="1" vMerge="1">
                  <a:txBody>
                    <a:bodyPr/>
                    <a:lstStyle/>
                    <a:p>
                      <a:endParaRPr lang="x-none"/>
                    </a:p>
                  </a:txBody>
                  <a:tcPr/>
                </a:tc>
                <a:tc hMerge="1" vMerge="1">
                  <a:txBody>
                    <a:bodyPr/>
                    <a:lstStyle/>
                    <a:p>
                      <a:endParaRPr lang="x-none"/>
                    </a:p>
                  </a:txBody>
                  <a:tcPr/>
                </a:tc>
                <a:tc hMerge="1" vMerge="1">
                  <a:txBody>
                    <a:bodyPr/>
                    <a:lstStyle/>
                    <a:p>
                      <a:endParaRPr lang="x-none"/>
                    </a:p>
                  </a:txBody>
                  <a:tcPr/>
                </a:tc>
                <a:tc hMerge="1" vMerge="1">
                  <a:txBody>
                    <a:bodyPr/>
                    <a:lstStyle/>
                    <a:p>
                      <a:endParaRPr lang="x-none"/>
                    </a:p>
                  </a:txBody>
                  <a:tcPr/>
                </a:tc>
                <a:tc hMerge="1" vMerge="1">
                  <a:txBody>
                    <a:bodyPr/>
                    <a:lstStyle/>
                    <a:p>
                      <a:endParaRPr lang="x-none"/>
                    </a:p>
                  </a:txBody>
                  <a:tcPr/>
                </a:tc>
                <a:tc hMerge="1" vMerge="1">
                  <a:txBody>
                    <a:bodyPr/>
                    <a:lstStyle/>
                    <a:p>
                      <a:endParaRPr lang="x-none"/>
                    </a:p>
                  </a:txBody>
                  <a:tcPr/>
                </a:tc>
                <a:extLst>
                  <a:ext uri="{0D108BD9-81ED-4DB2-BD59-A6C34878D82A}">
                    <a16:rowId xmlns:a16="http://schemas.microsoft.com/office/drawing/2014/main" val="10001"/>
                  </a:ext>
                </a:extLst>
              </a:tr>
              <a:tr h="169875">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C</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B</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A</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G1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G2A</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G2B</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Y7</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Y6</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Y5</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Y4</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Y3</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Y2</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sz="1300" b="0" u="none" strike="noStrike" cap="none">
                          <a:solidFill>
                            <a:srgbClr val="262626"/>
                          </a:solidFill>
                          <a:latin typeface="Arial"/>
                          <a:ea typeface="Arial"/>
                          <a:cs typeface="Arial"/>
                          <a:sym typeface="Arial"/>
                        </a:rPr>
                        <a:t>Y0</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7"/>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8"/>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9"/>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10"/>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0</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11"/>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12"/>
                  </a:ext>
                </a:extLst>
              </a:tr>
              <a:tr h="169875">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X</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62626"/>
                        </a:buClr>
                        <a:buSzPts val="1300"/>
                        <a:buFont typeface="Noto Sans Symbols"/>
                        <a:buNone/>
                      </a:pPr>
                      <a:r>
                        <a:rPr lang="en-US" sz="1300" b="0" u="none" strike="noStrike" cap="none">
                          <a:solidFill>
                            <a:srgbClr val="262626"/>
                          </a:solidFill>
                          <a:latin typeface="Arial"/>
                          <a:ea typeface="Arial"/>
                          <a:cs typeface="Arial"/>
                          <a:sym typeface="Arial"/>
                        </a:rPr>
                        <a:t>1</a:t>
                      </a:r>
                      <a:endParaRPr/>
                    </a:p>
                  </a:txBody>
                  <a:tcPr marL="0" marR="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13"/>
                  </a:ext>
                </a:extLst>
              </a:tr>
            </a:tbl>
          </a:graphicData>
        </a:graphic>
      </p:graphicFrame>
      <p:sp>
        <p:nvSpPr>
          <p:cNvPr id="2" name="Google Shape;3457;p184">
            <a:extLst>
              <a:ext uri="{FF2B5EF4-FFF2-40B4-BE49-F238E27FC236}">
                <a16:creationId xmlns:a16="http://schemas.microsoft.com/office/drawing/2014/main" id="{A63B5D1D-E150-6F2E-2091-2C19679B01D7}"/>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74CC4A0F-4132-4372-B51C-0D5EA3695B26}"/>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Hoạt động của IC </a:t>
            </a:r>
            <a:r>
              <a:rPr lang="en-US" altLang="ko-KR" sz="2400" dirty="0" err="1">
                <a:solidFill>
                  <a:schemeClr val="tx1">
                    <a:lumMod val="95000"/>
                    <a:lumOff val="5000"/>
                  </a:schemeClr>
                </a:solidFill>
                <a:latin typeface="Samsung Sharp Sans" pitchFamily="2" charset="0"/>
                <a:ea typeface="Samsung Sharp Sans" pitchFamily="2" charset="0"/>
                <a:cs typeface="Samsung Sharp Sans" pitchFamily="2" charset="0"/>
              </a:rPr>
              <a:t>giải</a:t>
            </a:r>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 </a:t>
            </a:r>
            <a:r>
              <a:rPr lang="en-US" altLang="ko-KR" sz="2400" dirty="0" err="1">
                <a:solidFill>
                  <a:schemeClr val="tx1">
                    <a:lumMod val="95000"/>
                    <a:lumOff val="5000"/>
                  </a:schemeClr>
                </a:solidFill>
                <a:latin typeface="Samsung Sharp Sans" pitchFamily="2" charset="0"/>
                <a:ea typeface="Samsung Sharp Sans" pitchFamily="2" charset="0"/>
                <a:cs typeface="Samsung Sharp Sans" pitchFamily="2" charset="0"/>
              </a:rPr>
              <a:t>mã</a:t>
            </a:r>
            <a:endPar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9" name="직사각형 8">
            <a:extLst>
              <a:ext uri="{FF2B5EF4-FFF2-40B4-BE49-F238E27FC236}">
                <a16:creationId xmlns:a16="http://schemas.microsoft.com/office/drawing/2014/main" id="{1B471BCB-2BDA-4298-8263-2B4965B709E1}"/>
              </a:ext>
            </a:extLst>
          </p:cNvPr>
          <p:cNvSpPr/>
          <p:nvPr/>
        </p:nvSpPr>
        <p:spPr>
          <a:xfrm>
            <a:off x="580388" y="1944537"/>
            <a:ext cx="8619175" cy="861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lgn="just">
              <a:spcAft>
                <a:spcPts val="1000"/>
              </a:spcAft>
              <a:buSzPct val="120000"/>
              <a:buBlip>
                <a:blip r:embed="rId3"/>
              </a:buBlip>
              <a:defRPr/>
            </a:pPr>
            <a:r>
              <a:rPr lang="vi-VN" altLang="ko-KR" sz="1400" dirty="0">
                <a:solidFill>
                  <a:schemeClr val="tx1"/>
                </a:solidFill>
                <a:latin typeface="SamsungOne-400" panose="020B0503030303020204" pitchFamily="34" charset="0"/>
                <a:ea typeface="SamsungOne-400" panose="020B0503030303020204" pitchFamily="34" charset="0"/>
              </a:rPr>
              <a:t>Khi lệnh I/O của máy vi tính được thực thi, bus địa chỉ (A0 đến A7) chứa địa chỉ của một thiết bị cụ thể. Một tín hiệu IORQ được đưa ra đồng thời để chỉ ra rằng tín hiệu này có liên quan đến đầu vào và đầu ra. Các địa chỉ đến từ bus địa chỉ được sử dụng để gán một thiết bị cụ thể. IC giải mã được sử dụng để lấy địa chỉ đó.</a:t>
            </a:r>
            <a:endParaRPr lang="en-US" altLang="ko-KR" sz="1400" dirty="0">
              <a:solidFill>
                <a:schemeClr val="tx1"/>
              </a:solidFill>
              <a:latin typeface="SamsungOne-400" panose="020B0503030303020204" pitchFamily="34" charset="0"/>
              <a:ea typeface="SamsungOne-400" panose="020B0503030303020204" pitchFamily="34" charset="0"/>
            </a:endParaRPr>
          </a:p>
        </p:txBody>
      </p:sp>
      <p:grpSp>
        <p:nvGrpSpPr>
          <p:cNvPr id="16" name="그룹 15">
            <a:extLst>
              <a:ext uri="{FF2B5EF4-FFF2-40B4-BE49-F238E27FC236}">
                <a16:creationId xmlns:a16="http://schemas.microsoft.com/office/drawing/2014/main" id="{02DD5B83-BC07-4FA5-BCBB-A6F421375D23}"/>
              </a:ext>
            </a:extLst>
          </p:cNvPr>
          <p:cNvGrpSpPr/>
          <p:nvPr/>
        </p:nvGrpSpPr>
        <p:grpSpPr>
          <a:xfrm>
            <a:off x="2084807" y="2928593"/>
            <a:ext cx="6055342" cy="3297935"/>
            <a:chOff x="11280847" y="2420938"/>
            <a:chExt cx="7093944" cy="3863595"/>
          </a:xfrm>
        </p:grpSpPr>
        <mc:AlternateContent xmlns:mc="http://schemas.openxmlformats.org/markup-compatibility/2006" xmlns:a14="http://schemas.microsoft.com/office/drawing/2010/main">
          <mc:Choice Requires="a14">
            <p:graphicFrame>
              <p:nvGraphicFramePr>
                <p:cNvPr id="17" name="Object 68">
                  <a:extLst>
                    <a:ext uri="{FF2B5EF4-FFF2-40B4-BE49-F238E27FC236}">
                      <a16:creationId xmlns:a16="http://schemas.microsoft.com/office/drawing/2014/main" id="{25665CF9-52F5-40E2-AB0A-12765E91531D}"/>
                    </a:ext>
                  </a:extLst>
                </p:cNvPr>
                <p:cNvGraphicFramePr>
                  <a:graphicFrameLocks noChangeAspect="1"/>
                </p:cNvGraphicFramePr>
                <p:nvPr/>
              </p:nvGraphicFramePr>
              <p:xfrm>
                <a:off x="11534253" y="4365626"/>
                <a:ext cx="3097213" cy="1870075"/>
              </p:xfrm>
              <a:graphic>
                <a:graphicData uri="http://schemas.openxmlformats.org/presentationml/2006/ole">
                  <mc:AlternateContent>
                    <mc:Choice xmlns:v="urn:schemas-microsoft-com:vml" Requires="v">
                      <p:oleObj name="Visio" r:id="rId4" imgW="2428407" imgH="1467037" progId="Visio.Drawing.6">
                        <p:embed/>
                      </p:oleObj>
                    </mc:Choice>
                    <mc:Fallback>
                      <p:oleObj name="Visio" r:id="rId4" imgW="2428407" imgH="1467037" progId="Visio.Drawing.6">
                        <p:embed/>
                        <p:pic>
                          <p:nvPicPr>
                            <p:cNvPr id="17" name="Object 68">
                              <a:extLst>
                                <a:ext uri="{FF2B5EF4-FFF2-40B4-BE49-F238E27FC236}">
                                  <a16:creationId xmlns:a16="http://schemas.microsoft.com/office/drawing/2014/main" id="{25665CF9-52F5-40E2-AB0A-12765E91531D}"/>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11534253" y="4365626"/>
                              <a:ext cx="3097213" cy="1870075"/>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17" name="Object 68">
                  <a:extLst>
                    <a:ext uri="{FF2B5EF4-FFF2-40B4-BE49-F238E27FC236}">
                      <a16:creationId xmlns:a16="http://schemas.microsoft.com/office/drawing/2014/main" id="{25665CF9-52F5-40E2-AB0A-12765E91531D}"/>
                    </a:ext>
                  </a:extLst>
                </p:cNvPr>
                <p:cNvGraphicFramePr>
                  <a:graphicFrameLocks noChangeAspect="1"/>
                </p:cNvGraphicFramePr>
                <p:nvPr/>
              </p:nvGraphicFramePr>
              <p:xfrm>
                <a:off x="11534253" y="4365626"/>
                <a:ext cx="3097213" cy="1870075"/>
              </p:xfrm>
              <a:graphic>
                <a:graphicData uri="http://schemas.openxmlformats.org/presentationml/2006/ole">
                  <mc:AlternateContent>
                    <mc:Choice xmlns:v="urn:schemas-microsoft-com:vml" Requires="v">
                      <p:oleObj name="Visio" r:id="rId7" imgW="2428407" imgH="1467037" progId="Visio.Drawing.6">
                        <p:embed/>
                      </p:oleObj>
                    </mc:Choice>
                    <mc:Fallback>
                      <p:oleObj name="Visio" r:id="rId7" imgW="2428407" imgH="1467037" progId="Visio.Drawing.6">
                        <p:embed/>
                        <p:pic>
                          <p:nvPicPr>
                            <p:cNvPr id="23" name="Object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34253" y="4365626"/>
                              <a:ext cx="3097213" cy="187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8" name="Object 70">
                  <a:extLst>
                    <a:ext uri="{FF2B5EF4-FFF2-40B4-BE49-F238E27FC236}">
                      <a16:creationId xmlns:a16="http://schemas.microsoft.com/office/drawing/2014/main" id="{CB9F3665-7ED9-4FF8-A42B-25C0359243ED}"/>
                    </a:ext>
                  </a:extLst>
                </p:cNvPr>
                <p:cNvGraphicFramePr>
                  <a:graphicFrameLocks noChangeAspect="1"/>
                </p:cNvGraphicFramePr>
                <p:nvPr/>
              </p:nvGraphicFramePr>
              <p:xfrm>
                <a:off x="15279166" y="4365626"/>
                <a:ext cx="3095625" cy="1846263"/>
              </p:xfrm>
              <a:graphic>
                <a:graphicData uri="http://schemas.openxmlformats.org/presentationml/2006/ole">
                  <mc:AlternateContent>
                    <mc:Choice xmlns:v="urn:schemas-microsoft-com:vml" Requires="v">
                      <p:oleObj name="Visio" r:id="rId9" imgW="2428407" imgH="1449049" progId="Visio.Drawing.6">
                        <p:embed/>
                      </p:oleObj>
                    </mc:Choice>
                    <mc:Fallback>
                      <p:oleObj name="Visio" r:id="rId9" imgW="2428407" imgH="1449049" progId="Visio.Drawing.6">
                        <p:embed/>
                        <p:pic>
                          <p:nvPicPr>
                            <p:cNvPr id="18" name="Object 70">
                              <a:extLst>
                                <a:ext uri="{FF2B5EF4-FFF2-40B4-BE49-F238E27FC236}">
                                  <a16:creationId xmlns:a16="http://schemas.microsoft.com/office/drawing/2014/main" id="{CB9F3665-7ED9-4FF8-A42B-25C0359243ED}"/>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15279166" y="4365626"/>
                              <a:ext cx="3095625" cy="1846263"/>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18" name="Object 70">
                  <a:extLst>
                    <a:ext uri="{FF2B5EF4-FFF2-40B4-BE49-F238E27FC236}">
                      <a16:creationId xmlns:a16="http://schemas.microsoft.com/office/drawing/2014/main" id="{CB9F3665-7ED9-4FF8-A42B-25C0359243ED}"/>
                    </a:ext>
                  </a:extLst>
                </p:cNvPr>
                <p:cNvGraphicFramePr>
                  <a:graphicFrameLocks noChangeAspect="1"/>
                </p:cNvGraphicFramePr>
                <p:nvPr/>
              </p:nvGraphicFramePr>
              <p:xfrm>
                <a:off x="15279166" y="4365626"/>
                <a:ext cx="3095625" cy="1846263"/>
              </p:xfrm>
              <a:graphic>
                <a:graphicData uri="http://schemas.openxmlformats.org/presentationml/2006/ole">
                  <mc:AlternateContent>
                    <mc:Choice xmlns:v="urn:schemas-microsoft-com:vml" Requires="v">
                      <p:oleObj name="Visio" r:id="rId10" imgW="2428407" imgH="1449049" progId="Visio.Drawing.6">
                        <p:embed/>
                      </p:oleObj>
                    </mc:Choice>
                    <mc:Fallback>
                      <p:oleObj name="Visio" r:id="rId10" imgW="2428407" imgH="1449049" progId="Visio.Drawing.6">
                        <p:embed/>
                        <p:pic>
                          <p:nvPicPr>
                            <p:cNvPr id="24" name="Object 7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79166" y="4365626"/>
                              <a:ext cx="3095625" cy="184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20" name="Text Box 72">
              <a:extLst>
                <a:ext uri="{FF2B5EF4-FFF2-40B4-BE49-F238E27FC236}">
                  <a16:creationId xmlns:a16="http://schemas.microsoft.com/office/drawing/2014/main" id="{7D174799-D129-4BD4-A002-1D7E8F9B7DE0}"/>
                </a:ext>
              </a:extLst>
            </p:cNvPr>
            <p:cNvSpPr txBox="1">
              <a:spLocks noChangeArrowheads="1"/>
            </p:cNvSpPr>
            <p:nvPr/>
          </p:nvSpPr>
          <p:spPr bwMode="auto">
            <a:xfrm>
              <a:off x="11280847" y="5893162"/>
              <a:ext cx="1166593" cy="342538"/>
            </a:xfrm>
            <a:prstGeom prst="rect">
              <a:avLst/>
            </a:prstGeom>
            <a:solidFill>
              <a:schemeClr val="bg1"/>
            </a:solidFill>
          </p:spPr>
          <p:txBody>
            <a:bodyPr wrap="square" lIns="0" r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400">
                  <a:solidFill>
                    <a:schemeClr val="tx1">
                      <a:lumMod val="85000"/>
                      <a:lumOff val="15000"/>
                    </a:schemeClr>
                  </a:solidFill>
                  <a:latin typeface="SamsungOne-400" panose="020B0503030303020204" pitchFamily="34" charset="0"/>
                  <a:ea typeface="SamsungOne-400" panose="020B05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r>
                <a:rPr lang="en-US" altLang="en-US" sz="1300" dirty="0"/>
                <a:t>Data Output</a:t>
              </a:r>
              <a:endParaRPr lang="ko-KR" altLang="en-US" sz="1300" dirty="0"/>
            </a:p>
          </p:txBody>
        </p:sp>
        <p:sp>
          <p:nvSpPr>
            <p:cNvPr id="21" name="Text Box 73">
              <a:extLst>
                <a:ext uri="{FF2B5EF4-FFF2-40B4-BE49-F238E27FC236}">
                  <a16:creationId xmlns:a16="http://schemas.microsoft.com/office/drawing/2014/main" id="{40CD06D2-5759-4A4D-BBC0-AF02BF852FEC}"/>
                </a:ext>
              </a:extLst>
            </p:cNvPr>
            <p:cNvSpPr txBox="1">
              <a:spLocks noChangeArrowheads="1"/>
            </p:cNvSpPr>
            <p:nvPr/>
          </p:nvSpPr>
          <p:spPr bwMode="auto">
            <a:xfrm>
              <a:off x="14667108" y="5459233"/>
              <a:ext cx="1376073" cy="342538"/>
            </a:xfrm>
            <a:prstGeom prst="rect">
              <a:avLst/>
            </a:prstGeom>
            <a:solidFill>
              <a:schemeClr val="bg1"/>
            </a:solidFill>
          </p:spPr>
          <p:txBody>
            <a:bodyPr wrap="square" lIns="0" rIns="0" rtlCol="0">
              <a:spAutoFit/>
              <a:scene3d>
                <a:camera prst="orthographicFront"/>
                <a:lightRig rig="threePt" dir="t"/>
              </a:scene3d>
              <a:sp3d>
                <a:bevelT w="0" h="6350"/>
                <a:bevelB w="0" h="0"/>
              </a:sp3d>
            </a:bodyPr>
            <a:lstStyle>
              <a:defPPr>
                <a:defRPr lang="ko-KR"/>
              </a:defPPr>
              <a:lvl1pPr marL="0" lvl="0" algn="ctr" defTabSz="457200" eaLnBrk="1" latinLnBrk="0" hangingPunct="1">
                <a:defRPr sz="1400">
                  <a:solidFill>
                    <a:schemeClr val="tx1">
                      <a:lumMod val="85000"/>
                      <a:lumOff val="15000"/>
                    </a:schemeClr>
                  </a:solidFill>
                  <a:latin typeface="SamsungOne-400" panose="020B0503030303020204" pitchFamily="34" charset="0"/>
                  <a:ea typeface="SamsungOne-400" panose="020B0503030303020204" pitchFamily="34" charset="0"/>
                  <a:cs typeface="+mn-cs"/>
                </a:defRPr>
              </a:lvl1pPr>
              <a:lvl2pPr defTabSz="457200" eaLnBrk="1" latinLnBrk="0" hangingPunct="1">
                <a:defRPr sz="1800">
                  <a:latin typeface="+mn-lt"/>
                  <a:ea typeface="+mn-ea"/>
                  <a:cs typeface="+mn-cs"/>
                </a:defRPr>
              </a:lvl2pPr>
              <a:lvl3pPr defTabSz="457200" eaLnBrk="1" latinLnBrk="0" hangingPunct="1">
                <a:defRPr sz="1800">
                  <a:latin typeface="+mn-lt"/>
                  <a:ea typeface="+mn-ea"/>
                  <a:cs typeface="+mn-cs"/>
                </a:defRPr>
              </a:lvl3pPr>
              <a:lvl4pPr defTabSz="457200" eaLnBrk="1" latinLnBrk="0" hangingPunct="1">
                <a:defRPr sz="1800">
                  <a:latin typeface="+mn-lt"/>
                  <a:ea typeface="+mn-ea"/>
                  <a:cs typeface="+mn-cs"/>
                </a:defRPr>
              </a:lvl4pPr>
              <a:lvl5pPr defTabSz="457200" eaLnBrk="1" latinLnBrk="0" hangingPunct="1">
                <a:defRPr sz="1800">
                  <a:latin typeface="+mn-lt"/>
                  <a:ea typeface="+mn-ea"/>
                  <a:cs typeface="+mn-cs"/>
                </a:defRPr>
              </a:lvl5pPr>
              <a:lvl6pPr defTabSz="457200" latinLnBrk="0">
                <a:defRPr sz="1800">
                  <a:latin typeface="+mn-lt"/>
                  <a:ea typeface="+mn-ea"/>
                  <a:cs typeface="+mn-cs"/>
                </a:defRPr>
              </a:lvl6pPr>
              <a:lvl7pPr defTabSz="457200" latinLnBrk="0">
                <a:defRPr sz="1800">
                  <a:latin typeface="+mn-lt"/>
                  <a:ea typeface="+mn-ea"/>
                  <a:cs typeface="+mn-cs"/>
                </a:defRPr>
              </a:lvl7pPr>
              <a:lvl8pPr defTabSz="457200" latinLnBrk="0">
                <a:defRPr sz="1800">
                  <a:latin typeface="+mn-lt"/>
                  <a:ea typeface="+mn-ea"/>
                  <a:cs typeface="+mn-cs"/>
                </a:defRPr>
              </a:lvl8pPr>
              <a:lvl9pPr defTabSz="457200" latinLnBrk="0">
                <a:defRPr sz="1800">
                  <a:latin typeface="+mn-lt"/>
                  <a:ea typeface="+mn-ea"/>
                  <a:cs typeface="+mn-cs"/>
                </a:defRPr>
              </a:lvl9pPr>
            </a:lstStyle>
            <a:p>
              <a:r>
                <a:rPr lang="en-US" altLang="en-US" sz="1300" dirty="0"/>
                <a:t>Data Input</a:t>
              </a:r>
              <a:endParaRPr lang="ko-KR" altLang="en-US" sz="1300" dirty="0"/>
            </a:p>
          </p:txBody>
        </p:sp>
        <p:grpSp>
          <p:nvGrpSpPr>
            <p:cNvPr id="22" name="그룹 21">
              <a:extLst>
                <a:ext uri="{FF2B5EF4-FFF2-40B4-BE49-F238E27FC236}">
                  <a16:creationId xmlns:a16="http://schemas.microsoft.com/office/drawing/2014/main" id="{E90C2AFE-F4F3-4244-A314-E51A062319A0}"/>
                </a:ext>
              </a:extLst>
            </p:cNvPr>
            <p:cNvGrpSpPr/>
            <p:nvPr/>
          </p:nvGrpSpPr>
          <p:grpSpPr>
            <a:xfrm>
              <a:off x="11280847" y="2420938"/>
              <a:ext cx="5725518" cy="3863595"/>
              <a:chOff x="1315045" y="2420938"/>
              <a:chExt cx="5725518" cy="3863595"/>
            </a:xfrm>
          </p:grpSpPr>
          <mc:AlternateContent xmlns:mc="http://schemas.openxmlformats.org/markup-compatibility/2006" xmlns:a14="http://schemas.microsoft.com/office/drawing/2010/main">
            <mc:Choice Requires="a14">
              <p:graphicFrame>
                <p:nvGraphicFramePr>
                  <p:cNvPr id="23" name="Object 66">
                    <a:extLst>
                      <a:ext uri="{FF2B5EF4-FFF2-40B4-BE49-F238E27FC236}">
                        <a16:creationId xmlns:a16="http://schemas.microsoft.com/office/drawing/2014/main" id="{0CD30D1F-5260-4DC0-9536-E8B148761832}"/>
                      </a:ext>
                    </a:extLst>
                  </p:cNvPr>
                  <p:cNvGraphicFramePr>
                    <a:graphicFrameLocks noChangeAspect="1"/>
                  </p:cNvGraphicFramePr>
                  <p:nvPr/>
                </p:nvGraphicFramePr>
                <p:xfrm>
                  <a:off x="3440113" y="2420938"/>
                  <a:ext cx="3600450" cy="1763712"/>
                </p:xfrm>
                <a:graphic>
                  <a:graphicData uri="http://schemas.openxmlformats.org/presentationml/2006/ole">
                    <mc:AlternateContent>
                      <mc:Choice xmlns:v="urn:schemas-microsoft-com:vml" Requires="v">
                        <p:oleObj name="Visio" r:id="rId12" imgW="3281982" imgH="1612702" progId="Visio.Drawing.6">
                          <p:embed/>
                        </p:oleObj>
                      </mc:Choice>
                      <mc:Fallback>
                        <p:oleObj name="Visio" r:id="rId12" imgW="3281982" imgH="1612702" progId="Visio.Drawing.6">
                          <p:embed/>
                          <p:pic>
                            <p:nvPicPr>
                              <p:cNvPr id="23" name="Object 66">
                                <a:extLst>
                                  <a:ext uri="{FF2B5EF4-FFF2-40B4-BE49-F238E27FC236}">
                                    <a16:creationId xmlns:a16="http://schemas.microsoft.com/office/drawing/2014/main" id="{0CD30D1F-5260-4DC0-9536-E8B148761832}"/>
                                  </a:ext>
                                </a:extLst>
                              </p:cNvPr>
                              <p:cNvPicPr>
                                <a:picLocks noChangeAspect="1" noChangeArrowheads="1"/>
                              </p:cNvPicPr>
                              <p:nvPr/>
                            </p:nvPicPr>
                            <p:blipFill>
                              <a:blip r:embed="rId13">
                                <a:extLst>
                                  <a:ext uri="{28A0092B-C50C-407E-A947-70E740481C1C}">
                                    <a14:useLocalDpi val="0"/>
                                  </a:ext>
                                </a:extLst>
                              </a:blip>
                              <a:srcRect/>
                              <a:stretch>
                                <a:fillRect/>
                              </a:stretch>
                            </p:blipFill>
                            <p:spPr bwMode="auto">
                              <a:xfrm>
                                <a:off x="3440113" y="2420938"/>
                                <a:ext cx="3600450" cy="1763712"/>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23" name="Object 66">
                    <a:extLst>
                      <a:ext uri="{FF2B5EF4-FFF2-40B4-BE49-F238E27FC236}">
                        <a16:creationId xmlns:a16="http://schemas.microsoft.com/office/drawing/2014/main" id="{0CD30D1F-5260-4DC0-9536-E8B148761832}"/>
                      </a:ext>
                    </a:extLst>
                  </p:cNvPr>
                  <p:cNvGraphicFramePr>
                    <a:graphicFrameLocks noChangeAspect="1"/>
                  </p:cNvGraphicFramePr>
                  <p:nvPr/>
                </p:nvGraphicFramePr>
                <p:xfrm>
                  <a:off x="3440113" y="2420938"/>
                  <a:ext cx="3600450" cy="1763712"/>
                </p:xfrm>
                <a:graphic>
                  <a:graphicData uri="http://schemas.openxmlformats.org/presentationml/2006/ole">
                    <mc:AlternateContent>
                      <mc:Choice xmlns:v="urn:schemas-microsoft-com:vml" Requires="v">
                        <p:oleObj name="Visio" r:id="rId14" imgW="3281982" imgH="1612702" progId="Visio.Drawing.6">
                          <p:embed/>
                        </p:oleObj>
                      </mc:Choice>
                      <mc:Fallback>
                        <p:oleObj name="Visio" r:id="rId14" imgW="3281982" imgH="1612702" progId="Visio.Drawing.6">
                          <p:embed/>
                          <p:pic>
                            <p:nvPicPr>
                              <p:cNvPr id="28" name="Object 6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40113" y="2420938"/>
                                <a:ext cx="3600450" cy="176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24" name="직사각형 23">
                <a:extLst>
                  <a:ext uri="{FF2B5EF4-FFF2-40B4-BE49-F238E27FC236}">
                    <a16:creationId xmlns:a16="http://schemas.microsoft.com/office/drawing/2014/main" id="{385468C2-39D0-415F-A9F8-A55AC966AB69}"/>
                  </a:ext>
                </a:extLst>
              </p:cNvPr>
              <p:cNvSpPr/>
              <p:nvPr/>
            </p:nvSpPr>
            <p:spPr>
              <a:xfrm>
                <a:off x="3530147" y="2564904"/>
                <a:ext cx="1008752" cy="385665"/>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rPr>
                  <a:t>Micro Computer</a:t>
                </a:r>
                <a:endParaRPr lang="ko-KR" altLang="en-US"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p:sp>
            <p:nvSpPr>
              <p:cNvPr id="25" name="직사각형 24">
                <a:extLst>
                  <a:ext uri="{FF2B5EF4-FFF2-40B4-BE49-F238E27FC236}">
                    <a16:creationId xmlns:a16="http://schemas.microsoft.com/office/drawing/2014/main" id="{073CA6DE-511E-45D1-9436-1191BDF8AE8C}"/>
                  </a:ext>
                </a:extLst>
              </p:cNvPr>
              <p:cNvSpPr/>
              <p:nvPr/>
            </p:nvSpPr>
            <p:spPr>
              <a:xfrm>
                <a:off x="5365975" y="2549937"/>
                <a:ext cx="1080120" cy="287982"/>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rPr>
                  <a:t>Address bus</a:t>
                </a:r>
                <a:endParaRPr lang="ko-KR" altLang="en-US"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p:sp>
            <p:nvSpPr>
              <p:cNvPr id="26" name="직사각형 25">
                <a:extLst>
                  <a:ext uri="{FF2B5EF4-FFF2-40B4-BE49-F238E27FC236}">
                    <a16:creationId xmlns:a16="http://schemas.microsoft.com/office/drawing/2014/main" id="{A1952EE6-8F95-46EA-A659-466364B8FAB5}"/>
                  </a:ext>
                </a:extLst>
              </p:cNvPr>
              <p:cNvSpPr/>
              <p:nvPr/>
            </p:nvSpPr>
            <p:spPr>
              <a:xfrm>
                <a:off x="5365974" y="2950569"/>
                <a:ext cx="1080120" cy="287982"/>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rPr>
                  <a:t>Data bus</a:t>
                </a:r>
                <a:endParaRPr lang="ko-KR" altLang="en-US"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p:sp>
            <p:nvSpPr>
              <p:cNvPr id="27" name="직사각형 26">
                <a:extLst>
                  <a:ext uri="{FF2B5EF4-FFF2-40B4-BE49-F238E27FC236}">
                    <a16:creationId xmlns:a16="http://schemas.microsoft.com/office/drawing/2014/main" id="{1A466D3C-6565-4A71-B260-C3AE4A6D2DE5}"/>
                  </a:ext>
                </a:extLst>
              </p:cNvPr>
              <p:cNvSpPr/>
              <p:nvPr/>
            </p:nvSpPr>
            <p:spPr>
              <a:xfrm>
                <a:off x="5389343" y="3490834"/>
                <a:ext cx="1080120" cy="370214"/>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r>
                  <a:rPr lang="en-US" altLang="ko-KR"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rPr>
                  <a:t>I/O Timing Control</a:t>
                </a:r>
                <a:endParaRPr lang="ko-KR" altLang="en-US" sz="13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AlternateContent xmlns:mc="http://schemas.openxmlformats.org/markup-compatibility/2006" xmlns:a14="http://schemas.microsoft.com/office/drawing/2010/main">
            <mc:Choice Requires="a14">
              <p:sp>
                <p:nvSpPr>
                  <p:cNvPr id="28" name="직사각형 27">
                    <a:extLst>
                      <a:ext uri="{FF2B5EF4-FFF2-40B4-BE49-F238E27FC236}">
                        <a16:creationId xmlns:a16="http://schemas.microsoft.com/office/drawing/2014/main" id="{68BD714C-A4D5-45F4-BDE4-AA4A39833175}"/>
                      </a:ext>
                    </a:extLst>
                  </p:cNvPr>
                  <p:cNvSpPr/>
                  <p:nvPr/>
                </p:nvSpPr>
                <p:spPr>
                  <a:xfrm>
                    <a:off x="1315045" y="4253955"/>
                    <a:ext cx="1080120" cy="955862"/>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𝐴𝑑𝑑𝑟𝑒𝑠𝑠</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 </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𝑏𝑢𝑠</m:t>
                          </m:r>
                        </m:oMath>
                      </m:oMathPara>
                    </a14:m>
                    <a:endParaRPr lang="en-US" altLang="ko-KR"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𝐴</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0−</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𝐴</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7</m:t>
                          </m:r>
                        </m:oMath>
                      </m:oMathPara>
                    </a14:m>
                    <a:endParaRPr lang="en-US" altLang="ko-KR"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𝐷𝑎𝑡𝑎</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 </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𝑏𝑢𝑠</m:t>
                          </m:r>
                        </m:oMath>
                      </m:oMathPara>
                    </a14:m>
                    <a:endParaRPr lang="en-US" altLang="ko-KR"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𝐷</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0−</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𝐷</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7</m:t>
                          </m:r>
                        </m:oMath>
                      </m:oMathPara>
                    </a14:m>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28" name="직사각형 27">
                    <a:extLst>
                      <a:ext uri="{FF2B5EF4-FFF2-40B4-BE49-F238E27FC236}">
                        <a16:creationId xmlns:a16="http://schemas.microsoft.com/office/drawing/2014/main" id="{68BD714C-A4D5-45F4-BDE4-AA4A39833175}"/>
                      </a:ext>
                    </a:extLst>
                  </p:cNvPr>
                  <p:cNvSpPr>
                    <a:spLocks noRot="1" noChangeAspect="1" noMove="1" noResize="1" noEditPoints="1" noAdjustHandles="1" noChangeArrowheads="1" noChangeShapeType="1" noTextEdit="1"/>
                  </p:cNvSpPr>
                  <p:nvPr/>
                </p:nvSpPr>
                <p:spPr>
                  <a:xfrm>
                    <a:off x="1315045" y="4253955"/>
                    <a:ext cx="1080120" cy="955862"/>
                  </a:xfrm>
                  <a:prstGeom prst="rect">
                    <a:avLst/>
                  </a:prstGeom>
                  <a:blipFill>
                    <a:blip r:embed="rId1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직사각형 28">
                    <a:extLst>
                      <a:ext uri="{FF2B5EF4-FFF2-40B4-BE49-F238E27FC236}">
                        <a16:creationId xmlns:a16="http://schemas.microsoft.com/office/drawing/2014/main" id="{92FAAF7C-2E25-4F36-9478-EB98E5EA47D9}"/>
                      </a:ext>
                    </a:extLst>
                  </p:cNvPr>
                  <p:cNvSpPr/>
                  <p:nvPr/>
                </p:nvSpPr>
                <p:spPr>
                  <a:xfrm>
                    <a:off x="1695962" y="5102172"/>
                    <a:ext cx="620969" cy="396982"/>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acc>
                            <m:accPr>
                              <m:chr m:val="̅"/>
                              <m:ctrlPr>
                                <a:rPr lang="en-US" altLang="ko-KR" sz="1100" i="1" dirty="0" smtClean="0">
                                  <a:solidFill>
                                    <a:schemeClr val="tx1">
                                      <a:lumMod val="85000"/>
                                      <a:lumOff val="15000"/>
                                    </a:schemeClr>
                                  </a:solidFill>
                                  <a:latin typeface="Cambria Math" panose="02040503050406030204" pitchFamily="18" charset="0"/>
                                </a:rPr>
                              </m:ctrlPr>
                            </m:accPr>
                            <m:e>
                              <m:r>
                                <a:rPr lang="en-US" altLang="ko-KR" sz="1100" i="1" dirty="0" smtClean="0">
                                  <a:solidFill>
                                    <a:schemeClr val="tx1">
                                      <a:lumMod val="85000"/>
                                      <a:lumOff val="15000"/>
                                    </a:schemeClr>
                                  </a:solidFill>
                                  <a:latin typeface="Cambria Math" panose="02040503050406030204" pitchFamily="18" charset="0"/>
                                </a:rPr>
                                <m:t>𝐼𝑂𝑅𝑄</m:t>
                              </m:r>
                            </m:e>
                          </m:acc>
                        </m:oMath>
                      </m:oMathPara>
                    </a14:m>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29" name="직사각형 28">
                    <a:extLst>
                      <a:ext uri="{FF2B5EF4-FFF2-40B4-BE49-F238E27FC236}">
                        <a16:creationId xmlns:a16="http://schemas.microsoft.com/office/drawing/2014/main" id="{92FAAF7C-2E25-4F36-9478-EB98E5EA47D9}"/>
                      </a:ext>
                    </a:extLst>
                  </p:cNvPr>
                  <p:cNvSpPr>
                    <a:spLocks noRot="1" noChangeAspect="1" noMove="1" noResize="1" noEditPoints="1" noAdjustHandles="1" noChangeArrowheads="1" noChangeShapeType="1" noTextEdit="1"/>
                  </p:cNvSpPr>
                  <p:nvPr/>
                </p:nvSpPr>
                <p:spPr>
                  <a:xfrm>
                    <a:off x="1695962" y="5102172"/>
                    <a:ext cx="620969" cy="396982"/>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직사각형 30">
                    <a:extLst>
                      <a:ext uri="{FF2B5EF4-FFF2-40B4-BE49-F238E27FC236}">
                        <a16:creationId xmlns:a16="http://schemas.microsoft.com/office/drawing/2014/main" id="{5035E71C-98A5-42E7-BF32-DBD8FF33E63C}"/>
                      </a:ext>
                    </a:extLst>
                  </p:cNvPr>
                  <p:cNvSpPr/>
                  <p:nvPr/>
                </p:nvSpPr>
                <p:spPr>
                  <a:xfrm>
                    <a:off x="1617728" y="5453758"/>
                    <a:ext cx="620969" cy="396982"/>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acc>
                            <m:accPr>
                              <m:chr m:val="̅"/>
                              <m:ctrlPr>
                                <a:rPr lang="ko-KR" altLang="en-US" sz="1100" i="1" smtClean="0">
                                  <a:solidFill>
                                    <a:schemeClr val="tx1">
                                      <a:lumMod val="85000"/>
                                      <a:lumOff val="15000"/>
                                    </a:schemeClr>
                                  </a:solidFill>
                                  <a:latin typeface="Cambria Math" panose="02040503050406030204" pitchFamily="18" charset="0"/>
                                </a:rPr>
                              </m:ctrlPr>
                            </m:accPr>
                            <m:e>
                              <m:r>
                                <m:rPr>
                                  <m:sty m:val="p"/>
                                </m:rPr>
                                <a:rPr lang="en-US" altLang="ko-KR" sz="1100" i="1">
                                  <a:solidFill>
                                    <a:schemeClr val="tx1">
                                      <a:lumMod val="85000"/>
                                      <a:lumOff val="15000"/>
                                    </a:schemeClr>
                                  </a:solidFill>
                                  <a:latin typeface="Cambria Math" panose="02040503050406030204" pitchFamily="18" charset="0"/>
                                </a:rPr>
                                <m:t>WR</m:t>
                              </m:r>
                            </m:e>
                          </m:acc>
                        </m:oMath>
                      </m:oMathPara>
                    </a14:m>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31" name="직사각형 30">
                    <a:extLst>
                      <a:ext uri="{FF2B5EF4-FFF2-40B4-BE49-F238E27FC236}">
                        <a16:creationId xmlns:a16="http://schemas.microsoft.com/office/drawing/2014/main" id="{5035E71C-98A5-42E7-BF32-DBD8FF33E63C}"/>
                      </a:ext>
                    </a:extLst>
                  </p:cNvPr>
                  <p:cNvSpPr>
                    <a:spLocks noRot="1" noChangeAspect="1" noMove="1" noResize="1" noEditPoints="1" noAdjustHandles="1" noChangeArrowheads="1" noChangeShapeType="1" noTextEdit="1"/>
                  </p:cNvSpPr>
                  <p:nvPr/>
                </p:nvSpPr>
                <p:spPr>
                  <a:xfrm>
                    <a:off x="1617728" y="5453758"/>
                    <a:ext cx="620969" cy="396982"/>
                  </a:xfrm>
                  <a:prstGeom prst="rect">
                    <a:avLst/>
                  </a:prstGeom>
                  <a:blipFill>
                    <a:blip r:embed="rId1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직사각형 41">
                    <a:extLst>
                      <a:ext uri="{FF2B5EF4-FFF2-40B4-BE49-F238E27FC236}">
                        <a16:creationId xmlns:a16="http://schemas.microsoft.com/office/drawing/2014/main" id="{7FFE1F68-8AD8-473C-AA0A-D38377BAB944}"/>
                      </a:ext>
                    </a:extLst>
                  </p:cNvPr>
                  <p:cNvSpPr/>
                  <p:nvPr/>
                </p:nvSpPr>
                <p:spPr>
                  <a:xfrm>
                    <a:off x="4997258" y="5844330"/>
                    <a:ext cx="1080120" cy="440203"/>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𝐷𝑎𝑡𝑎</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 </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𝑏𝑢𝑠</m:t>
                          </m:r>
                        </m:oMath>
                      </m:oMathPara>
                    </a14:m>
                    <a:endParaRPr lang="en-US" altLang="ko-KR"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𝐷</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0−</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𝐷</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7</m:t>
                          </m:r>
                        </m:oMath>
                      </m:oMathPara>
                    </a14:m>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42" name="직사각형 41">
                    <a:extLst>
                      <a:ext uri="{FF2B5EF4-FFF2-40B4-BE49-F238E27FC236}">
                        <a16:creationId xmlns:a16="http://schemas.microsoft.com/office/drawing/2014/main" id="{7FFE1F68-8AD8-473C-AA0A-D38377BAB944}"/>
                      </a:ext>
                    </a:extLst>
                  </p:cNvPr>
                  <p:cNvSpPr>
                    <a:spLocks noRot="1" noChangeAspect="1" noMove="1" noResize="1" noEditPoints="1" noAdjustHandles="1" noChangeArrowheads="1" noChangeShapeType="1" noTextEdit="1"/>
                  </p:cNvSpPr>
                  <p:nvPr/>
                </p:nvSpPr>
                <p:spPr>
                  <a:xfrm>
                    <a:off x="4997258" y="5844330"/>
                    <a:ext cx="1080120" cy="440203"/>
                  </a:xfrm>
                  <a:prstGeom prst="rect">
                    <a:avLst/>
                  </a:prstGeom>
                  <a:blipFill>
                    <a:blip r:embed="rId1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3" name="직사각형 42">
                    <a:extLst>
                      <a:ext uri="{FF2B5EF4-FFF2-40B4-BE49-F238E27FC236}">
                        <a16:creationId xmlns:a16="http://schemas.microsoft.com/office/drawing/2014/main" id="{7649F19B-67D3-4A02-8148-B6351D8363D7}"/>
                      </a:ext>
                    </a:extLst>
                  </p:cNvPr>
                  <p:cNvSpPr/>
                  <p:nvPr/>
                </p:nvSpPr>
                <p:spPr>
                  <a:xfrm>
                    <a:off x="5365974" y="5102172"/>
                    <a:ext cx="620969" cy="396982"/>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acc>
                            <m:accPr>
                              <m:chr m:val="̅"/>
                              <m:ctrlPr>
                                <a:rPr lang="ko-KR" altLang="en-US" sz="1100" i="1" smtClean="0">
                                  <a:solidFill>
                                    <a:schemeClr val="tx1">
                                      <a:lumMod val="85000"/>
                                      <a:lumOff val="15000"/>
                                    </a:schemeClr>
                                  </a:solidFill>
                                  <a:latin typeface="Cambria Math" panose="02040503050406030204" pitchFamily="18" charset="0"/>
                                </a:rPr>
                              </m:ctrlPr>
                            </m:accPr>
                            <m:e>
                              <m:r>
                                <m:rPr>
                                  <m:sty m:val="p"/>
                                </m:rPr>
                                <a:rPr lang="en-US" altLang="ko-KR" sz="1100" i="1">
                                  <a:solidFill>
                                    <a:schemeClr val="tx1">
                                      <a:lumMod val="85000"/>
                                      <a:lumOff val="15000"/>
                                    </a:schemeClr>
                                  </a:solidFill>
                                  <a:latin typeface="Cambria Math" panose="02040503050406030204" pitchFamily="18" charset="0"/>
                                </a:rPr>
                                <m:t>RD</m:t>
                              </m:r>
                            </m:e>
                          </m:acc>
                        </m:oMath>
                      </m:oMathPara>
                    </a14:m>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43" name="직사각형 42">
                    <a:extLst>
                      <a:ext uri="{FF2B5EF4-FFF2-40B4-BE49-F238E27FC236}">
                        <a16:creationId xmlns:a16="http://schemas.microsoft.com/office/drawing/2014/main" id="{7649F19B-67D3-4A02-8148-B6351D8363D7}"/>
                      </a:ext>
                    </a:extLst>
                  </p:cNvPr>
                  <p:cNvSpPr>
                    <a:spLocks noRot="1" noChangeAspect="1" noMove="1" noResize="1" noEditPoints="1" noAdjustHandles="1" noChangeArrowheads="1" noChangeShapeType="1" noTextEdit="1"/>
                  </p:cNvSpPr>
                  <p:nvPr/>
                </p:nvSpPr>
                <p:spPr>
                  <a:xfrm>
                    <a:off x="5365974" y="5102172"/>
                    <a:ext cx="620969" cy="396982"/>
                  </a:xfrm>
                  <a:prstGeom prst="rect">
                    <a:avLst/>
                  </a:prstGeom>
                  <a:blipFill>
                    <a:blip r:embed="rId2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4" name="직사각형 43">
                    <a:extLst>
                      <a:ext uri="{FF2B5EF4-FFF2-40B4-BE49-F238E27FC236}">
                        <a16:creationId xmlns:a16="http://schemas.microsoft.com/office/drawing/2014/main" id="{E9619179-85E7-44FB-A4A3-82D59F108704}"/>
                      </a:ext>
                    </a:extLst>
                  </p:cNvPr>
                  <p:cNvSpPr/>
                  <p:nvPr/>
                </p:nvSpPr>
                <p:spPr>
                  <a:xfrm>
                    <a:off x="5418583" y="4787433"/>
                    <a:ext cx="620969" cy="396982"/>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acc>
                            <m:accPr>
                              <m:chr m:val="̅"/>
                              <m:ctrlPr>
                                <a:rPr lang="en-US" altLang="ko-KR" sz="1100" i="1" dirty="0" smtClean="0">
                                  <a:solidFill>
                                    <a:schemeClr val="tx1">
                                      <a:lumMod val="85000"/>
                                      <a:lumOff val="15000"/>
                                    </a:schemeClr>
                                  </a:solidFill>
                                  <a:latin typeface="Cambria Math" panose="02040503050406030204" pitchFamily="18" charset="0"/>
                                </a:rPr>
                              </m:ctrlPr>
                            </m:accPr>
                            <m:e>
                              <m:r>
                                <a:rPr lang="en-US" altLang="ko-KR" sz="1100" i="1" dirty="0" smtClean="0">
                                  <a:solidFill>
                                    <a:schemeClr val="tx1">
                                      <a:lumMod val="85000"/>
                                      <a:lumOff val="15000"/>
                                    </a:schemeClr>
                                  </a:solidFill>
                                  <a:latin typeface="Cambria Math" panose="02040503050406030204" pitchFamily="18" charset="0"/>
                                </a:rPr>
                                <m:t>𝐼𝑂𝑅𝑄</m:t>
                              </m:r>
                            </m:e>
                          </m:acc>
                        </m:oMath>
                      </m:oMathPara>
                    </a14:m>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44" name="직사각형 43">
                    <a:extLst>
                      <a:ext uri="{FF2B5EF4-FFF2-40B4-BE49-F238E27FC236}">
                        <a16:creationId xmlns:a16="http://schemas.microsoft.com/office/drawing/2014/main" id="{E9619179-85E7-44FB-A4A3-82D59F108704}"/>
                      </a:ext>
                    </a:extLst>
                  </p:cNvPr>
                  <p:cNvSpPr>
                    <a:spLocks noRot="1" noChangeAspect="1" noMove="1" noResize="1" noEditPoints="1" noAdjustHandles="1" noChangeArrowheads="1" noChangeShapeType="1" noTextEdit="1"/>
                  </p:cNvSpPr>
                  <p:nvPr/>
                </p:nvSpPr>
                <p:spPr>
                  <a:xfrm>
                    <a:off x="5418583" y="4787433"/>
                    <a:ext cx="620969" cy="396982"/>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5" name="직사각형 44">
                    <a:extLst>
                      <a:ext uri="{FF2B5EF4-FFF2-40B4-BE49-F238E27FC236}">
                        <a16:creationId xmlns:a16="http://schemas.microsoft.com/office/drawing/2014/main" id="{AEDB4D81-9BC4-45CC-90B3-69CA5BC49D03}"/>
                      </a:ext>
                    </a:extLst>
                  </p:cNvPr>
                  <p:cNvSpPr/>
                  <p:nvPr/>
                </p:nvSpPr>
                <p:spPr>
                  <a:xfrm>
                    <a:off x="5103331" y="4253955"/>
                    <a:ext cx="1080120" cy="533478"/>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𝐴𝑑𝑑𝑟𝑒𝑠𝑠</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 </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𝑏𝑢𝑠</m:t>
                          </m:r>
                        </m:oMath>
                      </m:oMathPara>
                    </a14:m>
                    <a:endParaRPr lang="en-US" altLang="ko-KR"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a:p>
                    <a:pPr algn="ctr" defTabSz="457200" latinLnBrk="0"/>
                    <a14:m>
                      <m:oMathPara xmlns:m="http://schemas.openxmlformats.org/officeDocument/2006/math">
                        <m:oMathParaPr>
                          <m:jc m:val="centerGroup"/>
                        </m:oMathParaPr>
                        <m:oMath xmlns:m="http://schemas.openxmlformats.org/officeDocument/2006/math">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𝐴</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0−</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𝐴</m:t>
                          </m:r>
                          <m:r>
                            <a:rPr lang="en-US" altLang="ko-KR" sz="1100" i="1" dirty="0" smtClean="0">
                              <a:solidFill>
                                <a:schemeClr val="tx1">
                                  <a:lumMod val="85000"/>
                                  <a:lumOff val="15000"/>
                                </a:schemeClr>
                              </a:solidFill>
                              <a:latin typeface="Cambria Math" panose="02040503050406030204" pitchFamily="18" charset="0"/>
                              <a:ea typeface="SamsungOne-400" panose="020B0503030303020204" pitchFamily="34" charset="0"/>
                              <a:cs typeface="맑은 고딕"/>
                            </a:rPr>
                            <m:t>7</m:t>
                          </m:r>
                        </m:oMath>
                      </m:oMathPara>
                    </a14:m>
                    <a:endParaRPr lang="en-US" altLang="ko-KR"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45" name="직사각형 44">
                    <a:extLst>
                      <a:ext uri="{FF2B5EF4-FFF2-40B4-BE49-F238E27FC236}">
                        <a16:creationId xmlns:a16="http://schemas.microsoft.com/office/drawing/2014/main" id="{AEDB4D81-9BC4-45CC-90B3-69CA5BC49D03}"/>
                      </a:ext>
                    </a:extLst>
                  </p:cNvPr>
                  <p:cNvSpPr>
                    <a:spLocks noRot="1" noChangeAspect="1" noMove="1" noResize="1" noEditPoints="1" noAdjustHandles="1" noChangeArrowheads="1" noChangeShapeType="1" noTextEdit="1"/>
                  </p:cNvSpPr>
                  <p:nvPr/>
                </p:nvSpPr>
                <p:spPr>
                  <a:xfrm>
                    <a:off x="5103331" y="4253955"/>
                    <a:ext cx="1080120" cy="533478"/>
                  </a:xfrm>
                  <a:prstGeom prst="rect">
                    <a:avLst/>
                  </a:prstGeom>
                  <a:blipFill>
                    <a:blip r:embed="rId2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직사각형 45">
                    <a:extLst>
                      <a:ext uri="{FF2B5EF4-FFF2-40B4-BE49-F238E27FC236}">
                        <a16:creationId xmlns:a16="http://schemas.microsoft.com/office/drawing/2014/main" id="{B257FF5F-B148-406F-BFF4-767E1B7EC736}"/>
                      </a:ext>
                    </a:extLst>
                  </p:cNvPr>
                  <p:cNvSpPr/>
                  <p:nvPr/>
                </p:nvSpPr>
                <p:spPr>
                  <a:xfrm>
                    <a:off x="3980381" y="3306606"/>
                    <a:ext cx="620969" cy="738670"/>
                  </a:xfrm>
                  <a:prstGeom prst="rect">
                    <a:avLst/>
                  </a:prstGeom>
                  <a:solidFill>
                    <a:schemeClr val="bg1"/>
                  </a:solidFill>
                </p:spPr>
                <p:txBody>
                  <a:bodyPr wrap="square" lIns="0" rIns="0" rtlCol="0" anchor="ctr" anchorCtr="0">
                    <a:noAutofit/>
                    <a:scene3d>
                      <a:camera prst="orthographicFront"/>
                      <a:lightRig rig="threePt" dir="t"/>
                    </a:scene3d>
                    <a:sp3d>
                      <a:bevelT w="0" h="6350"/>
                      <a:bevelB w="0" h="0"/>
                    </a:sp3d>
                  </a:bodyPr>
                  <a:lstStyle/>
                  <a:p>
                    <a:pPr algn="ctr" defTabSz="457200" latinLnBrk="0"/>
                    <a14:m>
                      <m:oMathPara xmlns:m="http://schemas.openxmlformats.org/officeDocument/2006/math">
                        <m:oMathParaPr>
                          <m:jc m:val="centerGroup"/>
                        </m:oMathParaPr>
                        <m:oMath xmlns:m="http://schemas.openxmlformats.org/officeDocument/2006/math">
                          <m:acc>
                            <m:accPr>
                              <m:chr m:val="̅"/>
                              <m:ctrlPr>
                                <a:rPr lang="en-US" altLang="ko-KR" sz="1100" i="1" dirty="0" smtClean="0">
                                  <a:solidFill>
                                    <a:schemeClr val="tx1">
                                      <a:lumMod val="85000"/>
                                      <a:lumOff val="15000"/>
                                    </a:schemeClr>
                                  </a:solidFill>
                                  <a:latin typeface="Cambria Math" panose="02040503050406030204" pitchFamily="18" charset="0"/>
                                </a:rPr>
                              </m:ctrlPr>
                            </m:accPr>
                            <m:e>
                              <m:r>
                                <a:rPr lang="en-US" altLang="ko-KR" sz="1100" i="1" dirty="0" smtClean="0">
                                  <a:solidFill>
                                    <a:schemeClr val="tx1">
                                      <a:lumMod val="85000"/>
                                      <a:lumOff val="15000"/>
                                    </a:schemeClr>
                                  </a:solidFill>
                                  <a:latin typeface="Cambria Math" panose="02040503050406030204" pitchFamily="18" charset="0"/>
                                </a:rPr>
                                <m:t>𝐼𝑂𝑅𝑄</m:t>
                              </m:r>
                            </m:e>
                          </m:acc>
                        </m:oMath>
                      </m:oMathPara>
                    </a14:m>
                    <a:endParaRPr lang="en-US" altLang="ko-KR" sz="1100" dirty="0">
                      <a:solidFill>
                        <a:schemeClr val="tx1">
                          <a:lumMod val="85000"/>
                          <a:lumOff val="15000"/>
                        </a:schemeClr>
                      </a:solidFill>
                      <a:latin typeface="SamsungOne-400" panose="020B0503030303020204" pitchFamily="34" charset="0"/>
                    </a:endParaRPr>
                  </a:p>
                  <a:p>
                    <a:pPr algn="ctr"/>
                    <a14:m>
                      <m:oMathPara xmlns:m="http://schemas.openxmlformats.org/officeDocument/2006/math">
                        <m:oMathParaPr>
                          <m:jc m:val="centerGroup"/>
                        </m:oMathParaPr>
                        <m:oMath xmlns:m="http://schemas.openxmlformats.org/officeDocument/2006/math">
                          <m:acc>
                            <m:accPr>
                              <m:chr m:val="̅"/>
                              <m:ctrlPr>
                                <a:rPr lang="en-US" altLang="ko-KR" sz="1100" i="1" dirty="0" smtClean="0">
                                  <a:solidFill>
                                    <a:schemeClr val="tx1">
                                      <a:lumMod val="85000"/>
                                      <a:lumOff val="15000"/>
                                    </a:schemeClr>
                                  </a:solidFill>
                                  <a:latin typeface="Cambria Math" panose="02040503050406030204" pitchFamily="18" charset="0"/>
                                </a:rPr>
                              </m:ctrlPr>
                            </m:accPr>
                            <m:e>
                              <m:eqArr>
                                <m:eqArrPr>
                                  <m:ctrlPr>
                                    <a:rPr lang="en-US" altLang="ko-KR" sz="1100" i="1" dirty="0" smtClean="0">
                                      <a:solidFill>
                                        <a:schemeClr val="tx1">
                                          <a:lumMod val="85000"/>
                                          <a:lumOff val="15000"/>
                                        </a:schemeClr>
                                      </a:solidFill>
                                      <a:latin typeface="Cambria Math" panose="02040503050406030204" pitchFamily="18" charset="0"/>
                                    </a:rPr>
                                  </m:ctrlPr>
                                </m:eqArrPr>
                                <m:e>
                                  <m:r>
                                    <a:rPr lang="en-US" altLang="ko-KR" sz="1100" i="1" dirty="0" smtClean="0">
                                      <a:solidFill>
                                        <a:schemeClr val="tx1">
                                          <a:lumMod val="85000"/>
                                          <a:lumOff val="15000"/>
                                        </a:schemeClr>
                                      </a:solidFill>
                                      <a:latin typeface="Cambria Math" panose="02040503050406030204" pitchFamily="18" charset="0"/>
                                    </a:rPr>
                                    <m:t>𝑅</m:t>
                                  </m:r>
                                  <m:r>
                                    <m:rPr>
                                      <m:sty m:val="p"/>
                                    </m:rPr>
                                    <a:rPr lang="en-US" altLang="ko-KR" sz="1100" i="1" dirty="0">
                                      <a:solidFill>
                                        <a:schemeClr val="tx1">
                                          <a:lumMod val="85000"/>
                                          <a:lumOff val="15000"/>
                                        </a:schemeClr>
                                      </a:solidFill>
                                      <a:latin typeface="Cambria Math" panose="02040503050406030204" pitchFamily="18" charset="0"/>
                                    </a:rPr>
                                    <m:t>D</m:t>
                                  </m:r>
                                </m:e>
                                <m:e>
                                  <m:acc>
                                    <m:accPr>
                                      <m:chr m:val="̅"/>
                                      <m:ctrlPr>
                                        <a:rPr lang="en-US" altLang="ko-KR" sz="1100" i="1" dirty="0">
                                          <a:solidFill>
                                            <a:schemeClr val="tx1">
                                              <a:lumMod val="85000"/>
                                              <a:lumOff val="15000"/>
                                            </a:schemeClr>
                                          </a:solidFill>
                                          <a:latin typeface="Cambria Math" panose="02040503050406030204" pitchFamily="18" charset="0"/>
                                        </a:rPr>
                                      </m:ctrlPr>
                                    </m:accPr>
                                    <m:e>
                                      <m:r>
                                        <m:rPr>
                                          <m:sty m:val="p"/>
                                        </m:rPr>
                                        <a:rPr lang="en-US" altLang="ko-KR" sz="1100" i="1" dirty="0" smtClean="0">
                                          <a:solidFill>
                                            <a:schemeClr val="tx1">
                                              <a:lumMod val="85000"/>
                                              <a:lumOff val="15000"/>
                                            </a:schemeClr>
                                          </a:solidFill>
                                          <a:latin typeface="Cambria Math" panose="02040503050406030204" pitchFamily="18" charset="0"/>
                                        </a:rPr>
                                        <m:t>WR</m:t>
                                      </m:r>
                                    </m:e>
                                  </m:acc>
                                  <m:r>
                                    <m:rPr>
                                      <m:nor/>
                                    </m:rPr>
                                    <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rPr>
                                    <m:t> </m:t>
                                  </m:r>
                                </m:e>
                              </m:eqArr>
                            </m:e>
                          </m:acc>
                        </m:oMath>
                      </m:oMathPara>
                    </a14:m>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a:p>
                    <a:pPr algn="ctr" defTabSz="457200" latinLnBrk="0"/>
                    <a:endParaRPr lang="ko-KR" altLang="en-US" sz="1100" dirty="0">
                      <a:solidFill>
                        <a:schemeClr val="tx1">
                          <a:lumMod val="85000"/>
                          <a:lumOff val="15000"/>
                        </a:schemeClr>
                      </a:solidFill>
                      <a:latin typeface="SamsungOne-400" panose="020B0503030303020204" pitchFamily="34" charset="0"/>
                      <a:ea typeface="SamsungOne-400" panose="020B0503030303020204" pitchFamily="34" charset="0"/>
                      <a:cs typeface="맑은 고딕"/>
                    </a:endParaRPr>
                  </a:p>
                </p:txBody>
              </p:sp>
            </mc:Choice>
            <mc:Fallback xmlns="">
              <p:sp>
                <p:nvSpPr>
                  <p:cNvPr id="46" name="직사각형 45">
                    <a:extLst>
                      <a:ext uri="{FF2B5EF4-FFF2-40B4-BE49-F238E27FC236}">
                        <a16:creationId xmlns:a16="http://schemas.microsoft.com/office/drawing/2014/main" id="{B257FF5F-B148-406F-BFF4-767E1B7EC736}"/>
                      </a:ext>
                    </a:extLst>
                  </p:cNvPr>
                  <p:cNvSpPr>
                    <a:spLocks noRot="1" noChangeAspect="1" noMove="1" noResize="1" noEditPoints="1" noAdjustHandles="1" noChangeArrowheads="1" noChangeShapeType="1" noTextEdit="1"/>
                  </p:cNvSpPr>
                  <p:nvPr/>
                </p:nvSpPr>
                <p:spPr>
                  <a:xfrm>
                    <a:off x="3980381" y="3306606"/>
                    <a:ext cx="620969" cy="738670"/>
                  </a:xfrm>
                  <a:prstGeom prst="rect">
                    <a:avLst/>
                  </a:prstGeom>
                  <a:blipFill>
                    <a:blip r:embed="rId22"/>
                    <a:stretch>
                      <a:fillRect/>
                    </a:stretch>
                  </a:blipFill>
                </p:spPr>
                <p:txBody>
                  <a:bodyPr/>
                  <a:lstStyle/>
                  <a:p>
                    <a:r>
                      <a:rPr lang="ko-KR" altLang="en-US">
                        <a:noFill/>
                      </a:rPr>
                      <a:t> </a:t>
                    </a:r>
                  </a:p>
                </p:txBody>
              </p:sp>
            </mc:Fallback>
          </mc:AlternateContent>
        </p:grpSp>
      </p:grpSp>
      <p:sp>
        <p:nvSpPr>
          <p:cNvPr id="2" name="Google Shape;3457;p184">
            <a:extLst>
              <a:ext uri="{FF2B5EF4-FFF2-40B4-BE49-F238E27FC236}">
                <a16:creationId xmlns:a16="http://schemas.microsoft.com/office/drawing/2014/main" id="{C74BD56B-22B8-ACEA-E5FF-CB765199AB2F}"/>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extLst>
      <p:ext uri="{BB962C8B-B14F-4D97-AF65-F5344CB8AC3E}">
        <p14:creationId xmlns:p14="http://schemas.microsoft.com/office/powerpoint/2010/main" val="2403034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3787"/>
        <p:cNvGrpSpPr/>
        <p:nvPr/>
      </p:nvGrpSpPr>
      <p:grpSpPr>
        <a:xfrm>
          <a:off x="0" y="0"/>
          <a:ext cx="0" cy="0"/>
          <a:chOff x="0" y="0"/>
          <a:chExt cx="0" cy="0"/>
        </a:xfrm>
      </p:grpSpPr>
      <p:sp>
        <p:nvSpPr>
          <p:cNvPr id="3789" name="Google Shape;3789;p202"/>
          <p:cNvSpPr/>
          <p:nvPr/>
        </p:nvSpPr>
        <p:spPr>
          <a:xfrm>
            <a:off x="580388" y="1506930"/>
            <a:ext cx="8619175" cy="990015"/>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Khi giải mã tất cả 8 bit, một trong hai đầu ra của bộ giải mã ở mức thấp khi gán từ 00H đến 07H làm địa chỉ thiết bị. Bên cạnh đó, tín hiệu IORQ cho biết lệnh I/O cũng được nối với chân enable của IC của bộ giải mã sao cho bộ giải mã xuất ra ở lệnh I/O.</a:t>
            </a:r>
            <a:endParaRPr/>
          </a:p>
          <a:p>
            <a:pPr marL="115888" marR="0" lvl="0" indent="-115888" algn="l" rtl="0">
              <a:spcBef>
                <a:spcPts val="1000"/>
              </a:spcBef>
              <a:spcAft>
                <a:spcPts val="0"/>
              </a:spcAft>
              <a:buClr>
                <a:schemeClr val="dk1"/>
              </a:buClr>
              <a:buSzPts val="1680"/>
              <a:buFont typeface="Arial"/>
              <a:buChar char="•"/>
            </a:pPr>
            <a:r>
              <a:rPr lang="en-US" sz="1400">
                <a:solidFill>
                  <a:schemeClr val="dk1"/>
                </a:solidFill>
                <a:latin typeface="Arial"/>
                <a:ea typeface="Arial"/>
                <a:cs typeface="Arial"/>
                <a:sym typeface="Arial"/>
              </a:rPr>
              <a:t>Khi dùng một trong các đầu ra đã giải mã làm tín hiệu chọn, có thể biết thiết bị nào đang được xuất ra.  </a:t>
            </a:r>
            <a:endParaRPr/>
          </a:p>
        </p:txBody>
      </p:sp>
      <p:grpSp>
        <p:nvGrpSpPr>
          <p:cNvPr id="3790" name="Google Shape;3790;p202"/>
          <p:cNvGrpSpPr/>
          <p:nvPr/>
        </p:nvGrpSpPr>
        <p:grpSpPr>
          <a:xfrm>
            <a:off x="2288631" y="2738440"/>
            <a:ext cx="5343978" cy="3508721"/>
            <a:chOff x="2281011" y="2852740"/>
            <a:chExt cx="5343978" cy="3508721"/>
          </a:xfrm>
        </p:grpSpPr>
        <p:grpSp>
          <p:nvGrpSpPr>
            <p:cNvPr id="3791" name="Google Shape;3791;p202"/>
            <p:cNvGrpSpPr/>
            <p:nvPr/>
          </p:nvGrpSpPr>
          <p:grpSpPr>
            <a:xfrm>
              <a:off x="2281011" y="2852740"/>
              <a:ext cx="5343978" cy="3508721"/>
              <a:chOff x="3008312" y="3466298"/>
              <a:chExt cx="3889375" cy="2553667"/>
            </a:xfrm>
          </p:grpSpPr>
          <p:sp>
            <p:nvSpPr>
              <p:cNvPr id="3792" name="Google Shape;3792;p202"/>
              <p:cNvSpPr txBox="1"/>
              <p:nvPr/>
            </p:nvSpPr>
            <p:spPr>
              <a:xfrm>
                <a:off x="3805090" y="5795963"/>
                <a:ext cx="2295820" cy="224002"/>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Ví dụ về giải mã 8 bit</a:t>
                </a:r>
                <a:endParaRPr/>
              </a:p>
            </p:txBody>
          </p:sp>
          <p:pic>
            <p:nvPicPr>
              <p:cNvPr id="3793" name="Google Shape;3793;p202"/>
              <p:cNvPicPr preferRelativeResize="0"/>
              <p:nvPr/>
            </p:nvPicPr>
            <p:blipFill rotWithShape="1">
              <a:blip r:embed="rId3">
                <a:alphaModFix/>
              </a:blip>
              <a:srcRect/>
              <a:stretch/>
            </p:blipFill>
            <p:spPr>
              <a:xfrm>
                <a:off x="3008312" y="3466298"/>
                <a:ext cx="3889375" cy="2239963"/>
              </a:xfrm>
              <a:prstGeom prst="rect">
                <a:avLst/>
              </a:prstGeom>
              <a:noFill/>
              <a:ln>
                <a:noFill/>
              </a:ln>
            </p:spPr>
          </p:pic>
        </p:grpSp>
        <p:sp>
          <p:nvSpPr>
            <p:cNvPr id="3794" name="Google Shape;3794;p202"/>
            <p:cNvSpPr txBox="1"/>
            <p:nvPr/>
          </p:nvSpPr>
          <p:spPr>
            <a:xfrm>
              <a:off x="6824207" y="3016905"/>
              <a:ext cx="282271" cy="2334165"/>
            </a:xfrm>
            <a:prstGeom prst="rect">
              <a:avLst/>
            </a:prstGeom>
            <a:blipFill rotWithShape="1">
              <a:blip r:embed="rId4">
                <a:alphaModFix/>
              </a:blip>
              <a:stretch>
                <a:fillRect l="-212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795" name="Google Shape;3795;p202"/>
            <p:cNvSpPr txBox="1"/>
            <p:nvPr/>
          </p:nvSpPr>
          <p:spPr>
            <a:xfrm>
              <a:off x="5953965" y="5494558"/>
              <a:ext cx="1152514" cy="292388"/>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a:solidFill>
                    <a:srgbClr val="262626"/>
                  </a:solidFill>
                  <a:latin typeface="Arial"/>
                  <a:ea typeface="Arial"/>
                  <a:cs typeface="Arial"/>
                  <a:sym typeface="Arial"/>
                </a:rPr>
                <a:t>74HC138</a:t>
              </a:r>
              <a:endParaRPr sz="1300" b="1">
                <a:solidFill>
                  <a:srgbClr val="262626"/>
                </a:solidFill>
                <a:latin typeface="Arial"/>
                <a:ea typeface="Arial"/>
                <a:cs typeface="Arial"/>
                <a:sym typeface="Arial"/>
              </a:endParaRPr>
            </a:p>
          </p:txBody>
        </p:sp>
      </p:grpSp>
      <p:sp>
        <p:nvSpPr>
          <p:cNvPr id="2" name="Google Shape;3457;p184">
            <a:extLst>
              <a:ext uri="{FF2B5EF4-FFF2-40B4-BE49-F238E27FC236}">
                <a16:creationId xmlns:a16="http://schemas.microsoft.com/office/drawing/2014/main" id="{773592B8-E5F5-67D4-EB1E-64AF21A17048}"/>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3801"/>
        <p:cNvGrpSpPr/>
        <p:nvPr/>
      </p:nvGrpSpPr>
      <p:grpSpPr>
        <a:xfrm>
          <a:off x="0" y="0"/>
          <a:ext cx="0" cy="0"/>
          <a:chOff x="0" y="0"/>
          <a:chExt cx="0" cy="0"/>
        </a:xfrm>
      </p:grpSpPr>
      <p:sp>
        <p:nvSpPr>
          <p:cNvPr id="3803" name="Google Shape;3803;p203"/>
          <p:cNvSpPr/>
          <p:nvPr/>
        </p:nvSpPr>
        <p:spPr>
          <a:xfrm>
            <a:off x="580388" y="1506930"/>
            <a:ext cx="8619175" cy="774571"/>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Khi thực thi lệnh xuất trong mạch thực tế, tín hiệu WR được sử dụng làm tín hiệu xung nhịp của chốt.</a:t>
            </a:r>
            <a:endParaRPr/>
          </a:p>
          <a:p>
            <a:pPr marL="115888" marR="0" lvl="0" indent="-115888" algn="l" rtl="0">
              <a:spcBef>
                <a:spcPts val="1000"/>
              </a:spcBef>
              <a:spcAft>
                <a:spcPts val="0"/>
              </a:spcAft>
              <a:buClr>
                <a:schemeClr val="dk1"/>
              </a:buClr>
              <a:buSzPts val="1680"/>
              <a:buFont typeface="Arial"/>
              <a:buChar char="•"/>
            </a:pPr>
            <a:r>
              <a:rPr lang="en-US" sz="1400">
                <a:solidFill>
                  <a:schemeClr val="dk1"/>
                </a:solidFill>
                <a:latin typeface="Arial"/>
                <a:ea typeface="Arial"/>
                <a:cs typeface="Arial"/>
                <a:sym typeface="Arial"/>
              </a:rPr>
              <a:t>Trong mạch này, đầu ra Y1 của bộ giải mã ở mức thấp khi địa chỉ thiết bị là 01H và tín hiệu bus dữ liệu (D0 - D7) được khóa vào IC chốt (74HC541) như đầu ra.</a:t>
            </a:r>
            <a:endParaRPr/>
          </a:p>
        </p:txBody>
      </p:sp>
      <p:pic>
        <p:nvPicPr>
          <p:cNvPr id="3804" name="Google Shape;3804;p203"/>
          <p:cNvPicPr preferRelativeResize="0"/>
          <p:nvPr/>
        </p:nvPicPr>
        <p:blipFill rotWithShape="1">
          <a:blip r:embed="rId3">
            <a:alphaModFix/>
          </a:blip>
          <a:srcRect/>
          <a:stretch/>
        </p:blipFill>
        <p:spPr>
          <a:xfrm>
            <a:off x="3136548" y="2428771"/>
            <a:ext cx="3506854" cy="3842787"/>
          </a:xfrm>
          <a:prstGeom prst="rect">
            <a:avLst/>
          </a:prstGeom>
          <a:noFill/>
          <a:ln>
            <a:noFill/>
          </a:ln>
        </p:spPr>
      </p:pic>
      <p:sp>
        <p:nvSpPr>
          <p:cNvPr id="3805" name="Google Shape;3805;p203"/>
          <p:cNvSpPr txBox="1"/>
          <p:nvPr/>
        </p:nvSpPr>
        <p:spPr>
          <a:xfrm>
            <a:off x="1555226" y="2551062"/>
            <a:ext cx="1527982" cy="307777"/>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400">
                <a:solidFill>
                  <a:srgbClr val="262626"/>
                </a:solidFill>
                <a:latin typeface="Arial"/>
                <a:ea typeface="Arial"/>
                <a:cs typeface="Arial"/>
                <a:sym typeface="Arial"/>
              </a:rPr>
              <a:t>Mạch thực tế</a:t>
            </a:r>
            <a:endParaRPr sz="1400">
              <a:solidFill>
                <a:srgbClr val="262626"/>
              </a:solidFill>
              <a:latin typeface="Arial"/>
              <a:ea typeface="Arial"/>
              <a:cs typeface="Arial"/>
              <a:sym typeface="Arial"/>
            </a:endParaRPr>
          </a:p>
        </p:txBody>
      </p:sp>
      <p:sp>
        <p:nvSpPr>
          <p:cNvPr id="2" name="Google Shape;3457;p184">
            <a:extLst>
              <a:ext uri="{FF2B5EF4-FFF2-40B4-BE49-F238E27FC236}">
                <a16:creationId xmlns:a16="http://schemas.microsoft.com/office/drawing/2014/main" id="{86A03E57-A3EB-F26B-B35B-4788A8A6002C}"/>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3811"/>
        <p:cNvGrpSpPr/>
        <p:nvPr/>
      </p:nvGrpSpPr>
      <p:grpSpPr>
        <a:xfrm>
          <a:off x="0" y="0"/>
          <a:ext cx="0" cy="0"/>
          <a:chOff x="0" y="0"/>
          <a:chExt cx="0" cy="0"/>
        </a:xfrm>
      </p:grpSpPr>
      <p:sp>
        <p:nvSpPr>
          <p:cNvPr id="3813" name="Google Shape;3813;p204"/>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0C0C0C"/>
                </a:solidFill>
                <a:latin typeface="Arial"/>
                <a:ea typeface="Arial"/>
                <a:cs typeface="Arial"/>
                <a:sym typeface="Arial"/>
              </a:rPr>
              <a:t>Cổng đệm ba trạng thái</a:t>
            </a:r>
            <a:endParaRPr sz="2400" b="1">
              <a:solidFill>
                <a:srgbClr val="0C0C0C"/>
              </a:solidFill>
              <a:latin typeface="Arial"/>
              <a:ea typeface="Arial"/>
              <a:cs typeface="Arial"/>
              <a:sym typeface="Arial"/>
            </a:endParaRPr>
          </a:p>
        </p:txBody>
      </p:sp>
      <p:sp>
        <p:nvSpPr>
          <p:cNvPr id="3814" name="Google Shape;3814;p204"/>
          <p:cNvSpPr/>
          <p:nvPr/>
        </p:nvSpPr>
        <p:spPr>
          <a:xfrm>
            <a:off x="580388" y="1944537"/>
            <a:ext cx="8619175" cy="215444"/>
          </a:xfrm>
          <a:prstGeom prst="rect">
            <a:avLst/>
          </a:prstGeom>
          <a:noFill/>
          <a:ln>
            <a:noFill/>
          </a:ln>
        </p:spPr>
        <p:txBody>
          <a:bodyPr spcFirstLastPara="1" wrap="square" lIns="0" tIns="0" rIns="0" bIns="0" anchor="t" anchorCtr="0">
            <a:spAutoFit/>
          </a:bodyPr>
          <a:lstStyle/>
          <a:p>
            <a:pPr marL="115888" marR="0" lvl="0" indent="-115888" algn="l" rtl="0">
              <a:spcBef>
                <a:spcPts val="0"/>
              </a:spcBef>
              <a:spcAft>
                <a:spcPts val="0"/>
              </a:spcAft>
              <a:buClr>
                <a:schemeClr val="dk1"/>
              </a:buClr>
              <a:buSzPts val="1680"/>
              <a:buFont typeface="Arial"/>
              <a:buChar char="•"/>
            </a:pPr>
            <a:r>
              <a:rPr lang="en-US" sz="1400">
                <a:solidFill>
                  <a:schemeClr val="dk1"/>
                </a:solidFill>
                <a:latin typeface="Arial"/>
                <a:ea typeface="Arial"/>
                <a:cs typeface="Arial"/>
                <a:sym typeface="Arial"/>
              </a:rPr>
              <a:t>Công dụng cổng đệm 3 trạng thái</a:t>
            </a:r>
            <a:endParaRPr sz="1400">
              <a:solidFill>
                <a:schemeClr val="dk1"/>
              </a:solidFill>
              <a:latin typeface="Arial"/>
              <a:ea typeface="Arial"/>
              <a:cs typeface="Arial"/>
              <a:sym typeface="Arial"/>
            </a:endParaRPr>
          </a:p>
        </p:txBody>
      </p:sp>
      <p:sp>
        <p:nvSpPr>
          <p:cNvPr id="3815" name="Google Shape;3815;p204"/>
          <p:cNvSpPr/>
          <p:nvPr/>
        </p:nvSpPr>
        <p:spPr>
          <a:xfrm>
            <a:off x="712182" y="2174873"/>
            <a:ext cx="8487381" cy="745536"/>
          </a:xfrm>
          <a:prstGeom prst="rect">
            <a:avLst/>
          </a:prstGeom>
          <a:noFill/>
          <a:ln>
            <a:noFill/>
          </a:ln>
        </p:spPr>
        <p:txBody>
          <a:bodyPr spcFirstLastPara="1" wrap="square" lIns="0" tIns="71975" rIns="143950" bIns="71975" anchor="t" anchorCtr="0">
            <a:spAutoFit/>
          </a:bodyPr>
          <a:lstStyle/>
          <a:p>
            <a:pPr marL="182563" marR="0" lvl="0" indent="-182563" algn="l" rtl="0">
              <a:spcBef>
                <a:spcPts val="0"/>
              </a:spcBef>
              <a:spcAft>
                <a:spcPts val="0"/>
              </a:spcAft>
              <a:buClr>
                <a:srgbClr val="193EB0"/>
              </a:buClr>
              <a:buSzPts val="1300"/>
              <a:buFont typeface="Arial"/>
              <a:buChar char="‣"/>
            </a:pPr>
            <a:r>
              <a:rPr lang="en-US" sz="1300">
                <a:solidFill>
                  <a:srgbClr val="262626"/>
                </a:solidFill>
                <a:latin typeface="Arial"/>
                <a:ea typeface="Arial"/>
                <a:cs typeface="Arial"/>
                <a:sym typeface="Arial"/>
              </a:rPr>
              <a:t>Khi nối với bus máy vi tính, sử dụng IC của tầng đệm cho bus và một điều kiện đặc biệt là bus dữ liệu 3 trạng thái. IC digital thường hoạt động với hai giá trị, cao hoặc thấp, nhưng gọi là 3 trạng thái do có thêm một trạng thái ngoài cao hoặc thấp, đó là trạng thái trở kháng cao.</a:t>
            </a:r>
            <a:endParaRPr/>
          </a:p>
        </p:txBody>
      </p:sp>
      <p:grpSp>
        <p:nvGrpSpPr>
          <p:cNvPr id="3817" name="Google Shape;3817;p204"/>
          <p:cNvGrpSpPr/>
          <p:nvPr/>
        </p:nvGrpSpPr>
        <p:grpSpPr>
          <a:xfrm>
            <a:off x="712182" y="3002280"/>
            <a:ext cx="8591838" cy="2943415"/>
            <a:chOff x="712182" y="3063240"/>
            <a:chExt cx="8591838" cy="2943415"/>
          </a:xfrm>
        </p:grpSpPr>
        <p:sp>
          <p:nvSpPr>
            <p:cNvPr id="3818" name="Google Shape;3818;p204"/>
            <p:cNvSpPr txBox="1"/>
            <p:nvPr/>
          </p:nvSpPr>
          <p:spPr>
            <a:xfrm>
              <a:off x="5937446" y="5514212"/>
              <a:ext cx="2771463" cy="492443"/>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a:solidFill>
                    <a:srgbClr val="262626"/>
                  </a:solidFill>
                  <a:latin typeface="Arial"/>
                  <a:ea typeface="Arial"/>
                  <a:cs typeface="Arial"/>
                  <a:sym typeface="Arial"/>
                </a:rPr>
                <a:t>Ví dụ về việc sử dụng IC cho đệm bus thực tế</a:t>
              </a:r>
              <a:endParaRPr sz="1300">
                <a:solidFill>
                  <a:srgbClr val="262626"/>
                </a:solidFill>
                <a:latin typeface="Arial"/>
                <a:ea typeface="Arial"/>
                <a:cs typeface="Arial"/>
                <a:sym typeface="Arial"/>
              </a:endParaRPr>
            </a:p>
          </p:txBody>
        </p:sp>
        <p:sp>
          <p:nvSpPr>
            <p:cNvPr id="3819" name="Google Shape;3819;p204"/>
            <p:cNvSpPr txBox="1"/>
            <p:nvPr/>
          </p:nvSpPr>
          <p:spPr>
            <a:xfrm>
              <a:off x="1673482" y="5514212"/>
              <a:ext cx="2768237" cy="492443"/>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a:solidFill>
                    <a:srgbClr val="262626"/>
                  </a:solidFill>
                  <a:latin typeface="Arial"/>
                  <a:ea typeface="Arial"/>
                  <a:cs typeface="Arial"/>
                  <a:sym typeface="Arial"/>
                </a:rPr>
                <a:t>Ví dụ về việc sử dụng đệm bus trong hệ thống máy vi tính</a:t>
              </a:r>
              <a:endParaRPr sz="1300">
                <a:solidFill>
                  <a:srgbClr val="262626"/>
                </a:solidFill>
                <a:latin typeface="Arial"/>
                <a:ea typeface="Arial"/>
                <a:cs typeface="Arial"/>
                <a:sym typeface="Arial"/>
              </a:endParaRPr>
            </a:p>
          </p:txBody>
        </p:sp>
        <p:grpSp>
          <p:nvGrpSpPr>
            <p:cNvPr id="3820" name="Google Shape;3820;p204"/>
            <p:cNvGrpSpPr/>
            <p:nvPr/>
          </p:nvGrpSpPr>
          <p:grpSpPr>
            <a:xfrm>
              <a:off x="759028" y="3249666"/>
              <a:ext cx="4421880" cy="2013587"/>
              <a:chOff x="416128" y="3280146"/>
              <a:chExt cx="4421880" cy="2013587"/>
            </a:xfrm>
          </p:grpSpPr>
          <p:grpSp>
            <p:nvGrpSpPr>
              <p:cNvPr id="3821" name="Google Shape;3821;p204"/>
              <p:cNvGrpSpPr/>
              <p:nvPr/>
            </p:nvGrpSpPr>
            <p:grpSpPr>
              <a:xfrm>
                <a:off x="739325" y="3280146"/>
                <a:ext cx="3950752" cy="2013587"/>
                <a:chOff x="1135778" y="3399185"/>
                <a:chExt cx="3775075" cy="1924050"/>
              </a:xfrm>
            </p:grpSpPr>
            <p:pic>
              <p:nvPicPr>
                <p:cNvPr id="3822" name="Google Shape;3822;p204"/>
                <p:cNvPicPr preferRelativeResize="0"/>
                <p:nvPr/>
              </p:nvPicPr>
              <p:blipFill rotWithShape="1">
                <a:blip r:embed="rId3">
                  <a:alphaModFix/>
                </a:blip>
                <a:srcRect/>
                <a:stretch/>
              </p:blipFill>
              <p:spPr>
                <a:xfrm>
                  <a:off x="1135778" y="3399185"/>
                  <a:ext cx="3775075" cy="1924050"/>
                </a:xfrm>
                <a:prstGeom prst="rect">
                  <a:avLst/>
                </a:prstGeom>
                <a:noFill/>
                <a:ln>
                  <a:noFill/>
                </a:ln>
              </p:spPr>
            </p:pic>
            <p:sp>
              <p:nvSpPr>
                <p:cNvPr id="3823" name="Google Shape;3823;p204"/>
                <p:cNvSpPr/>
                <p:nvPr/>
              </p:nvSpPr>
              <p:spPr>
                <a:xfrm>
                  <a:off x="1874169" y="4895850"/>
                  <a:ext cx="836035" cy="295275"/>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300">
                      <a:solidFill>
                        <a:srgbClr val="262626"/>
                      </a:solidFill>
                      <a:latin typeface="Arial"/>
                      <a:ea typeface="Arial"/>
                      <a:cs typeface="Arial"/>
                      <a:sym typeface="Arial"/>
                    </a:rPr>
                    <a:t>Thiết bị ngoại vi</a:t>
                  </a:r>
                  <a:endParaRPr/>
                </a:p>
              </p:txBody>
            </p:sp>
            <p:sp>
              <p:nvSpPr>
                <p:cNvPr id="3824" name="Google Shape;3824;p204"/>
                <p:cNvSpPr/>
                <p:nvPr/>
              </p:nvSpPr>
              <p:spPr>
                <a:xfrm>
                  <a:off x="3857619" y="4895850"/>
                  <a:ext cx="836035" cy="295275"/>
                </a:xfrm>
                <a:prstGeom prst="rect">
                  <a:avLst/>
                </a:prstGeom>
                <a:solidFill>
                  <a:schemeClr val="l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1300">
                      <a:solidFill>
                        <a:srgbClr val="262626"/>
                      </a:solidFill>
                      <a:latin typeface="Arial"/>
                      <a:ea typeface="Arial"/>
                      <a:cs typeface="Arial"/>
                      <a:sym typeface="Arial"/>
                    </a:rPr>
                    <a:t>Thiết bị ngoại vi</a:t>
                  </a:r>
                  <a:endParaRPr/>
                </a:p>
              </p:txBody>
            </p:sp>
          </p:grpSp>
          <p:sp>
            <p:nvSpPr>
              <p:cNvPr id="3825" name="Google Shape;3825;p204"/>
              <p:cNvSpPr/>
              <p:nvPr/>
            </p:nvSpPr>
            <p:spPr>
              <a:xfrm>
                <a:off x="416128" y="3289173"/>
                <a:ext cx="948136" cy="338554"/>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Address bus</a:t>
                </a:r>
                <a:endParaRPr/>
              </a:p>
              <a:p>
                <a:pPr marL="0" marR="0" lvl="0" indent="0" algn="ctr" rtl="0">
                  <a:spcBef>
                    <a:spcPts val="0"/>
                  </a:spcBef>
                  <a:spcAft>
                    <a:spcPts val="0"/>
                  </a:spcAft>
                  <a:buNone/>
                </a:pPr>
                <a:r>
                  <a:rPr lang="en-US" sz="1100">
                    <a:solidFill>
                      <a:srgbClr val="262626"/>
                    </a:solidFill>
                    <a:latin typeface="Arial"/>
                    <a:ea typeface="Arial"/>
                    <a:cs typeface="Arial"/>
                    <a:sym typeface="Arial"/>
                  </a:rPr>
                  <a:t>Data bus</a:t>
                </a:r>
                <a:endParaRPr sz="1100">
                  <a:solidFill>
                    <a:srgbClr val="262626"/>
                  </a:solidFill>
                  <a:latin typeface="Arial"/>
                  <a:ea typeface="Arial"/>
                  <a:cs typeface="Arial"/>
                  <a:sym typeface="Arial"/>
                </a:endParaRPr>
              </a:p>
            </p:txBody>
          </p:sp>
          <p:sp>
            <p:nvSpPr>
              <p:cNvPr id="3826" name="Google Shape;3826;p204"/>
              <p:cNvSpPr/>
              <p:nvPr/>
            </p:nvSpPr>
            <p:spPr>
              <a:xfrm>
                <a:off x="739325" y="3880324"/>
                <a:ext cx="706994" cy="338554"/>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Address</a:t>
                </a:r>
                <a:endParaRPr/>
              </a:p>
              <a:p>
                <a:pPr marL="0" marR="0" lvl="0" indent="0" algn="ctr" rtl="0">
                  <a:spcBef>
                    <a:spcPts val="0"/>
                  </a:spcBef>
                  <a:spcAft>
                    <a:spcPts val="0"/>
                  </a:spcAft>
                  <a:buNone/>
                </a:pPr>
                <a:r>
                  <a:rPr lang="en-US" sz="1100">
                    <a:solidFill>
                      <a:srgbClr val="262626"/>
                    </a:solidFill>
                    <a:latin typeface="Arial"/>
                    <a:ea typeface="Arial"/>
                    <a:cs typeface="Arial"/>
                    <a:sym typeface="Arial"/>
                  </a:rPr>
                  <a:t>decoder</a:t>
                </a:r>
                <a:endParaRPr/>
              </a:p>
            </p:txBody>
          </p:sp>
          <p:sp>
            <p:nvSpPr>
              <p:cNvPr id="3827" name="Google Shape;3827;p204"/>
              <p:cNvSpPr/>
              <p:nvPr/>
            </p:nvSpPr>
            <p:spPr>
              <a:xfrm>
                <a:off x="2074672" y="3894025"/>
                <a:ext cx="706994" cy="169277"/>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Busbuffer</a:t>
                </a:r>
                <a:endParaRPr sz="1100">
                  <a:solidFill>
                    <a:srgbClr val="262626"/>
                  </a:solidFill>
                  <a:latin typeface="Arial"/>
                  <a:ea typeface="Arial"/>
                  <a:cs typeface="Arial"/>
                  <a:sym typeface="Arial"/>
                </a:endParaRPr>
              </a:p>
            </p:txBody>
          </p:sp>
          <p:sp>
            <p:nvSpPr>
              <p:cNvPr id="3828" name="Google Shape;3828;p204"/>
              <p:cNvSpPr/>
              <p:nvPr/>
            </p:nvSpPr>
            <p:spPr>
              <a:xfrm>
                <a:off x="2801324" y="3830570"/>
                <a:ext cx="706994" cy="338554"/>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Address</a:t>
                </a:r>
                <a:endParaRPr/>
              </a:p>
              <a:p>
                <a:pPr marL="0" marR="0" lvl="0" indent="0" algn="ctr" rtl="0">
                  <a:spcBef>
                    <a:spcPts val="0"/>
                  </a:spcBef>
                  <a:spcAft>
                    <a:spcPts val="0"/>
                  </a:spcAft>
                  <a:buNone/>
                </a:pPr>
                <a:r>
                  <a:rPr lang="en-US" sz="1100">
                    <a:solidFill>
                      <a:srgbClr val="262626"/>
                    </a:solidFill>
                    <a:latin typeface="Arial"/>
                    <a:ea typeface="Arial"/>
                    <a:cs typeface="Arial"/>
                    <a:sym typeface="Arial"/>
                  </a:rPr>
                  <a:t>decoder</a:t>
                </a:r>
                <a:endParaRPr/>
              </a:p>
            </p:txBody>
          </p:sp>
          <p:sp>
            <p:nvSpPr>
              <p:cNvPr id="3829" name="Google Shape;3829;p204"/>
              <p:cNvSpPr/>
              <p:nvPr/>
            </p:nvSpPr>
            <p:spPr>
              <a:xfrm>
                <a:off x="4131014" y="3910141"/>
                <a:ext cx="706994" cy="169277"/>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Busbuffer</a:t>
                </a:r>
                <a:endParaRPr sz="1100">
                  <a:solidFill>
                    <a:srgbClr val="262626"/>
                  </a:solidFill>
                  <a:latin typeface="Arial"/>
                  <a:ea typeface="Arial"/>
                  <a:cs typeface="Arial"/>
                  <a:sym typeface="Arial"/>
                </a:endParaRPr>
              </a:p>
            </p:txBody>
          </p:sp>
        </p:grpSp>
        <p:grpSp>
          <p:nvGrpSpPr>
            <p:cNvPr id="3830" name="Google Shape;3830;p204"/>
            <p:cNvGrpSpPr/>
            <p:nvPr/>
          </p:nvGrpSpPr>
          <p:grpSpPr>
            <a:xfrm>
              <a:off x="5206223" y="3249666"/>
              <a:ext cx="3899677" cy="2084334"/>
              <a:chOff x="5288456" y="3209427"/>
              <a:chExt cx="3662091" cy="1901368"/>
            </a:xfrm>
          </p:grpSpPr>
          <p:pic>
            <p:nvPicPr>
              <p:cNvPr id="3831" name="Google Shape;3831;p204"/>
              <p:cNvPicPr preferRelativeResize="0"/>
              <p:nvPr/>
            </p:nvPicPr>
            <p:blipFill rotWithShape="1">
              <a:blip r:embed="rId4">
                <a:alphaModFix/>
              </a:blip>
              <a:srcRect/>
              <a:stretch/>
            </p:blipFill>
            <p:spPr>
              <a:xfrm>
                <a:off x="5436387" y="3209427"/>
                <a:ext cx="3185978" cy="1892371"/>
              </a:xfrm>
              <a:prstGeom prst="rect">
                <a:avLst/>
              </a:prstGeom>
              <a:noFill/>
              <a:ln>
                <a:noFill/>
              </a:ln>
            </p:spPr>
          </p:pic>
          <p:sp>
            <p:nvSpPr>
              <p:cNvPr id="3832" name="Google Shape;3832;p204"/>
              <p:cNvSpPr/>
              <p:nvPr/>
            </p:nvSpPr>
            <p:spPr>
              <a:xfrm>
                <a:off x="5288456" y="3289173"/>
                <a:ext cx="1041220" cy="338554"/>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Microprocessor bus</a:t>
                </a:r>
                <a:endParaRPr sz="1100">
                  <a:solidFill>
                    <a:srgbClr val="262626"/>
                  </a:solidFill>
                  <a:latin typeface="Arial"/>
                  <a:ea typeface="Arial"/>
                  <a:cs typeface="Arial"/>
                  <a:sym typeface="Arial"/>
                </a:endParaRPr>
              </a:p>
            </p:txBody>
          </p:sp>
          <p:sp>
            <p:nvSpPr>
              <p:cNvPr id="3833" name="Google Shape;3833;p204"/>
              <p:cNvSpPr/>
              <p:nvPr/>
            </p:nvSpPr>
            <p:spPr>
              <a:xfrm>
                <a:off x="6789265" y="3245997"/>
                <a:ext cx="1041220" cy="169277"/>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74HC245</a:t>
                </a:r>
                <a:endParaRPr sz="1100">
                  <a:solidFill>
                    <a:srgbClr val="262626"/>
                  </a:solidFill>
                  <a:latin typeface="Arial"/>
                  <a:ea typeface="Arial"/>
                  <a:cs typeface="Arial"/>
                  <a:sym typeface="Arial"/>
                </a:endParaRPr>
              </a:p>
            </p:txBody>
          </p:sp>
          <p:sp>
            <p:nvSpPr>
              <p:cNvPr id="3834" name="Google Shape;3834;p204"/>
              <p:cNvSpPr/>
              <p:nvPr/>
            </p:nvSpPr>
            <p:spPr>
              <a:xfrm>
                <a:off x="8234549" y="4272242"/>
                <a:ext cx="715998" cy="338554"/>
              </a:xfrm>
              <a:prstGeom prst="rect">
                <a:avLst/>
              </a:prstGeom>
              <a:solidFill>
                <a:schemeClr val="lt1"/>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a:solidFill>
                      <a:srgbClr val="262626"/>
                    </a:solidFill>
                    <a:latin typeface="Arial"/>
                    <a:ea typeface="Arial"/>
                    <a:cs typeface="Arial"/>
                    <a:sym typeface="Arial"/>
                  </a:rPr>
                  <a:t>Internal</a:t>
                </a:r>
                <a:br>
                  <a:rPr lang="en-US" sz="1100">
                    <a:solidFill>
                      <a:srgbClr val="262626"/>
                    </a:solidFill>
                    <a:latin typeface="Arial"/>
                    <a:ea typeface="Arial"/>
                    <a:cs typeface="Arial"/>
                    <a:sym typeface="Arial"/>
                  </a:rPr>
                </a:br>
                <a:r>
                  <a:rPr lang="en-US" sz="1100">
                    <a:solidFill>
                      <a:srgbClr val="262626"/>
                    </a:solidFill>
                    <a:latin typeface="Arial"/>
                    <a:ea typeface="Arial"/>
                    <a:cs typeface="Arial"/>
                    <a:sym typeface="Arial"/>
                  </a:rPr>
                  <a:t>bus</a:t>
                </a:r>
                <a:endParaRPr sz="1100">
                  <a:solidFill>
                    <a:srgbClr val="262626"/>
                  </a:solidFill>
                  <a:latin typeface="Arial"/>
                  <a:ea typeface="Arial"/>
                  <a:cs typeface="Arial"/>
                  <a:sym typeface="Arial"/>
                </a:endParaRPr>
              </a:p>
            </p:txBody>
          </p:sp>
          <p:sp>
            <p:nvSpPr>
              <p:cNvPr id="3835" name="Google Shape;3835;p204"/>
              <p:cNvSpPr/>
              <p:nvPr/>
            </p:nvSpPr>
            <p:spPr>
              <a:xfrm>
                <a:off x="7383431" y="4787630"/>
                <a:ext cx="637447" cy="323165"/>
              </a:xfrm>
              <a:prstGeom prst="rect">
                <a:avLst/>
              </a:prstGeom>
              <a:solidFill>
                <a:schemeClr val="lt1"/>
              </a:solid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050">
                    <a:solidFill>
                      <a:srgbClr val="262626"/>
                    </a:solidFill>
                    <a:latin typeface="Arial"/>
                    <a:ea typeface="Arial"/>
                    <a:cs typeface="Arial"/>
                    <a:sym typeface="Arial"/>
                  </a:rPr>
                  <a:t>at write</a:t>
                </a:r>
                <a:br>
                  <a:rPr lang="en-US" sz="1050">
                    <a:solidFill>
                      <a:srgbClr val="262626"/>
                    </a:solidFill>
                    <a:latin typeface="Arial"/>
                    <a:ea typeface="Arial"/>
                    <a:cs typeface="Arial"/>
                    <a:sym typeface="Arial"/>
                  </a:rPr>
                </a:br>
                <a:r>
                  <a:rPr lang="en-US" sz="1050">
                    <a:solidFill>
                      <a:srgbClr val="262626"/>
                    </a:solidFill>
                    <a:latin typeface="Arial"/>
                    <a:ea typeface="Arial"/>
                    <a:cs typeface="Arial"/>
                    <a:sym typeface="Arial"/>
                  </a:rPr>
                  <a:t>at read</a:t>
                </a:r>
                <a:endParaRPr/>
              </a:p>
            </p:txBody>
          </p:sp>
        </p:grpSp>
        <p:sp>
          <p:nvSpPr>
            <p:cNvPr id="3836" name="Google Shape;3836;p204"/>
            <p:cNvSpPr/>
            <p:nvPr/>
          </p:nvSpPr>
          <p:spPr>
            <a:xfrm>
              <a:off x="712182" y="3063240"/>
              <a:ext cx="8591838" cy="2400300"/>
            </a:xfrm>
            <a:prstGeom prst="rect">
              <a:avLst/>
            </a:prstGeom>
            <a:no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 name="Google Shape;3457;p184">
            <a:extLst>
              <a:ext uri="{FF2B5EF4-FFF2-40B4-BE49-F238E27FC236}">
                <a16:creationId xmlns:a16="http://schemas.microsoft.com/office/drawing/2014/main" id="{877A45EB-F84A-0752-C1B2-9A92525FA5DD}"/>
              </a:ext>
            </a:extLst>
          </p:cNvPr>
          <p:cNvSpPr/>
          <p:nvPr/>
        </p:nvSpPr>
        <p:spPr>
          <a:xfrm>
            <a:off x="416128" y="444866"/>
            <a:ext cx="582431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3.3. </a:t>
            </a:r>
            <a:r>
              <a:rPr lang="en-US" sz="1800" b="1" dirty="0" err="1">
                <a:solidFill>
                  <a:schemeClr val="tx1"/>
                </a:solidFill>
                <a:latin typeface="Arial"/>
                <a:ea typeface="Arial"/>
                <a:cs typeface="Arial"/>
                <a:sym typeface="Arial"/>
              </a:rPr>
              <a:t>Giải</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thích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sơ</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đồ</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mạch</a:t>
            </a:r>
            <a:r>
              <a:rPr lang="en-US" sz="1800" b="1" dirty="0">
                <a:solidFill>
                  <a:schemeClr val="tx1"/>
                </a:solidFill>
                <a:latin typeface="Arial"/>
                <a:ea typeface="Arial"/>
                <a:cs typeface="Arial"/>
                <a:sym typeface="Arial"/>
              </a:rPr>
              <a:t> </a:t>
            </a:r>
            <a:r>
              <a:rPr lang="en-US" sz="1800" b="1" dirty="0" err="1">
                <a:solidFill>
                  <a:schemeClr val="tx1"/>
                </a:solidFill>
                <a:latin typeface="Arial"/>
                <a:ea typeface="Arial"/>
                <a:cs typeface="Arial"/>
                <a:sym typeface="Arial"/>
              </a:rPr>
              <a:t>điện</a:t>
            </a:r>
            <a:r>
              <a:rPr lang="en-US" sz="1800" b="1" dirty="0">
                <a:solidFill>
                  <a:schemeClr val="tx1"/>
                </a:solidFill>
                <a:latin typeface="Arial"/>
                <a:ea typeface="Arial"/>
                <a:cs typeface="Arial"/>
                <a:sym typeface="Arial"/>
              </a:rPr>
              <a:t>  </a:t>
            </a:r>
            <a:endParaRPr dirty="0">
              <a:solidFill>
                <a:schemeClr val="tx1"/>
              </a:solidFill>
            </a:endParaRPr>
          </a:p>
        </p:txBody>
      </p:sp>
    </p:spTree>
  </p:cSld>
  <p:clrMapOvr>
    <a:masterClrMapping/>
  </p:clrMapOvr>
</p:sld>
</file>

<file path=ppt/theme/theme1.xml><?xml version="1.0" encoding="utf-8"?>
<a:theme xmlns:a="http://schemas.openxmlformats.org/drawingml/2006/main" name="디자인 사용자 지정">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2169</TotalTime>
  <Words>21514</Words>
  <Application>Microsoft Office PowerPoint</Application>
  <PresentationFormat>Custom</PresentationFormat>
  <Paragraphs>2691</Paragraphs>
  <Slides>145</Slides>
  <Notes>145</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5</vt:i4>
      </vt:variant>
      <vt:variant>
        <vt:lpstr>Slide Titles</vt:lpstr>
      </vt:variant>
      <vt:variant>
        <vt:i4>145</vt:i4>
      </vt:variant>
    </vt:vector>
  </HeadingPairs>
  <TitlesOfParts>
    <vt:vector size="164" baseType="lpstr">
      <vt:lpstr>Noto Sans Symbols</vt:lpstr>
      <vt:lpstr>Calibri</vt:lpstr>
      <vt:lpstr>Samsung Sharp Sans</vt:lpstr>
      <vt:lpstr>Gulim</vt:lpstr>
      <vt:lpstr>Gulim</vt:lpstr>
      <vt:lpstr>Malgun Gothic</vt:lpstr>
      <vt:lpstr>Samsung Sharp Sans Bold</vt:lpstr>
      <vt:lpstr>SamsungOne-400</vt:lpstr>
      <vt:lpstr>Samsung Sharp Sans Medium</vt:lpstr>
      <vt:lpstr>SamsungOne 400</vt:lpstr>
      <vt:lpstr>Cambria Math</vt:lpstr>
      <vt:lpstr>Arial</vt:lpstr>
      <vt:lpstr>Wingdings</vt:lpstr>
      <vt:lpstr>디자인 사용자 지정</vt:lpstr>
      <vt:lpstr>Bitmap Image</vt:lpstr>
      <vt:lpstr>Visio.Drawing.6</vt:lpstr>
      <vt:lpstr>Visio</vt:lpstr>
      <vt:lpstr>Visio.Drawing.11</vt:lpstr>
      <vt:lpstr>Visio.Drawing.5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Manh Huy</dc:creator>
  <cp:lastModifiedBy>NGUYEN</cp:lastModifiedBy>
  <cp:revision>28</cp:revision>
  <dcterms:created xsi:type="dcterms:W3CDTF">2018-03-02T14:47:58Z</dcterms:created>
  <dcterms:modified xsi:type="dcterms:W3CDTF">2026-02-08T07:20:07Z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0x01010068ED2E6D4E77E244B9E3F70AF9B53527</vt:lpwstr>
  </property>
</Properties>
</file>